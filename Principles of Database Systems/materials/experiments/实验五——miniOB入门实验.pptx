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53" r:id="rId3"/>
  </p:sldMasterIdLst>
  <p:notesMasterIdLst>
    <p:notesMasterId r:id="rId5"/>
  </p:notesMasterIdLst>
  <p:handoutMasterIdLst>
    <p:handoutMasterId r:id="rId14"/>
  </p:handoutMasterIdLst>
  <p:sldIdLst>
    <p:sldId id="5182" r:id="rId4"/>
    <p:sldId id="5158" r:id="rId6"/>
    <p:sldId id="5183" r:id="rId7"/>
    <p:sldId id="5155" r:id="rId8"/>
    <p:sldId id="5184" r:id="rId9"/>
    <p:sldId id="5185" r:id="rId10"/>
    <p:sldId id="5186" r:id="rId11"/>
    <p:sldId id="5189" r:id="rId12"/>
    <p:sldId id="5190" r:id="rId13"/>
  </p:sldIdLst>
  <p:sldSz cx="9144000" cy="5143500" type="screen16x9"/>
  <p:notesSz cx="6858000" cy="9144000"/>
  <p:defaultTextStyle>
    <a:defPPr>
      <a:defRPr lang="fi-FI"/>
    </a:defPPr>
    <a:lvl1pPr algn="l" rtl="0" fontAlgn="base">
      <a:spcBef>
        <a:spcPct val="20000"/>
      </a:spcBef>
      <a:spcAft>
        <a:spcPct val="0"/>
      </a:spcAft>
      <a:buFont typeface="Arial" panose="020B0604020202020204" pitchFamily="34" charset="0"/>
      <a:defRPr sz="1400" kern="1200">
        <a:solidFill>
          <a:schemeClr val="tx1"/>
        </a:solidFill>
        <a:latin typeface="Trebuchet MS" panose="020B0603020202020204" pitchFamily="96" charset="0"/>
        <a:ea typeface="宋体" panose="02010600030101010101" pitchFamily="2" charset="-122"/>
        <a:cs typeface="+mn-cs"/>
      </a:defRPr>
    </a:lvl1pPr>
    <a:lvl2pPr marL="455930" indent="1905" algn="l" rtl="0" fontAlgn="base">
      <a:spcBef>
        <a:spcPct val="20000"/>
      </a:spcBef>
      <a:spcAft>
        <a:spcPct val="0"/>
      </a:spcAft>
      <a:buFont typeface="Arial" panose="020B0604020202020204" pitchFamily="34" charset="0"/>
      <a:defRPr sz="1400" kern="1200">
        <a:solidFill>
          <a:schemeClr val="tx1"/>
        </a:solidFill>
        <a:latin typeface="Trebuchet MS" panose="020B0603020202020204" pitchFamily="96" charset="0"/>
        <a:ea typeface="宋体" panose="02010600030101010101" pitchFamily="2" charset="-122"/>
        <a:cs typeface="+mn-cs"/>
      </a:defRPr>
    </a:lvl2pPr>
    <a:lvl3pPr marL="913130" indent="1905" algn="l" rtl="0" fontAlgn="base">
      <a:spcBef>
        <a:spcPct val="20000"/>
      </a:spcBef>
      <a:spcAft>
        <a:spcPct val="0"/>
      </a:spcAft>
      <a:buFont typeface="Arial" panose="020B0604020202020204" pitchFamily="34" charset="0"/>
      <a:defRPr sz="1400" kern="1200">
        <a:solidFill>
          <a:schemeClr val="tx1"/>
        </a:solidFill>
        <a:latin typeface="Trebuchet MS" panose="020B0603020202020204" pitchFamily="96" charset="0"/>
        <a:ea typeface="宋体" panose="02010600030101010101" pitchFamily="2" charset="-122"/>
        <a:cs typeface="+mn-cs"/>
      </a:defRPr>
    </a:lvl3pPr>
    <a:lvl4pPr marL="1370330" indent="1905" algn="l" rtl="0" fontAlgn="base">
      <a:spcBef>
        <a:spcPct val="20000"/>
      </a:spcBef>
      <a:spcAft>
        <a:spcPct val="0"/>
      </a:spcAft>
      <a:buFont typeface="Arial" panose="020B0604020202020204" pitchFamily="34" charset="0"/>
      <a:defRPr sz="1400" kern="1200">
        <a:solidFill>
          <a:schemeClr val="tx1"/>
        </a:solidFill>
        <a:latin typeface="Trebuchet MS" panose="020B0603020202020204" pitchFamily="96" charset="0"/>
        <a:ea typeface="宋体" panose="02010600030101010101" pitchFamily="2" charset="-122"/>
        <a:cs typeface="+mn-cs"/>
      </a:defRPr>
    </a:lvl4pPr>
    <a:lvl5pPr marL="1827530" indent="1905" algn="l" rtl="0" fontAlgn="base">
      <a:spcBef>
        <a:spcPct val="20000"/>
      </a:spcBef>
      <a:spcAft>
        <a:spcPct val="0"/>
      </a:spcAft>
      <a:buFont typeface="Arial" panose="020B0604020202020204" pitchFamily="34" charset="0"/>
      <a:defRPr sz="1400" kern="1200">
        <a:solidFill>
          <a:schemeClr val="tx1"/>
        </a:solidFill>
        <a:latin typeface="Trebuchet MS" panose="020B0603020202020204" pitchFamily="96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Trebuchet MS" panose="020B0603020202020204" pitchFamily="96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Trebuchet MS" panose="020B0603020202020204" pitchFamily="96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Trebuchet MS" panose="020B0603020202020204" pitchFamily="96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Trebuchet MS" panose="020B0603020202020204" pitchFamily="96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标题" id="{EB83E03E-195F-4588-BA9C-87CAE50CC123}">
          <p14:sldIdLst>
            <p14:sldId id="5182"/>
            <p14:sldId id="5158"/>
            <p14:sldId id="5183"/>
            <p14:sldId id="5155"/>
            <p14:sldId id="5184"/>
            <p14:sldId id="5185"/>
            <p14:sldId id="5186"/>
            <p14:sldId id="5189"/>
            <p14:sldId id="519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838" userDrawn="1">
          <p15:clr>
            <a:srgbClr val="A4A3A4"/>
          </p15:clr>
        </p15:guide>
        <p15:guide id="2" pos="260" userDrawn="1">
          <p15:clr>
            <a:srgbClr val="A4A3A4"/>
          </p15:clr>
        </p15:guide>
        <p15:guide id="4" pos="5193" userDrawn="1">
          <p15:clr>
            <a:srgbClr val="A4A3A4"/>
          </p15:clr>
        </p15:guide>
        <p15:guide id="5" pos="3152" userDrawn="1">
          <p15:clr>
            <a:srgbClr val="A4A3A4"/>
          </p15:clr>
        </p15:guide>
        <p15:guide id="6" orient="horz" pos="28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06BA"/>
    <a:srgbClr val="080808"/>
    <a:srgbClr val="339933"/>
    <a:srgbClr val="B5880B"/>
    <a:srgbClr val="E87071"/>
    <a:srgbClr val="00B3EE"/>
    <a:srgbClr val="93E5FF"/>
    <a:srgbClr val="F7FE98"/>
    <a:srgbClr val="FFFFFF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70" autoAdjust="0"/>
    <p:restoredTop sz="93834" autoAdjust="0"/>
  </p:normalViewPr>
  <p:slideViewPr>
    <p:cSldViewPr showGuides="1">
      <p:cViewPr varScale="1">
        <p:scale>
          <a:sx n="145" d="100"/>
          <a:sy n="145" d="100"/>
        </p:scale>
        <p:origin x="552" y="184"/>
      </p:cViewPr>
      <p:guideLst>
        <p:guide orient="horz" pos="3838"/>
        <p:guide pos="260"/>
        <p:guide pos="5193"/>
        <p:guide pos="3152"/>
        <p:guide orient="horz" pos="285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buFontTx/>
              <a:buNone/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FontTx/>
              <a:buNone/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buFontTx/>
              <a:buNone/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buFontTx/>
              <a:buNone/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fld id="{58CD87A4-0184-412C-A44A-3DA728178AFF}" type="slidenum">
              <a:rPr lang="en-GB" altLang="zh-CN"/>
            </a:fld>
            <a:endParaRPr lang="en-GB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buFontTx/>
              <a:buNone/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FontTx/>
              <a:buNone/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fi-FI" noProof="0"/>
              <a:t>Muokkaa tekstin perustyylejä napsauttamalla</a:t>
            </a:r>
            <a:endParaRPr lang="fi-FI" noProof="0"/>
          </a:p>
          <a:p>
            <a:pPr lvl="1"/>
            <a:r>
              <a:rPr lang="fi-FI" noProof="0"/>
              <a:t>toinen taso</a:t>
            </a:r>
            <a:endParaRPr lang="fi-FI" noProof="0"/>
          </a:p>
          <a:p>
            <a:pPr lvl="2"/>
            <a:r>
              <a:rPr lang="fi-FI" noProof="0"/>
              <a:t>kolmas taso</a:t>
            </a:r>
            <a:endParaRPr lang="fi-FI" noProof="0"/>
          </a:p>
          <a:p>
            <a:pPr lvl="3"/>
            <a:r>
              <a:rPr lang="fi-FI" noProof="0"/>
              <a:t>neljäs taso</a:t>
            </a:r>
            <a:endParaRPr lang="fi-FI" noProof="0"/>
          </a:p>
          <a:p>
            <a:pPr lvl="4"/>
            <a:r>
              <a:rPr lang="fi-FI" noProof="0"/>
              <a:t>viides taso</a:t>
            </a:r>
            <a:endParaRPr lang="fi-FI" noProof="0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buFontTx/>
              <a:buNone/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buFontTx/>
              <a:buNone/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>
              <a:defRPr/>
            </a:pPr>
            <a:fld id="{BB8C311E-5859-4E0C-A0F3-4690A095D6BE}" type="slidenum">
              <a:rPr lang="fi-FI" altLang="zh-CN"/>
            </a:fld>
            <a:endParaRPr lang="fi-FI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</a:fld>
            <a:endParaRPr lang="fi-FI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0" y="-20538"/>
            <a:ext cx="9144000" cy="637580"/>
          </a:xfrm>
          <a:prstGeom prst="rect">
            <a:avLst/>
          </a:prstGeom>
          <a:solidFill>
            <a:srgbClr val="0070C0"/>
          </a:solidFill>
        </p:spPr>
        <p:txBody>
          <a:bodyPr rtlCol="0">
            <a:noAutofit/>
          </a:bodyPr>
          <a:lstStyle>
            <a:lvl1pPr algn="l">
              <a:defRPr sz="3200" b="1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789553"/>
            <a:ext cx="8568952" cy="3805070"/>
          </a:xfrm>
        </p:spPr>
        <p:txBody>
          <a:bodyPr/>
          <a:lstStyle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9525" y="3072"/>
            <a:ext cx="9144000" cy="583072"/>
          </a:xfrm>
          <a:prstGeom prst="rect">
            <a:avLst/>
          </a:prstGeom>
          <a:solidFill>
            <a:srgbClr val="0070C0"/>
          </a:solidFill>
        </p:spPr>
        <p:txBody>
          <a:bodyPr rtlCol="0">
            <a:noAutofit/>
          </a:bodyPr>
          <a:lstStyle>
            <a:lvl1pPr algn="l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995686"/>
            <a:ext cx="8229600" cy="85725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0"/>
            <a:ext cx="9217024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0" y="1476375"/>
            <a:ext cx="9142810" cy="1626394"/>
          </a:xfrm>
          <a:prstGeom prst="rect">
            <a:avLst/>
          </a:prstGeom>
          <a:solidFill>
            <a:srgbClr val="064BB2"/>
          </a:solidFill>
          <a:ln>
            <a:noFill/>
          </a:ln>
          <a:effectLst>
            <a:outerShdw blurRad="50800" dist="38100" dir="5400000" algn="t" rotWithShape="0">
              <a:srgbClr val="000000">
                <a:alpha val="0"/>
              </a:srgbClr>
            </a:outerShdw>
          </a:effectLst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715" dirty="0">
              <a:solidFill>
                <a:schemeClr val="bg1"/>
              </a:solidFill>
              <a:latin typeface="Calibri" panose="020F0502020204030204"/>
              <a:cs typeface="宋体" panose="02010600030101010101" pitchFamily="2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title"/>
          </p:nvPr>
        </p:nvSpPr>
        <p:spPr>
          <a:xfrm>
            <a:off x="4178105" y="2029612"/>
            <a:ext cx="4683967" cy="519113"/>
          </a:xfrm>
        </p:spPr>
        <p:txBody>
          <a:bodyPr/>
          <a:lstStyle>
            <a:lvl1pPr algn="ctr">
              <a:defRPr sz="2700" b="1" baseline="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4" name="日期占位符 29"/>
          <p:cNvSpPr>
            <a:spLocks noGrp="1"/>
          </p:cNvSpPr>
          <p:nvPr>
            <p:ph type="dt" sz="half" idx="10"/>
          </p:nvPr>
        </p:nvSpPr>
        <p:spPr>
          <a:xfrm>
            <a:off x="5497116" y="2744391"/>
            <a:ext cx="1503759" cy="273844"/>
          </a:xfrm>
        </p:spPr>
        <p:txBody>
          <a:bodyPr/>
          <a:lstStyle>
            <a:lvl1pPr algn="r">
              <a:defRPr sz="1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5EFD6F6-2F20-4B1A-A667-B95C1338A7FC}" type="datetime5">
              <a:rPr lang="zh-CN" altLang="en-US"/>
            </a:fld>
            <a:endParaRPr lang="zh-CN" altLang="en-US" dirty="0"/>
          </a:p>
        </p:txBody>
      </p:sp>
      <p:sp>
        <p:nvSpPr>
          <p:cNvPr id="5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8CD63E-90B4-4137-BE3E-A082E383778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程序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2"/>
          <p:cNvSpPr>
            <a:spLocks noChangeArrowheads="1"/>
          </p:cNvSpPr>
          <p:nvPr/>
        </p:nvSpPr>
        <p:spPr bwMode="auto">
          <a:xfrm>
            <a:off x="7453313" y="4794648"/>
            <a:ext cx="428625" cy="173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750">
                <a:solidFill>
                  <a:srgbClr val="7F7F7F"/>
                </a:solidFill>
                <a:latin typeface="Arial" panose="020B0604020202020204" pitchFamily="34" charset="0"/>
              </a:rPr>
              <a:t> </a:t>
            </a:r>
            <a:fld id="{60AB1787-2FB0-4C6A-B98A-30C644A6BEF9}" type="slidenum">
              <a:rPr lang="en-US" altLang="zh-CN" sz="750">
                <a:latin typeface="Arial" panose="020B0604020202020204" pitchFamily="34" charset="0"/>
              </a:rPr>
            </a:fld>
            <a:endParaRPr lang="en-US" altLang="zh-CN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直接连接符 19"/>
          <p:cNvCxnSpPr>
            <a:stCxn id="6" idx="3"/>
          </p:cNvCxnSpPr>
          <p:nvPr/>
        </p:nvCxnSpPr>
        <p:spPr>
          <a:xfrm>
            <a:off x="7881938" y="4881563"/>
            <a:ext cx="764381" cy="0"/>
          </a:xfrm>
          <a:prstGeom prst="line">
            <a:avLst/>
          </a:prstGeom>
          <a:ln w="9525">
            <a:solidFill>
              <a:srgbClr val="F19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14"/>
          <p:cNvCxnSpPr>
            <a:stCxn id="6" idx="3"/>
          </p:cNvCxnSpPr>
          <p:nvPr/>
        </p:nvCxnSpPr>
        <p:spPr>
          <a:xfrm flipV="1">
            <a:off x="2789635" y="4881563"/>
            <a:ext cx="4663678" cy="0"/>
          </a:xfrm>
          <a:prstGeom prst="line">
            <a:avLst/>
          </a:prstGeom>
          <a:ln>
            <a:solidFill>
              <a:srgbClr val="064B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3"/>
          <p:cNvSpPr>
            <a:spLocks noChangeArrowheads="1"/>
          </p:cNvSpPr>
          <p:nvPr/>
        </p:nvSpPr>
        <p:spPr bwMode="auto">
          <a:xfrm>
            <a:off x="184548" y="686991"/>
            <a:ext cx="7197328" cy="34528"/>
          </a:xfrm>
          <a:prstGeom prst="rect">
            <a:avLst/>
          </a:prstGeom>
          <a:solidFill>
            <a:srgbClr val="064BB2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5"/>
          </a:p>
        </p:txBody>
      </p:sp>
      <p:sp>
        <p:nvSpPr>
          <p:cNvPr id="9" name="AutoShape 23"/>
          <p:cNvSpPr>
            <a:spLocks noChangeArrowheads="1"/>
          </p:cNvSpPr>
          <p:nvPr/>
        </p:nvSpPr>
        <p:spPr bwMode="auto">
          <a:xfrm>
            <a:off x="7381875" y="686991"/>
            <a:ext cx="1491854" cy="34528"/>
          </a:xfrm>
          <a:prstGeom prst="rect">
            <a:avLst/>
          </a:prstGeom>
          <a:solidFill>
            <a:srgbClr val="FB9708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5"/>
          </a:p>
        </p:txBody>
      </p:sp>
      <p:cxnSp>
        <p:nvCxnSpPr>
          <p:cNvPr id="10" name="直接连接符 9"/>
          <p:cNvCxnSpPr>
            <a:stCxn id="6" idx="3"/>
          </p:cNvCxnSpPr>
          <p:nvPr/>
        </p:nvCxnSpPr>
        <p:spPr>
          <a:xfrm>
            <a:off x="1788319" y="4786313"/>
            <a:ext cx="0" cy="207169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2"/>
          <p:cNvSpPr>
            <a:spLocks noGrp="1"/>
          </p:cNvSpPr>
          <p:nvPr>
            <p:ph idx="1" hasCustomPrompt="1"/>
          </p:nvPr>
        </p:nvSpPr>
        <p:spPr>
          <a:xfrm>
            <a:off x="317865" y="1315256"/>
            <a:ext cx="8330701" cy="3254791"/>
          </a:xfrm>
        </p:spPr>
        <p:txBody>
          <a:bodyPr>
            <a:noAutofit/>
          </a:bodyPr>
          <a:lstStyle>
            <a:lvl1pPr marL="271780" indent="-271780">
              <a:lnSpc>
                <a:spcPct val="150000"/>
              </a:lnSpc>
              <a:spcBef>
                <a:spcPts val="750"/>
              </a:spcBef>
              <a:buClr>
                <a:srgbClr val="032089"/>
              </a:buClr>
              <a:buFont typeface="Wingdings" panose="05000000000000000000" pitchFamily="2" charset="2"/>
              <a:buChar char="Ø"/>
              <a:defRPr sz="1350" b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30000"/>
              </a:lnSpc>
              <a:buClr>
                <a:srgbClr val="032089"/>
              </a:buClr>
              <a:buFont typeface="Wingdings" panose="05000000000000000000" pitchFamily="2" charset="2"/>
              <a:buChar char="l"/>
              <a:defRPr sz="1750" b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3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30" b="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30" b="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157" y="269309"/>
            <a:ext cx="8229601" cy="396132"/>
          </a:xfrm>
        </p:spPr>
        <p:txBody>
          <a:bodyPr/>
          <a:lstStyle>
            <a:lvl1pPr>
              <a:defRPr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4" name="内容占位符 2"/>
          <p:cNvSpPr>
            <a:spLocks noGrp="1"/>
          </p:cNvSpPr>
          <p:nvPr>
            <p:ph idx="10" hasCustomPrompt="1"/>
          </p:nvPr>
        </p:nvSpPr>
        <p:spPr>
          <a:xfrm>
            <a:off x="317865" y="854235"/>
            <a:ext cx="8330701" cy="319852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>
              <a:buNone/>
              <a:defRPr lang="zh-CN" altLang="en-US" sz="1500" b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1F0FCB-3C9B-43AF-9122-66CB9AF9BE1F}" type="datetimeFigureOut">
              <a:rPr lang="zh-CN" altLang="en-US"/>
            </a:fld>
            <a:endParaRPr lang="zh-CN" altLang="en-US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fld id="{791A760A-A8F5-4109-B3A7-90E0284994A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2"/>
          <p:cNvSpPr>
            <a:spLocks noChangeArrowheads="1"/>
          </p:cNvSpPr>
          <p:nvPr/>
        </p:nvSpPr>
        <p:spPr bwMode="auto">
          <a:xfrm>
            <a:off x="7453313" y="4794648"/>
            <a:ext cx="428625" cy="173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750">
                <a:solidFill>
                  <a:srgbClr val="7F7F7F"/>
                </a:solidFill>
                <a:latin typeface="Arial" panose="020B0604020202020204" pitchFamily="34" charset="0"/>
              </a:rPr>
              <a:t> </a:t>
            </a:r>
            <a:fld id="{69AB6661-0E74-4BEC-A242-46590437B53C}" type="slidenum">
              <a:rPr lang="en-US" altLang="zh-CN" sz="750">
                <a:latin typeface="Arial" panose="020B0604020202020204" pitchFamily="34" charset="0"/>
              </a:rPr>
            </a:fld>
            <a:endParaRPr lang="en-US" altLang="zh-CN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直接连接符 19"/>
          <p:cNvCxnSpPr>
            <a:stCxn id="6" idx="3"/>
          </p:cNvCxnSpPr>
          <p:nvPr/>
        </p:nvCxnSpPr>
        <p:spPr>
          <a:xfrm>
            <a:off x="7881938" y="4881563"/>
            <a:ext cx="764381" cy="0"/>
          </a:xfrm>
          <a:prstGeom prst="line">
            <a:avLst/>
          </a:prstGeom>
          <a:ln w="9525">
            <a:solidFill>
              <a:srgbClr val="F19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14"/>
          <p:cNvCxnSpPr>
            <a:stCxn id="6" idx="3"/>
          </p:cNvCxnSpPr>
          <p:nvPr/>
        </p:nvCxnSpPr>
        <p:spPr>
          <a:xfrm flipV="1">
            <a:off x="2789635" y="4881563"/>
            <a:ext cx="4663678" cy="0"/>
          </a:xfrm>
          <a:prstGeom prst="line">
            <a:avLst/>
          </a:prstGeom>
          <a:ln>
            <a:solidFill>
              <a:srgbClr val="064B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3"/>
          <p:cNvSpPr>
            <a:spLocks noChangeArrowheads="1"/>
          </p:cNvSpPr>
          <p:nvPr/>
        </p:nvSpPr>
        <p:spPr bwMode="auto">
          <a:xfrm>
            <a:off x="184548" y="686991"/>
            <a:ext cx="7197328" cy="34528"/>
          </a:xfrm>
          <a:prstGeom prst="rect">
            <a:avLst/>
          </a:prstGeom>
          <a:solidFill>
            <a:srgbClr val="064BB2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5"/>
          </a:p>
        </p:txBody>
      </p:sp>
      <p:sp>
        <p:nvSpPr>
          <p:cNvPr id="9" name="AutoShape 23"/>
          <p:cNvSpPr>
            <a:spLocks noChangeArrowheads="1"/>
          </p:cNvSpPr>
          <p:nvPr/>
        </p:nvSpPr>
        <p:spPr bwMode="auto">
          <a:xfrm>
            <a:off x="7381875" y="686991"/>
            <a:ext cx="1491854" cy="34528"/>
          </a:xfrm>
          <a:prstGeom prst="rect">
            <a:avLst/>
          </a:prstGeom>
          <a:solidFill>
            <a:srgbClr val="FB9708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5"/>
          </a:p>
        </p:txBody>
      </p:sp>
      <p:cxnSp>
        <p:nvCxnSpPr>
          <p:cNvPr id="10" name="直接连接符 9"/>
          <p:cNvCxnSpPr>
            <a:stCxn id="6" idx="3"/>
          </p:cNvCxnSpPr>
          <p:nvPr/>
        </p:nvCxnSpPr>
        <p:spPr>
          <a:xfrm>
            <a:off x="1788319" y="4786313"/>
            <a:ext cx="0" cy="207169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2"/>
          <p:cNvSpPr>
            <a:spLocks noGrp="1"/>
          </p:cNvSpPr>
          <p:nvPr>
            <p:ph idx="1" hasCustomPrompt="1"/>
          </p:nvPr>
        </p:nvSpPr>
        <p:spPr>
          <a:xfrm>
            <a:off x="317865" y="1316002"/>
            <a:ext cx="8330701" cy="3276923"/>
          </a:xfrm>
        </p:spPr>
        <p:txBody>
          <a:bodyPr>
            <a:noAutofit/>
          </a:bodyPr>
          <a:lstStyle>
            <a:lvl1pPr marL="271780" indent="-271780">
              <a:lnSpc>
                <a:spcPct val="150000"/>
              </a:lnSpc>
              <a:spcBef>
                <a:spcPts val="750"/>
              </a:spcBef>
              <a:buClr>
                <a:srgbClr val="032089"/>
              </a:buClr>
              <a:buFont typeface="Wingdings" panose="05000000000000000000" pitchFamily="2" charset="2"/>
              <a:buChar char="Ø"/>
              <a:defRPr sz="1350" b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30000"/>
              </a:lnSpc>
              <a:buClr>
                <a:srgbClr val="032089"/>
              </a:buClr>
              <a:buFont typeface="Wingdings" panose="05000000000000000000" pitchFamily="2" charset="2"/>
              <a:buChar char="l"/>
              <a:defRPr sz="1750" b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3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30" b="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30" b="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157" y="269309"/>
            <a:ext cx="8229601" cy="396132"/>
          </a:xfrm>
        </p:spPr>
        <p:txBody>
          <a:bodyPr/>
          <a:lstStyle>
            <a:lvl1pPr>
              <a:defRPr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4" name="内容占位符 2"/>
          <p:cNvSpPr>
            <a:spLocks noGrp="1"/>
          </p:cNvSpPr>
          <p:nvPr>
            <p:ph idx="10" hasCustomPrompt="1"/>
          </p:nvPr>
        </p:nvSpPr>
        <p:spPr>
          <a:xfrm>
            <a:off x="317865" y="854235"/>
            <a:ext cx="8330701" cy="319852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>
              <a:buNone/>
              <a:defRPr lang="zh-CN" altLang="en-US" sz="1500" b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noProof="1"/>
              <a:t>编辑母版文本样式</a:t>
            </a:r>
            <a:endParaRPr lang="zh-CN" altLang="en-US" noProof="1"/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1F0FCB-3C9B-43AF-9122-66CB9AF9BE1F}" type="datetimeFigureOut">
              <a:rPr lang="zh-CN" altLang="en-US"/>
            </a:fld>
            <a:endParaRPr lang="zh-CN" altLang="en-US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fld id="{B22652B3-2E09-4BBA-A0D6-24503131B011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1F0FCB-3C9B-43AF-9122-66CB9AF9BE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1C93-5505-452B-8265-D50E35693F6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文本框 1"/>
          <p:cNvSpPr txBox="1"/>
          <p:nvPr userDrawn="1"/>
        </p:nvSpPr>
        <p:spPr>
          <a:xfrm>
            <a:off x="8460432" y="4803998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C913308-F349-4B6D-A68A-DD1791B4A57B}" type="slidenum">
              <a:rPr lang="zh-CN" alt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91691" y="146447"/>
            <a:ext cx="822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</p:nvPr>
        </p:nvSpPr>
        <p:spPr bwMode="auto">
          <a:xfrm>
            <a:off x="316706" y="890588"/>
            <a:ext cx="8229600" cy="756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</a:t>
            </a:r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61F0FCB-3C9B-43AF-9122-66CB9AF9BE1F}" type="datetimeFigureOut">
              <a:rPr lang="zh-CN" altLang="en-US"/>
            </a:fld>
            <a:endParaRPr lang="zh-CN" altLang="en-US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noProof="1" dirty="0">
                <a:solidFill>
                  <a:srgbClr val="898989"/>
                </a:solidFill>
              </a:defRPr>
            </a:lvl1pPr>
          </a:lstStyle>
          <a:p>
            <a:fld id="{BD211C93-5505-452B-8265-D50E35693F66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+mj-lt"/>
          <a:ea typeface="微软雅黑" panose="020B0503020204020204" pitchFamily="34" charset="-122"/>
          <a:cs typeface="微软雅黑" panose="020B0503020204020204" pitchFamily="3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5pPr>
      <a:lvl6pPr marL="363220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725805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088390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450975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271780" indent="-27178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Font typeface="Wingdings" panose="05000000000000000000" pitchFamily="2" charset="2"/>
        <a:buChar char="n"/>
        <a:defRPr sz="1575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1pPr>
      <a:lvl2pPr marL="589280" indent="-22606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75">
          <a:solidFill>
            <a:schemeClr val="tx1"/>
          </a:solidFill>
          <a:latin typeface="+mn-lt"/>
          <a:ea typeface="+mn-ea"/>
        </a:defRPr>
      </a:lvl2pPr>
      <a:lvl3pPr marL="906145" indent="-1809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75">
          <a:solidFill>
            <a:schemeClr val="tx1"/>
          </a:solidFill>
          <a:latin typeface="+mn-lt"/>
          <a:ea typeface="+mn-ea"/>
        </a:defRPr>
      </a:lvl3pPr>
      <a:lvl4pPr marL="1269365" indent="-1809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75">
          <a:solidFill>
            <a:schemeClr val="tx1"/>
          </a:solidFill>
          <a:latin typeface="+mn-lt"/>
          <a:ea typeface="+mn-ea"/>
        </a:defRPr>
      </a:lvl4pPr>
      <a:lvl5pPr marL="1632585" indent="-1809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75">
          <a:solidFill>
            <a:schemeClr val="tx1"/>
          </a:solidFill>
          <a:latin typeface="+mn-lt"/>
          <a:ea typeface="+mn-ea"/>
        </a:defRPr>
      </a:lvl5pPr>
      <a:lvl6pPr marL="1995805" indent="-18161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85">
          <a:solidFill>
            <a:schemeClr val="tx1"/>
          </a:solidFill>
          <a:latin typeface="+mn-lt"/>
          <a:ea typeface="+mn-ea"/>
        </a:defRPr>
      </a:lvl6pPr>
      <a:lvl7pPr marL="2358390" indent="-18161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85">
          <a:solidFill>
            <a:schemeClr val="tx1"/>
          </a:solidFill>
          <a:latin typeface="+mn-lt"/>
          <a:ea typeface="+mn-ea"/>
        </a:defRPr>
      </a:lvl7pPr>
      <a:lvl8pPr marL="2721610" indent="-18161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85">
          <a:solidFill>
            <a:schemeClr val="tx1"/>
          </a:solidFill>
          <a:latin typeface="+mn-lt"/>
          <a:ea typeface="+mn-ea"/>
        </a:defRPr>
      </a:lvl8pPr>
      <a:lvl9pPr marL="3084195" indent="-18161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85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725170" rtl="0" eaLnBrk="1" latinLnBrk="0" hangingPunct="1">
        <a:defRPr sz="1430" kern="1200">
          <a:solidFill>
            <a:schemeClr val="tx1"/>
          </a:solidFill>
          <a:latin typeface="+mn-lt"/>
          <a:ea typeface="+mn-ea"/>
          <a:cs typeface="+mn-cs"/>
        </a:defRPr>
      </a:lvl1pPr>
      <a:lvl2pPr marL="363220" algn="l" defTabSz="725170" rtl="0" eaLnBrk="1" latinLnBrk="0" hangingPunct="1">
        <a:defRPr sz="1430" kern="1200">
          <a:solidFill>
            <a:schemeClr val="tx1"/>
          </a:solidFill>
          <a:latin typeface="+mn-lt"/>
          <a:ea typeface="+mn-ea"/>
          <a:cs typeface="+mn-cs"/>
        </a:defRPr>
      </a:lvl2pPr>
      <a:lvl3pPr marL="725805" algn="l" defTabSz="725170" rtl="0" eaLnBrk="1" latinLnBrk="0" hangingPunct="1">
        <a:defRPr sz="1430" kern="1200">
          <a:solidFill>
            <a:schemeClr val="tx1"/>
          </a:solidFill>
          <a:latin typeface="+mn-lt"/>
          <a:ea typeface="+mn-ea"/>
          <a:cs typeface="+mn-cs"/>
        </a:defRPr>
      </a:lvl3pPr>
      <a:lvl4pPr marL="1088390" algn="l" defTabSz="725170" rtl="0" eaLnBrk="1" latinLnBrk="0" hangingPunct="1">
        <a:defRPr sz="1430" kern="1200">
          <a:solidFill>
            <a:schemeClr val="tx1"/>
          </a:solidFill>
          <a:latin typeface="+mn-lt"/>
          <a:ea typeface="+mn-ea"/>
          <a:cs typeface="+mn-cs"/>
        </a:defRPr>
      </a:lvl4pPr>
      <a:lvl5pPr marL="1450975" algn="l" defTabSz="725170" rtl="0" eaLnBrk="1" latinLnBrk="0" hangingPunct="1">
        <a:defRPr sz="1430" kern="1200">
          <a:solidFill>
            <a:schemeClr val="tx1"/>
          </a:solidFill>
          <a:latin typeface="+mn-lt"/>
          <a:ea typeface="+mn-ea"/>
          <a:cs typeface="+mn-cs"/>
        </a:defRPr>
      </a:lvl5pPr>
      <a:lvl6pPr marL="1814195" algn="l" defTabSz="725170" rtl="0" eaLnBrk="1" latinLnBrk="0" hangingPunct="1">
        <a:defRPr sz="1430" kern="1200">
          <a:solidFill>
            <a:schemeClr val="tx1"/>
          </a:solidFill>
          <a:latin typeface="+mn-lt"/>
          <a:ea typeface="+mn-ea"/>
          <a:cs typeface="+mn-cs"/>
        </a:defRPr>
      </a:lvl6pPr>
      <a:lvl7pPr marL="2176780" algn="l" defTabSz="725170" rtl="0" eaLnBrk="1" latinLnBrk="0" hangingPunct="1">
        <a:defRPr sz="1430" kern="1200">
          <a:solidFill>
            <a:schemeClr val="tx1"/>
          </a:solidFill>
          <a:latin typeface="+mn-lt"/>
          <a:ea typeface="+mn-ea"/>
          <a:cs typeface="+mn-cs"/>
        </a:defRPr>
      </a:lvl7pPr>
      <a:lvl8pPr marL="2540000" algn="l" defTabSz="725170" rtl="0" eaLnBrk="1" latinLnBrk="0" hangingPunct="1">
        <a:defRPr sz="1430" kern="1200">
          <a:solidFill>
            <a:schemeClr val="tx1"/>
          </a:solidFill>
          <a:latin typeface="+mn-lt"/>
          <a:ea typeface="+mn-ea"/>
          <a:cs typeface="+mn-cs"/>
        </a:defRPr>
      </a:lvl8pPr>
      <a:lvl9pPr marL="2902585" algn="l" defTabSz="725170" rtl="0" eaLnBrk="1" latinLnBrk="0" hangingPunct="1">
        <a:defRPr sz="14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1952590" y="2037292"/>
            <a:ext cx="5238583" cy="529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50"/>
              </a:spcBef>
              <a:defRPr/>
            </a:pPr>
            <a:r>
              <a:rPr lang="en-US" altLang="zh-CN" sz="2845" b="1" spc="225" dirty="0"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miniOB</a:t>
            </a:r>
            <a:r>
              <a:rPr lang="zh-CN" altLang="en-US" sz="2845" b="1" spc="225" dirty="0"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入门实验</a:t>
            </a:r>
            <a:endParaRPr lang="zh-CN" altLang="en-US" sz="2845" b="1" spc="225" dirty="0">
              <a:latin typeface="微软雅黑" panose="020B0503020204020204" pitchFamily="34" charset="-122"/>
              <a:ea typeface="微软雅黑" panose="020B0503020204020204" pitchFamily="34" charset="-122"/>
              <a:cs typeface="Heiti SC Medium" panose="02000000000000000000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2007096" y="2661306"/>
            <a:ext cx="5238582" cy="0"/>
          </a:xfrm>
          <a:prstGeom prst="line">
            <a:avLst/>
          </a:prstGeom>
          <a:ln w="1270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0"/>
            <a:ext cx="1836204" cy="505332"/>
          </a:xfrm>
          <a:prstGeom prst="rect">
            <a:avLst/>
          </a:prstGeom>
        </p:spPr>
      </p:pic>
      <p:sp>
        <p:nvSpPr>
          <p:cNvPr id="14" name="文本框 11"/>
          <p:cNvSpPr txBox="1">
            <a:spLocks noChangeArrowheads="1"/>
          </p:cNvSpPr>
          <p:nvPr/>
        </p:nvSpPr>
        <p:spPr bwMode="auto">
          <a:xfrm>
            <a:off x="2438105" y="3475869"/>
            <a:ext cx="4286250" cy="299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350" b="1" dirty="0"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2026.4.21</a:t>
            </a:r>
            <a:endParaRPr lang="zh-CN" altLang="en-US" sz="1350" b="1" dirty="0">
              <a:latin typeface="微软雅黑" panose="020B0503020204020204" pitchFamily="34" charset="-122"/>
              <a:ea typeface="微软雅黑" panose="020B0503020204020204" pitchFamily="34" charset="-122"/>
              <a:cs typeface="Heiti SC Medium" panose="02000000000000000000" charset="-122"/>
            </a:endParaRPr>
          </a:p>
        </p:txBody>
      </p:sp>
      <p:sp>
        <p:nvSpPr>
          <p:cNvPr id="22" name="副标题 3074"/>
          <p:cNvSpPr txBox="1">
            <a:spLocks noChangeArrowheads="1"/>
          </p:cNvSpPr>
          <p:nvPr/>
        </p:nvSpPr>
        <p:spPr bwMode="auto">
          <a:xfrm>
            <a:off x="2428730" y="2868543"/>
            <a:ext cx="4286249" cy="40000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171450" indent="-171450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143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0002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4574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9146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3718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zh-CN" altLang="en-US" sz="168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数据库第</a:t>
            </a:r>
            <a:r>
              <a:rPr lang="zh-CN" altLang="en-US" sz="1685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五次实验</a:t>
            </a:r>
            <a:endParaRPr lang="zh-CN" altLang="en-US" sz="1685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形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5534" y="99466"/>
            <a:ext cx="3556248" cy="30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miniOB</a:t>
            </a:r>
            <a:r>
              <a:rPr lang="zh-CN" altLang="en-US" dirty="0"/>
              <a:t>入门实验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395536" y="617153"/>
            <a:ext cx="8352928" cy="449888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 defTabSz="481965" fontAlgn="auto"/>
            <a:r>
              <a:rPr lang="zh-CN" altLang="en-US" sz="1900" b="1" dirty="0">
                <a:latin typeface="Times New Roman" panose="02020603050405020304" pitchFamily="18" charset="0"/>
                <a:sym typeface="+mn-ea"/>
              </a:rPr>
              <a:t>实验目的</a:t>
            </a:r>
            <a:endParaRPr lang="zh-CN" altLang="en-US" sz="1900" b="1" dirty="0">
              <a:latin typeface="Times New Roman" panose="02020603050405020304" pitchFamily="18" charset="0"/>
            </a:endParaRPr>
          </a:p>
          <a:p>
            <a:pPr marL="241300" indent="481965" algn="just" defTabSz="481965" fontAlgn="auto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Times New Roman" panose="02020603050405020304" pitchFamily="18" charset="0"/>
              </a:rPr>
              <a:t>1.在了解</a:t>
            </a:r>
            <a:r>
              <a:rPr lang="en-US" altLang="zh-CN" sz="1600" dirty="0">
                <a:latin typeface="Times New Roman" panose="02020603050405020304" pitchFamily="18" charset="0"/>
              </a:rPr>
              <a:t>OceanBase</a:t>
            </a:r>
            <a:r>
              <a:rPr lang="zh-CN" altLang="en-US" sz="1600" dirty="0">
                <a:latin typeface="Times New Roman" panose="02020603050405020304" pitchFamily="18" charset="0"/>
              </a:rPr>
              <a:t>数据库的基础上，尝试在本地成功运行</a:t>
            </a:r>
            <a:r>
              <a:rPr lang="en-US" altLang="zh-CN" sz="1600" dirty="0">
                <a:latin typeface="Times New Roman" panose="02020603050405020304" pitchFamily="18" charset="0"/>
              </a:rPr>
              <a:t>miniOB；</a:t>
            </a:r>
            <a:endParaRPr lang="en-US" altLang="zh-CN" sz="1600" dirty="0">
              <a:latin typeface="Times New Roman" panose="02020603050405020304" pitchFamily="18" charset="0"/>
            </a:endParaRPr>
          </a:p>
          <a:p>
            <a:pPr marL="241300" indent="481965" algn="just" defTabSz="481965" fontAlgn="auto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Times New Roman" panose="02020603050405020304" pitchFamily="18" charset="0"/>
              </a:rPr>
              <a:t>2.在</a:t>
            </a:r>
            <a:r>
              <a:rPr lang="en-US" altLang="zh-CN" sz="1600" dirty="0">
                <a:latin typeface="Times New Roman" panose="02020603050405020304" pitchFamily="18" charset="0"/>
              </a:rPr>
              <a:t>miniOB</a:t>
            </a:r>
            <a:r>
              <a:rPr lang="zh-CN" altLang="en-US" sz="1600" dirty="0">
                <a:latin typeface="Times New Roman" panose="02020603050405020304" pitchFamily="18" charset="0"/>
              </a:rPr>
              <a:t>数据库上编写基础的</a:t>
            </a:r>
            <a:r>
              <a:rPr lang="en-US" altLang="zh-CN" sz="1600" dirty="0">
                <a:latin typeface="Times New Roman" panose="02020603050405020304" pitchFamily="18" charset="0"/>
              </a:rPr>
              <a:t>SQL</a:t>
            </a:r>
            <a:r>
              <a:rPr lang="zh-CN" altLang="en-US" sz="1600" dirty="0">
                <a:latin typeface="Times New Roman" panose="02020603050405020304" pitchFamily="18" charset="0"/>
              </a:rPr>
              <a:t>命令：建表、插入、更新、删除；</a:t>
            </a:r>
            <a:endParaRPr lang="zh-CN" altLang="en-US" sz="1600" dirty="0">
              <a:latin typeface="Times New Roman" panose="02020603050405020304" pitchFamily="18" charset="0"/>
            </a:endParaRPr>
          </a:p>
          <a:p>
            <a:pPr marL="241300" indent="481965" algn="just" defTabSz="481965" fontAlgn="auto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Times New Roman" panose="02020603050405020304" pitchFamily="18" charset="0"/>
              </a:rPr>
              <a:t>3.了解和探索</a:t>
            </a:r>
            <a:r>
              <a:rPr lang="en-US" altLang="zh-CN" sz="1600" dirty="0">
                <a:latin typeface="Times New Roman" panose="02020603050405020304" pitchFamily="18" charset="0"/>
              </a:rPr>
              <a:t>miniOB</a:t>
            </a:r>
            <a:r>
              <a:rPr lang="zh-CN" altLang="en-US" sz="1600" dirty="0">
                <a:latin typeface="Times New Roman" panose="02020603050405020304" pitchFamily="18" charset="0"/>
              </a:rPr>
              <a:t>数据库的特点，为后续编写内核代码做准备。</a:t>
            </a:r>
            <a:endParaRPr lang="zh-CN" altLang="en-US" sz="1600" dirty="0">
              <a:latin typeface="Times New Roman" panose="02020603050405020304" pitchFamily="18" charset="0"/>
            </a:endParaRPr>
          </a:p>
          <a:p>
            <a:pPr algn="just" defTabSz="481965" fontAlgn="auto"/>
            <a:r>
              <a:rPr lang="zh-CN" altLang="en-US" sz="1900" b="1" dirty="0">
                <a:latin typeface="Times New Roman" panose="02020603050405020304" pitchFamily="18" charset="0"/>
                <a:sym typeface="+mn-ea"/>
              </a:rPr>
              <a:t>实验要求</a:t>
            </a:r>
            <a:endParaRPr lang="zh-CN" altLang="en-US" sz="1900" b="1" dirty="0">
              <a:latin typeface="Times New Roman" panose="02020603050405020304" pitchFamily="18" charset="0"/>
            </a:endParaRPr>
          </a:p>
          <a:p>
            <a:pPr marL="241300" indent="428625" algn="just" defTabSz="481965" fontAlgn="auto">
              <a:buFont typeface="Arial" panose="020B0604020202020204" pitchFamily="34" charset="0"/>
              <a:buChar char="•"/>
            </a:pPr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1.本次实验使用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miniOB</a:t>
            </a:r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数据库完成;</a:t>
            </a:r>
            <a:endParaRPr lang="zh-CN" altLang="en-US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41300" indent="428625" algn="just" defTabSz="481965" fontAlgn="auto">
              <a:buFont typeface="Arial" panose="020B0604020202020204" pitchFamily="34" charset="0"/>
              <a:buChar char="•"/>
            </a:pPr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2.在个人电脑完成实验环境搭建;</a:t>
            </a:r>
            <a:endParaRPr lang="zh-CN" altLang="en-US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41300" indent="428625" algn="just" defTabSz="481965" fontAlgn="auto">
              <a:buFont typeface="Arial" panose="020B0604020202020204" pitchFamily="34" charset="0"/>
              <a:buChar char="•"/>
            </a:pPr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3.提供 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Docker </a:t>
            </a:r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运行截图;</a:t>
            </a:r>
            <a:endParaRPr lang="zh-CN" altLang="en-US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41300" indent="428625" algn="just" defTabSz="481965" fontAlgn="auto">
              <a:buFont typeface="Arial" panose="020B0604020202020204" pitchFamily="34" charset="0"/>
              <a:buChar char="•"/>
            </a:pPr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4.按要求完成第四节中的实验，每步操作后要求截图，实验截图要求包含完整的 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 </a:t>
            </a:r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执行语句和输出的实验结果。</a:t>
            </a:r>
            <a:endParaRPr lang="en-US" altLang="zh-CN" sz="1600" dirty="0">
              <a:latin typeface="Times New Roman" panose="02020603050405020304" pitchFamily="18" charset="0"/>
            </a:endParaRPr>
          </a:p>
          <a:p>
            <a:pPr algn="just" defTabSz="481965" fontAlgn="auto"/>
            <a:r>
              <a:rPr lang="zh-CN" altLang="en-US" sz="2000" b="1" dirty="0">
                <a:latin typeface="Times New Roman" panose="02020603050405020304" pitchFamily="18" charset="0"/>
                <a:sym typeface="+mn-ea"/>
              </a:rPr>
              <a:t>报告要求</a:t>
            </a:r>
            <a:endParaRPr lang="zh-CN" altLang="en-US" sz="2000" b="1" dirty="0">
              <a:latin typeface="Times New Roman" panose="02020603050405020304" pitchFamily="18" charset="0"/>
            </a:endParaRPr>
          </a:p>
          <a:p>
            <a:pPr marL="241300" indent="428625" algn="just" defTabSz="481965" fontAlgn="auto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Times New Roman" panose="02020603050405020304" pitchFamily="18" charset="0"/>
                <a:sym typeface="+mn-ea"/>
              </a:rPr>
              <a:t>完成所有小题内容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（序号后标有</a:t>
            </a:r>
            <a:r>
              <a:rPr lang="zh-CN" altLang="zh-CN" dirty="0">
                <a:effectLst/>
                <a:ea typeface="Times New Roman" panose="02020603050405020304" pitchFamily="18" charset="0"/>
              </a:rPr>
              <a:t>*</a:t>
            </a:r>
            <a:r>
              <a:rPr lang="zh-CN" altLang="zh-CN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的小题是选做题，不强制要求完成）</a:t>
            </a:r>
            <a:r>
              <a:rPr lang="zh-CN" altLang="en-US" sz="1600" dirty="0">
                <a:latin typeface="Times New Roman" panose="02020603050405020304" pitchFamily="18" charset="0"/>
                <a:sym typeface="+mn-ea"/>
              </a:rPr>
              <a:t>，要求提交的实验报告中包含每个小题的题干和相应的实验结果截图</a:t>
            </a:r>
            <a:endParaRPr lang="zh-CN" altLang="en-US" sz="1600" dirty="0">
              <a:latin typeface="Times New Roman" panose="02020603050405020304" pitchFamily="18" charset="0"/>
            </a:endParaRPr>
          </a:p>
          <a:p>
            <a:pPr marL="241300" indent="428625" algn="just" defTabSz="481965" fontAlgn="auto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Times New Roman" panose="02020603050405020304" pitchFamily="18" charset="0"/>
                <a:sym typeface="+mn-ea"/>
              </a:rPr>
              <a:t>实验截图中应该包含有完整</a:t>
            </a:r>
            <a:r>
              <a:rPr lang="zh-CN" altLang="en-US" sz="1600" dirty="0">
                <a:latin typeface="Times New Roman" panose="02020603050405020304" pitchFamily="18" charset="0"/>
                <a:sym typeface="+mn-ea"/>
              </a:rPr>
              <a:t>的实验结果</a:t>
            </a:r>
            <a:endParaRPr lang="en-US" altLang="zh-CN" sz="1600" dirty="0">
              <a:latin typeface="Times New Roman" panose="02020603050405020304" pitchFamily="18" charset="0"/>
              <a:sym typeface="+mn-ea"/>
            </a:endParaRPr>
          </a:p>
          <a:p>
            <a:pPr marL="241300" indent="428625" algn="just" defTabSz="481965" fontAlgn="auto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Times New Roman" panose="02020603050405020304" pitchFamily="18" charset="0"/>
                <a:sym typeface="+mn-ea"/>
              </a:rPr>
              <a:t>记录你遇到的问题及解决方案</a:t>
            </a:r>
            <a:endParaRPr lang="zh-CN" altLang="en-US" sz="1600" dirty="0">
              <a:latin typeface="Times New Roman" panose="02020603050405020304" pitchFamily="18" charset="0"/>
            </a:endParaRPr>
          </a:p>
          <a:p>
            <a:pPr fontAlgn="auto">
              <a:lnSpc>
                <a:spcPct val="150000"/>
              </a:lnSpc>
            </a:pPr>
            <a:endParaRPr lang="zh-CN" altLang="en-US" sz="1685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实验内容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727" y="1029310"/>
            <a:ext cx="8424936" cy="720080"/>
          </a:xfrm>
        </p:spPr>
        <p:txBody>
          <a:bodyPr>
            <a:normAutofit fontScale="65000" lnSpcReduction="20000"/>
          </a:bodyPr>
          <a:lstStyle/>
          <a:p>
            <a:pPr marL="0" indent="0" algn="just" defTabSz="481965">
              <a:lnSpc>
                <a:spcPct val="120000"/>
              </a:lnSpc>
              <a:buNone/>
            </a:pPr>
            <a:r>
              <a:rPr lang="en-US" altLang="zh-CN" sz="33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3300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zh-CN" altLang="en-US" sz="33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 </a:t>
            </a:r>
            <a:r>
              <a:rPr lang="en-US" altLang="zh-CN" sz="33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Docker </a:t>
            </a:r>
            <a:r>
              <a:rPr lang="zh-CN" altLang="en-US" sz="33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中下载官方镜像</a:t>
            </a:r>
            <a:endParaRPr lang="zh-CN" altLang="en-US" sz="33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 defTabSz="481965">
              <a:lnSpc>
                <a:spcPct val="120000"/>
              </a:lnSpc>
              <a:buNone/>
            </a:pP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在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Docker 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顶部搜索框搜索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miniob，oceanbase/miniob 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即为官方镜像。</a:t>
            </a:r>
            <a:endParaRPr lang="zh-CN" altLang="en-US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 algn="just" defTabSz="481965">
              <a:lnSpc>
                <a:spcPct val="170000"/>
              </a:lnSpc>
              <a:buNone/>
            </a:pPr>
            <a:endParaRPr lang="zh-CN" altLang="en-US" sz="1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28225" y="4227929"/>
            <a:ext cx="47520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点击打开后，选择 </a:t>
            </a:r>
            <a:r>
              <a:rPr lang="en-US" altLang="zh-CN" dirty="0"/>
              <a:t>pull </a:t>
            </a:r>
            <a:r>
              <a:rPr lang="zh-CN" altLang="en-US" dirty="0"/>
              <a:t>并 </a:t>
            </a:r>
            <a:r>
              <a:rPr lang="en-US" altLang="zh-CN" dirty="0"/>
              <a:t>run </a:t>
            </a:r>
            <a:r>
              <a:rPr lang="zh-CN" altLang="en-US" dirty="0"/>
              <a:t>即可运行。</a:t>
            </a:r>
            <a:endParaRPr lang="zh-CN" altLang="en-US" dirty="0"/>
          </a:p>
        </p:txBody>
      </p:sp>
      <p:pic>
        <p:nvPicPr>
          <p:cNvPr id="961370984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605" y="1924050"/>
            <a:ext cx="8350885" cy="22275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-251460" y="555308"/>
            <a:ext cx="5080000" cy="511810"/>
          </a:xfrm>
          <a:prstGeom prst="rect">
            <a:avLst/>
          </a:prstGeom>
        </p:spPr>
        <p:txBody>
          <a:bodyPr>
            <a:spAutoFit/>
          </a:bodyPr>
          <a:p>
            <a:pPr marL="368300" indent="0" defTabSz="266700">
              <a:lnSpc>
                <a:spcPct val="114000"/>
              </a:lnSpc>
              <a:spcBef>
                <a:spcPts val="1200"/>
              </a:spcBef>
              <a:spcAft>
                <a:spcPts val="600"/>
              </a:spcAft>
              <a:buFont typeface="Times New Roman" panose="02020603050405020304"/>
              <a:buNone/>
            </a:pPr>
            <a:r>
              <a:rPr lang="en-US" altLang="zh-CN" sz="2400" b="1">
                <a:latin typeface="Times New Roman" panose="02020603050405020304"/>
                <a:ea typeface="Times New Roman" panose="02020603050405020304"/>
              </a:rPr>
              <a:t>miniob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安装说明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实验内容</a:t>
            </a:r>
            <a:endParaRPr lang="zh-CN" altLang="en-US" dirty="0"/>
          </a:p>
        </p:txBody>
      </p:sp>
      <p:sp>
        <p:nvSpPr>
          <p:cNvPr id="5" name="内容占位符 2"/>
          <p:cNvSpPr txBox="1"/>
          <p:nvPr/>
        </p:nvSpPr>
        <p:spPr bwMode="auto">
          <a:xfrm>
            <a:off x="539552" y="843558"/>
            <a:ext cx="8208912" cy="3888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0" indent="0" latin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、进入容器，下载并编译 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miniOB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 latin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在 </a:t>
            </a:r>
            <a:r>
              <a:rPr lang="en-US" altLang="zh-C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Exec </a:t>
            </a:r>
            <a:r>
              <a:rPr lang="zh-CN" alt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下运行</a:t>
            </a:r>
            <a:r>
              <a:rPr lang="en-US" altLang="zh-C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git clone https://github.com/oceanbase/miniob.git</a:t>
            </a:r>
            <a:endParaRPr lang="en-US" altLang="zh-C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lvl="0" indent="0" latin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从 </a:t>
            </a:r>
            <a:r>
              <a:rPr lang="en-US" altLang="zh-C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github </a:t>
            </a:r>
            <a:r>
              <a:rPr lang="zh-CN" alt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上下载 </a:t>
            </a:r>
            <a:r>
              <a:rPr lang="en-US" altLang="zh-C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miniOB。 </a:t>
            </a:r>
            <a:endParaRPr lang="en-US" altLang="zh-C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lvl="0" indent="0" latinLnBrk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lvl="0" indent="0" latinLnBrk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lvl="0" indent="0" latinLnBrk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lvl="0" indent="0" latinLnBrk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lvl="0" indent="0" latinLnBrk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lvl="0" indent="0" latinLnBrk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lvl="0" indent="0" latinLnBrk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lvl="0" indent="0" latinLnBrk="0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lvl="0" indent="0" latin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进入 </a:t>
            </a:r>
            <a:r>
              <a:rPr lang="en-US" altLang="zh-C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miniOB </a:t>
            </a:r>
            <a:r>
              <a:rPr lang="zh-CN" alt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目录，使用 </a:t>
            </a:r>
            <a:r>
              <a:rPr lang="en-US" altLang="zh-CN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bash build.sh --make -j4</a:t>
            </a:r>
            <a:r>
              <a:rPr lang="zh-CN" altLang="en-US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进行编译。</a:t>
            </a:r>
            <a:endParaRPr lang="zh-CN" altLang="en-US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indent="0" algn="just" defTabSz="481965" latinLnBrk="0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US" altLang="zh-CN" sz="1800" kern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 algn="just" defTabSz="481965" latinLnBrk="0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zh-CN" altLang="en-US" sz="1800" kern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609731994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05" y="1772920"/>
            <a:ext cx="7190740" cy="20294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实验内容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929078"/>
            <a:ext cx="8316924" cy="3285344"/>
          </a:xfrm>
        </p:spPr>
        <p:txBody>
          <a:bodyPr>
            <a:noAutofit/>
          </a:bodyPr>
          <a:lstStyle/>
          <a:p>
            <a:pPr marL="0" lvl="0" indent="0">
              <a:lnSpc>
                <a:spcPct val="150000"/>
              </a:lnSpc>
              <a:buNone/>
            </a:pP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编译完成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界面如下</a:t>
            </a:r>
            <a:endParaRPr lang="zh-CN" altLang="en-US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>
              <a:lnSpc>
                <a:spcPct val="150000"/>
              </a:lnSpc>
              <a:buNone/>
            </a:pPr>
            <a:endParaRPr lang="zh-CN" altLang="en-US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348999746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695" y="1707515"/>
            <a:ext cx="6251575" cy="28841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实验内容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4968" y="555664"/>
            <a:ext cx="8316924" cy="2160102"/>
          </a:xfrm>
        </p:spPr>
        <p:txBody>
          <a:bodyPr>
            <a:noAutofit/>
          </a:bodyPr>
          <a:lstStyle/>
          <a:p>
            <a:pPr marL="0" lvl="0" indent="0">
              <a:lnSpc>
                <a:spcPct val="150000"/>
              </a:lnSpc>
              <a:buNone/>
            </a:pPr>
            <a:r>
              <a:rPr lang="zh-CN" alt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 Unicode MS" panose="020B0604020202020204" pitchFamily="34" charset="-128"/>
              </a:rPr>
              <a:t>3.运行 </a:t>
            </a:r>
            <a:r>
              <a:rPr lang="en-US" altLang="zh-CN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 Unicode MS" panose="020B0604020202020204" pitchFamily="34" charset="-128"/>
              </a:rPr>
              <a:t>miniOB</a:t>
            </a:r>
            <a:endParaRPr lang="en-US" altLang="zh-CN" sz="18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Arial Unicode MS" panose="020B0604020202020204" pitchFamily="34" charset="-128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lang="zh-CN" alt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 Unicode MS" panose="020B0604020202020204" pitchFamily="34" charset="-128"/>
              </a:rPr>
              <a:t>编译完成后，进入 </a:t>
            </a:r>
            <a:r>
              <a:rPr lang="en-US" altLang="zh-CN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 Unicode MS" panose="020B0604020202020204" pitchFamily="34" charset="-128"/>
              </a:rPr>
              <a:t>build </a:t>
            </a:r>
            <a:r>
              <a:rPr lang="zh-CN" alt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 Unicode MS" panose="020B0604020202020204" pitchFamily="34" charset="-128"/>
              </a:rPr>
              <a:t>目录，使用 </a:t>
            </a:r>
            <a:endParaRPr lang="zh-CN" altLang="en-US" sz="18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Arial Unicode MS" panose="020B0604020202020204" pitchFamily="34" charset="-128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lang="en-US" altLang="zh-CN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 Unicode MS" panose="020B0604020202020204" pitchFamily="34" charset="-128"/>
              </a:rPr>
              <a:t>./bin/observer -s miniob.sock -f ../etc/observer.ini &amp;</a:t>
            </a:r>
            <a:r>
              <a:rPr lang="zh-CN" alt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 Unicode MS" panose="020B0604020202020204" pitchFamily="34" charset="-128"/>
              </a:rPr>
              <a:t>在后台启动服务端。</a:t>
            </a:r>
            <a:endParaRPr lang="zh-CN" altLang="en-US" sz="18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Arial Unicode MS" panose="020B0604020202020204" pitchFamily="34" charset="-128"/>
            </a:endParaRPr>
          </a:p>
          <a:p>
            <a:pPr marL="0" lvl="0" indent="0">
              <a:lnSpc>
                <a:spcPct val="150000"/>
              </a:lnSpc>
              <a:buNone/>
            </a:pPr>
            <a:endParaRPr lang="en-US" altLang="zh-CN" sz="18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Arial Unicode MS" panose="020B0604020202020204" pitchFamily="34" charset="-128"/>
            </a:endParaRPr>
          </a:p>
          <a:p>
            <a:pPr marL="0" lvl="0" indent="0">
              <a:lnSpc>
                <a:spcPct val="150000"/>
              </a:lnSpc>
              <a:buNone/>
            </a:pPr>
            <a:endParaRPr lang="zh-CN" altLang="en-US" sz="18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Arial Unicode MS" panose="020B0604020202020204" pitchFamily="34" charset="-128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lang="zh-CN" alt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 Unicode MS" panose="020B0604020202020204" pitchFamily="34" charset="-128"/>
              </a:rPr>
              <a:t>启动服务端后，使用 </a:t>
            </a:r>
            <a:endParaRPr lang="zh-CN" altLang="en-US" sz="18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Arial Unicode MS" panose="020B0604020202020204" pitchFamily="34" charset="-128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lang="en-US" altLang="zh-CN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 Unicode MS" panose="020B0604020202020204" pitchFamily="34" charset="-128"/>
              </a:rPr>
              <a:t>./bin/obclient -s miniob.sock</a:t>
            </a:r>
            <a:endParaRPr lang="en-US" altLang="zh-CN" sz="18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Arial Unicode MS" panose="020B0604020202020204" pitchFamily="34" charset="-128"/>
            </a:endParaRPr>
          </a:p>
          <a:p>
            <a:pPr marL="0" lvl="0" indent="0">
              <a:lnSpc>
                <a:spcPct val="150000"/>
              </a:lnSpc>
              <a:buNone/>
            </a:pPr>
            <a:r>
              <a:rPr lang="zh-CN" alt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 Unicode MS" panose="020B0604020202020204" pitchFamily="34" charset="-128"/>
              </a:rPr>
              <a:t>启动 </a:t>
            </a:r>
            <a:r>
              <a:rPr lang="en-US" altLang="zh-CN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 Unicode MS" panose="020B0604020202020204" pitchFamily="34" charset="-128"/>
              </a:rPr>
              <a:t>miniOB </a:t>
            </a:r>
            <a:r>
              <a:rPr lang="zh-CN" alt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 Unicode MS" panose="020B0604020202020204" pitchFamily="34" charset="-128"/>
              </a:rPr>
              <a:t>客户端。</a:t>
            </a:r>
            <a:endParaRPr lang="zh-CN" altLang="en-US" sz="18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Arial Unicode MS" panose="020B0604020202020204" pitchFamily="34" charset="-128"/>
            </a:endParaRPr>
          </a:p>
        </p:txBody>
      </p:sp>
      <p:pic>
        <p:nvPicPr>
          <p:cNvPr id="165921478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1995805"/>
            <a:ext cx="3837940" cy="527685"/>
          </a:xfrm>
          <a:prstGeom prst="rect">
            <a:avLst/>
          </a:prstGeom>
        </p:spPr>
      </p:pic>
      <p:pic>
        <p:nvPicPr>
          <p:cNvPr id="1614903651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224213"/>
            <a:ext cx="3474720" cy="16694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实验内容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3538" y="915566"/>
            <a:ext cx="8316924" cy="216010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000" b="1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 Unicode MS" panose="020B0604020202020204" pitchFamily="34" charset="-128"/>
              </a:rPr>
              <a:t>实验内容</a:t>
            </a:r>
            <a:endParaRPr lang="zh-CN" altLang="en-US" sz="2000" b="1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Arial Unicode MS" panose="020B0604020202020204" pitchFamily="34" charset="-128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 Unicode MS" panose="020B0604020202020204" pitchFamily="34" charset="-128"/>
              </a:rPr>
              <a:t>1.在 </a:t>
            </a:r>
            <a:r>
              <a:rPr lang="en-US" altLang="zh-CN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 Unicode MS" panose="020B0604020202020204" pitchFamily="34" charset="-128"/>
              </a:rPr>
              <a:t>Docker </a:t>
            </a:r>
            <a:r>
              <a:rPr lang="zh-CN" alt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 Unicode MS" panose="020B0604020202020204" pitchFamily="34" charset="-128"/>
              </a:rPr>
              <a:t>中建立 </a:t>
            </a:r>
            <a:r>
              <a:rPr lang="en-US" altLang="zh-CN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 Unicode MS" panose="020B0604020202020204" pitchFamily="34" charset="-128"/>
              </a:rPr>
              <a:t>miniob </a:t>
            </a:r>
            <a:r>
              <a:rPr lang="zh-CN" alt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 Unicode MS" panose="020B0604020202020204" pitchFamily="34" charset="-128"/>
              </a:rPr>
              <a:t>环境（参考第0章的教程</a:t>
            </a:r>
            <a:r>
              <a:rPr lang="en-US" altLang="zh-CN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 Unicode MS" panose="020B0604020202020204" pitchFamily="34" charset="-128"/>
              </a:rPr>
              <a:t>PPT</a:t>
            </a:r>
            <a:r>
              <a:rPr lang="zh-CN" alt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 Unicode MS" panose="020B0604020202020204" pitchFamily="34" charset="-128"/>
              </a:rPr>
              <a:t>和第三节的内容）。</a:t>
            </a:r>
            <a:endParaRPr lang="zh-CN" altLang="en-US" sz="18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Arial Unicode MS" panose="020B0604020202020204" pitchFamily="34" charset="-128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 Unicode MS" panose="020B0604020202020204" pitchFamily="34" charset="-128"/>
              </a:rPr>
              <a:t>2.创建一张表，包括学号，姓名，身高，体重。</a:t>
            </a:r>
            <a:endParaRPr lang="zh-CN" altLang="en-US" sz="18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Arial Unicode MS" panose="020B0604020202020204" pitchFamily="34" charset="-128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2339975" y="2931795"/>
          <a:ext cx="4410710" cy="0"/>
        </p:xfrm>
        <a:graphic>
          <a:graphicData uri="http://schemas.openxmlformats.org/drawingml/2006/table">
            <a:tbl>
              <a:tblPr/>
              <a:tblGrid>
                <a:gridCol w="1350010"/>
                <a:gridCol w="1350645"/>
                <a:gridCol w="1710055"/>
              </a:tblGrid>
              <a:tr h="0">
                <a:tc gridSpan="3"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表名：</a:t>
                      </a:r>
                      <a:r>
                        <a:rPr lang="en-US" altLang="zh-CN" sz="1100" b="1">
                          <a:latin typeface="Times New Roman" panose="02020603050405020304"/>
                          <a:ea typeface="Times New Roman" panose="02020603050405020304"/>
                        </a:rPr>
                        <a:t>Student</a:t>
                      </a:r>
                      <a:endParaRPr lang="en-US" altLang="zh-CN" sz="1100" b="1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字段</a:t>
                      </a:r>
                      <a:endParaRPr lang="zh-CN" sz="11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说明</a:t>
                      </a:r>
                      <a:endParaRPr lang="zh-CN" sz="11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类型</a:t>
                      </a:r>
                      <a:endParaRPr lang="zh-CN" sz="11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No</a:t>
                      </a:r>
                      <a:endParaRPr lang="en-US" altLang="zh-CN" sz="1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学号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int</a:t>
                      </a:r>
                      <a:endParaRPr lang="en-US" altLang="zh-CN"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宋体" panose="02010600030101010101" pitchFamily="2" charset="-122"/>
                        </a:rPr>
                        <a:t>Name</a:t>
                      </a:r>
                      <a:endParaRPr lang="en-US" altLang="zh-CN" sz="11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姓名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char</a:t>
                      </a: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(10)</a:t>
                      </a:r>
                      <a:endParaRPr lang="en-US" alt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Height</a:t>
                      </a:r>
                      <a:endParaRPr lang="en-US" altLang="zh-CN"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身高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float</a:t>
                      </a:r>
                      <a:endParaRPr lang="en-US" altLang="zh-CN"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Weight</a:t>
                      </a:r>
                      <a:endParaRPr lang="en-US" altLang="zh-CN"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体重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Times New Roman" panose="02020603050405020304"/>
                          <a:ea typeface="Times New Roman" panose="02020603050405020304"/>
                        </a:rPr>
                        <a:t>float</a:t>
                      </a:r>
                      <a:endParaRPr lang="en-US" altLang="zh-CN" sz="1100"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实验内容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3538" y="915566"/>
            <a:ext cx="8316924" cy="216010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 Unicode MS" panose="020B0604020202020204" pitchFamily="34" charset="-128"/>
              </a:rPr>
              <a:t>3.向该表插入下列数据。</a:t>
            </a:r>
            <a:endParaRPr lang="zh-CN" altLang="en-US" sz="18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Arial Unicode MS" panose="020B0604020202020204" pitchFamily="34" charset="-128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18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Arial Unicode MS" panose="020B0604020202020204" pitchFamily="34" charset="-128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18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Arial Unicode MS" panose="020B0604020202020204" pitchFamily="34" charset="-128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18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Arial Unicode MS" panose="020B0604020202020204" pitchFamily="34" charset="-128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 Unicode MS" panose="020B0604020202020204" pitchFamily="34" charset="-128"/>
              </a:rPr>
              <a:t>4.使用</a:t>
            </a:r>
            <a:r>
              <a:rPr lang="en-US" altLang="zh-CN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 Unicode MS" panose="020B0604020202020204" pitchFamily="34" charset="-128"/>
              </a:rPr>
              <a:t>select</a:t>
            </a:r>
            <a:r>
              <a:rPr lang="zh-CN" alt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 Unicode MS" panose="020B0604020202020204" pitchFamily="34" charset="-128"/>
              </a:rPr>
              <a:t>语句展示学号，姓名，身高。</a:t>
            </a:r>
            <a:endParaRPr lang="zh-CN" altLang="en-US" sz="18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Arial Unicode MS" panose="020B0604020202020204" pitchFamily="34" charset="-128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 Unicode MS" panose="020B0604020202020204" pitchFamily="34" charset="-128"/>
              </a:rPr>
              <a:t>5.尝试修改指定行的体重如下表所示，能否成功？为什么？</a:t>
            </a:r>
            <a:endParaRPr lang="zh-CN" altLang="en-US" sz="18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Arial Unicode MS" panose="020B0604020202020204" pitchFamily="34" charset="-128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1907858" y="1564005"/>
          <a:ext cx="4407535" cy="0"/>
        </p:xfrm>
        <a:graphic>
          <a:graphicData uri="http://schemas.openxmlformats.org/drawingml/2006/table">
            <a:tbl>
              <a:tblPr/>
              <a:tblGrid>
                <a:gridCol w="1101725"/>
                <a:gridCol w="1101725"/>
                <a:gridCol w="1101725"/>
                <a:gridCol w="1102360"/>
              </a:tblGrid>
              <a:tr h="0"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No</a:t>
                      </a:r>
                      <a:endParaRPr lang="en-US" altLang="zh-CN" sz="11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Name</a:t>
                      </a:r>
                      <a:endParaRPr lang="en-US" altLang="zh-CN" sz="11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Height</a:t>
                      </a:r>
                      <a:endParaRPr lang="en-US" altLang="zh-CN" sz="11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Weight</a:t>
                      </a:r>
                      <a:endParaRPr lang="en-US" altLang="zh-CN" sz="11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2353123</a:t>
                      </a:r>
                      <a:endParaRPr lang="en-US" alt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王海峰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180.5</a:t>
                      </a:r>
                      <a:endParaRPr lang="en-US" alt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75.5</a:t>
                      </a:r>
                      <a:endParaRPr lang="en-US" alt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2331902</a:t>
                      </a:r>
                      <a:endParaRPr lang="en-US" alt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刘伟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174.9</a:t>
                      </a:r>
                      <a:endParaRPr lang="en-US" alt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63.3</a:t>
                      </a:r>
                      <a:endParaRPr lang="en-US" alt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2353074</a:t>
                      </a:r>
                      <a:endParaRPr lang="en-US" alt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孙国程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169.0</a:t>
                      </a:r>
                      <a:endParaRPr lang="en-US" alt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82.5</a:t>
                      </a:r>
                      <a:endParaRPr lang="en-US" alt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2233444</a:t>
                      </a:r>
                      <a:endParaRPr lang="en-US" alt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严磊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178.3</a:t>
                      </a:r>
                      <a:endParaRPr lang="en-US" alt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52.8</a:t>
                      </a:r>
                      <a:endParaRPr lang="en-US" alt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/>
          <p:nvPr/>
        </p:nvGraphicFramePr>
        <p:xfrm>
          <a:off x="1922463" y="3884930"/>
          <a:ext cx="4407535" cy="952500"/>
        </p:xfrm>
        <a:graphic>
          <a:graphicData uri="http://schemas.openxmlformats.org/drawingml/2006/table">
            <a:tbl>
              <a:tblPr/>
              <a:tblGrid>
                <a:gridCol w="1101725"/>
                <a:gridCol w="1101725"/>
                <a:gridCol w="1101725"/>
                <a:gridCol w="1102360"/>
              </a:tblGrid>
              <a:tr h="0"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No</a:t>
                      </a:r>
                      <a:endParaRPr lang="en-US" altLang="zh-CN" sz="11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Name</a:t>
                      </a:r>
                      <a:endParaRPr lang="en-US" altLang="zh-CN" sz="11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Height</a:t>
                      </a:r>
                      <a:endParaRPr lang="en-US" altLang="zh-CN" sz="11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Weight</a:t>
                      </a:r>
                      <a:endParaRPr lang="en-US" altLang="zh-CN" sz="11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2353123</a:t>
                      </a:r>
                      <a:endParaRPr lang="en-US" alt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王海峰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180.5</a:t>
                      </a:r>
                      <a:endParaRPr lang="en-US" alt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78.5</a:t>
                      </a:r>
                      <a:endParaRPr lang="en-US" altLang="zh-CN" sz="110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2331902</a:t>
                      </a:r>
                      <a:endParaRPr lang="en-US" alt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刘伟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174.9</a:t>
                      </a:r>
                      <a:endParaRPr lang="en-US" alt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60.0</a:t>
                      </a:r>
                      <a:endParaRPr lang="en-US" altLang="zh-CN" sz="110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2353074</a:t>
                      </a:r>
                      <a:endParaRPr lang="en-US" alt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孙国程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169.0</a:t>
                      </a:r>
                      <a:endParaRPr lang="en-US" alt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82.5</a:t>
                      </a:r>
                      <a:endParaRPr lang="en-US" alt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2233444</a:t>
                      </a:r>
                      <a:endParaRPr lang="en-US" alt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严磊</a:t>
                      </a:r>
                      <a:endParaRPr 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178.3</a:t>
                      </a:r>
                      <a:endParaRPr lang="en-US" alt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85725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1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52.8</a:t>
                      </a:r>
                      <a:endParaRPr lang="en-US" altLang="zh-CN" sz="11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实验内容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3538" y="915566"/>
            <a:ext cx="8316924" cy="216010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 Unicode MS" panose="020B0604020202020204" pitchFamily="34" charset="-128"/>
              </a:rPr>
              <a:t>6.删除孙国程和严磊的记录。</a:t>
            </a:r>
            <a:endParaRPr lang="zh-CN" altLang="en-US" sz="18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Arial Unicode MS" panose="020B0604020202020204" pitchFamily="34" charset="-128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 Unicode MS" panose="020B0604020202020204" pitchFamily="34" charset="-128"/>
              </a:rPr>
              <a:t>7.对 </a:t>
            </a:r>
            <a:r>
              <a:rPr lang="en-US" altLang="zh-CN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 Unicode MS" panose="020B0604020202020204" pitchFamily="34" charset="-128"/>
              </a:rPr>
              <a:t>miniob </a:t>
            </a:r>
            <a:r>
              <a:rPr lang="zh-CN" alt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 Unicode MS" panose="020B0604020202020204" pitchFamily="34" charset="-128"/>
              </a:rPr>
              <a:t>源码（</a:t>
            </a:r>
            <a:r>
              <a:rPr lang="en-US" altLang="zh-CN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 Unicode MS" panose="020B0604020202020204" pitchFamily="34" charset="-128"/>
              </a:rPr>
              <a:t>https://github.com/oceanbase/miniob</a:t>
            </a:r>
            <a:r>
              <a:rPr lang="zh-CN" alt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 Unicode MS" panose="020B0604020202020204" pitchFamily="34" charset="-128"/>
              </a:rPr>
              <a:t>）进行阅读，主要选取一个功能（如 </a:t>
            </a:r>
            <a:r>
              <a:rPr lang="en-US" altLang="zh-CN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 Unicode MS" panose="020B0604020202020204" pitchFamily="34" charset="-128"/>
              </a:rPr>
              <a:t>create table、 insert、 delete </a:t>
            </a:r>
            <a:r>
              <a:rPr lang="zh-CN" altLang="en-US" sz="18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 Unicode MS" panose="020B0604020202020204" pitchFamily="34" charset="-128"/>
              </a:rPr>
              <a:t>等）进行分析理解， 做简要报告（不超过两页）。</a:t>
            </a:r>
            <a:endParaRPr lang="zh-CN" altLang="en-US" sz="1800" dirty="0"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Arial Unicode MS" panose="020B0604020202020204" pitchFamily="34" charset="-128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15516" y="3579862"/>
            <a:ext cx="8712968" cy="12961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https://</a:t>
            </a:r>
            <a:r>
              <a:rPr lang="en-US" altLang="zh-CN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www.oceanbase.com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/docs/common-oceanbase-database-cn-1000000004475544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https://</a:t>
            </a:r>
            <a:r>
              <a:rPr lang="en-US" altLang="zh-CN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mariadb.com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/docs/server/</a:t>
            </a:r>
            <a:r>
              <a:rPr lang="en-US" altLang="zh-CN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mariadb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</a:t>
            </a:r>
            <a:r>
              <a:rPr lang="en-US" altLang="zh-CN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quickstart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-guides/basics-guide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请大家完成实验，有问题先去上面两个官方文档里找解决方案，也可以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求助大模型，没找到再在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课程群里问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实验报告的模板在实验准备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.zip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里面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所有班级：请在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4/26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前，在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canvas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上提交实验报告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2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Office 主题">
      <a:majorFont>
        <a:latin typeface="Calibri"/>
        <a:ea typeface="黑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 cap="flat" cmpd="sng">
          <a:solidFill>
            <a:srgbClr val="FF0000"/>
          </a:solidFill>
          <a:prstDash val="sysDash"/>
          <a:round/>
        </a:ln>
      </a:spPr>
      <a:bodyPr anchor="ctr"/>
      <a:lstStyle>
        <a:defPPr>
          <a:defRPr/>
        </a:defPPr>
      </a:lstStyle>
    </a:spDef>
  </a:objectDefaults>
  <a:extraClrSchemeLst>
    <a:extraClrScheme>
      <a:clrScheme name="2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-te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1553</Words>
  <Application>WPS 演示</Application>
  <PresentationFormat>全屏显示(16:9)</PresentationFormat>
  <Paragraphs>208</Paragraphs>
  <Slides>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4" baseType="lpstr">
      <vt:lpstr>Arial</vt:lpstr>
      <vt:lpstr>宋体</vt:lpstr>
      <vt:lpstr>Wingdings</vt:lpstr>
      <vt:lpstr>Trebuchet MS</vt:lpstr>
      <vt:lpstr>Times New Roman</vt:lpstr>
      <vt:lpstr>微软雅黑</vt:lpstr>
      <vt:lpstr>Calibri</vt:lpstr>
      <vt:lpstr>黑体</vt:lpstr>
      <vt:lpstr>Calibri</vt:lpstr>
      <vt:lpstr>Heiti SC Medium</vt:lpstr>
      <vt:lpstr>Times New Roman</vt:lpstr>
      <vt:lpstr>Arial Unicode MS</vt:lpstr>
      <vt:lpstr>Arial Unicode MS</vt:lpstr>
      <vt:lpstr>默认设计模板</vt:lpstr>
      <vt:lpstr>2_Office 主题</vt:lpstr>
      <vt:lpstr>PowerPoint 演示文稿</vt:lpstr>
      <vt:lpstr>miniOB入门实验</vt:lpstr>
      <vt:lpstr>实验内容</vt:lpstr>
      <vt:lpstr>实验内容</vt:lpstr>
      <vt:lpstr>实验内容</vt:lpstr>
      <vt:lpstr>实验内容</vt:lpstr>
      <vt:lpstr>实验内容</vt:lpstr>
      <vt:lpstr>实验内容</vt:lpstr>
      <vt:lpstr>实验内容</vt:lpstr>
    </vt:vector>
  </TitlesOfParts>
  <Company>Global Intelligence Alliance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Creating System Analysis</dc:title>
  <dc:creator>Jessie Wang</dc:creator>
  <cp:lastModifiedBy>PPX</cp:lastModifiedBy>
  <cp:revision>1724</cp:revision>
  <dcterms:created xsi:type="dcterms:W3CDTF">2007-09-26T12:04:00Z</dcterms:created>
  <dcterms:modified xsi:type="dcterms:W3CDTF">2026-04-20T16:06:22Z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361136F9EB384E1A965B80E9E827F31F_13</vt:lpwstr>
  </property>
  <property fmtid="{D5CDD505-2E9C-101B-9397-08002B2CF9AE}" pid="3" name="KSOProductBuildVer">
    <vt:lpwstr>2052-12.1.0.25865</vt:lpwstr>
  </property>
</Properties>
</file>