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1"/>
    <p:sldMasterId id="2147483735" r:id="rId2"/>
  </p:sldMasterIdLst>
  <p:notesMasterIdLst>
    <p:notesMasterId r:id="rId21"/>
  </p:notesMasterIdLst>
  <p:handoutMasterIdLst>
    <p:handoutMasterId r:id="rId22"/>
  </p:handoutMasterIdLst>
  <p:sldIdLst>
    <p:sldId id="5182" r:id="rId3"/>
    <p:sldId id="5158" r:id="rId4"/>
    <p:sldId id="5172" r:id="rId5"/>
    <p:sldId id="5138" r:id="rId6"/>
    <p:sldId id="5170" r:id="rId7"/>
    <p:sldId id="5171" r:id="rId8"/>
    <p:sldId id="5173" r:id="rId9"/>
    <p:sldId id="5174" r:id="rId10"/>
    <p:sldId id="5175" r:id="rId11"/>
    <p:sldId id="5176" r:id="rId12"/>
    <p:sldId id="5177" r:id="rId13"/>
    <p:sldId id="5178" r:id="rId14"/>
    <p:sldId id="5179" r:id="rId15"/>
    <p:sldId id="5143" r:id="rId16"/>
    <p:sldId id="5183" r:id="rId17"/>
    <p:sldId id="5155" r:id="rId18"/>
    <p:sldId id="5184" r:id="rId19"/>
    <p:sldId id="2657" r:id="rId20"/>
  </p:sldIdLst>
  <p:sldSz cx="9144000" cy="5143500" type="screen16x9"/>
  <p:notesSz cx="6858000" cy="9144000"/>
  <p:defaultTextStyle>
    <a:defPPr>
      <a:defRPr lang="fi-FI"/>
    </a:defPPr>
    <a:lvl1pPr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1pPr>
    <a:lvl2pPr marL="4556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2pPr>
    <a:lvl3pPr marL="9128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3pPr>
    <a:lvl4pPr marL="13700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4pPr>
    <a:lvl5pPr marL="18272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" id="{EB83E03E-195F-4588-BA9C-87CAE50CC123}">
          <p14:sldIdLst>
            <p14:sldId id="5182"/>
            <p14:sldId id="5158"/>
            <p14:sldId id="5172"/>
            <p14:sldId id="5138"/>
            <p14:sldId id="5170"/>
            <p14:sldId id="5171"/>
            <p14:sldId id="5173"/>
            <p14:sldId id="5174"/>
            <p14:sldId id="5175"/>
            <p14:sldId id="5176"/>
            <p14:sldId id="5177"/>
            <p14:sldId id="5178"/>
            <p14:sldId id="5179"/>
            <p14:sldId id="5143"/>
            <p14:sldId id="5183"/>
            <p14:sldId id="5155"/>
            <p14:sldId id="5184"/>
            <p14:sldId id="26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4" pos="5193" userDrawn="1">
          <p15:clr>
            <a:srgbClr val="A4A3A4"/>
          </p15:clr>
        </p15:guide>
        <p15:guide id="5" pos="3152" userDrawn="1">
          <p15:clr>
            <a:srgbClr val="A4A3A4"/>
          </p15:clr>
        </p15:guide>
        <p15:guide id="6" orient="horz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06BA"/>
    <a:srgbClr val="080808"/>
    <a:srgbClr val="339933"/>
    <a:srgbClr val="B5880B"/>
    <a:srgbClr val="E87071"/>
    <a:srgbClr val="00B3EE"/>
    <a:srgbClr val="93E5FF"/>
    <a:srgbClr val="F7FE98"/>
    <a:srgbClr val="FFFFFF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3" autoAdjust="0"/>
    <p:restoredTop sz="93875" autoAdjust="0"/>
  </p:normalViewPr>
  <p:slideViewPr>
    <p:cSldViewPr>
      <p:cViewPr varScale="1">
        <p:scale>
          <a:sx n="132" d="100"/>
          <a:sy n="132" d="100"/>
        </p:scale>
        <p:origin x="798" y="114"/>
      </p:cViewPr>
      <p:guideLst>
        <p:guide orient="horz" pos="3838"/>
        <p:guide pos="295"/>
        <p:guide pos="5193"/>
        <p:guide pos="3152"/>
        <p:guide orient="horz" pos="287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58CD87A4-0184-412C-A44A-3DA728178AFF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3572666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i-FI" noProof="0"/>
              <a:t>Muokkaa tekstin perustyylejä napsauttamalla</a:t>
            </a:r>
          </a:p>
          <a:p>
            <a:pPr lvl="1"/>
            <a:r>
              <a:rPr lang="fi-FI" noProof="0"/>
              <a:t>toinen taso</a:t>
            </a:r>
          </a:p>
          <a:p>
            <a:pPr lvl="2"/>
            <a:r>
              <a:rPr lang="fi-FI" noProof="0"/>
              <a:t>kolmas taso</a:t>
            </a:r>
          </a:p>
          <a:p>
            <a:pPr lvl="3"/>
            <a:r>
              <a:rPr lang="fi-FI" noProof="0"/>
              <a:t>neljäs taso</a:t>
            </a:r>
          </a:p>
          <a:p>
            <a:pPr lvl="4"/>
            <a:r>
              <a:rPr lang="fi-FI" noProof="0"/>
              <a:t>viides taso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BB8C311E-5859-4E0C-A0F3-4690A095D6BE}" type="slidenum">
              <a:rPr lang="fi-FI" altLang="zh-CN"/>
              <a:pPr>
                <a:defRPr/>
              </a:pPr>
              <a:t>‹#›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7204162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572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t>1</a:t>
            </a:fld>
            <a:endParaRPr lang="fi-FI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t>18</a:t>
            </a:fld>
            <a:endParaRPr lang="fi-FI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0" y="-20538"/>
            <a:ext cx="9144000" cy="637580"/>
          </a:xfrm>
          <a:prstGeom prst="rect">
            <a:avLst/>
          </a:prstGeom>
          <a:solidFill>
            <a:srgbClr val="0070C0"/>
          </a:solidFill>
        </p:spPr>
        <p:txBody>
          <a:bodyPr rtlCol="0">
            <a:noAutofit/>
          </a:bodyPr>
          <a:lstStyle>
            <a:lvl1pPr algn="l">
              <a:defRPr sz="3200" b="1" baseline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>
            <a:lvl1pPr>
              <a:defRPr sz="2400">
                <a:latin typeface="微软雅黑" pitchFamily="34" charset="-122"/>
                <a:ea typeface="微软雅黑" pitchFamily="34" charset="-122"/>
              </a:defRPr>
            </a:lvl1pPr>
            <a:lvl2pPr>
              <a:defRPr sz="2000">
                <a:latin typeface="微软雅黑" pitchFamily="34" charset="-122"/>
                <a:ea typeface="微软雅黑" pitchFamily="34" charset="-122"/>
              </a:defRPr>
            </a:lvl2pPr>
            <a:lvl3pPr>
              <a:defRPr sz="1800">
                <a:latin typeface="微软雅黑" pitchFamily="34" charset="-122"/>
                <a:ea typeface="微软雅黑" pitchFamily="34" charset="-122"/>
              </a:defRPr>
            </a:lvl3pPr>
            <a:lvl4pPr>
              <a:defRPr sz="1600">
                <a:latin typeface="微软雅黑" pitchFamily="34" charset="-122"/>
                <a:ea typeface="微软雅黑" pitchFamily="34" charset="-122"/>
              </a:defRPr>
            </a:lvl4pPr>
            <a:lvl5pPr>
              <a:defRPr sz="16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5692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9525" y="3072"/>
            <a:ext cx="9144000" cy="583072"/>
          </a:xfrm>
          <a:prstGeom prst="rect">
            <a:avLst/>
          </a:prstGeom>
          <a:solidFill>
            <a:srgbClr val="0070C0"/>
          </a:solidFill>
        </p:spPr>
        <p:txBody>
          <a:bodyPr rtlCol="0">
            <a:noAutofit/>
          </a:bodyPr>
          <a:lstStyle>
            <a:lvl1pPr algn="l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7171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645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995686"/>
            <a:ext cx="8229600" cy="857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0"/>
            <a:ext cx="9217024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0404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197C38C-D414-4266-B351-EA95CA0D0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76375"/>
            <a:ext cx="9142810" cy="1626394"/>
          </a:xfrm>
          <a:prstGeom prst="rect">
            <a:avLst/>
          </a:prstGeom>
          <a:solidFill>
            <a:srgbClr val="064BB2"/>
          </a:solidFill>
          <a:ln>
            <a:noFill/>
          </a:ln>
          <a:effectLst>
            <a:outerShdw blurRad="50800" dist="38100" dir="5400000" algn="t" rotWithShape="0">
              <a:srgbClr val="000000">
                <a:alpha val="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713" dirty="0">
              <a:solidFill>
                <a:schemeClr val="bg1"/>
              </a:solidFill>
              <a:latin typeface="Calibri" panose="020F0502020204030204"/>
              <a:cs typeface="宋体" panose="02010600030101010101" pitchFamily="2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4178105" y="2029612"/>
            <a:ext cx="4683967" cy="519113"/>
          </a:xfrm>
        </p:spPr>
        <p:txBody>
          <a:bodyPr/>
          <a:lstStyle>
            <a:lvl1pPr algn="ctr">
              <a:defRPr sz="2700" b="1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9">
            <a:extLst>
              <a:ext uri="{FF2B5EF4-FFF2-40B4-BE49-F238E27FC236}">
                <a16:creationId xmlns:a16="http://schemas.microsoft.com/office/drawing/2014/main" id="{3CDAD826-20E7-4438-B5DD-D3AA4ED6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97116" y="2744391"/>
            <a:ext cx="1503759" cy="273844"/>
          </a:xfrm>
        </p:spPr>
        <p:txBody>
          <a:bodyPr/>
          <a:lstStyle>
            <a:lvl1pPr algn="r">
              <a:defRPr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5EFD6F6-2F20-4B1A-A667-B95C1338A7FC}" type="datetime5">
              <a:rPr lang="zh-CN" altLang="en-US"/>
              <a:pPr>
                <a:defRPr/>
              </a:pPr>
              <a:t>2026/4/1</a:t>
            </a:fld>
            <a:endParaRPr lang="zh-CN" altLang="en-US" dirty="0"/>
          </a:p>
        </p:txBody>
      </p:sp>
      <p:sp>
        <p:nvSpPr>
          <p:cNvPr id="5" name="页脚占位符 1">
            <a:extLst>
              <a:ext uri="{FF2B5EF4-FFF2-40B4-BE49-F238E27FC236}">
                <a16:creationId xmlns:a16="http://schemas.microsoft.com/office/drawing/2014/main" id="{9AB88EAB-A34D-4476-93DF-3FF872F77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A2800A24-BF08-446B-9251-F108E901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8CD63E-90B4-4137-BE3E-A082E383778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492431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程序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>
            <a:extLst>
              <a:ext uri="{FF2B5EF4-FFF2-40B4-BE49-F238E27FC236}">
                <a16:creationId xmlns:a16="http://schemas.microsoft.com/office/drawing/2014/main" id="{16752D73-FCE0-4C91-9046-B443BB0EE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4794648"/>
            <a:ext cx="428625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750">
                <a:solidFill>
                  <a:srgbClr val="7F7F7F"/>
                </a:solidFill>
                <a:latin typeface="Arial" panose="020B0604020202020204" pitchFamily="34" charset="0"/>
              </a:rPr>
              <a:t> </a:t>
            </a:r>
            <a:fld id="{60AB1787-2FB0-4C6A-B98A-30C644A6BEF9}" type="slidenum">
              <a:rPr lang="en-US" altLang="zh-CN" sz="750">
                <a:latin typeface="Arial" panose="020B0604020202020204" pitchFamily="34" charset="0"/>
              </a:rPr>
              <a:pPr algn="ctr"/>
              <a:t>‹#›</a:t>
            </a:fld>
            <a:endParaRPr lang="en-US" altLang="zh-CN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连接符 19">
            <a:extLst>
              <a:ext uri="{FF2B5EF4-FFF2-40B4-BE49-F238E27FC236}">
                <a16:creationId xmlns:a16="http://schemas.microsoft.com/office/drawing/2014/main" id="{81265A1D-E753-4B73-A145-8601358CF94C}"/>
              </a:ext>
            </a:extLst>
          </p:cNvPr>
          <p:cNvCxnSpPr>
            <a:stCxn id="6" idx="3"/>
          </p:cNvCxnSpPr>
          <p:nvPr/>
        </p:nvCxnSpPr>
        <p:spPr>
          <a:xfrm>
            <a:off x="7881938" y="4881563"/>
            <a:ext cx="764381" cy="0"/>
          </a:xfrm>
          <a:prstGeom prst="line">
            <a:avLst/>
          </a:prstGeom>
          <a:ln w="9525">
            <a:solidFill>
              <a:srgbClr val="F19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4">
            <a:extLst>
              <a:ext uri="{FF2B5EF4-FFF2-40B4-BE49-F238E27FC236}">
                <a16:creationId xmlns:a16="http://schemas.microsoft.com/office/drawing/2014/main" id="{A2112050-F8FB-4C93-9752-2D3FE7B75F9C}"/>
              </a:ext>
            </a:extLst>
          </p:cNvPr>
          <p:cNvCxnSpPr>
            <a:stCxn id="6" idx="3"/>
          </p:cNvCxnSpPr>
          <p:nvPr/>
        </p:nvCxnSpPr>
        <p:spPr>
          <a:xfrm flipV="1">
            <a:off x="2789635" y="4881563"/>
            <a:ext cx="4663678" cy="0"/>
          </a:xfrm>
          <a:prstGeom prst="line">
            <a:avLst/>
          </a:prstGeom>
          <a:ln>
            <a:solidFill>
              <a:srgbClr val="064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3">
            <a:extLst>
              <a:ext uri="{FF2B5EF4-FFF2-40B4-BE49-F238E27FC236}">
                <a16:creationId xmlns:a16="http://schemas.microsoft.com/office/drawing/2014/main" id="{5BBE3BC9-B6A4-42F2-9408-BD266AA06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548" y="686991"/>
            <a:ext cx="7197328" cy="34528"/>
          </a:xfrm>
          <a:prstGeom prst="rect">
            <a:avLst/>
          </a:prstGeom>
          <a:solidFill>
            <a:srgbClr val="064BB2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sp>
        <p:nvSpPr>
          <p:cNvPr id="9" name="AutoShape 23">
            <a:extLst>
              <a:ext uri="{FF2B5EF4-FFF2-40B4-BE49-F238E27FC236}">
                <a16:creationId xmlns:a16="http://schemas.microsoft.com/office/drawing/2014/main" id="{E2368EDB-C388-4E28-BBE5-4F255162B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1875" y="686991"/>
            <a:ext cx="1491854" cy="34528"/>
          </a:xfrm>
          <a:prstGeom prst="rect">
            <a:avLst/>
          </a:prstGeom>
          <a:solidFill>
            <a:srgbClr val="FB9708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9872EB7-0880-4D4B-AB94-8A492573263B}"/>
              </a:ext>
            </a:extLst>
          </p:cNvPr>
          <p:cNvCxnSpPr>
            <a:stCxn id="6" idx="3"/>
          </p:cNvCxnSpPr>
          <p:nvPr/>
        </p:nvCxnSpPr>
        <p:spPr>
          <a:xfrm>
            <a:off x="1788319" y="4786313"/>
            <a:ext cx="0" cy="207169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317865" y="1315256"/>
            <a:ext cx="8330701" cy="3254791"/>
          </a:xfrm>
        </p:spPr>
        <p:txBody>
          <a:bodyPr>
            <a:noAutofit/>
          </a:bodyPr>
          <a:lstStyle>
            <a:lvl1pPr marL="271939" indent="-271939">
              <a:lnSpc>
                <a:spcPct val="150000"/>
              </a:lnSpc>
              <a:spcBef>
                <a:spcPts val="750"/>
              </a:spcBef>
              <a:buClr>
                <a:srgbClr val="032089"/>
              </a:buClr>
              <a:buFont typeface="Wingdings" panose="05000000000000000000" pitchFamily="2" charset="2"/>
              <a:buChar char="Ø"/>
              <a:defRPr sz="1350" b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  <a:defRPr sz="1748"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157" y="269309"/>
            <a:ext cx="8229601" cy="396132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4" name="内容占位符 2"/>
          <p:cNvSpPr>
            <a:spLocks noGrp="1"/>
          </p:cNvSpPr>
          <p:nvPr>
            <p:ph idx="10"/>
          </p:nvPr>
        </p:nvSpPr>
        <p:spPr>
          <a:xfrm>
            <a:off x="317865" y="854235"/>
            <a:ext cx="8330701" cy="319852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lang="zh-CN" altLang="en-US" sz="1500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C8DF600F-69D6-4B54-9FE0-7418FD2F14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pPr>
                <a:defRPr/>
              </a:pPr>
              <a:t>2026/4/1</a:t>
            </a:fld>
            <a:endParaRPr lang="zh-CN" altLang="en-US"/>
          </a:p>
        </p:txBody>
      </p:sp>
      <p:sp>
        <p:nvSpPr>
          <p:cNvPr id="12" name="页脚占位符 4">
            <a:extLst>
              <a:ext uri="{FF2B5EF4-FFF2-40B4-BE49-F238E27FC236}">
                <a16:creationId xmlns:a16="http://schemas.microsoft.com/office/drawing/2014/main" id="{9F403212-3DFD-47AC-9FCD-43C4135BB60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07A37F3F-9709-495C-A02A-28A1719A375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791A760A-A8F5-4109-B3A7-90E0284994A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40920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>
            <a:extLst>
              <a:ext uri="{FF2B5EF4-FFF2-40B4-BE49-F238E27FC236}">
                <a16:creationId xmlns:a16="http://schemas.microsoft.com/office/drawing/2014/main" id="{A5457454-CD41-4EC0-92FC-4BEB76B02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4794648"/>
            <a:ext cx="428625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750">
                <a:solidFill>
                  <a:srgbClr val="7F7F7F"/>
                </a:solidFill>
                <a:latin typeface="Arial" panose="020B0604020202020204" pitchFamily="34" charset="0"/>
              </a:rPr>
              <a:t> </a:t>
            </a:r>
            <a:fld id="{69AB6661-0E74-4BEC-A242-46590437B53C}" type="slidenum">
              <a:rPr lang="en-US" altLang="zh-CN" sz="750">
                <a:latin typeface="Arial" panose="020B0604020202020204" pitchFamily="34" charset="0"/>
              </a:rPr>
              <a:pPr algn="ctr"/>
              <a:t>‹#›</a:t>
            </a:fld>
            <a:endParaRPr lang="en-US" altLang="zh-CN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连接符 19">
            <a:extLst>
              <a:ext uri="{FF2B5EF4-FFF2-40B4-BE49-F238E27FC236}">
                <a16:creationId xmlns:a16="http://schemas.microsoft.com/office/drawing/2014/main" id="{35396A89-02DC-47BF-A242-E77FB2856038}"/>
              </a:ext>
            </a:extLst>
          </p:cNvPr>
          <p:cNvCxnSpPr>
            <a:stCxn id="6" idx="3"/>
          </p:cNvCxnSpPr>
          <p:nvPr/>
        </p:nvCxnSpPr>
        <p:spPr>
          <a:xfrm>
            <a:off x="7881938" y="4881563"/>
            <a:ext cx="764381" cy="0"/>
          </a:xfrm>
          <a:prstGeom prst="line">
            <a:avLst/>
          </a:prstGeom>
          <a:ln w="9525">
            <a:solidFill>
              <a:srgbClr val="F19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4">
            <a:extLst>
              <a:ext uri="{FF2B5EF4-FFF2-40B4-BE49-F238E27FC236}">
                <a16:creationId xmlns:a16="http://schemas.microsoft.com/office/drawing/2014/main" id="{E84470B1-7E26-445E-8261-EF124C84FCBC}"/>
              </a:ext>
            </a:extLst>
          </p:cNvPr>
          <p:cNvCxnSpPr>
            <a:stCxn id="6" idx="3"/>
          </p:cNvCxnSpPr>
          <p:nvPr/>
        </p:nvCxnSpPr>
        <p:spPr>
          <a:xfrm flipV="1">
            <a:off x="2789635" y="4881563"/>
            <a:ext cx="4663678" cy="0"/>
          </a:xfrm>
          <a:prstGeom prst="line">
            <a:avLst/>
          </a:prstGeom>
          <a:ln>
            <a:solidFill>
              <a:srgbClr val="064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3">
            <a:extLst>
              <a:ext uri="{FF2B5EF4-FFF2-40B4-BE49-F238E27FC236}">
                <a16:creationId xmlns:a16="http://schemas.microsoft.com/office/drawing/2014/main" id="{DC54CF8F-955A-4A75-ADB5-E00F1353F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548" y="686991"/>
            <a:ext cx="7197328" cy="34528"/>
          </a:xfrm>
          <a:prstGeom prst="rect">
            <a:avLst/>
          </a:prstGeom>
          <a:solidFill>
            <a:srgbClr val="064BB2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sp>
        <p:nvSpPr>
          <p:cNvPr id="9" name="AutoShape 23">
            <a:extLst>
              <a:ext uri="{FF2B5EF4-FFF2-40B4-BE49-F238E27FC236}">
                <a16:creationId xmlns:a16="http://schemas.microsoft.com/office/drawing/2014/main" id="{8367A01C-6193-475C-8106-FED3AEAAA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1875" y="686991"/>
            <a:ext cx="1491854" cy="34528"/>
          </a:xfrm>
          <a:prstGeom prst="rect">
            <a:avLst/>
          </a:prstGeom>
          <a:solidFill>
            <a:srgbClr val="FB9708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FEFBF47-4E4E-4907-8B9A-381E7A293BE9}"/>
              </a:ext>
            </a:extLst>
          </p:cNvPr>
          <p:cNvCxnSpPr>
            <a:stCxn id="6" idx="3"/>
          </p:cNvCxnSpPr>
          <p:nvPr/>
        </p:nvCxnSpPr>
        <p:spPr>
          <a:xfrm>
            <a:off x="1788319" y="4786313"/>
            <a:ext cx="0" cy="207169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317865" y="1316002"/>
            <a:ext cx="8330701" cy="3276923"/>
          </a:xfrm>
        </p:spPr>
        <p:txBody>
          <a:bodyPr>
            <a:noAutofit/>
          </a:bodyPr>
          <a:lstStyle>
            <a:lvl1pPr marL="271939" indent="-271939">
              <a:lnSpc>
                <a:spcPct val="150000"/>
              </a:lnSpc>
              <a:spcBef>
                <a:spcPts val="750"/>
              </a:spcBef>
              <a:buClr>
                <a:srgbClr val="032089"/>
              </a:buClr>
              <a:buFont typeface="Wingdings" panose="05000000000000000000" pitchFamily="2" charset="2"/>
              <a:buChar char="Ø"/>
              <a:defRPr sz="1350" b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  <a:defRPr sz="1748"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157" y="269309"/>
            <a:ext cx="8229601" cy="396132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4" name="内容占位符 2"/>
          <p:cNvSpPr>
            <a:spLocks noGrp="1"/>
          </p:cNvSpPr>
          <p:nvPr>
            <p:ph idx="10"/>
          </p:nvPr>
        </p:nvSpPr>
        <p:spPr>
          <a:xfrm>
            <a:off x="317865" y="854235"/>
            <a:ext cx="8330701" cy="319852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lang="zh-CN" altLang="en-US" sz="1500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8C9D253A-10DE-481D-988E-6BEC0CDA20F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pPr>
                <a:defRPr/>
              </a:pPr>
              <a:t>2026/4/1</a:t>
            </a:fld>
            <a:endParaRPr lang="zh-CN" altLang="en-US"/>
          </a:p>
        </p:txBody>
      </p:sp>
      <p:sp>
        <p:nvSpPr>
          <p:cNvPr id="12" name="页脚占位符 4">
            <a:extLst>
              <a:ext uri="{FF2B5EF4-FFF2-40B4-BE49-F238E27FC236}">
                <a16:creationId xmlns:a16="http://schemas.microsoft.com/office/drawing/2014/main" id="{B2901E17-58DF-49C4-9DE2-A12586FCDA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27DC25B2-A5E5-4F2C-BA98-D1B72330E6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B22652B3-2E09-4BBA-A0D6-24503131B01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72825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731A94-F931-4AAA-8DB5-6ED9F8502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88E0AB-1C0D-42C7-851F-DD65AD7B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1F0FCB-3C9B-43AF-9122-66CB9AF9BE1F}" type="datetimeFigureOut">
              <a:rPr lang="zh-CN" altLang="en-US" smtClean="0"/>
              <a:pPr>
                <a:defRPr/>
              </a:pPr>
              <a:t>2026/4/1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48D610-C3FB-43EF-84BB-9022A4747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71D823-BC15-486B-873C-13E261F2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1C93-5505-452B-8265-D50E35693F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912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E5853F-F8D3-4201-B7D6-19EE6B4D4F23}"/>
              </a:ext>
            </a:extLst>
          </p:cNvPr>
          <p:cNvSpPr txBox="1"/>
          <p:nvPr userDrawn="1"/>
        </p:nvSpPr>
        <p:spPr>
          <a:xfrm>
            <a:off x="8460432" y="4803998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C913308-F349-4B6D-A68A-DD1791B4A57B}" type="slidenum">
              <a:rPr lang="zh-CN" alt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‹#›</a:t>
            </a:fld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4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4CABCC62-743F-4022-8159-B19A201B0BB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91691" y="146447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8EE9B879-BEBD-4844-945E-D696D6281BD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16706" y="890588"/>
            <a:ext cx="8229600" cy="756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C95541F1-4DC5-4655-B057-934C72C689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pPr>
                <a:defRPr/>
              </a:pPr>
              <a:t>2026/4/1</a:t>
            </a:fld>
            <a:endParaRPr lang="zh-CN" altLang="en-US"/>
          </a:p>
        </p:txBody>
      </p:sp>
      <p:sp>
        <p:nvSpPr>
          <p:cNvPr id="13" name="页脚占位符 12">
            <a:extLst>
              <a:ext uri="{FF2B5EF4-FFF2-40B4-BE49-F238E27FC236}">
                <a16:creationId xmlns:a16="http://schemas.microsoft.com/office/drawing/2014/main" id="{D41541A6-4A6E-4EAB-92E4-324E52AD6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00D96588-48D9-48F6-8566-84A7CB18E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noProof="1" dirty="0">
                <a:solidFill>
                  <a:srgbClr val="898989"/>
                </a:solidFill>
              </a:defRPr>
            </a:lvl1pPr>
          </a:lstStyle>
          <a:p>
            <a:fld id="{BD211C93-5505-452B-8265-D50E35693F6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341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40" r:id="rId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+mj-lt"/>
          <a:ea typeface="微软雅黑" panose="020B0503020204020204" pitchFamily="34" charset="-122"/>
          <a:cs typeface="微软雅黑" panose="020B0503020204020204" pitchFamily="3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5pPr>
      <a:lvl6pPr marL="362903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6pPr>
      <a:lvl7pPr marL="725805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7pPr>
      <a:lvl8pPr marL="1088231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8pPr>
      <a:lvl9pPr marL="1451134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9pPr>
    </p:titleStyle>
    <p:bodyStyle>
      <a:lvl1pPr marL="271463" indent="-271463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Font typeface="Wingdings" panose="05000000000000000000" pitchFamily="2" charset="2"/>
        <a:buChar char="n"/>
        <a:defRPr sz="1575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589360" indent="-226219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75">
          <a:solidFill>
            <a:schemeClr val="tx1"/>
          </a:solidFill>
          <a:latin typeface="+mn-lt"/>
          <a:ea typeface="+mn-ea"/>
        </a:defRPr>
      </a:lvl2pPr>
      <a:lvl3pPr marL="906066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75">
          <a:solidFill>
            <a:schemeClr val="tx1"/>
          </a:solidFill>
          <a:latin typeface="+mn-lt"/>
          <a:ea typeface="+mn-ea"/>
        </a:defRPr>
      </a:lvl3pPr>
      <a:lvl4pPr marL="1269206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75">
          <a:solidFill>
            <a:schemeClr val="tx1"/>
          </a:solidFill>
          <a:latin typeface="+mn-lt"/>
          <a:ea typeface="+mn-ea"/>
        </a:defRPr>
      </a:lvl4pPr>
      <a:lvl5pPr marL="1632347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75">
          <a:solidFill>
            <a:schemeClr val="tx1"/>
          </a:solidFill>
          <a:latin typeface="+mn-lt"/>
          <a:ea typeface="+mn-ea"/>
        </a:defRPr>
      </a:lvl5pPr>
      <a:lvl6pPr marL="1995488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6pPr>
      <a:lvl7pPr marL="2358390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7pPr>
      <a:lvl8pPr marL="2721293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8pPr>
      <a:lvl9pPr marL="3084195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1pPr>
      <a:lvl2pPr marL="362903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2pPr>
      <a:lvl3pPr marL="725805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3pPr>
      <a:lvl4pPr marL="1088231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4pPr>
      <a:lvl5pPr marL="1451134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5pPr>
      <a:lvl6pPr marL="1814036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6pPr>
      <a:lvl7pPr marL="2176939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7pPr>
      <a:lvl8pPr marL="2539841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8pPr>
      <a:lvl9pPr marL="2902744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mysql.com/doc/refman/8.4/en/grant-tables.html#grant-tables-user-db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mysql.com/doc/refman/8.4/en/grant-tables.html#grant-tables-user-db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mysql.com/doc/refman/8.4/en/create-user.html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1952590" y="2037292"/>
            <a:ext cx="5238583" cy="530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51"/>
              </a:spcBef>
              <a:defRPr/>
            </a:pPr>
            <a:r>
              <a:rPr lang="zh-CN" altLang="en-US" sz="2847" b="1" spc="225"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数据库安全性</a:t>
            </a:r>
            <a:endParaRPr lang="zh-CN" altLang="en-US" sz="2847" b="1" spc="225" dirty="0">
              <a:latin typeface="微软雅黑" panose="020B0503020204020204" pitchFamily="34" charset="-122"/>
              <a:ea typeface="微软雅黑" panose="020B0503020204020204" pitchFamily="34" charset="-122"/>
              <a:cs typeface="Heiti SC Medium" panose="02000000000000000000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2007096" y="2661306"/>
            <a:ext cx="5238582" cy="0"/>
          </a:xfrm>
          <a:prstGeom prst="line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0"/>
            <a:ext cx="1836204" cy="505332"/>
          </a:xfrm>
          <a:prstGeom prst="rect">
            <a:avLst/>
          </a:prstGeom>
        </p:spPr>
      </p:pic>
      <p:sp>
        <p:nvSpPr>
          <p:cNvPr id="14" name="文本框 11"/>
          <p:cNvSpPr txBox="1">
            <a:spLocks noChangeArrowheads="1"/>
          </p:cNvSpPr>
          <p:nvPr/>
        </p:nvSpPr>
        <p:spPr bwMode="auto">
          <a:xfrm>
            <a:off x="2438105" y="3475869"/>
            <a:ext cx="428625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350" b="1"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2026.4.7</a:t>
            </a:r>
            <a:endParaRPr lang="zh-CN" altLang="en-US" sz="1350" b="1" dirty="0">
              <a:latin typeface="微软雅黑" panose="020B0503020204020204" pitchFamily="34" charset="-122"/>
              <a:ea typeface="微软雅黑" panose="020B0503020204020204" pitchFamily="34" charset="-122"/>
              <a:cs typeface="Heiti SC Medium" panose="02000000000000000000" charset="-122"/>
            </a:endParaRPr>
          </a:p>
        </p:txBody>
      </p:sp>
      <p:sp>
        <p:nvSpPr>
          <p:cNvPr id="22" name="副标题 3074"/>
          <p:cNvSpPr txBox="1">
            <a:spLocks noChangeArrowheads="1"/>
          </p:cNvSpPr>
          <p:nvPr/>
        </p:nvSpPr>
        <p:spPr bwMode="auto">
          <a:xfrm>
            <a:off x="2428730" y="2868543"/>
            <a:ext cx="4286249" cy="40000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71450" indent="-171450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143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0002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4574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9146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3718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altLang="en-US" sz="1687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数据库第三次</a:t>
            </a:r>
            <a:r>
              <a:rPr lang="zh-CN" altLang="en-US" sz="168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</a:p>
        </p:txBody>
      </p:sp>
      <p:pic>
        <p:nvPicPr>
          <p:cNvPr id="2" name="图形 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5534" y="99466"/>
            <a:ext cx="3556248" cy="30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sym typeface="+mn-ea"/>
              </a:rPr>
              <a:t>数据库安全性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899592" y="617153"/>
            <a:ext cx="7488832" cy="44988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defTabSz="482163" fontAlgn="auto">
              <a:lnSpc>
                <a:spcPct val="150000"/>
              </a:lnSpc>
            </a:pPr>
            <a:r>
              <a:rPr lang="zh-CN" altLang="en-US" sz="1898" b="1" dirty="0">
                <a:latin typeface="Times New Roman" panose="02020603050405020304" charset="0"/>
                <a:sym typeface="+mn-ea"/>
              </a:rPr>
              <a:t>实验目的</a:t>
            </a:r>
            <a:endParaRPr lang="zh-CN" altLang="en-US" sz="1898" b="1" dirty="0">
              <a:latin typeface="Times New Roman" panose="02020603050405020304" charset="0"/>
            </a:endParaRPr>
          </a:p>
          <a:p>
            <a:pPr marL="241082" indent="482163" algn="just" defTabSz="482163" fontAlgn="auto">
              <a:lnSpc>
                <a:spcPct val="150000"/>
              </a:lnSpc>
              <a:buFont typeface="Arial" panose="020B0604020202020204" pitchFamily="34" charset="0"/>
              <a:buChar char="•"/>
              <a:extLst>
                <a:ext uri="{35155182-B16C-46BC-9424-99874614C6A1}">
                  <wpsdc:indentchars xmlns="" xmlns:wpsdc="http://www.wps.cn/officeDocument/2017/drawingmlCustomData" val="200" checksum="797548545"/>
                </a:ext>
              </a:extLst>
            </a:pPr>
            <a:r>
              <a:rPr lang="zh-CN" altLang="en-US" sz="1600">
                <a:latin typeface="Times New Roman" panose="02020603050405020304" charset="0"/>
              </a:rPr>
              <a:t>使用</a:t>
            </a:r>
            <a:r>
              <a:rPr lang="en-US" altLang="zh-CN" sz="1600">
                <a:latin typeface="Times New Roman" panose="02020603050405020304" charset="0"/>
              </a:rPr>
              <a:t>SQL</a:t>
            </a:r>
            <a:r>
              <a:rPr lang="zh-CN" altLang="en-US" sz="1600">
                <a:latin typeface="Times New Roman" panose="02020603050405020304" charset="0"/>
              </a:rPr>
              <a:t>中的用户权限管理语句，熟悉</a:t>
            </a:r>
            <a:r>
              <a:rPr lang="en-US" altLang="zh-CN" sz="1600">
                <a:latin typeface="Times New Roman" panose="02020603050405020304" charset="0"/>
              </a:rPr>
              <a:t>SQL</a:t>
            </a:r>
            <a:r>
              <a:rPr lang="zh-CN" altLang="en-US" sz="1600">
                <a:latin typeface="Times New Roman" panose="02020603050405020304" charset="0"/>
              </a:rPr>
              <a:t>中的用户权限管理</a:t>
            </a:r>
          </a:p>
          <a:p>
            <a:pPr algn="just" defTabSz="482163" fontAlgn="auto">
              <a:lnSpc>
                <a:spcPct val="150000"/>
              </a:lnSpc>
            </a:pPr>
            <a:r>
              <a:rPr lang="zh-CN" altLang="en-US" sz="1898" b="1">
                <a:latin typeface="Times New Roman" panose="02020603050405020304" charset="0"/>
                <a:sym typeface="+mn-ea"/>
              </a:rPr>
              <a:t>实验要求</a:t>
            </a:r>
            <a:endParaRPr lang="zh-CN" altLang="en-US" sz="1898" b="1">
              <a:latin typeface="Times New Roman" panose="02020603050405020304" charset="0"/>
            </a:endParaRPr>
          </a:p>
          <a:p>
            <a:pPr marL="241082" indent="428589" algn="just" defTabSz="482163" fontAlgn="auto">
              <a:lnSpc>
                <a:spcPct val="150000"/>
              </a:lnSpc>
              <a:buFont typeface="Arial" panose="020B0604020202020204" pitchFamily="34" charset="0"/>
              <a:buChar char="•"/>
              <a:extLst>
                <a:ext uri="{35155182-B16C-46BC-9424-99874614C6A1}">
                  <wpsdc:indentchars xmlns:wpsdc="http://www.wps.cn/officeDocument/2017/drawingmlCustomData" xmlns="" val="200" checksum="3877492575"/>
                </a:ext>
              </a:extLst>
            </a:pPr>
            <a:r>
              <a:rPr lang="zh-CN" altLang="en-US" sz="1600">
                <a:latin typeface="Times New Roman" panose="02020603050405020304" charset="0"/>
                <a:sym typeface="+mn-ea"/>
              </a:rPr>
              <a:t>本</a:t>
            </a:r>
            <a:r>
              <a:rPr lang="zh-CN" altLang="en-US" sz="1600" dirty="0">
                <a:latin typeface="Times New Roman" panose="02020603050405020304" charset="0"/>
                <a:sym typeface="+mn-ea"/>
              </a:rPr>
              <a:t>次实验使用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charset="0"/>
                <a:sym typeface="+mn-ea"/>
              </a:rPr>
              <a:t>OceanBase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charset="0"/>
                <a:sym typeface="+mn-ea"/>
              </a:rPr>
              <a:t>数据库</a:t>
            </a:r>
            <a:r>
              <a:rPr lang="zh-CN" altLang="en-US" sz="1600" dirty="0">
                <a:latin typeface="Times New Roman" panose="02020603050405020304" charset="0"/>
                <a:sym typeface="+mn-ea"/>
              </a:rPr>
              <a:t>完成</a:t>
            </a:r>
            <a:endParaRPr lang="zh-CN" altLang="en-US" sz="1600" dirty="0">
              <a:latin typeface="Times New Roman" panose="02020603050405020304" charset="0"/>
            </a:endParaRPr>
          </a:p>
          <a:p>
            <a:pPr marL="241082" indent="428589" algn="just" defTabSz="482163" fontAlgn="auto">
              <a:lnSpc>
                <a:spcPct val="150000"/>
              </a:lnSpc>
              <a:buFont typeface="Arial" panose="020B0604020202020204" pitchFamily="34" charset="0"/>
              <a:buChar char="•"/>
              <a:extLst>
                <a:ext uri="{35155182-B16C-46BC-9424-99874614C6A1}">
                  <wpsdc:indentchars xmlns:wpsdc="http://www.wps.cn/officeDocument/2017/drawingmlCustomData" xmlns="" val="200" checksum="3877492575"/>
                </a:ext>
              </a:extLst>
            </a:pPr>
            <a:r>
              <a:rPr lang="en-US" altLang="zh-CN" sz="1600" dirty="0">
                <a:latin typeface="Times New Roman" panose="02020603050405020304" charset="0"/>
                <a:sym typeface="+mn-ea"/>
              </a:rPr>
              <a:t>OceanBase</a:t>
            </a:r>
            <a:r>
              <a:rPr lang="zh-CN" altLang="en-US" sz="1600" dirty="0">
                <a:latin typeface="Times New Roman" panose="02020603050405020304" charset="0"/>
                <a:sym typeface="+mn-ea"/>
              </a:rPr>
              <a:t>数据库版本要求</a:t>
            </a:r>
            <a:r>
              <a:rPr lang="en-US" altLang="zh-CN" sz="1600" dirty="0">
                <a:latin typeface="Times New Roman" panose="02020603050405020304" charset="0"/>
                <a:sym typeface="+mn-ea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Times New Roman" panose="02020603050405020304" charset="0"/>
                <a:sym typeface="+mn-ea"/>
              </a:rPr>
              <a:t>≥ 4.2.2.0</a:t>
            </a:r>
            <a:endParaRPr lang="en-US" altLang="zh-CN" sz="1600" dirty="0">
              <a:latin typeface="Times New Roman" panose="02020603050405020304" charset="0"/>
            </a:endParaRPr>
          </a:p>
          <a:p>
            <a:pPr algn="just" defTabSz="482163" fontAlgn="auto">
              <a:lnSpc>
                <a:spcPct val="150000"/>
              </a:lnSpc>
            </a:pPr>
            <a:r>
              <a:rPr lang="zh-CN" altLang="en-US" sz="1898" b="1" dirty="0">
                <a:latin typeface="Times New Roman" panose="02020603050405020304" charset="0"/>
                <a:sym typeface="+mn-ea"/>
              </a:rPr>
              <a:t>报告要求</a:t>
            </a:r>
            <a:endParaRPr lang="en-US" altLang="zh-CN" sz="1898" b="1" dirty="0">
              <a:latin typeface="Times New Roman" panose="02020603050405020304" charset="0"/>
            </a:endParaRPr>
          </a:p>
          <a:p>
            <a:pPr marL="241082" indent="428589" algn="just" defTabSz="482163" fontAlgn="auto">
              <a:lnSpc>
                <a:spcPct val="150000"/>
              </a:lnSpc>
              <a:buFont typeface="Arial" panose="020B0604020202020204" pitchFamily="34" charset="0"/>
              <a:buChar char="•"/>
              <a:extLst>
                <a:ext uri="{35155182-B16C-46BC-9424-99874614C6A1}">
                  <wpsdc:indentchars xmlns:wpsdc="http://www.wps.cn/officeDocument/2017/drawingmlCustomData" xmlns="" val="200" checksum="3877492575"/>
                </a:ext>
              </a:extLst>
            </a:pPr>
            <a:r>
              <a:rPr lang="zh-CN" altLang="en-US" sz="1600">
                <a:latin typeface="Times New Roman" panose="02020603050405020304" charset="0"/>
                <a:sym typeface="+mn-ea"/>
              </a:rPr>
              <a:t>完成下列数据库安全性练习的所有小题内容，要求提交的实验报告中包含每个小题的题干和相应的实验结果截图；</a:t>
            </a:r>
            <a:endParaRPr lang="zh-CN" altLang="en-US" sz="1600">
              <a:latin typeface="Times New Roman" panose="02020603050405020304" charset="0"/>
            </a:endParaRPr>
          </a:p>
          <a:p>
            <a:pPr marL="241082" indent="428589" algn="just" defTabSz="482163" fontAlgn="auto">
              <a:lnSpc>
                <a:spcPct val="150000"/>
              </a:lnSpc>
              <a:buFont typeface="Arial" panose="020B0604020202020204" pitchFamily="34" charset="0"/>
              <a:buChar char="•"/>
              <a:extLst>
                <a:ext uri="{35155182-B16C-46BC-9424-99874614C6A1}">
                  <wpsdc:indentchars xmlns:wpsdc="http://www.wps.cn/officeDocument/2017/drawingmlCustomData" xmlns="" val="200" checksum="3877492575"/>
                </a:ext>
              </a:extLst>
            </a:pPr>
            <a:r>
              <a:rPr lang="zh-CN" altLang="en-US" sz="1600">
                <a:latin typeface="Times New Roman" panose="02020603050405020304" charset="0"/>
                <a:sym typeface="+mn-ea"/>
              </a:rPr>
              <a:t>实验截图中应该包含有完整的</a:t>
            </a:r>
            <a:r>
              <a:rPr lang="en-US" altLang="zh-CN" sz="1600">
                <a:latin typeface="Times New Roman" panose="02020603050405020304" charset="0"/>
                <a:sym typeface="+mn-ea"/>
              </a:rPr>
              <a:t> SQL </a:t>
            </a:r>
            <a:r>
              <a:rPr lang="zh-CN" altLang="en-US" sz="1600">
                <a:latin typeface="Times New Roman" panose="02020603050405020304" charset="0"/>
                <a:sym typeface="+mn-ea"/>
              </a:rPr>
              <a:t>执行语句和输出的实验结果；</a:t>
            </a:r>
          </a:p>
          <a:p>
            <a:pPr marL="241082" indent="428589" algn="just" defTabSz="482163" fontAlgn="auto">
              <a:lnSpc>
                <a:spcPct val="150000"/>
              </a:lnSpc>
              <a:buFont typeface="Arial" panose="020B0604020202020204" pitchFamily="34" charset="0"/>
              <a:buChar char="•"/>
              <a:extLst>
                <a:ext uri="{35155182-B16C-46BC-9424-99874614C6A1}">
                  <wpsdc:indentchars xmlns:wpsdc="http://www.wps.cn/officeDocument/2017/drawingmlCustomData" xmlns="" val="200" checksum="3877492575"/>
                </a:ext>
              </a:extLst>
            </a:pPr>
            <a:r>
              <a:rPr lang="zh-CN" altLang="en-US" sz="1600">
                <a:latin typeface="Times New Roman" panose="02020603050405020304" charset="0"/>
                <a:sym typeface="+mn-ea"/>
              </a:rPr>
              <a:t>记录你遇到的问题及解决方案。</a:t>
            </a:r>
            <a:endParaRPr lang="zh-CN" altLang="en-US" sz="1600" dirty="0">
              <a:latin typeface="Times New Roman" panose="02020603050405020304" charset="0"/>
            </a:endParaRPr>
          </a:p>
          <a:p>
            <a:pPr fontAlgn="auto">
              <a:lnSpc>
                <a:spcPct val="150000"/>
              </a:lnSpc>
            </a:pPr>
            <a:endParaRPr lang="zh-CN" altLang="en-US" sz="1687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FF146B-3FA2-41F8-A999-A212E6093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用户权限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A6ECA3A2-BBAB-4525-A275-1F85FFBC0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131590"/>
            <a:ext cx="7488832" cy="3384376"/>
          </a:xfrm>
        </p:spPr>
        <p:txBody>
          <a:bodyPr>
            <a:normAutofit/>
          </a:bodyPr>
          <a:lstStyle/>
          <a:p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MySQL 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在安装时会自动创建一个名为 </a:t>
            </a:r>
            <a:r>
              <a:rPr lang="en-US" altLang="zh-CN" sz="1600" b="0" i="0" dirty="0" err="1">
                <a:solidFill>
                  <a:srgbClr val="444444"/>
                </a:solidFill>
                <a:effectLst/>
                <a:latin typeface="Helvetica Neue"/>
              </a:rPr>
              <a:t>mysql</a:t>
            </a:r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 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的数据库，</a:t>
            </a:r>
            <a:r>
              <a:rPr lang="en-US" altLang="zh-CN" sz="1600" b="0" i="0" dirty="0" err="1">
                <a:solidFill>
                  <a:srgbClr val="444444"/>
                </a:solidFill>
                <a:effectLst/>
                <a:latin typeface="Helvetica Neue"/>
              </a:rPr>
              <a:t>mysql</a:t>
            </a:r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 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数据库中存储的都是用户权限表。用户登录以后，</a:t>
            </a:r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MySQL 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会根据这些权限表的内容为每个用户赋予相应的权限。</a:t>
            </a:r>
            <a:br>
              <a:rPr lang="zh-CN" altLang="en-US" sz="1600" dirty="0"/>
            </a:br>
            <a:br>
              <a:rPr lang="zh-CN" altLang="en-US" sz="1600" dirty="0"/>
            </a:br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user 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表是 </a:t>
            </a:r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MySQL 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中最重要的一个权限表，用来记录允许连接到服务器的账号信息。需要注意的是，在 </a:t>
            </a:r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user 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表里启用的所有权限都是全局级的，适用于所有数据库。</a:t>
            </a:r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user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表的列可分为三类：</a:t>
            </a:r>
            <a:r>
              <a:rPr lang="zh-CN" altLang="en-US" sz="1600" b="1" i="0" dirty="0">
                <a:solidFill>
                  <a:srgbClr val="444444"/>
                </a:solidFill>
                <a:effectLst/>
                <a:latin typeface="Helvetica Neue"/>
              </a:rPr>
              <a:t>用户列（记录用户名称和密码用于登录校验）、权限列（全局范围内允许对数据和数据库进行的操作）、安全列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。其中用户列如下：</a:t>
            </a:r>
            <a:endParaRPr lang="en-US" altLang="zh-CN" sz="1600" b="0" i="0" dirty="0">
              <a:solidFill>
                <a:srgbClr val="444444"/>
              </a:solidFill>
              <a:effectLst/>
              <a:latin typeface="Helvetica Neue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9BC1D86-862A-E8BD-615E-4888D55EBE2F}"/>
              </a:ext>
            </a:extLst>
          </p:cNvPr>
          <p:cNvGraphicFramePr>
            <a:graphicFrameLocks noGrp="1"/>
          </p:cNvGraphicFramePr>
          <p:nvPr/>
        </p:nvGraphicFramePr>
        <p:xfrm>
          <a:off x="1007368" y="3435846"/>
          <a:ext cx="6987660" cy="1132840"/>
        </p:xfrm>
        <a:graphic>
          <a:graphicData uri="http://schemas.openxmlformats.org/drawingml/2006/table">
            <a:tbl>
              <a:tblPr/>
              <a:tblGrid>
                <a:gridCol w="2124472">
                  <a:extLst>
                    <a:ext uri="{9D8B030D-6E8A-4147-A177-3AD203B41FA5}">
                      <a16:colId xmlns:a16="http://schemas.microsoft.com/office/drawing/2014/main" val="44960038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287878303"/>
                    </a:ext>
                  </a:extLst>
                </a:gridCol>
                <a:gridCol w="1060012">
                  <a:extLst>
                    <a:ext uri="{9D8B030D-6E8A-4147-A177-3AD203B41FA5}">
                      <a16:colId xmlns:a16="http://schemas.microsoft.com/office/drawing/2014/main" val="973307940"/>
                    </a:ext>
                  </a:extLst>
                </a:gridCol>
                <a:gridCol w="1397532">
                  <a:extLst>
                    <a:ext uri="{9D8B030D-6E8A-4147-A177-3AD203B41FA5}">
                      <a16:colId xmlns:a16="http://schemas.microsoft.com/office/drawing/2014/main" val="2071511886"/>
                    </a:ext>
                  </a:extLst>
                </a:gridCol>
                <a:gridCol w="1397532">
                  <a:extLst>
                    <a:ext uri="{9D8B030D-6E8A-4147-A177-3AD203B41FA5}">
                      <a16:colId xmlns:a16="http://schemas.microsoft.com/office/drawing/2014/main" val="17978992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rgbClr val="444444"/>
                          </a:solidFill>
                          <a:effectLst/>
                        </a:rPr>
                        <a:t>字段名</a:t>
                      </a:r>
                    </a:p>
                  </a:txBody>
                  <a:tcPr marL="31750" marR="31750" marT="44450" marB="4445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solidFill>
                            <a:srgbClr val="444444"/>
                          </a:solidFill>
                          <a:effectLst/>
                        </a:rPr>
                        <a:t>字段类型</a:t>
                      </a:r>
                    </a:p>
                  </a:txBody>
                  <a:tcPr marL="31750" marR="31750" marT="44450" marB="4445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solidFill>
                            <a:srgbClr val="444444"/>
                          </a:solidFill>
                          <a:effectLst/>
                        </a:rPr>
                        <a:t>是否为空</a:t>
                      </a:r>
                    </a:p>
                  </a:txBody>
                  <a:tcPr marL="31750" marR="31750" marT="44450" marB="4445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solidFill>
                            <a:srgbClr val="444444"/>
                          </a:solidFill>
                          <a:effectLst/>
                        </a:rPr>
                        <a:t>默认值</a:t>
                      </a:r>
                    </a:p>
                  </a:txBody>
                  <a:tcPr marL="31750" marR="31750" marT="44450" marB="4445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solidFill>
                            <a:srgbClr val="444444"/>
                          </a:solidFill>
                          <a:effectLst/>
                        </a:rPr>
                        <a:t>说明</a:t>
                      </a:r>
                    </a:p>
                  </a:txBody>
                  <a:tcPr marL="31750" marR="31750" marT="44450" marB="4445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694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Host</a:t>
                      </a:r>
                    </a:p>
                  </a:txBody>
                  <a:tcPr marL="31750" marR="31750" marT="31750" marB="3175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char(60)</a:t>
                      </a:r>
                    </a:p>
                  </a:txBody>
                  <a:tcPr marL="31750" marR="31750" marT="31750" marB="3175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NO</a:t>
                      </a:r>
                    </a:p>
                  </a:txBody>
                  <a:tcPr marL="31750" marR="31750" marT="31750" marB="3175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effectLst/>
                        </a:rPr>
                        <a:t>无</a:t>
                      </a:r>
                    </a:p>
                  </a:txBody>
                  <a:tcPr marL="31750" marR="31750" marT="31750" marB="3175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effectLst/>
                        </a:rPr>
                        <a:t>主机名</a:t>
                      </a:r>
                    </a:p>
                  </a:txBody>
                  <a:tcPr marL="31750" marR="31750" marT="31750" marB="3175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039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User</a:t>
                      </a:r>
                    </a:p>
                  </a:txBody>
                  <a:tcPr marL="31750" marR="31750" marT="31750" marB="3175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char(32)</a:t>
                      </a:r>
                    </a:p>
                  </a:txBody>
                  <a:tcPr marL="31750" marR="31750" marT="31750" marB="3175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NO</a:t>
                      </a:r>
                    </a:p>
                  </a:txBody>
                  <a:tcPr marL="31750" marR="31750" marT="31750" marB="3175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effectLst/>
                        </a:rPr>
                        <a:t>无</a:t>
                      </a:r>
                    </a:p>
                  </a:txBody>
                  <a:tcPr marL="31750" marR="31750" marT="31750" marB="3175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effectLst/>
                        </a:rPr>
                        <a:t>用户名</a:t>
                      </a:r>
                    </a:p>
                  </a:txBody>
                  <a:tcPr marL="31750" marR="31750" marT="31750" marB="3175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003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authentication_string</a:t>
                      </a:r>
                    </a:p>
                  </a:txBody>
                  <a:tcPr marL="31750" marR="31750" marT="31750" marB="3175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text</a:t>
                      </a:r>
                    </a:p>
                  </a:txBody>
                  <a:tcPr marL="31750" marR="31750" marT="31750" marB="3175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YES</a:t>
                      </a:r>
                    </a:p>
                  </a:txBody>
                  <a:tcPr marL="31750" marR="31750" marT="31750" marB="3175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effectLst/>
                        </a:rPr>
                        <a:t>无</a:t>
                      </a:r>
                    </a:p>
                  </a:txBody>
                  <a:tcPr marL="31750" marR="31750" marT="31750" marB="3175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effectLst/>
                        </a:rPr>
                        <a:t>密码</a:t>
                      </a:r>
                    </a:p>
                  </a:txBody>
                  <a:tcPr marL="31750" marR="31750" marT="31750" marB="3175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937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3799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FF146B-3FA2-41F8-A999-A212E6093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用户权限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A6ECA3A2-BBAB-4525-A275-1F85FFBC0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771550"/>
            <a:ext cx="4176464" cy="3384376"/>
          </a:xfrm>
        </p:spPr>
        <p:txBody>
          <a:bodyPr>
            <a:normAutofit/>
          </a:bodyPr>
          <a:lstStyle/>
          <a:p>
            <a:r>
              <a:rPr lang="en-US" altLang="zh-CN" sz="1600" dirty="0">
                <a:solidFill>
                  <a:srgbClr val="444444"/>
                </a:solidFill>
                <a:latin typeface="Helvetica Neue"/>
              </a:rPr>
              <a:t>u</a:t>
            </a:r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ser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表的部分权限列         </a:t>
            </a:r>
            <a:endParaRPr lang="en-US" altLang="zh-CN" sz="1600" b="0" i="0" dirty="0">
              <a:solidFill>
                <a:srgbClr val="444444"/>
              </a:solidFill>
              <a:effectLst/>
              <a:latin typeface="Helvetica Neue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3E273E1-F55B-4EAD-D952-8D299FC89F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670382"/>
              </p:ext>
            </p:extLst>
          </p:nvPr>
        </p:nvGraphicFramePr>
        <p:xfrm>
          <a:off x="611560" y="1203598"/>
          <a:ext cx="4176464" cy="3459694"/>
        </p:xfrm>
        <a:graphic>
          <a:graphicData uri="http://schemas.openxmlformats.org/drawingml/2006/table">
            <a:tbl>
              <a:tblPr/>
              <a:tblGrid>
                <a:gridCol w="1224136">
                  <a:extLst>
                    <a:ext uri="{9D8B030D-6E8A-4147-A177-3AD203B41FA5}">
                      <a16:colId xmlns:a16="http://schemas.microsoft.com/office/drawing/2014/main" val="2453510533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4055395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rgbClr val="444444"/>
                          </a:solidFill>
                          <a:effectLst/>
                        </a:rPr>
                        <a:t>字段名</a:t>
                      </a:r>
                    </a:p>
                  </a:txBody>
                  <a:tcPr marL="13572" marR="13572" marT="19001" marB="19001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444444"/>
                          </a:solidFill>
                          <a:effectLst/>
                        </a:rPr>
                        <a:t>说明</a:t>
                      </a:r>
                    </a:p>
                  </a:txBody>
                  <a:tcPr marL="13572" marR="13572" marT="19001" marB="19001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6646668"/>
                  </a:ext>
                </a:extLst>
              </a:tr>
              <a:tr h="378929">
                <a:tc>
                  <a:txBody>
                    <a:bodyPr/>
                    <a:lstStyle/>
                    <a:p>
                      <a:r>
                        <a:rPr lang="en-US" sz="1200" dirty="0" err="1">
                          <a:effectLst/>
                        </a:rPr>
                        <a:t>Select_priv</a:t>
                      </a:r>
                      <a:endParaRPr lang="en-US" sz="1200" dirty="0">
                        <a:effectLst/>
                      </a:endParaRPr>
                    </a:p>
                  </a:txBody>
                  <a:tcPr marL="13572" marR="13572" marT="13572" marB="1357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effectLst/>
                        </a:rPr>
                        <a:t>是否可以通过</a:t>
                      </a:r>
                      <a:r>
                        <a:rPr lang="en-US" sz="1200" dirty="0">
                          <a:effectLst/>
                        </a:rPr>
                        <a:t>SELECT </a:t>
                      </a:r>
                      <a:r>
                        <a:rPr lang="zh-CN" altLang="en-US" sz="1200" dirty="0">
                          <a:effectLst/>
                        </a:rPr>
                        <a:t>命令查询数据</a:t>
                      </a:r>
                    </a:p>
                  </a:txBody>
                  <a:tcPr marL="13572" marR="13572" marT="13572" marB="1357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726274"/>
                  </a:ext>
                </a:extLst>
              </a:tr>
              <a:tr h="378929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Insert_priv</a:t>
                      </a:r>
                    </a:p>
                  </a:txBody>
                  <a:tcPr marL="13572" marR="13572" marT="13572" marB="1357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effectLst/>
                        </a:rPr>
                        <a:t>是否可以通过 </a:t>
                      </a:r>
                      <a:r>
                        <a:rPr lang="en-US" sz="1200" dirty="0">
                          <a:effectLst/>
                        </a:rPr>
                        <a:t>INSERT </a:t>
                      </a:r>
                      <a:r>
                        <a:rPr lang="zh-CN" altLang="en-US" sz="1200" dirty="0">
                          <a:effectLst/>
                        </a:rPr>
                        <a:t>命令插入数据</a:t>
                      </a:r>
                    </a:p>
                  </a:txBody>
                  <a:tcPr marL="13572" marR="13572" marT="13572" marB="1357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619492"/>
                  </a:ext>
                </a:extLst>
              </a:tr>
              <a:tr h="378929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Update_priv</a:t>
                      </a:r>
                    </a:p>
                  </a:txBody>
                  <a:tcPr marL="13572" marR="13572" marT="13572" marB="1357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effectLst/>
                        </a:rPr>
                        <a:t>是否可以通过</a:t>
                      </a:r>
                      <a:r>
                        <a:rPr lang="en-US" altLang="zh-CN" sz="1200">
                          <a:effectLst/>
                        </a:rPr>
                        <a:t>UPDATE </a:t>
                      </a:r>
                      <a:r>
                        <a:rPr lang="zh-CN" altLang="en-US" sz="1200">
                          <a:effectLst/>
                        </a:rPr>
                        <a:t>命令修改现有数据</a:t>
                      </a:r>
                    </a:p>
                  </a:txBody>
                  <a:tcPr marL="13572" marR="13572" marT="13572" marB="1357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969077"/>
                  </a:ext>
                </a:extLst>
              </a:tr>
              <a:tr h="378929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Delete_priv</a:t>
                      </a:r>
                    </a:p>
                  </a:txBody>
                  <a:tcPr marL="13572" marR="13572" marT="13572" marB="1357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effectLst/>
                        </a:rPr>
                        <a:t>是否可以通过</a:t>
                      </a:r>
                      <a:r>
                        <a:rPr lang="en-US" altLang="zh-CN" sz="1200">
                          <a:effectLst/>
                        </a:rPr>
                        <a:t>DELETE </a:t>
                      </a:r>
                      <a:r>
                        <a:rPr lang="zh-CN" altLang="en-US" sz="1200">
                          <a:effectLst/>
                        </a:rPr>
                        <a:t>命令删除现有数据</a:t>
                      </a:r>
                    </a:p>
                  </a:txBody>
                  <a:tcPr marL="13572" marR="13572" marT="13572" marB="1357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641767"/>
                  </a:ext>
                </a:extLst>
              </a:tr>
              <a:tr h="378929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Create_priv</a:t>
                      </a:r>
                    </a:p>
                  </a:txBody>
                  <a:tcPr marL="13572" marR="13572" marT="13572" marB="1357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effectLst/>
                        </a:rPr>
                        <a:t>是否可以创建新的数据库和表</a:t>
                      </a:r>
                    </a:p>
                  </a:txBody>
                  <a:tcPr marL="13572" marR="13572" marT="13572" marB="1357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975081"/>
                  </a:ext>
                </a:extLst>
              </a:tr>
              <a:tr h="378929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Drop_priv</a:t>
                      </a:r>
                    </a:p>
                  </a:txBody>
                  <a:tcPr marL="13572" marR="13572" marT="13572" marB="1357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effectLst/>
                        </a:rPr>
                        <a:t>是否可以删除现有数据库和表</a:t>
                      </a:r>
                    </a:p>
                  </a:txBody>
                  <a:tcPr marL="13572" marR="13572" marT="13572" marB="1357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51379"/>
                  </a:ext>
                </a:extLst>
              </a:tr>
              <a:tr h="965238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Reload_priv</a:t>
                      </a:r>
                    </a:p>
                  </a:txBody>
                  <a:tcPr marL="13572" marR="13572" marT="13572" marB="1357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effectLst/>
                        </a:rPr>
                        <a:t>是否可以执行刷新和重新加载</a:t>
                      </a:r>
                      <a:r>
                        <a:rPr lang="en-US" altLang="zh-CN" sz="1200" dirty="0">
                          <a:effectLst/>
                        </a:rPr>
                        <a:t>MySQL</a:t>
                      </a:r>
                      <a:r>
                        <a:rPr lang="zh-CN" altLang="en-US" sz="1200" dirty="0">
                          <a:effectLst/>
                        </a:rPr>
                        <a:t>所用的各种内部缓存的特定命令，包括日志、权限、主机、查询和表</a:t>
                      </a:r>
                    </a:p>
                  </a:txBody>
                  <a:tcPr marL="13572" marR="13572" marT="13572" marB="1357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8709432"/>
                  </a:ext>
                </a:extLst>
              </a:tr>
            </a:tbl>
          </a:graphicData>
        </a:graphic>
      </p:graphicFrame>
      <p:sp>
        <p:nvSpPr>
          <p:cNvPr id="7" name="内容占位符 2">
            <a:extLst>
              <a:ext uri="{FF2B5EF4-FFF2-40B4-BE49-F238E27FC236}">
                <a16:creationId xmlns:a16="http://schemas.microsoft.com/office/drawing/2014/main" id="{6C7E3774-6776-BF00-FAFD-0170A49C8D75}"/>
              </a:ext>
            </a:extLst>
          </p:cNvPr>
          <p:cNvSpPr txBox="1">
            <a:spLocks/>
          </p:cNvSpPr>
          <p:nvPr/>
        </p:nvSpPr>
        <p:spPr bwMode="auto">
          <a:xfrm>
            <a:off x="4788024" y="771550"/>
            <a:ext cx="4176464" cy="338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Tx/>
            </a:pPr>
            <a:r>
              <a:rPr lang="en-US" altLang="zh-CN" sz="1600" kern="0" dirty="0">
                <a:solidFill>
                  <a:srgbClr val="444444"/>
                </a:solidFill>
                <a:latin typeface="Helvetica Neue"/>
              </a:rPr>
              <a:t>user</a:t>
            </a:r>
            <a:r>
              <a:rPr lang="zh-CN" altLang="en-US" sz="1600" kern="0" dirty="0">
                <a:solidFill>
                  <a:srgbClr val="444444"/>
                </a:solidFill>
                <a:latin typeface="Helvetica Neue"/>
              </a:rPr>
              <a:t>表的部分安全列         </a:t>
            </a:r>
            <a:endParaRPr lang="en-US" altLang="zh-CN" sz="1600" kern="0" dirty="0">
              <a:solidFill>
                <a:srgbClr val="444444"/>
              </a:solidFill>
              <a:latin typeface="Helvetica Neue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43460D5-4920-D485-B713-7D84F4A26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852893"/>
              </p:ext>
            </p:extLst>
          </p:nvPr>
        </p:nvGraphicFramePr>
        <p:xfrm>
          <a:off x="5148064" y="1203598"/>
          <a:ext cx="3312368" cy="3404782"/>
        </p:xfrm>
        <a:graphic>
          <a:graphicData uri="http://schemas.openxmlformats.org/drawingml/2006/table">
            <a:tbl>
              <a:tblPr/>
              <a:tblGrid>
                <a:gridCol w="1030514">
                  <a:extLst>
                    <a:ext uri="{9D8B030D-6E8A-4147-A177-3AD203B41FA5}">
                      <a16:colId xmlns:a16="http://schemas.microsoft.com/office/drawing/2014/main" val="1716196471"/>
                    </a:ext>
                  </a:extLst>
                </a:gridCol>
                <a:gridCol w="2281854">
                  <a:extLst>
                    <a:ext uri="{9D8B030D-6E8A-4147-A177-3AD203B41FA5}">
                      <a16:colId xmlns:a16="http://schemas.microsoft.com/office/drawing/2014/main" val="915251427"/>
                    </a:ext>
                  </a:extLst>
                </a:gridCol>
              </a:tblGrid>
              <a:tr h="227972"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444444"/>
                          </a:solidFill>
                          <a:effectLst/>
                        </a:rPr>
                        <a:t>字段名</a:t>
                      </a:r>
                    </a:p>
                  </a:txBody>
                  <a:tcPr marL="19928" marR="19928" marT="27899" marB="2789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444444"/>
                          </a:solidFill>
                          <a:effectLst/>
                        </a:rPr>
                        <a:t>说明</a:t>
                      </a:r>
                    </a:p>
                  </a:txBody>
                  <a:tcPr marL="19928" marR="19928" marT="27899" marB="2789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409907"/>
                  </a:ext>
                </a:extLst>
              </a:tr>
              <a:tr h="556380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ssl_type</a:t>
                      </a:r>
                    </a:p>
                  </a:txBody>
                  <a:tcPr marL="19928" marR="19928" marT="19928" marB="19928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effectLst/>
                        </a:rPr>
                        <a:t>支持</a:t>
                      </a:r>
                      <a:r>
                        <a:rPr lang="en-US" altLang="zh-CN" sz="1200">
                          <a:effectLst/>
                        </a:rPr>
                        <a:t>ssl</a:t>
                      </a:r>
                      <a:r>
                        <a:rPr lang="zh-CN" altLang="en-US" sz="1200">
                          <a:effectLst/>
                        </a:rPr>
                        <a:t>标准加密安全字段</a:t>
                      </a:r>
                    </a:p>
                  </a:txBody>
                  <a:tcPr marL="19928" marR="19928" marT="19928" marB="19928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451131"/>
                  </a:ext>
                </a:extLst>
              </a:tr>
              <a:tr h="384205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ssl_cipher</a:t>
                      </a:r>
                    </a:p>
                  </a:txBody>
                  <a:tcPr marL="19928" marR="19928" marT="19928" marB="19928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effectLst/>
                        </a:rPr>
                        <a:t>支持</a:t>
                      </a:r>
                      <a:r>
                        <a:rPr lang="en-US" altLang="zh-CN" sz="1200" dirty="0" err="1">
                          <a:effectLst/>
                        </a:rPr>
                        <a:t>ssl</a:t>
                      </a:r>
                      <a:r>
                        <a:rPr lang="zh-CN" altLang="en-US" sz="1200" dirty="0">
                          <a:effectLst/>
                        </a:rPr>
                        <a:t>标准加密安全字段</a:t>
                      </a:r>
                    </a:p>
                  </a:txBody>
                  <a:tcPr marL="19928" marR="19928" marT="19928" marB="19928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728973"/>
                  </a:ext>
                </a:extLst>
              </a:tr>
              <a:tr h="384205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x509_issuer</a:t>
                      </a:r>
                    </a:p>
                  </a:txBody>
                  <a:tcPr marL="19928" marR="19928" marT="19928" marB="19928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effectLst/>
                        </a:rPr>
                        <a:t>支持</a:t>
                      </a:r>
                      <a:r>
                        <a:rPr lang="en-US" altLang="zh-CN" sz="1200">
                          <a:effectLst/>
                        </a:rPr>
                        <a:t>x509</a:t>
                      </a:r>
                      <a:r>
                        <a:rPr lang="zh-CN" altLang="en-US" sz="1200">
                          <a:effectLst/>
                        </a:rPr>
                        <a:t>标准字段</a:t>
                      </a:r>
                    </a:p>
                  </a:txBody>
                  <a:tcPr marL="19928" marR="19928" marT="19928" marB="19928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953604"/>
                  </a:ext>
                </a:extLst>
              </a:tr>
              <a:tr h="384205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x509_subject</a:t>
                      </a:r>
                    </a:p>
                  </a:txBody>
                  <a:tcPr marL="19928" marR="19928" marT="19928" marB="19928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effectLst/>
                        </a:rPr>
                        <a:t>支持</a:t>
                      </a:r>
                      <a:r>
                        <a:rPr lang="en-US" altLang="zh-CN" sz="1200">
                          <a:effectLst/>
                        </a:rPr>
                        <a:t>x509</a:t>
                      </a:r>
                      <a:r>
                        <a:rPr lang="zh-CN" altLang="en-US" sz="1200">
                          <a:effectLst/>
                        </a:rPr>
                        <a:t>标准字段</a:t>
                      </a:r>
                    </a:p>
                  </a:txBody>
                  <a:tcPr marL="19928" marR="19928" marT="19928" marB="19928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864522"/>
                  </a:ext>
                </a:extLst>
              </a:tr>
              <a:tr h="900729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plugin</a:t>
                      </a:r>
                    </a:p>
                  </a:txBody>
                  <a:tcPr marL="19928" marR="19928" marT="19928" marB="19928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effectLst/>
                        </a:rPr>
                        <a:t>引入</a:t>
                      </a:r>
                      <a:r>
                        <a:rPr lang="en-US" altLang="zh-CN" sz="1200">
                          <a:effectLst/>
                        </a:rPr>
                        <a:t>plugins</a:t>
                      </a:r>
                      <a:r>
                        <a:rPr lang="zh-CN" altLang="en-US" sz="1200">
                          <a:effectLst/>
                        </a:rPr>
                        <a:t>以进行用户连接时的密码验证，</a:t>
                      </a:r>
                      <a:r>
                        <a:rPr lang="en-US" altLang="zh-CN" sz="1200">
                          <a:effectLst/>
                        </a:rPr>
                        <a:t>plugin</a:t>
                      </a:r>
                      <a:r>
                        <a:rPr lang="zh-CN" altLang="en-US" sz="1200">
                          <a:effectLst/>
                        </a:rPr>
                        <a:t>创建外部</a:t>
                      </a:r>
                      <a:r>
                        <a:rPr lang="en-US" altLang="zh-CN" sz="1200">
                          <a:effectLst/>
                        </a:rPr>
                        <a:t>/</a:t>
                      </a:r>
                      <a:r>
                        <a:rPr lang="zh-CN" altLang="en-US" sz="1200">
                          <a:effectLst/>
                        </a:rPr>
                        <a:t>代理用户</a:t>
                      </a:r>
                    </a:p>
                  </a:txBody>
                  <a:tcPr marL="19928" marR="19928" marT="19928" marB="19928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248566"/>
                  </a:ext>
                </a:extLst>
              </a:tr>
              <a:tr h="556380"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password_expired</a:t>
                      </a:r>
                    </a:p>
                  </a:txBody>
                  <a:tcPr marL="19928" marR="19928" marT="19928" marB="19928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effectLst/>
                        </a:rPr>
                        <a:t>密码是否过期 </a:t>
                      </a:r>
                      <a:r>
                        <a:rPr lang="en-US" altLang="zh-CN" sz="1200" dirty="0">
                          <a:effectLst/>
                        </a:rPr>
                        <a:t>(N </a:t>
                      </a:r>
                      <a:r>
                        <a:rPr lang="zh-CN" altLang="en-US" sz="1200" dirty="0">
                          <a:effectLst/>
                        </a:rPr>
                        <a:t>未过期，</a:t>
                      </a:r>
                      <a:r>
                        <a:rPr lang="en-US" altLang="zh-CN" sz="1200" dirty="0">
                          <a:effectLst/>
                        </a:rPr>
                        <a:t>y </a:t>
                      </a:r>
                      <a:r>
                        <a:rPr lang="zh-CN" altLang="en-US" sz="1200" dirty="0">
                          <a:effectLst/>
                        </a:rPr>
                        <a:t>已过期</a:t>
                      </a:r>
                      <a:r>
                        <a:rPr lang="en-US" altLang="zh-CN" sz="1200" dirty="0">
                          <a:effectLst/>
                        </a:rPr>
                        <a:t>)</a:t>
                      </a:r>
                    </a:p>
                  </a:txBody>
                  <a:tcPr marL="19928" marR="19928" marT="19928" marB="19928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540691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15A055AE-DC95-6B71-91DD-696300B3FF78}"/>
              </a:ext>
            </a:extLst>
          </p:cNvPr>
          <p:cNvSpPr txBox="1"/>
          <p:nvPr/>
        </p:nvSpPr>
        <p:spPr>
          <a:xfrm>
            <a:off x="611560" y="4731990"/>
            <a:ext cx="7560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详细内容请查阅</a:t>
            </a:r>
            <a:r>
              <a:rPr lang="zh-CN" altLang="en-US" dirty="0">
                <a:hlinkClick r:id="rId2"/>
              </a:rPr>
              <a:t>文档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1185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FF146B-3FA2-41F8-A999-A212E6093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用户权限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A6ECA3A2-BBAB-4525-A275-1F85FFBC0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131590"/>
            <a:ext cx="7488832" cy="3384376"/>
          </a:xfrm>
        </p:spPr>
        <p:txBody>
          <a:bodyPr>
            <a:normAutofit/>
          </a:bodyPr>
          <a:lstStyle/>
          <a:p>
            <a:r>
              <a:rPr lang="zh-CN" altLang="en-US" sz="1800" b="0" i="0" dirty="0">
                <a:solidFill>
                  <a:srgbClr val="444444"/>
                </a:solidFill>
                <a:effectLst/>
                <a:latin typeface="Helvetica Neue"/>
              </a:rPr>
              <a:t>在 </a:t>
            </a:r>
            <a:r>
              <a:rPr lang="en-US" altLang="zh-CN" sz="1800" b="0" i="0" dirty="0">
                <a:solidFill>
                  <a:srgbClr val="444444"/>
                </a:solidFill>
                <a:effectLst/>
                <a:latin typeface="Helvetica Neue"/>
              </a:rPr>
              <a:t>MySQL </a:t>
            </a:r>
            <a:r>
              <a:rPr lang="zh-CN" altLang="en-US" sz="1800" b="0" i="0" dirty="0">
                <a:solidFill>
                  <a:srgbClr val="444444"/>
                </a:solidFill>
                <a:effectLst/>
                <a:latin typeface="Helvetica Neue"/>
              </a:rPr>
              <a:t>数据库中，权限表除了 </a:t>
            </a:r>
            <a:r>
              <a:rPr lang="en-US" altLang="zh-CN" sz="1800" b="0" i="0" dirty="0">
                <a:solidFill>
                  <a:srgbClr val="444444"/>
                </a:solidFill>
                <a:effectLst/>
                <a:latin typeface="Helvetica Neue"/>
              </a:rPr>
              <a:t>user </a:t>
            </a:r>
            <a:r>
              <a:rPr lang="zh-CN" altLang="en-US" sz="1800" b="0" i="0" dirty="0">
                <a:solidFill>
                  <a:srgbClr val="444444"/>
                </a:solidFill>
                <a:effectLst/>
                <a:latin typeface="Helvetica Neue"/>
              </a:rPr>
              <a:t>表外，还有 </a:t>
            </a:r>
            <a:r>
              <a:rPr lang="en-US" altLang="zh-CN" sz="1800" b="0" i="0" dirty="0" err="1">
                <a:solidFill>
                  <a:srgbClr val="444444"/>
                </a:solidFill>
                <a:effectLst/>
                <a:latin typeface="Helvetica Neue"/>
              </a:rPr>
              <a:t>db</a:t>
            </a:r>
            <a:r>
              <a:rPr lang="en-US" altLang="zh-CN" sz="1800" b="0" i="0" dirty="0">
                <a:solidFill>
                  <a:srgbClr val="444444"/>
                </a:solidFill>
                <a:effectLst/>
                <a:latin typeface="Helvetica Neue"/>
              </a:rPr>
              <a:t> </a:t>
            </a:r>
            <a:r>
              <a:rPr lang="zh-CN" altLang="en-US" sz="1800" b="0" i="0" dirty="0">
                <a:solidFill>
                  <a:srgbClr val="444444"/>
                </a:solidFill>
                <a:effectLst/>
                <a:latin typeface="Helvetica Neue"/>
              </a:rPr>
              <a:t>表、</a:t>
            </a:r>
            <a:r>
              <a:rPr lang="en-US" altLang="zh-CN" sz="1800" b="0" i="0" dirty="0" err="1">
                <a:solidFill>
                  <a:srgbClr val="444444"/>
                </a:solidFill>
                <a:effectLst/>
                <a:latin typeface="Helvetica Neue"/>
              </a:rPr>
              <a:t>tables_priv</a:t>
            </a:r>
            <a:r>
              <a:rPr lang="en-US" altLang="zh-CN" sz="1800" b="0" i="0" dirty="0">
                <a:solidFill>
                  <a:srgbClr val="444444"/>
                </a:solidFill>
                <a:effectLst/>
                <a:latin typeface="Helvetica Neue"/>
              </a:rPr>
              <a:t> </a:t>
            </a:r>
            <a:r>
              <a:rPr lang="zh-CN" altLang="en-US" sz="1800" b="0" i="0" dirty="0">
                <a:solidFill>
                  <a:srgbClr val="444444"/>
                </a:solidFill>
                <a:effectLst/>
                <a:latin typeface="Helvetica Neue"/>
              </a:rPr>
              <a:t>表、</a:t>
            </a:r>
            <a:r>
              <a:rPr lang="en-US" altLang="zh-CN" sz="1800" b="0" i="0" dirty="0" err="1">
                <a:solidFill>
                  <a:srgbClr val="444444"/>
                </a:solidFill>
                <a:effectLst/>
                <a:latin typeface="Helvetica Neue"/>
              </a:rPr>
              <a:t>columns_priv</a:t>
            </a:r>
            <a:r>
              <a:rPr lang="en-US" altLang="zh-CN" sz="1800" b="0" i="0" dirty="0">
                <a:solidFill>
                  <a:srgbClr val="444444"/>
                </a:solidFill>
                <a:effectLst/>
                <a:latin typeface="Helvetica Neue"/>
              </a:rPr>
              <a:t> </a:t>
            </a:r>
            <a:r>
              <a:rPr lang="zh-CN" altLang="en-US" sz="1800" b="0" i="0" dirty="0">
                <a:solidFill>
                  <a:srgbClr val="444444"/>
                </a:solidFill>
                <a:effectLst/>
                <a:latin typeface="Helvetica Neue"/>
              </a:rPr>
              <a:t>表和 </a:t>
            </a:r>
            <a:r>
              <a:rPr lang="en-US" altLang="zh-CN" sz="1800" b="0" i="0" dirty="0" err="1">
                <a:solidFill>
                  <a:srgbClr val="444444"/>
                </a:solidFill>
                <a:effectLst/>
                <a:latin typeface="Helvetica Neue"/>
              </a:rPr>
              <a:t>procs_priv</a:t>
            </a:r>
            <a:r>
              <a:rPr lang="en-US" altLang="zh-CN" sz="1800" b="0" i="0" dirty="0">
                <a:solidFill>
                  <a:srgbClr val="444444"/>
                </a:solidFill>
                <a:effectLst/>
                <a:latin typeface="Helvetica Neue"/>
              </a:rPr>
              <a:t> </a:t>
            </a:r>
            <a:r>
              <a:rPr lang="zh-CN" altLang="en-US" sz="1800" b="0" i="0" dirty="0">
                <a:solidFill>
                  <a:srgbClr val="444444"/>
                </a:solidFill>
                <a:effectLst/>
                <a:latin typeface="Helvetica Neue"/>
              </a:rPr>
              <a:t>表。</a:t>
            </a:r>
            <a:endParaRPr lang="en-US" altLang="zh-CN" sz="1800" b="0" i="0" dirty="0">
              <a:solidFill>
                <a:srgbClr val="444444"/>
              </a:solidFill>
              <a:effectLst/>
              <a:latin typeface="Helvetica Neue"/>
            </a:endParaRPr>
          </a:p>
          <a:p>
            <a:pPr lvl="1"/>
            <a:r>
              <a:rPr lang="en-US" altLang="zh-CN" sz="1400" b="1" i="0" dirty="0" err="1">
                <a:solidFill>
                  <a:srgbClr val="444444"/>
                </a:solidFill>
                <a:effectLst/>
                <a:latin typeface="Helvetica Neue"/>
              </a:rPr>
              <a:t>db</a:t>
            </a:r>
            <a:r>
              <a:rPr lang="en-US" altLang="zh-CN" sz="1400" b="1" i="0" dirty="0">
                <a:solidFill>
                  <a:srgbClr val="444444"/>
                </a:solidFill>
                <a:effectLst/>
                <a:latin typeface="Helvetica Neue"/>
              </a:rPr>
              <a:t> </a:t>
            </a:r>
            <a:r>
              <a:rPr lang="zh-CN" altLang="en-US" sz="1400" b="1" i="0" dirty="0">
                <a:solidFill>
                  <a:srgbClr val="444444"/>
                </a:solidFill>
                <a:effectLst/>
                <a:latin typeface="Helvetica Neue"/>
              </a:rPr>
              <a:t>表</a:t>
            </a:r>
            <a:r>
              <a:rPr lang="zh-CN" altLang="en-US" sz="1400" b="0" i="0" dirty="0">
                <a:solidFill>
                  <a:srgbClr val="444444"/>
                </a:solidFill>
                <a:effectLst/>
                <a:latin typeface="Helvetica Neue"/>
              </a:rPr>
              <a:t>比较常用，是 </a:t>
            </a:r>
            <a:r>
              <a:rPr lang="en-US" altLang="zh-CN" sz="1400" b="0" i="0" dirty="0">
                <a:solidFill>
                  <a:srgbClr val="444444"/>
                </a:solidFill>
                <a:effectLst/>
                <a:latin typeface="Helvetica Neue"/>
              </a:rPr>
              <a:t>MySQL </a:t>
            </a:r>
            <a:r>
              <a:rPr lang="zh-CN" altLang="en-US" sz="1400" b="0" i="0" dirty="0">
                <a:solidFill>
                  <a:srgbClr val="444444"/>
                </a:solidFill>
                <a:effectLst/>
                <a:latin typeface="Helvetica Neue"/>
              </a:rPr>
              <a:t>数据库中非常重要的权限表，表中存储了</a:t>
            </a:r>
            <a:r>
              <a:rPr lang="zh-CN" altLang="en-US" sz="1400" b="1" i="0" dirty="0">
                <a:solidFill>
                  <a:srgbClr val="444444"/>
                </a:solidFill>
                <a:effectLst/>
                <a:latin typeface="Helvetica Neue"/>
              </a:rPr>
              <a:t>用户对某个数据库的操作权限</a:t>
            </a:r>
            <a:r>
              <a:rPr lang="zh-CN" altLang="en-US" sz="1400" b="0" i="0" dirty="0">
                <a:solidFill>
                  <a:srgbClr val="444444"/>
                </a:solidFill>
                <a:effectLst/>
                <a:latin typeface="Helvetica Neue"/>
              </a:rPr>
              <a:t>。表中的字段大致可以分为两类，分别是用户列和权限列。</a:t>
            </a:r>
            <a:r>
              <a:rPr lang="en-US" altLang="zh-CN" sz="1400" b="0" i="0" dirty="0" err="1">
                <a:solidFill>
                  <a:srgbClr val="444444"/>
                </a:solidFill>
                <a:effectLst/>
                <a:latin typeface="Helvetica Neue"/>
              </a:rPr>
              <a:t>db</a:t>
            </a:r>
            <a:r>
              <a:rPr lang="en-US" altLang="zh-CN" sz="1400" b="0" i="0" dirty="0">
                <a:solidFill>
                  <a:srgbClr val="444444"/>
                </a:solidFill>
                <a:effectLst/>
                <a:latin typeface="Helvetica Neue"/>
              </a:rPr>
              <a:t> </a:t>
            </a:r>
            <a:r>
              <a:rPr lang="zh-CN" altLang="en-US" sz="1400" b="0" i="0" dirty="0">
                <a:solidFill>
                  <a:srgbClr val="444444"/>
                </a:solidFill>
                <a:effectLst/>
                <a:latin typeface="Helvetica Neue"/>
              </a:rPr>
              <a:t>表中的权限列和 </a:t>
            </a:r>
            <a:r>
              <a:rPr lang="en-US" altLang="zh-CN" sz="1400" b="0" i="0" dirty="0">
                <a:solidFill>
                  <a:srgbClr val="444444"/>
                </a:solidFill>
                <a:effectLst/>
                <a:latin typeface="Helvetica Neue"/>
              </a:rPr>
              <a:t>user </a:t>
            </a:r>
            <a:r>
              <a:rPr lang="zh-CN" altLang="en-US" sz="1400" b="0" i="0" dirty="0">
                <a:solidFill>
                  <a:srgbClr val="444444"/>
                </a:solidFill>
                <a:effectLst/>
                <a:latin typeface="Helvetica Neue"/>
              </a:rPr>
              <a:t>表中的权限列大致相同，只是</a:t>
            </a:r>
            <a:r>
              <a:rPr lang="en-US" altLang="zh-CN" sz="1400" b="0" i="0" dirty="0">
                <a:solidFill>
                  <a:srgbClr val="444444"/>
                </a:solidFill>
                <a:effectLst/>
                <a:latin typeface="Helvetica Neue"/>
              </a:rPr>
              <a:t>user </a:t>
            </a:r>
            <a:r>
              <a:rPr lang="zh-CN" altLang="en-US" sz="1400" b="0" i="0" dirty="0">
                <a:solidFill>
                  <a:srgbClr val="444444"/>
                </a:solidFill>
                <a:effectLst/>
                <a:latin typeface="Helvetica Neue"/>
              </a:rPr>
              <a:t>表中的权限是针对所有数据库的，而 </a:t>
            </a:r>
            <a:r>
              <a:rPr lang="en-US" altLang="zh-CN" sz="1400" b="0" i="0" dirty="0" err="1">
                <a:solidFill>
                  <a:srgbClr val="444444"/>
                </a:solidFill>
                <a:effectLst/>
                <a:latin typeface="Helvetica Neue"/>
              </a:rPr>
              <a:t>db</a:t>
            </a:r>
            <a:r>
              <a:rPr lang="en-US" altLang="zh-CN" sz="1400" b="0" i="0" dirty="0">
                <a:solidFill>
                  <a:srgbClr val="444444"/>
                </a:solidFill>
                <a:effectLst/>
                <a:latin typeface="Helvetica Neue"/>
              </a:rPr>
              <a:t> </a:t>
            </a:r>
            <a:r>
              <a:rPr lang="zh-CN" altLang="en-US" sz="1400" b="0" i="0" dirty="0">
                <a:solidFill>
                  <a:srgbClr val="444444"/>
                </a:solidFill>
                <a:effectLst/>
                <a:latin typeface="Helvetica Neue"/>
              </a:rPr>
              <a:t>表中的权限只针对</a:t>
            </a:r>
            <a:r>
              <a:rPr lang="zh-CN" altLang="en-US" sz="1400" b="1" i="0" dirty="0">
                <a:solidFill>
                  <a:srgbClr val="444444"/>
                </a:solidFill>
                <a:effectLst/>
                <a:latin typeface="Helvetica Neue"/>
              </a:rPr>
              <a:t>指定的数据库</a:t>
            </a:r>
            <a:r>
              <a:rPr lang="zh-CN" altLang="en-US" sz="1400" b="0" i="0" dirty="0">
                <a:solidFill>
                  <a:srgbClr val="444444"/>
                </a:solidFill>
                <a:effectLst/>
                <a:latin typeface="Helvetica Neue"/>
              </a:rPr>
              <a:t>。</a:t>
            </a:r>
            <a:endParaRPr lang="en-US" altLang="zh-CN" sz="1400" b="0" i="0" dirty="0">
              <a:solidFill>
                <a:srgbClr val="444444"/>
              </a:solidFill>
              <a:effectLst/>
              <a:latin typeface="Helvetica Neue"/>
            </a:endParaRPr>
          </a:p>
          <a:p>
            <a:pPr lvl="1"/>
            <a:r>
              <a:rPr lang="en-US" altLang="zh-CN" sz="1400" b="0" i="0" dirty="0" err="1">
                <a:solidFill>
                  <a:srgbClr val="444444"/>
                </a:solidFill>
                <a:effectLst/>
                <a:latin typeface="Helvetica Neue"/>
              </a:rPr>
              <a:t>tables_priv</a:t>
            </a:r>
            <a:r>
              <a:rPr lang="en-US" altLang="zh-CN" sz="1400" b="0" i="0" dirty="0">
                <a:solidFill>
                  <a:srgbClr val="444444"/>
                </a:solidFill>
                <a:effectLst/>
                <a:latin typeface="Helvetica Neue"/>
              </a:rPr>
              <a:t> </a:t>
            </a:r>
            <a:r>
              <a:rPr lang="zh-CN" altLang="en-US" sz="1400" b="0" i="0" dirty="0">
                <a:solidFill>
                  <a:srgbClr val="444444"/>
                </a:solidFill>
                <a:effectLst/>
                <a:latin typeface="Helvetica Neue"/>
              </a:rPr>
              <a:t>表用来对单个表进行权限设置，</a:t>
            </a:r>
            <a:r>
              <a:rPr lang="en-US" altLang="zh-CN" sz="1400" b="0" i="0" dirty="0" err="1">
                <a:solidFill>
                  <a:srgbClr val="444444"/>
                </a:solidFill>
                <a:effectLst/>
                <a:latin typeface="Helvetica Neue"/>
              </a:rPr>
              <a:t>columns_priv</a:t>
            </a:r>
            <a:r>
              <a:rPr lang="en-US" altLang="zh-CN" sz="1400" b="0" i="0" dirty="0">
                <a:solidFill>
                  <a:srgbClr val="444444"/>
                </a:solidFill>
                <a:effectLst/>
                <a:latin typeface="Helvetica Neue"/>
              </a:rPr>
              <a:t> </a:t>
            </a:r>
            <a:r>
              <a:rPr lang="zh-CN" altLang="en-US" sz="1400" b="0" i="0" dirty="0">
                <a:solidFill>
                  <a:srgbClr val="444444"/>
                </a:solidFill>
                <a:effectLst/>
                <a:latin typeface="Helvetica Neue"/>
              </a:rPr>
              <a:t>表用来对单个数据列进行权限设置。</a:t>
            </a:r>
            <a:endParaRPr lang="en-US" altLang="zh-CN" sz="1400" b="0" i="0" dirty="0">
              <a:solidFill>
                <a:srgbClr val="444444"/>
              </a:solidFill>
              <a:effectLst/>
              <a:latin typeface="Helvetica Neue"/>
            </a:endParaRPr>
          </a:p>
          <a:p>
            <a:pPr lvl="1"/>
            <a:r>
              <a:rPr lang="en-US" altLang="zh-CN" sz="1400" b="0" i="0" dirty="0" err="1">
                <a:solidFill>
                  <a:srgbClr val="444444"/>
                </a:solidFill>
                <a:effectLst/>
                <a:latin typeface="Helvetica Neue"/>
              </a:rPr>
              <a:t>procs_priv</a:t>
            </a:r>
            <a:r>
              <a:rPr lang="en-US" altLang="zh-CN" sz="1400" b="0" i="0" dirty="0">
                <a:solidFill>
                  <a:srgbClr val="444444"/>
                </a:solidFill>
                <a:effectLst/>
                <a:latin typeface="Helvetica Neue"/>
              </a:rPr>
              <a:t> </a:t>
            </a:r>
            <a:r>
              <a:rPr lang="zh-CN" altLang="en-US" sz="1400" b="0" i="0" dirty="0">
                <a:solidFill>
                  <a:srgbClr val="444444"/>
                </a:solidFill>
                <a:effectLst/>
                <a:latin typeface="Helvetica Neue"/>
              </a:rPr>
              <a:t>表可以对存储过程和存储函数进行权限设置。</a:t>
            </a:r>
            <a:endParaRPr lang="en-US" altLang="zh-CN" sz="1400" b="0" i="0" dirty="0">
              <a:solidFill>
                <a:srgbClr val="444444"/>
              </a:solidFill>
              <a:effectLst/>
              <a:latin typeface="Helvetica Neue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4C9ABC-B292-3ED5-3F72-7AB266A8812C}"/>
              </a:ext>
            </a:extLst>
          </p:cNvPr>
          <p:cNvSpPr txBox="1"/>
          <p:nvPr/>
        </p:nvSpPr>
        <p:spPr>
          <a:xfrm>
            <a:off x="611560" y="4731990"/>
            <a:ext cx="7560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详细内容</a:t>
            </a:r>
            <a:r>
              <a:rPr lang="zh-CN" altLang="en-US"/>
              <a:t>请查阅</a:t>
            </a:r>
            <a:r>
              <a:rPr lang="zh-CN" altLang="en-US">
                <a:hlinkClick r:id="rId2"/>
              </a:rPr>
              <a:t>文档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6948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FF146B-3FA2-41F8-A999-A212E6093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创建用户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A6ECA3A2-BBAB-4525-A275-1F85FFBC0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987574"/>
            <a:ext cx="7488832" cy="4248472"/>
          </a:xfrm>
        </p:spPr>
        <p:txBody>
          <a:bodyPr>
            <a:normAutofit/>
          </a:bodyPr>
          <a:lstStyle/>
          <a:p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MySQL 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在安装时，会默认创建一个名为 </a:t>
            </a:r>
            <a:r>
              <a:rPr lang="en-US" altLang="zh-CN" sz="1600" b="1" i="0" dirty="0">
                <a:solidFill>
                  <a:srgbClr val="444444"/>
                </a:solidFill>
                <a:effectLst/>
                <a:latin typeface="Helvetica Neue"/>
              </a:rPr>
              <a:t>root 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的用户，该用户拥有</a:t>
            </a:r>
            <a:r>
              <a:rPr lang="zh-CN" altLang="en-US" sz="1600" b="1" i="0" dirty="0">
                <a:solidFill>
                  <a:srgbClr val="444444"/>
                </a:solidFill>
                <a:effectLst/>
                <a:latin typeface="Helvetica Neue"/>
              </a:rPr>
              <a:t>超级权限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，可以控制整个 </a:t>
            </a:r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MySQL 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服务器。在对 </a:t>
            </a:r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MySQL 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的日常管理和操作中，为了避免有人恶意使用 </a:t>
            </a:r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root 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用户控制数据库，我们通常创建一些具有适当权限的用户，尽可能地不用或少用 </a:t>
            </a:r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root 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用户登录系统，以此来确保数据的安全访问。</a:t>
            </a:r>
            <a:endParaRPr lang="en-US" altLang="zh-CN" sz="1600" b="0" i="0" dirty="0">
              <a:solidFill>
                <a:srgbClr val="444444"/>
              </a:solidFill>
              <a:effectLst/>
              <a:latin typeface="Helvetica Neue"/>
            </a:endParaRPr>
          </a:p>
          <a:p>
            <a:endParaRPr lang="en-US" altLang="zh-CN" sz="1600" b="0" i="0" dirty="0">
              <a:solidFill>
                <a:srgbClr val="444444"/>
              </a:solidFill>
              <a:effectLst/>
              <a:latin typeface="Helvetica Neue"/>
            </a:endParaRPr>
          </a:p>
          <a:p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可以使用 </a:t>
            </a:r>
            <a:r>
              <a:rPr lang="en-US" altLang="zh-CN" sz="1600" b="1" i="0" dirty="0">
                <a:solidFill>
                  <a:srgbClr val="444444"/>
                </a:solidFill>
                <a:effectLst/>
                <a:latin typeface="Helvetica Neue"/>
              </a:rPr>
              <a:t>CREATE USER 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语句来创建 </a:t>
            </a:r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MySQL 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用户，并设置相应的密码。其基本语法格式如下：</a:t>
            </a:r>
            <a:endParaRPr lang="en-US" altLang="zh-CN" sz="1600" b="0" i="0" dirty="0">
              <a:solidFill>
                <a:srgbClr val="444444"/>
              </a:solidFill>
              <a:effectLst/>
              <a:latin typeface="Helvetica Neue"/>
            </a:endParaRPr>
          </a:p>
          <a:p>
            <a:pPr lvl="1"/>
            <a:r>
              <a:rPr lang="en-US" altLang="zh-CN" sz="1000" dirty="0">
                <a:solidFill>
                  <a:srgbClr val="444444"/>
                </a:solidFill>
                <a:effectLst/>
                <a:latin typeface="Helvetica Neue"/>
              </a:rPr>
              <a:t>CREATE USER &lt;</a:t>
            </a:r>
            <a:r>
              <a:rPr lang="zh-CN" altLang="en-US" sz="1000" dirty="0">
                <a:solidFill>
                  <a:srgbClr val="444444"/>
                </a:solidFill>
                <a:effectLst/>
                <a:latin typeface="Helvetica Neue"/>
              </a:rPr>
              <a:t>用户</a:t>
            </a:r>
            <a:r>
              <a:rPr lang="en-US" altLang="zh-CN" sz="1000" dirty="0">
                <a:solidFill>
                  <a:srgbClr val="444444"/>
                </a:solidFill>
                <a:effectLst/>
                <a:latin typeface="Helvetica Neue"/>
              </a:rPr>
              <a:t>&gt; [ IDENTIFIED BY [ PASSWORD ] 'password' ] [ ,</a:t>
            </a:r>
            <a:r>
              <a:rPr lang="zh-CN" altLang="en-US" sz="1000" dirty="0">
                <a:solidFill>
                  <a:srgbClr val="444444"/>
                </a:solidFill>
                <a:effectLst/>
                <a:latin typeface="Helvetica Neue"/>
              </a:rPr>
              <a:t>用户 </a:t>
            </a:r>
            <a:r>
              <a:rPr lang="en-US" altLang="zh-CN" sz="1000" dirty="0">
                <a:solidFill>
                  <a:srgbClr val="444444"/>
                </a:solidFill>
                <a:effectLst/>
                <a:latin typeface="Helvetica Neue"/>
              </a:rPr>
              <a:t>[ IDENTIFIED BY [ PASSWORD ] 'password’ ]]</a:t>
            </a:r>
          </a:p>
          <a:p>
            <a:endParaRPr lang="en-US" altLang="zh-CN" sz="1400" b="0" i="1" dirty="0">
              <a:solidFill>
                <a:srgbClr val="444444"/>
              </a:solidFill>
              <a:effectLst/>
              <a:latin typeface="Helvetica Neue"/>
            </a:endParaRPr>
          </a:p>
          <a:p>
            <a:pPr marL="400050" lvl="1" indent="0">
              <a:buNone/>
            </a:pPr>
            <a:r>
              <a:rPr lang="en-US" altLang="zh-CN" sz="1200" b="0" i="0" dirty="0">
                <a:solidFill>
                  <a:srgbClr val="444444"/>
                </a:solidFill>
                <a:effectLst/>
                <a:latin typeface="Helvetica Neue"/>
              </a:rPr>
              <a:t>CREATE USER </a:t>
            </a:r>
            <a:r>
              <a:rPr lang="zh-CN" altLang="en-US" sz="1200" b="0" i="0" dirty="0">
                <a:solidFill>
                  <a:srgbClr val="444444"/>
                </a:solidFill>
                <a:effectLst/>
                <a:latin typeface="Helvetica Neue"/>
              </a:rPr>
              <a:t>语句可以不指定初始密码。但是从安全的角度来说，不推荐这种做法。</a:t>
            </a:r>
          </a:p>
          <a:p>
            <a:pPr marL="400050" lvl="1" indent="0">
              <a:buNone/>
            </a:pPr>
            <a:r>
              <a:rPr lang="zh-CN" altLang="en-US" sz="1200" b="0" i="0" dirty="0">
                <a:solidFill>
                  <a:srgbClr val="444444"/>
                </a:solidFill>
                <a:effectLst/>
                <a:latin typeface="Helvetica Neue"/>
              </a:rPr>
              <a:t>使用 </a:t>
            </a:r>
            <a:r>
              <a:rPr lang="en-US" altLang="zh-CN" sz="1200" b="0" i="0" dirty="0">
                <a:solidFill>
                  <a:srgbClr val="444444"/>
                </a:solidFill>
                <a:effectLst/>
                <a:latin typeface="Helvetica Neue"/>
              </a:rPr>
              <a:t>CREATE USER </a:t>
            </a:r>
            <a:r>
              <a:rPr lang="zh-CN" altLang="en-US" sz="1200" b="0" i="0" dirty="0">
                <a:solidFill>
                  <a:srgbClr val="444444"/>
                </a:solidFill>
                <a:effectLst/>
                <a:latin typeface="Helvetica Neue"/>
              </a:rPr>
              <a:t>语句必须拥有 </a:t>
            </a:r>
            <a:r>
              <a:rPr lang="en-US" altLang="zh-CN" sz="1200" b="0" i="0" dirty="0" err="1">
                <a:solidFill>
                  <a:srgbClr val="444444"/>
                </a:solidFill>
                <a:effectLst/>
                <a:latin typeface="Helvetica Neue"/>
              </a:rPr>
              <a:t>mysql</a:t>
            </a:r>
            <a:r>
              <a:rPr lang="en-US" altLang="zh-CN" sz="1200" b="0" i="0" dirty="0">
                <a:solidFill>
                  <a:srgbClr val="444444"/>
                </a:solidFill>
                <a:effectLst/>
                <a:latin typeface="Helvetica Neue"/>
              </a:rPr>
              <a:t> </a:t>
            </a:r>
            <a:r>
              <a:rPr lang="zh-CN" altLang="en-US" sz="1200" b="0" i="0" dirty="0">
                <a:solidFill>
                  <a:srgbClr val="444444"/>
                </a:solidFill>
                <a:effectLst/>
                <a:latin typeface="Helvetica Neue"/>
              </a:rPr>
              <a:t>数据库的 </a:t>
            </a:r>
            <a:r>
              <a:rPr lang="en-US" altLang="zh-CN" sz="1200" b="0" i="0" dirty="0">
                <a:solidFill>
                  <a:srgbClr val="444444"/>
                </a:solidFill>
                <a:effectLst/>
                <a:latin typeface="Helvetica Neue"/>
              </a:rPr>
              <a:t>INSERT </a:t>
            </a:r>
            <a:r>
              <a:rPr lang="zh-CN" altLang="en-US" sz="1200" b="0" i="0" dirty="0">
                <a:solidFill>
                  <a:srgbClr val="444444"/>
                </a:solidFill>
                <a:effectLst/>
                <a:latin typeface="Helvetica Neue"/>
              </a:rPr>
              <a:t>权限或全局 </a:t>
            </a:r>
            <a:r>
              <a:rPr lang="en-US" altLang="zh-CN" sz="1200" b="0" i="0" dirty="0">
                <a:solidFill>
                  <a:srgbClr val="444444"/>
                </a:solidFill>
                <a:effectLst/>
                <a:latin typeface="Helvetica Neue"/>
              </a:rPr>
              <a:t>CREATE USER </a:t>
            </a:r>
            <a:r>
              <a:rPr lang="zh-CN" altLang="en-US" sz="1200" b="0" i="0" dirty="0">
                <a:solidFill>
                  <a:srgbClr val="444444"/>
                </a:solidFill>
                <a:effectLst/>
                <a:latin typeface="Helvetica Neue"/>
              </a:rPr>
              <a:t>权限。</a:t>
            </a:r>
          </a:p>
          <a:p>
            <a:pPr marL="400050" lvl="1" indent="0">
              <a:buNone/>
            </a:pPr>
            <a:r>
              <a:rPr lang="zh-CN" altLang="en-US" sz="1200" b="0" i="0" dirty="0">
                <a:solidFill>
                  <a:srgbClr val="444444"/>
                </a:solidFill>
                <a:effectLst/>
                <a:latin typeface="Helvetica Neue"/>
              </a:rPr>
              <a:t>使用 </a:t>
            </a:r>
            <a:r>
              <a:rPr lang="en-US" altLang="zh-CN" sz="1200" b="0" i="0" dirty="0">
                <a:solidFill>
                  <a:srgbClr val="444444"/>
                </a:solidFill>
                <a:effectLst/>
                <a:latin typeface="Helvetica Neue"/>
              </a:rPr>
              <a:t>CREATE USER </a:t>
            </a:r>
            <a:r>
              <a:rPr lang="zh-CN" altLang="en-US" sz="1200" b="0" i="0" dirty="0">
                <a:solidFill>
                  <a:srgbClr val="444444"/>
                </a:solidFill>
                <a:effectLst/>
                <a:latin typeface="Helvetica Neue"/>
              </a:rPr>
              <a:t>语句创建一个用户后，</a:t>
            </a:r>
            <a:r>
              <a:rPr lang="en-US" altLang="zh-CN" sz="1200" b="0" i="0" dirty="0">
                <a:solidFill>
                  <a:srgbClr val="444444"/>
                </a:solidFill>
                <a:effectLst/>
                <a:latin typeface="Helvetica Neue"/>
              </a:rPr>
              <a:t>MySQL </a:t>
            </a:r>
            <a:r>
              <a:rPr lang="zh-CN" altLang="en-US" sz="1200" b="0" i="0" dirty="0">
                <a:solidFill>
                  <a:srgbClr val="444444"/>
                </a:solidFill>
                <a:effectLst/>
                <a:latin typeface="Helvetica Neue"/>
              </a:rPr>
              <a:t>会在 </a:t>
            </a:r>
            <a:r>
              <a:rPr lang="en-US" altLang="zh-CN" sz="1200" b="0" i="0" dirty="0" err="1">
                <a:solidFill>
                  <a:srgbClr val="444444"/>
                </a:solidFill>
                <a:effectLst/>
                <a:latin typeface="Helvetica Neue"/>
              </a:rPr>
              <a:t>mysql</a:t>
            </a:r>
            <a:r>
              <a:rPr lang="en-US" altLang="zh-CN" sz="1200" b="0" i="0" dirty="0">
                <a:solidFill>
                  <a:srgbClr val="444444"/>
                </a:solidFill>
                <a:effectLst/>
                <a:latin typeface="Helvetica Neue"/>
              </a:rPr>
              <a:t> </a:t>
            </a:r>
            <a:r>
              <a:rPr lang="zh-CN" altLang="en-US" sz="1200" b="0" i="0" dirty="0">
                <a:solidFill>
                  <a:srgbClr val="444444"/>
                </a:solidFill>
                <a:effectLst/>
                <a:latin typeface="Helvetica Neue"/>
              </a:rPr>
              <a:t>数据库的 </a:t>
            </a:r>
            <a:r>
              <a:rPr lang="en-US" altLang="zh-CN" sz="1200" b="0" i="0" dirty="0">
                <a:solidFill>
                  <a:srgbClr val="444444"/>
                </a:solidFill>
                <a:effectLst/>
                <a:latin typeface="Helvetica Neue"/>
              </a:rPr>
              <a:t>user </a:t>
            </a:r>
            <a:r>
              <a:rPr lang="zh-CN" altLang="en-US" sz="1200" b="0" i="0" dirty="0">
                <a:solidFill>
                  <a:srgbClr val="444444"/>
                </a:solidFill>
                <a:effectLst/>
                <a:latin typeface="Helvetica Neue"/>
              </a:rPr>
              <a:t>表中添加一条新记录。</a:t>
            </a:r>
          </a:p>
          <a:p>
            <a:pPr marL="400050" lvl="1" indent="0">
              <a:buNone/>
            </a:pPr>
            <a:r>
              <a:rPr lang="en-US" altLang="zh-CN" sz="1200" b="0" i="0" dirty="0">
                <a:solidFill>
                  <a:srgbClr val="444444"/>
                </a:solidFill>
                <a:effectLst/>
                <a:latin typeface="Helvetica Neue"/>
              </a:rPr>
              <a:t>CREATE USER </a:t>
            </a:r>
            <a:r>
              <a:rPr lang="zh-CN" altLang="en-US" sz="1200" b="0" i="0" dirty="0">
                <a:solidFill>
                  <a:srgbClr val="444444"/>
                </a:solidFill>
                <a:effectLst/>
                <a:latin typeface="Helvetica Neue"/>
              </a:rPr>
              <a:t>语句可以同时创建多个用户，多个用户用逗号隔开。</a:t>
            </a:r>
            <a:endParaRPr lang="en-US" altLang="zh-CN" sz="1200" b="0" i="0" dirty="0">
              <a:solidFill>
                <a:srgbClr val="444444"/>
              </a:solidFill>
              <a:effectLst/>
              <a:latin typeface="Helvetica Neue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0FBBA80-0E9A-BA0E-5332-700498FB1595}"/>
              </a:ext>
            </a:extLst>
          </p:cNvPr>
          <p:cNvSpPr txBox="1"/>
          <p:nvPr/>
        </p:nvSpPr>
        <p:spPr>
          <a:xfrm>
            <a:off x="611560" y="4731990"/>
            <a:ext cx="7560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hlinkClick r:id="rId2"/>
              </a:rPr>
              <a:t>文档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8845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FF146B-3FA2-41F8-A999-A212E6093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创建用户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A6ECA3A2-BBAB-4525-A275-1F85FFBC0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987574"/>
            <a:ext cx="7488832" cy="3384376"/>
          </a:xfrm>
        </p:spPr>
        <p:txBody>
          <a:bodyPr>
            <a:normAutofit/>
          </a:bodyPr>
          <a:lstStyle/>
          <a:p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1) </a:t>
            </a:r>
            <a:r>
              <a:rPr lang="zh-CN" altLang="en-US" sz="1600" b="1" i="0" dirty="0">
                <a:solidFill>
                  <a:srgbClr val="444444"/>
                </a:solidFill>
                <a:effectLst/>
                <a:latin typeface="Helvetica Neue"/>
              </a:rPr>
              <a:t>用户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：指定创建用户账号，格式为 </a:t>
            </a:r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user_name'@'</a:t>
            </a:r>
            <a:r>
              <a:rPr lang="en-US" altLang="zh-CN" sz="1600" b="0" i="0" dirty="0" err="1">
                <a:solidFill>
                  <a:srgbClr val="444444"/>
                </a:solidFill>
                <a:effectLst/>
                <a:latin typeface="Helvetica Neue"/>
              </a:rPr>
              <a:t>host_name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。这里的</a:t>
            </a:r>
            <a:r>
              <a:rPr lang="en-US" altLang="zh-CN" sz="1600" b="0" i="0" dirty="0" err="1">
                <a:solidFill>
                  <a:srgbClr val="444444"/>
                </a:solidFill>
                <a:effectLst/>
                <a:latin typeface="Helvetica Neue"/>
              </a:rPr>
              <a:t>user_name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是用户名，</a:t>
            </a:r>
            <a:r>
              <a:rPr lang="en-US" altLang="zh-CN" sz="1600" b="0" i="0" dirty="0" err="1">
                <a:solidFill>
                  <a:srgbClr val="444444"/>
                </a:solidFill>
                <a:effectLst/>
                <a:latin typeface="Helvetica Neue"/>
              </a:rPr>
              <a:t>host_name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为主机名，即用户连接 </a:t>
            </a:r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MySQL 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时所用主机的名字。如果在创建的过程中，只给出了用户名，而没指定主机名，那么主机名默认为“</a:t>
            </a:r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%”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，表示一组主机，即对所有主机开放权限。</a:t>
            </a:r>
          </a:p>
          <a:p>
            <a:r>
              <a:rPr lang="en-US" altLang="zh-CN" sz="1600" dirty="0">
                <a:solidFill>
                  <a:srgbClr val="444444"/>
                </a:solidFill>
                <a:latin typeface="Helvetica Neue"/>
              </a:rPr>
              <a:t>2</a:t>
            </a:r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) </a:t>
            </a:r>
            <a:r>
              <a:rPr lang="en-US" altLang="zh-CN" sz="1600" b="1" i="0" dirty="0">
                <a:solidFill>
                  <a:srgbClr val="444444"/>
                </a:solidFill>
                <a:effectLst/>
                <a:latin typeface="Helvetica Neue"/>
              </a:rPr>
              <a:t>IDENTIFIED BY</a:t>
            </a:r>
            <a:r>
              <a:rPr lang="zh-CN" altLang="en-US" sz="1600" b="1" i="0" dirty="0">
                <a:solidFill>
                  <a:srgbClr val="444444"/>
                </a:solidFill>
                <a:effectLst/>
                <a:latin typeface="Helvetica Neue"/>
              </a:rPr>
              <a:t>子句： 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用于指定用户密码。新用户可以没有初始密码，若该用户不设密码，可省略此子句。</a:t>
            </a:r>
          </a:p>
          <a:p>
            <a:r>
              <a:rPr lang="en-US" altLang="zh-CN" sz="1600" dirty="0">
                <a:solidFill>
                  <a:srgbClr val="444444"/>
                </a:solidFill>
                <a:latin typeface="Helvetica Neue"/>
              </a:rPr>
              <a:t>3</a:t>
            </a:r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) </a:t>
            </a:r>
            <a:r>
              <a:rPr lang="en-US" altLang="zh-CN" sz="1600" b="1" i="0" dirty="0">
                <a:solidFill>
                  <a:srgbClr val="444444"/>
                </a:solidFill>
                <a:effectLst/>
                <a:latin typeface="Helvetica Neue"/>
              </a:rPr>
              <a:t>PASSWORD ‘password’</a:t>
            </a:r>
            <a:r>
              <a:rPr lang="zh-CN" altLang="en-US" sz="1600" b="1" i="0" dirty="0">
                <a:solidFill>
                  <a:srgbClr val="444444"/>
                </a:solidFill>
                <a:effectLst/>
                <a:latin typeface="Helvetica Neue"/>
              </a:rPr>
              <a:t>：</a:t>
            </a:r>
            <a:r>
              <a:rPr lang="en-US" altLang="zh-CN" sz="1600" b="1" i="0" dirty="0">
                <a:solidFill>
                  <a:srgbClr val="444444"/>
                </a:solidFill>
                <a:effectLst/>
                <a:latin typeface="Helvetica Neue"/>
              </a:rPr>
              <a:t> </a:t>
            </a:r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PASSWORD 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表示使用哈希值设置密码，该参数可选。如果密码是一个普通的字符串，则不需要使用 </a:t>
            </a:r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PASSWORD 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关键字。</a:t>
            </a:r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'password' 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表示用户登录时使用的密码，需要用单引号括起来。</a:t>
            </a:r>
            <a:endParaRPr lang="en-US" altLang="zh-CN" sz="1600" b="0" i="0" dirty="0">
              <a:solidFill>
                <a:srgbClr val="444444"/>
              </a:solidFill>
              <a:effectLst/>
              <a:latin typeface="Helvetica Neue"/>
            </a:endParaRPr>
          </a:p>
          <a:p>
            <a:endParaRPr lang="en-US" altLang="zh-CN" sz="1600" b="0" i="0" dirty="0">
              <a:solidFill>
                <a:srgbClr val="444444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93057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FF146B-3FA2-41F8-A999-A212E6093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创建用户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A6ECA3A2-BBAB-4525-A275-1F85FFBC0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987574"/>
            <a:ext cx="7488832" cy="3384376"/>
          </a:xfrm>
        </p:spPr>
        <p:txBody>
          <a:bodyPr>
            <a:normAutofit/>
          </a:bodyPr>
          <a:lstStyle/>
          <a:p>
            <a:r>
              <a:rPr lang="zh-CN" altLang="en-US" sz="1800" b="1" i="0" dirty="0">
                <a:solidFill>
                  <a:srgbClr val="444444"/>
                </a:solidFill>
                <a:effectLst/>
                <a:latin typeface="Helvetica Neue"/>
              </a:rPr>
              <a:t>使用 </a:t>
            </a:r>
            <a:r>
              <a:rPr lang="en-US" altLang="zh-CN" sz="1800" b="1" i="0" dirty="0">
                <a:solidFill>
                  <a:srgbClr val="444444"/>
                </a:solidFill>
                <a:effectLst/>
                <a:latin typeface="Helvetica Neue"/>
              </a:rPr>
              <a:t>CREATE USER </a:t>
            </a:r>
            <a:r>
              <a:rPr lang="zh-CN" altLang="en-US" sz="1800" b="1" i="0" dirty="0">
                <a:solidFill>
                  <a:srgbClr val="444444"/>
                </a:solidFill>
                <a:effectLst/>
                <a:latin typeface="Helvetica Neue"/>
              </a:rPr>
              <a:t>创建一个用户，用户名是 </a:t>
            </a:r>
            <a:r>
              <a:rPr lang="en-US" altLang="zh-CN" sz="1800" b="1" i="0" dirty="0">
                <a:solidFill>
                  <a:srgbClr val="444444"/>
                </a:solidFill>
                <a:effectLst/>
                <a:latin typeface="Helvetica Neue"/>
              </a:rPr>
              <a:t>test1</a:t>
            </a:r>
            <a:r>
              <a:rPr lang="zh-CN" altLang="en-US" sz="1800" b="1" i="0" dirty="0">
                <a:solidFill>
                  <a:srgbClr val="444444"/>
                </a:solidFill>
                <a:effectLst/>
                <a:latin typeface="Helvetica Neue"/>
              </a:rPr>
              <a:t>，密码是 </a:t>
            </a:r>
            <a:r>
              <a:rPr lang="en-US" altLang="zh-CN" sz="1800" b="1" i="0" dirty="0">
                <a:solidFill>
                  <a:srgbClr val="444444"/>
                </a:solidFill>
                <a:effectLst/>
                <a:latin typeface="Helvetica Neue"/>
              </a:rPr>
              <a:t>Test123!</a:t>
            </a:r>
            <a:r>
              <a:rPr lang="zh-CN" altLang="en-US" sz="1800" b="1" i="0" dirty="0">
                <a:solidFill>
                  <a:srgbClr val="444444"/>
                </a:solidFill>
                <a:effectLst/>
                <a:latin typeface="Helvetica Neue"/>
              </a:rPr>
              <a:t>，主机名是 </a:t>
            </a:r>
            <a:r>
              <a:rPr lang="en-US" altLang="zh-CN" sz="1800" b="1" i="0" dirty="0">
                <a:solidFill>
                  <a:srgbClr val="444444"/>
                </a:solidFill>
                <a:effectLst/>
                <a:latin typeface="Helvetica Neue"/>
              </a:rPr>
              <a:t>localhost</a:t>
            </a:r>
            <a:r>
              <a:rPr lang="zh-CN" altLang="en-US" sz="1800" b="1" i="0" dirty="0">
                <a:solidFill>
                  <a:srgbClr val="444444"/>
                </a:solidFill>
                <a:effectLst/>
                <a:latin typeface="Helvetica Neue"/>
              </a:rPr>
              <a:t>。</a:t>
            </a:r>
            <a:r>
              <a:rPr lang="en-US" altLang="zh-CN" sz="1800" b="1" i="0" dirty="0">
                <a:solidFill>
                  <a:srgbClr val="444444"/>
                </a:solidFill>
                <a:effectLst/>
                <a:latin typeface="Helvetica Neue"/>
              </a:rPr>
              <a:t>SQL </a:t>
            </a:r>
            <a:r>
              <a:rPr lang="zh-CN" altLang="en-US" sz="1800" b="1" i="0" dirty="0">
                <a:solidFill>
                  <a:srgbClr val="444444"/>
                </a:solidFill>
                <a:effectLst/>
                <a:latin typeface="Helvetica Neue"/>
              </a:rPr>
              <a:t>语句如下：</a:t>
            </a:r>
            <a:endParaRPr lang="en-US" altLang="zh-CN" sz="1800" b="1" i="0" dirty="0">
              <a:solidFill>
                <a:srgbClr val="444444"/>
              </a:solidFill>
              <a:effectLst/>
              <a:latin typeface="Helvetica Neue"/>
            </a:endParaRPr>
          </a:p>
          <a:p>
            <a:pPr lvl="1"/>
            <a:r>
              <a:rPr lang="en-US" altLang="zh-CN" sz="1400" b="0" i="0" dirty="0">
                <a:solidFill>
                  <a:srgbClr val="444444"/>
                </a:solidFill>
                <a:effectLst/>
                <a:latin typeface="Helvetica Neue"/>
              </a:rPr>
              <a:t>CREATE USER 'test1'@'localhost' IDENTIFIED BY 'Test123!’;</a:t>
            </a:r>
          </a:p>
          <a:p>
            <a:r>
              <a:rPr lang="zh-CN" altLang="en-US" sz="1800" b="0" i="0" dirty="0">
                <a:solidFill>
                  <a:srgbClr val="444444"/>
                </a:solidFill>
                <a:effectLst/>
                <a:latin typeface="Helvetica Neue"/>
              </a:rPr>
              <a:t>在实际应用中，我们应避免明文指定密码，可以通过 </a:t>
            </a:r>
            <a:r>
              <a:rPr lang="en-US" altLang="zh-CN" sz="1800" b="0" i="0" dirty="0">
                <a:solidFill>
                  <a:srgbClr val="444444"/>
                </a:solidFill>
                <a:effectLst/>
                <a:latin typeface="Helvetica Neue"/>
              </a:rPr>
              <a:t>PASSWORD </a:t>
            </a:r>
            <a:r>
              <a:rPr lang="zh-CN" altLang="en-US" sz="1800" b="0" i="0" dirty="0">
                <a:solidFill>
                  <a:srgbClr val="444444"/>
                </a:solidFill>
                <a:effectLst/>
                <a:latin typeface="Helvetica Neue"/>
              </a:rPr>
              <a:t>关键字使用密码的哈希值设置密码。在 </a:t>
            </a:r>
            <a:r>
              <a:rPr lang="en-US" altLang="zh-CN" sz="1800" b="0" i="0" dirty="0">
                <a:solidFill>
                  <a:srgbClr val="444444"/>
                </a:solidFill>
                <a:effectLst/>
                <a:latin typeface="Helvetica Neue"/>
              </a:rPr>
              <a:t>MySQL </a:t>
            </a:r>
            <a:r>
              <a:rPr lang="zh-CN" altLang="en-US" sz="1800" b="0" i="0" dirty="0">
                <a:solidFill>
                  <a:srgbClr val="444444"/>
                </a:solidFill>
                <a:effectLst/>
                <a:latin typeface="Helvetica Neue"/>
              </a:rPr>
              <a:t>中，可以使用 </a:t>
            </a:r>
            <a:r>
              <a:rPr lang="en-US" altLang="zh-CN" sz="1800" b="0" i="0" dirty="0">
                <a:solidFill>
                  <a:srgbClr val="444444"/>
                </a:solidFill>
                <a:effectLst/>
                <a:latin typeface="Helvetica Neue"/>
              </a:rPr>
              <a:t>password() </a:t>
            </a:r>
            <a:r>
              <a:rPr lang="zh-CN" altLang="en-US" sz="1800" b="0" i="0" dirty="0">
                <a:solidFill>
                  <a:srgbClr val="444444"/>
                </a:solidFill>
                <a:effectLst/>
                <a:latin typeface="Helvetica Neue"/>
              </a:rPr>
              <a:t>函数获取密码的哈希值。</a:t>
            </a:r>
            <a:endParaRPr lang="en-US" altLang="zh-CN" sz="1800" b="0" i="0" dirty="0">
              <a:solidFill>
                <a:srgbClr val="444444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200550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FF146B-3FA2-41F8-A999-A212E6093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修改用户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A6ECA3A2-BBAB-4525-A275-1F85FFBC0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987574"/>
            <a:ext cx="7488832" cy="3384376"/>
          </a:xfrm>
        </p:spPr>
        <p:txBody>
          <a:bodyPr>
            <a:normAutofit/>
          </a:bodyPr>
          <a:lstStyle/>
          <a:p>
            <a:r>
              <a:rPr lang="en-US" altLang="zh-CN" sz="1800" b="0" i="0" dirty="0">
                <a:solidFill>
                  <a:srgbClr val="444444"/>
                </a:solidFill>
                <a:effectLst/>
                <a:latin typeface="Helvetica Neue"/>
              </a:rPr>
              <a:t>RENAME USER &lt;</a:t>
            </a:r>
            <a:r>
              <a:rPr lang="zh-CN" altLang="en-US" sz="1800" b="0" i="0" dirty="0">
                <a:solidFill>
                  <a:srgbClr val="444444"/>
                </a:solidFill>
                <a:effectLst/>
                <a:latin typeface="Helvetica Neue"/>
              </a:rPr>
              <a:t>旧用户</a:t>
            </a:r>
            <a:r>
              <a:rPr lang="en-US" altLang="zh-CN" sz="1800" b="0" i="0" dirty="0">
                <a:solidFill>
                  <a:srgbClr val="444444"/>
                </a:solidFill>
                <a:effectLst/>
                <a:latin typeface="Helvetica Neue"/>
              </a:rPr>
              <a:t>&gt; TO &lt;</a:t>
            </a:r>
            <a:r>
              <a:rPr lang="zh-CN" altLang="en-US" sz="1800" b="0" i="0" dirty="0">
                <a:solidFill>
                  <a:srgbClr val="444444"/>
                </a:solidFill>
                <a:effectLst/>
                <a:latin typeface="Helvetica Neue"/>
              </a:rPr>
              <a:t>新用户</a:t>
            </a:r>
            <a:r>
              <a:rPr lang="en-US" altLang="zh-CN" sz="1800" b="0" i="0" dirty="0">
                <a:solidFill>
                  <a:srgbClr val="444444"/>
                </a:solidFill>
                <a:effectLst/>
                <a:latin typeface="Helvetica Neue"/>
              </a:rPr>
              <a:t>&gt;</a:t>
            </a:r>
          </a:p>
          <a:p>
            <a:pPr lvl="1"/>
            <a:r>
              <a:rPr lang="zh-CN" altLang="en-US" sz="1400" b="0" i="0" dirty="0">
                <a:solidFill>
                  <a:srgbClr val="444444"/>
                </a:solidFill>
                <a:effectLst/>
                <a:latin typeface="Helvetica Neue"/>
              </a:rPr>
              <a:t>其中：</a:t>
            </a:r>
            <a:r>
              <a:rPr lang="en-US" altLang="zh-CN" sz="1400" b="0" i="0" dirty="0">
                <a:solidFill>
                  <a:srgbClr val="444444"/>
                </a:solidFill>
                <a:effectLst/>
                <a:latin typeface="Helvetica Neue"/>
              </a:rPr>
              <a:t>&lt;</a:t>
            </a:r>
            <a:r>
              <a:rPr lang="zh-CN" altLang="en-US" sz="1400" b="0" i="0" dirty="0">
                <a:solidFill>
                  <a:srgbClr val="444444"/>
                </a:solidFill>
                <a:effectLst/>
                <a:latin typeface="Helvetica Neue"/>
              </a:rPr>
              <a:t>旧用户</a:t>
            </a:r>
            <a:r>
              <a:rPr lang="en-US" altLang="zh-CN" sz="1400" b="0" i="0" dirty="0">
                <a:solidFill>
                  <a:srgbClr val="444444"/>
                </a:solidFill>
                <a:effectLst/>
                <a:latin typeface="Helvetica Neue"/>
              </a:rPr>
              <a:t>&gt;</a:t>
            </a:r>
            <a:r>
              <a:rPr lang="zh-CN" altLang="en-US" sz="1400" b="0" i="0" dirty="0">
                <a:solidFill>
                  <a:srgbClr val="444444"/>
                </a:solidFill>
                <a:effectLst/>
                <a:latin typeface="Helvetica Neue"/>
              </a:rPr>
              <a:t>：系统中已经存在的 </a:t>
            </a:r>
            <a:r>
              <a:rPr lang="en-US" altLang="zh-CN" sz="1400" b="0" i="0" dirty="0">
                <a:solidFill>
                  <a:srgbClr val="444444"/>
                </a:solidFill>
                <a:effectLst/>
                <a:latin typeface="Helvetica Neue"/>
              </a:rPr>
              <a:t>MySQL </a:t>
            </a:r>
            <a:r>
              <a:rPr lang="zh-CN" altLang="en-US" sz="1400" b="0" i="0" dirty="0">
                <a:solidFill>
                  <a:srgbClr val="444444"/>
                </a:solidFill>
                <a:effectLst/>
                <a:latin typeface="Helvetica Neue"/>
              </a:rPr>
              <a:t>用户账号。</a:t>
            </a:r>
            <a:r>
              <a:rPr lang="en-US" altLang="zh-CN" sz="1400" b="0" i="0" dirty="0">
                <a:solidFill>
                  <a:srgbClr val="444444"/>
                </a:solidFill>
                <a:effectLst/>
                <a:latin typeface="Helvetica Neue"/>
              </a:rPr>
              <a:t>&lt;</a:t>
            </a:r>
            <a:r>
              <a:rPr lang="zh-CN" altLang="en-US" sz="1400" b="0" i="0" dirty="0">
                <a:solidFill>
                  <a:srgbClr val="444444"/>
                </a:solidFill>
                <a:effectLst/>
                <a:latin typeface="Helvetica Neue"/>
              </a:rPr>
              <a:t>新用户</a:t>
            </a:r>
            <a:r>
              <a:rPr lang="en-US" altLang="zh-CN" sz="1400" b="0" i="0" dirty="0">
                <a:solidFill>
                  <a:srgbClr val="444444"/>
                </a:solidFill>
                <a:effectLst/>
                <a:latin typeface="Helvetica Neue"/>
              </a:rPr>
              <a:t>&gt;</a:t>
            </a:r>
            <a:r>
              <a:rPr lang="zh-CN" altLang="en-US" sz="1400" b="0" i="0" dirty="0">
                <a:solidFill>
                  <a:srgbClr val="444444"/>
                </a:solidFill>
                <a:effectLst/>
                <a:latin typeface="Helvetica Neue"/>
              </a:rPr>
              <a:t>：新的 </a:t>
            </a:r>
            <a:r>
              <a:rPr lang="en-US" altLang="zh-CN" sz="1400" b="0" i="0" dirty="0">
                <a:solidFill>
                  <a:srgbClr val="444444"/>
                </a:solidFill>
                <a:effectLst/>
                <a:latin typeface="Helvetica Neue"/>
              </a:rPr>
              <a:t>MySQL </a:t>
            </a:r>
            <a:r>
              <a:rPr lang="zh-CN" altLang="en-US" sz="1400" b="0" i="0" dirty="0">
                <a:solidFill>
                  <a:srgbClr val="444444"/>
                </a:solidFill>
                <a:effectLst/>
                <a:latin typeface="Helvetica Neue"/>
              </a:rPr>
              <a:t>用户账号。</a:t>
            </a:r>
          </a:p>
          <a:p>
            <a:endParaRPr lang="zh-CN" altLang="en-US" sz="1800" b="0" i="0" dirty="0">
              <a:solidFill>
                <a:srgbClr val="444444"/>
              </a:solidFill>
              <a:effectLst/>
              <a:latin typeface="Helvetica Neue"/>
            </a:endParaRPr>
          </a:p>
          <a:p>
            <a:r>
              <a:rPr lang="zh-CN" altLang="en-US" sz="1800" b="0" i="0" dirty="0">
                <a:solidFill>
                  <a:srgbClr val="444444"/>
                </a:solidFill>
                <a:effectLst/>
                <a:latin typeface="Helvetica Neue"/>
              </a:rPr>
              <a:t>使用 </a:t>
            </a:r>
            <a:r>
              <a:rPr lang="en-US" altLang="zh-CN" sz="1800" b="0" i="0" dirty="0">
                <a:solidFill>
                  <a:srgbClr val="444444"/>
                </a:solidFill>
                <a:effectLst/>
                <a:latin typeface="Helvetica Neue"/>
              </a:rPr>
              <a:t>RENAME USER </a:t>
            </a:r>
            <a:r>
              <a:rPr lang="zh-CN" altLang="en-US" sz="1800" b="0" i="0" dirty="0">
                <a:solidFill>
                  <a:srgbClr val="444444"/>
                </a:solidFill>
                <a:effectLst/>
                <a:latin typeface="Helvetica Neue"/>
              </a:rPr>
              <a:t>语句时应注意以下几点：</a:t>
            </a:r>
          </a:p>
          <a:p>
            <a:pPr lvl="1"/>
            <a:r>
              <a:rPr lang="en-US" altLang="zh-CN" sz="1400" b="0" i="0" dirty="0">
                <a:solidFill>
                  <a:srgbClr val="444444"/>
                </a:solidFill>
                <a:effectLst/>
                <a:latin typeface="Helvetica Neue"/>
              </a:rPr>
              <a:t>RENAME USER </a:t>
            </a:r>
            <a:r>
              <a:rPr lang="zh-CN" altLang="en-US" sz="1400" b="0" i="0" dirty="0">
                <a:solidFill>
                  <a:srgbClr val="444444"/>
                </a:solidFill>
                <a:effectLst/>
                <a:latin typeface="Helvetica Neue"/>
              </a:rPr>
              <a:t>语句用于对原有的 </a:t>
            </a:r>
            <a:r>
              <a:rPr lang="en-US" altLang="zh-CN" sz="1400" b="0" i="0" dirty="0">
                <a:solidFill>
                  <a:srgbClr val="444444"/>
                </a:solidFill>
                <a:effectLst/>
                <a:latin typeface="Helvetica Neue"/>
              </a:rPr>
              <a:t>MySQL </a:t>
            </a:r>
            <a:r>
              <a:rPr lang="zh-CN" altLang="en-US" sz="1400" b="0" i="0" dirty="0">
                <a:solidFill>
                  <a:srgbClr val="444444"/>
                </a:solidFill>
                <a:effectLst/>
                <a:latin typeface="Helvetica Neue"/>
              </a:rPr>
              <a:t>用户进行重命名。</a:t>
            </a:r>
          </a:p>
          <a:p>
            <a:pPr lvl="1"/>
            <a:r>
              <a:rPr lang="zh-CN" altLang="en-US" sz="1400" b="0" i="0" dirty="0">
                <a:solidFill>
                  <a:srgbClr val="444444"/>
                </a:solidFill>
                <a:effectLst/>
                <a:latin typeface="Helvetica Neue"/>
              </a:rPr>
              <a:t>若系统中旧账户不存在或者新账户已存在，该语句执行时会出现错误。</a:t>
            </a:r>
          </a:p>
          <a:p>
            <a:pPr lvl="1"/>
            <a:r>
              <a:rPr lang="zh-CN" altLang="en-US" sz="1400" b="0" i="0" dirty="0">
                <a:solidFill>
                  <a:srgbClr val="444444"/>
                </a:solidFill>
                <a:effectLst/>
                <a:latin typeface="Helvetica Neue"/>
              </a:rPr>
              <a:t>使用 </a:t>
            </a:r>
            <a:r>
              <a:rPr lang="en-US" altLang="zh-CN" sz="1400" b="0" i="0" dirty="0">
                <a:solidFill>
                  <a:srgbClr val="444444"/>
                </a:solidFill>
                <a:effectLst/>
                <a:latin typeface="Helvetica Neue"/>
              </a:rPr>
              <a:t>RENAME USER </a:t>
            </a:r>
            <a:r>
              <a:rPr lang="zh-CN" altLang="en-US" sz="1400" b="0" i="0" dirty="0">
                <a:solidFill>
                  <a:srgbClr val="444444"/>
                </a:solidFill>
                <a:effectLst/>
                <a:latin typeface="Helvetica Neue"/>
              </a:rPr>
              <a:t>语句，必须拥有 </a:t>
            </a:r>
            <a:r>
              <a:rPr lang="en-US" altLang="zh-CN" sz="1400" b="0" i="0" dirty="0" err="1">
                <a:solidFill>
                  <a:srgbClr val="444444"/>
                </a:solidFill>
                <a:effectLst/>
                <a:latin typeface="Helvetica Neue"/>
              </a:rPr>
              <a:t>mysql</a:t>
            </a:r>
            <a:r>
              <a:rPr lang="en-US" altLang="zh-CN" sz="1400" b="0" i="0" dirty="0">
                <a:solidFill>
                  <a:srgbClr val="444444"/>
                </a:solidFill>
                <a:effectLst/>
                <a:latin typeface="Helvetica Neue"/>
              </a:rPr>
              <a:t> </a:t>
            </a:r>
            <a:r>
              <a:rPr lang="zh-CN" altLang="en-US" sz="1400" b="0" i="0" dirty="0">
                <a:solidFill>
                  <a:srgbClr val="444444"/>
                </a:solidFill>
                <a:effectLst/>
                <a:latin typeface="Helvetica Neue"/>
              </a:rPr>
              <a:t>数据库的 </a:t>
            </a:r>
            <a:r>
              <a:rPr lang="en-US" altLang="zh-CN" sz="1400" b="0" i="0" dirty="0">
                <a:solidFill>
                  <a:srgbClr val="444444"/>
                </a:solidFill>
                <a:effectLst/>
                <a:latin typeface="Helvetica Neue"/>
              </a:rPr>
              <a:t>UPDATE </a:t>
            </a:r>
            <a:r>
              <a:rPr lang="zh-CN" altLang="en-US" sz="1400" b="0" i="0" dirty="0">
                <a:solidFill>
                  <a:srgbClr val="444444"/>
                </a:solidFill>
                <a:effectLst/>
                <a:latin typeface="Helvetica Neue"/>
              </a:rPr>
              <a:t>权限或全局 </a:t>
            </a:r>
            <a:r>
              <a:rPr lang="en-US" altLang="zh-CN" sz="1400" b="0" i="0" dirty="0">
                <a:solidFill>
                  <a:srgbClr val="444444"/>
                </a:solidFill>
                <a:effectLst/>
                <a:latin typeface="Helvetica Neue"/>
              </a:rPr>
              <a:t>CREATE USER </a:t>
            </a:r>
            <a:r>
              <a:rPr lang="zh-CN" altLang="en-US" sz="1400" b="0" i="0" dirty="0">
                <a:solidFill>
                  <a:srgbClr val="444444"/>
                </a:solidFill>
                <a:effectLst/>
                <a:latin typeface="Helvetica Neue"/>
              </a:rPr>
              <a:t>权限</a:t>
            </a:r>
            <a:endParaRPr lang="en-US" altLang="zh-CN" sz="1400" b="0" i="0" dirty="0">
              <a:solidFill>
                <a:srgbClr val="444444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78535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FF146B-3FA2-41F8-A999-A212E6093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删除用户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A6ECA3A2-BBAB-4525-A275-1F85FFBC0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987574"/>
            <a:ext cx="7488832" cy="3384376"/>
          </a:xfrm>
        </p:spPr>
        <p:txBody>
          <a:bodyPr>
            <a:normAutofit/>
          </a:bodyPr>
          <a:lstStyle/>
          <a:p>
            <a:r>
              <a:rPr lang="en-US" altLang="zh-CN" sz="1800" b="0" i="0" dirty="0">
                <a:solidFill>
                  <a:srgbClr val="444444"/>
                </a:solidFill>
                <a:effectLst/>
                <a:latin typeface="Helvetica Neue"/>
              </a:rPr>
              <a:t>DROP USER &lt;</a:t>
            </a:r>
            <a:r>
              <a:rPr lang="zh-CN" altLang="en-US" sz="1800" b="0" i="0" dirty="0">
                <a:solidFill>
                  <a:srgbClr val="444444"/>
                </a:solidFill>
                <a:effectLst/>
                <a:latin typeface="Helvetica Neue"/>
              </a:rPr>
              <a:t>用户</a:t>
            </a:r>
            <a:r>
              <a:rPr lang="en-US" altLang="zh-CN" sz="1800" b="0" i="0" dirty="0">
                <a:solidFill>
                  <a:srgbClr val="444444"/>
                </a:solidFill>
                <a:effectLst/>
                <a:latin typeface="Helvetica Neue"/>
              </a:rPr>
              <a:t>1&gt; [ , &lt;</a:t>
            </a:r>
            <a:r>
              <a:rPr lang="zh-CN" altLang="en-US" sz="1800" b="0" i="0" dirty="0">
                <a:solidFill>
                  <a:srgbClr val="444444"/>
                </a:solidFill>
                <a:effectLst/>
                <a:latin typeface="Helvetica Neue"/>
              </a:rPr>
              <a:t>用户</a:t>
            </a:r>
            <a:r>
              <a:rPr lang="en-US" altLang="zh-CN" sz="1800" b="0" i="0" dirty="0">
                <a:solidFill>
                  <a:srgbClr val="444444"/>
                </a:solidFill>
                <a:effectLst/>
                <a:latin typeface="Helvetica Neue"/>
              </a:rPr>
              <a:t>2&gt; ]…</a:t>
            </a:r>
          </a:p>
          <a:p>
            <a:pPr lvl="1"/>
            <a:r>
              <a:rPr lang="zh-CN" altLang="en-US" sz="1400" b="0" i="0" dirty="0">
                <a:solidFill>
                  <a:srgbClr val="444444"/>
                </a:solidFill>
                <a:effectLst/>
                <a:latin typeface="Helvetica Neue"/>
              </a:rPr>
              <a:t>其中，用户用来指定需要删除的用户账号。</a:t>
            </a:r>
          </a:p>
          <a:p>
            <a:endParaRPr lang="zh-CN" altLang="en-US" sz="1800" b="0" i="0" dirty="0">
              <a:solidFill>
                <a:srgbClr val="444444"/>
              </a:solidFill>
              <a:effectLst/>
              <a:latin typeface="Helvetica 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800" b="0" i="0" dirty="0">
                <a:solidFill>
                  <a:srgbClr val="444444"/>
                </a:solidFill>
                <a:effectLst/>
                <a:latin typeface="Helvetica Neue"/>
              </a:rPr>
              <a:t>使用 </a:t>
            </a:r>
            <a:r>
              <a:rPr lang="en-US" altLang="zh-CN" sz="1800" b="0" i="0" dirty="0">
                <a:solidFill>
                  <a:srgbClr val="444444"/>
                </a:solidFill>
                <a:effectLst/>
                <a:latin typeface="Helvetica Neue"/>
              </a:rPr>
              <a:t>DROP USER </a:t>
            </a:r>
            <a:r>
              <a:rPr lang="zh-CN" altLang="en-US" sz="1800" b="0" i="0" dirty="0">
                <a:solidFill>
                  <a:srgbClr val="444444"/>
                </a:solidFill>
                <a:effectLst/>
                <a:latin typeface="Helvetica Neue"/>
              </a:rPr>
              <a:t>语句应注意以下几点：</a:t>
            </a:r>
            <a:endParaRPr lang="en-US" altLang="zh-CN" sz="1400" b="0" i="0" dirty="0">
              <a:solidFill>
                <a:srgbClr val="444444"/>
              </a:solidFill>
              <a:effectLst/>
              <a:latin typeface="Helvetica Neue"/>
            </a:endParaRPr>
          </a:p>
          <a:p>
            <a:pPr lvl="1">
              <a:buFont typeface="Arial" panose="020B0604020202020204" pitchFamily="34" charset="0"/>
              <a:buChar char="–"/>
            </a:pPr>
            <a:r>
              <a:rPr lang="en-US" altLang="zh-CN" sz="1400" dirty="0">
                <a:solidFill>
                  <a:srgbClr val="444444"/>
                </a:solidFill>
                <a:latin typeface="Helvetica Neue"/>
              </a:rPr>
              <a:t>DROP USER </a:t>
            </a:r>
            <a:r>
              <a:rPr lang="zh-CN" altLang="en-US" sz="1400" dirty="0">
                <a:solidFill>
                  <a:srgbClr val="444444"/>
                </a:solidFill>
                <a:latin typeface="Helvetica Neue"/>
              </a:rPr>
              <a:t>语句可用于删除一个或多个用户，并撤销其权限。</a:t>
            </a:r>
          </a:p>
          <a:p>
            <a:pPr lvl="1">
              <a:buFont typeface="Arial" panose="020B0604020202020204" pitchFamily="34" charset="0"/>
              <a:buChar char="–"/>
            </a:pPr>
            <a:r>
              <a:rPr lang="zh-CN" altLang="en-US" sz="1400" dirty="0">
                <a:solidFill>
                  <a:srgbClr val="444444"/>
                </a:solidFill>
                <a:latin typeface="Helvetica Neue"/>
              </a:rPr>
              <a:t>使用 </a:t>
            </a:r>
            <a:r>
              <a:rPr lang="en-US" altLang="zh-CN" sz="1400" dirty="0">
                <a:solidFill>
                  <a:srgbClr val="444444"/>
                </a:solidFill>
                <a:latin typeface="Helvetica Neue"/>
              </a:rPr>
              <a:t>DROP USER </a:t>
            </a:r>
            <a:r>
              <a:rPr lang="zh-CN" altLang="en-US" sz="1400" dirty="0">
                <a:solidFill>
                  <a:srgbClr val="444444"/>
                </a:solidFill>
                <a:latin typeface="Helvetica Neue"/>
              </a:rPr>
              <a:t>语句必须拥有 </a:t>
            </a:r>
            <a:r>
              <a:rPr lang="en-US" altLang="zh-CN" sz="1400" dirty="0" err="1">
                <a:solidFill>
                  <a:srgbClr val="444444"/>
                </a:solidFill>
                <a:latin typeface="Helvetica Neue"/>
              </a:rPr>
              <a:t>mysql</a:t>
            </a:r>
            <a:r>
              <a:rPr lang="en-US" altLang="zh-CN" sz="1400" dirty="0">
                <a:solidFill>
                  <a:srgbClr val="444444"/>
                </a:solidFill>
                <a:latin typeface="Helvetica Neue"/>
              </a:rPr>
              <a:t> </a:t>
            </a:r>
            <a:r>
              <a:rPr lang="zh-CN" altLang="en-US" sz="1400" dirty="0">
                <a:solidFill>
                  <a:srgbClr val="444444"/>
                </a:solidFill>
                <a:latin typeface="Helvetica Neue"/>
              </a:rPr>
              <a:t>数据库的 </a:t>
            </a:r>
            <a:r>
              <a:rPr lang="en-US" altLang="zh-CN" sz="1400" dirty="0">
                <a:solidFill>
                  <a:srgbClr val="444444"/>
                </a:solidFill>
                <a:latin typeface="Helvetica Neue"/>
              </a:rPr>
              <a:t>DELETE </a:t>
            </a:r>
            <a:r>
              <a:rPr lang="zh-CN" altLang="en-US" sz="1400" dirty="0">
                <a:solidFill>
                  <a:srgbClr val="444444"/>
                </a:solidFill>
                <a:latin typeface="Helvetica Neue"/>
              </a:rPr>
              <a:t>权限或全局 </a:t>
            </a:r>
            <a:r>
              <a:rPr lang="en-US" altLang="zh-CN" sz="1400" dirty="0">
                <a:solidFill>
                  <a:srgbClr val="444444"/>
                </a:solidFill>
                <a:latin typeface="Helvetica Neue"/>
              </a:rPr>
              <a:t>CREATE USER </a:t>
            </a:r>
            <a:r>
              <a:rPr lang="zh-CN" altLang="en-US" sz="1400" dirty="0">
                <a:solidFill>
                  <a:srgbClr val="444444"/>
                </a:solidFill>
                <a:latin typeface="Helvetica Neue"/>
              </a:rPr>
              <a:t>权限。</a:t>
            </a:r>
          </a:p>
          <a:p>
            <a:pPr lvl="1">
              <a:buFont typeface="Arial" panose="020B0604020202020204" pitchFamily="34" charset="0"/>
              <a:buChar char="–"/>
            </a:pPr>
            <a:r>
              <a:rPr lang="zh-CN" altLang="en-US" sz="1400" dirty="0">
                <a:solidFill>
                  <a:srgbClr val="444444"/>
                </a:solidFill>
                <a:latin typeface="Helvetica Neue"/>
              </a:rPr>
              <a:t>在 </a:t>
            </a:r>
            <a:r>
              <a:rPr lang="en-US" altLang="zh-CN" sz="1400" dirty="0">
                <a:solidFill>
                  <a:srgbClr val="444444"/>
                </a:solidFill>
                <a:latin typeface="Helvetica Neue"/>
              </a:rPr>
              <a:t>DROP USER </a:t>
            </a:r>
            <a:r>
              <a:rPr lang="zh-CN" altLang="en-US" sz="1400" dirty="0">
                <a:solidFill>
                  <a:srgbClr val="444444"/>
                </a:solidFill>
                <a:latin typeface="Helvetica Neue"/>
              </a:rPr>
              <a:t>语句的使用中，若没有明确地给出账户的主机名，则该主机名默认为“</a:t>
            </a:r>
            <a:r>
              <a:rPr lang="en-US" altLang="zh-CN" sz="1400" dirty="0">
                <a:solidFill>
                  <a:srgbClr val="444444"/>
                </a:solidFill>
                <a:latin typeface="Helvetica Neue"/>
              </a:rPr>
              <a:t>%”</a:t>
            </a:r>
            <a:r>
              <a:rPr lang="zh-CN" altLang="en-US" sz="1400" dirty="0">
                <a:solidFill>
                  <a:srgbClr val="444444"/>
                </a:solidFill>
                <a:latin typeface="Helvetica Neue"/>
              </a:rPr>
              <a:t>。</a:t>
            </a:r>
          </a:p>
          <a:p>
            <a:endParaRPr lang="en-US" altLang="zh-CN" sz="1400" b="0" i="0" dirty="0">
              <a:solidFill>
                <a:srgbClr val="444444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507666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FF146B-3FA2-41F8-A999-A212E6093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用户授权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A6ECA3A2-BBAB-4525-A275-1F85FFBC0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987574"/>
            <a:ext cx="7488832" cy="338437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sz="1800" b="0" i="0" dirty="0">
                <a:solidFill>
                  <a:srgbClr val="444444"/>
                </a:solidFill>
                <a:effectLst/>
                <a:latin typeface="Helvetica Neue"/>
              </a:rPr>
              <a:t>授权就是为某个用户赋予某些权限。例如，可以为新建的用户赋予查询所有数据库和表的权限。</a:t>
            </a:r>
            <a:r>
              <a:rPr lang="en-US" altLang="zh-CN" sz="1800" b="0" i="0" dirty="0">
                <a:solidFill>
                  <a:srgbClr val="444444"/>
                </a:solidFill>
                <a:effectLst/>
                <a:latin typeface="Helvetica Neue"/>
              </a:rPr>
              <a:t>MySQL </a:t>
            </a:r>
            <a:r>
              <a:rPr lang="zh-CN" altLang="en-US" sz="1800" b="0" i="0" dirty="0">
                <a:solidFill>
                  <a:srgbClr val="444444"/>
                </a:solidFill>
                <a:effectLst/>
                <a:latin typeface="Helvetica Neue"/>
              </a:rPr>
              <a:t>提供了 </a:t>
            </a:r>
            <a:r>
              <a:rPr lang="en-US" altLang="zh-CN" sz="1800" b="0" i="0" dirty="0">
                <a:solidFill>
                  <a:srgbClr val="444444"/>
                </a:solidFill>
                <a:effectLst/>
                <a:latin typeface="Helvetica Neue"/>
              </a:rPr>
              <a:t>GRANT </a:t>
            </a:r>
            <a:r>
              <a:rPr lang="zh-CN" altLang="en-US" sz="1800" b="0" i="0" dirty="0">
                <a:solidFill>
                  <a:srgbClr val="444444"/>
                </a:solidFill>
                <a:effectLst/>
                <a:latin typeface="Helvetica Neue"/>
              </a:rPr>
              <a:t>语句来为用户设置权限。</a:t>
            </a:r>
            <a:endParaRPr lang="en-US" altLang="zh-CN" sz="1800" b="0" i="0" dirty="0">
              <a:solidFill>
                <a:srgbClr val="444444"/>
              </a:solidFill>
              <a:effectLst/>
              <a:latin typeface="Helvetica Neue"/>
            </a:endParaRP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1400" b="0" i="0" dirty="0">
                <a:solidFill>
                  <a:srgbClr val="444444"/>
                </a:solidFill>
                <a:effectLst/>
                <a:latin typeface="Helvetica Neue"/>
              </a:rPr>
              <a:t>GRANT </a:t>
            </a:r>
            <a:r>
              <a:rPr lang="en-US" altLang="zh-CN" sz="1400" b="0" i="0" dirty="0" err="1">
                <a:solidFill>
                  <a:srgbClr val="444444"/>
                </a:solidFill>
                <a:effectLst/>
                <a:latin typeface="Helvetica Neue"/>
              </a:rPr>
              <a:t>priv_type</a:t>
            </a:r>
            <a:r>
              <a:rPr lang="en-US" altLang="zh-CN" sz="1400" b="0" i="0" dirty="0">
                <a:solidFill>
                  <a:srgbClr val="444444"/>
                </a:solidFill>
                <a:effectLst/>
                <a:latin typeface="Helvetica Neue"/>
              </a:rPr>
              <a:t> [(</a:t>
            </a:r>
            <a:r>
              <a:rPr lang="en-US" altLang="zh-CN" sz="1400" b="0" i="0" dirty="0" err="1">
                <a:solidFill>
                  <a:srgbClr val="444444"/>
                </a:solidFill>
                <a:effectLst/>
                <a:latin typeface="Helvetica Neue"/>
              </a:rPr>
              <a:t>column_list</a:t>
            </a:r>
            <a:r>
              <a:rPr lang="en-US" altLang="zh-CN" sz="1400" b="0" i="0" dirty="0">
                <a:solidFill>
                  <a:srgbClr val="444444"/>
                </a:solidFill>
                <a:effectLst/>
                <a:latin typeface="Helvetica Neue"/>
              </a:rPr>
              <a:t>)] ON </a:t>
            </a:r>
            <a:r>
              <a:rPr lang="en-US" altLang="zh-CN" sz="1400" b="0" i="0" dirty="0" err="1">
                <a:solidFill>
                  <a:srgbClr val="444444"/>
                </a:solidFill>
                <a:effectLst/>
                <a:latin typeface="Helvetica Neue"/>
              </a:rPr>
              <a:t>database.table</a:t>
            </a:r>
            <a:endParaRPr lang="en-US" altLang="zh-CN" sz="1400" b="0" i="0" dirty="0">
              <a:solidFill>
                <a:srgbClr val="444444"/>
              </a:solidFill>
              <a:effectLst/>
              <a:latin typeface="Helvetica Neue"/>
            </a:endParaRP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1400" b="0" i="0" dirty="0">
                <a:solidFill>
                  <a:srgbClr val="444444"/>
                </a:solidFill>
                <a:effectLst/>
                <a:latin typeface="Helvetica Neue"/>
              </a:rPr>
              <a:t>TO user </a:t>
            </a:r>
            <a:r>
              <a:rPr lang="en-US" altLang="zh-CN" sz="1400" b="0" i="0" u="sng" dirty="0">
                <a:solidFill>
                  <a:srgbClr val="444444"/>
                </a:solidFill>
                <a:effectLst/>
                <a:latin typeface="Helvetica Neue"/>
              </a:rPr>
              <a:t>[IDENTIFIED BY [PASSWORD] 'password']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1400" b="0" i="0" u="sng" dirty="0">
                <a:solidFill>
                  <a:srgbClr val="444444"/>
                </a:solidFill>
                <a:effectLst/>
                <a:latin typeface="Helvetica Neue"/>
              </a:rPr>
              <a:t>[, user[IDENTIFIED BY [PASSWORD] 'password']] ...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1400" b="0" i="0" u="sng" dirty="0">
                <a:solidFill>
                  <a:srgbClr val="444444"/>
                </a:solidFill>
                <a:effectLst/>
                <a:latin typeface="Helvetica Neue"/>
              </a:rPr>
              <a:t>[WITH </a:t>
            </a:r>
            <a:r>
              <a:rPr lang="en-US" altLang="zh-CN" sz="1400" b="0" i="0" u="sng" dirty="0" err="1">
                <a:solidFill>
                  <a:srgbClr val="444444"/>
                </a:solidFill>
                <a:effectLst/>
                <a:latin typeface="Helvetica Neue"/>
              </a:rPr>
              <a:t>with_option</a:t>
            </a:r>
            <a:r>
              <a:rPr lang="en-US" altLang="zh-CN" sz="1400" b="0" i="0" u="sng" dirty="0">
                <a:solidFill>
                  <a:srgbClr val="444444"/>
                </a:solidFill>
                <a:effectLst/>
                <a:latin typeface="Helvetica Neue"/>
              </a:rPr>
              <a:t> [</a:t>
            </a:r>
            <a:r>
              <a:rPr lang="en-US" altLang="zh-CN" sz="1400" b="0" i="0" u="sng" dirty="0" err="1">
                <a:solidFill>
                  <a:srgbClr val="444444"/>
                </a:solidFill>
                <a:effectLst/>
                <a:latin typeface="Helvetica Neue"/>
              </a:rPr>
              <a:t>with_option</a:t>
            </a:r>
            <a:r>
              <a:rPr lang="en-US" altLang="zh-CN" sz="1400" b="0" i="0" u="sng" dirty="0">
                <a:solidFill>
                  <a:srgbClr val="444444"/>
                </a:solidFill>
                <a:effectLst/>
                <a:latin typeface="Helvetica Neue"/>
              </a:rPr>
              <a:t>]...]</a:t>
            </a:r>
          </a:p>
          <a:p>
            <a:pPr lvl="1">
              <a:lnSpc>
                <a:spcPct val="120000"/>
              </a:lnSpc>
            </a:pPr>
            <a:endParaRPr lang="zh-CN" altLang="en-US" sz="1800" b="0" i="0" dirty="0">
              <a:solidFill>
                <a:srgbClr val="444444"/>
              </a:solidFill>
              <a:effectLst/>
              <a:latin typeface="Helvetica Neue"/>
            </a:endParaRP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b="0" i="0" dirty="0" err="1">
                <a:solidFill>
                  <a:srgbClr val="444444"/>
                </a:solidFill>
                <a:effectLst/>
                <a:latin typeface="Helvetica Neue"/>
              </a:rPr>
              <a:t>priv_type</a:t>
            </a:r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 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参数表示权限类型；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b="0" i="0" dirty="0" err="1">
                <a:solidFill>
                  <a:srgbClr val="444444"/>
                </a:solidFill>
                <a:effectLst/>
                <a:latin typeface="Helvetica Neue"/>
              </a:rPr>
              <a:t>columns_list</a:t>
            </a:r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 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参数表示权限作用于哪些列上，省略该参数时，表示作用于整个表；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b="0" i="0" dirty="0" err="1">
                <a:solidFill>
                  <a:srgbClr val="444444"/>
                </a:solidFill>
                <a:effectLst/>
                <a:latin typeface="Helvetica Neue"/>
              </a:rPr>
              <a:t>database.table</a:t>
            </a:r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 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用于指定权限的级别；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user 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参数表示用户账户，由用户名和主机名构成，格式是“</a:t>
            </a:r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'</a:t>
            </a:r>
            <a:r>
              <a:rPr lang="en-US" altLang="zh-CN" sz="1600" b="0" i="0" dirty="0" err="1">
                <a:solidFill>
                  <a:srgbClr val="444444"/>
                </a:solidFill>
                <a:effectLst/>
                <a:latin typeface="Helvetica Neue"/>
              </a:rPr>
              <a:t>username'@'hostname</a:t>
            </a:r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'”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；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IDENTIFIED BY 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参数用来为用户设置密码；</a:t>
            </a:r>
          </a:p>
          <a:p>
            <a:pPr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b="0" i="0" dirty="0">
                <a:solidFill>
                  <a:srgbClr val="444444"/>
                </a:solidFill>
                <a:effectLst/>
                <a:latin typeface="Helvetica Neue"/>
              </a:rPr>
              <a:t>password 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参数是用户的新密码。</a:t>
            </a:r>
            <a:endParaRPr lang="zh-CN" altLang="en-US" sz="1400" dirty="0">
              <a:solidFill>
                <a:srgbClr val="444444"/>
              </a:solidFill>
              <a:latin typeface="Helvetica Neue"/>
            </a:endParaRPr>
          </a:p>
          <a:p>
            <a:pPr>
              <a:lnSpc>
                <a:spcPct val="120000"/>
              </a:lnSpc>
            </a:pPr>
            <a:endParaRPr lang="en-US" altLang="zh-CN" sz="1400" b="0" i="0" dirty="0">
              <a:solidFill>
                <a:srgbClr val="444444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25698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FF146B-3FA2-41F8-A999-A212E6093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用户授权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A6ECA3A2-BBAB-4525-A275-1F85FFBC0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987574"/>
            <a:ext cx="7488832" cy="3384376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CN" sz="1600" b="0" i="0" dirty="0">
                <a:solidFill>
                  <a:srgbClr val="B22222"/>
                </a:solidFill>
                <a:effectLst/>
                <a:latin typeface="Helvetica Neue"/>
              </a:rPr>
              <a:t>MySQL </a:t>
            </a:r>
            <a:r>
              <a:rPr lang="zh-CN" altLang="en-US" sz="1600" b="0" i="0" dirty="0">
                <a:solidFill>
                  <a:srgbClr val="B22222"/>
                </a:solidFill>
                <a:effectLst/>
                <a:latin typeface="Helvetica Neue"/>
              </a:rPr>
              <a:t>中可以授予的权限</a:t>
            </a:r>
            <a:r>
              <a:rPr lang="zh-CN" altLang="en-US" sz="1600" b="0" i="0" dirty="0">
                <a:solidFill>
                  <a:srgbClr val="444444"/>
                </a:solidFill>
                <a:effectLst/>
                <a:latin typeface="Helvetica Neue"/>
              </a:rPr>
              <a:t>有如下几组：</a:t>
            </a:r>
            <a:endParaRPr lang="en-US" altLang="zh-CN" sz="1600" b="0" i="0" dirty="0">
              <a:solidFill>
                <a:srgbClr val="444444"/>
              </a:solidFill>
              <a:effectLst/>
              <a:latin typeface="Helvetica Neue"/>
            </a:endParaRPr>
          </a:p>
          <a:p>
            <a:pPr marL="457200" lvl="1" indent="0">
              <a:buNone/>
            </a:pPr>
            <a:r>
              <a:rPr lang="zh-CN" altLang="en-US" sz="1200" dirty="0">
                <a:solidFill>
                  <a:srgbClr val="444444"/>
                </a:solidFill>
                <a:latin typeface="Helvetica Neue"/>
              </a:rPr>
              <a:t>列权限，和表中的一个具体列相关。例如，可以使用 </a:t>
            </a:r>
            <a:r>
              <a:rPr lang="en-US" altLang="zh-CN" sz="1200" dirty="0">
                <a:solidFill>
                  <a:srgbClr val="444444"/>
                </a:solidFill>
                <a:latin typeface="Helvetica Neue"/>
              </a:rPr>
              <a:t>UPDATE </a:t>
            </a:r>
            <a:r>
              <a:rPr lang="zh-CN" altLang="en-US" sz="1200" dirty="0">
                <a:solidFill>
                  <a:srgbClr val="444444"/>
                </a:solidFill>
                <a:latin typeface="Helvetica Neue"/>
              </a:rPr>
              <a:t>语句更新表 </a:t>
            </a:r>
            <a:r>
              <a:rPr lang="en-US" altLang="zh-CN" sz="1200" dirty="0">
                <a:solidFill>
                  <a:srgbClr val="444444"/>
                </a:solidFill>
                <a:latin typeface="Helvetica Neue"/>
              </a:rPr>
              <a:t>students </a:t>
            </a:r>
            <a:r>
              <a:rPr lang="zh-CN" altLang="en-US" sz="1200" dirty="0">
                <a:solidFill>
                  <a:srgbClr val="444444"/>
                </a:solidFill>
                <a:latin typeface="Helvetica Neue"/>
              </a:rPr>
              <a:t>中 </a:t>
            </a:r>
            <a:r>
              <a:rPr lang="en-US" altLang="zh-CN" sz="1200" dirty="0">
                <a:solidFill>
                  <a:srgbClr val="444444"/>
                </a:solidFill>
                <a:latin typeface="Helvetica Neue"/>
              </a:rPr>
              <a:t>name </a:t>
            </a:r>
            <a:r>
              <a:rPr lang="zh-CN" altLang="en-US" sz="1200" dirty="0">
                <a:solidFill>
                  <a:srgbClr val="444444"/>
                </a:solidFill>
                <a:latin typeface="Helvetica Neue"/>
              </a:rPr>
              <a:t>列的值的权限。</a:t>
            </a:r>
          </a:p>
          <a:p>
            <a:pPr marL="457200" lvl="1" indent="0">
              <a:buNone/>
            </a:pPr>
            <a:r>
              <a:rPr lang="zh-CN" altLang="en-US" sz="1200" b="0" i="0" dirty="0">
                <a:solidFill>
                  <a:srgbClr val="444444"/>
                </a:solidFill>
                <a:effectLst/>
                <a:latin typeface="Helvetica Neue"/>
              </a:rPr>
              <a:t>表权限，和一个具体表中的所有数据相关。例如，可以使用 </a:t>
            </a:r>
            <a:r>
              <a:rPr lang="en-US" altLang="zh-CN" sz="1200" b="0" i="0" dirty="0">
                <a:solidFill>
                  <a:srgbClr val="444444"/>
                </a:solidFill>
                <a:effectLst/>
                <a:latin typeface="Helvetica Neue"/>
              </a:rPr>
              <a:t>SELECT </a:t>
            </a:r>
            <a:r>
              <a:rPr lang="zh-CN" altLang="en-US" sz="1200" b="0" i="0" dirty="0">
                <a:solidFill>
                  <a:srgbClr val="444444"/>
                </a:solidFill>
                <a:effectLst/>
                <a:latin typeface="Helvetica Neue"/>
              </a:rPr>
              <a:t>语句查询表 </a:t>
            </a:r>
            <a:r>
              <a:rPr lang="en-US" altLang="zh-CN" sz="1200" b="0" i="0" dirty="0">
                <a:solidFill>
                  <a:srgbClr val="444444"/>
                </a:solidFill>
                <a:effectLst/>
                <a:latin typeface="Helvetica Neue"/>
              </a:rPr>
              <a:t>students </a:t>
            </a:r>
            <a:r>
              <a:rPr lang="zh-CN" altLang="en-US" sz="1200" b="0" i="0" dirty="0">
                <a:solidFill>
                  <a:srgbClr val="444444"/>
                </a:solidFill>
                <a:effectLst/>
                <a:latin typeface="Helvetica Neue"/>
              </a:rPr>
              <a:t>的所有数据的权限。</a:t>
            </a:r>
          </a:p>
          <a:p>
            <a:pPr marL="457200" lvl="1" indent="0">
              <a:buNone/>
            </a:pPr>
            <a:r>
              <a:rPr lang="zh-CN" altLang="en-US" sz="1200" b="0" i="0" dirty="0">
                <a:solidFill>
                  <a:srgbClr val="444444"/>
                </a:solidFill>
                <a:effectLst/>
                <a:latin typeface="Helvetica Neue"/>
              </a:rPr>
              <a:t>数据库权限，和一个具体的数据库中的所有表相关。例如，可以在已有的数据库 </a:t>
            </a:r>
            <a:r>
              <a:rPr lang="en-US" altLang="zh-CN" sz="1200" b="0" i="0" dirty="0" err="1">
                <a:solidFill>
                  <a:srgbClr val="444444"/>
                </a:solidFill>
                <a:effectLst/>
                <a:latin typeface="Helvetica Neue"/>
              </a:rPr>
              <a:t>mytest</a:t>
            </a:r>
            <a:r>
              <a:rPr lang="en-US" altLang="zh-CN" sz="1200" b="0" i="0" dirty="0">
                <a:solidFill>
                  <a:srgbClr val="444444"/>
                </a:solidFill>
                <a:effectLst/>
                <a:latin typeface="Helvetica Neue"/>
              </a:rPr>
              <a:t> </a:t>
            </a:r>
            <a:r>
              <a:rPr lang="zh-CN" altLang="en-US" sz="1200" b="0" i="0" dirty="0">
                <a:solidFill>
                  <a:srgbClr val="444444"/>
                </a:solidFill>
                <a:effectLst/>
                <a:latin typeface="Helvetica Neue"/>
              </a:rPr>
              <a:t>中创建新表的权限。</a:t>
            </a:r>
          </a:p>
          <a:p>
            <a:pPr marL="457200" lvl="1" indent="0">
              <a:buNone/>
            </a:pPr>
            <a:r>
              <a:rPr lang="zh-CN" altLang="en-US" sz="1200" b="0" i="0" dirty="0">
                <a:solidFill>
                  <a:srgbClr val="444444"/>
                </a:solidFill>
                <a:effectLst/>
                <a:latin typeface="Helvetica Neue"/>
              </a:rPr>
              <a:t>用户权限，和 </a:t>
            </a:r>
            <a:r>
              <a:rPr lang="en-US" altLang="zh-CN" sz="1200" b="0" i="0" dirty="0">
                <a:solidFill>
                  <a:srgbClr val="444444"/>
                </a:solidFill>
                <a:effectLst/>
                <a:latin typeface="Helvetica Neue"/>
              </a:rPr>
              <a:t>MySQL </a:t>
            </a:r>
            <a:r>
              <a:rPr lang="zh-CN" altLang="en-US" sz="1200" b="0" i="0" dirty="0">
                <a:solidFill>
                  <a:srgbClr val="444444"/>
                </a:solidFill>
                <a:effectLst/>
                <a:latin typeface="Helvetica Neue"/>
              </a:rPr>
              <a:t>中所有的数据库相关。例如，可以删除已有的数据库或者创建一个新的数据库的权限。</a:t>
            </a:r>
            <a:endParaRPr lang="en-US" altLang="zh-CN" sz="1200" dirty="0">
              <a:solidFill>
                <a:srgbClr val="444444"/>
              </a:solidFill>
              <a:latin typeface="Helvetica 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400" b="1" i="0" dirty="0">
                <a:solidFill>
                  <a:srgbClr val="444444"/>
                </a:solidFill>
                <a:effectLst/>
                <a:latin typeface="Helvetica Neue"/>
              </a:rPr>
              <a:t>使用 </a:t>
            </a:r>
            <a:r>
              <a:rPr lang="en-US" altLang="zh-CN" sz="1400" b="1" i="0" dirty="0">
                <a:solidFill>
                  <a:srgbClr val="444444"/>
                </a:solidFill>
                <a:effectLst/>
                <a:latin typeface="Helvetica Neue"/>
              </a:rPr>
              <a:t>GRANT </a:t>
            </a:r>
            <a:r>
              <a:rPr lang="zh-CN" altLang="en-US" sz="1400" b="1" i="0" dirty="0">
                <a:solidFill>
                  <a:srgbClr val="444444"/>
                </a:solidFill>
                <a:effectLst/>
                <a:latin typeface="Helvetica Neue"/>
              </a:rPr>
              <a:t>语句创建一个新的用户 </a:t>
            </a:r>
            <a:r>
              <a:rPr lang="en-US" altLang="zh-CN" sz="1400" b="1" i="0" dirty="0" err="1">
                <a:solidFill>
                  <a:srgbClr val="444444"/>
                </a:solidFill>
                <a:effectLst/>
                <a:latin typeface="Helvetica Neue"/>
              </a:rPr>
              <a:t>testUser</a:t>
            </a:r>
            <a:r>
              <a:rPr lang="zh-CN" altLang="en-US" sz="1400" b="1" i="0" dirty="0">
                <a:solidFill>
                  <a:srgbClr val="444444"/>
                </a:solidFill>
                <a:effectLst/>
                <a:latin typeface="Helvetica Neue"/>
              </a:rPr>
              <a:t>，密码为 </a:t>
            </a:r>
            <a:r>
              <a:rPr lang="en-US" altLang="zh-CN" sz="1400" b="1" i="0" dirty="0" err="1">
                <a:solidFill>
                  <a:srgbClr val="444444"/>
                </a:solidFill>
                <a:effectLst/>
                <a:latin typeface="Helvetica Neue"/>
              </a:rPr>
              <a:t>testPwd</a:t>
            </a:r>
            <a:r>
              <a:rPr lang="zh-CN" altLang="en-US" sz="1400" b="1" i="0" dirty="0">
                <a:solidFill>
                  <a:srgbClr val="444444"/>
                </a:solidFill>
                <a:effectLst/>
                <a:latin typeface="Helvetica Neue"/>
              </a:rPr>
              <a:t>。用户 </a:t>
            </a:r>
            <a:r>
              <a:rPr lang="en-US" altLang="zh-CN" sz="1400" b="1" i="0" dirty="0" err="1">
                <a:solidFill>
                  <a:srgbClr val="444444"/>
                </a:solidFill>
                <a:effectLst/>
                <a:latin typeface="Helvetica Neue"/>
              </a:rPr>
              <a:t>testUser</a:t>
            </a:r>
            <a:r>
              <a:rPr lang="en-US" altLang="zh-CN" sz="1400" b="1" i="0" dirty="0">
                <a:solidFill>
                  <a:srgbClr val="444444"/>
                </a:solidFill>
                <a:effectLst/>
                <a:latin typeface="Helvetica Neue"/>
              </a:rPr>
              <a:t> </a:t>
            </a:r>
            <a:r>
              <a:rPr lang="zh-CN" altLang="en-US" sz="1400" b="1" i="0" dirty="0">
                <a:solidFill>
                  <a:srgbClr val="444444"/>
                </a:solidFill>
                <a:effectLst/>
                <a:latin typeface="Helvetica Neue"/>
              </a:rPr>
              <a:t>对所有的数据有查询、插入权限，并授予 </a:t>
            </a:r>
            <a:r>
              <a:rPr lang="en-US" altLang="zh-CN" sz="1400" b="1" i="0" dirty="0">
                <a:solidFill>
                  <a:srgbClr val="444444"/>
                </a:solidFill>
                <a:effectLst/>
                <a:latin typeface="Helvetica Neue"/>
              </a:rPr>
              <a:t>GRANT </a:t>
            </a:r>
            <a:r>
              <a:rPr lang="zh-CN" altLang="en-US" sz="1400" b="1" i="0" dirty="0">
                <a:solidFill>
                  <a:srgbClr val="444444"/>
                </a:solidFill>
                <a:effectLst/>
                <a:latin typeface="Helvetica Neue"/>
              </a:rPr>
              <a:t>权限。</a:t>
            </a:r>
            <a:r>
              <a:rPr lang="en-US" altLang="zh-CN" sz="1400" b="1" i="0" dirty="0">
                <a:solidFill>
                  <a:srgbClr val="444444"/>
                </a:solidFill>
                <a:effectLst/>
                <a:latin typeface="Helvetica Neue"/>
              </a:rPr>
              <a:t>SQL </a:t>
            </a:r>
            <a:r>
              <a:rPr lang="zh-CN" altLang="en-US" sz="1400" b="1" i="0" dirty="0">
                <a:solidFill>
                  <a:srgbClr val="444444"/>
                </a:solidFill>
                <a:effectLst/>
                <a:latin typeface="Helvetica Neue"/>
              </a:rPr>
              <a:t>语句和执行过程如下：</a:t>
            </a:r>
            <a:endParaRPr lang="en-US" altLang="zh-CN" sz="1400" b="1" i="0" dirty="0">
              <a:solidFill>
                <a:srgbClr val="444444"/>
              </a:solidFill>
              <a:effectLst/>
              <a:latin typeface="Helvetica Neue"/>
            </a:endParaRPr>
          </a:p>
          <a:p>
            <a:pPr marL="400050" lvl="1" indent="0">
              <a:buNone/>
            </a:pPr>
            <a:r>
              <a:rPr lang="en-US" altLang="zh-CN" sz="1200" b="0" i="0" dirty="0">
                <a:solidFill>
                  <a:srgbClr val="444444"/>
                </a:solidFill>
                <a:effectLst/>
                <a:latin typeface="Helvetica Neue"/>
              </a:rPr>
              <a:t>GRANT SELECT,INSERT ON *.*</a:t>
            </a:r>
          </a:p>
          <a:p>
            <a:pPr marL="400050" lvl="1" indent="0">
              <a:buNone/>
            </a:pPr>
            <a:r>
              <a:rPr lang="en-US" altLang="zh-CN" sz="1200" b="0" i="0" dirty="0">
                <a:solidFill>
                  <a:srgbClr val="444444"/>
                </a:solidFill>
                <a:effectLst/>
                <a:latin typeface="Helvetica Neue"/>
              </a:rPr>
              <a:t>    -&gt; TO '</a:t>
            </a:r>
            <a:r>
              <a:rPr lang="en-US" altLang="zh-CN" sz="1200" b="0" i="0" dirty="0" err="1">
                <a:solidFill>
                  <a:srgbClr val="444444"/>
                </a:solidFill>
                <a:effectLst/>
                <a:latin typeface="Helvetica Neue"/>
              </a:rPr>
              <a:t>testUser</a:t>
            </a:r>
            <a:r>
              <a:rPr lang="en-US" altLang="zh-CN" sz="1200" b="0" i="0" dirty="0">
                <a:solidFill>
                  <a:srgbClr val="444444"/>
                </a:solidFill>
                <a:effectLst/>
                <a:latin typeface="Helvetica Neue"/>
              </a:rPr>
              <a:t>'@'localhost'</a:t>
            </a:r>
          </a:p>
          <a:p>
            <a:pPr marL="400050" lvl="1" indent="0">
              <a:buNone/>
            </a:pPr>
            <a:r>
              <a:rPr lang="en-US" altLang="zh-CN" sz="1200" b="0" i="0" dirty="0">
                <a:solidFill>
                  <a:srgbClr val="444444"/>
                </a:solidFill>
                <a:effectLst/>
                <a:latin typeface="Helvetica Neue"/>
              </a:rPr>
              <a:t>    -&gt; IDENTIFIED BY '</a:t>
            </a:r>
            <a:r>
              <a:rPr lang="en-US" altLang="zh-CN" sz="1200" b="0" i="0" dirty="0" err="1">
                <a:solidFill>
                  <a:srgbClr val="444444"/>
                </a:solidFill>
                <a:effectLst/>
                <a:latin typeface="Helvetica Neue"/>
              </a:rPr>
              <a:t>testPwd</a:t>
            </a:r>
            <a:r>
              <a:rPr lang="en-US" altLang="zh-CN" sz="1200" b="0" i="0" dirty="0">
                <a:solidFill>
                  <a:srgbClr val="444444"/>
                </a:solidFill>
                <a:effectLst/>
                <a:latin typeface="Helvetica Neue"/>
              </a:rPr>
              <a:t>'</a:t>
            </a:r>
          </a:p>
          <a:p>
            <a:pPr marL="400050" lvl="1" indent="0">
              <a:buNone/>
            </a:pPr>
            <a:r>
              <a:rPr lang="en-US" altLang="zh-CN" sz="1200" b="0" i="0" dirty="0">
                <a:solidFill>
                  <a:srgbClr val="444444"/>
                </a:solidFill>
                <a:effectLst/>
                <a:latin typeface="Helvetica Neue"/>
              </a:rPr>
              <a:t>    -&gt; WITH GRANT OPTION;</a:t>
            </a:r>
            <a:endParaRPr lang="zh-CN" altLang="en-US" sz="1200" b="0" i="0" dirty="0">
              <a:solidFill>
                <a:srgbClr val="444444"/>
              </a:solidFill>
              <a:effectLst/>
              <a:latin typeface="Helvetica Neue"/>
            </a:endParaRPr>
          </a:p>
          <a:p>
            <a:pPr>
              <a:lnSpc>
                <a:spcPct val="120000"/>
              </a:lnSpc>
            </a:pPr>
            <a:endParaRPr lang="en-US" altLang="zh-CN" sz="1400" b="0" i="0" dirty="0">
              <a:solidFill>
                <a:srgbClr val="444444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02661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FF146B-3FA2-41F8-A999-A212E6093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删除授权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A6ECA3A2-BBAB-4525-A275-1F85FFBC0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987574"/>
            <a:ext cx="7488832" cy="3384376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effectLst/>
                <a:latin typeface="Helvetica Neue"/>
              </a:rPr>
              <a:t>在 </a:t>
            </a:r>
            <a:r>
              <a:rPr lang="en-US" altLang="zh-CN" sz="1600" b="0" i="0" dirty="0">
                <a:effectLst/>
                <a:latin typeface="Helvetica Neue"/>
              </a:rPr>
              <a:t>MySQL </a:t>
            </a:r>
            <a:r>
              <a:rPr lang="zh-CN" altLang="en-US" sz="1600" b="0" i="0" dirty="0">
                <a:effectLst/>
                <a:latin typeface="Helvetica Neue"/>
              </a:rPr>
              <a:t>中，可以使用 </a:t>
            </a:r>
            <a:r>
              <a:rPr lang="en-US" altLang="zh-CN" sz="1600" b="0" i="0" dirty="0">
                <a:effectLst/>
                <a:latin typeface="Helvetica Neue"/>
              </a:rPr>
              <a:t>REVOKE </a:t>
            </a:r>
            <a:r>
              <a:rPr lang="zh-CN" altLang="en-US" sz="1600" b="0" i="0" dirty="0">
                <a:effectLst/>
                <a:latin typeface="Helvetica Neue"/>
              </a:rPr>
              <a:t>语句删除某个用户的某些权限（此用户不会被删除），在一定程度上可以保证系统的安全性。例如，如果数据库管理员觉得某个用户不应该拥有 </a:t>
            </a:r>
            <a:r>
              <a:rPr lang="en-US" altLang="zh-CN" sz="1600" b="0" i="0" dirty="0">
                <a:effectLst/>
                <a:latin typeface="Helvetica Neue"/>
              </a:rPr>
              <a:t>DELETE </a:t>
            </a:r>
            <a:r>
              <a:rPr lang="zh-CN" altLang="en-US" sz="1600" b="0" i="0" dirty="0">
                <a:effectLst/>
                <a:latin typeface="Helvetica Neue"/>
              </a:rPr>
              <a:t>权限，那么就可以删除 </a:t>
            </a:r>
            <a:r>
              <a:rPr lang="en-US" altLang="zh-CN" sz="1600" b="0" i="0" dirty="0">
                <a:effectLst/>
                <a:latin typeface="Helvetica Neue"/>
              </a:rPr>
              <a:t>DELETE </a:t>
            </a:r>
            <a:r>
              <a:rPr lang="zh-CN" altLang="en-US" sz="1600" b="0" i="0" dirty="0">
                <a:effectLst/>
                <a:latin typeface="Helvetica Neue"/>
              </a:rPr>
              <a:t>权限。</a:t>
            </a:r>
            <a:endParaRPr lang="en-US" altLang="zh-CN" sz="1600" b="0" i="0" dirty="0">
              <a:effectLst/>
              <a:latin typeface="Helvetica 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effectLst/>
                <a:latin typeface="Helvetica Neue"/>
              </a:rPr>
              <a:t>删除用户某些特定的权限，语法格式如下：</a:t>
            </a:r>
            <a:endParaRPr lang="en-US" altLang="zh-CN" sz="1400" b="0" i="0" dirty="0">
              <a:effectLst/>
              <a:latin typeface="Helvetica Neue"/>
            </a:endParaRPr>
          </a:p>
          <a:p>
            <a:pPr marL="400050" lvl="1" indent="0">
              <a:buNone/>
            </a:pPr>
            <a:r>
              <a:rPr lang="en-US" altLang="zh-CN" sz="1200" b="0" i="0" dirty="0">
                <a:solidFill>
                  <a:srgbClr val="444444"/>
                </a:solidFill>
                <a:effectLst/>
              </a:rPr>
              <a:t>REVOKE </a:t>
            </a:r>
            <a:r>
              <a:rPr lang="en-US" altLang="zh-CN" sz="1200" b="0" i="0" dirty="0" err="1">
                <a:solidFill>
                  <a:srgbClr val="444444"/>
                </a:solidFill>
                <a:effectLst/>
              </a:rPr>
              <a:t>priv_type</a:t>
            </a:r>
            <a:r>
              <a:rPr lang="en-US" altLang="zh-CN" sz="1200" b="0" i="0" dirty="0">
                <a:solidFill>
                  <a:srgbClr val="444444"/>
                </a:solidFill>
                <a:effectLst/>
              </a:rPr>
              <a:t> [(</a:t>
            </a:r>
            <a:r>
              <a:rPr lang="en-US" altLang="zh-CN" sz="1200" b="0" i="0" dirty="0" err="1">
                <a:solidFill>
                  <a:srgbClr val="444444"/>
                </a:solidFill>
                <a:effectLst/>
              </a:rPr>
              <a:t>column_list</a:t>
            </a:r>
            <a:r>
              <a:rPr lang="en-US" altLang="zh-CN" sz="1200" b="0" i="0" dirty="0">
                <a:solidFill>
                  <a:srgbClr val="444444"/>
                </a:solidFill>
                <a:effectLst/>
              </a:rPr>
              <a:t>)]...</a:t>
            </a:r>
            <a:br>
              <a:rPr lang="en-US" altLang="zh-CN" sz="1200" dirty="0"/>
            </a:br>
            <a:r>
              <a:rPr lang="en-US" altLang="zh-CN" sz="1200" b="0" i="0" dirty="0">
                <a:solidFill>
                  <a:srgbClr val="444444"/>
                </a:solidFill>
                <a:effectLst/>
              </a:rPr>
              <a:t>ON </a:t>
            </a:r>
            <a:r>
              <a:rPr lang="en-US" altLang="zh-CN" sz="1200" b="0" i="0" dirty="0" err="1">
                <a:solidFill>
                  <a:srgbClr val="444444"/>
                </a:solidFill>
                <a:effectLst/>
              </a:rPr>
              <a:t>database.table</a:t>
            </a:r>
            <a:br>
              <a:rPr lang="en-US" altLang="zh-CN" sz="1200" dirty="0"/>
            </a:br>
            <a:r>
              <a:rPr lang="en-US" altLang="zh-CN" sz="1200" b="0" i="0" dirty="0">
                <a:solidFill>
                  <a:srgbClr val="444444"/>
                </a:solidFill>
                <a:effectLst/>
              </a:rPr>
              <a:t>FROM user [, user]...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effectLst/>
                <a:latin typeface="Helvetica Neue"/>
              </a:rPr>
              <a:t>删除特定用户的所有权限，语法格式如下：</a:t>
            </a:r>
            <a:endParaRPr lang="en-US" altLang="zh-CN" sz="1400" dirty="0">
              <a:latin typeface="Helvetica Neue"/>
            </a:endParaRPr>
          </a:p>
          <a:p>
            <a:pPr marL="0" indent="0" algn="l">
              <a:buNone/>
            </a:pPr>
            <a:r>
              <a:rPr lang="en-US" altLang="zh-CN" sz="1400" b="0" i="0" dirty="0">
                <a:solidFill>
                  <a:srgbClr val="444444"/>
                </a:solidFill>
                <a:effectLst/>
                <a:latin typeface="Helvetica Neue"/>
              </a:rPr>
              <a:t>        </a:t>
            </a:r>
            <a:r>
              <a:rPr lang="en-US" altLang="zh-CN" sz="1200" dirty="0">
                <a:solidFill>
                  <a:srgbClr val="444444"/>
                </a:solidFill>
              </a:rPr>
              <a:t>REVOKE ALL PRIVILEGES, GRANT OPTION FROM user [, user] ...</a:t>
            </a:r>
          </a:p>
          <a:p>
            <a:r>
              <a:rPr lang="zh-CN" altLang="en-US" sz="1400" b="1" dirty="0">
                <a:latin typeface="Helvetica Neue"/>
              </a:rPr>
              <a:t>使用 </a:t>
            </a:r>
            <a:r>
              <a:rPr lang="en-US" altLang="zh-CN" sz="1400" b="1" dirty="0">
                <a:latin typeface="Helvetica Neue"/>
              </a:rPr>
              <a:t>REVOKE </a:t>
            </a:r>
            <a:r>
              <a:rPr lang="zh-CN" altLang="en-US" sz="1400" b="1" dirty="0">
                <a:latin typeface="Helvetica Neue"/>
              </a:rPr>
              <a:t>语句取消用户 </a:t>
            </a:r>
            <a:r>
              <a:rPr lang="en-US" altLang="zh-CN" sz="1400" b="1" dirty="0" err="1">
                <a:latin typeface="Helvetica Neue"/>
              </a:rPr>
              <a:t>testUser</a:t>
            </a:r>
            <a:r>
              <a:rPr lang="en-US" altLang="zh-CN" sz="1400" b="1" dirty="0">
                <a:latin typeface="Helvetica Neue"/>
              </a:rPr>
              <a:t> </a:t>
            </a:r>
            <a:r>
              <a:rPr lang="zh-CN" altLang="en-US" sz="1400" b="1" dirty="0">
                <a:latin typeface="Helvetica Neue"/>
              </a:rPr>
              <a:t>的插入权限，</a:t>
            </a:r>
            <a:r>
              <a:rPr lang="en-US" altLang="zh-CN" sz="1400" b="1" dirty="0">
                <a:latin typeface="Helvetica Neue"/>
              </a:rPr>
              <a:t>SQL </a:t>
            </a:r>
            <a:r>
              <a:rPr lang="zh-CN" altLang="en-US" sz="1400" b="1" dirty="0">
                <a:latin typeface="Helvetica Neue"/>
              </a:rPr>
              <a:t>语句和执行过程如下：</a:t>
            </a:r>
            <a:endParaRPr lang="en-US" altLang="zh-CN" sz="1400" b="1" dirty="0">
              <a:latin typeface="Helvetica Neue"/>
            </a:endParaRPr>
          </a:p>
          <a:p>
            <a:pPr marL="400050" lvl="1" indent="0">
              <a:buNone/>
            </a:pPr>
            <a:r>
              <a:rPr lang="en-US" altLang="zh-CN" sz="1200" dirty="0">
                <a:latin typeface="Helvetica Neue"/>
              </a:rPr>
              <a:t>REVOKE INSERT ON *.*</a:t>
            </a:r>
          </a:p>
          <a:p>
            <a:pPr marL="400050" lvl="1" indent="0">
              <a:buNone/>
            </a:pPr>
            <a:r>
              <a:rPr lang="en-US" altLang="zh-CN" sz="1200" dirty="0">
                <a:latin typeface="Helvetica Neue"/>
              </a:rPr>
              <a:t>    -&gt; FROM '</a:t>
            </a:r>
            <a:r>
              <a:rPr lang="en-US" altLang="zh-CN" sz="1200" dirty="0" err="1">
                <a:latin typeface="Helvetica Neue"/>
              </a:rPr>
              <a:t>testUser</a:t>
            </a:r>
            <a:r>
              <a:rPr lang="en-US" altLang="zh-CN" sz="1200" dirty="0">
                <a:latin typeface="Helvetica Neue"/>
              </a:rPr>
              <a:t>'@'localhost’;</a:t>
            </a:r>
          </a:p>
          <a:p>
            <a:pPr marL="400050" lvl="1" indent="0">
              <a:buNone/>
            </a:pPr>
            <a:r>
              <a:rPr lang="en-US" altLang="zh-CN" sz="1200" dirty="0">
                <a:latin typeface="Helvetica Neue"/>
              </a:rPr>
              <a:t>SHOW GRANTS FOR '</a:t>
            </a:r>
            <a:r>
              <a:rPr lang="en-US" altLang="zh-CN" sz="1200" dirty="0" err="1">
                <a:latin typeface="Helvetica Neue"/>
              </a:rPr>
              <a:t>testUser</a:t>
            </a:r>
            <a:r>
              <a:rPr lang="en-US" altLang="zh-CN" sz="1200" dirty="0">
                <a:latin typeface="Helvetica Neue"/>
              </a:rPr>
              <a:t>'@'localhost';</a:t>
            </a:r>
          </a:p>
        </p:txBody>
      </p:sp>
    </p:spTree>
    <p:extLst>
      <p:ext uri="{BB962C8B-B14F-4D97-AF65-F5344CB8AC3E}">
        <p14:creationId xmlns:p14="http://schemas.microsoft.com/office/powerpoint/2010/main" val="2431840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FF146B-3FA2-41F8-A999-A212E6093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用户切换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0F7CF526-5B48-41C2-B9AE-18DEF4A00061}"/>
              </a:ext>
            </a:extLst>
          </p:cNvPr>
          <p:cNvSpPr txBox="1">
            <a:spLocks/>
          </p:cNvSpPr>
          <p:nvPr/>
        </p:nvSpPr>
        <p:spPr bwMode="auto">
          <a:xfrm>
            <a:off x="628650" y="1131590"/>
            <a:ext cx="7886700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Tx/>
            </a:pPr>
            <a:r>
              <a:rPr lang="zh-CN" altLang="en-US" sz="1800" kern="0" dirty="0"/>
              <a:t>首先退出当前用户：在命令行输入 </a:t>
            </a:r>
            <a:r>
              <a:rPr lang="en-US" altLang="zh-CN" sz="1800" b="1" kern="0" dirty="0"/>
              <a:t>EXIT</a:t>
            </a:r>
            <a:r>
              <a:rPr lang="en-US" altLang="zh-CN" sz="1800" kern="0" dirty="0"/>
              <a:t> </a:t>
            </a:r>
            <a:r>
              <a:rPr lang="zh-CN" altLang="en-US" sz="1800" kern="0" dirty="0"/>
              <a:t>或 </a:t>
            </a:r>
            <a:r>
              <a:rPr lang="en-US" altLang="zh-CN" sz="1800" b="1" kern="0" dirty="0"/>
              <a:t>QUIT </a:t>
            </a:r>
            <a:r>
              <a:rPr lang="zh-CN" altLang="en-US" sz="1800" kern="0" dirty="0"/>
              <a:t>即可。</a:t>
            </a:r>
            <a:endParaRPr lang="en-US" altLang="zh-CN" sz="1800" kern="0" dirty="0"/>
          </a:p>
          <a:p>
            <a:pPr>
              <a:buFontTx/>
            </a:pPr>
            <a:r>
              <a:rPr lang="zh-CN" altLang="en-US" sz="1800" kern="0" dirty="0"/>
              <a:t>登录某用户：通过值 </a:t>
            </a:r>
            <a:r>
              <a:rPr lang="en-US" altLang="zh-CN" sz="1800" kern="0" dirty="0"/>
              <a:t>localhost </a:t>
            </a:r>
            <a:r>
              <a:rPr lang="zh-CN" altLang="en-US" sz="1800" kern="0" dirty="0"/>
              <a:t>指定 </a:t>
            </a:r>
            <a:r>
              <a:rPr lang="en-US" altLang="zh-CN" sz="1800" kern="0" dirty="0"/>
              <a:t>MySQL </a:t>
            </a:r>
            <a:r>
              <a:rPr lang="zh-CN" altLang="en-US" sz="1800" kern="0" dirty="0"/>
              <a:t>服务器的地址，参数 </a:t>
            </a:r>
            <a:r>
              <a:rPr lang="en-US" altLang="zh-CN" sz="1800" kern="0" dirty="0"/>
              <a:t>-u </a:t>
            </a:r>
            <a:r>
              <a:rPr lang="zh-CN" altLang="en-US" sz="1800" kern="0" dirty="0"/>
              <a:t>指定了登录 </a:t>
            </a:r>
            <a:r>
              <a:rPr lang="en-US" altLang="zh-CN" sz="1800" kern="0" dirty="0"/>
              <a:t>MySQL </a:t>
            </a:r>
            <a:r>
              <a:rPr lang="zh-CN" altLang="en-US" sz="1800" kern="0" dirty="0"/>
              <a:t>服务器的用户账户，参数 </a:t>
            </a:r>
            <a:r>
              <a:rPr lang="en-US" altLang="zh-CN" sz="1800" kern="0" dirty="0"/>
              <a:t>-p </a:t>
            </a:r>
            <a:r>
              <a:rPr lang="zh-CN" altLang="en-US" sz="1800" kern="0" dirty="0"/>
              <a:t>表示会出现输入密码提示信息，最后值“</a:t>
            </a:r>
            <a:r>
              <a:rPr lang="en-US" altLang="zh-CN" sz="1800" kern="0" dirty="0"/>
              <a:t>test”</a:t>
            </a:r>
            <a:r>
              <a:rPr lang="zh-CN" altLang="en-US" sz="1800" kern="0" dirty="0"/>
              <a:t>指定了登录成功后要使用的数据库。</a:t>
            </a:r>
            <a:endParaRPr lang="en-US" altLang="zh-CN" sz="1800" kern="0" dirty="0"/>
          </a:p>
          <a:p>
            <a:pPr lvl="1">
              <a:buFontTx/>
            </a:pPr>
            <a:r>
              <a:rPr lang="en-US" altLang="zh-CN" sz="1600" kern="0" dirty="0" err="1"/>
              <a:t>mysql</a:t>
            </a:r>
            <a:r>
              <a:rPr lang="en-US" altLang="zh-CN" sz="1600" kern="0" dirty="0"/>
              <a:t> -h localhost -u root -p test</a:t>
            </a:r>
          </a:p>
          <a:p>
            <a:pPr lvl="1">
              <a:buFontTx/>
            </a:pPr>
            <a:r>
              <a:rPr lang="zh-CN" altLang="en-US" sz="1600" kern="0" dirty="0"/>
              <a:t>输入命令后，会出现“</a:t>
            </a:r>
            <a:r>
              <a:rPr lang="en-US" altLang="zh-CN" sz="1600" kern="0" dirty="0"/>
              <a:t>Enter password”</a:t>
            </a:r>
            <a:r>
              <a:rPr lang="zh-CN" altLang="en-US" sz="1600" kern="0" dirty="0"/>
              <a:t>提示信息，在这条信息之后输入密码，然后按 </a:t>
            </a:r>
            <a:r>
              <a:rPr lang="en-US" altLang="zh-CN" sz="1600" kern="0" dirty="0"/>
              <a:t>Enter </a:t>
            </a:r>
            <a:r>
              <a:rPr lang="zh-CN" altLang="en-US" sz="1600" kern="0" dirty="0"/>
              <a:t>键。密码正确后，就成功登录到 </a:t>
            </a:r>
            <a:r>
              <a:rPr lang="en-US" altLang="zh-CN" sz="1600" kern="0" dirty="0"/>
              <a:t>MySQL </a:t>
            </a:r>
            <a:r>
              <a:rPr lang="zh-CN" altLang="en-US" sz="1600" kern="0" dirty="0"/>
              <a:t>服务器了。</a:t>
            </a:r>
          </a:p>
          <a:p>
            <a:pPr>
              <a:buFontTx/>
            </a:pPr>
            <a:endParaRPr lang="zh-CN" alt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3297143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实验内容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58643" y="750303"/>
            <a:ext cx="6426714" cy="390245"/>
          </a:xfrm>
        </p:spPr>
        <p:txBody>
          <a:bodyPr>
            <a:normAutofit/>
          </a:bodyPr>
          <a:lstStyle/>
          <a:p>
            <a:pPr marL="0" indent="0" algn="just" defTabSz="482163">
              <a:buNone/>
            </a:pP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1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、建立数据库 </a:t>
            </a: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Major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，在 </a:t>
            </a: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Major 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数据库中创建表 </a:t>
            </a: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Players</a:t>
            </a:r>
            <a:endParaRPr lang="zh-CN" altLang="en-US" sz="18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85F7F3D-AAD4-A10F-3D2F-0D0FAC5626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418785"/>
              </p:ext>
            </p:extLst>
          </p:nvPr>
        </p:nvGraphicFramePr>
        <p:xfrm>
          <a:off x="1764000" y="1273810"/>
          <a:ext cx="561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2627428967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1023984986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926623174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600" b="1">
                          <a:solidFill>
                            <a:schemeClr val="tx1"/>
                          </a:solidFill>
                        </a:rPr>
                        <a:t>表名：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Players</a:t>
                      </a:r>
                      <a:endParaRPr lang="zh-CN" altLang="en-US" sz="16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589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>
                          <a:solidFill>
                            <a:schemeClr val="tx1"/>
                          </a:solidFill>
                        </a:rPr>
                        <a:t>字段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>
                          <a:solidFill>
                            <a:schemeClr val="tx1"/>
                          </a:solidFill>
                        </a:rPr>
                        <a:t>类型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>
                          <a:solidFill>
                            <a:schemeClr val="tx1"/>
                          </a:solidFill>
                        </a:rPr>
                        <a:t>约束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979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Sno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Varchar(10)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 Key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292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Sname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Varchar(20)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846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Ssex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Varchar(1)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479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Sage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SmallInt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404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Steam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Varchar(20)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7684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实验内容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3548" y="987574"/>
            <a:ext cx="8316924" cy="3285344"/>
          </a:xfrm>
        </p:spPr>
        <p:txBody>
          <a:bodyPr>
            <a:noAutofit/>
          </a:bodyPr>
          <a:lstStyle/>
          <a:p>
            <a:pPr marL="0" indent="0" algn="just" defTabSz="482163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、向 </a:t>
            </a: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Players 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表中插入两个元组：</a:t>
            </a:r>
            <a:endParaRPr lang="en-US" altLang="zh-CN" sz="180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 algn="just" defTabSz="482163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pl-PL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('200215121' ,'NiKo' ,'M' ,27 ,'G2')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482163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/>
              <a:t>      	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l-PL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'200215122' ,'m0NESY' ,'M' ,18 ,'G2')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482163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3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、建立用户 </a:t>
            </a: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Valve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，授予用户 </a:t>
            </a: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Valve 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以系统特权，包括 </a:t>
            </a: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create table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、</a:t>
            </a: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create user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、</a:t>
            </a: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alter user 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和 </a:t>
            </a: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drop user 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等，并赋予其在授权的能力</a:t>
            </a:r>
            <a:endParaRPr lang="zh-CN" altLang="en-US" sz="18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 algn="just" defTabSz="482163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4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、删除</a:t>
            </a: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Valve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的</a:t>
            </a: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create user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、</a:t>
            </a: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alter user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和 </a:t>
            </a: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drop user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的系统特权</a:t>
            </a:r>
            <a:endParaRPr lang="en-US" altLang="zh-CN" sz="180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 algn="just" defTabSz="482163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5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、在</a:t>
            </a: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Valve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用户下尝试查询</a:t>
            </a: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Players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（注意使用</a:t>
            </a: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Major.Players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实验内容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3548" y="987574"/>
            <a:ext cx="8316924" cy="3285344"/>
          </a:xfrm>
        </p:spPr>
        <p:txBody>
          <a:bodyPr>
            <a:noAutofit/>
          </a:bodyPr>
          <a:lstStyle/>
          <a:p>
            <a:pPr marL="0" indent="0" algn="just" defTabSz="482163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6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、授予用户</a:t>
            </a: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Valve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对表</a:t>
            </a: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Players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的查询、插入、修改等对象特权，并赋予其再授权的能力 </a:t>
            </a:r>
            <a:endParaRPr lang="en-US" altLang="zh-CN" sz="180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 algn="just" defTabSz="482163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7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、在</a:t>
            </a: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Valve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用户下查询</a:t>
            </a: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Players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（注意使用</a:t>
            </a: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Major.Players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）</a:t>
            </a:r>
            <a:endParaRPr lang="zh-CN" altLang="en-US" sz="18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 algn="just" defTabSz="482163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8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、在</a:t>
            </a: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Valve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用户下再插入一个元组的数据</a:t>
            </a: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('200215123' ,'ZywOo' ,'M' ,23 ,'Vit')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，并 在</a:t>
            </a: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Valve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用户下查询（注意使用</a:t>
            </a: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Major.Players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）</a:t>
            </a:r>
            <a:endParaRPr lang="en-US" altLang="zh-CN" sz="1800">
              <a:latin typeface="Times New Roman" panose="02020603050405020304" charset="0"/>
              <a:ea typeface="宋体" panose="02010600030101010101" pitchFamily="2" charset="-122"/>
            </a:endParaRPr>
          </a:p>
          <a:p>
            <a:pPr marL="0" indent="0" algn="just" defTabSz="482163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9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、删除 </a:t>
            </a:r>
            <a:r>
              <a:rPr lang="en-US" altLang="zh-CN" sz="1800">
                <a:latin typeface="Times New Roman" panose="02020603050405020304" charset="0"/>
                <a:ea typeface="宋体" panose="02010600030101010101" pitchFamily="2" charset="-122"/>
              </a:rPr>
              <a:t>Valve </a:t>
            </a:r>
            <a:r>
              <a:rPr lang="zh-CN" altLang="en-US" sz="1800">
                <a:latin typeface="Times New Roman" panose="02020603050405020304" charset="0"/>
                <a:ea typeface="宋体" panose="02010600030101010101" pitchFamily="2" charset="-122"/>
              </a:rPr>
              <a:t>用户 </a:t>
            </a:r>
          </a:p>
        </p:txBody>
      </p:sp>
    </p:spTree>
    <p:extLst>
      <p:ext uri="{BB962C8B-B14F-4D97-AF65-F5344CB8AC3E}">
        <p14:creationId xmlns:p14="http://schemas.microsoft.com/office/powerpoint/2010/main" val="2043287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120" y="20188"/>
            <a:ext cx="3428145" cy="392402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15516" y="3579862"/>
            <a:ext cx="8712968" cy="12961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https://www.oceanbase.com/docs/common-oceanbase-database-cn-1000000004475544</a:t>
            </a:r>
          </a:p>
          <a:p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https://mariadb.com/docs/server/mariadb-quickstart-guides/basics-guide</a:t>
            </a:r>
          </a:p>
          <a:p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请大家完成实验，有问题先去上面两个官方文档里找解决方案，没找到再在会议室里问</a:t>
            </a:r>
            <a:endParaRPr lang="en-US" altLang="zh-CN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实验报告的模板在实验准备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.zip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里面</a:t>
            </a:r>
          </a:p>
          <a:p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所有班级：请在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4/12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前，在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canvas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上提交实验报告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19" y="20188"/>
            <a:ext cx="1836204" cy="50533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D4D7315-63E0-4A2E-A074-D4D518F227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74" y="604719"/>
            <a:ext cx="3736801" cy="286638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F8119E0-3F43-BF61-BF6E-8ED5251079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9877" y="794112"/>
            <a:ext cx="3878127" cy="2672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Office 主题">
  <a:themeElements>
    <a:clrScheme name="2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Office 主题">
      <a:majorFont>
        <a:latin typeface="Calibri"/>
        <a:ea typeface="黑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>
          <a:solidFill>
            <a:srgbClr val="FF0000"/>
          </a:solidFill>
          <a:prstDash val="sysDash"/>
          <a:round/>
        </a:ln>
      </a:spPr>
      <a:bodyPr anchor="ctr"/>
      <a:lstStyle>
        <a:defPPr>
          <a:defRPr/>
        </a:defPPr>
      </a:lstStyle>
    </a:spDef>
  </a:objectDefaults>
  <a:extraClrSchemeLst>
    <a:extraClrScheme>
      <a:clrScheme name="2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第1章 绪论.potx" id="{A4F0AC33-72D4-4097-837F-93641403082A}" vid="{4062CE69-8121-4E25-9D20-76EC1D6FDB85}"/>
    </a:ext>
  </a:extLst>
</a:theme>
</file>

<file path=ppt/theme/theme3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22424</TotalTime>
  <Words>2189</Words>
  <Application>Microsoft Office PowerPoint</Application>
  <PresentationFormat>全屏显示(16:9)</PresentationFormat>
  <Paragraphs>186</Paragraphs>
  <Slides>18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Helvetica Neue</vt:lpstr>
      <vt:lpstr>微软雅黑</vt:lpstr>
      <vt:lpstr>Arial</vt:lpstr>
      <vt:lpstr>Calibri</vt:lpstr>
      <vt:lpstr>Times New Roman</vt:lpstr>
      <vt:lpstr>Trebuchet MS</vt:lpstr>
      <vt:lpstr>Wingdings</vt:lpstr>
      <vt:lpstr>默认设计模板</vt:lpstr>
      <vt:lpstr>2_Office 主题</vt:lpstr>
      <vt:lpstr>PowerPoint 演示文稿</vt:lpstr>
      <vt:lpstr>数据库安全性</vt:lpstr>
      <vt:lpstr>用户权限</vt:lpstr>
      <vt:lpstr>用户权限</vt:lpstr>
      <vt:lpstr>用户权限</vt:lpstr>
      <vt:lpstr>创建用户</vt:lpstr>
      <vt:lpstr>创建用户</vt:lpstr>
      <vt:lpstr>创建用户</vt:lpstr>
      <vt:lpstr>修改用户</vt:lpstr>
      <vt:lpstr>删除用户</vt:lpstr>
      <vt:lpstr>用户授权</vt:lpstr>
      <vt:lpstr>用户授权</vt:lpstr>
      <vt:lpstr>删除授权</vt:lpstr>
      <vt:lpstr>用户切换</vt:lpstr>
      <vt:lpstr>实验内容</vt:lpstr>
      <vt:lpstr>实验内容</vt:lpstr>
      <vt:lpstr>实验内容</vt:lpstr>
      <vt:lpstr>PowerPoint 演示文稿</vt:lpstr>
    </vt:vector>
  </TitlesOfParts>
  <Company>Global Intelligence Alliance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Creating System Analysis</dc:title>
  <dc:creator>Jessie Wang</dc:creator>
  <cp:lastModifiedBy>瑞真 程</cp:lastModifiedBy>
  <cp:revision>1683</cp:revision>
  <dcterms:created xsi:type="dcterms:W3CDTF">2007-09-26T12:04:45Z</dcterms:created>
  <dcterms:modified xsi:type="dcterms:W3CDTF">2026-04-01T13:31:50Z</dcterms:modified>
</cp:coreProperties>
</file>