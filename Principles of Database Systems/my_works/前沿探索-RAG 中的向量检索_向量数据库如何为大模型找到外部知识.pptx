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89" r:id="rId17"/>
    <p:sldId id="273" r:id="rId18"/>
    <p:sldId id="275" r:id="rId19"/>
    <p:sldId id="288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可函 幸" initials="可函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F"/>
    <a:srgbClr val="FEFEFE"/>
    <a:srgbClr val="FBFBFB"/>
    <a:srgbClr val="F9F9F9"/>
    <a:srgbClr val="FDFDFD"/>
    <a:srgbClr val="FF6600"/>
    <a:srgbClr val="FEFDFE"/>
    <a:srgbClr val="1AA5A5"/>
    <a:srgbClr val="0057E7"/>
    <a:srgbClr val="F6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36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4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sv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27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7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7.png"/><Relationship Id="rId4" Type="http://schemas.openxmlformats.org/officeDocument/2006/relationships/image" Target="../media/image73.png"/><Relationship Id="rId9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26.png"/><Relationship Id="rId5" Type="http://schemas.openxmlformats.org/officeDocument/2006/relationships/image" Target="../media/image64.png"/><Relationship Id="rId10" Type="http://schemas.openxmlformats.org/officeDocument/2006/relationships/image" Target="../media/image131.png"/><Relationship Id="rId4" Type="http://schemas.openxmlformats.org/officeDocument/2006/relationships/image" Target="../media/image96.pn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1679534" y="2814106"/>
            <a:ext cx="8747587" cy="178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3800" b="1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中的向量检索：</a:t>
            </a:r>
          </a:p>
          <a:p>
            <a:pPr algn="ctr">
              <a:buNone/>
            </a:pPr>
            <a:r>
              <a:rPr sz="4000" b="1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向量数据库如何为大模型找到外部知识</a:t>
            </a:r>
          </a:p>
          <a:p>
            <a:pPr algn="ctr">
              <a:buNone/>
            </a:pPr>
            <a:endParaRPr sz="4000" b="1">
              <a:solidFill>
                <a:srgbClr val="0019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98348" y="4103410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以向量数据库为核心的数据存储、索引与检索机制</a:t>
            </a:r>
          </a:p>
        </p:txBody>
      </p:sp>
      <p:sp>
        <p:nvSpPr>
          <p:cNvPr id="5" name="Connector 4"/>
          <p:cNvSpPr>
            <a:spLocks noGrp="1"/>
          </p:cNvSpPr>
          <p:nvPr/>
        </p:nvSpPr>
        <p:spPr>
          <a:xfrm>
            <a:off x="781812" y="4727043"/>
            <a:ext cx="1056132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Oval 5"/>
          <p:cNvSpPr>
            <a:spLocks noGrp="1"/>
          </p:cNvSpPr>
          <p:nvPr/>
        </p:nvSpPr>
        <p:spPr>
          <a:xfrm>
            <a:off x="6003036" y="4695039"/>
            <a:ext cx="68580" cy="68580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347972" y="4873347"/>
            <a:ext cx="3429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250" b="0">
                <a:solidFill>
                  <a:srgbClr val="7D7D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数据库系统原理   |   前沿探索汇报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11315700" y="8676396"/>
            <a:ext cx="53035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12</a:t>
            </a:r>
          </a:p>
        </p:txBody>
      </p:sp>
      <p:pic>
        <p:nvPicPr>
          <p:cNvPr id="42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53" y="119433"/>
            <a:ext cx="3649877" cy="2384763"/>
          </a:xfrm>
          <a:prstGeom prst="rect">
            <a:avLst/>
          </a:prstGeom>
        </p:spPr>
      </p:pic>
      <p:sp>
        <p:nvSpPr>
          <p:cNvPr id="46" name="TextBox 6"/>
          <p:cNvSpPr>
            <a:spLocks noGrp="1"/>
          </p:cNvSpPr>
          <p:nvPr/>
        </p:nvSpPr>
        <p:spPr>
          <a:xfrm>
            <a:off x="3295393" y="5386077"/>
            <a:ext cx="548387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2452769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幸可函</a:t>
            </a: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（1-12页） 2452285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庞家宝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13-24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8" name="直角三角形 7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直角三角形 1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直角三角形 1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直角三角形 14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直角三角形 1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直角三角形 1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>
            <a:spLocks noGrp="1"/>
          </p:cNvSpPr>
          <p:nvPr/>
        </p:nvSpPr>
        <p:spPr>
          <a:xfrm>
            <a:off x="4943761" y="94660"/>
            <a:ext cx="2260421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>
                <a:solidFill>
                  <a:srgbClr val="0218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155220" y="1034894"/>
            <a:ext cx="189583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rgbClr val="0053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汇报结构总览</a:t>
            </a:r>
          </a:p>
        </p:txBody>
      </p:sp>
      <p:sp>
        <p:nvSpPr>
          <p:cNvPr id="6" name="Connector 5"/>
          <p:cNvSpPr>
            <a:spLocks noGrp="1"/>
          </p:cNvSpPr>
          <p:nvPr/>
        </p:nvSpPr>
        <p:spPr>
          <a:xfrm>
            <a:off x="3047923" y="1187942"/>
            <a:ext cx="1837505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Connector 6"/>
          <p:cNvSpPr>
            <a:spLocks noGrp="1"/>
          </p:cNvSpPr>
          <p:nvPr/>
        </p:nvSpPr>
        <p:spPr>
          <a:xfrm>
            <a:off x="7160433" y="1187942"/>
            <a:ext cx="1859379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Oval 7"/>
          <p:cNvSpPr>
            <a:spLocks noGrp="1"/>
          </p:cNvSpPr>
          <p:nvPr/>
        </p:nvSpPr>
        <p:spPr>
          <a:xfrm>
            <a:off x="3011465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8983354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55210" y="1596070"/>
            <a:ext cx="4921886" cy="2011485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073972" y="1596070"/>
            <a:ext cx="4921886" cy="2011485"/>
          </a:xfrm>
          <a:prstGeom prst="roundRect">
            <a:avLst/>
          </a:prstGeom>
          <a:solidFill>
            <a:srgbClr val="FCFEFE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955210" y="3848059"/>
            <a:ext cx="4921886" cy="2011485"/>
          </a:xfrm>
          <a:prstGeom prst="roundRect">
            <a:avLst/>
          </a:prstGeom>
          <a:solidFill>
            <a:srgbClr val="F9FBFE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73972" y="3848059"/>
            <a:ext cx="4921886" cy="2011485"/>
          </a:xfrm>
          <a:prstGeom prst="roundRect">
            <a:avLst/>
          </a:prstGeom>
          <a:solidFill>
            <a:srgbClr val="FCFDFD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1166669" y="2893332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6278139" y="2893332"/>
            <a:ext cx="3150008" cy="0"/>
          </a:xfrm>
          <a:prstGeom prst="line">
            <a:avLst/>
          </a:prstGeom>
          <a:ln w="17780">
            <a:solidFill>
              <a:srgbClr val="00A0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1166669" y="5130746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6278139" y="5130746"/>
            <a:ext cx="3157299" cy="0"/>
          </a:xfrm>
          <a:prstGeom prst="line">
            <a:avLst/>
          </a:prstGeom>
          <a:ln w="17780">
            <a:solidFill>
              <a:srgbClr val="0098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10" y="1814709"/>
            <a:ext cx="743751" cy="7287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97" y="1814709"/>
            <a:ext cx="743751" cy="7287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210" y="4044835"/>
            <a:ext cx="743751" cy="7287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97" y="4044835"/>
            <a:ext cx="743751" cy="72879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281" y="1953181"/>
            <a:ext cx="1316148" cy="1384718"/>
          </a:xfrm>
          <a:prstGeom prst="rect">
            <a:avLst/>
          </a:prstGeom>
        </p:spPr>
      </p:pic>
      <p:pic>
        <p:nvPicPr>
          <p:cNvPr id="23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22" y="4183307"/>
            <a:ext cx="1414586" cy="1545054"/>
          </a:xfrm>
          <a:prstGeom prst="rect">
            <a:avLst/>
          </a:prstGeom>
        </p:spPr>
      </p:pic>
      <p:sp>
        <p:nvSpPr>
          <p:cNvPr id="27" name="TextBox 26"/>
          <p:cNvSpPr>
            <a:spLocks noGrp="1"/>
          </p:cNvSpPr>
          <p:nvPr/>
        </p:nvSpPr>
        <p:spPr>
          <a:xfrm>
            <a:off x="2085421" y="1781747"/>
            <a:ext cx="218750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RAG 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268751" y="3141125"/>
            <a:ext cx="222581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背景与动机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3-7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7167724" y="1825504"/>
            <a:ext cx="304150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基本概念与系统架构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329180" y="3141124"/>
            <a:ext cx="33879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系统组成与核心能力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8–10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2089344" y="4032587"/>
            <a:ext cx="234792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向量检索与
索引机制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7143628" y="4032586"/>
            <a:ext cx="276089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应用、对比与
前沿挑战</a:t>
            </a: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329181" y="5393113"/>
            <a:ext cx="39702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工作流与发展趋势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18–22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5" name="图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7120" y="1910123"/>
            <a:ext cx="1148538" cy="1266770"/>
          </a:xfrm>
          <a:prstGeom prst="rect">
            <a:avLst/>
          </a:prstGeom>
        </p:spPr>
      </p:pic>
      <p:sp>
        <p:nvSpPr>
          <p:cNvPr id="36" name="Connector 35"/>
          <p:cNvSpPr>
            <a:spLocks noGrp="1"/>
          </p:cNvSpPr>
          <p:nvPr/>
        </p:nvSpPr>
        <p:spPr>
          <a:xfrm>
            <a:off x="5490637" y="6369704"/>
            <a:ext cx="5723972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7" name="Oval 36"/>
          <p:cNvSpPr>
            <a:spLocks noGrp="1"/>
          </p:cNvSpPr>
          <p:nvPr/>
        </p:nvSpPr>
        <p:spPr>
          <a:xfrm>
            <a:off x="605209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11185442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174" y="4084764"/>
            <a:ext cx="1536747" cy="1585644"/>
          </a:xfrm>
          <a:prstGeom prst="rect">
            <a:avLst/>
          </a:prstGeom>
        </p:spPr>
      </p:pic>
      <p:sp>
        <p:nvSpPr>
          <p:cNvPr id="40" name="直角三角形 39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直角三角形 40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直角三角形 41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直角三角形 42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角三角形 43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直角三角形 44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直角三角形 4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直角三角形 4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Connector 34"/>
          <p:cNvSpPr>
            <a:spLocks noGrp="1"/>
          </p:cNvSpPr>
          <p:nvPr/>
        </p:nvSpPr>
        <p:spPr>
          <a:xfrm>
            <a:off x="634376" y="6369704"/>
            <a:ext cx="4856261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TextBox 31"/>
          <p:cNvSpPr>
            <a:spLocks noGrp="1"/>
          </p:cNvSpPr>
          <p:nvPr/>
        </p:nvSpPr>
        <p:spPr>
          <a:xfrm>
            <a:off x="1268752" y="5393113"/>
            <a:ext cx="333869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ANN 与相似度计算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11–17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Grp="1"/>
          </p:cNvSpPr>
          <p:nvPr/>
        </p:nvSpPr>
        <p:spPr>
          <a:xfrm>
            <a:off x="365760" y="146304"/>
            <a:ext cx="1147572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47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LLM 的局限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340260" y="1024128"/>
            <a:ext cx="3590727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26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为什么需要引入外部知识检索？</a:t>
            </a:r>
          </a:p>
        </p:txBody>
      </p:sp>
      <p:sp>
        <p:nvSpPr>
          <p:cNvPr id="9" name="Connector 8"/>
          <p:cNvSpPr>
            <a:spLocks noGrp="1"/>
          </p:cNvSpPr>
          <p:nvPr/>
        </p:nvSpPr>
        <p:spPr>
          <a:xfrm>
            <a:off x="2880360" y="1101852"/>
            <a:ext cx="1097279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848356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Connector 10"/>
          <p:cNvSpPr>
            <a:spLocks noGrp="1"/>
          </p:cNvSpPr>
          <p:nvPr/>
        </p:nvSpPr>
        <p:spPr>
          <a:xfrm>
            <a:off x="8065008" y="1101852"/>
            <a:ext cx="1188720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Oval 11"/>
          <p:cNvSpPr>
            <a:spLocks noGrp="1"/>
          </p:cNvSpPr>
          <p:nvPr/>
        </p:nvSpPr>
        <p:spPr>
          <a:xfrm>
            <a:off x="9253728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13232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89611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9611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709928" y="1879990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987552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>
            <a:spLocks noGrp="1"/>
          </p:cNvSpPr>
          <p:nvPr/>
        </p:nvSpPr>
        <p:spPr>
          <a:xfrm>
            <a:off x="1147118" y="4069080"/>
            <a:ext cx="1564531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可能生成看似合理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但不真实的内容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3346704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3529584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529584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4176848" y="1878644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知识过时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88" y="2456053"/>
            <a:ext cx="1494832" cy="1195230"/>
          </a:xfrm>
          <a:prstGeom prst="rect">
            <a:avLst/>
          </a:prstGeom>
        </p:spPr>
      </p:pic>
      <p:sp>
        <p:nvSpPr>
          <p:cNvPr id="27" name="Connector 26"/>
          <p:cNvSpPr>
            <a:spLocks noGrp="1"/>
          </p:cNvSpPr>
          <p:nvPr/>
        </p:nvSpPr>
        <p:spPr>
          <a:xfrm>
            <a:off x="3621024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8" name="TextBox 27"/>
          <p:cNvSpPr>
            <a:spLocks noGrp="1"/>
          </p:cNvSpPr>
          <p:nvPr/>
        </p:nvSpPr>
        <p:spPr>
          <a:xfrm>
            <a:off x="3976157" y="4069080"/>
            <a:ext cx="1173398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参数知识更新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成本高</a:t>
            </a: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5989320" y="1636776"/>
            <a:ext cx="2633472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6172200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6172200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6748272" y="1892808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无法访问私有知识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79" y="2507069"/>
            <a:ext cx="1458373" cy="1107774"/>
          </a:xfrm>
          <a:prstGeom prst="rect">
            <a:avLst/>
          </a:prstGeom>
        </p:spPr>
      </p:pic>
      <p:sp>
        <p:nvSpPr>
          <p:cNvPr id="35" name="Connector 34"/>
          <p:cNvSpPr>
            <a:spLocks noGrp="1"/>
          </p:cNvSpPr>
          <p:nvPr/>
        </p:nvSpPr>
        <p:spPr>
          <a:xfrm>
            <a:off x="6263640" y="3831335"/>
            <a:ext cx="2084831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6" name="TextBox 35"/>
          <p:cNvSpPr>
            <a:spLocks noGrp="1"/>
          </p:cNvSpPr>
          <p:nvPr/>
        </p:nvSpPr>
        <p:spPr>
          <a:xfrm>
            <a:off x="6432419" y="4069080"/>
            <a:ext cx="1747273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难以直接利用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企业/课程/本地文档</a:t>
            </a: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8851392" y="1636776"/>
            <a:ext cx="2578608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38"/>
          <p:cNvSpPr>
            <a:spLocks noGrp="1"/>
          </p:cNvSpPr>
          <p:nvPr/>
        </p:nvSpPr>
        <p:spPr>
          <a:xfrm>
            <a:off x="903427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903427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9610885" y="1894680"/>
            <a:ext cx="143629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缺乏来源可追溯</a:t>
            </a:r>
          </a:p>
        </p:txBody>
      </p:sp>
      <p:sp>
        <p:nvSpPr>
          <p:cNvPr id="43" name="Connector 42"/>
          <p:cNvSpPr>
            <a:spLocks noGrp="1"/>
          </p:cNvSpPr>
          <p:nvPr/>
        </p:nvSpPr>
        <p:spPr>
          <a:xfrm>
            <a:off x="9125712" y="3831335"/>
            <a:ext cx="2029968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TextBox 43"/>
          <p:cNvSpPr>
            <a:spLocks noGrp="1"/>
          </p:cNvSpPr>
          <p:nvPr/>
        </p:nvSpPr>
        <p:spPr>
          <a:xfrm>
            <a:off x="9749563" y="4069080"/>
            <a:ext cx="782265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答案难以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给出依据</a:t>
            </a: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2133600" y="5029200"/>
            <a:ext cx="8363712" cy="1133856"/>
          </a:xfrm>
          <a:prstGeom prst="roundRect">
            <a:avLst/>
          </a:prstGeom>
          <a:solidFill>
            <a:srgbClr val="F3F8FD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4096512" y="527608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4096512" y="5611420"/>
            <a:ext cx="5745163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lang="zh-CN" altLang="en-US" sz="1600"/>
              <a:t>仅依赖模型参数记忆，难以同时满足</a:t>
            </a:r>
            <a:r>
              <a:rPr lang="zh-CN" altLang="en-US" sz="1600">
                <a:solidFill>
                  <a:srgbClr val="FF6600"/>
                </a:solidFill>
              </a:rPr>
              <a:t>事实准确性、知识时效性、</a:t>
            </a:r>
            <a:endParaRPr lang="en-US" altLang="zh-CN" sz="1600">
              <a:solidFill>
                <a:srgbClr val="FF6600"/>
              </a:solidFill>
            </a:endParaRPr>
          </a:p>
          <a:p>
            <a:pPr algn="l">
              <a:buNone/>
            </a:pPr>
            <a:r>
              <a:rPr lang="zh-CN" altLang="en-US" sz="1600">
                <a:solidFill>
                  <a:srgbClr val="FF6600"/>
                </a:solidFill>
              </a:rPr>
              <a:t>私有知识接入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与</a:t>
            </a:r>
            <a:r>
              <a:rPr lang="zh-CN" altLang="en-US" sz="1600">
                <a:solidFill>
                  <a:srgbClr val="FF6600"/>
                </a:solidFill>
              </a:rPr>
              <a:t>来源可追溯性</a:t>
            </a:r>
            <a:endParaRPr sz="1600" b="0">
              <a:solidFill>
                <a:srgbClr val="FF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85" y="5092343"/>
            <a:ext cx="1646854" cy="1007569"/>
          </a:xfrm>
          <a:prstGeom prst="rect">
            <a:avLst/>
          </a:prstGeom>
        </p:spPr>
      </p:pic>
      <p:pic>
        <p:nvPicPr>
          <p:cNvPr id="53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5856" y="2288088"/>
            <a:ext cx="1529679" cy="1458861"/>
          </a:xfrm>
          <a:prstGeom prst="rect">
            <a:avLst/>
          </a:prstGeom>
        </p:spPr>
      </p:pic>
      <p:sp>
        <p:nvSpPr>
          <p:cNvPr id="46" name="直角三角形 45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直角三角形 46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直角三角形 47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直角三角形 2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直角三角形 5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直角三角形 5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直角三角形 5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88" y="2458712"/>
            <a:ext cx="1568006" cy="1288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圆顶角 89"/>
          <p:cNvSpPr>
            <a:spLocks noGrp="1"/>
          </p:cNvSpPr>
          <p:nvPr/>
        </p:nvSpPr>
        <p:spPr>
          <a:xfrm rot="10800000">
            <a:off x="1552710" y="4440966"/>
            <a:ext cx="8962157" cy="1533619"/>
          </a:xfrm>
          <a:prstGeom prst="round2SameRect">
            <a:avLst>
              <a:gd name="adj1" fmla="val 11761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1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69" y="4485713"/>
            <a:ext cx="339680" cy="313384"/>
          </a:xfrm>
          <a:prstGeom prst="rect">
            <a:avLst/>
          </a:prstGeom>
        </p:spPr>
      </p:pic>
      <p:sp>
        <p:nvSpPr>
          <p:cNvPr id="87" name="矩形: 单圆角 86"/>
          <p:cNvSpPr>
            <a:spLocks noGrp="1"/>
          </p:cNvSpPr>
          <p:nvPr/>
        </p:nvSpPr>
        <p:spPr>
          <a:xfrm rot="10800000" flipV="1">
            <a:off x="1550468" y="4151022"/>
            <a:ext cx="4347396" cy="306089"/>
          </a:xfrm>
          <a:prstGeom prst="round1Rect">
            <a:avLst>
              <a:gd name="adj" fmla="val 50000"/>
            </a:avLst>
          </a:prstGeom>
          <a:solidFill>
            <a:srgbClr val="F1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矩形: 单圆角 85"/>
          <p:cNvSpPr>
            <a:spLocks noGrp="1"/>
          </p:cNvSpPr>
          <p:nvPr/>
        </p:nvSpPr>
        <p:spPr>
          <a:xfrm>
            <a:off x="5891826" y="4151022"/>
            <a:ext cx="4623044" cy="297786"/>
          </a:xfrm>
          <a:prstGeom prst="round1Rect">
            <a:avLst>
              <a:gd name="adj" fmla="val 50000"/>
            </a:avLst>
          </a:prstGeom>
          <a:solidFill>
            <a:srgbClr val="F2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96" y="204063"/>
            <a:ext cx="1348995" cy="524735"/>
          </a:xfrm>
          <a:prstGeom prst="rect">
            <a:avLst/>
          </a:prstGeom>
        </p:spPr>
      </p:pic>
      <p:pic>
        <p:nvPicPr>
          <p:cNvPr id="95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80" y="750663"/>
            <a:ext cx="838564" cy="204063"/>
          </a:xfrm>
          <a:prstGeom prst="rect">
            <a:avLst/>
          </a:prstGeom>
        </p:spPr>
      </p:pic>
      <p:pic>
        <p:nvPicPr>
          <p:cNvPr id="96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430" y="160335"/>
            <a:ext cx="845856" cy="670495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-36460" y="38746"/>
            <a:ext cx="12191999" cy="5830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是什么？</a:t>
            </a:r>
          </a:p>
        </p:txBody>
      </p:sp>
      <p:sp>
        <p:nvSpPr>
          <p:cNvPr id="7" name="Connector 6"/>
          <p:cNvSpPr>
            <a:spLocks noGrp="1"/>
          </p:cNvSpPr>
          <p:nvPr/>
        </p:nvSpPr>
        <p:spPr>
          <a:xfrm>
            <a:off x="1739718" y="866338"/>
            <a:ext cx="1290661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9064109" y="874791"/>
            <a:ext cx="1312536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1710551" y="837187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10354769" y="845640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639251" y="771595"/>
            <a:ext cx="4958468" cy="2769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26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Retrieval-Augmented Generation（检索增强生成）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677129" y="1134619"/>
            <a:ext cx="8750239" cy="70924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406315" y="1218259"/>
            <a:ext cx="7291865" cy="5101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在生成回答之前，先从外部知识库中检索相关信息，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再将检索结果与用户问题一起输入大模型，生成更可靠的答案。</a:t>
            </a:r>
          </a:p>
        </p:txBody>
      </p:sp>
      <p:pic>
        <p:nvPicPr>
          <p:cNvPr id="105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23" y="2084365"/>
            <a:ext cx="1254200" cy="976590"/>
          </a:xfrm>
          <a:prstGeom prst="rect">
            <a:avLst/>
          </a:prstGeom>
        </p:spPr>
      </p:pic>
      <p:pic>
        <p:nvPicPr>
          <p:cNvPr id="106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492" y="2142669"/>
            <a:ext cx="1181282" cy="889134"/>
          </a:xfrm>
          <a:prstGeom prst="rect">
            <a:avLst/>
          </a:prstGeom>
        </p:spPr>
      </p:pic>
      <p:pic>
        <p:nvPicPr>
          <p:cNvPr id="10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124" y="1996909"/>
            <a:ext cx="1254200" cy="991166"/>
          </a:xfrm>
          <a:prstGeom prst="rect">
            <a:avLst/>
          </a:prstGeom>
        </p:spPr>
      </p:pic>
      <p:sp>
        <p:nvSpPr>
          <p:cNvPr id="25" name="TextBox 24"/>
          <p:cNvSpPr>
            <a:spLocks noGrp="1"/>
          </p:cNvSpPr>
          <p:nvPr/>
        </p:nvSpPr>
        <p:spPr>
          <a:xfrm>
            <a:off x="918994" y="3082820"/>
            <a:ext cx="1166698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用户问题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026124" y="3082820"/>
            <a:ext cx="765645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检索器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5129828" y="3088654"/>
            <a:ext cx="1385454" cy="60704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外部知识库 /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7810801" y="3115616"/>
            <a:ext cx="838564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0048190" y="3082820"/>
            <a:ext cx="1020861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最终答案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8756618" y="3473934"/>
            <a:ext cx="1605600" cy="525600"/>
          </a:xfrm>
          <a:prstGeom prst="roundRect">
            <a:avLst/>
          </a:prstGeom>
          <a:solidFill>
            <a:srgbClr val="E5F3FD"/>
          </a:solidFill>
          <a:ln w="1270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9354892" y="3567643"/>
            <a:ext cx="860440" cy="327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参数记忆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(模型内部知识)</a:t>
            </a: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6657473" y="3469085"/>
            <a:ext cx="1604210" cy="524735"/>
          </a:xfrm>
          <a:prstGeom prst="roundRect">
            <a:avLst/>
          </a:prstGeom>
          <a:solidFill>
            <a:srgbClr val="EAF8EF"/>
          </a:solidFill>
          <a:ln w="12700">
            <a:solidFill>
              <a:srgbClr val="0C8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7342908" y="3563829"/>
            <a:ext cx="802105" cy="3133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外部知识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(检索到的文档)</a:t>
            </a: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1545875" y="4139579"/>
            <a:ext cx="8968994" cy="1858437"/>
          </a:xfrm>
          <a:prstGeom prst="roundRect">
            <a:avLst>
              <a:gd name="adj" fmla="val 9451"/>
            </a:avLst>
          </a:prstGeom>
          <a:noFill/>
          <a:ln w="12700">
            <a:solidFill>
              <a:srgbClr val="158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Connector 42"/>
          <p:cNvSpPr>
            <a:spLocks noGrp="1"/>
          </p:cNvSpPr>
          <p:nvPr/>
        </p:nvSpPr>
        <p:spPr>
          <a:xfrm>
            <a:off x="1545875" y="4460250"/>
            <a:ext cx="8968995" cy="0"/>
          </a:xfrm>
          <a:prstGeom prst="line">
            <a:avLst/>
          </a:prstGeom>
          <a:ln w="1016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Connector 43"/>
          <p:cNvSpPr>
            <a:spLocks noGrp="1"/>
          </p:cNvSpPr>
          <p:nvPr/>
        </p:nvSpPr>
        <p:spPr>
          <a:xfrm>
            <a:off x="5891827" y="4139579"/>
            <a:ext cx="0" cy="1858438"/>
          </a:xfrm>
          <a:prstGeom prst="line">
            <a:avLst/>
          </a:prstGeom>
          <a:ln w="762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5" name="Connector 44"/>
          <p:cNvSpPr>
            <a:spLocks noGrp="1"/>
          </p:cNvSpPr>
          <p:nvPr/>
        </p:nvSpPr>
        <p:spPr>
          <a:xfrm>
            <a:off x="1545875" y="4810074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Connector 45"/>
          <p:cNvSpPr>
            <a:spLocks noGrp="1"/>
          </p:cNvSpPr>
          <p:nvPr/>
        </p:nvSpPr>
        <p:spPr>
          <a:xfrm>
            <a:off x="1545875" y="520362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7" name="Connector 46"/>
          <p:cNvSpPr>
            <a:spLocks noGrp="1"/>
          </p:cNvSpPr>
          <p:nvPr/>
        </p:nvSpPr>
        <p:spPr>
          <a:xfrm>
            <a:off x="1545875" y="560446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8" name="TextBox 47"/>
          <p:cNvSpPr>
            <a:spLocks noGrp="1"/>
          </p:cNvSpPr>
          <p:nvPr/>
        </p:nvSpPr>
        <p:spPr>
          <a:xfrm>
            <a:off x="2661531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传统 LLM 的问题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7291865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的解决方案</a:t>
            </a:r>
          </a:p>
        </p:txBody>
      </p:sp>
      <p:pic>
        <p:nvPicPr>
          <p:cNvPr id="125" name="Picture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6644" y="5233759"/>
            <a:ext cx="360915" cy="341047"/>
          </a:xfrm>
          <a:prstGeom prst="rect">
            <a:avLst/>
          </a:prstGeom>
        </p:spPr>
      </p:pic>
      <p:pic>
        <p:nvPicPr>
          <p:cNvPr id="126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9213" y="5640904"/>
            <a:ext cx="338346" cy="291522"/>
          </a:xfrm>
          <a:prstGeom prst="rect">
            <a:avLst/>
          </a:prstGeom>
        </p:spPr>
      </p:pic>
      <p:sp>
        <p:nvSpPr>
          <p:cNvPr id="54" name="TextBox 53"/>
          <p:cNvSpPr>
            <a:spLocks noGrp="1"/>
          </p:cNvSpPr>
          <p:nvPr/>
        </p:nvSpPr>
        <p:spPr>
          <a:xfrm>
            <a:off x="2679779" y="4533130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幻觉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2679779" y="4919394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知识更新困难</a:t>
            </a: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2679779" y="5327521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外部知识缺失</a:t>
            </a: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2679779" y="5706497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缺乏可追溯性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6402258" y="4562282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基于检索证据生成，降低事实性错误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6402258" y="4948546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知识库可单独更新，无需重新训练整个模型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402258" y="5356673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可接入企业 / 课程 / 私有知识库</a:t>
            </a: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402258" y="5735649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可返回参考文档或信息来源</a:t>
            </a: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2194847" y="6140132"/>
            <a:ext cx="7960339" cy="517445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07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2293290" y="6277618"/>
            <a:ext cx="5585571" cy="4154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buNone/>
            </a:pPr>
            <a:r>
              <a:rPr sz="1800" b="1" i="0" u="none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核心思想：</a:t>
            </a:r>
            <a:r>
              <a:rPr lang="zh-CN" altLang="en-US" sz="1800" b="1" i="0" u="none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让模型 </a:t>
            </a:r>
            <a:r>
              <a:rPr sz="1800" b="1" i="0" u="none">
                <a:solidFill>
                  <a:srgbClr val="F07D1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“开卷考试”</a:t>
            </a:r>
            <a:r>
              <a:rPr lang="zh-CN" altLang="en-US" b="1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</a:rPr>
              <a:t>，从“仅依赖参数记忆”转向“基于外部证据生成”</a:t>
            </a:r>
            <a:endParaRPr b="1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None/>
            </a:pPr>
            <a:endParaRPr sz="1800" b="1" i="0" u="none">
              <a:solidFill>
                <a:srgbClr val="F07D1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rgbClr val="F07D1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137" name="连接符: 曲线 77"/>
          <p:cNvCxnSpPr>
            <a:stCxn id="37" idx="0"/>
          </p:cNvCxnSpPr>
          <p:nvPr/>
        </p:nvCxnSpPr>
        <p:spPr>
          <a:xfrm rot="5400000" flipH="1" flipV="1">
            <a:off x="7443291" y="3033516"/>
            <a:ext cx="451856" cy="419283"/>
          </a:xfrm>
          <a:prstGeom prst="curvedConnector3">
            <a:avLst/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" name="图片 8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994" y="3518023"/>
            <a:ext cx="507377" cy="402917"/>
          </a:xfrm>
          <a:prstGeom prst="rect">
            <a:avLst/>
          </a:prstGeom>
        </p:spPr>
      </p:pic>
      <p:pic>
        <p:nvPicPr>
          <p:cNvPr id="139" name="图片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9828" y="1890000"/>
            <a:ext cx="1385909" cy="1184078"/>
          </a:xfrm>
          <a:prstGeom prst="rect">
            <a:avLst/>
          </a:prstGeom>
        </p:spPr>
      </p:pic>
      <p:pic>
        <p:nvPicPr>
          <p:cNvPr id="140" name="图片 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0370" y="2019940"/>
            <a:ext cx="1426607" cy="905896"/>
          </a:xfrm>
          <a:prstGeom prst="rect">
            <a:avLst/>
          </a:prstGeom>
        </p:spPr>
      </p:pic>
      <p:pic>
        <p:nvPicPr>
          <p:cNvPr id="141" name="图形 88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5558" y="4800912"/>
            <a:ext cx="419289" cy="419289"/>
          </a:xfrm>
          <a:prstGeom prst="rect">
            <a:avLst/>
          </a:prstGeom>
        </p:spPr>
      </p:pic>
      <p:cxnSp>
        <p:nvCxnSpPr>
          <p:cNvPr id="142" name="直接箭头连接符 91"/>
          <p:cNvCxnSpPr/>
          <p:nvPr/>
        </p:nvCxnSpPr>
        <p:spPr>
          <a:xfrm>
            <a:off x="5497949" y="4639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72"/>
          <p:cNvCxnSpPr/>
          <p:nvPr/>
        </p:nvCxnSpPr>
        <p:spPr>
          <a:xfrm>
            <a:off x="5497949" y="5020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73"/>
          <p:cNvCxnSpPr/>
          <p:nvPr/>
        </p:nvCxnSpPr>
        <p:spPr>
          <a:xfrm>
            <a:off x="5497949" y="543169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74"/>
          <p:cNvCxnSpPr/>
          <p:nvPr/>
        </p:nvCxnSpPr>
        <p:spPr>
          <a:xfrm>
            <a:off x="5497949" y="581650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6" name="图片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9701" y="3503744"/>
            <a:ext cx="356088" cy="447004"/>
          </a:xfrm>
          <a:prstGeom prst="rect">
            <a:avLst/>
          </a:prstGeom>
        </p:spPr>
      </p:pic>
      <p:cxnSp>
        <p:nvCxnSpPr>
          <p:cNvPr id="147" name="连接符: 曲线 81"/>
          <p:cNvCxnSpPr/>
          <p:nvPr/>
        </p:nvCxnSpPr>
        <p:spPr>
          <a:xfrm rot="16200000" flipV="1">
            <a:off x="8626396" y="3033516"/>
            <a:ext cx="451856" cy="419283"/>
          </a:xfrm>
          <a:prstGeom prst="curvedConnector3">
            <a:avLst/>
          </a:prstGeom>
          <a:ln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曲线 83"/>
          <p:cNvCxnSpPr>
            <a:stCxn id="27" idx="3"/>
            <a:endCxn id="81" idx="1"/>
          </p:cNvCxnSpPr>
          <p:nvPr/>
        </p:nvCxnSpPr>
        <p:spPr>
          <a:xfrm>
            <a:off x="6515282" y="3392177"/>
            <a:ext cx="167712" cy="327305"/>
          </a:xfrm>
          <a:prstGeom prst="curvedConnector3">
            <a:avLst>
              <a:gd name="adj1" fmla="val 50000"/>
            </a:avLst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87"/>
          <p:cNvCxnSpPr/>
          <p:nvPr/>
        </p:nvCxnSpPr>
        <p:spPr>
          <a:xfrm>
            <a:off x="2194847" y="250946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90"/>
          <p:cNvCxnSpPr/>
          <p:nvPr/>
        </p:nvCxnSpPr>
        <p:spPr>
          <a:xfrm>
            <a:off x="3974066" y="2551332"/>
            <a:ext cx="1065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92"/>
          <p:cNvCxnSpPr/>
          <p:nvPr/>
        </p:nvCxnSpPr>
        <p:spPr>
          <a:xfrm>
            <a:off x="6515737" y="2567744"/>
            <a:ext cx="1029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93"/>
          <p:cNvCxnSpPr/>
          <p:nvPr/>
        </p:nvCxnSpPr>
        <p:spPr>
          <a:xfrm>
            <a:off x="8943666" y="2594316"/>
            <a:ext cx="840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" name="图形 9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313298">
            <a:off x="1744678" y="5974172"/>
            <a:ext cx="600933" cy="600933"/>
          </a:xfrm>
          <a:prstGeom prst="rect">
            <a:avLst/>
          </a:prstGeom>
        </p:spPr>
      </p:pic>
      <p:sp>
        <p:nvSpPr>
          <p:cNvPr id="98" name="直角三角形 9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" name="直角三角形 9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直角三角形 9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直角三角形 10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直角三角形 10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3" name="直角三角形 10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" name="直角三角形 10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4269079" y="228600"/>
            <a:ext cx="3669082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基本流程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06081" y="1024128"/>
            <a:ext cx="323165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C5E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从查询到答案的三阶段过程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715768" y="1179576"/>
            <a:ext cx="1627632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7818120" y="1179576"/>
            <a:ext cx="1554480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69748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37260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21267" y="1511860"/>
            <a:ext cx="3639312" cy="457200"/>
          </a:xfrm>
          <a:prstGeom prst="roundRect">
            <a:avLst/>
          </a:prstGeom>
          <a:solidFill>
            <a:srgbClr val="E5F0FE"/>
          </a:solidFill>
          <a:ln w="1143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014215" y="1518472"/>
            <a:ext cx="3401568" cy="457200"/>
          </a:xfrm>
          <a:prstGeom prst="roundRect">
            <a:avLst/>
          </a:prstGeom>
          <a:solidFill>
            <a:srgbClr val="E9F8EF"/>
          </a:solidFill>
          <a:ln w="11430">
            <a:solidFill>
              <a:srgbClr val="087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479792" y="1536192"/>
            <a:ext cx="3867912" cy="457200"/>
          </a:xfrm>
          <a:prstGeom prst="roundRect">
            <a:avLst/>
          </a:prstGeom>
          <a:solidFill>
            <a:srgbClr val="FEF2DE"/>
          </a:solidFill>
          <a:ln w="11430">
            <a:solidFill>
              <a:srgbClr val="D08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415794" y="1626809"/>
            <a:ext cx="20967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Indexing（索引构建）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056764" y="1647204"/>
            <a:ext cx="1702582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007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Retrieval（检索）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662575" y="1648260"/>
            <a:ext cx="222768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C66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Generation（生成）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13232" y="2249424"/>
            <a:ext cx="3401568" cy="1078992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0C5E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450664" y="2312012"/>
            <a:ext cx="200054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</a:t>
            </a:r>
            <a:r>
              <a:rPr sz="12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预处理（构建知识索引）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36230" y="309067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zh-CN" altLang="en-US" sz="1000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sz="10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739867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2414203" y="3090672"/>
            <a:ext cx="70371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0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3458940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</a:t>
            </a:r>
          </a:p>
        </p:txBody>
      </p:sp>
      <p:sp>
        <p:nvSpPr>
          <p:cNvPr id="31" name="Right Arrow 30"/>
          <p:cNvSpPr>
            <a:spLocks noGrp="1"/>
          </p:cNvSpPr>
          <p:nvPr/>
        </p:nvSpPr>
        <p:spPr>
          <a:xfrm>
            <a:off x="1389888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2148840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Right Arrow 32"/>
          <p:cNvSpPr>
            <a:spLocks noGrp="1"/>
          </p:cNvSpPr>
          <p:nvPr/>
        </p:nvSpPr>
        <p:spPr>
          <a:xfrm>
            <a:off x="3090672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219456" y="3675887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2103120" y="3675887"/>
            <a:ext cx="1280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3886200" y="3675887"/>
            <a:ext cx="1581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5852160" y="3675887"/>
            <a:ext cx="1216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7479792" y="3675887"/>
            <a:ext cx="110642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961120" y="3675887"/>
            <a:ext cx="122529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10552176" y="3675887"/>
            <a:ext cx="1097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ight Arrow 52"/>
          <p:cNvSpPr>
            <a:spLocks noGrp="1"/>
          </p:cNvSpPr>
          <p:nvPr/>
        </p:nvSpPr>
        <p:spPr>
          <a:xfrm>
            <a:off x="164592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Right Arrow 53"/>
          <p:cNvSpPr>
            <a:spLocks noGrp="1"/>
          </p:cNvSpPr>
          <p:nvPr/>
        </p:nvSpPr>
        <p:spPr>
          <a:xfrm>
            <a:off x="3468585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Right Arrow 54"/>
          <p:cNvSpPr>
            <a:spLocks noGrp="1"/>
          </p:cNvSpPr>
          <p:nvPr/>
        </p:nvSpPr>
        <p:spPr>
          <a:xfrm>
            <a:off x="548640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7100316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ight Arrow 56"/>
          <p:cNvSpPr>
            <a:spLocks noGrp="1"/>
          </p:cNvSpPr>
          <p:nvPr/>
        </p:nvSpPr>
        <p:spPr>
          <a:xfrm>
            <a:off x="8604504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Right Arrow 57"/>
          <p:cNvSpPr>
            <a:spLocks noGrp="1"/>
          </p:cNvSpPr>
          <p:nvPr/>
        </p:nvSpPr>
        <p:spPr>
          <a:xfrm>
            <a:off x="10186416" y="4149987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391352" y="4434840"/>
            <a:ext cx="10369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Query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593799" y="4718304"/>
            <a:ext cx="64120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</a:t>
            </a: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2236651" y="4392167"/>
            <a:ext cx="1013099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</a:t>
            </a:r>
          </a:p>
          <a:p>
            <a:pPr algn="ctr">
              <a:buNone/>
            </a:pPr>
            <a:r>
              <a:rPr sz="130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2365078" y="4857753"/>
            <a:ext cx="73738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查询向量化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3960579" y="4384547"/>
            <a:ext cx="145007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Database 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4183533" y="4857753"/>
            <a:ext cx="98745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向量数据库检索</a:t>
            </a: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6098113" y="4392167"/>
            <a:ext cx="78675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Relevant 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059646" y="4857752"/>
            <a:ext cx="846386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相关文本片段</a:t>
            </a: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7603964" y="4384547"/>
            <a:ext cx="86722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Assembly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7689487" y="4853443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提示词组装</a:t>
            </a: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9093285" y="4395977"/>
            <a:ext cx="100668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Generation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9239395" y="4846319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大模型生成</a:t>
            </a:r>
          </a:p>
        </p:txBody>
      </p:sp>
      <p:sp>
        <p:nvSpPr>
          <p:cNvPr id="76" name="TextBox 75"/>
          <p:cNvSpPr>
            <a:spLocks noGrp="1"/>
          </p:cNvSpPr>
          <p:nvPr/>
        </p:nvSpPr>
        <p:spPr>
          <a:xfrm>
            <a:off x="10774612" y="4544568"/>
            <a:ext cx="6706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Answer</a:t>
            </a: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10832403" y="4846320"/>
            <a:ext cx="56425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最终答案</a:t>
            </a:r>
          </a:p>
        </p:txBody>
      </p:sp>
      <p:sp>
        <p:nvSpPr>
          <p:cNvPr id="81" name="Rounded Rectangle 80"/>
          <p:cNvSpPr>
            <a:spLocks noGrp="1"/>
          </p:cNvSpPr>
          <p:nvPr/>
        </p:nvSpPr>
        <p:spPr>
          <a:xfrm>
            <a:off x="2632821" y="5355637"/>
            <a:ext cx="6941597" cy="1237009"/>
          </a:xfrm>
          <a:prstGeom prst="roundRect">
            <a:avLst/>
          </a:prstGeom>
          <a:solidFill>
            <a:srgbClr val="EEF5FD"/>
          </a:solidFill>
          <a:ln w="1270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218038" y="5484997"/>
            <a:ext cx="868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C5E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流程说明</a:t>
            </a:r>
          </a:p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3208893" y="5776262"/>
            <a:ext cx="6102633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Indexing：离线构建知识索引，将文档切分并向量化后入库。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Retrieval：将用户查询转为向量，在向量数据库中检索最相关的文本片段。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Generation：将相关片段与指令组成提示词，交由大模型生成答案并返回。</a:t>
            </a: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6572748" y="2877666"/>
            <a:ext cx="402693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sz="2000" b="1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i="0" u="none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知识存储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</a:t>
            </a: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语言生成 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</a:p>
        </p:txBody>
      </p:sp>
      <p:pic>
        <p:nvPicPr>
          <p:cNvPr id="89" name="图片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14" y="1525613"/>
            <a:ext cx="454235" cy="407245"/>
          </a:xfrm>
          <a:prstGeom prst="rect">
            <a:avLst/>
          </a:prstGeom>
        </p:spPr>
      </p:pic>
      <p:pic>
        <p:nvPicPr>
          <p:cNvPr id="90" name="图片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44" y="1520208"/>
            <a:ext cx="485943" cy="394829"/>
          </a:xfrm>
          <a:prstGeom prst="rect">
            <a:avLst/>
          </a:prstGeom>
        </p:spPr>
      </p:pic>
      <p:pic>
        <p:nvPicPr>
          <p:cNvPr id="91" name="图片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590" y="1561268"/>
            <a:ext cx="442363" cy="407048"/>
          </a:xfrm>
          <a:prstGeom prst="rect">
            <a:avLst/>
          </a:prstGeom>
        </p:spPr>
      </p:pic>
      <p:pic>
        <p:nvPicPr>
          <p:cNvPr id="92" name="图片 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2543421"/>
            <a:ext cx="432000" cy="479472"/>
          </a:xfrm>
          <a:prstGeom prst="rect">
            <a:avLst/>
          </a:prstGeom>
        </p:spPr>
      </p:pic>
      <p:pic>
        <p:nvPicPr>
          <p:cNvPr id="93" name="图片 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840" y="2530469"/>
            <a:ext cx="341718" cy="538641"/>
          </a:xfrm>
          <a:prstGeom prst="rect">
            <a:avLst/>
          </a:prstGeom>
        </p:spPr>
      </p:pic>
      <p:pic>
        <p:nvPicPr>
          <p:cNvPr id="94" name="图片 1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6021" y="2512971"/>
            <a:ext cx="634651" cy="523741"/>
          </a:xfrm>
          <a:prstGeom prst="rect">
            <a:avLst/>
          </a:prstGeom>
        </p:spPr>
      </p:pic>
      <p:pic>
        <p:nvPicPr>
          <p:cNvPr id="95" name="图片 10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584" y="2519738"/>
            <a:ext cx="505886" cy="523741"/>
          </a:xfrm>
          <a:prstGeom prst="rect">
            <a:avLst/>
          </a:prstGeom>
        </p:spPr>
      </p:pic>
      <p:pic>
        <p:nvPicPr>
          <p:cNvPr id="96" name="图片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3921" y="5404735"/>
            <a:ext cx="453201" cy="487022"/>
          </a:xfrm>
          <a:prstGeom prst="rect">
            <a:avLst/>
          </a:prstGeom>
        </p:spPr>
      </p:pic>
      <p:pic>
        <p:nvPicPr>
          <p:cNvPr id="97" name="图形 11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858" y="3712465"/>
            <a:ext cx="749808" cy="749808"/>
          </a:xfrm>
          <a:prstGeom prst="rect">
            <a:avLst/>
          </a:prstGeom>
        </p:spPr>
      </p:pic>
      <p:pic>
        <p:nvPicPr>
          <p:cNvPr id="98" name="图片 1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959" y="3817294"/>
            <a:ext cx="777289" cy="540150"/>
          </a:xfrm>
          <a:prstGeom prst="rect">
            <a:avLst/>
          </a:prstGeom>
        </p:spPr>
      </p:pic>
      <p:pic>
        <p:nvPicPr>
          <p:cNvPr id="99" name="图片 1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018" y="3756029"/>
            <a:ext cx="807215" cy="646807"/>
          </a:xfrm>
          <a:prstGeom prst="rect">
            <a:avLst/>
          </a:prstGeom>
        </p:spPr>
      </p:pic>
      <p:pic>
        <p:nvPicPr>
          <p:cNvPr id="100" name="图片 1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03620" y="3753535"/>
            <a:ext cx="679398" cy="603909"/>
          </a:xfrm>
          <a:prstGeom prst="rect">
            <a:avLst/>
          </a:prstGeom>
        </p:spPr>
      </p:pic>
      <p:pic>
        <p:nvPicPr>
          <p:cNvPr id="101" name="Picture 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1367" y="3756029"/>
            <a:ext cx="637105" cy="602033"/>
          </a:xfrm>
          <a:prstGeom prst="rect">
            <a:avLst/>
          </a:prstGeom>
        </p:spPr>
      </p:pic>
      <p:pic>
        <p:nvPicPr>
          <p:cNvPr id="102" name="图片 1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95257" y="3739379"/>
            <a:ext cx="808279" cy="618683"/>
          </a:xfrm>
          <a:prstGeom prst="rect">
            <a:avLst/>
          </a:prstGeom>
        </p:spPr>
      </p:pic>
      <p:pic>
        <p:nvPicPr>
          <p:cNvPr id="103" name="图片 1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16377" y="3766444"/>
            <a:ext cx="728932" cy="571178"/>
          </a:xfrm>
          <a:prstGeom prst="rect">
            <a:avLst/>
          </a:prstGeom>
        </p:spPr>
      </p:pic>
      <p:cxnSp>
        <p:nvCxnSpPr>
          <p:cNvPr id="104" name="连接符: 曲线 124"/>
          <p:cNvCxnSpPr>
            <a:stCxn id="21" idx="3"/>
            <a:endCxn id="41" idx="0"/>
          </p:cNvCxnSpPr>
          <p:nvPr/>
        </p:nvCxnSpPr>
        <p:spPr>
          <a:xfrm>
            <a:off x="4114800" y="2788920"/>
            <a:ext cx="562356" cy="886967"/>
          </a:xfrm>
          <a:prstGeom prst="curvedConnector2">
            <a:avLst/>
          </a:prstGeom>
          <a:ln>
            <a:solidFill>
              <a:srgbClr val="0C5E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30"/>
          <p:cNvCxnSpPr/>
          <p:nvPr/>
        </p:nvCxnSpPr>
        <p:spPr>
          <a:xfrm rot="5400000" flipH="1" flipV="1">
            <a:off x="6270440" y="2812705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3"/>
          <p:cNvCxnSpPr/>
          <p:nvPr/>
        </p:nvCxnSpPr>
        <p:spPr>
          <a:xfrm rot="5400000">
            <a:off x="10289993" y="2916207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直角三角形 134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6" name="直角三角形 135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7" name="直角三角形 136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直角三角形 137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9" name="直角三角形 138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0" name="直角三角形 139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1" name="直角三角形 140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2" name="直角三角形 141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直角三角形 85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Rounded Rectangle 58"/>
          <p:cNvSpPr>
            <a:spLocks noGrp="1"/>
          </p:cNvSpPr>
          <p:nvPr/>
        </p:nvSpPr>
        <p:spPr>
          <a:xfrm>
            <a:off x="1356287" y="3828626"/>
            <a:ext cx="9784346" cy="2536221"/>
          </a:xfrm>
          <a:prstGeom prst="roundRect">
            <a:avLst>
              <a:gd name="adj" fmla="val 3764"/>
            </a:avLst>
          </a:prstGeom>
          <a:solidFill>
            <a:srgbClr val="FDFDFD"/>
          </a:solidFill>
          <a:ln w="12700">
            <a:solidFill>
              <a:srgbClr val="3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图片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25" y="4153982"/>
            <a:ext cx="4622579" cy="2159231"/>
          </a:xfrm>
          <a:prstGeom prst="rect">
            <a:avLst/>
          </a:prstGeom>
        </p:spPr>
      </p:pic>
      <p:sp>
        <p:nvSpPr>
          <p:cNvPr id="7" name="Connector 6"/>
          <p:cNvSpPr>
            <a:spLocks noGrp="1"/>
          </p:cNvSpPr>
          <p:nvPr/>
        </p:nvSpPr>
        <p:spPr>
          <a:xfrm>
            <a:off x="2517769" y="1007242"/>
            <a:ext cx="1179576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8663820" y="995602"/>
            <a:ext cx="1051560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2476620" y="97523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683376" y="96359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871180" y="888428"/>
            <a:ext cx="46294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04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把文本、图片、音频等对象映射为高维向量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414620" y="1282686"/>
            <a:ext cx="2124000" cy="539311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2384440" y="14174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414620" y="1865725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384440" y="2000525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1414620" y="2441477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2384440" y="257627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1414620" y="3017228"/>
            <a:ext cx="2124000" cy="524735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2384440" y="3152028"/>
            <a:ext cx="107240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PDF/网页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324076" y="1370142"/>
            <a:ext cx="2231310" cy="2186397"/>
          </a:xfrm>
          <a:prstGeom prst="roundRect">
            <a:avLst/>
          </a:prstGeom>
          <a:solidFill>
            <a:srgbClr val="EDF5FD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388" y="1463022"/>
            <a:ext cx="1429205" cy="1158790"/>
          </a:xfrm>
          <a:prstGeom prst="rect">
            <a:avLst/>
          </a:prstGeom>
        </p:spPr>
      </p:pic>
      <p:sp>
        <p:nvSpPr>
          <p:cNvPr id="30" name="TextBox 29"/>
          <p:cNvSpPr>
            <a:spLocks noGrp="1"/>
          </p:cNvSpPr>
          <p:nvPr/>
        </p:nvSpPr>
        <p:spPr>
          <a:xfrm>
            <a:off x="4568519" y="2575905"/>
            <a:ext cx="180872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</a:p>
          <a:p>
            <a:pPr algn="ctr">
              <a:buNone/>
            </a:pPr>
            <a:r>
              <a:rPr sz="20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</a:t>
            </a: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4681377" y="3192140"/>
            <a:ext cx="1516708" cy="284231"/>
          </a:xfrm>
          <a:prstGeom prst="roundRect">
            <a:avLst/>
          </a:prstGeom>
          <a:solidFill>
            <a:srgbClr val="FA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4798530" y="3260210"/>
            <a:ext cx="12824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将对象映射为向量</a:t>
            </a: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350200" y="138471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7514792" y="144872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40" name="Connector 39"/>
          <p:cNvSpPr>
            <a:spLocks noGrp="1"/>
          </p:cNvSpPr>
          <p:nvPr/>
        </p:nvSpPr>
        <p:spPr>
          <a:xfrm>
            <a:off x="7734248" y="1457870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1" name="TextBox 40"/>
          <p:cNvSpPr>
            <a:spLocks noGrp="1"/>
          </p:cNvSpPr>
          <p:nvPr/>
        </p:nvSpPr>
        <p:spPr>
          <a:xfrm>
            <a:off x="7935416" y="150359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[0.12, -0.48, 0.23, ..., 0.91]</a:t>
            </a: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10190689" y="153470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7350200" y="1894877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7514792" y="1958885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45" name="Connector 44"/>
          <p:cNvSpPr>
            <a:spLocks noGrp="1"/>
          </p:cNvSpPr>
          <p:nvPr/>
        </p:nvSpPr>
        <p:spPr>
          <a:xfrm>
            <a:off x="7734248" y="1968029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TextBox 45"/>
          <p:cNvSpPr>
            <a:spLocks noGrp="1"/>
          </p:cNvSpPr>
          <p:nvPr/>
        </p:nvSpPr>
        <p:spPr>
          <a:xfrm>
            <a:off x="7935416" y="2013749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[-0.31, 0.77, -0.11, ..., 0.05]</a:t>
            </a: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10190689" y="2044860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7350200" y="2390461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7514792" y="2454469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7734248" y="2463613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TextBox 50"/>
          <p:cNvSpPr>
            <a:spLocks noGrp="1"/>
          </p:cNvSpPr>
          <p:nvPr/>
        </p:nvSpPr>
        <p:spPr>
          <a:xfrm>
            <a:off x="7935416" y="2509333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[0.08, -0.22, 0.61, ..., -0.33]</a:t>
            </a: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10190689" y="2540444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7350200" y="290790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7514792" y="297191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55" name="Connector 54"/>
          <p:cNvSpPr>
            <a:spLocks noGrp="1"/>
          </p:cNvSpPr>
          <p:nvPr/>
        </p:nvSpPr>
        <p:spPr>
          <a:xfrm>
            <a:off x="7734248" y="2981060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6" name="TextBox 55"/>
          <p:cNvSpPr>
            <a:spLocks noGrp="1"/>
          </p:cNvSpPr>
          <p:nvPr/>
        </p:nvSpPr>
        <p:spPr>
          <a:xfrm>
            <a:off x="7935416" y="302678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[0.47, -0.15, 0.34, ..., 0.66]</a:t>
            </a: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0190689" y="305789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8823960" y="3429000"/>
            <a:ext cx="2743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1356287" y="3840480"/>
            <a:ext cx="1750047" cy="278382"/>
          </a:xfrm>
          <a:prstGeom prst="roundRect">
            <a:avLst/>
          </a:prstGeom>
          <a:solidFill>
            <a:srgbClr val="005DE8"/>
          </a:solidFill>
          <a:ln>
            <a:solidFill>
              <a:srgbClr val="005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1513164" y="3857778"/>
            <a:ext cx="143629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二维向量空间示意</a:t>
            </a:r>
          </a:p>
        </p:txBody>
      </p:sp>
      <p:pic>
        <p:nvPicPr>
          <p:cNvPr id="130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35" y="3945723"/>
            <a:ext cx="772937" cy="772527"/>
          </a:xfrm>
          <a:prstGeom prst="rect">
            <a:avLst/>
          </a:prstGeom>
        </p:spPr>
      </p:pic>
      <p:pic>
        <p:nvPicPr>
          <p:cNvPr id="131" name="Picture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251" y="4674522"/>
            <a:ext cx="787521" cy="787103"/>
          </a:xfrm>
          <a:prstGeom prst="rect">
            <a:avLst/>
          </a:prstGeom>
        </p:spPr>
      </p:pic>
      <p:pic>
        <p:nvPicPr>
          <p:cNvPr id="132" name="Picture 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543" y="5410609"/>
            <a:ext cx="772937" cy="772527"/>
          </a:xfrm>
          <a:prstGeom prst="rect">
            <a:avLst/>
          </a:prstGeom>
        </p:spPr>
      </p:pic>
      <p:sp>
        <p:nvSpPr>
          <p:cNvPr id="67" name="TextBox 66"/>
          <p:cNvSpPr>
            <a:spLocks noGrp="1"/>
          </p:cNvSpPr>
          <p:nvPr/>
        </p:nvSpPr>
        <p:spPr>
          <a:xfrm>
            <a:off x="6991411" y="4220810"/>
            <a:ext cx="3751027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向量不是原始内容，而是</a:t>
            </a:r>
            <a:r>
              <a:rPr sz="1900" b="1" i="0" u="none">
                <a:solidFill>
                  <a:srgbClr val="009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语义表示</a:t>
            </a: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6992622" y="4966203"/>
            <a:ext cx="40331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语义相近的数据在向量空间中</a:t>
            </a:r>
            <a:r>
              <a:rPr sz="1800" b="1" i="0" u="none">
                <a:solidFill>
                  <a:srgbClr val="004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距离更近</a:t>
            </a: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992622" y="5708609"/>
            <a:ext cx="30841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向量化是后续</a:t>
            </a:r>
            <a:r>
              <a:rPr sz="1800" b="1" i="0" u="none">
                <a:solidFill>
                  <a:srgbClr val="009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</a:t>
            </a:r>
          </a:p>
        </p:txBody>
      </p:sp>
      <p:pic>
        <p:nvPicPr>
          <p:cNvPr id="136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633" y="1308284"/>
            <a:ext cx="624079" cy="477237"/>
          </a:xfrm>
          <a:prstGeom prst="rect">
            <a:avLst/>
          </a:prstGeom>
        </p:spPr>
      </p:pic>
      <p:pic>
        <p:nvPicPr>
          <p:cNvPr id="13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395" y="1907478"/>
            <a:ext cx="580553" cy="457612"/>
          </a:xfrm>
          <a:prstGeom prst="rect">
            <a:avLst/>
          </a:prstGeom>
        </p:spPr>
      </p:pic>
      <p:pic>
        <p:nvPicPr>
          <p:cNvPr id="138" name="图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1971" y="2476946"/>
            <a:ext cx="641400" cy="439220"/>
          </a:xfrm>
          <a:prstGeom prst="rect">
            <a:avLst/>
          </a:prstGeom>
        </p:spPr>
      </p:pic>
      <p:pic>
        <p:nvPicPr>
          <p:cNvPr id="139" name="图片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9360" y="3026780"/>
            <a:ext cx="473913" cy="495578"/>
          </a:xfrm>
          <a:prstGeom prst="rect">
            <a:avLst/>
          </a:prstGeom>
        </p:spPr>
      </p:pic>
      <p:cxnSp>
        <p:nvCxnSpPr>
          <p:cNvPr id="140" name="直接箭头连接符 71"/>
          <p:cNvCxnSpPr/>
          <p:nvPr/>
        </p:nvCxnSpPr>
        <p:spPr>
          <a:xfrm>
            <a:off x="3635895" y="15347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72"/>
          <p:cNvCxnSpPr/>
          <p:nvPr/>
        </p:nvCxnSpPr>
        <p:spPr>
          <a:xfrm>
            <a:off x="3635895" y="214261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73"/>
          <p:cNvCxnSpPr/>
          <p:nvPr/>
        </p:nvCxnSpPr>
        <p:spPr>
          <a:xfrm>
            <a:off x="3635895" y="27170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74"/>
          <p:cNvCxnSpPr/>
          <p:nvPr/>
        </p:nvCxnSpPr>
        <p:spPr>
          <a:xfrm>
            <a:off x="3635895" y="3291956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75"/>
          <p:cNvCxnSpPr/>
          <p:nvPr/>
        </p:nvCxnSpPr>
        <p:spPr>
          <a:xfrm>
            <a:off x="6618017" y="159693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76"/>
          <p:cNvCxnSpPr/>
          <p:nvPr/>
        </p:nvCxnSpPr>
        <p:spPr>
          <a:xfrm>
            <a:off x="6625309" y="2085234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77"/>
          <p:cNvCxnSpPr/>
          <p:nvPr/>
        </p:nvCxnSpPr>
        <p:spPr>
          <a:xfrm>
            <a:off x="6625309" y="2617185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78"/>
          <p:cNvCxnSpPr/>
          <p:nvPr/>
        </p:nvCxnSpPr>
        <p:spPr>
          <a:xfrm>
            <a:off x="6625309" y="3152028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onnector 49"/>
          <p:cNvSpPr>
            <a:spLocks noGrp="1"/>
          </p:cNvSpPr>
          <p:nvPr/>
        </p:nvSpPr>
        <p:spPr>
          <a:xfrm>
            <a:off x="6080932" y="3965500"/>
            <a:ext cx="0" cy="2250804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2" name="直角三角形 81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直角三角形 82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直角三角形 83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直角三角形 84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直角三角形 86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直角三角形 88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911095" y="274320"/>
            <a:ext cx="84124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Embedding：非结构化数据如何进入数据库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00479" y="4499921"/>
            <a:ext cx="3751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/>
              <a:t>※ </a:t>
            </a:r>
            <a:r>
              <a:rPr lang="zh-CN" altLang="en-US" sz="1100"/>
              <a:t>向量记录通常还需要与 </a:t>
            </a:r>
            <a:r>
              <a:rPr lang="en-US" altLang="zh-CN" sz="1100"/>
              <a:t>id</a:t>
            </a:r>
            <a:r>
              <a:rPr lang="zh-CN" altLang="en-US" sz="1100"/>
              <a:t>、原文片段、来源、时间、权限等 </a:t>
            </a:r>
            <a:r>
              <a:rPr lang="en-US" altLang="zh-CN" sz="1100"/>
              <a:t>metadata </a:t>
            </a:r>
            <a:r>
              <a:rPr lang="zh-CN" altLang="en-US" sz="1100"/>
              <a:t>元数据绑定，才能成为可管理的数据对象。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97345" y="3927545"/>
            <a:ext cx="243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※ </a:t>
            </a:r>
            <a:r>
              <a:rPr lang="zh-CN" altLang="en-US" sz="1200"/>
              <a:t>仅作直观示意，真实 </a:t>
            </a:r>
            <a:r>
              <a:rPr lang="en-US" altLang="zh-CN" sz="1200"/>
              <a:t>embedding </a:t>
            </a:r>
            <a:r>
              <a:rPr lang="zh-CN" altLang="en-US" sz="1200"/>
              <a:t>往往是数百到数千维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2989590" y="174911"/>
            <a:ext cx="6197931" cy="6559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RAG 引出向量数据库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3645841" y="896422"/>
            <a:ext cx="4958344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5C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RAG 需要专门的向量存储与检索系统？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187505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713562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15833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99689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52084" y="1676238"/>
            <a:ext cx="132708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158338" y="1676238"/>
            <a:ext cx="1319794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871884" y="1676238"/>
            <a:ext cx="1312503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37519" y="1676238"/>
            <a:ext cx="137083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938564" y="1676238"/>
            <a:ext cx="1385419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56251" y="1807421"/>
            <a:ext cx="94791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文档切分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(chunking)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355213" y="1909453"/>
            <a:ext cx="984377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032301" y="1807421"/>
            <a:ext cx="984377" cy="473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 vectors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436686" y="1840280"/>
            <a:ext cx="765626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150023" y="1829285"/>
            <a:ext cx="947918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返回相关片段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540" y="2237414"/>
            <a:ext cx="1050002" cy="97659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01" y="2266565"/>
            <a:ext cx="1050002" cy="976590"/>
          </a:xfrm>
          <a:prstGeom prst="rect">
            <a:avLst/>
          </a:prstGeom>
        </p:spPr>
      </p:pic>
      <p:sp>
        <p:nvSpPr>
          <p:cNvPr id="28" name="Right Arrow 27"/>
          <p:cNvSpPr>
            <a:spLocks noGrp="1"/>
          </p:cNvSpPr>
          <p:nvPr/>
        </p:nvSpPr>
        <p:spPr>
          <a:xfrm>
            <a:off x="1786462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Right Arrow 28"/>
          <p:cNvSpPr>
            <a:spLocks noGrp="1"/>
          </p:cNvSpPr>
          <p:nvPr/>
        </p:nvSpPr>
        <p:spPr>
          <a:xfrm>
            <a:off x="3514591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Right Arrow 29"/>
          <p:cNvSpPr>
            <a:spLocks noGrp="1"/>
          </p:cNvSpPr>
          <p:nvPr/>
        </p:nvSpPr>
        <p:spPr>
          <a:xfrm>
            <a:off x="5198970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Right Arrow 30"/>
          <p:cNvSpPr>
            <a:spLocks noGrp="1"/>
          </p:cNvSpPr>
          <p:nvPr/>
        </p:nvSpPr>
        <p:spPr>
          <a:xfrm>
            <a:off x="7729184" y="2383173"/>
            <a:ext cx="342709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9537522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Connector 32"/>
          <p:cNvSpPr>
            <a:spLocks noGrp="1"/>
          </p:cNvSpPr>
          <p:nvPr/>
        </p:nvSpPr>
        <p:spPr>
          <a:xfrm>
            <a:off x="401042" y="3942803"/>
            <a:ext cx="3791676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Connector 33"/>
          <p:cNvSpPr>
            <a:spLocks noGrp="1"/>
          </p:cNvSpPr>
          <p:nvPr/>
        </p:nvSpPr>
        <p:spPr>
          <a:xfrm>
            <a:off x="7831268" y="3942803"/>
            <a:ext cx="3777092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5" name="TextBox 34"/>
          <p:cNvSpPr>
            <a:spLocks noGrp="1"/>
          </p:cNvSpPr>
          <p:nvPr/>
        </p:nvSpPr>
        <p:spPr>
          <a:xfrm>
            <a:off x="4396885" y="3797043"/>
            <a:ext cx="3427091" cy="3060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5C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为什么需要专门的向量数据库？</a:t>
            </a: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452084" y="4292626"/>
            <a:ext cx="2573964" cy="1355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3295841" y="4292626"/>
            <a:ext cx="2515630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6059389" y="4292626"/>
            <a:ext cx="2537505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866687" y="4292626"/>
            <a:ext cx="2727089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1385419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数据量大</a:t>
            </a:r>
          </a:p>
        </p:txBody>
      </p:sp>
      <p:sp>
        <p:nvSpPr>
          <p:cNvPr id="45" name="Connector 44"/>
          <p:cNvSpPr>
            <a:spLocks noGrp="1"/>
          </p:cNvSpPr>
          <p:nvPr/>
        </p:nvSpPr>
        <p:spPr>
          <a:xfrm>
            <a:off x="1400003" y="4715330"/>
            <a:ext cx="1341670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TextBox 45"/>
          <p:cNvSpPr>
            <a:spLocks noGrp="1"/>
          </p:cNvSpPr>
          <p:nvPr/>
        </p:nvSpPr>
        <p:spPr>
          <a:xfrm>
            <a:off x="820782" y="5297786"/>
            <a:ext cx="9185096" cy="3722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buNone/>
            </a:pPr>
            <a:endParaRPr sz="1250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4287510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查询频繁</a:t>
            </a:r>
          </a:p>
        </p:txBody>
      </p:sp>
      <p:sp>
        <p:nvSpPr>
          <p:cNvPr id="49" name="Connector 48"/>
          <p:cNvSpPr>
            <a:spLocks noGrp="1"/>
          </p:cNvSpPr>
          <p:nvPr/>
        </p:nvSpPr>
        <p:spPr>
          <a:xfrm>
            <a:off x="4287510" y="4715330"/>
            <a:ext cx="1319794" cy="0"/>
          </a:xfrm>
          <a:prstGeom prst="line">
            <a:avLst/>
          </a:prstGeom>
          <a:ln w="10160">
            <a:solidFill>
              <a:srgbClr val="008B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TextBox 50"/>
          <p:cNvSpPr>
            <a:spLocks noGrp="1"/>
          </p:cNvSpPr>
          <p:nvPr/>
        </p:nvSpPr>
        <p:spPr>
          <a:xfrm>
            <a:off x="4294801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0" i="0" u="none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7072933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需要高效</a:t>
            </a:r>
          </a:p>
        </p:txBody>
      </p:sp>
      <p:sp>
        <p:nvSpPr>
          <p:cNvPr id="53" name="Connector 52"/>
          <p:cNvSpPr>
            <a:spLocks noGrp="1"/>
          </p:cNvSpPr>
          <p:nvPr/>
        </p:nvSpPr>
        <p:spPr>
          <a:xfrm>
            <a:off x="7072933" y="4715330"/>
            <a:ext cx="1327086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TextBox 54"/>
          <p:cNvSpPr>
            <a:spLocks noGrp="1"/>
          </p:cNvSpPr>
          <p:nvPr/>
        </p:nvSpPr>
        <p:spPr>
          <a:xfrm>
            <a:off x="7072933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0" i="0" u="none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872939" y="4445674"/>
            <a:ext cx="1494795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需要结合元数据</a:t>
            </a:r>
          </a:p>
        </p:txBody>
      </p:sp>
      <p:sp>
        <p:nvSpPr>
          <p:cNvPr id="57" name="Connector 56"/>
          <p:cNvSpPr>
            <a:spLocks noGrp="1"/>
          </p:cNvSpPr>
          <p:nvPr/>
        </p:nvSpPr>
        <p:spPr>
          <a:xfrm>
            <a:off x="9887523" y="4715330"/>
            <a:ext cx="1523962" cy="0"/>
          </a:xfrm>
          <a:prstGeom prst="line">
            <a:avLst/>
          </a:prstGeom>
          <a:ln w="10160">
            <a:solidFill>
              <a:srgbClr val="007D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2989590" y="5808530"/>
            <a:ext cx="6073387" cy="6087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27091" y="5917849"/>
            <a:ext cx="5169803" cy="3644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sng">
                <a:solidFill>
                  <a:schemeClr val="tx2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向量数据库</a:t>
            </a:r>
            <a:r>
              <a:rPr sz="2400" b="1" i="0" u="none">
                <a:solidFill>
                  <a:srgbClr val="04145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 </a:t>
            </a:r>
            <a:r>
              <a:rPr sz="2400" b="1" i="0" u="none">
                <a:solidFill>
                  <a:srgbClr val="14141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检索层的 </a:t>
            </a:r>
            <a:r>
              <a:rPr sz="2400" b="1" i="0" u="none">
                <a:solidFill>
                  <a:srgbClr val="F0781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基础设施</a:t>
            </a:r>
          </a:p>
        </p:txBody>
      </p:sp>
      <p:pic>
        <p:nvPicPr>
          <p:cNvPr id="63" name="图片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991" y="1454653"/>
            <a:ext cx="2169678" cy="2152902"/>
          </a:xfrm>
          <a:prstGeom prst="rect">
            <a:avLst/>
          </a:prstGeom>
        </p:spPr>
      </p:pic>
      <p:pic>
        <p:nvPicPr>
          <p:cNvPr id="64" name="图片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78" y="2154124"/>
            <a:ext cx="1235975" cy="1151154"/>
          </a:xfrm>
          <a:prstGeom prst="rect">
            <a:avLst/>
          </a:prstGeom>
        </p:spPr>
      </p:pic>
      <p:pic>
        <p:nvPicPr>
          <p:cNvPr id="65" name="图片 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982" y="2207784"/>
            <a:ext cx="947918" cy="1021269"/>
          </a:xfrm>
          <a:prstGeom prst="rect">
            <a:avLst/>
          </a:prstGeom>
        </p:spPr>
      </p:pic>
      <p:pic>
        <p:nvPicPr>
          <p:cNvPr id="66" name="图片 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954" y="2266565"/>
            <a:ext cx="884924" cy="910207"/>
          </a:xfrm>
          <a:prstGeom prst="rect">
            <a:avLst/>
          </a:prstGeom>
        </p:spPr>
      </p:pic>
      <p:pic>
        <p:nvPicPr>
          <p:cNvPr id="67" name="图片 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99" y="4350154"/>
            <a:ext cx="849891" cy="869061"/>
          </a:xfrm>
          <a:prstGeom prst="rect">
            <a:avLst/>
          </a:prstGeom>
        </p:spPr>
      </p:pic>
      <p:pic>
        <p:nvPicPr>
          <p:cNvPr id="68" name="图片 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2662" y="4430495"/>
            <a:ext cx="810056" cy="798056"/>
          </a:xfrm>
          <a:prstGeom prst="rect">
            <a:avLst/>
          </a:prstGeom>
        </p:spPr>
      </p:pic>
      <p:pic>
        <p:nvPicPr>
          <p:cNvPr id="69" name="图片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6769" y="4445674"/>
            <a:ext cx="771268" cy="729089"/>
          </a:xfrm>
          <a:prstGeom prst="rect">
            <a:avLst/>
          </a:prstGeom>
        </p:spPr>
      </p:pic>
      <p:pic>
        <p:nvPicPr>
          <p:cNvPr id="70" name="图片 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9624" y="4360241"/>
            <a:ext cx="788702" cy="834424"/>
          </a:xfrm>
          <a:prstGeom prst="rect">
            <a:avLst/>
          </a:prstGeom>
        </p:spPr>
      </p:pic>
      <p:pic>
        <p:nvPicPr>
          <p:cNvPr id="71" name="图形 7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313298">
            <a:off x="2725582" y="5537216"/>
            <a:ext cx="600933" cy="600933"/>
          </a:xfrm>
          <a:prstGeom prst="rect">
            <a:avLst/>
          </a:prstGeom>
        </p:spPr>
      </p:pic>
      <p:sp>
        <p:nvSpPr>
          <p:cNvPr id="81" name="直角三角形 80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直角三角形 81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直角三角形 8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直角三角形 8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直角三角形 84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直角三角形 8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直角三角形 8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直角三角形 8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289156" y="4769126"/>
            <a:ext cx="1799972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海量文档会被切分成大量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chunk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chunk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都会生成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embedding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，需要长期存储和持续更新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81037" y="4756255"/>
            <a:ext cx="1730434" cy="81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每次问答都会触发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 query embedding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Top-K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检索，检索延迟会直接影响用户体验。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938037" y="4758853"/>
            <a:ext cx="1666148" cy="63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暴力扫描需要逐个比较所有向量，数据规模变大后难以满足低延迟需求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785460" y="4780027"/>
            <a:ext cx="1742975" cy="63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真实检索常需按来源、时间、标签、权限等过滤，不能只依赖相似度分数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411480" y="164592"/>
            <a:ext cx="113842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什么是向量数据库？</a:t>
            </a:r>
          </a:p>
        </p:txBody>
      </p:sp>
      <p:sp>
        <p:nvSpPr>
          <p:cNvPr id="7" name="Connector 6"/>
          <p:cNvSpPr>
            <a:spLocks noGrp="1"/>
          </p:cNvSpPr>
          <p:nvPr/>
        </p:nvSpPr>
        <p:spPr>
          <a:xfrm>
            <a:off x="2066544" y="941832"/>
            <a:ext cx="123444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8883823" y="941832"/>
            <a:ext cx="109728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2039112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935383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333631" y="841248"/>
            <a:ext cx="5539978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面向高维向量数据存储、索引与相似检索的数据库系统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463040" y="1188720"/>
            <a:ext cx="9162288" cy="822960"/>
          </a:xfrm>
          <a:prstGeom prst="roundRect">
            <a:avLst/>
          </a:prstGeom>
          <a:solidFill>
            <a:srgbClr val="E5F0FE"/>
          </a:solidFill>
          <a:ln w="1524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468880" y="1444752"/>
            <a:ext cx="713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383280" y="1335024"/>
            <a:ext cx="7335341" cy="5360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向量数据库是面向高维向量数据的数据库系统，用于存储 </a:t>
            </a:r>
            <a:r>
              <a:rPr lang="en-US" alt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embedding </a:t>
            </a: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</a:t>
            </a:r>
            <a:r>
              <a:rPr lang="en-US" alt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>
              <a:spcAft>
                <a:spcPts val="100"/>
              </a:spcAft>
            </a:pP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及其元数据，并支持基于相似度的高效近邻检索、过滤、更新和系统管理。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060704" y="2148840"/>
            <a:ext cx="4069080" cy="2578608"/>
          </a:xfrm>
          <a:prstGeom prst="roundRect">
            <a:avLst>
              <a:gd name="adj" fmla="val 7408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559552" y="2123584"/>
            <a:ext cx="5522976" cy="2578608"/>
          </a:xfrm>
          <a:prstGeom prst="roundRect">
            <a:avLst>
              <a:gd name="adj" fmla="val 4650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184743" y="2267712"/>
            <a:ext cx="7694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数据对象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889504" y="2286000"/>
            <a:ext cx="112851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（一个向量记录）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1060704" y="2514600"/>
            <a:ext cx="4069080" cy="0"/>
          </a:xfrm>
          <a:prstGeom prst="line">
            <a:avLst/>
          </a:prstGeom>
          <a:ln w="10160">
            <a:solidFill>
              <a:srgbClr val="87B4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>
            <a:spLocks noGrp="1"/>
          </p:cNvSpPr>
          <p:nvPr/>
        </p:nvSpPr>
        <p:spPr>
          <a:xfrm>
            <a:off x="7836408" y="2267712"/>
            <a:ext cx="868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</a:p>
        </p:txBody>
      </p:sp>
      <p:sp>
        <p:nvSpPr>
          <p:cNvPr id="21" name="Connector 20"/>
          <p:cNvSpPr>
            <a:spLocks noGrp="1"/>
          </p:cNvSpPr>
          <p:nvPr/>
        </p:nvSpPr>
        <p:spPr>
          <a:xfrm>
            <a:off x="5760720" y="2395728"/>
            <a:ext cx="1874520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Connector 21"/>
          <p:cNvSpPr>
            <a:spLocks noGrp="1"/>
          </p:cNvSpPr>
          <p:nvPr/>
        </p:nvSpPr>
        <p:spPr>
          <a:xfrm>
            <a:off x="8887968" y="2395728"/>
            <a:ext cx="1993392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TextBox 22"/>
          <p:cNvSpPr>
            <a:spLocks noGrp="1"/>
          </p:cNvSpPr>
          <p:nvPr/>
        </p:nvSpPr>
        <p:spPr>
          <a:xfrm>
            <a:off x="1572768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vector（向量）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465576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87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metadata（元数据）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1170432" y="2898648"/>
            <a:ext cx="1856231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357723" y="3063240"/>
            <a:ext cx="149079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[0.12, -0.35, 0.81, ..., 0.07]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895712" y="3364992"/>
            <a:ext cx="4696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维度：d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3291840" y="2880360"/>
            <a:ext cx="166420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E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3456432" y="2999232"/>
            <a:ext cx="998671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文本：今天天气不错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类别：天气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时间：2024-05-20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来源：新闻网站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其他键值对 ...</a:t>
            </a:r>
          </a:p>
        </p:txBody>
      </p:sp>
      <p:sp>
        <p:nvSpPr>
          <p:cNvPr id="30" name="Connector 29"/>
          <p:cNvSpPr>
            <a:spLocks noGrp="1"/>
          </p:cNvSpPr>
          <p:nvPr/>
        </p:nvSpPr>
        <p:spPr>
          <a:xfrm>
            <a:off x="2039112" y="3712463"/>
            <a:ext cx="0" cy="256033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Connector 30"/>
          <p:cNvSpPr>
            <a:spLocks noGrp="1"/>
          </p:cNvSpPr>
          <p:nvPr/>
        </p:nvSpPr>
        <p:spPr>
          <a:xfrm>
            <a:off x="3822191" y="3886200"/>
            <a:ext cx="0" cy="82296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1472184" y="4160520"/>
            <a:ext cx="3200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2560320" y="4224528"/>
            <a:ext cx="104241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6E50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id（唯一标识）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755648" y="4443984"/>
            <a:ext cx="26060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550e8400-e29b-41d4-a716-446655440000</a:t>
            </a:r>
          </a:p>
        </p:txBody>
      </p:sp>
      <p:sp>
        <p:nvSpPr>
          <p:cNvPr id="36" name="Right Arrow 35"/>
          <p:cNvSpPr>
            <a:spLocks noGrp="1"/>
          </p:cNvSpPr>
          <p:nvPr/>
        </p:nvSpPr>
        <p:spPr>
          <a:xfrm>
            <a:off x="5212080" y="3364992"/>
            <a:ext cx="320040" cy="22860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5687568" y="2596896"/>
            <a:ext cx="1600200" cy="2029968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452360" y="2596896"/>
            <a:ext cx="1627632" cy="202996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008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9281160" y="2596896"/>
            <a:ext cx="1627632" cy="2029968"/>
          </a:xfrm>
          <a:prstGeom prst="roundRect">
            <a:avLst/>
          </a:prstGeom>
          <a:solidFill>
            <a:srgbClr val="F8F5FE"/>
          </a:solidFill>
          <a:ln w="12700">
            <a:solidFill>
              <a:srgbClr val="583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5897880" y="3355848"/>
            <a:ext cx="1143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存储（Storage）</a:t>
            </a: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5806440" y="3657600"/>
            <a:ext cx="1498808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持久化存储高维向量与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元数据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支持高并发写入与读取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保证数据可靠性与可用性</a:t>
            </a: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7662672" y="3355848"/>
            <a:ext cx="1234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87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索引（Indexing）</a:t>
            </a: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7571231" y="3657600"/>
            <a:ext cx="1580561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构建近邻搜索索引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（如 HNSW、IVF、PQ 等）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支持增量构建与更新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平衡性能、精度与成本</a:t>
            </a: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9464040" y="3355848"/>
            <a:ext cx="12801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5836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检索（Retrieval）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9418320" y="3652800"/>
            <a:ext cx="1353312" cy="654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高效近邻/相似性搜索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支持相似度度量（如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余弦相似度、L2 等）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结合过滤与条件查询</a:t>
            </a:r>
          </a:p>
        </p:txBody>
      </p:sp>
      <p:sp>
        <p:nvSpPr>
          <p:cNvPr id="49" name="Connector 48"/>
          <p:cNvSpPr>
            <a:spLocks noGrp="1"/>
          </p:cNvSpPr>
          <p:nvPr/>
        </p:nvSpPr>
        <p:spPr>
          <a:xfrm>
            <a:off x="1096075" y="4834177"/>
            <a:ext cx="3886200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0" name="Connector 49"/>
          <p:cNvSpPr>
            <a:spLocks noGrp="1"/>
          </p:cNvSpPr>
          <p:nvPr/>
        </p:nvSpPr>
        <p:spPr>
          <a:xfrm>
            <a:off x="5609382" y="4837509"/>
            <a:ext cx="5427425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1115568" y="4956048"/>
            <a:ext cx="9921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1353312" y="5148072"/>
            <a:ext cx="2514600" cy="1033271"/>
          </a:xfrm>
          <a:prstGeom prst="roundRect">
            <a:avLst/>
          </a:prstGeom>
          <a:solidFill>
            <a:srgbClr val="FEF9F9"/>
          </a:solidFill>
          <a:ln w="11430">
            <a:solidFill>
              <a:srgbClr val="A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4343400" y="5148072"/>
            <a:ext cx="2423160" cy="1033271"/>
          </a:xfrm>
          <a:prstGeom prst="roundRect">
            <a:avLst/>
          </a:prstGeom>
          <a:solidFill>
            <a:srgbClr val="FEF9F8"/>
          </a:solidFill>
          <a:ln w="11430">
            <a:solidFill>
              <a:srgbClr val="D2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242048" y="5148072"/>
            <a:ext cx="3474720" cy="1033271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32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3950208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ight Arrow 56"/>
          <p:cNvSpPr>
            <a:spLocks noGrp="1"/>
          </p:cNvSpPr>
          <p:nvPr/>
        </p:nvSpPr>
        <p:spPr>
          <a:xfrm>
            <a:off x="6858000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2351633" y="5340096"/>
            <a:ext cx="1331775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不是仅仅一个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模型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2081757" y="577204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模型负责“生成向量”，而非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存储、索引与系统管理。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5442653" y="5283843"/>
            <a:ext cx="820738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不是单纯的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 算法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4979931" y="577639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算法是“方法”，而非完整的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数据平台与工程体系。</a:t>
            </a: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8297536" y="5309440"/>
            <a:ext cx="2333972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而是把存储</a:t>
            </a: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、索引、查询、过滤、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工程能力整合起来的系统</a:t>
            </a: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258240" y="5779802"/>
            <a:ext cx="2318583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提供端到端能力，面向生产可用性、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可扩展性与可运维性。</a:t>
            </a:r>
          </a:p>
        </p:txBody>
      </p:sp>
      <p:sp>
        <p:nvSpPr>
          <p:cNvPr id="70" name="Connector 29"/>
          <p:cNvSpPr>
            <a:spLocks noGrp="1"/>
          </p:cNvSpPr>
          <p:nvPr/>
        </p:nvSpPr>
        <p:spPr>
          <a:xfrm>
            <a:off x="2039112" y="3968496"/>
            <a:ext cx="950976" cy="0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3" name="Connector 30"/>
          <p:cNvSpPr>
            <a:spLocks noGrp="1"/>
          </p:cNvSpPr>
          <p:nvPr/>
        </p:nvSpPr>
        <p:spPr>
          <a:xfrm>
            <a:off x="2990088" y="3968496"/>
            <a:ext cx="832103" cy="0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9" name="Connector 29"/>
          <p:cNvSpPr>
            <a:spLocks noGrp="1"/>
          </p:cNvSpPr>
          <p:nvPr/>
        </p:nvSpPr>
        <p:spPr>
          <a:xfrm flipV="1">
            <a:off x="2966719" y="3968496"/>
            <a:ext cx="1" cy="192024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80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85" y="2744082"/>
            <a:ext cx="581106" cy="485843"/>
          </a:xfrm>
          <a:prstGeom prst="rect">
            <a:avLst/>
          </a:prstGeom>
        </p:spPr>
      </p:pic>
      <p:pic>
        <p:nvPicPr>
          <p:cNvPr id="81" name="图片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533" y="2639626"/>
            <a:ext cx="766421" cy="702552"/>
          </a:xfrm>
          <a:prstGeom prst="rect">
            <a:avLst/>
          </a:prstGeom>
        </p:spPr>
      </p:pic>
      <p:pic>
        <p:nvPicPr>
          <p:cNvPr id="82" name="图片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810" y="2731882"/>
            <a:ext cx="620332" cy="550813"/>
          </a:xfrm>
          <a:prstGeom prst="rect">
            <a:avLst/>
          </a:prstGeom>
        </p:spPr>
      </p:pic>
      <p:pic>
        <p:nvPicPr>
          <p:cNvPr id="83" name="图片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640" y="5290284"/>
            <a:ext cx="706063" cy="787292"/>
          </a:xfrm>
          <a:prstGeom prst="rect">
            <a:avLst/>
          </a:prstGeom>
        </p:spPr>
      </p:pic>
      <p:pic>
        <p:nvPicPr>
          <p:cNvPr id="84" name="图片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613" y="5201474"/>
            <a:ext cx="250195" cy="277243"/>
          </a:xfrm>
          <a:prstGeom prst="rect">
            <a:avLst/>
          </a:prstGeom>
        </p:spPr>
      </p:pic>
      <p:pic>
        <p:nvPicPr>
          <p:cNvPr id="85" name="图片 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3157" y="5219049"/>
            <a:ext cx="568619" cy="577941"/>
          </a:xfrm>
          <a:prstGeom prst="rect">
            <a:avLst/>
          </a:prstGeom>
        </p:spPr>
      </p:pic>
      <p:pic>
        <p:nvPicPr>
          <p:cNvPr id="86" name="图片 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5618" y="5286297"/>
            <a:ext cx="602985" cy="674525"/>
          </a:xfrm>
          <a:prstGeom prst="rect">
            <a:avLst/>
          </a:prstGeom>
        </p:spPr>
      </p:pic>
      <p:pic>
        <p:nvPicPr>
          <p:cNvPr id="87" name="图片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2382" y="5217555"/>
            <a:ext cx="242179" cy="441620"/>
          </a:xfrm>
          <a:prstGeom prst="rect">
            <a:avLst/>
          </a:prstGeom>
        </p:spPr>
      </p:pic>
      <p:pic>
        <p:nvPicPr>
          <p:cNvPr id="88" name="图片 9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8430" y="5219049"/>
            <a:ext cx="242179" cy="441620"/>
          </a:xfrm>
          <a:prstGeom prst="rect">
            <a:avLst/>
          </a:prstGeom>
        </p:spPr>
      </p:pic>
      <p:sp>
        <p:nvSpPr>
          <p:cNvPr id="99" name="直角三角形 98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直角三角形 99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直角三角形 100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直角三角形 101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3" name="直角三角形 102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" name="直角三角形 103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直角三角形 104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6" name="直角三角形 105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822960" y="182880"/>
            <a:ext cx="1056132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向量数据库的核心功能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056236" y="1051560"/>
            <a:ext cx="4231928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不仅能存，还要能快、能准、能管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324486" y="1133856"/>
            <a:ext cx="155448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399901" y="1128170"/>
            <a:ext cx="1490473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260478" y="1101852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835510" y="1096166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042415" y="1591056"/>
            <a:ext cx="3118104" cy="1783080"/>
          </a:xfrm>
          <a:prstGeom prst="roundRect">
            <a:avLst/>
          </a:prstGeom>
          <a:solidFill>
            <a:srgbClr val="F6F8FE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243584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367028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819655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向量存储</a:t>
            </a:r>
          </a:p>
        </p:txBody>
      </p:sp>
      <p:sp>
        <p:nvSpPr>
          <p:cNvPr id="16" name="Connector 15"/>
          <p:cNvSpPr>
            <a:spLocks noGrp="1"/>
          </p:cNvSpPr>
          <p:nvPr/>
        </p:nvSpPr>
        <p:spPr>
          <a:xfrm>
            <a:off x="2340863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2539090" y="2459736"/>
            <a:ext cx="148277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 embedding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及对象标识</a:t>
            </a: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507992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4709159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4832603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285231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</a:p>
        </p:txBody>
      </p:sp>
      <p:sp>
        <p:nvSpPr>
          <p:cNvPr id="23" name="Connector 22"/>
          <p:cNvSpPr>
            <a:spLocks noGrp="1"/>
          </p:cNvSpPr>
          <p:nvPr/>
        </p:nvSpPr>
        <p:spPr>
          <a:xfrm>
            <a:off x="5806440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10" y="2244701"/>
            <a:ext cx="962526" cy="925574"/>
          </a:xfrm>
          <a:prstGeom prst="rect">
            <a:avLst/>
          </a:prstGeom>
        </p:spPr>
      </p:pic>
      <p:sp>
        <p:nvSpPr>
          <p:cNvPr id="25" name="TextBox 24"/>
          <p:cNvSpPr>
            <a:spLocks noGrp="1"/>
          </p:cNvSpPr>
          <p:nvPr/>
        </p:nvSpPr>
        <p:spPr>
          <a:xfrm>
            <a:off x="6007610" y="2371338"/>
            <a:ext cx="1187826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Top-K /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kNN / Range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955279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8156448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279892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732519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向量索引</a:t>
            </a:r>
          </a:p>
        </p:txBody>
      </p:sp>
      <p:sp>
        <p:nvSpPr>
          <p:cNvPr id="30" name="Connector 29"/>
          <p:cNvSpPr>
            <a:spLocks noGrp="1"/>
          </p:cNvSpPr>
          <p:nvPr/>
        </p:nvSpPr>
        <p:spPr>
          <a:xfrm>
            <a:off x="9253728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971" y="2259277"/>
            <a:ext cx="1108363" cy="889134"/>
          </a:xfrm>
          <a:prstGeom prst="rect">
            <a:avLst/>
          </a:prstGeom>
        </p:spPr>
      </p:pic>
      <p:sp>
        <p:nvSpPr>
          <p:cNvPr id="32" name="TextBox 31"/>
          <p:cNvSpPr>
            <a:spLocks noGrp="1"/>
          </p:cNvSpPr>
          <p:nvPr/>
        </p:nvSpPr>
        <p:spPr>
          <a:xfrm>
            <a:off x="9531517" y="2368076"/>
            <a:ext cx="1300036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 ANN 索引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</a:t>
            </a: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1042415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Oval 33"/>
          <p:cNvSpPr>
            <a:spLocks noGrp="1"/>
          </p:cNvSpPr>
          <p:nvPr/>
        </p:nvSpPr>
        <p:spPr>
          <a:xfrm>
            <a:off x="1243584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367028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819655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元数据过滤</a:t>
            </a:r>
          </a:p>
        </p:txBody>
      </p:sp>
      <p:sp>
        <p:nvSpPr>
          <p:cNvPr id="37" name="Connector 36"/>
          <p:cNvSpPr>
            <a:spLocks noGrp="1"/>
          </p:cNvSpPr>
          <p:nvPr/>
        </p:nvSpPr>
        <p:spPr>
          <a:xfrm>
            <a:off x="2340863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9" name="TextBox 38"/>
          <p:cNvSpPr>
            <a:spLocks noGrp="1"/>
          </p:cNvSpPr>
          <p:nvPr/>
        </p:nvSpPr>
        <p:spPr>
          <a:xfrm>
            <a:off x="2539090" y="4443984"/>
            <a:ext cx="130163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按来源、时间、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标签等筛选</a:t>
            </a: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4507992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Oval 40"/>
          <p:cNvSpPr>
            <a:spLocks noGrp="1"/>
          </p:cNvSpPr>
          <p:nvPr/>
        </p:nvSpPr>
        <p:spPr>
          <a:xfrm>
            <a:off x="4709159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4832603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5285231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更新与删除</a:t>
            </a:r>
          </a:p>
        </p:txBody>
      </p:sp>
      <p:sp>
        <p:nvSpPr>
          <p:cNvPr id="44" name="Connector 43"/>
          <p:cNvSpPr>
            <a:spLocks noGrp="1"/>
          </p:cNvSpPr>
          <p:nvPr/>
        </p:nvSpPr>
        <p:spPr>
          <a:xfrm>
            <a:off x="5806440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334" y="4285339"/>
            <a:ext cx="1093779" cy="947438"/>
          </a:xfrm>
          <a:prstGeom prst="rect">
            <a:avLst/>
          </a:prstGeom>
        </p:spPr>
      </p:pic>
      <p:sp>
        <p:nvSpPr>
          <p:cNvPr id="46" name="TextBox 45"/>
          <p:cNvSpPr>
            <a:spLocks noGrp="1"/>
          </p:cNvSpPr>
          <p:nvPr/>
        </p:nvSpPr>
        <p:spPr>
          <a:xfrm>
            <a:off x="6080762" y="4355586"/>
            <a:ext cx="929742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支持插入、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更新、删除</a:t>
            </a: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7955279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Oval 47"/>
          <p:cNvSpPr>
            <a:spLocks noGrp="1"/>
          </p:cNvSpPr>
          <p:nvPr/>
        </p:nvSpPr>
        <p:spPr>
          <a:xfrm>
            <a:off x="8156448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8279892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8732519" y="3803904"/>
            <a:ext cx="2051844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可扩展与工程能力</a:t>
            </a:r>
          </a:p>
        </p:txBody>
      </p:sp>
      <p:sp>
        <p:nvSpPr>
          <p:cNvPr id="51" name="Connector 50"/>
          <p:cNvSpPr>
            <a:spLocks noGrp="1"/>
          </p:cNvSpPr>
          <p:nvPr/>
        </p:nvSpPr>
        <p:spPr>
          <a:xfrm>
            <a:off x="9253728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971" y="4285339"/>
            <a:ext cx="1152114" cy="962014"/>
          </a:xfrm>
          <a:prstGeom prst="rect">
            <a:avLst/>
          </a:prstGeom>
        </p:spPr>
      </p:pic>
      <p:sp>
        <p:nvSpPr>
          <p:cNvPr id="53" name="TextBox 52"/>
          <p:cNvSpPr>
            <a:spLocks noGrp="1"/>
          </p:cNvSpPr>
          <p:nvPr/>
        </p:nvSpPr>
        <p:spPr>
          <a:xfrm>
            <a:off x="9531517" y="4369337"/>
            <a:ext cx="1436291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扩展性、安全</a:t>
            </a:r>
            <a:endParaRPr lang="en-US" altLang="zh-CN" sz="1400" b="0" i="0" u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分布式、持久化、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容错、多租户</a:t>
            </a: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2649997" y="5767171"/>
            <a:ext cx="6427113" cy="71323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F2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2971800" y="5971032"/>
            <a:ext cx="5924699" cy="1015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</a:pPr>
            <a:r>
              <a:rPr sz="22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 = </a:t>
            </a:r>
            <a:r>
              <a:rPr sz="2200" b="1" i="0" u="none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向量检索能力 +</a:t>
            </a:r>
            <a:r>
              <a:rPr lang="en-US" sz="2200" b="1" i="0" u="none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</a:rPr>
              <a:t>数据库系统能力</a:t>
            </a:r>
          </a:p>
          <a:p>
            <a:pPr>
              <a:buNone/>
            </a:pPr>
            <a:endParaRPr sz="2200" b="1" i="0" u="none">
              <a:solidFill>
                <a:srgbClr val="0087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>
              <a:solidFill>
                <a:srgbClr val="0087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图片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3" y="2175004"/>
            <a:ext cx="1068012" cy="1029673"/>
          </a:xfrm>
          <a:prstGeom prst="rect">
            <a:avLst/>
          </a:prstGeom>
        </p:spPr>
      </p:pic>
      <p:pic>
        <p:nvPicPr>
          <p:cNvPr id="58" name="图形 6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313298">
            <a:off x="2317688" y="5568635"/>
            <a:ext cx="600933" cy="600933"/>
          </a:xfrm>
          <a:prstGeom prst="rect">
            <a:avLst/>
          </a:prstGeom>
        </p:spPr>
      </p:pic>
      <p:pic>
        <p:nvPicPr>
          <p:cNvPr id="59" name="图片 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310" y="4192523"/>
            <a:ext cx="1105207" cy="977289"/>
          </a:xfrm>
          <a:prstGeom prst="rect">
            <a:avLst/>
          </a:prstGeom>
        </p:spPr>
      </p:pic>
      <p:sp>
        <p:nvSpPr>
          <p:cNvPr id="66" name="直角三角形 65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直角三角形 66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直角三角形 67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直角三角形 68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直角三角形 69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直角三角形 70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直角三角形 71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直角三角形 72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3135424" y="160335"/>
            <a:ext cx="5979180" cy="5684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0" b="1" i="0" u="none">
                <a:solidFill>
                  <a:srgbClr val="041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向量数据库系统架构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156259" y="838119"/>
            <a:ext cx="3937509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从数据接入到检索服务的完整系统视角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479172" y="969302"/>
            <a:ext cx="1421878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239602" y="969302"/>
            <a:ext cx="1458337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450005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668772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68751" y="1464886"/>
            <a:ext cx="1348961" cy="4052123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14585" y="1632510"/>
            <a:ext cx="1057294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数据写入流程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60418" y="2397749"/>
            <a:ext cx="765626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原始文档</a:t>
            </a:r>
          </a:p>
        </p:txBody>
      </p:sp>
      <p:sp>
        <p:nvSpPr>
          <p:cNvPr id="16" name="Connector 15"/>
          <p:cNvSpPr>
            <a:spLocks noGrp="1"/>
          </p:cNvSpPr>
          <p:nvPr/>
        </p:nvSpPr>
        <p:spPr>
          <a:xfrm>
            <a:off x="1232294" y="2594524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805729" y="3323324"/>
            <a:ext cx="875002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/ 切分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1232294" y="3512811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TextBox 20"/>
          <p:cNvSpPr>
            <a:spLocks noGrp="1"/>
          </p:cNvSpPr>
          <p:nvPr/>
        </p:nvSpPr>
        <p:spPr>
          <a:xfrm>
            <a:off x="831251" y="4289116"/>
            <a:ext cx="838543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</p:txBody>
      </p:sp>
      <p:sp>
        <p:nvSpPr>
          <p:cNvPr id="22" name="Connector 21"/>
          <p:cNvSpPr>
            <a:spLocks noGrp="1"/>
          </p:cNvSpPr>
          <p:nvPr/>
        </p:nvSpPr>
        <p:spPr>
          <a:xfrm>
            <a:off x="1232294" y="4493046"/>
            <a:ext cx="0" cy="18220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TextBox 23"/>
          <p:cNvSpPr>
            <a:spLocks noGrp="1"/>
          </p:cNvSpPr>
          <p:nvPr/>
        </p:nvSpPr>
        <p:spPr>
          <a:xfrm>
            <a:off x="1035419" y="5210913"/>
            <a:ext cx="422917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9858356" y="1435734"/>
            <a:ext cx="1312503" cy="431449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0150023" y="1588782"/>
            <a:ext cx="729168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查询流程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10208357" y="2375885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</a:t>
            </a:r>
          </a:p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（用户查询）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rgbClr val="282D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047940" y="2375885"/>
            <a:ext cx="947918" cy="3133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Connector 31"/>
          <p:cNvSpPr>
            <a:spLocks noGrp="1"/>
          </p:cNvSpPr>
          <p:nvPr/>
        </p:nvSpPr>
        <p:spPr>
          <a:xfrm>
            <a:off x="10521899" y="2703844"/>
            <a:ext cx="0" cy="153048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TextBox 33"/>
          <p:cNvSpPr>
            <a:spLocks noGrp="1"/>
          </p:cNvSpPr>
          <p:nvPr/>
        </p:nvSpPr>
        <p:spPr>
          <a:xfrm>
            <a:off x="10135440" y="3352476"/>
            <a:ext cx="802085" cy="408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（向量化）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rgbClr val="282D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Connector 35"/>
          <p:cNvSpPr>
            <a:spLocks noGrp="1"/>
          </p:cNvSpPr>
          <p:nvPr/>
        </p:nvSpPr>
        <p:spPr>
          <a:xfrm>
            <a:off x="10521899" y="3716875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8" name="TextBox 37"/>
          <p:cNvSpPr>
            <a:spLocks noGrp="1"/>
          </p:cNvSpPr>
          <p:nvPr/>
        </p:nvSpPr>
        <p:spPr>
          <a:xfrm>
            <a:off x="9794132" y="4348197"/>
            <a:ext cx="1470118" cy="34192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Similarity Search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(检索)</a:t>
            </a:r>
          </a:p>
        </p:txBody>
      </p:sp>
      <p:sp>
        <p:nvSpPr>
          <p:cNvPr id="40" name="Connector 39"/>
          <p:cNvSpPr>
            <a:spLocks noGrp="1"/>
          </p:cNvSpPr>
          <p:nvPr/>
        </p:nvSpPr>
        <p:spPr>
          <a:xfrm>
            <a:off x="10521899" y="4700754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2" name="TextBox 41"/>
          <p:cNvSpPr>
            <a:spLocks noGrp="1"/>
          </p:cNvSpPr>
          <p:nvPr/>
        </p:nvSpPr>
        <p:spPr>
          <a:xfrm>
            <a:off x="10150023" y="5276505"/>
            <a:ext cx="743751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返回结果</a:t>
            </a: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10201065" y="5436841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（结果集）</a:t>
            </a: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2209380" y="1260822"/>
            <a:ext cx="7218766" cy="10203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2209380" y="1260822"/>
            <a:ext cx="1079169" cy="1020318"/>
          </a:xfrm>
          <a:prstGeom prst="rect">
            <a:avLst/>
          </a:prstGeom>
          <a:solidFill>
            <a:srgbClr val="2675EE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2450005" y="1381360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961" y="1651015"/>
            <a:ext cx="525001" cy="524735"/>
          </a:xfrm>
          <a:prstGeom prst="rect">
            <a:avLst/>
          </a:prstGeom>
        </p:spPr>
      </p:pic>
      <p:sp>
        <p:nvSpPr>
          <p:cNvPr id="48" name="Rounded Rectangle 47"/>
          <p:cNvSpPr>
            <a:spLocks noGrp="1"/>
          </p:cNvSpPr>
          <p:nvPr/>
        </p:nvSpPr>
        <p:spPr>
          <a:xfrm>
            <a:off x="2209380" y="2623676"/>
            <a:ext cx="7218766" cy="1013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Rectangle 48"/>
          <p:cNvSpPr>
            <a:spLocks noGrp="1"/>
          </p:cNvSpPr>
          <p:nvPr/>
        </p:nvSpPr>
        <p:spPr>
          <a:xfrm>
            <a:off x="2209380" y="2623676"/>
            <a:ext cx="1079169" cy="1013030"/>
          </a:xfrm>
          <a:prstGeom prst="rect">
            <a:avLst/>
          </a:prstGeom>
          <a:solidFill>
            <a:srgbClr val="029693"/>
          </a:solidFill>
          <a:ln>
            <a:solidFill>
              <a:srgbClr val="059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2384380" y="2703844"/>
            <a:ext cx="72916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查询与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服务层</a:t>
            </a:r>
          </a:p>
        </p:txBody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2209380" y="3993819"/>
            <a:ext cx="7218766" cy="9037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ectangle 52"/>
          <p:cNvSpPr>
            <a:spLocks noGrp="1"/>
          </p:cNvSpPr>
          <p:nvPr/>
        </p:nvSpPr>
        <p:spPr>
          <a:xfrm>
            <a:off x="2209380" y="3993819"/>
            <a:ext cx="1079169" cy="903710"/>
          </a:xfrm>
          <a:prstGeom prst="rect">
            <a:avLst/>
          </a:prstGeom>
          <a:solidFill>
            <a:srgbClr val="E98F03"/>
          </a:solidFill>
          <a:ln>
            <a:solidFill>
              <a:srgbClr val="EC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2450005" y="4139579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检索引擎层</a:t>
            </a: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2209380" y="5232777"/>
            <a:ext cx="7218766" cy="896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ectangle 56"/>
          <p:cNvSpPr>
            <a:spLocks noGrp="1"/>
          </p:cNvSpPr>
          <p:nvPr/>
        </p:nvSpPr>
        <p:spPr>
          <a:xfrm>
            <a:off x="2209380" y="5232777"/>
            <a:ext cx="1079169" cy="896422"/>
          </a:xfrm>
          <a:prstGeom prst="rect">
            <a:avLst/>
          </a:prstGeom>
          <a:solidFill>
            <a:srgbClr val="1C5CE0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2450005" y="5378537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存储层</a:t>
            </a: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441674" y="1413870"/>
            <a:ext cx="1844795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071" y="1433347"/>
            <a:ext cx="627084" cy="568463"/>
          </a:xfrm>
          <a:prstGeom prst="rect">
            <a:avLst/>
          </a:prstGeom>
        </p:spPr>
      </p:pic>
      <p:sp>
        <p:nvSpPr>
          <p:cNvPr id="62" name="TextBox 61"/>
          <p:cNvSpPr>
            <a:spLocks noGrp="1"/>
          </p:cNvSpPr>
          <p:nvPr/>
        </p:nvSpPr>
        <p:spPr>
          <a:xfrm>
            <a:off x="4021156" y="1559063"/>
            <a:ext cx="1192190" cy="5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（检索增强生成）</a:t>
            </a: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5439596" y="1413870"/>
            <a:ext cx="1837504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450" y="1424801"/>
            <a:ext cx="612501" cy="619479"/>
          </a:xfrm>
          <a:prstGeom prst="rect">
            <a:avLst/>
          </a:prstGeom>
        </p:spPr>
      </p:pic>
      <p:sp>
        <p:nvSpPr>
          <p:cNvPr id="65" name="TextBox 64"/>
          <p:cNvSpPr>
            <a:spLocks noGrp="1"/>
          </p:cNvSpPr>
          <p:nvPr/>
        </p:nvSpPr>
        <p:spPr>
          <a:xfrm>
            <a:off x="6263866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语义搜索</a:t>
            </a: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7430225" y="1413870"/>
            <a:ext cx="1852087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087" y="1428444"/>
            <a:ext cx="612501" cy="612191"/>
          </a:xfrm>
          <a:prstGeom prst="rect">
            <a:avLst/>
          </a:prstGeom>
        </p:spPr>
      </p:pic>
      <p:sp>
        <p:nvSpPr>
          <p:cNvPr id="68" name="TextBox 67"/>
          <p:cNvSpPr>
            <a:spLocks noGrp="1"/>
          </p:cNvSpPr>
          <p:nvPr/>
        </p:nvSpPr>
        <p:spPr>
          <a:xfrm>
            <a:off x="8273713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推荐系统</a:t>
            </a: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3448966" y="2798588"/>
            <a:ext cx="133437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006" y="2832229"/>
            <a:ext cx="641668" cy="553887"/>
          </a:xfrm>
          <a:prstGeom prst="rect">
            <a:avLst/>
          </a:prstGeom>
        </p:spPr>
      </p:pic>
      <p:sp>
        <p:nvSpPr>
          <p:cNvPr id="71" name="TextBox 70"/>
          <p:cNvSpPr>
            <a:spLocks noGrp="1"/>
          </p:cNvSpPr>
          <p:nvPr/>
        </p:nvSpPr>
        <p:spPr>
          <a:xfrm>
            <a:off x="4128674" y="3050023"/>
            <a:ext cx="619793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接口</a:t>
            </a: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4852615" y="2798588"/>
            <a:ext cx="129062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5472408" y="3053667"/>
            <a:ext cx="583334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查询解析</a:t>
            </a:r>
          </a:p>
        </p:txBody>
      </p:sp>
      <p:sp>
        <p:nvSpPr>
          <p:cNvPr id="75" name="Rounded Rectangle 74"/>
          <p:cNvSpPr>
            <a:spLocks noGrp="1"/>
          </p:cNvSpPr>
          <p:nvPr/>
        </p:nvSpPr>
        <p:spPr>
          <a:xfrm>
            <a:off x="6225939" y="2798588"/>
            <a:ext cx="1626045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6752098" y="2999009"/>
            <a:ext cx="1006252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 Filter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（元数据过滤）</a:t>
            </a:r>
          </a:p>
        </p:txBody>
      </p:sp>
      <p:sp>
        <p:nvSpPr>
          <p:cNvPr id="78" name="Rounded Rectangle 77"/>
          <p:cNvSpPr>
            <a:spLocks noGrp="1"/>
          </p:cNvSpPr>
          <p:nvPr/>
        </p:nvSpPr>
        <p:spPr>
          <a:xfrm>
            <a:off x="7882310" y="2798588"/>
            <a:ext cx="1392711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8569655" y="2999009"/>
            <a:ext cx="663543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（重排序）</a:t>
            </a:r>
          </a:p>
        </p:txBody>
      </p:sp>
      <p:sp>
        <p:nvSpPr>
          <p:cNvPr id="81" name="Rounded Rectangle 80"/>
          <p:cNvSpPr>
            <a:spLocks noGrp="1"/>
          </p:cNvSpPr>
          <p:nvPr/>
        </p:nvSpPr>
        <p:spPr>
          <a:xfrm>
            <a:off x="344896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901050" y="4321778"/>
            <a:ext cx="1319794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 Index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（近似最近邻索引）</a:t>
            </a: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543959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6052097" y="4321778"/>
            <a:ext cx="1203127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Similarity Search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（相似检索）</a:t>
            </a:r>
          </a:p>
        </p:txBody>
      </p:sp>
      <p:sp>
        <p:nvSpPr>
          <p:cNvPr id="87" name="Rounded Rectangle 86"/>
          <p:cNvSpPr>
            <a:spLocks noGrp="1"/>
          </p:cNvSpPr>
          <p:nvPr/>
        </p:nvSpPr>
        <p:spPr>
          <a:xfrm>
            <a:off x="7430225" y="4146867"/>
            <a:ext cx="1852087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8152102" y="4321778"/>
            <a:ext cx="1093752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Planner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（查询规划）</a:t>
            </a:r>
          </a:p>
        </p:txBody>
      </p:sp>
      <p:sp>
        <p:nvSpPr>
          <p:cNvPr id="90" name="Rounded Rectangle 89"/>
          <p:cNvSpPr>
            <a:spLocks noGrp="1"/>
          </p:cNvSpPr>
          <p:nvPr/>
        </p:nvSpPr>
        <p:spPr>
          <a:xfrm>
            <a:off x="3448967" y="5393113"/>
            <a:ext cx="172501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4068758" y="5535228"/>
            <a:ext cx="98437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Storage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（向量存储）</a:t>
            </a:r>
          </a:p>
        </p:txBody>
      </p:sp>
      <p:sp>
        <p:nvSpPr>
          <p:cNvPr id="93" name="Rounded Rectangle 92"/>
          <p:cNvSpPr>
            <a:spLocks noGrp="1"/>
          </p:cNvSpPr>
          <p:nvPr/>
        </p:nvSpPr>
        <p:spPr>
          <a:xfrm>
            <a:off x="5273663" y="5390364"/>
            <a:ext cx="2009720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TextBox 94"/>
          <p:cNvSpPr>
            <a:spLocks noGrp="1"/>
          </p:cNvSpPr>
          <p:nvPr/>
        </p:nvSpPr>
        <p:spPr>
          <a:xfrm>
            <a:off x="6029213" y="5547055"/>
            <a:ext cx="114028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 Storge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（元数据存储）</a:t>
            </a:r>
          </a:p>
        </p:txBody>
      </p:sp>
      <p:sp>
        <p:nvSpPr>
          <p:cNvPr id="96" name="Rounded Rectangle 95"/>
          <p:cNvSpPr>
            <a:spLocks noGrp="1"/>
          </p:cNvSpPr>
          <p:nvPr/>
        </p:nvSpPr>
        <p:spPr>
          <a:xfrm>
            <a:off x="7364600" y="5393113"/>
            <a:ext cx="192500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8093768" y="5551087"/>
            <a:ext cx="1057294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Persistent Storage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（持久化存储）</a:t>
            </a:r>
          </a:p>
        </p:txBody>
      </p:sp>
      <p:sp>
        <p:nvSpPr>
          <p:cNvPr id="99" name="Connector 98"/>
          <p:cNvSpPr>
            <a:spLocks noGrp="1"/>
          </p:cNvSpPr>
          <p:nvPr/>
        </p:nvSpPr>
        <p:spPr>
          <a:xfrm>
            <a:off x="419271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0" name="Connector 99"/>
          <p:cNvCxnSpPr/>
          <p:nvPr/>
        </p:nvCxnSpPr>
        <p:spPr>
          <a:xfrm flipV="1">
            <a:off x="419271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onnector 100"/>
          <p:cNvSpPr>
            <a:spLocks noGrp="1"/>
          </p:cNvSpPr>
          <p:nvPr/>
        </p:nvSpPr>
        <p:spPr>
          <a:xfrm>
            <a:off x="419271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2" name="Connector 101"/>
          <p:cNvCxnSpPr/>
          <p:nvPr/>
        </p:nvCxnSpPr>
        <p:spPr>
          <a:xfrm flipV="1">
            <a:off x="419271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onnector 102"/>
          <p:cNvSpPr>
            <a:spLocks noGrp="1"/>
          </p:cNvSpPr>
          <p:nvPr/>
        </p:nvSpPr>
        <p:spPr>
          <a:xfrm>
            <a:off x="419271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4" name="Connector 103"/>
          <p:cNvCxnSpPr/>
          <p:nvPr/>
        </p:nvCxnSpPr>
        <p:spPr>
          <a:xfrm flipV="1">
            <a:off x="419271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onnector 104"/>
          <p:cNvSpPr>
            <a:spLocks noGrp="1"/>
          </p:cNvSpPr>
          <p:nvPr/>
        </p:nvSpPr>
        <p:spPr>
          <a:xfrm>
            <a:off x="592813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6" name="Connector 105"/>
          <p:cNvCxnSpPr/>
          <p:nvPr/>
        </p:nvCxnSpPr>
        <p:spPr>
          <a:xfrm flipV="1">
            <a:off x="592813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onnector 106"/>
          <p:cNvSpPr>
            <a:spLocks noGrp="1"/>
          </p:cNvSpPr>
          <p:nvPr/>
        </p:nvSpPr>
        <p:spPr>
          <a:xfrm>
            <a:off x="592813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8" name="Connector 107"/>
          <p:cNvCxnSpPr/>
          <p:nvPr/>
        </p:nvCxnSpPr>
        <p:spPr>
          <a:xfrm flipV="1">
            <a:off x="592813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onnector 108"/>
          <p:cNvSpPr>
            <a:spLocks noGrp="1"/>
          </p:cNvSpPr>
          <p:nvPr/>
        </p:nvSpPr>
        <p:spPr>
          <a:xfrm>
            <a:off x="592813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0" name="Connector 109"/>
          <p:cNvCxnSpPr/>
          <p:nvPr/>
        </p:nvCxnSpPr>
        <p:spPr>
          <a:xfrm flipV="1">
            <a:off x="592813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nnector 110"/>
          <p:cNvSpPr>
            <a:spLocks noGrp="1"/>
          </p:cNvSpPr>
          <p:nvPr/>
        </p:nvSpPr>
        <p:spPr>
          <a:xfrm>
            <a:off x="7670851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2" name="Connector 111"/>
          <p:cNvCxnSpPr/>
          <p:nvPr/>
        </p:nvCxnSpPr>
        <p:spPr>
          <a:xfrm flipV="1">
            <a:off x="7670851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Connector 112"/>
          <p:cNvSpPr>
            <a:spLocks noGrp="1"/>
          </p:cNvSpPr>
          <p:nvPr/>
        </p:nvSpPr>
        <p:spPr>
          <a:xfrm>
            <a:off x="7670851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4" name="Connector 113"/>
          <p:cNvCxnSpPr/>
          <p:nvPr/>
        </p:nvCxnSpPr>
        <p:spPr>
          <a:xfrm flipV="1">
            <a:off x="7670851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Connector 114"/>
          <p:cNvSpPr>
            <a:spLocks noGrp="1"/>
          </p:cNvSpPr>
          <p:nvPr/>
        </p:nvSpPr>
        <p:spPr>
          <a:xfrm>
            <a:off x="7670851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6" name="Connector 115"/>
          <p:cNvCxnSpPr/>
          <p:nvPr/>
        </p:nvCxnSpPr>
        <p:spPr>
          <a:xfrm flipV="1">
            <a:off x="7670851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图片 1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68" y="1855448"/>
            <a:ext cx="592125" cy="495583"/>
          </a:xfrm>
          <a:prstGeom prst="rect">
            <a:avLst/>
          </a:prstGeom>
        </p:spPr>
      </p:pic>
      <p:pic>
        <p:nvPicPr>
          <p:cNvPr id="118" name="图片 1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21" y="2776724"/>
            <a:ext cx="619759" cy="488295"/>
          </a:xfrm>
          <a:prstGeom prst="rect">
            <a:avLst/>
          </a:prstGeom>
        </p:spPr>
      </p:pic>
      <p:pic>
        <p:nvPicPr>
          <p:cNvPr id="119" name="图片 1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06" y="3775180"/>
            <a:ext cx="600283" cy="495582"/>
          </a:xfrm>
          <a:prstGeom prst="rect">
            <a:avLst/>
          </a:prstGeom>
        </p:spPr>
      </p:pic>
      <p:pic>
        <p:nvPicPr>
          <p:cNvPr id="120" name="图片 1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914" y="4692773"/>
            <a:ext cx="543215" cy="476076"/>
          </a:xfrm>
          <a:prstGeom prst="rect">
            <a:avLst/>
          </a:prstGeom>
        </p:spPr>
      </p:pic>
      <p:cxnSp>
        <p:nvCxnSpPr>
          <p:cNvPr id="121" name="连接符: 肘形 129"/>
          <p:cNvCxnSpPr>
            <a:stCxn id="12" idx="2"/>
            <a:endCxn id="57" idx="1"/>
          </p:cNvCxnSpPr>
          <p:nvPr/>
        </p:nvCxnSpPr>
        <p:spPr>
          <a:xfrm rot="16200000" flipH="1">
            <a:off x="1644317" y="5115924"/>
            <a:ext cx="163979" cy="966148"/>
          </a:xfrm>
          <a:prstGeom prst="bentConnector2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31"/>
          <p:cNvCxnSpPr>
            <a:stCxn id="48" idx="3"/>
          </p:cNvCxnSpPr>
          <p:nvPr/>
        </p:nvCxnSpPr>
        <p:spPr>
          <a:xfrm>
            <a:off x="9428146" y="3130191"/>
            <a:ext cx="430210" cy="10932"/>
          </a:xfrm>
          <a:prstGeom prst="straightConnector1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图片 1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3024" y="2895152"/>
            <a:ext cx="448352" cy="491941"/>
          </a:xfrm>
          <a:prstGeom prst="rect">
            <a:avLst/>
          </a:prstGeom>
        </p:spPr>
      </p:pic>
      <p:pic>
        <p:nvPicPr>
          <p:cNvPr id="124" name="图片 1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8314" y="3156410"/>
            <a:ext cx="617569" cy="459411"/>
          </a:xfrm>
          <a:prstGeom prst="rect">
            <a:avLst/>
          </a:prstGeom>
        </p:spPr>
      </p:pic>
      <p:pic>
        <p:nvPicPr>
          <p:cNvPr id="125" name="图片 1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314" y="4409234"/>
            <a:ext cx="562128" cy="488807"/>
          </a:xfrm>
          <a:prstGeom prst="rect">
            <a:avLst/>
          </a:prstGeom>
        </p:spPr>
      </p:pic>
      <p:pic>
        <p:nvPicPr>
          <p:cNvPr id="126" name="图片 1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6190" y="5625957"/>
            <a:ext cx="437267" cy="460903"/>
          </a:xfrm>
          <a:prstGeom prst="rect">
            <a:avLst/>
          </a:prstGeom>
        </p:spPr>
      </p:pic>
      <p:pic>
        <p:nvPicPr>
          <p:cNvPr id="127" name="图片 1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9603" y="2832930"/>
            <a:ext cx="621874" cy="594539"/>
          </a:xfrm>
          <a:prstGeom prst="rect">
            <a:avLst/>
          </a:prstGeom>
        </p:spPr>
      </p:pic>
      <p:pic>
        <p:nvPicPr>
          <p:cNvPr id="128" name="图片 1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355" y="2915003"/>
            <a:ext cx="446920" cy="452240"/>
          </a:xfrm>
          <a:prstGeom prst="rect">
            <a:avLst/>
          </a:prstGeom>
        </p:spPr>
      </p:pic>
      <p:pic>
        <p:nvPicPr>
          <p:cNvPr id="129" name="图片 1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75589" y="4239193"/>
            <a:ext cx="592322" cy="507705"/>
          </a:xfrm>
          <a:prstGeom prst="rect">
            <a:avLst/>
          </a:prstGeom>
        </p:spPr>
      </p:pic>
      <p:pic>
        <p:nvPicPr>
          <p:cNvPr id="130" name="图片 1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0392" y="5466132"/>
            <a:ext cx="627085" cy="421661"/>
          </a:xfrm>
          <a:prstGeom prst="rect">
            <a:avLst/>
          </a:prstGeom>
        </p:spPr>
      </p:pic>
      <p:pic>
        <p:nvPicPr>
          <p:cNvPr id="131" name="图片 1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4732" y="5439177"/>
            <a:ext cx="558991" cy="483621"/>
          </a:xfrm>
          <a:prstGeom prst="rect">
            <a:avLst/>
          </a:prstGeom>
        </p:spPr>
      </p:pic>
      <p:pic>
        <p:nvPicPr>
          <p:cNvPr id="132" name="图片 1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8361" y="5427808"/>
            <a:ext cx="444516" cy="479154"/>
          </a:xfrm>
          <a:prstGeom prst="rect">
            <a:avLst/>
          </a:prstGeom>
        </p:spPr>
      </p:pic>
      <p:sp>
        <p:nvSpPr>
          <p:cNvPr id="156" name="AutoShape 2"/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pic>
        <p:nvPicPr>
          <p:cNvPr id="157" name="图片 1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6053" y="4195256"/>
            <a:ext cx="591520" cy="551642"/>
          </a:xfrm>
          <a:prstGeom prst="rect">
            <a:avLst/>
          </a:prstGeom>
        </p:spPr>
      </p:pic>
      <p:pic>
        <p:nvPicPr>
          <p:cNvPr id="158" name="图片 159"/>
          <p:cNvPicPr>
            <a:picLocks noChangeAspect="1"/>
          </p:cNvPicPr>
          <p:nvPr/>
        </p:nvPicPr>
        <p:blipFill>
          <a:blip r:embed="rId23"/>
          <a:srcRect r="12001"/>
          <a:stretch>
            <a:fillRect/>
          </a:stretch>
        </p:blipFill>
        <p:spPr>
          <a:xfrm>
            <a:off x="7508088" y="4220718"/>
            <a:ext cx="534640" cy="515769"/>
          </a:xfrm>
          <a:prstGeom prst="rect">
            <a:avLst/>
          </a:prstGeom>
        </p:spPr>
      </p:pic>
      <p:pic>
        <p:nvPicPr>
          <p:cNvPr id="159" name="图片 16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39353" y="1792845"/>
            <a:ext cx="798172" cy="582000"/>
          </a:xfrm>
          <a:prstGeom prst="rect">
            <a:avLst/>
          </a:prstGeom>
        </p:spPr>
      </p:pic>
      <p:pic>
        <p:nvPicPr>
          <p:cNvPr id="160" name="图片 1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8617" y="2849605"/>
            <a:ext cx="600283" cy="495582"/>
          </a:xfrm>
          <a:prstGeom prst="rect">
            <a:avLst/>
          </a:prstGeom>
        </p:spPr>
      </p:pic>
      <p:pic>
        <p:nvPicPr>
          <p:cNvPr id="161" name="图片 16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82007" y="3957011"/>
            <a:ext cx="519209" cy="396385"/>
          </a:xfrm>
          <a:prstGeom prst="rect">
            <a:avLst/>
          </a:prstGeom>
        </p:spPr>
      </p:pic>
      <p:pic>
        <p:nvPicPr>
          <p:cNvPr id="162" name="图片 1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9922" y="4848663"/>
            <a:ext cx="443952" cy="419288"/>
          </a:xfrm>
          <a:prstGeom prst="rect">
            <a:avLst/>
          </a:prstGeom>
        </p:spPr>
      </p:pic>
      <p:sp>
        <p:nvSpPr>
          <p:cNvPr id="168" name="直角三角形 16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9" name="直角三角形 16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0" name="直角三角形 16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1" name="直角三角形 17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2" name="直角三角形 17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3" name="直角三角形 17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" name="直角三角形 17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5" name="直角三角形 17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81" y="3736735"/>
            <a:ext cx="2712262" cy="1610199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4"/>
          <a:srcRect l="9907"/>
          <a:stretch/>
        </p:blipFill>
        <p:spPr>
          <a:xfrm>
            <a:off x="8655144" y="3782820"/>
            <a:ext cx="2355297" cy="1462542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210" y="1623473"/>
            <a:ext cx="2737231" cy="1506132"/>
          </a:xfrm>
          <a:prstGeom prst="rect">
            <a:avLst/>
          </a:prstGeom>
        </p:spPr>
      </p:pic>
      <p:pic>
        <p:nvPicPr>
          <p:cNvPr id="2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894" y="1546839"/>
            <a:ext cx="2762073" cy="1662939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3135424" y="182199"/>
            <a:ext cx="5979180" cy="6413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向量检索的查询类型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302093" y="932862"/>
            <a:ext cx="3937509" cy="2769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不同任务对应不同的相似性查询形式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078130" y="1071333"/>
            <a:ext cx="1968754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494811" y="1056758"/>
            <a:ext cx="1806990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041671" y="1034893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10301801" y="103489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75002" y="141386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161472" y="141386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75002" y="355653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161472" y="355653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962502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050002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6285431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372931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962502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50002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2" name="Oval 21"/>
          <p:cNvSpPr>
            <a:spLocks noGrp="1"/>
          </p:cNvSpPr>
          <p:nvPr/>
        </p:nvSpPr>
        <p:spPr>
          <a:xfrm>
            <a:off x="6285431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6372931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503634" y="1537910"/>
            <a:ext cx="1895837" cy="62272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Top-K Search</a:t>
            </a:r>
            <a:endParaRPr lang="en-US"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lang="en-US" sz="2000" b="1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 </a:t>
            </a:r>
            <a:r>
              <a:rPr lang="en-US" altLang="zh-CN"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kNN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011619" y="2219069"/>
            <a:ext cx="1895837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返回最相似的 K 个结果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6811733" y="1603357"/>
            <a:ext cx="1895837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6291500" y="2185984"/>
            <a:ext cx="2203311" cy="23079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u="none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返回距离阈值内的对象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795915" y="1639001"/>
            <a:ext cx="2041671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 Search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130210" y="4584145"/>
            <a:ext cx="2041671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0" u="none">
              <a:solidFill>
                <a:srgbClr val="32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795915" y="3869921"/>
            <a:ext cx="1994344" cy="65591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Hybrid Search</a:t>
            </a: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035854" y="4334150"/>
            <a:ext cx="2661609" cy="3347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zh-CN" altLang="en-US" sz="1600" b="1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</a:rPr>
              <a:t>相似检索与条件过滤结合</a:t>
            </a:r>
            <a:endParaRPr sz="1600" b="1">
              <a:solidFill>
                <a:srgbClr val="3232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2743200" y="5837121"/>
            <a:ext cx="6636378" cy="740131"/>
          </a:xfrm>
          <a:prstGeom prst="roundRect">
            <a:avLst/>
          </a:prstGeom>
          <a:noFill/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1756599" y="5894444"/>
            <a:ext cx="8740912" cy="6029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中最常见的场景</a:t>
            </a:r>
            <a:r>
              <a:rPr lang="en-US" altLang="zh-CN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: 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给定</a:t>
            </a: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query vector，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先进行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Top-K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召回，</a:t>
            </a:r>
            <a:endParaRPr lang="en-US" altLang="zh-CN" b="1" i="0" u="none">
              <a:solidFill>
                <a:schemeClr val="tx1">
                  <a:lumMod val="95000"/>
                  <a:lumOff val="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buNone/>
            </a:pP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再叠加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Filter</a:t>
            </a: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 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Hybrid Search</a:t>
            </a:r>
            <a:r>
              <a:rPr lang="en-US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 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Rerank.</a:t>
            </a:r>
            <a:endParaRPr b="1" i="0" u="none">
              <a:solidFill>
                <a:srgbClr val="FF66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3" name="直角三角形 52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直角三角形 53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直角三角形 55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直角三角形 56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直角三角形 57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直角三角形 58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直角三角形 59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974553" y="2463176"/>
            <a:ext cx="2280068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query vector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为中心，按照相似度排序，返回最相关的 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Top-K 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结果。这是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中最常见的召回方式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246222" y="2461036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不固定返回数量，而是找出距离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query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小于给定阀值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的所有对象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适合“足够相似才返回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的场景。</a:t>
            </a:r>
          </a:p>
        </p:txBody>
      </p:sp>
      <p:sp>
        <p:nvSpPr>
          <p:cNvPr id="50" name="TextBox 29"/>
          <p:cNvSpPr>
            <a:spLocks noGrp="1"/>
          </p:cNvSpPr>
          <p:nvPr/>
        </p:nvSpPr>
        <p:spPr>
          <a:xfrm>
            <a:off x="1462101" y="3854470"/>
            <a:ext cx="1994344" cy="3747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Filtered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66628" y="4610721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在向量相似性检索基础上再加入</a:t>
            </a:r>
            <a:r>
              <a:rPr lang="en-US" altLang="zh-CN" sz="1050" spc="50">
                <a:latin typeface="微软雅黑" panose="020B0503020204020204" charset="-122"/>
                <a:ea typeface="微软雅黑" panose="020B0503020204020204" charset="-122"/>
              </a:rPr>
              <a:t>metadata</a:t>
            </a: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条件例如时间、来源、标签或权限限制。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264773" y="4282805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</a:rPr>
              <a:t>向量检索与关键词检索结合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6272926" y="4673683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charset="-122"/>
                <a:ea typeface="微软雅黑" panose="020B0503020204020204" charset="-122"/>
              </a:rPr>
              <a:t>同时考虑语义相似度和关键词匹配，兼顾召回能力与精确匹配能力，常用于真实检索系统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04088" y="166225"/>
            <a:ext cx="1095451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相似度如何度量？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210716" y="883955"/>
            <a:ext cx="377026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向量检索中的三种常见度量方式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013710" y="951930"/>
            <a:ext cx="1069848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028431" y="950976"/>
            <a:ext cx="960121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977134" y="915354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961120" y="914400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04088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04088" y="1252728"/>
            <a:ext cx="3438144" cy="530352"/>
          </a:xfrm>
          <a:prstGeom prst="rect">
            <a:avLst/>
          </a:prstGeom>
          <a:solidFill>
            <a:srgbClr val="F3F8FF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704088" y="1783080"/>
            <a:ext cx="3438143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768096" y="2339445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40664" y="2944889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705612" y="3534918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Connector 17"/>
          <p:cNvSpPr>
            <a:spLocks noGrp="1"/>
          </p:cNvSpPr>
          <p:nvPr/>
        </p:nvSpPr>
        <p:spPr>
          <a:xfrm>
            <a:off x="1600200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242816" y="1264883"/>
            <a:ext cx="3438144" cy="3414318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1270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242816" y="1252728"/>
            <a:ext cx="3438144" cy="530352"/>
          </a:xfrm>
          <a:prstGeom prst="rect">
            <a:avLst/>
          </a:prstGeom>
          <a:solidFill>
            <a:srgbClr val="F1FCF8"/>
          </a:solidFill>
          <a:ln w="889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Connector 20"/>
          <p:cNvSpPr>
            <a:spLocks noGrp="1"/>
          </p:cNvSpPr>
          <p:nvPr/>
        </p:nvSpPr>
        <p:spPr>
          <a:xfrm>
            <a:off x="4242816" y="1783080"/>
            <a:ext cx="3438143" cy="0"/>
          </a:xfrm>
          <a:prstGeom prst="line">
            <a:avLst/>
          </a:prstGeom>
          <a:ln w="8890">
            <a:solidFill>
              <a:srgbClr val="0B8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Connector 21"/>
          <p:cNvSpPr>
            <a:spLocks noGrp="1"/>
          </p:cNvSpPr>
          <p:nvPr/>
        </p:nvSpPr>
        <p:spPr>
          <a:xfrm>
            <a:off x="4267741" y="233944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Connector 22"/>
          <p:cNvSpPr>
            <a:spLocks noGrp="1"/>
          </p:cNvSpPr>
          <p:nvPr/>
        </p:nvSpPr>
        <p:spPr>
          <a:xfrm>
            <a:off x="4242816" y="291956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Connector 23"/>
          <p:cNvSpPr>
            <a:spLocks noGrp="1"/>
          </p:cNvSpPr>
          <p:nvPr/>
        </p:nvSpPr>
        <p:spPr>
          <a:xfrm>
            <a:off x="4259791" y="3578961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5" name="Connector 24"/>
          <p:cNvSpPr>
            <a:spLocks noGrp="1"/>
          </p:cNvSpPr>
          <p:nvPr/>
        </p:nvSpPr>
        <p:spPr>
          <a:xfrm>
            <a:off x="5138927" y="1783080"/>
            <a:ext cx="0" cy="2907792"/>
          </a:xfrm>
          <a:prstGeom prst="line">
            <a:avLst/>
          </a:prstGeom>
          <a:ln w="7620">
            <a:solidFill>
              <a:srgbClr val="BF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872983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872983" y="1252728"/>
            <a:ext cx="3438144" cy="530352"/>
          </a:xfrm>
          <a:prstGeom prst="rect">
            <a:avLst/>
          </a:prstGeom>
          <a:solidFill>
            <a:srgbClr val="F1F7FD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Connector 27"/>
          <p:cNvSpPr>
            <a:spLocks noGrp="1"/>
          </p:cNvSpPr>
          <p:nvPr/>
        </p:nvSpPr>
        <p:spPr>
          <a:xfrm>
            <a:off x="7872983" y="1783080"/>
            <a:ext cx="3438145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Connector 28"/>
          <p:cNvSpPr>
            <a:spLocks noGrp="1"/>
          </p:cNvSpPr>
          <p:nvPr/>
        </p:nvSpPr>
        <p:spPr>
          <a:xfrm>
            <a:off x="7891271" y="2409254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0" name="Connector 29"/>
          <p:cNvSpPr>
            <a:spLocks noGrp="1"/>
          </p:cNvSpPr>
          <p:nvPr/>
        </p:nvSpPr>
        <p:spPr>
          <a:xfrm>
            <a:off x="7891270" y="2971800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Connector 30"/>
          <p:cNvSpPr>
            <a:spLocks noGrp="1"/>
          </p:cNvSpPr>
          <p:nvPr/>
        </p:nvSpPr>
        <p:spPr>
          <a:xfrm>
            <a:off x="7891269" y="3534918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Connector 31"/>
          <p:cNvSpPr>
            <a:spLocks noGrp="1"/>
          </p:cNvSpPr>
          <p:nvPr/>
        </p:nvSpPr>
        <p:spPr>
          <a:xfrm>
            <a:off x="8769096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80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1" y="1297262"/>
            <a:ext cx="481263" cy="393551"/>
          </a:xfrm>
          <a:prstGeom prst="rect">
            <a:avLst/>
          </a:prstGeom>
        </p:spPr>
      </p:pic>
      <p:pic>
        <p:nvPicPr>
          <p:cNvPr id="181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40" y="1304550"/>
            <a:ext cx="459387" cy="393551"/>
          </a:xfrm>
          <a:prstGeom prst="rect">
            <a:avLst/>
          </a:prstGeom>
        </p:spPr>
      </p:pic>
      <p:sp>
        <p:nvSpPr>
          <p:cNvPr id="36" name="TextBox 35"/>
          <p:cNvSpPr>
            <a:spLocks noGrp="1"/>
          </p:cNvSpPr>
          <p:nvPr/>
        </p:nvSpPr>
        <p:spPr>
          <a:xfrm>
            <a:off x="1691640" y="142646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Cosine Similarity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148072" y="1426464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0B8C8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Euclidean Distance (L2)</a:t>
            </a: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9034272" y="1426464"/>
            <a:ext cx="16459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Inner Product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1150998" y="199390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152429" y="2586647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989077" y="3187042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843281" y="4034476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4654296" y="200549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674281" y="258515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4562570" y="3172684"/>
            <a:ext cx="551433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4352544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1719072" y="1883664"/>
            <a:ext cx="2000548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衡量两个向量夹角的余弦值，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只关注方向，不受长度影响。</a:t>
            </a: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5239512" y="1883664"/>
            <a:ext cx="2410916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衡量两个向量在空间中的直线距离，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关注绝对位置差异。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8853364" y="1912527"/>
            <a:ext cx="2154436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衡量两个向量的点积，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同时考虑方向与长度（幅值）。</a:t>
            </a: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1664122" y="3092320"/>
            <a:ext cx="2308324" cy="3549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7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余弦相似度关注方向夹角，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7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夹角越小（越接近），相似度越高。</a:t>
            </a: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5294876" y="3075702"/>
            <a:ext cx="1577355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距离关注空间距离，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距离越小，越相似。</a:t>
            </a: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8869680" y="3090672"/>
            <a:ext cx="2164054" cy="358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8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内积兼顾方向与长度，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8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方向一致且长度越大，得分越高。</a:t>
            </a: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813816" y="4855464"/>
            <a:ext cx="10515600" cy="1655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Connector 72"/>
          <p:cNvSpPr>
            <a:spLocks noGrp="1"/>
          </p:cNvSpPr>
          <p:nvPr/>
        </p:nvSpPr>
        <p:spPr>
          <a:xfrm>
            <a:off x="832104" y="5230368"/>
            <a:ext cx="10396728" cy="0"/>
          </a:xfrm>
          <a:prstGeom prst="line">
            <a:avLst/>
          </a:prstGeom>
          <a:ln w="1016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5" name="TextBox 74"/>
          <p:cNvSpPr>
            <a:spLocks noGrp="1"/>
          </p:cNvSpPr>
          <p:nvPr/>
        </p:nvSpPr>
        <p:spPr>
          <a:xfrm>
            <a:off x="2290856" y="4915482"/>
            <a:ext cx="778097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1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embedding 检索中，选择何种度量方式，往往与向量是否归一化及模型训练目标有关</a:t>
            </a:r>
          </a:p>
        </p:txBody>
      </p:sp>
      <p:sp>
        <p:nvSpPr>
          <p:cNvPr id="76" name="Connector 75"/>
          <p:cNvSpPr>
            <a:spLocks noGrp="1"/>
          </p:cNvSpPr>
          <p:nvPr/>
        </p:nvSpPr>
        <p:spPr>
          <a:xfrm>
            <a:off x="2679191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7" name="Connector 76"/>
          <p:cNvSpPr>
            <a:spLocks noGrp="1"/>
          </p:cNvSpPr>
          <p:nvPr/>
        </p:nvSpPr>
        <p:spPr>
          <a:xfrm>
            <a:off x="546811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8" name="Connector 77"/>
          <p:cNvSpPr>
            <a:spLocks noGrp="1"/>
          </p:cNvSpPr>
          <p:nvPr/>
        </p:nvSpPr>
        <p:spPr>
          <a:xfrm>
            <a:off x="793699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9" name="Connector 78"/>
          <p:cNvSpPr>
            <a:spLocks noGrp="1"/>
          </p:cNvSpPr>
          <p:nvPr/>
        </p:nvSpPr>
        <p:spPr>
          <a:xfrm>
            <a:off x="896112" y="5532120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0" name="Connector 79"/>
          <p:cNvSpPr>
            <a:spLocks noGrp="1"/>
          </p:cNvSpPr>
          <p:nvPr/>
        </p:nvSpPr>
        <p:spPr>
          <a:xfrm>
            <a:off x="896112" y="5824728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1" name="Connector 80"/>
          <p:cNvSpPr>
            <a:spLocks noGrp="1"/>
          </p:cNvSpPr>
          <p:nvPr/>
        </p:nvSpPr>
        <p:spPr>
          <a:xfrm>
            <a:off x="896112" y="6117336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2" name="TextBox 81"/>
          <p:cNvSpPr>
            <a:spLocks noGrp="1"/>
          </p:cNvSpPr>
          <p:nvPr/>
        </p:nvSpPr>
        <p:spPr>
          <a:xfrm>
            <a:off x="1505523" y="5308872"/>
            <a:ext cx="56425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度量方式</a:t>
            </a:r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562293" y="5308872"/>
            <a:ext cx="102271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 / 特点</a:t>
            </a:r>
          </a:p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6067763" y="5308872"/>
            <a:ext cx="126957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是否需要向量归一化</a:t>
            </a: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8652265" y="5308872"/>
            <a:ext cx="158697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常见训练目标 / 模型倾向</a:t>
            </a: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1216983" y="5602930"/>
            <a:ext cx="1141338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Cosine Similarity</a:t>
            </a:r>
          </a:p>
        </p:txBody>
      </p:sp>
      <p:sp>
        <p:nvSpPr>
          <p:cNvPr id="87" name="TextBox 86"/>
          <p:cNvSpPr>
            <a:spLocks noGrp="1"/>
          </p:cNvSpPr>
          <p:nvPr/>
        </p:nvSpPr>
        <p:spPr>
          <a:xfrm>
            <a:off x="2798064" y="5610624"/>
            <a:ext cx="24365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关注语义方向，适合语义检索、文本匹配等</a:t>
            </a: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6381951" y="5610624"/>
            <a:ext cx="64120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建议归一化</a:t>
            </a:r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8390976" y="5610624"/>
            <a:ext cx="210955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对比学习（如 InfoNCE）、角度损失</a:t>
            </a:r>
          </a:p>
        </p:txBody>
      </p:sp>
      <p:sp>
        <p:nvSpPr>
          <p:cNvPr id="90" name="TextBox 89"/>
          <p:cNvSpPr>
            <a:spLocks noGrp="1"/>
          </p:cNvSpPr>
          <p:nvPr/>
        </p:nvSpPr>
        <p:spPr>
          <a:xfrm>
            <a:off x="992563" y="5895538"/>
            <a:ext cx="159017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Euclidean Distance (L2)</a:t>
            </a: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2798064" y="5903232"/>
            <a:ext cx="256480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关注绝对差异，适合需要度量真实距离的任务</a:t>
            </a: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5790965" y="5897101"/>
            <a:ext cx="17953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不强制，但受向量尺度影响较大</a:t>
            </a:r>
          </a:p>
        </p:txBody>
      </p:sp>
      <p:sp>
        <p:nvSpPr>
          <p:cNvPr id="93" name="TextBox 92"/>
          <p:cNvSpPr>
            <a:spLocks noGrp="1"/>
          </p:cNvSpPr>
          <p:nvPr/>
        </p:nvSpPr>
        <p:spPr>
          <a:xfrm>
            <a:off x="8062361" y="5903232"/>
            <a:ext cx="276678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回归/重构类目标、度量学习（如 Triplet Loss）</a:t>
            </a:r>
          </a:p>
        </p:txBody>
      </p:sp>
      <p:sp>
        <p:nvSpPr>
          <p:cNvPr id="94" name="TextBox 93"/>
          <p:cNvSpPr>
            <a:spLocks noGrp="1"/>
          </p:cNvSpPr>
          <p:nvPr/>
        </p:nvSpPr>
        <p:spPr>
          <a:xfrm>
            <a:off x="1329192" y="6188146"/>
            <a:ext cx="91691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Inner Product</a:t>
            </a:r>
          </a:p>
        </p:txBody>
      </p:sp>
      <p:sp>
        <p:nvSpPr>
          <p:cNvPr id="95" name="TextBox 94"/>
          <p:cNvSpPr>
            <a:spLocks noGrp="1"/>
          </p:cNvSpPr>
          <p:nvPr/>
        </p:nvSpPr>
        <p:spPr>
          <a:xfrm>
            <a:off x="2798064" y="6195840"/>
            <a:ext cx="230832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兼顾方向与长度，适合推荐、排序等场景</a:t>
            </a:r>
          </a:p>
        </p:txBody>
      </p:sp>
      <p:sp>
        <p:nvSpPr>
          <p:cNvPr id="96" name="TextBox 95"/>
          <p:cNvSpPr>
            <a:spLocks noGrp="1"/>
          </p:cNvSpPr>
          <p:nvPr/>
        </p:nvSpPr>
        <p:spPr>
          <a:xfrm>
            <a:off x="5997231" y="6195840"/>
            <a:ext cx="141064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不强制，长度会影响得分</a:t>
            </a:r>
          </a:p>
        </p:txBody>
      </p:sp>
      <p:sp>
        <p:nvSpPr>
          <p:cNvPr id="97" name="TextBox 96"/>
          <p:cNvSpPr>
            <a:spLocks noGrp="1"/>
          </p:cNvSpPr>
          <p:nvPr/>
        </p:nvSpPr>
        <p:spPr>
          <a:xfrm>
            <a:off x="8129687" y="6195840"/>
            <a:ext cx="263213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点积 Softmax、推荐模型（如矩阵因子分解）</a:t>
            </a:r>
          </a:p>
        </p:txBody>
      </p:sp>
      <p:pic>
        <p:nvPicPr>
          <p:cNvPr id="224" name="图片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766" y="1301029"/>
            <a:ext cx="517330" cy="420331"/>
          </a:xfrm>
          <a:prstGeom prst="rect">
            <a:avLst/>
          </a:prstGeom>
        </p:spPr>
      </p:pic>
      <p:pic>
        <p:nvPicPr>
          <p:cNvPr id="225" name="图片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639" y="2472388"/>
            <a:ext cx="1865903" cy="450186"/>
          </a:xfrm>
          <a:prstGeom prst="rect">
            <a:avLst/>
          </a:prstGeom>
        </p:spPr>
      </p:pic>
      <p:pic>
        <p:nvPicPr>
          <p:cNvPr id="226" name="图片 10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11" y="1844695"/>
            <a:ext cx="347988" cy="482212"/>
          </a:xfrm>
          <a:prstGeom prst="rect">
            <a:avLst/>
          </a:prstGeom>
        </p:spPr>
      </p:pic>
      <p:pic>
        <p:nvPicPr>
          <p:cNvPr id="227" name="图片 10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559" y="2413444"/>
            <a:ext cx="346293" cy="506121"/>
          </a:xfrm>
          <a:prstGeom prst="rect">
            <a:avLst/>
          </a:prstGeom>
        </p:spPr>
      </p:pic>
      <p:pic>
        <p:nvPicPr>
          <p:cNvPr id="228" name="图片 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7" y="3075702"/>
            <a:ext cx="237744" cy="322973"/>
          </a:xfrm>
          <a:prstGeom prst="rect">
            <a:avLst/>
          </a:prstGeom>
        </p:spPr>
      </p:pic>
      <p:pic>
        <p:nvPicPr>
          <p:cNvPr id="229" name="图片 10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320" y="3578961"/>
            <a:ext cx="2332219" cy="1044053"/>
          </a:xfrm>
          <a:prstGeom prst="rect">
            <a:avLst/>
          </a:prstGeom>
        </p:spPr>
      </p:pic>
      <p:sp>
        <p:nvSpPr>
          <p:cNvPr id="118" name="TextBox 47"/>
          <p:cNvSpPr>
            <a:spLocks noGrp="1"/>
          </p:cNvSpPr>
          <p:nvPr/>
        </p:nvSpPr>
        <p:spPr>
          <a:xfrm>
            <a:off x="8378411" y="2019174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119" name="TextBox 48"/>
          <p:cNvSpPr>
            <a:spLocks noGrp="1"/>
          </p:cNvSpPr>
          <p:nvPr/>
        </p:nvSpPr>
        <p:spPr>
          <a:xfrm>
            <a:off x="8379842" y="2611921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120" name="TextBox 49"/>
          <p:cNvSpPr>
            <a:spLocks noGrp="1"/>
          </p:cNvSpPr>
          <p:nvPr/>
        </p:nvSpPr>
        <p:spPr>
          <a:xfrm>
            <a:off x="8169975" y="3212316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121" name="TextBox 50"/>
          <p:cNvSpPr>
            <a:spLocks noGrp="1"/>
          </p:cNvSpPr>
          <p:nvPr/>
        </p:nvSpPr>
        <p:spPr>
          <a:xfrm>
            <a:off x="8014051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pic>
        <p:nvPicPr>
          <p:cNvPr id="234" name="图片 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024" y="1869969"/>
            <a:ext cx="347988" cy="482212"/>
          </a:xfrm>
          <a:prstGeom prst="rect">
            <a:avLst/>
          </a:prstGeom>
        </p:spPr>
      </p:pic>
      <p:pic>
        <p:nvPicPr>
          <p:cNvPr id="235" name="图片 1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972" y="2438718"/>
            <a:ext cx="346293" cy="506121"/>
          </a:xfrm>
          <a:prstGeom prst="rect">
            <a:avLst/>
          </a:prstGeom>
        </p:spPr>
      </p:pic>
      <p:pic>
        <p:nvPicPr>
          <p:cNvPr id="236" name="图片 1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6135" y="3100976"/>
            <a:ext cx="237744" cy="322973"/>
          </a:xfrm>
          <a:prstGeom prst="rect">
            <a:avLst/>
          </a:prstGeom>
        </p:spPr>
      </p:pic>
      <p:pic>
        <p:nvPicPr>
          <p:cNvPr id="237" name="图片 1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5872" y="2447104"/>
            <a:ext cx="1965168" cy="512360"/>
          </a:xfrm>
          <a:prstGeom prst="rect">
            <a:avLst/>
          </a:prstGeom>
        </p:spPr>
      </p:pic>
      <p:pic>
        <p:nvPicPr>
          <p:cNvPr id="238" name="图片 1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8280" y="3684295"/>
            <a:ext cx="2292153" cy="976287"/>
          </a:xfrm>
          <a:prstGeom prst="rect">
            <a:avLst/>
          </a:prstGeom>
        </p:spPr>
      </p:pic>
      <p:pic>
        <p:nvPicPr>
          <p:cNvPr id="239" name="图片 1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5870" y="1861070"/>
            <a:ext cx="349147" cy="416453"/>
          </a:xfrm>
          <a:prstGeom prst="rect">
            <a:avLst/>
          </a:prstGeom>
        </p:spPr>
      </p:pic>
      <p:pic>
        <p:nvPicPr>
          <p:cNvPr id="240" name="图片 1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1890" y="2444413"/>
            <a:ext cx="380514" cy="416028"/>
          </a:xfrm>
          <a:prstGeom prst="rect">
            <a:avLst/>
          </a:prstGeom>
        </p:spPr>
      </p:pic>
      <p:pic>
        <p:nvPicPr>
          <p:cNvPr id="241" name="图片 1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9316" y="3066502"/>
            <a:ext cx="287078" cy="398719"/>
          </a:xfrm>
          <a:prstGeom prst="rect">
            <a:avLst/>
          </a:prstGeom>
        </p:spPr>
      </p:pic>
      <p:pic>
        <p:nvPicPr>
          <p:cNvPr id="242" name="图片 1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7163" y="2370553"/>
            <a:ext cx="1929151" cy="543856"/>
          </a:xfrm>
          <a:prstGeom prst="rect">
            <a:avLst/>
          </a:prstGeom>
        </p:spPr>
      </p:pic>
      <p:pic>
        <p:nvPicPr>
          <p:cNvPr id="243" name="图片 1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57864" y="3666145"/>
            <a:ext cx="2223524" cy="942232"/>
          </a:xfrm>
          <a:prstGeom prst="rect">
            <a:avLst/>
          </a:prstGeom>
        </p:spPr>
      </p:pic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396269" y="212873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为什么不能暴力搜索？Naive Search 的困境</a:t>
            </a:r>
            <a:endParaRPr sz="200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4"/>
            <a:ext cx="1826133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4626" y="932815"/>
            <a:ext cx="1960473" cy="8636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85680" y="817130"/>
            <a:ext cx="4686300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逐个比较虽然直观，但延迟会随规模线性增长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1447800"/>
            <a:ext cx="4686300" cy="4133850"/>
          </a:xfrm>
          <a:prstGeom prst="roundRect">
            <a:avLst>
              <a:gd name="adj" fmla="val 4147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" y="1409700"/>
            <a:ext cx="4686300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1619250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Naive Search：逐个计算距离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66800" y="2095500"/>
            <a:ext cx="2333625" cy="1666875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3335">
            <a:solidFill>
              <a:srgbClr val="D7DFE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61415" y="2247900"/>
            <a:ext cx="2143760" cy="1371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输入：查询向量 q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D = {v₁, v₂, …, vₙ}</a:t>
            </a:r>
            <a:endParaRPr sz="120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endParaRPr sz="12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each vᵢ ∈ D: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distance(q, vᵢ)</a:t>
            </a:r>
            <a:endParaRPr sz="120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endParaRPr sz="12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返回距离最小的 Top-K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4000500"/>
            <a:ext cx="3135630" cy="2381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每个查询都要遍历全部向量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1238250" y="4441825"/>
                <a:ext cx="3382475" cy="361950"/>
              </a:xfrm>
              <a:prstGeom prst="rect">
                <a:avLst/>
              </a:prstGeom>
            </p:spPr>
            <p:txBody>
              <a:bodyPr wrap="square" lIns="38100" tIns="19050" rIns="38100" bIns="19050" anchor="ctr"/>
              <a:lstStyle/>
              <a:p>
                <a:pPr algn="l">
                  <a:defRPr sz="2175" b="1" i="0">
                    <a:solidFill>
                      <a:srgbClr val="071B63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𝑻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(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𝒏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) = 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𝑶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(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𝒏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 · 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𝒅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)</m:t>
                      </m:r>
                    </m:oMath>
                  </m:oMathPara>
                </a14:m>
                <a:endParaRPr sz="3200" b="1" i="0">
                  <a:solidFill>
                    <a:srgbClr val="071B6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4441825"/>
                <a:ext cx="3382475" cy="361950"/>
              </a:xfrm>
              <a:prstGeom prst="rect">
                <a:avLst/>
              </a:prstGeom>
              <a:blipFill rotWithShape="1">
                <a:blip r:embed="rId3"/>
                <a:stretch>
                  <a:fillRect t="-17193" r="14" b="-175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>
            <a:spLocks noGrp="1"/>
          </p:cNvSpPr>
          <p:nvPr/>
        </p:nvSpPr>
        <p:spPr>
          <a:xfrm>
            <a:off x="1285875" y="5036185"/>
            <a:ext cx="271462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n：向量数量   d：向量维度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791200" y="1447800"/>
            <a:ext cx="5657850" cy="4133850"/>
          </a:xfrm>
          <a:prstGeom prst="roundRect">
            <a:avLst>
              <a:gd name="adj" fmla="val 4147"/>
            </a:avLst>
          </a:prstGeom>
          <a:solidFill>
            <a:srgbClr val="E6E8EB"/>
          </a:solidFill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5753100" y="1409700"/>
            <a:ext cx="5657850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19800" y="1619250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延迟随数据规模被放大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0" y="1504950"/>
            <a:ext cx="438150" cy="4381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6115050" y="23812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万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905625" y="2400300"/>
            <a:ext cx="215265" cy="171450"/>
          </a:xfrm>
          <a:prstGeom prst="roundRect">
            <a:avLst>
              <a:gd name="adj" fmla="val 50000"/>
            </a:avLst>
          </a:prstGeom>
          <a:solidFill>
            <a:srgbClr val="00A663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306050" y="23812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 ms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15050" y="28384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万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905625" y="2857500"/>
            <a:ext cx="542925" cy="168748"/>
          </a:xfrm>
          <a:prstGeom prst="roundRect">
            <a:avLst>
              <a:gd name="adj" fmla="val 50000"/>
            </a:avLst>
          </a:prstGeom>
          <a:solidFill>
            <a:srgbClr val="0057E7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306050" y="28384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 s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15050" y="3295650"/>
            <a:ext cx="7905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万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905625" y="3314700"/>
            <a:ext cx="1238915" cy="168748"/>
          </a:xfrm>
          <a:prstGeom prst="roundRect">
            <a:avLst>
              <a:gd name="adj" fmla="val 50000"/>
            </a:avLst>
          </a:prstGeom>
          <a:solidFill>
            <a:srgbClr val="FF6B1A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306050" y="32956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 s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15050" y="37528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亿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905625" y="3771900"/>
            <a:ext cx="3253740" cy="171450"/>
          </a:xfrm>
          <a:prstGeom prst="roundRect">
            <a:avLst>
              <a:gd name="adj" fmla="val 50000"/>
            </a:avLst>
          </a:prstGeom>
          <a:solidFill>
            <a:srgbClr val="D8473F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306050" y="37528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D847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D847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100 s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884428" y="2037715"/>
            <a:ext cx="116078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向量数量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752965" y="2095500"/>
            <a:ext cx="145732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单次查询延迟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198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EAF9F7"/>
          </a:solidFill>
          <a:ln w="13335">
            <a:solidFill>
              <a:srgbClr val="00A663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1341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电商推荐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1341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万商品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&lt;20ms</a:t>
            </a: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7343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EDF5FF"/>
          </a:solidFill>
          <a:ln w="13335">
            <a:solidFill>
              <a:srgbClr val="0057E7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8486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 RAG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8486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万 chunks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&lt;3s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4488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FFF4EB"/>
          </a:solidFill>
          <a:ln w="13335">
            <a:solidFill>
              <a:srgbClr val="FF6B1A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5631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语义搜索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5631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百亿级网页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&lt;500ms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965325" y="5812952"/>
            <a:ext cx="8108950" cy="44421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/>
              <a:t>暴力搜索的瓶颈在于每次查询都要执行 </a:t>
            </a:r>
            <a:r>
              <a:rPr lang="en-US" altLang="zh-CN" sz="1600"/>
              <a:t>O(n·d) </a:t>
            </a:r>
            <a:r>
              <a:rPr lang="zh-CN" altLang="en-US" sz="1600"/>
              <a:t>次相似度计算；当 </a:t>
            </a:r>
            <a:r>
              <a:rPr lang="en-US" altLang="zh-CN" sz="1600"/>
              <a:t>n </a:t>
            </a:r>
            <a:r>
              <a:rPr lang="zh-CN" altLang="en-US" sz="1600"/>
              <a:t>和 </a:t>
            </a:r>
            <a:r>
              <a:rPr lang="en-US" altLang="zh-CN" sz="1600"/>
              <a:t>d </a:t>
            </a:r>
            <a:r>
              <a:rPr lang="zh-CN" altLang="en-US" sz="1600"/>
              <a:t>同时增大时，</a:t>
            </a:r>
            <a:r>
              <a:rPr lang="en-US" altLang="zh-CN" sz="1600"/>
              <a:t>CPU / </a:t>
            </a:r>
            <a:r>
              <a:rPr lang="zh-CN" altLang="en-US" sz="1600"/>
              <a:t>内存带宽 </a:t>
            </a:r>
            <a:r>
              <a:rPr lang="en-US" altLang="zh-CN" sz="1600"/>
              <a:t>/ GPU </a:t>
            </a:r>
            <a:r>
              <a:rPr lang="zh-CN" altLang="en-US" sz="1600"/>
              <a:t>访存都会成为瓶颈。</a:t>
            </a:r>
            <a:endParaRPr sz="1100" b="1" i="0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直角三角形 59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直角三角形 60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直角三角形 61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直角三角形 6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直角三角形 6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直角三角形 64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直角三角形 65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直角三角形 66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2857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ANN：Approximate Nearest Neighbor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1832483" cy="45948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959422"/>
            <a:ext cx="1885949" cy="59753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15581" y="838200"/>
            <a:ext cx="4698926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近似不是妥协，而是面向工程约束的权衡艺术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4400" y="1400175"/>
            <a:ext cx="10439400" cy="838200"/>
          </a:xfrm>
          <a:prstGeom prst="roundRect">
            <a:avLst>
              <a:gd name="adj" fmla="val 18182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62075"/>
            <a:ext cx="10439400" cy="838200"/>
          </a:xfrm>
          <a:prstGeom prst="roundRect">
            <a:avLst>
              <a:gd name="adj" fmla="val 18182"/>
            </a:avLst>
          </a:prstGeom>
          <a:solidFill>
            <a:srgbClr val="F8F6FF"/>
          </a:solidFill>
          <a:ln w="14288">
            <a:solidFill>
              <a:srgbClr val="0057E7"/>
            </a:solidFill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504950"/>
            <a:ext cx="523875" cy="523875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790700" y="1476375"/>
            <a:ext cx="285750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3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ANN（近似最近邻搜索）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790700" y="1837055"/>
            <a:ext cx="94488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以较高概率找到足够接近的邻居，在召回率、速度、内存、构建时间和更新成本之间做权衡。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3450" y="2438400"/>
            <a:ext cx="3476625" cy="361950"/>
          </a:xfrm>
          <a:prstGeom prst="rect">
            <a:avLst/>
          </a:prstGeom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Trade-off 权衡艺术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4914900"/>
            <a:ext cx="35623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3067050"/>
            <a:ext cx="19050" cy="18478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86200" y="5065395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 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37490" y="3095625"/>
            <a:ext cx="85788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r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Speed </a:t>
            </a: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3333750" y="4495800"/>
            <a:ext cx="133350" cy="133350"/>
          </a:xfrm>
          <a:prstGeom prst="ellipse">
            <a:avLst/>
          </a:prstGeom>
          <a:solidFill>
            <a:srgbClr val="68778A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524250" y="4476750"/>
            <a:ext cx="1124585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暴力扫描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2266950" y="4048125"/>
            <a:ext cx="133350" cy="1333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457450" y="4029075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LSH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3076575" y="3638550"/>
            <a:ext cx="133350" cy="1333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67075" y="3619500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IVF-PQ</a:t>
            </a: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4019550" y="3286125"/>
            <a:ext cx="133350" cy="13335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210050" y="3267075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419725" y="255270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5391150" y="25241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DF5FF"/>
          </a:solidFill>
          <a:ln w="14288">
            <a:solidFill>
              <a:srgbClr val="0057E7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543550" y="26574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 ↔ 召回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43550" y="2971800"/>
            <a:ext cx="2287270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搜索更深，召回更高；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但延迟也会上升。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315325" y="255270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286750" y="25241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AF9F7"/>
          </a:solidFill>
          <a:ln w="14288">
            <a:solidFill>
              <a:srgbClr val="00A663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439150" y="26574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 ↔ 质量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439150" y="2971800"/>
            <a:ext cx="2418715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完整向量 + 图结构更准；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压缩可显著节省内存。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419725" y="38195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5391150" y="379095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FFF4EB"/>
          </a:solidFill>
          <a:ln w="14288">
            <a:solidFill>
              <a:srgbClr val="FF6B1A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543550" y="3924300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 ↔ 查询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543550" y="4238625"/>
            <a:ext cx="1991390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离线构建越充分，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在线查询通常越快。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8315325" y="38195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8286750" y="379095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F4F1FF"/>
          </a:solidFill>
          <a:ln w="14288">
            <a:solidFill>
              <a:srgbClr val="6557E8"/>
            </a:solidFill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439150" y="3924300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 ↔ 稳定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439150" y="4238625"/>
            <a:ext cx="2228215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动态写入越频繁，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索引维护越重要。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819275" y="5546128"/>
            <a:ext cx="8839200" cy="78799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600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953813" y="5628680"/>
            <a:ext cx="6123114" cy="5758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/>
              <a:t>ANN </a:t>
            </a:r>
            <a:r>
              <a:rPr lang="zh-CN" altLang="en-US" sz="2000"/>
              <a:t>不追求每次都返回数学意义上的精确最近邻，而是在可接受召回率下显著降低延迟和资源消耗</a:t>
            </a:r>
            <a:endParaRPr lang="zh-CN" altLang="en-US" sz="2000" b="1" i="0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574165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向量索引方法全景图：四条技术路线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1960473" cy="571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 flipV="1">
            <a:off x="8382000" y="1019174"/>
            <a:ext cx="1943100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67150" y="838200"/>
            <a:ext cx="4550070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不同结构解决不同的规模、召回与资源问题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24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6202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933450" y="1657350"/>
            <a:ext cx="361950" cy="3619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345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Hash-based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LSH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775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相似向量映射到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相近哈希桶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" y="4163695"/>
            <a:ext cx="20002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</a:t>
            </a:r>
            <a:r>
              <a:rPr lang="zh-CN" altLang="en-US" sz="140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48615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368617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3657600" y="1657350"/>
            <a:ext cx="361950" cy="3619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65760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69570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Tree-based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9570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KD-tree · Annoy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77190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77190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递归划分空间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构建搜索树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771900" y="4163695"/>
            <a:ext cx="18859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低维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高维退化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21030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DFE"/>
          </a:solidFill>
          <a:ln w="14288">
            <a:solidFill>
              <a:srgbClr val="FF6B1A"/>
            </a:solidFill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641032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6381750" y="1657350"/>
            <a:ext cx="361950" cy="3619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8175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1985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Graph-based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41985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HNSW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49605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多层图导航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逐层逼近邻居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142185" y="4120270"/>
            <a:ext cx="2624913" cy="295911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高召回低延迟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开销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893445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DFE"/>
          </a:solidFill>
          <a:ln w="14288">
            <a:solidFill>
              <a:srgbClr val="6557E8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913447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9105900" y="1657350"/>
            <a:ext cx="361950" cy="36195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10590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14400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Quantization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14400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6557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6557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IVF · PQ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22020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22020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聚类筛选候选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短码压缩向量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9210675" y="4163695"/>
            <a:ext cx="18859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节省内存，有损近似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790575" y="4848225"/>
            <a:ext cx="10572750" cy="876300"/>
          </a:xfrm>
          <a:prstGeom prst="roundRect">
            <a:avLst>
              <a:gd name="adj" fmla="val 17391"/>
            </a:avLst>
          </a:prstGeom>
          <a:solidFill>
            <a:srgbClr val="E6E8EB"/>
          </a:solidFill>
        </p:spPr>
      </p:sp>
      <p:sp>
        <p:nvSpPr>
          <p:cNvPr id="64" name="圆角矩形 63"/>
          <p:cNvSpPr>
            <a:spLocks noGrp="1"/>
          </p:cNvSpPr>
          <p:nvPr/>
        </p:nvSpPr>
        <p:spPr>
          <a:xfrm>
            <a:off x="762000" y="4819650"/>
            <a:ext cx="105727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rgbClr val="002060"/>
            </a:solidFill>
          </a:ln>
        </p:spPr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933950"/>
            <a:ext cx="723900" cy="609600"/>
          </a:xfrm>
          <a:prstGeom prst="rect">
            <a:avLst/>
          </a:prstGeom>
        </p:spPr>
      </p:pic>
      <p:sp>
        <p:nvSpPr>
          <p:cNvPr id="66" name="矩形 65"/>
          <p:cNvSpPr>
            <a:spLocks noGrp="1"/>
          </p:cNvSpPr>
          <p:nvPr/>
        </p:nvSpPr>
        <p:spPr>
          <a:xfrm>
            <a:off x="1866900" y="4924425"/>
            <a:ext cx="4304665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 u="sng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当前趋势：混合索引成为主流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866900" y="5238750"/>
            <a:ext cx="945007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 + PQ（图导航 + 压缩）  ·  IVF + HNSW（聚类分区 + 图精排）  ·  DiskANN（磁盘友好图索引）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847850" y="590550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1828800" y="588645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002060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038350" y="5981700"/>
            <a:ext cx="2017395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快速选型：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105150" y="5981700"/>
            <a:ext cx="7327265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小规模重召回，中大规模求平衡，十亿级数据必须关注压缩与磁盘。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75" y="1685925"/>
            <a:ext cx="1320165" cy="11823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745" y="1685925"/>
            <a:ext cx="1504315" cy="1164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575" y="1685925"/>
            <a:ext cx="1285875" cy="1186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3730" y="1685925"/>
            <a:ext cx="1348740" cy="11639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HNSW：多层图导航的智慧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0000" lnSpcReduction="2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从高空俯瞰到地面精细搜索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1428750"/>
            <a:ext cx="5429250" cy="4114800"/>
          </a:xfrm>
          <a:prstGeom prst="roundRect">
            <a:avLst>
              <a:gd name="adj" fmla="val 4167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" y="1390650"/>
            <a:ext cx="5429250" cy="4114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1590675"/>
            <a:ext cx="424688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分层小世界图：像高速公路一样逐层导航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13680" y="2057400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2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02030" y="2522855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少量节点 · 长距离边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95450" y="2219325"/>
            <a:ext cx="152400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219450" y="2219325"/>
            <a:ext cx="152400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619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3143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4667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13680" y="3014345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1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5510" y="3566160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中等密度 · 缩小区域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5732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31457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17182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02907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13811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223837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30956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395287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48101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13680" y="3971925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0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02030" y="4589780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所有节点 · 局部精排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6682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79070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31457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83845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36232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88620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007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93395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11906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71450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223837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276225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32861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381000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433387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485775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53816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219450" y="2295525"/>
            <a:ext cx="19050" cy="847725"/>
          </a:xfrm>
          <a:prstGeom prst="rect">
            <a:avLst/>
          </a:prstGeom>
          <a:solidFill>
            <a:srgbClr val="FF6B1A"/>
          </a:solidFill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4743450" y="2295525"/>
            <a:ext cx="19050" cy="847725"/>
          </a:xfrm>
          <a:prstGeom prst="rect">
            <a:avLst/>
          </a:prstGeom>
          <a:solidFill>
            <a:srgbClr val="FF6B1A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31457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17182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402907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88632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333750" y="2381250"/>
            <a:ext cx="1221105" cy="200025"/>
          </a:xfrm>
          <a:prstGeom prst="rect">
            <a:avLst/>
          </a:prstGeom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82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长距离跳转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6572250" y="1428750"/>
            <a:ext cx="4876800" cy="4114800"/>
          </a:xfrm>
          <a:prstGeom prst="roundRect">
            <a:avLst>
              <a:gd name="adj" fmla="val 4167"/>
            </a:avLst>
          </a:prstGeom>
          <a:solidFill>
            <a:srgbClr val="E6E8EB"/>
          </a:solidFill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6534150" y="1407160"/>
            <a:ext cx="4876800" cy="4114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819900" y="1590675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Greedy Search：三步逼近</a:t>
            </a:r>
          </a:p>
        </p:txBody>
      </p:sp>
      <p:sp>
        <p:nvSpPr>
          <p:cNvPr id="70" name="椭圆 69"/>
          <p:cNvSpPr>
            <a:spLocks noGrp="1"/>
          </p:cNvSpPr>
          <p:nvPr/>
        </p:nvSpPr>
        <p:spPr>
          <a:xfrm>
            <a:off x="6886575" y="208597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6858000" y="2057400"/>
            <a:ext cx="381000" cy="3810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6858000" y="211455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467600" y="206692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入口点选择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467600" y="2366645"/>
            <a:ext cx="33337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从最高层 entry point 开始，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快速获得全局视野。</a:t>
            </a: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000875" y="2581275"/>
            <a:ext cx="190500" cy="247650"/>
          </a:xfrm>
          <a:prstGeom prst="rect">
            <a:avLst/>
          </a:prstGeom>
        </p:spPr>
        <p:txBody>
          <a:bodyPr wrap="square" lIns="38100" tIns="19050" rIns="38100" bIns="19050" anchor="ctr">
            <a:normAutofit fontScale="81667"/>
          </a:bodyPr>
          <a:lstStyle/>
          <a:p>
            <a:pPr algn="ctr">
              <a:defRPr sz="15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1" i="0">
              <a:solidFill>
                <a:srgbClr val="6877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6886575" y="294322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6858000" y="2914650"/>
            <a:ext cx="381000" cy="3810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6858000" y="297180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467600" y="292417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逐层下降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467600" y="3223895"/>
            <a:ext cx="33337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每层都移动到更接近 q 的邻居，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直到进入 Layer 0。</a:t>
            </a:r>
          </a:p>
        </p:txBody>
      </p:sp>
      <p:sp>
        <p:nvSpPr>
          <p:cNvPr id="82" name="椭圆 81"/>
          <p:cNvSpPr>
            <a:spLocks noGrp="1"/>
          </p:cNvSpPr>
          <p:nvPr/>
        </p:nvSpPr>
        <p:spPr>
          <a:xfrm>
            <a:off x="6886575" y="380047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6858000" y="3771900"/>
            <a:ext cx="381000" cy="3810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858000" y="382905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467600" y="378142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底层精排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467600" y="4015105"/>
            <a:ext cx="3816485" cy="34480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扩展候选邻居，返回最相关的 Top-K。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743700" y="4761865"/>
            <a:ext cx="1447800" cy="649605"/>
          </a:xfrm>
          <a:prstGeom prst="roundRect">
            <a:avLst>
              <a:gd name="adj" fmla="val 16667"/>
            </a:avLst>
          </a:prstGeom>
          <a:solidFill>
            <a:srgbClr val="EDF5FF"/>
          </a:solidFill>
          <a:ln w="13335">
            <a:solidFill>
              <a:srgbClr val="0057E7"/>
            </a:solidFill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915150" y="484759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742430" y="5109210"/>
            <a:ext cx="153289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每个节点最大连接数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8245475" y="4761865"/>
            <a:ext cx="1412875" cy="649605"/>
          </a:xfrm>
          <a:prstGeom prst="roundRect">
            <a:avLst>
              <a:gd name="adj" fmla="val 16667"/>
            </a:avLst>
          </a:prstGeom>
          <a:solidFill>
            <a:srgbClr val="EAF9F7"/>
          </a:solidFill>
          <a:ln w="13335">
            <a:solidFill>
              <a:srgbClr val="009B9B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8382000" y="484759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efConstruction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275320" y="5109210"/>
            <a:ext cx="143383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构建时搜索宽度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9706610" y="4761865"/>
            <a:ext cx="1438910" cy="649605"/>
          </a:xfrm>
          <a:prstGeom prst="roundRect">
            <a:avLst>
              <a:gd name="adj" fmla="val 16667"/>
            </a:avLst>
          </a:prstGeom>
          <a:solidFill>
            <a:srgbClr val="FFF4EB"/>
          </a:solidFill>
          <a:ln w="13335">
            <a:solidFill>
              <a:srgbClr val="FF6B1A"/>
            </a:solidFill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9848850" y="484759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efSearch</a:t>
            </a: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742170" y="5109210"/>
            <a:ext cx="143383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查询时搜索宽度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800725"/>
            <a:ext cx="428625" cy="476250"/>
          </a:xfrm>
          <a:prstGeom prst="rect">
            <a:avLst/>
          </a:prstGeom>
        </p:spPr>
      </p:pic>
      <p:sp>
        <p:nvSpPr>
          <p:cNvPr id="97" name="圆角矩形 96"/>
          <p:cNvSpPr>
            <a:spLocks noGrp="1"/>
          </p:cNvSpPr>
          <p:nvPr/>
        </p:nvSpPr>
        <p:spPr>
          <a:xfrm>
            <a:off x="184785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98" name="圆角矩形 97"/>
          <p:cNvSpPr>
            <a:spLocks noGrp="1"/>
          </p:cNvSpPr>
          <p:nvPr/>
        </p:nvSpPr>
        <p:spPr>
          <a:xfrm>
            <a:off x="1828800" y="58578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2038350" y="595312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首选：</a:t>
            </a: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3143250" y="5948680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高召回、对数级导航、参数直观；代价是额外图结构内存。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/>
          <p:cNvSpPr txBox="1"/>
          <p:nvPr/>
        </p:nvSpPr>
        <p:spPr>
          <a:xfrm>
            <a:off x="6800850" y="4392295"/>
            <a:ext cx="27813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通过以下参数控制查询质量</a:t>
            </a:r>
            <a:r>
              <a:rPr lang="zh-CN" sz="160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 与 PQ：面向大规模数据的量化索引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先缩小搜索范围，再压缩向量表达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0100" y="14668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" y="14287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1604010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IVF：负责缩小搜索范围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2057400"/>
            <a:ext cx="465010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先把向量空间分成很多个簇，</a:t>
            </a:r>
          </a:p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查询时只搜索离查询向量最近的几个簇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619250" y="2914650"/>
            <a:ext cx="342900" cy="3429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619250" y="29813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c₁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4287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6192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8097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428750" y="35052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619250" y="35052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2743200" y="3352165"/>
            <a:ext cx="342900" cy="34290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43200" y="3418840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c₂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2552700" y="3752215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2743200" y="3752215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2933700" y="3752215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2552700" y="3942715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2743200" y="3942715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4171950" y="3028950"/>
            <a:ext cx="342900" cy="3429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171950" y="30956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c₃</a:t>
            </a: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39814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41719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43624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3981450" y="36195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4171950" y="36195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2190750" y="4095750"/>
            <a:ext cx="342900" cy="34290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90750" y="41624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c₄</a:t>
            </a: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20002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21907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23812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2000250" y="46863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2190750" y="46863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3590925" y="3905250"/>
            <a:ext cx="342900" cy="3429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590925" y="39719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c₅</a:t>
            </a:r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>
            <a:off x="35909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37814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39719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3590925" y="44958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3781425" y="44958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1028700" y="2571750"/>
            <a:ext cx="226885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 生成聚类中心</a:t>
            </a: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000375" y="4953000"/>
            <a:ext cx="2524125" cy="292735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nprobe：探查最近的</a:t>
            </a:r>
            <a:r>
              <a:rPr lang="en-US"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簇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6305550" y="14668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E6E8EB"/>
          </a:solidFill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6267450" y="14287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534150" y="1628775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PQ：负责压缩向量表示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5" y="1600200"/>
            <a:ext cx="764540" cy="654050"/>
          </a:xfrm>
          <a:prstGeom prst="rect">
            <a:avLst/>
          </a:prstGeom>
        </p:spPr>
      </p:pic>
      <p:sp>
        <p:nvSpPr>
          <p:cNvPr id="65" name="矩形 64"/>
          <p:cNvSpPr>
            <a:spLocks noGrp="1"/>
          </p:cNvSpPr>
          <p:nvPr/>
        </p:nvSpPr>
        <p:spPr>
          <a:xfrm>
            <a:off x="6534150" y="1991360"/>
            <a:ext cx="429323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将向量切成 m 个子空间，每段只保存最接近的 code。</a:t>
            </a: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580505" y="2532380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  <p:txBody>
          <a:bodyPr/>
          <a:lstStyle/>
          <a:p>
            <a:endParaRPr lang="en-US" altLang="zh-CN"/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68294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70866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73437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76009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1" name="圆角矩形 70"/>
          <p:cNvSpPr>
            <a:spLocks noGrp="1"/>
          </p:cNvSpPr>
          <p:nvPr/>
        </p:nvSpPr>
        <p:spPr>
          <a:xfrm>
            <a:off x="78581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2" name="圆角矩形 71"/>
          <p:cNvSpPr>
            <a:spLocks noGrp="1"/>
          </p:cNvSpPr>
          <p:nvPr/>
        </p:nvSpPr>
        <p:spPr>
          <a:xfrm>
            <a:off x="81153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3" name="圆角矩形 72"/>
          <p:cNvSpPr>
            <a:spLocks noGrp="1"/>
          </p:cNvSpPr>
          <p:nvPr/>
        </p:nvSpPr>
        <p:spPr>
          <a:xfrm>
            <a:off x="83724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4" name="圆角矩形 73"/>
          <p:cNvSpPr>
            <a:spLocks noGrp="1"/>
          </p:cNvSpPr>
          <p:nvPr/>
        </p:nvSpPr>
        <p:spPr>
          <a:xfrm>
            <a:off x="86296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5" name="圆角矩形 74"/>
          <p:cNvSpPr>
            <a:spLocks noGrp="1"/>
          </p:cNvSpPr>
          <p:nvPr/>
        </p:nvSpPr>
        <p:spPr>
          <a:xfrm>
            <a:off x="88868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91440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94011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96583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99155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101727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104298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572250" y="2266950"/>
            <a:ext cx="154686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原始向量</a:t>
            </a: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572250" y="2917825"/>
            <a:ext cx="1524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切分子向量</a:t>
            </a: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57225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1 2 3 4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657225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1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773430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A6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5 6 7 8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773430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A6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2</a:t>
            </a: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889635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a b c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889635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</a:t>
            </a:r>
            <a:r>
              <a:rPr lang="en-US"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005840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6557E8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e f g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005840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6557E8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</a:t>
            </a:r>
            <a:r>
              <a:rPr lang="en-US"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572250" y="3609975"/>
            <a:ext cx="1524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映射到码本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610350" y="4953000"/>
            <a:ext cx="4819650" cy="1372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用短码近似计算距离，显著节省内存与访存开销。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800725"/>
            <a:ext cx="428625" cy="476250"/>
          </a:xfrm>
          <a:prstGeom prst="rect">
            <a:avLst/>
          </a:prstGeom>
        </p:spPr>
      </p:pic>
      <p:sp>
        <p:nvSpPr>
          <p:cNvPr id="95" name="圆角矩形 94"/>
          <p:cNvSpPr>
            <a:spLocks noGrp="1"/>
          </p:cNvSpPr>
          <p:nvPr/>
        </p:nvSpPr>
        <p:spPr>
          <a:xfrm>
            <a:off x="184785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96" name="圆角矩形 95"/>
          <p:cNvSpPr>
            <a:spLocks noGrp="1"/>
          </p:cNvSpPr>
          <p:nvPr/>
        </p:nvSpPr>
        <p:spPr>
          <a:xfrm>
            <a:off x="1828800" y="58578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2038350" y="595312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组合策略：</a:t>
            </a: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086100" y="5965190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IVF-PQ = 聚类筛选候选集 + PQ 压缩向量表达。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6267450" y="2480310"/>
            <a:ext cx="4559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     1   2  3   4   5   6   7  8   9   a   b  c   d   e   f    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92875" y="4207510"/>
            <a:ext cx="4761230" cy="883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/>
              <a:t>码本：将子向量段分别拿出来，汇总，进行聚类，得到的聚类中心在</a:t>
            </a:r>
            <a:r>
              <a:rPr lang="en-US" altLang="zh-CN"/>
              <a:t>codebook</a:t>
            </a:r>
            <a:r>
              <a:rPr lang="zh-CN" altLang="en-US"/>
              <a:t>中标识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5245" y="3545840"/>
            <a:ext cx="436943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500"/>
              <a:t>Codebook：Code</a:t>
            </a:r>
            <a:r>
              <a:rPr lang="en-US" altLang="zh-CN" sz="1500"/>
              <a:t>1</a:t>
            </a:r>
            <a:r>
              <a:rPr lang="zh-CN" altLang="en-US" sz="1500"/>
              <a:t>=[1,</a:t>
            </a:r>
            <a:r>
              <a:rPr lang="en-US" altLang="zh-CN" sz="1500"/>
              <a:t>2,3,4</a:t>
            </a:r>
            <a:r>
              <a:rPr lang="zh-CN" altLang="en-US" sz="1500"/>
              <a:t>]，Code</a:t>
            </a:r>
            <a:r>
              <a:rPr lang="en-US" altLang="zh-CN" sz="1500"/>
              <a:t>2</a:t>
            </a:r>
            <a:r>
              <a:rPr lang="zh-CN" altLang="en-US" sz="1500"/>
              <a:t>=[5,6</a:t>
            </a:r>
            <a:r>
              <a:rPr lang="en-US" altLang="zh-CN" sz="1500"/>
              <a:t>,7,8</a:t>
            </a:r>
            <a:r>
              <a:rPr lang="zh-CN" altLang="en-US" sz="1500"/>
              <a:t>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 RAG 查询：Filter、Hybrid 与 Rerank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4"/>
            <a:ext cx="1889937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0894" y="973456"/>
            <a:ext cx="189420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40783" y="852488"/>
            <a:ext cx="4690111" cy="28575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从“相似”走向“真正有用”的多阶段检索管线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95375" y="1381125"/>
            <a:ext cx="10048875" cy="552450"/>
          </a:xfrm>
          <a:prstGeom prst="roundRect">
            <a:avLst>
              <a:gd name="adj" fmla="val 22414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66800" y="1352550"/>
            <a:ext cx="10048875" cy="552450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4288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1504950"/>
            <a:ext cx="8953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查询示例：查找 2024 年发布、GPU 优化相关、作者机构为阿里巴巴的论文</a:t>
            </a: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3345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565785" y="2247900"/>
            <a:ext cx="3472815" cy="2705100"/>
          </a:xfrm>
          <a:prstGeom prst="roundRect">
            <a:avLst>
              <a:gd name="adj" fmla="val 6338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748665" y="2437130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744855" y="2400300"/>
            <a:ext cx="361315" cy="3619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4855" y="2518410"/>
            <a:ext cx="361315" cy="20574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21105" y="2514600"/>
            <a:ext cx="161417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Metadata Filter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2955" y="3234690"/>
            <a:ext cx="2658110" cy="14668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先约束候选空间</a:t>
            </a: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40105" y="3753485"/>
            <a:ext cx="2601595" cy="82804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73455" y="3905885"/>
            <a:ext cx="2335530" cy="51371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year = 2024</a:t>
            </a:r>
          </a:p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org = Alibaba</a:t>
            </a:r>
          </a:p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category = paper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86225" y="3429000"/>
            <a:ext cx="26670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1960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4381500" y="2247900"/>
            <a:ext cx="3612515" cy="2705100"/>
          </a:xfrm>
          <a:prstGeom prst="roundRect">
            <a:avLst>
              <a:gd name="adj" fmla="val 6338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4581525" y="242887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4552950" y="2400300"/>
            <a:ext cx="361950" cy="3619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52950" y="245745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29200" y="24669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Hybrid Search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91050" y="3190875"/>
            <a:ext cx="2667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+ 关键词融合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4648200" y="3709035"/>
            <a:ext cx="2914015" cy="97155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62686" y="3848100"/>
            <a:ext cx="3009265" cy="666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Dense Vector</a:t>
            </a:r>
            <a:r>
              <a:rPr lang="zh-CN"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（匹配语义）</a:t>
            </a:r>
          </a:p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+</a:t>
            </a:r>
          </a:p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Sparse / BM25</a:t>
            </a:r>
            <a:r>
              <a:rPr lang="zh-CN"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（匹配关键词）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993380" y="3429000"/>
            <a:ext cx="26670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33501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8338185" y="2247900"/>
            <a:ext cx="3498850" cy="2705100"/>
          </a:xfrm>
          <a:prstGeom prst="roundRect">
            <a:avLst>
              <a:gd name="adj" fmla="val 6338"/>
            </a:avLst>
          </a:prstGeom>
          <a:solidFill>
            <a:srgbClr val="FDFDFD"/>
          </a:solidFill>
          <a:ln w="14288">
            <a:solidFill>
              <a:srgbClr val="FF6B1A"/>
            </a:solidFill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8538210" y="242887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8509635" y="2400300"/>
            <a:ext cx="361950" cy="3619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509635" y="245745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985885" y="24669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Rerank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430895" y="3011805"/>
            <a:ext cx="2667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用更强模型精排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8604885" y="3609975"/>
            <a:ext cx="2609850" cy="97155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738235" y="3752850"/>
            <a:ext cx="2343150" cy="666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 Top-50</a:t>
            </a:r>
          </a:p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↓</a:t>
            </a:r>
          </a:p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Cross-Encoder Top-10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1162050" y="5372100"/>
            <a:ext cx="9906000" cy="514350"/>
          </a:xfrm>
          <a:prstGeom prst="roundRect">
            <a:avLst>
              <a:gd name="adj" fmla="val 22222"/>
            </a:avLst>
          </a:prstGeom>
          <a:solidFill>
            <a:srgbClr val="E6E8EB"/>
          </a:solidFill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43000" y="5353050"/>
            <a:ext cx="9906000" cy="514350"/>
          </a:xfrm>
          <a:prstGeom prst="roundRect">
            <a:avLst>
              <a:gd name="adj" fmla="val 22222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381125" y="5495925"/>
            <a:ext cx="97345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推荐链路： Filter  →  Hybrid Recall  →  ANN Top-N  →  Cross-Encoder Rerank  →  Top-K Evidence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075" y="2400300"/>
            <a:ext cx="1516380" cy="1206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505" y="2329180"/>
            <a:ext cx="1578610" cy="1348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810" y="2329180"/>
            <a:ext cx="1858010" cy="9467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19685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7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vs 传统关系数据库</a:t>
            </a:r>
            <a:endParaRPr sz="255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8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两者解决不同问题，生产环境中通常协同工作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90600" y="1447800"/>
            <a:ext cx="4572000" cy="1971675"/>
          </a:xfrm>
          <a:prstGeom prst="roundRect">
            <a:avLst>
              <a:gd name="adj" fmla="val 4348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2500" y="1409700"/>
            <a:ext cx="4572000" cy="200977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6705600" y="1447800"/>
            <a:ext cx="4572000" cy="1971040"/>
          </a:xfrm>
          <a:prstGeom prst="roundRect">
            <a:avLst>
              <a:gd name="adj" fmla="val 4348"/>
            </a:avLst>
          </a:prstGeom>
          <a:solidFill>
            <a:srgbClr val="E6E8EB"/>
          </a:solidFill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667500" y="1409700"/>
            <a:ext cx="4572000" cy="20091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571625" y="2988310"/>
            <a:ext cx="3333750" cy="285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6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关系数据库 RDBMS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86625" y="2988310"/>
            <a:ext cx="3333750" cy="285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6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Vector DB</a:t>
            </a:r>
          </a:p>
        </p:txBody>
      </p:sp>
      <p:sp>
        <p:nvSpPr>
          <p:cNvPr id="43" name="椭圆 42"/>
          <p:cNvSpPr>
            <a:spLocks noGrp="1"/>
          </p:cNvSpPr>
          <p:nvPr/>
        </p:nvSpPr>
        <p:spPr>
          <a:xfrm>
            <a:off x="5800725" y="2142490"/>
            <a:ext cx="590550" cy="5905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800725" y="2294890"/>
            <a:ext cx="590550" cy="238125"/>
          </a:xfrm>
          <a:prstGeom prst="rect">
            <a:avLst/>
          </a:prstGeom>
        </p:spPr>
        <p:txBody>
          <a:bodyPr wrap="square" lIns="38100" tIns="19050" rIns="38100" bIns="19050" anchor="ctr">
            <a:normAutofit fontScale="92105"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2497455" y="6141720"/>
            <a:ext cx="671957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47" name="圆角矩形 46"/>
          <p:cNvSpPr>
            <a:spLocks noGrp="1"/>
          </p:cNvSpPr>
          <p:nvPr/>
        </p:nvSpPr>
        <p:spPr>
          <a:xfrm>
            <a:off x="2494915" y="6087110"/>
            <a:ext cx="6721475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714625" y="6189980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最佳实践：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881120" y="6191885"/>
            <a:ext cx="5262880" cy="26543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结构化事实留在 SQL，语义召回交给 </a:t>
            </a:r>
            <a:r>
              <a:rPr lang="en-US"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DB</a:t>
            </a: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710" y="1509395"/>
            <a:ext cx="1546860" cy="14351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5" y="1509395"/>
            <a:ext cx="1564640" cy="1430020"/>
          </a:xfrm>
          <a:prstGeom prst="rect">
            <a:avLst/>
          </a:prstGeom>
        </p:spPr>
      </p:pic>
      <p:graphicFrame>
        <p:nvGraphicFramePr>
          <p:cNvPr id="27" name="表格 2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287550"/>
              </p:ext>
            </p:extLst>
          </p:nvPr>
        </p:nvGraphicFramePr>
        <p:xfrm>
          <a:off x="2497455" y="3615690"/>
          <a:ext cx="6324600" cy="232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2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1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800" b="1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RDBMS</a:t>
                      </a:r>
                      <a:endParaRPr lang="en-US" altLang="en-US" sz="1800" b="1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Vector DB</a:t>
                      </a:r>
                      <a:endParaRPr lang="en-US" altLang="en-US" sz="1800" b="1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数据组织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表、行、列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 + 元数据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查询方式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SQL / JOIN</a:t>
                      </a:r>
                      <a:endParaRPr lang="en-US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Top-K 检索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索引技术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B+Tree</a:t>
                      </a:r>
                      <a:endParaRPr lang="en-US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HNSW / IVF</a:t>
                      </a:r>
                      <a:endParaRPr lang="en-US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优化目标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一致性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召回率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应用场景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OLTP业务系统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AI检索系统</a:t>
                      </a:r>
                      <a:endParaRPr lang="zh-CN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2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8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代表产品</a:t>
                      </a:r>
                      <a:endParaRPr lang="zh-CN" altLang="en-US" sz="18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PostgreSQL</a:t>
                      </a:r>
                      <a:endParaRPr lang="en-US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spc="50" baseline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Milvus</a:t>
                      </a:r>
                      <a:endParaRPr lang="en-US" altLang="en-US" sz="1600" b="0" spc="50" baseline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生产架构：SQL 与向量检索在应用层会合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V="1">
            <a:off x="1866900" y="954405"/>
            <a:ext cx="159067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20760" y="969499"/>
            <a:ext cx="1704340" cy="49676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03502" y="842298"/>
            <a:ext cx="5356395" cy="28575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结构化事实、语义召回与业务规则共同决定最终结果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772025" y="1400175"/>
            <a:ext cx="2705100" cy="552450"/>
          </a:xfrm>
          <a:prstGeom prst="roundRect">
            <a:avLst>
              <a:gd name="adj" fmla="val 24138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743450" y="1371600"/>
            <a:ext cx="27051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1447800"/>
            <a:ext cx="400050" cy="4000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5448300" y="1543050"/>
            <a:ext cx="202882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 / RAG Service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0" y="1924050"/>
            <a:ext cx="19050" cy="3429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2266950"/>
            <a:ext cx="80200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3622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9429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144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8FBFE"/>
          </a:solidFill>
          <a:ln w="14288">
            <a:solidFill>
              <a:srgbClr val="0057E7"/>
            </a:solidFill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2724150"/>
            <a:ext cx="723900" cy="68580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2066925" y="2705100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PostgreSQL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66925" y="3092450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事务主库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066925" y="3456305"/>
            <a:ext cx="17145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· 订单 · 权限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8293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100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43815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534025" y="2705100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 DB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34025" y="3059430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语义检索层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56885" y="3456305"/>
            <a:ext cx="1242695" cy="27368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</a:t>
            </a:r>
            <a:r>
              <a:rPr 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</a:t>
            </a:r>
          </a:p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metadata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964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78771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78486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6F9FD"/>
          </a:solidFill>
          <a:ln w="14288">
            <a:solidFill>
              <a:srgbClr val="0057E7"/>
            </a:solidFill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50" y="2724150"/>
            <a:ext cx="723900" cy="685800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9001125" y="2779395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PostgreSQL + pgvector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001125" y="325691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轻量一体化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001125" y="3539490"/>
            <a:ext cx="17145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JOIN + ANN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28700" y="4239260"/>
            <a:ext cx="1534160" cy="323215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电商推荐示例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9334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144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4838700"/>
            <a:ext cx="457200" cy="457200"/>
          </a:xfrm>
          <a:prstGeom prst="rect">
            <a:avLst/>
          </a:prstGeom>
        </p:spPr>
      </p:pic>
      <p:sp>
        <p:nvSpPr>
          <p:cNvPr id="50" name="矩形 49"/>
          <p:cNvSpPr>
            <a:spLocks noGrp="1"/>
          </p:cNvSpPr>
          <p:nvPr/>
        </p:nvSpPr>
        <p:spPr>
          <a:xfrm>
            <a:off x="16002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查询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600200" y="5145405"/>
            <a:ext cx="1506855" cy="15176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用户画像、购买历史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2670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36766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36576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4838700"/>
            <a:ext cx="457200" cy="457200"/>
          </a:xfrm>
          <a:prstGeom prst="rect">
            <a:avLst/>
          </a:prstGeom>
        </p:spPr>
      </p:pic>
      <p:sp>
        <p:nvSpPr>
          <p:cNvPr id="56" name="矩形 55"/>
          <p:cNvSpPr>
            <a:spLocks noGrp="1"/>
          </p:cNvSpPr>
          <p:nvPr/>
        </p:nvSpPr>
        <p:spPr>
          <a:xfrm>
            <a:off x="43434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Search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43400" y="5137150"/>
            <a:ext cx="1428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召回相似商品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0102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64198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64008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838700"/>
            <a:ext cx="457200" cy="457200"/>
          </a:xfrm>
          <a:prstGeom prst="rect">
            <a:avLst/>
          </a:prstGeom>
        </p:spPr>
      </p:pic>
      <p:sp>
        <p:nvSpPr>
          <p:cNvPr id="62" name="矩形 61"/>
          <p:cNvSpPr>
            <a:spLocks noGrp="1"/>
          </p:cNvSpPr>
          <p:nvPr/>
        </p:nvSpPr>
        <p:spPr>
          <a:xfrm>
            <a:off x="70866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业务规则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981825" y="5095875"/>
            <a:ext cx="1638935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库存、价格、权限过滤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7534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1630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91440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1AA5A5"/>
            </a:solidFill>
          </a:ln>
        </p:spPr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4838700"/>
            <a:ext cx="457200" cy="457200"/>
          </a:xfrm>
          <a:prstGeom prst="rect">
            <a:avLst/>
          </a:prstGeom>
        </p:spPr>
      </p:pic>
      <p:sp>
        <p:nvSpPr>
          <p:cNvPr id="68" name="矩形 67"/>
          <p:cNvSpPr>
            <a:spLocks noGrp="1"/>
          </p:cNvSpPr>
          <p:nvPr/>
        </p:nvSpPr>
        <p:spPr>
          <a:xfrm>
            <a:off x="98298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结果合并</a:t>
            </a: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829800" y="5120640"/>
            <a:ext cx="1428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个性化推荐列表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1847850" y="58959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72" name="圆角矩形 71"/>
          <p:cNvSpPr>
            <a:spLocks noGrp="1"/>
          </p:cNvSpPr>
          <p:nvPr/>
        </p:nvSpPr>
        <p:spPr>
          <a:xfrm>
            <a:off x="182880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2038350" y="597217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3123565" y="5975985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buClrTx/>
              <a:buSzTx/>
              <a:buFontTx/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结构化数据解决“已知问题”，向量检索解决“相似问题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2775" y="2661285"/>
            <a:ext cx="1059180" cy="96774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814982">
            <a:off x="1420017" y="5749925"/>
            <a:ext cx="542925" cy="603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向量数据库生态：按能力边界与部署方式选型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产品只是实现，约束条件才是起点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0487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DF5FF"/>
          </a:solidFill>
          <a:ln w="14288">
            <a:solidFill>
              <a:srgbClr val="0057E7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32560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 Vector DB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32560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完整数据库能力</a:t>
            </a: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39102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6245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AF9F7"/>
          </a:solidFill>
          <a:ln w="14288">
            <a:solidFill>
              <a:srgbClr val="009B9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57165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托管服务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57165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降低运维负担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87717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4860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FFF4EB"/>
          </a:solidFill>
          <a:ln w="14288">
            <a:solidFill>
              <a:srgbClr val="FF6B1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611235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DB 扩展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11235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复用现有基础设施</a:t>
            </a: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04875" y="2771775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876300" y="2531745"/>
            <a:ext cx="4857750" cy="118300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371090" y="278574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Milvus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47440" y="278574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多索引体系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371090" y="306197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面向大规模 AI 检索场景的专业向量数据库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2371089" y="3300094"/>
            <a:ext cx="2019935" cy="319405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大规模、多样工作负载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124575" y="2771775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096000" y="2531745"/>
            <a:ext cx="4857750" cy="118300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508240" y="280225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Qdrant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84590" y="280225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过滤友好的 HNSW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508240" y="307848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擅长“向量检索 + 条件过滤”的轻量级方案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508239" y="3316605"/>
            <a:ext cx="2032709" cy="28575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低延迟、过滤检索</a:t>
            </a: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904875" y="3924300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876300" y="3895725"/>
            <a:ext cx="4857750" cy="117157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FF6B1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379345" y="4086860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Pinecone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655695" y="4086860"/>
            <a:ext cx="2333625" cy="190500"/>
          </a:xfrm>
          <a:prstGeom prst="rect">
            <a:avLst/>
          </a:prstGeom>
          <a:noFill/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托管检索服务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379345" y="4363085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云端托管的向量检索服务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2379344" y="4601210"/>
            <a:ext cx="2011679" cy="29464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减少基础设施运维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124575" y="3924300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6096000" y="3895725"/>
            <a:ext cx="4857750" cy="1137920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6557E8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458710" y="407860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pgvector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735060" y="407860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 扩展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458710" y="435483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为 PostgreSQL 增加向量检索能力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7458710" y="4592955"/>
            <a:ext cx="2700559" cy="31242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 PostgreSQL 基础设施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876300" y="5238750"/>
            <a:ext cx="10458450" cy="638175"/>
          </a:xfrm>
          <a:prstGeom prst="roundRect">
            <a:avLst>
              <a:gd name="adj" fmla="val 17910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123950" y="5342255"/>
            <a:ext cx="10600055" cy="40830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选型顺序： 数据规模 → 延迟与召回 → 过滤复杂度 → 运维能力 → 合规要求 → 用真实数据做 Benchmark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613660"/>
            <a:ext cx="1094740" cy="1005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425" y="2620010"/>
            <a:ext cx="1198880" cy="1026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340" y="3979545"/>
            <a:ext cx="943610" cy="1003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3945890"/>
            <a:ext cx="1096010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524635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前沿挑战：从“更快 ANN”走向可信检索基础设施</a:t>
            </a:r>
            <a:endParaRPr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1" y="1000124"/>
            <a:ext cx="1769376" cy="73738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973456"/>
            <a:ext cx="1885949" cy="55244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24024" y="881063"/>
            <a:ext cx="4585512" cy="285750"/>
          </a:xfrm>
          <a:prstGeom prst="rect">
            <a:avLst/>
          </a:prstGeom>
        </p:spPr>
        <p:txBody>
          <a:bodyPr wrap="square" lIns="0" tIns="0" rIns="0" bIns="0" anchor="ctr">
            <a:normAutofit fontScale="9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动态性、多模态与评测体系正在成为新主线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0487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9F9F9"/>
          </a:solidFill>
          <a:ln w="14288">
            <a:solidFill>
              <a:srgbClr val="0057E7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103822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1009650" y="1562100"/>
            <a:ext cx="323850" cy="3238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0965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66850" y="152908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超大规模低延迟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66850" y="1914525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数据越来越大，</a:t>
            </a:r>
          </a:p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检索仍要秒级返回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436245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452437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4495800" y="1562100"/>
            <a:ext cx="323850" cy="3238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49580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953000" y="151257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动态索引维护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0" y="189992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数据实时变化，</a:t>
            </a:r>
          </a:p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索引自动更新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7717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FF6B1A"/>
            </a:solidFill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801052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7981950" y="1562100"/>
            <a:ext cx="323850" cy="3238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8195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23580" y="1562100"/>
            <a:ext cx="193421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+ Scalar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90487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7630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6557E8"/>
            </a:solidFill>
          </a:ln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103822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1009650" y="2647950"/>
            <a:ext cx="323850" cy="32385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0965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46685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Filtered Search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439102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436245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452437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4495800" y="2647950"/>
            <a:ext cx="323850" cy="3238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449580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95300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多模态检索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787717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784860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BFBFB"/>
          </a:solidFill>
          <a:ln w="14288">
            <a:solidFill>
              <a:srgbClr val="009B9B"/>
            </a:solidFill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801052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7981950" y="2647950"/>
            <a:ext cx="323850" cy="3238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98195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43915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GraphRAG / Agentic RAG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76275" y="3672840"/>
            <a:ext cx="285750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/>
              <a:t>未来演进趋势</a:t>
            </a:r>
            <a:endParaRPr lang="zh-CN" altLang="en-US" sz="240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200150" y="4533900"/>
            <a:ext cx="9848850" cy="381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1200150" y="4438650"/>
            <a:ext cx="228600" cy="2286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3345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762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硬件加速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7625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/ DiskANN</a:t>
            </a:r>
          </a:p>
        </p:txBody>
      </p:sp>
      <p:sp>
        <p:nvSpPr>
          <p:cNvPr id="73" name="椭圆 72"/>
          <p:cNvSpPr>
            <a:spLocks noGrp="1"/>
          </p:cNvSpPr>
          <p:nvPr/>
        </p:nvSpPr>
        <p:spPr>
          <a:xfrm>
            <a:off x="3657600" y="4438650"/>
            <a:ext cx="228600" cy="2286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313372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AI-Native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93370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自动选索引与调参</a:t>
            </a:r>
          </a:p>
        </p:txBody>
      </p:sp>
      <p:sp>
        <p:nvSpPr>
          <p:cNvPr id="77" name="椭圆 76"/>
          <p:cNvSpPr>
            <a:spLocks noGrp="1"/>
          </p:cNvSpPr>
          <p:nvPr/>
        </p:nvSpPr>
        <p:spPr>
          <a:xfrm>
            <a:off x="6115050" y="4438650"/>
            <a:ext cx="228600" cy="2286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5911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多模态统一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539115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文本、图像、音视频</a:t>
            </a:r>
          </a:p>
        </p:txBody>
      </p:sp>
      <p:sp>
        <p:nvSpPr>
          <p:cNvPr id="81" name="椭圆 80"/>
          <p:cNvSpPr>
            <a:spLocks noGrp="1"/>
          </p:cNvSpPr>
          <p:nvPr/>
        </p:nvSpPr>
        <p:spPr>
          <a:xfrm>
            <a:off x="8572500" y="4438650"/>
            <a:ext cx="228600" cy="22860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804862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边缘部署</a:t>
            </a: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4860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轻量模型、本地推理</a:t>
            </a: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11029950" y="4438650"/>
            <a:ext cx="228600" cy="228600"/>
          </a:xfrm>
          <a:prstGeom prst="ellipse">
            <a:avLst/>
          </a:prstGeom>
          <a:solidFill>
            <a:srgbClr val="071B63"/>
          </a:solidFill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076325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</a:t>
            </a:r>
            <a:endParaRPr sz="160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05060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</a:t>
            </a: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428750" y="5739765"/>
            <a:ext cx="9192590" cy="523875"/>
          </a:xfrm>
          <a:prstGeom prst="roundRect">
            <a:avLst>
              <a:gd name="adj" fmla="val 21818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1586936" y="5992631"/>
            <a:ext cx="9016269" cy="2667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结论：掌握向量检索，不只是会调一个索引，而是理解 AI 时代的数据基础设施。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455" y="1530350"/>
            <a:ext cx="849630" cy="618490"/>
          </a:xfrm>
          <a:prstGeom prst="rect">
            <a:avLst/>
          </a:prstGeom>
        </p:spPr>
      </p:pic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525270"/>
            <a:ext cx="640715" cy="5956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1494790"/>
            <a:ext cx="704215" cy="6483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705" y="2598420"/>
            <a:ext cx="738505" cy="6407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583815"/>
            <a:ext cx="818515" cy="6705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1745" y="2545715"/>
            <a:ext cx="793750" cy="755015"/>
          </a:xfrm>
          <a:prstGeom prst="rect">
            <a:avLst/>
          </a:prstGeom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8238490" y="1949450"/>
            <a:ext cx="2134235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同时理解语义与业务规则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264285" y="2969260"/>
            <a:ext cx="211836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加筛选条件后依然找得准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524375" y="2952750"/>
            <a:ext cx="2238375" cy="27813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ym typeface="+mn-ea"/>
              </a:rPr>
              <a:t>图片、文本、音频一起搜索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009890" y="3043554"/>
            <a:ext cx="2411676" cy="23685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从“找资料”升级到“主动分析”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5471FA-82AE-4437-ACBB-83A6DDE6B93B}"/>
              </a:ext>
            </a:extLst>
          </p:cNvPr>
          <p:cNvCxnSpPr>
            <a:cxnSpLocks/>
            <a:stCxn id="70" idx="3"/>
            <a:endCxn id="86" idx="1"/>
          </p:cNvCxnSpPr>
          <p:nvPr/>
        </p:nvCxnSpPr>
        <p:spPr>
          <a:xfrm>
            <a:off x="1695450" y="4181475"/>
            <a:ext cx="9067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635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 flipV="1">
            <a:off x="1866900" y="942975"/>
            <a:ext cx="8514715" cy="762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31" name="直角三角形 30"/>
          <p:cNvSpPr>
            <a:spLocks noGrp="1"/>
          </p:cNvSpPr>
          <p:nvPr/>
        </p:nvSpPr>
        <p:spPr>
          <a:xfrm>
            <a:off x="-11628" y="5265497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直角三角形 31"/>
          <p:cNvSpPr>
            <a:spLocks noGrp="1"/>
          </p:cNvSpPr>
          <p:nvPr/>
        </p:nvSpPr>
        <p:spPr>
          <a:xfrm rot="5400000">
            <a:off x="-390044" y="624996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直角三角形 32"/>
          <p:cNvSpPr>
            <a:spLocks noGrp="1"/>
          </p:cNvSpPr>
          <p:nvPr/>
        </p:nvSpPr>
        <p:spPr>
          <a:xfrm rot="5400000">
            <a:off x="223454" y="-197419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9292125" y="2667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直角三角形 34"/>
          <p:cNvSpPr>
            <a:spLocks noGrp="1"/>
          </p:cNvSpPr>
          <p:nvPr/>
        </p:nvSpPr>
        <p:spPr>
          <a:xfrm rot="10800000">
            <a:off x="10593477" y="19685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角三角形 35"/>
          <p:cNvSpPr>
            <a:spLocks noGrp="1"/>
          </p:cNvSpPr>
          <p:nvPr/>
        </p:nvSpPr>
        <p:spPr>
          <a:xfrm>
            <a:off x="3175" y="4822177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直角三角形 36"/>
          <p:cNvSpPr>
            <a:spLocks noGrp="1"/>
          </p:cNvSpPr>
          <p:nvPr/>
        </p:nvSpPr>
        <p:spPr>
          <a:xfrm rot="16200000">
            <a:off x="10202630" y="484978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直角三角形 37"/>
          <p:cNvSpPr>
            <a:spLocks noGrp="1"/>
          </p:cNvSpPr>
          <p:nvPr/>
        </p:nvSpPr>
        <p:spPr>
          <a:xfrm rot="16200000">
            <a:off x="10387803" y="5022771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478915" y="1031240"/>
            <a:ext cx="10210800" cy="5632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[1] LEWIS P, PEREZ E, PIKTUS A, et al. Retrieval-Augmented Generation for Knowledge-Intensive NLP Tasks[C]//Advances in Neural Information Processing Systems. 2020. </a:t>
            </a:r>
          </a:p>
          <a:p>
            <a:r>
              <a:rPr lang="en-US" altLang="zh-CN"/>
              <a:t>[2] GAO Y, XIONG Y, GAO X, et al. Retrieval-Augmented Generation for Large Language Models: A Survey[EB/OL]. arXiv:2312.10997, 2024. </a:t>
            </a:r>
          </a:p>
          <a:p>
            <a:r>
              <a:rPr lang="en-US" altLang="zh-CN"/>
              <a:t>[3] PAN J J, WANG J, LI G. Survey of Vector Database Management Systems[EB/OL]. arXiv:2310.14021, 2023. </a:t>
            </a:r>
          </a:p>
          <a:p>
            <a:r>
              <a:rPr lang="en-US" altLang="zh-CN"/>
              <a:t>[4] MA L, ZHANG R, HAN Y, et al. A Comprehensive Survey on Vector Database: Storage and Retrieval Technique, Challenge[EB/OL]. arXiv:2310.11703, 2026. </a:t>
            </a:r>
          </a:p>
          <a:p>
            <a:r>
              <a:rPr lang="en-US" altLang="zh-CN"/>
              <a:t>[5] MALKOV Y A, YASHUNIN D A. Efficient and Robust Approximate Nearest Neighbor Search Using Hierarchical Navigable Small World Graphs[J]. IEEE Transactions on Pattern Analysis and Machine Intelligence, 2020, 42(4): 824-836. </a:t>
            </a:r>
          </a:p>
          <a:p>
            <a:r>
              <a:rPr lang="en-US" altLang="zh-CN"/>
              <a:t>[6] JOHNSON J, DOUZE M, JÉGOU H. Billion-scale Similarity Search with GPUs[J]. IEEE Transactions on Big Data, 2021, 7(3): 535-547. </a:t>
            </a:r>
          </a:p>
          <a:p>
            <a:r>
              <a:rPr lang="en-US" altLang="zh-CN"/>
              <a:t>[7] Datawhale. All-in-RAG: </a:t>
            </a:r>
            <a:r>
              <a:rPr lang="zh-CN" altLang="en-US"/>
              <a:t>大模型应用开发实战</a:t>
            </a:r>
            <a:r>
              <a:rPr lang="en-US" altLang="zh-CN"/>
              <a:t>——</a:t>
            </a:r>
            <a:r>
              <a:rPr lang="zh-CN" altLang="en-US"/>
              <a:t>向量数据库章节</a:t>
            </a:r>
            <a:r>
              <a:rPr lang="en-US" altLang="zh-CN"/>
              <a:t>[EB/OL]. </a:t>
            </a:r>
          </a:p>
          <a:p>
            <a:r>
              <a:rPr lang="en-US" altLang="zh-CN"/>
              <a:t>[8] Milvus. Index Explained[EB/OL]. Milvus Documentation. </a:t>
            </a:r>
          </a:p>
          <a:p>
            <a:r>
              <a:rPr lang="en-US" altLang="zh-CN"/>
              <a:t>[9] Milvus. IVF_PQ[EB/OL]. Milvus Documentation. </a:t>
            </a:r>
          </a:p>
          <a:p>
            <a:r>
              <a:rPr lang="en-US" altLang="zh-CN"/>
              <a:t>[10] Qdrant. Indexing[EB/OL]. Qdrant Documentation. </a:t>
            </a:r>
          </a:p>
          <a:p>
            <a:r>
              <a:rPr lang="en-US" altLang="zh-CN"/>
              <a:t>[11] Qdrant. Hybrid Search with Reranking[EB/OL]. Qdrant Documentation. </a:t>
            </a:r>
          </a:p>
          <a:p>
            <a:r>
              <a:rPr lang="en-US" altLang="zh-CN"/>
              <a:t>[12] Pinecone. Hybrid Search[EB/OL]. Pinecone Documentation.</a:t>
            </a:r>
          </a:p>
          <a:p>
            <a:r>
              <a:rPr lang="en-US" altLang="zh-CN"/>
              <a:t>[13] pgvector. pgvector README[EB/OL]. GitHub Repository. 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4272280" y="2667000"/>
            <a:ext cx="376999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6600" b="1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感谢聆听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7*177"/>
  <p:tag name="TABLE_ENDDRAG_RECT" val="113*295*498*177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2345</Words>
  <Application>Microsoft Office PowerPoint</Application>
  <PresentationFormat>宽屏</PresentationFormat>
  <Paragraphs>645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微软雅黑</vt:lpstr>
      <vt:lpstr>Arial</vt:lpstr>
      <vt:lpstr>Calibri</vt:lpstr>
      <vt:lpstr>Calibri Light</vt:lpstr>
      <vt:lpstr>Cambria Math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可函 幸</cp:lastModifiedBy>
  <cp:revision>49</cp:revision>
  <dcterms:created xsi:type="dcterms:W3CDTF">2026-06-01T07:39:00Z</dcterms:created>
  <dcterms:modified xsi:type="dcterms:W3CDTF">2026-06-03T10:09:20Z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C78B27AC058B45A6992452D8854CFF8E</vt:lpwstr>
  </property>
  <property fmtid="{D5CDD505-2E9C-101B-9397-08002B2CF9AE}" pid="3" name="KSOProductBuildVer">
    <vt:lpwstr>2052-11.8.2.12085</vt:lpwstr>
  </property>
</Properties>
</file>