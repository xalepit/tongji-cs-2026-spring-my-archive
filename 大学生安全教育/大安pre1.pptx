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7" r:id="rId2"/>
    <p:sldId id="289" r:id="rId3"/>
    <p:sldId id="259" r:id="rId4"/>
    <p:sldId id="260" r:id="rId5"/>
    <p:sldId id="261" r:id="rId6"/>
    <p:sldId id="262" r:id="rId7"/>
    <p:sldId id="284" r:id="rId8"/>
    <p:sldId id="290" r:id="rId9"/>
    <p:sldId id="283" r:id="rId10"/>
    <p:sldId id="291" r:id="rId11"/>
    <p:sldId id="292" r:id="rId12"/>
    <p:sldId id="282"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96" d="100"/>
          <a:sy n="96" d="100"/>
        </p:scale>
        <p:origin x="37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9FAE06-8D3B-4555-B7A7-BE84AAC8627D}" type="datetimeFigureOut">
              <a:rPr lang="zh-CN" altLang="en-US" smtClean="0"/>
              <a:t>2026/4/21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E48236-9EF4-4224-8A76-ECB2654E5685}" type="slidenum">
              <a:rPr lang="zh-CN" altLang="en-US" smtClean="0"/>
              <a:t>‹#›</a:t>
            </a:fld>
            <a:endParaRPr lang="zh-CN" altLang="en-US"/>
          </a:p>
        </p:txBody>
      </p:sp>
    </p:spTree>
    <p:extLst>
      <p:ext uri="{BB962C8B-B14F-4D97-AF65-F5344CB8AC3E}">
        <p14:creationId xmlns:p14="http://schemas.microsoft.com/office/powerpoint/2010/main" val="2956461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主要内容">
    <p:spTree>
      <p:nvGrpSpPr>
        <p:cNvPr id="1" name=""/>
        <p:cNvGrpSpPr/>
        <p:nvPr/>
      </p:nvGrpSpPr>
      <p:grpSpPr>
        <a:xfrm>
          <a:off x="0" y="0"/>
          <a:ext cx="0" cy="0"/>
          <a:chOff x="0" y="0"/>
          <a:chExt cx="0" cy="0"/>
        </a:xfrm>
      </p:grpSpPr>
      <p:sp>
        <p:nvSpPr>
          <p:cNvPr id="2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96141874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绪论1">
    <p:spTree>
      <p:nvGrpSpPr>
        <p:cNvPr id="1" name=""/>
        <p:cNvGrpSpPr/>
        <p:nvPr/>
      </p:nvGrpSpPr>
      <p:grpSpPr>
        <a:xfrm>
          <a:off x="0" y="0"/>
          <a:ext cx="0" cy="0"/>
          <a:chOff x="0" y="0"/>
          <a:chExt cx="0" cy="0"/>
        </a:xfrm>
      </p:grpSpPr>
      <p:sp>
        <p:nvSpPr>
          <p:cNvPr id="28"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29" name="表格 7"/>
          <p:cNvGraphicFramePr/>
          <p:nvPr/>
        </p:nvGraphicFramePr>
        <p:xfrm>
          <a:off x="0" y="1268759"/>
          <a:ext cx="1691680" cy="3960000"/>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研究方法与思路</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34" name="组合 9"/>
          <p:cNvGrpSpPr/>
          <p:nvPr/>
        </p:nvGrpSpPr>
        <p:grpSpPr>
          <a:xfrm>
            <a:off x="-1" y="1272662"/>
            <a:ext cx="1691682" cy="788187"/>
            <a:chOff x="0" y="0"/>
            <a:chExt cx="1691680" cy="788185"/>
          </a:xfrm>
        </p:grpSpPr>
        <p:grpSp>
          <p:nvGrpSpPr>
            <p:cNvPr id="32" name="矩形 10"/>
            <p:cNvGrpSpPr/>
            <p:nvPr/>
          </p:nvGrpSpPr>
          <p:grpSpPr>
            <a:xfrm>
              <a:off x="0" y="0"/>
              <a:ext cx="1691681" cy="788186"/>
              <a:chOff x="0" y="0"/>
              <a:chExt cx="1691680" cy="788185"/>
            </a:xfrm>
          </p:grpSpPr>
          <p:sp>
            <p:nvSpPr>
              <p:cNvPr id="30"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31" name="绪论"/>
              <p:cNvSpPr txBox="1"/>
              <p:nvPr/>
            </p:nvSpPr>
            <p:spPr>
              <a:xfrm>
                <a:off x="-1" y="189623"/>
                <a:ext cx="1691682" cy="408941"/>
              </a:xfrm>
              <a:prstGeom prst="rect">
                <a:avLst/>
              </a:prstGeom>
              <a:noFill/>
              <a:ln w="12700" cap="flat">
                <a:noFill/>
                <a:miter lim="400000"/>
              </a:ln>
              <a:effectLst/>
            </p:spPr>
            <p:txBody>
              <a:bodyPr wrap="square" lIns="45719" tIns="45719" rIns="45719" bIns="45719" numCol="1" anchor="ctr">
                <a:spAutoFit/>
              </a:bodyPr>
              <a:lstStyle>
                <a:lvl1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sp>
          <p:nvSpPr>
            <p:cNvPr id="33" name="等腰三角形 11"/>
            <p:cNvSpPr/>
            <p:nvPr/>
          </p:nvSpPr>
          <p:spPr>
            <a:xfrm rot="16200000">
              <a:off x="1547664" y="322086"/>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35" name="直接连接符 12"/>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36" name="文本框 13"/>
          <p:cNvSpPr txBox="1"/>
          <p:nvPr/>
        </p:nvSpPr>
        <p:spPr>
          <a:xfrm>
            <a:off x="2210764" y="509286"/>
            <a:ext cx="1261279"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绪 论</a:t>
            </a:r>
          </a:p>
        </p:txBody>
      </p:sp>
      <p:sp>
        <p:nvSpPr>
          <p:cNvPr id="37"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38" name="文本框 19"/>
          <p:cNvSpPr txBox="1"/>
          <p:nvPr/>
        </p:nvSpPr>
        <p:spPr>
          <a:xfrm>
            <a:off x="8605894" y="139954"/>
            <a:ext cx="1018541" cy="408940"/>
          </a:xfrm>
          <a:prstGeom prst="rect">
            <a:avLst/>
          </a:prstGeom>
          <a:ln w="12700">
            <a:miter lim="400000"/>
          </a:ln>
        </p:spPr>
        <p:txBody>
          <a:bodyPr wrap="none" lIns="45719" rIns="45719">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选题背景</a:t>
            </a:r>
          </a:p>
        </p:txBody>
      </p:sp>
      <p:sp>
        <p:nvSpPr>
          <p:cNvPr id="39" name="直接连接符 20"/>
          <p:cNvSpPr/>
          <p:nvPr/>
        </p:nvSpPr>
        <p:spPr>
          <a:xfrm>
            <a:off x="9713890" y="116015"/>
            <a:ext cx="1" cy="382034"/>
          </a:xfrm>
          <a:prstGeom prst="line">
            <a:avLst/>
          </a:prstGeom>
          <a:ln w="6350">
            <a:solidFill>
              <a:srgbClr val="767171"/>
            </a:solidFill>
            <a:miter/>
          </a:ln>
        </p:spPr>
        <p:txBody>
          <a:bodyPr lIns="45719" rIns="45719"/>
          <a:lstStyle/>
          <a:p>
            <a:endParaRPr/>
          </a:p>
        </p:txBody>
      </p:sp>
      <p:sp>
        <p:nvSpPr>
          <p:cNvPr id="40" name="文本框 21"/>
          <p:cNvSpPr txBox="1"/>
          <p:nvPr/>
        </p:nvSpPr>
        <p:spPr>
          <a:xfrm>
            <a:off x="9713890"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研究意义</a:t>
            </a:r>
          </a:p>
        </p:txBody>
      </p:sp>
      <p:sp>
        <p:nvSpPr>
          <p:cNvPr id="41" name="直接连接符 22"/>
          <p:cNvSpPr/>
          <p:nvPr/>
        </p:nvSpPr>
        <p:spPr>
          <a:xfrm>
            <a:off x="10821885" y="116015"/>
            <a:ext cx="1" cy="382034"/>
          </a:xfrm>
          <a:prstGeom prst="line">
            <a:avLst/>
          </a:prstGeom>
          <a:ln w="6350">
            <a:solidFill>
              <a:srgbClr val="767171"/>
            </a:solidFill>
            <a:miter/>
          </a:ln>
        </p:spPr>
        <p:txBody>
          <a:bodyPr lIns="45719" rIns="45719"/>
          <a:lstStyle/>
          <a:p>
            <a:endParaRPr/>
          </a:p>
        </p:txBody>
      </p:sp>
      <p:sp>
        <p:nvSpPr>
          <p:cNvPr id="42" name="文本框 23"/>
          <p:cNvSpPr txBox="1"/>
          <p:nvPr/>
        </p:nvSpPr>
        <p:spPr>
          <a:xfrm>
            <a:off x="10821885" y="128715"/>
            <a:ext cx="1247141" cy="408941"/>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贡献与创新</a:t>
            </a:r>
          </a:p>
        </p:txBody>
      </p:sp>
    </p:spTree>
    <p:extLst>
      <p:ext uri="{BB962C8B-B14F-4D97-AF65-F5344CB8AC3E}">
        <p14:creationId xmlns:p14="http://schemas.microsoft.com/office/powerpoint/2010/main" val="371020512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绪论2">
    <p:spTree>
      <p:nvGrpSpPr>
        <p:cNvPr id="1" name=""/>
        <p:cNvGrpSpPr/>
        <p:nvPr/>
      </p:nvGrpSpPr>
      <p:grpSpPr>
        <a:xfrm>
          <a:off x="0" y="0"/>
          <a:ext cx="0" cy="0"/>
          <a:chOff x="0" y="0"/>
          <a:chExt cx="0" cy="0"/>
        </a:xfrm>
      </p:grpSpPr>
      <p:sp>
        <p:nvSpPr>
          <p:cNvPr id="49"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50" name="直接连接符 12"/>
          <p:cNvSpPr/>
          <p:nvPr/>
        </p:nvSpPr>
        <p:spPr>
          <a:xfrm>
            <a:off x="1907704" y="1268759"/>
            <a:ext cx="8699336" cy="1"/>
          </a:xfrm>
          <a:prstGeom prst="line">
            <a:avLst/>
          </a:prstGeom>
          <a:ln w="6350">
            <a:solidFill>
              <a:srgbClr val="BFBFBF"/>
            </a:solidFill>
            <a:miter/>
          </a:ln>
        </p:spPr>
        <p:txBody>
          <a:bodyPr lIns="45719" rIns="45719"/>
          <a:lstStyle/>
          <a:p>
            <a:endParaRPr/>
          </a:p>
        </p:txBody>
      </p:sp>
      <p:sp>
        <p:nvSpPr>
          <p:cNvPr id="51" name="文本框 13"/>
          <p:cNvSpPr txBox="1"/>
          <p:nvPr/>
        </p:nvSpPr>
        <p:spPr>
          <a:xfrm>
            <a:off x="2210764" y="509286"/>
            <a:ext cx="1261279"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绪 论</a:t>
            </a:r>
          </a:p>
        </p:txBody>
      </p:sp>
      <p:sp>
        <p:nvSpPr>
          <p:cNvPr id="52"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53" name="文本框 19"/>
          <p:cNvSpPr txBox="1"/>
          <p:nvPr/>
        </p:nvSpPr>
        <p:spPr>
          <a:xfrm>
            <a:off x="8605894"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选题背景</a:t>
            </a:r>
          </a:p>
        </p:txBody>
      </p:sp>
      <p:sp>
        <p:nvSpPr>
          <p:cNvPr id="54" name="直接连接符 16"/>
          <p:cNvSpPr/>
          <p:nvPr/>
        </p:nvSpPr>
        <p:spPr>
          <a:xfrm>
            <a:off x="9713890" y="116015"/>
            <a:ext cx="1" cy="382034"/>
          </a:xfrm>
          <a:prstGeom prst="line">
            <a:avLst/>
          </a:prstGeom>
          <a:ln w="6350">
            <a:solidFill>
              <a:srgbClr val="767171"/>
            </a:solidFill>
            <a:miter/>
          </a:ln>
        </p:spPr>
        <p:txBody>
          <a:bodyPr lIns="45719" rIns="45719"/>
          <a:lstStyle/>
          <a:p>
            <a:endParaRPr/>
          </a:p>
        </p:txBody>
      </p:sp>
      <p:sp>
        <p:nvSpPr>
          <p:cNvPr id="55" name="文本框 21"/>
          <p:cNvSpPr txBox="1"/>
          <p:nvPr/>
        </p:nvSpPr>
        <p:spPr>
          <a:xfrm>
            <a:off x="9713890" y="139954"/>
            <a:ext cx="1018541" cy="408940"/>
          </a:xfrm>
          <a:prstGeom prst="rect">
            <a:avLst/>
          </a:prstGeom>
          <a:ln w="12700">
            <a:miter lim="400000"/>
          </a:ln>
        </p:spPr>
        <p:txBody>
          <a:bodyPr wrap="none" lIns="45719" rIns="45719">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研究意义</a:t>
            </a:r>
          </a:p>
        </p:txBody>
      </p:sp>
      <p:sp>
        <p:nvSpPr>
          <p:cNvPr id="56" name="直接连接符 18"/>
          <p:cNvSpPr/>
          <p:nvPr/>
        </p:nvSpPr>
        <p:spPr>
          <a:xfrm>
            <a:off x="10821885" y="116015"/>
            <a:ext cx="1" cy="382034"/>
          </a:xfrm>
          <a:prstGeom prst="line">
            <a:avLst/>
          </a:prstGeom>
          <a:ln w="6350">
            <a:solidFill>
              <a:srgbClr val="767171"/>
            </a:solidFill>
            <a:miter/>
          </a:ln>
        </p:spPr>
        <p:txBody>
          <a:bodyPr lIns="45719" rIns="45719"/>
          <a:lstStyle/>
          <a:p>
            <a:endParaRPr/>
          </a:p>
        </p:txBody>
      </p:sp>
      <p:sp>
        <p:nvSpPr>
          <p:cNvPr id="57" name="文本框 23"/>
          <p:cNvSpPr txBox="1"/>
          <p:nvPr/>
        </p:nvSpPr>
        <p:spPr>
          <a:xfrm>
            <a:off x="10821885" y="128715"/>
            <a:ext cx="1247141" cy="408941"/>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贡献与创新</a:t>
            </a:r>
          </a:p>
        </p:txBody>
      </p:sp>
      <p:graphicFrame>
        <p:nvGraphicFramePr>
          <p:cNvPr id="58" name="表格 25"/>
          <p:cNvGraphicFramePr/>
          <p:nvPr/>
        </p:nvGraphicFramePr>
        <p:xfrm>
          <a:off x="0" y="1268759"/>
          <a:ext cx="1691680" cy="3960000"/>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研究方法与思路</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63" name="组合 26"/>
          <p:cNvGrpSpPr/>
          <p:nvPr/>
        </p:nvGrpSpPr>
        <p:grpSpPr>
          <a:xfrm>
            <a:off x="-1" y="1272662"/>
            <a:ext cx="1691682" cy="788187"/>
            <a:chOff x="0" y="0"/>
            <a:chExt cx="1691680" cy="788185"/>
          </a:xfrm>
        </p:grpSpPr>
        <p:grpSp>
          <p:nvGrpSpPr>
            <p:cNvPr id="61" name="矩形 27"/>
            <p:cNvGrpSpPr/>
            <p:nvPr/>
          </p:nvGrpSpPr>
          <p:grpSpPr>
            <a:xfrm>
              <a:off x="0" y="0"/>
              <a:ext cx="1691681" cy="788186"/>
              <a:chOff x="0" y="0"/>
              <a:chExt cx="1691680" cy="788185"/>
            </a:xfrm>
          </p:grpSpPr>
          <p:sp>
            <p:nvSpPr>
              <p:cNvPr id="59"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0" name="绪论"/>
              <p:cNvSpPr txBox="1"/>
              <p:nvPr/>
            </p:nvSpPr>
            <p:spPr>
              <a:xfrm>
                <a:off x="-1" y="189623"/>
                <a:ext cx="1691682" cy="408941"/>
              </a:xfrm>
              <a:prstGeom prst="rect">
                <a:avLst/>
              </a:prstGeom>
              <a:noFill/>
              <a:ln w="12700" cap="flat">
                <a:noFill/>
                <a:miter lim="400000"/>
              </a:ln>
              <a:effectLst/>
            </p:spPr>
            <p:txBody>
              <a:bodyPr wrap="square" lIns="45719" tIns="45719" rIns="45719" bIns="45719" numCol="1" anchor="ctr">
                <a:spAutoFit/>
              </a:bodyPr>
              <a:lstStyle>
                <a:lvl1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sp>
          <p:nvSpPr>
            <p:cNvPr id="62" name="等腰三角形 28"/>
            <p:cNvSpPr/>
            <p:nvPr/>
          </p:nvSpPr>
          <p:spPr>
            <a:xfrm rot="16200000">
              <a:off x="1547664" y="322086"/>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105322520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1_绪论2">
    <p:spTree>
      <p:nvGrpSpPr>
        <p:cNvPr id="1" name=""/>
        <p:cNvGrpSpPr/>
        <p:nvPr/>
      </p:nvGrpSpPr>
      <p:grpSpPr>
        <a:xfrm>
          <a:off x="0" y="0"/>
          <a:ext cx="0" cy="0"/>
          <a:chOff x="0" y="0"/>
          <a:chExt cx="0" cy="0"/>
        </a:xfrm>
      </p:grpSpPr>
      <p:sp>
        <p:nvSpPr>
          <p:cNvPr id="70"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71" name="直接连接符 12"/>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72" name="文本框 13"/>
          <p:cNvSpPr txBox="1"/>
          <p:nvPr/>
        </p:nvSpPr>
        <p:spPr>
          <a:xfrm>
            <a:off x="2210764" y="509286"/>
            <a:ext cx="1261279"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绪 论</a:t>
            </a:r>
          </a:p>
        </p:txBody>
      </p:sp>
      <p:sp>
        <p:nvSpPr>
          <p:cNvPr id="73"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74" name="文本框 19"/>
          <p:cNvSpPr txBox="1"/>
          <p:nvPr/>
        </p:nvSpPr>
        <p:spPr>
          <a:xfrm>
            <a:off x="8605894"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选题背景</a:t>
            </a:r>
          </a:p>
        </p:txBody>
      </p:sp>
      <p:sp>
        <p:nvSpPr>
          <p:cNvPr id="75" name="直接连接符 26"/>
          <p:cNvSpPr/>
          <p:nvPr/>
        </p:nvSpPr>
        <p:spPr>
          <a:xfrm>
            <a:off x="9713890" y="116015"/>
            <a:ext cx="1" cy="382034"/>
          </a:xfrm>
          <a:prstGeom prst="line">
            <a:avLst/>
          </a:prstGeom>
          <a:ln w="6350">
            <a:solidFill>
              <a:srgbClr val="767171"/>
            </a:solidFill>
            <a:miter/>
          </a:ln>
        </p:spPr>
        <p:txBody>
          <a:bodyPr lIns="45719" rIns="45719"/>
          <a:lstStyle/>
          <a:p>
            <a:endParaRPr/>
          </a:p>
        </p:txBody>
      </p:sp>
      <p:sp>
        <p:nvSpPr>
          <p:cNvPr id="76" name="文本框 21"/>
          <p:cNvSpPr txBox="1"/>
          <p:nvPr/>
        </p:nvSpPr>
        <p:spPr>
          <a:xfrm>
            <a:off x="9713890"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研究意义</a:t>
            </a:r>
          </a:p>
        </p:txBody>
      </p:sp>
      <p:sp>
        <p:nvSpPr>
          <p:cNvPr id="77" name="直接连接符 28"/>
          <p:cNvSpPr/>
          <p:nvPr/>
        </p:nvSpPr>
        <p:spPr>
          <a:xfrm>
            <a:off x="10821885" y="116015"/>
            <a:ext cx="1" cy="382034"/>
          </a:xfrm>
          <a:prstGeom prst="line">
            <a:avLst/>
          </a:prstGeom>
          <a:ln w="6350">
            <a:solidFill>
              <a:srgbClr val="767171"/>
            </a:solidFill>
            <a:miter/>
          </a:ln>
        </p:spPr>
        <p:txBody>
          <a:bodyPr lIns="45719" rIns="45719"/>
          <a:lstStyle/>
          <a:p>
            <a:endParaRPr/>
          </a:p>
        </p:txBody>
      </p:sp>
      <p:sp>
        <p:nvSpPr>
          <p:cNvPr id="78" name="文本框 23"/>
          <p:cNvSpPr txBox="1"/>
          <p:nvPr/>
        </p:nvSpPr>
        <p:spPr>
          <a:xfrm>
            <a:off x="10821885" y="128715"/>
            <a:ext cx="1247141" cy="408941"/>
          </a:xfrm>
          <a:prstGeom prst="rect">
            <a:avLst/>
          </a:prstGeom>
          <a:ln w="12700">
            <a:miter lim="400000"/>
          </a:ln>
        </p:spPr>
        <p:txBody>
          <a:bodyPr wrap="none" lIns="45719" rIns="45719">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贡献与创新</a:t>
            </a:r>
          </a:p>
        </p:txBody>
      </p:sp>
      <p:graphicFrame>
        <p:nvGraphicFramePr>
          <p:cNvPr id="79" name="表格 30"/>
          <p:cNvGraphicFramePr/>
          <p:nvPr/>
        </p:nvGraphicFramePr>
        <p:xfrm>
          <a:off x="0" y="1268759"/>
          <a:ext cx="1691680" cy="3960000"/>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研究方法与思路</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84" name="组合 31"/>
          <p:cNvGrpSpPr/>
          <p:nvPr/>
        </p:nvGrpSpPr>
        <p:grpSpPr>
          <a:xfrm>
            <a:off x="-1" y="1272662"/>
            <a:ext cx="1691682" cy="788187"/>
            <a:chOff x="0" y="0"/>
            <a:chExt cx="1691680" cy="788185"/>
          </a:xfrm>
        </p:grpSpPr>
        <p:grpSp>
          <p:nvGrpSpPr>
            <p:cNvPr id="82" name="矩形 32"/>
            <p:cNvGrpSpPr/>
            <p:nvPr/>
          </p:nvGrpSpPr>
          <p:grpSpPr>
            <a:xfrm>
              <a:off x="0" y="0"/>
              <a:ext cx="1691681" cy="788186"/>
              <a:chOff x="0" y="0"/>
              <a:chExt cx="1691680" cy="788185"/>
            </a:xfrm>
          </p:grpSpPr>
          <p:sp>
            <p:nvSpPr>
              <p:cNvPr id="80"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81" name="绪论"/>
              <p:cNvSpPr txBox="1"/>
              <p:nvPr/>
            </p:nvSpPr>
            <p:spPr>
              <a:xfrm>
                <a:off x="-1" y="189623"/>
                <a:ext cx="1691682" cy="408941"/>
              </a:xfrm>
              <a:prstGeom prst="rect">
                <a:avLst/>
              </a:prstGeom>
              <a:noFill/>
              <a:ln w="12700" cap="flat">
                <a:noFill/>
                <a:miter lim="400000"/>
              </a:ln>
              <a:effectLst/>
            </p:spPr>
            <p:txBody>
              <a:bodyPr wrap="square" lIns="45719" tIns="45719" rIns="45719" bIns="45719" numCol="1" anchor="ctr">
                <a:spAutoFit/>
              </a:bodyPr>
              <a:lstStyle>
                <a:lvl1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sp>
          <p:nvSpPr>
            <p:cNvPr id="83" name="等腰三角形 33"/>
            <p:cNvSpPr/>
            <p:nvPr/>
          </p:nvSpPr>
          <p:spPr>
            <a:xfrm rot="16200000">
              <a:off x="1547664" y="322086"/>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206320879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界定与表征">
    <p:spTree>
      <p:nvGrpSpPr>
        <p:cNvPr id="1" name=""/>
        <p:cNvGrpSpPr/>
        <p:nvPr/>
      </p:nvGrpSpPr>
      <p:grpSpPr>
        <a:xfrm>
          <a:off x="0" y="0"/>
          <a:ext cx="0" cy="0"/>
          <a:chOff x="0" y="0"/>
          <a:chExt cx="0" cy="0"/>
        </a:xfrm>
      </p:grpSpPr>
      <p:sp>
        <p:nvSpPr>
          <p:cNvPr id="91"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92"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93" name="文本框 30"/>
          <p:cNvSpPr txBox="1"/>
          <p:nvPr/>
        </p:nvSpPr>
        <p:spPr>
          <a:xfrm>
            <a:off x="2210764" y="520171"/>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研究方法与思路</a:t>
            </a:r>
          </a:p>
        </p:txBody>
      </p:sp>
      <p:sp>
        <p:nvSpPr>
          <p:cNvPr id="94"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graphicFrame>
        <p:nvGraphicFramePr>
          <p:cNvPr id="95" name="表格 15"/>
          <p:cNvGraphicFramePr/>
          <p:nvPr/>
        </p:nvGraphicFramePr>
        <p:xfrm>
          <a:off x="0" y="1268759"/>
          <a:ext cx="1691680" cy="3999295"/>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831295">
                <a:tc>
                  <a:txBody>
                    <a:bodyPr/>
                    <a:lstStyle/>
                    <a:p>
                      <a:pPr algn="ctr">
                        <a:def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98" name="组合 16"/>
          <p:cNvGrpSpPr/>
          <p:nvPr/>
        </p:nvGrpSpPr>
        <p:grpSpPr>
          <a:xfrm>
            <a:off x="-1" y="1481335"/>
            <a:ext cx="1691682" cy="370841"/>
            <a:chOff x="0" y="0"/>
            <a:chExt cx="1691680" cy="370840"/>
          </a:xfrm>
        </p:grpSpPr>
        <p:sp>
          <p:nvSpPr>
            <p:cNvPr id="96" name="矩形 17"/>
            <p:cNvSpPr txBox="1"/>
            <p:nvPr/>
          </p:nvSpPr>
          <p:spPr>
            <a:xfrm>
              <a:off x="0" y="0"/>
              <a:ext cx="1691681"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sp>
          <p:nvSpPr>
            <p:cNvPr id="97" name="等腰三角形 18"/>
            <p:cNvSpPr/>
            <p:nvPr/>
          </p:nvSpPr>
          <p:spPr>
            <a:xfrm rot="16200000">
              <a:off x="1547664" y="113413"/>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105" name="组合 1"/>
          <p:cNvGrpSpPr/>
          <p:nvPr/>
        </p:nvGrpSpPr>
        <p:grpSpPr>
          <a:xfrm>
            <a:off x="3667" y="2079006"/>
            <a:ext cx="1696207" cy="788187"/>
            <a:chOff x="0" y="0"/>
            <a:chExt cx="1696206" cy="788185"/>
          </a:xfrm>
        </p:grpSpPr>
        <p:grpSp>
          <p:nvGrpSpPr>
            <p:cNvPr id="103" name="组合 26"/>
            <p:cNvGrpSpPr/>
            <p:nvPr/>
          </p:nvGrpSpPr>
          <p:grpSpPr>
            <a:xfrm>
              <a:off x="0" y="0"/>
              <a:ext cx="1691681" cy="788186"/>
              <a:chOff x="0" y="0"/>
              <a:chExt cx="1691680" cy="788185"/>
            </a:xfrm>
          </p:grpSpPr>
          <p:grpSp>
            <p:nvGrpSpPr>
              <p:cNvPr id="101" name="矩形 27"/>
              <p:cNvGrpSpPr/>
              <p:nvPr/>
            </p:nvGrpSpPr>
            <p:grpSpPr>
              <a:xfrm>
                <a:off x="0" y="0"/>
                <a:ext cx="1691681" cy="788186"/>
                <a:chOff x="0" y="0"/>
                <a:chExt cx="1691680" cy="788185"/>
              </a:xfrm>
            </p:grpSpPr>
            <p:sp>
              <p:nvSpPr>
                <p:cNvPr id="99"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00" name="研究方法与思路"/>
                <p:cNvSpPr txBox="1"/>
                <p:nvPr/>
              </p:nvSpPr>
              <p:spPr>
                <a:xfrm>
                  <a:off x="-1" y="208672"/>
                  <a:ext cx="1691682" cy="370841"/>
                </a:xfrm>
                <a:prstGeom prst="rect">
                  <a:avLst/>
                </a:prstGeom>
                <a:noFill/>
                <a:ln w="12700" cap="flat">
                  <a:noFill/>
                  <a:miter lim="400000"/>
                </a:ln>
                <a:effectLst/>
              </p:spPr>
              <p:txBody>
                <a:bodyPr wrap="square" lIns="45719" tIns="45719" rIns="45719" bIns="45719" numCol="1" anchor="ctr">
                  <a:spAutoFit/>
                </a:bodyPr>
                <a:lstStyle>
                  <a:lvl1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02" name="等腰三角形 28"/>
              <p:cNvSpPr/>
              <p:nvPr/>
            </p:nvSpPr>
            <p:spPr>
              <a:xfrm rot="16200000">
                <a:off x="1547664" y="322085"/>
                <a:ext cx="144017" cy="144018"/>
              </a:xfrm>
              <a:prstGeom prst="triangle">
                <a:avLst/>
              </a:prstGeom>
              <a:solidFill>
                <a:srgbClr val="0070C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04" name="等腰三角形 19"/>
            <p:cNvSpPr/>
            <p:nvPr/>
          </p:nvSpPr>
          <p:spPr>
            <a:xfrm rot="16200000">
              <a:off x="1552190" y="343351"/>
              <a:ext cx="144017" cy="144018"/>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251045957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合理交通结构">
    <p:spTree>
      <p:nvGrpSpPr>
        <p:cNvPr id="1" name=""/>
        <p:cNvGrpSpPr/>
        <p:nvPr/>
      </p:nvGrpSpPr>
      <p:grpSpPr>
        <a:xfrm>
          <a:off x="0" y="0"/>
          <a:ext cx="0" cy="0"/>
          <a:chOff x="0" y="0"/>
          <a:chExt cx="0" cy="0"/>
        </a:xfrm>
      </p:grpSpPr>
      <p:sp>
        <p:nvSpPr>
          <p:cNvPr id="112"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113" name="表格 24"/>
          <p:cNvGraphicFramePr/>
          <p:nvPr/>
        </p:nvGraphicFramePr>
        <p:xfrm>
          <a:off x="0" y="1268759"/>
          <a:ext cx="1691680" cy="3960000"/>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414455"/>
                    </a:solid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16" name="矩形 27"/>
          <p:cNvGrpSpPr/>
          <p:nvPr/>
        </p:nvGrpSpPr>
        <p:grpSpPr>
          <a:xfrm>
            <a:off x="-1" y="2064749"/>
            <a:ext cx="1691682" cy="788187"/>
            <a:chOff x="0" y="0"/>
            <a:chExt cx="1691680" cy="788185"/>
          </a:xfrm>
        </p:grpSpPr>
        <p:sp>
          <p:nvSpPr>
            <p:cNvPr id="114" name="矩形"/>
            <p:cNvSpPr/>
            <p:nvPr/>
          </p:nvSpPr>
          <p:spPr>
            <a:xfrm>
              <a:off x="-1" y="0"/>
              <a:ext cx="1691682" cy="788186"/>
            </a:xfrm>
            <a:prstGeom prst="rect">
              <a:avLst/>
            </a:prstGeom>
            <a:solidFill>
              <a:srgbClr val="F2F2F2"/>
            </a:solidFill>
            <a:ln w="12700" cap="flat">
              <a:noFill/>
              <a:miter lim="400000"/>
            </a:ln>
            <a:effectLst/>
          </p:spPr>
          <p:txBody>
            <a:bodyPr wrap="square" lIns="45719" tIns="45719" rIns="45719" bIns="45719" numCol="1" anchor="ctr">
              <a:noAutofit/>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15" name="研究方法与思路"/>
            <p:cNvSpPr txBox="1"/>
            <p:nvPr/>
          </p:nvSpPr>
          <p:spPr>
            <a:xfrm>
              <a:off x="-1" y="208672"/>
              <a:ext cx="1691682" cy="370841"/>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17"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18" name="文本框 30"/>
          <p:cNvSpPr txBox="1"/>
          <p:nvPr/>
        </p:nvSpPr>
        <p:spPr>
          <a:xfrm>
            <a:off x="2210764" y="519918"/>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关键技术与难点</a:t>
            </a:r>
          </a:p>
        </p:txBody>
      </p:sp>
      <p:sp>
        <p:nvSpPr>
          <p:cNvPr id="119"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120" name="等腰三角形 11"/>
          <p:cNvSpPr/>
          <p:nvPr/>
        </p:nvSpPr>
        <p:spPr>
          <a:xfrm rot="16200000">
            <a:off x="1547663" y="3174234"/>
            <a:ext cx="144017" cy="144017"/>
          </a:xfrm>
          <a:prstGeom prst="triangle">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212145744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影响因素辨识">
    <p:spTree>
      <p:nvGrpSpPr>
        <p:cNvPr id="1" name=""/>
        <p:cNvGrpSpPr/>
        <p:nvPr/>
      </p:nvGrpSpPr>
      <p:grpSpPr>
        <a:xfrm>
          <a:off x="0" y="0"/>
          <a:ext cx="0" cy="0"/>
          <a:chOff x="0" y="0"/>
          <a:chExt cx="0" cy="0"/>
        </a:xfrm>
      </p:grpSpPr>
      <p:sp>
        <p:nvSpPr>
          <p:cNvPr id="127"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128" name="表格 24"/>
          <p:cNvGraphicFramePr/>
          <p:nvPr/>
        </p:nvGraphicFramePr>
        <p:xfrm>
          <a:off x="0" y="1268759"/>
          <a:ext cx="1691680" cy="3960000"/>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F2F2F2"/>
                    </a:solidFill>
                  </a:tcPr>
                </a:tc>
                <a:extLst>
                  <a:ext uri="{0D108BD9-81ED-4DB2-BD59-A6C34878D82A}">
                    <a16:rowId xmlns:a16="http://schemas.microsoft.com/office/drawing/2014/main" val="10002"/>
                  </a:ext>
                </a:extLst>
              </a:tr>
              <a:tr h="792000">
                <a:tc>
                  <a:txBody>
                    <a:bodyPr/>
                    <a:lstStyle/>
                    <a:p>
                      <a:pPr algn="ctr">
                        <a:defRPr sz="1800"/>
                      </a:pPr>
                      <a:r>
                        <a: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414455"/>
                    </a:solid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31" name="矩形 27"/>
          <p:cNvGrpSpPr/>
          <p:nvPr/>
        </p:nvGrpSpPr>
        <p:grpSpPr>
          <a:xfrm>
            <a:off x="-1" y="2064749"/>
            <a:ext cx="1691682" cy="767351"/>
            <a:chOff x="0" y="0"/>
            <a:chExt cx="1691680" cy="767350"/>
          </a:xfrm>
        </p:grpSpPr>
        <p:sp>
          <p:nvSpPr>
            <p:cNvPr id="129" name="矩形"/>
            <p:cNvSpPr/>
            <p:nvPr/>
          </p:nvSpPr>
          <p:spPr>
            <a:xfrm>
              <a:off x="-1" y="-1"/>
              <a:ext cx="1691682" cy="767352"/>
            </a:xfrm>
            <a:prstGeom prst="rect">
              <a:avLst/>
            </a:prstGeom>
            <a:solidFill>
              <a:srgbClr val="F2F2F2"/>
            </a:solidFill>
            <a:ln w="12700" cap="flat">
              <a:noFill/>
              <a:miter lim="400000"/>
            </a:ln>
            <a:effectLst/>
          </p:spPr>
          <p:txBody>
            <a:bodyPr wrap="square" lIns="45719" tIns="45719" rIns="45719" bIns="45719" numCol="1" anchor="ctr">
              <a:noAutofit/>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30" name="研究方法与思路"/>
            <p:cNvSpPr txBox="1"/>
            <p:nvPr/>
          </p:nvSpPr>
          <p:spPr>
            <a:xfrm>
              <a:off x="-1" y="198255"/>
              <a:ext cx="1691682"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32"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33" name="文本框 30"/>
          <p:cNvSpPr txBox="1"/>
          <p:nvPr/>
        </p:nvSpPr>
        <p:spPr>
          <a:xfrm>
            <a:off x="2210764" y="519918"/>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研究成果与应用</a:t>
            </a:r>
          </a:p>
        </p:txBody>
      </p:sp>
      <p:sp>
        <p:nvSpPr>
          <p:cNvPr id="134"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135" name="等腰三角形 9"/>
          <p:cNvSpPr/>
          <p:nvPr/>
        </p:nvSpPr>
        <p:spPr>
          <a:xfrm rot="16200000">
            <a:off x="1547663" y="3948934"/>
            <a:ext cx="144017" cy="144017"/>
          </a:xfrm>
          <a:prstGeom prst="triangle">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94483080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1_影响因素辨识">
    <p:spTree>
      <p:nvGrpSpPr>
        <p:cNvPr id="1" name=""/>
        <p:cNvGrpSpPr/>
        <p:nvPr/>
      </p:nvGrpSpPr>
      <p:grpSpPr>
        <a:xfrm>
          <a:off x="0" y="0"/>
          <a:ext cx="0" cy="0"/>
          <a:chOff x="0" y="0"/>
          <a:chExt cx="0" cy="0"/>
        </a:xfrm>
      </p:grpSpPr>
      <p:sp>
        <p:nvSpPr>
          <p:cNvPr id="142"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143" name="表格 24"/>
          <p:cNvGraphicFramePr/>
          <p:nvPr/>
        </p:nvGraphicFramePr>
        <p:xfrm>
          <a:off x="0" y="1268759"/>
          <a:ext cx="1691681" cy="3960002"/>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F2F2F2"/>
                    </a:solidFill>
                  </a:tcPr>
                </a:tc>
                <a:extLst>
                  <a:ext uri="{0D108BD9-81ED-4DB2-BD59-A6C34878D82A}">
                    <a16:rowId xmlns:a16="http://schemas.microsoft.com/office/drawing/2014/main" val="10002"/>
                  </a:ext>
                </a:extLst>
              </a:tr>
              <a:tr h="792000">
                <a:tc>
                  <a:txBody>
                    <a:bodyPr/>
                    <a:lstStyle/>
                    <a:p>
                      <a:pPr algn="ctr">
                        <a:defRPr sz="1800"/>
                      </a:pPr>
                      <a:r>
                        <a: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414455"/>
                    </a:solid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46" name="矩形 27"/>
          <p:cNvGrpSpPr/>
          <p:nvPr/>
        </p:nvGrpSpPr>
        <p:grpSpPr>
          <a:xfrm>
            <a:off x="-1" y="2064749"/>
            <a:ext cx="1691682" cy="767351"/>
            <a:chOff x="0" y="0"/>
            <a:chExt cx="1691680" cy="767350"/>
          </a:xfrm>
        </p:grpSpPr>
        <p:sp>
          <p:nvSpPr>
            <p:cNvPr id="144" name="矩形"/>
            <p:cNvSpPr/>
            <p:nvPr/>
          </p:nvSpPr>
          <p:spPr>
            <a:xfrm>
              <a:off x="-1" y="-1"/>
              <a:ext cx="1691682" cy="767352"/>
            </a:xfrm>
            <a:prstGeom prst="rect">
              <a:avLst/>
            </a:prstGeom>
            <a:solidFill>
              <a:srgbClr val="F2F2F2"/>
            </a:solidFill>
            <a:ln w="12700" cap="flat">
              <a:noFill/>
              <a:miter lim="400000"/>
            </a:ln>
            <a:effectLst/>
          </p:spPr>
          <p:txBody>
            <a:bodyPr wrap="square" lIns="45719" tIns="45719" rIns="45719" bIns="45719" numCol="1" anchor="ctr">
              <a:noAutofit/>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45" name="研究方法与思路"/>
            <p:cNvSpPr txBox="1"/>
            <p:nvPr/>
          </p:nvSpPr>
          <p:spPr>
            <a:xfrm>
              <a:off x="-1" y="198255"/>
              <a:ext cx="1691682"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47"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48" name="文本框 30"/>
          <p:cNvSpPr txBox="1"/>
          <p:nvPr/>
        </p:nvSpPr>
        <p:spPr>
          <a:xfrm>
            <a:off x="2210764" y="519918"/>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研究成果与应用</a:t>
            </a:r>
          </a:p>
        </p:txBody>
      </p:sp>
      <p:sp>
        <p:nvSpPr>
          <p:cNvPr id="149"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150" name="等腰三角形 9"/>
          <p:cNvSpPr/>
          <p:nvPr/>
        </p:nvSpPr>
        <p:spPr>
          <a:xfrm rot="16200000">
            <a:off x="1547663" y="3948934"/>
            <a:ext cx="144017" cy="144017"/>
          </a:xfrm>
          <a:prstGeom prst="triangle">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202964200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影响因素辨识1">
    <p:spTree>
      <p:nvGrpSpPr>
        <p:cNvPr id="1" name=""/>
        <p:cNvGrpSpPr/>
        <p:nvPr/>
      </p:nvGrpSpPr>
      <p:grpSpPr>
        <a:xfrm>
          <a:off x="0" y="0"/>
          <a:ext cx="0" cy="0"/>
          <a:chOff x="0" y="0"/>
          <a:chExt cx="0" cy="0"/>
        </a:xfrm>
      </p:grpSpPr>
      <p:sp>
        <p:nvSpPr>
          <p:cNvPr id="157"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158"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59" name="文本框 30"/>
          <p:cNvSpPr txBox="1"/>
          <p:nvPr/>
        </p:nvSpPr>
        <p:spPr>
          <a:xfrm>
            <a:off x="2210764" y="531057"/>
            <a:ext cx="19329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论文总结</a:t>
            </a:r>
          </a:p>
        </p:txBody>
      </p:sp>
      <p:sp>
        <p:nvSpPr>
          <p:cNvPr id="160"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graphicFrame>
        <p:nvGraphicFramePr>
          <p:cNvPr id="161" name="表格 15"/>
          <p:cNvGraphicFramePr/>
          <p:nvPr/>
        </p:nvGraphicFramePr>
        <p:xfrm>
          <a:off x="8194" y="1295575"/>
          <a:ext cx="1691680" cy="3999295"/>
        </p:xfrm>
        <a:graphic>
          <a:graphicData uri="http://schemas.openxmlformats.org/drawingml/2006/table">
            <a:tbl>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831295">
                <a:tc>
                  <a:txBody>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64" name="组合 16"/>
          <p:cNvGrpSpPr/>
          <p:nvPr/>
        </p:nvGrpSpPr>
        <p:grpSpPr>
          <a:xfrm>
            <a:off x="-1" y="1481335"/>
            <a:ext cx="1691682" cy="370841"/>
            <a:chOff x="0" y="0"/>
            <a:chExt cx="1691680" cy="370840"/>
          </a:xfrm>
        </p:grpSpPr>
        <p:sp>
          <p:nvSpPr>
            <p:cNvPr id="162" name="矩形 17"/>
            <p:cNvSpPr txBox="1"/>
            <p:nvPr/>
          </p:nvSpPr>
          <p:spPr>
            <a:xfrm>
              <a:off x="0" y="0"/>
              <a:ext cx="1691681"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sp>
          <p:nvSpPr>
            <p:cNvPr id="163" name="等腰三角形 18"/>
            <p:cNvSpPr/>
            <p:nvPr/>
          </p:nvSpPr>
          <p:spPr>
            <a:xfrm rot="16200000">
              <a:off x="1547664" y="113413"/>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65" name="矩形 22"/>
          <p:cNvSpPr txBox="1"/>
          <p:nvPr/>
        </p:nvSpPr>
        <p:spPr>
          <a:xfrm>
            <a:off x="3667" y="2287679"/>
            <a:ext cx="1691682" cy="370841"/>
          </a:xfrm>
          <a:prstGeom prst="rect">
            <a:avLst/>
          </a:prstGeom>
          <a:ln w="12700">
            <a:miter lim="400000"/>
          </a:ln>
        </p:spPr>
        <p:txBody>
          <a:bodyPr lIns="45719" rIns="45719"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nvGrpSpPr>
          <p:cNvPr id="170" name="组合 10"/>
          <p:cNvGrpSpPr/>
          <p:nvPr/>
        </p:nvGrpSpPr>
        <p:grpSpPr>
          <a:xfrm>
            <a:off x="-2440" y="4510373"/>
            <a:ext cx="1691682" cy="788187"/>
            <a:chOff x="0" y="0"/>
            <a:chExt cx="1691680" cy="788185"/>
          </a:xfrm>
        </p:grpSpPr>
        <p:grpSp>
          <p:nvGrpSpPr>
            <p:cNvPr id="168" name="矩形 13"/>
            <p:cNvGrpSpPr/>
            <p:nvPr/>
          </p:nvGrpSpPr>
          <p:grpSpPr>
            <a:xfrm>
              <a:off x="0" y="0"/>
              <a:ext cx="1691681" cy="788186"/>
              <a:chOff x="0" y="0"/>
              <a:chExt cx="1691680" cy="788185"/>
            </a:xfrm>
          </p:grpSpPr>
          <p:sp>
            <p:nvSpPr>
              <p:cNvPr id="166"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67" name="论文总结"/>
              <p:cNvSpPr txBox="1"/>
              <p:nvPr/>
            </p:nvSpPr>
            <p:spPr>
              <a:xfrm>
                <a:off x="-1" y="208672"/>
                <a:ext cx="1691682" cy="370841"/>
              </a:xfrm>
              <a:prstGeom prst="rect">
                <a:avLst/>
              </a:prstGeom>
              <a:noFill/>
              <a:ln w="12700" cap="flat">
                <a:noFill/>
                <a:miter lim="400000"/>
              </a:ln>
              <a:effectLst/>
            </p:spPr>
            <p:txBody>
              <a:bodyPr wrap="square" lIns="45719" tIns="45719" rIns="45719" bIns="45719" numCol="1" anchor="ctr">
                <a:spAutoFit/>
              </a:bodyPr>
              <a:lstStyle>
                <a:lvl1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论文总结</a:t>
                </a:r>
              </a:p>
            </p:txBody>
          </p:sp>
        </p:grpSp>
        <p:sp>
          <p:nvSpPr>
            <p:cNvPr id="169" name="等腰三角形 12"/>
            <p:cNvSpPr/>
            <p:nvPr/>
          </p:nvSpPr>
          <p:spPr>
            <a:xfrm rot="16200000">
              <a:off x="1545365" y="322084"/>
              <a:ext cx="144018"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43256959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自定义版式">
    <p:spTree>
      <p:nvGrpSpPr>
        <p:cNvPr id="1" name=""/>
        <p:cNvGrpSpPr/>
        <p:nvPr/>
      </p:nvGrpSpPr>
      <p:grpSpPr>
        <a:xfrm>
          <a:off x="0" y="0"/>
          <a:ext cx="0" cy="0"/>
          <a:chOff x="0" y="0"/>
          <a:chExt cx="0" cy="0"/>
        </a:xfrm>
      </p:grpSpPr>
      <p:sp>
        <p:nvSpPr>
          <p:cNvPr id="177"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6647474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标题和内容">
    <p:spTree>
      <p:nvGrpSpPr>
        <p:cNvPr id="1" name=""/>
        <p:cNvGrpSpPr/>
        <p:nvPr/>
      </p:nvGrpSpPr>
      <p:grpSpPr>
        <a:xfrm>
          <a:off x="0" y="0"/>
          <a:ext cx="0" cy="0"/>
          <a:chOff x="0" y="0"/>
          <a:chExt cx="0" cy="0"/>
        </a:xfrm>
      </p:grpSpPr>
      <p:sp>
        <p:nvSpPr>
          <p:cNvPr id="193" name="标题文本"/>
          <p:cNvSpPr txBox="1">
            <a:spLocks noGrp="1"/>
          </p:cNvSpPr>
          <p:nvPr>
            <p:ph type="title" hasCustomPrompt="1"/>
          </p:nvPr>
        </p:nvSpPr>
        <p:spPr>
          <a:xfrm>
            <a:off x="838200" y="365125"/>
            <a:ext cx="10515600" cy="1325563"/>
          </a:xfrm>
          <a:prstGeom prst="rect">
            <a:avLst/>
          </a:prstGeom>
        </p:spPr>
        <p:txBody>
          <a:bodyPr/>
          <a:lstStyle/>
          <a:p>
            <a:r>
              <a:t>标题文本</a:t>
            </a:r>
          </a:p>
        </p:txBody>
      </p:sp>
      <p:sp>
        <p:nvSpPr>
          <p:cNvPr id="194" name="正文级别 1…"/>
          <p:cNvSpPr txBox="1">
            <a:spLocks noGrp="1"/>
          </p:cNvSpPr>
          <p:nvPr>
            <p:ph type="body" idx="1" hasCustomPrompt="1"/>
          </p:nvPr>
        </p:nvSpPr>
        <p:spPr>
          <a:xfrm>
            <a:off x="838200" y="1825625"/>
            <a:ext cx="10515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95" name="幻灯片编号"/>
          <p:cNvSpPr txBox="1">
            <a:spLocks noGrp="1"/>
          </p:cNvSpPr>
          <p:nvPr>
            <p:ph type="sldNum" sz="quarter" idx="2"/>
          </p:nvPr>
        </p:nvSpPr>
        <p:spPr>
          <a:xfrm>
            <a:off x="11089818" y="6404292"/>
            <a:ext cx="263983" cy="269241"/>
          </a:xfrm>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375520432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3" name="日期占位符 1"/>
          <p:cNvSpPr txBox="1"/>
          <p:nvPr/>
        </p:nvSpPr>
        <p:spPr>
          <a:xfrm>
            <a:off x="457200" y="6385242"/>
            <a:ext cx="2133600" cy="307341"/>
          </a:xfrm>
          <a:prstGeom prst="rect">
            <a:avLst/>
          </a:prstGeom>
          <a:ln w="12700">
            <a:miter lim="400000"/>
          </a:ln>
        </p:spPr>
        <p:txBody>
          <a:bodyPr lIns="45719" rIns="45719" anchor="ctr">
            <a:spAutoFit/>
          </a:bodyPr>
          <a:lstStyle/>
          <a:p>
            <a:pPr>
              <a:defRPr sz="1200">
                <a:solidFill>
                  <a:srgbClr val="888888"/>
                </a:solidFill>
              </a:defRPr>
            </a:pPr>
            <a:endParaRPr/>
          </a:p>
        </p:txBody>
      </p:sp>
      <p:graphicFrame>
        <p:nvGraphicFramePr>
          <p:cNvPr id="4" name="表格 9"/>
          <p:cNvGraphicFramePr/>
          <p:nvPr/>
        </p:nvGraphicFramePr>
        <p:xfrm>
          <a:off x="0" y="1355463"/>
          <a:ext cx="1691680" cy="3873296"/>
        </p:xfrm>
        <a:graphic>
          <a:graphicData uri="http://schemas.openxmlformats.org/drawingml/2006/table">
            <a:tbl>
              <a:tblPr/>
              <a:tblGrid>
                <a:gridCol w="1691680">
                  <a:extLst>
                    <a:ext uri="{9D8B030D-6E8A-4147-A177-3AD203B41FA5}">
                      <a16:colId xmlns:a16="http://schemas.microsoft.com/office/drawing/2014/main" val="20000"/>
                    </a:ext>
                  </a:extLst>
                </a:gridCol>
              </a:tblGrid>
              <a:tr h="705296">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界定与表征</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合理交通结构</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影响因素辨识</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干预对策</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5"/>
                  </a:ext>
                </a:extLst>
              </a:tr>
            </a:tbl>
          </a:graphicData>
        </a:graphic>
      </p:graphicFrame>
      <p:sp>
        <p:nvSpPr>
          <p:cNvPr id="5" name="直接连接符 10"/>
          <p:cNvSpPr/>
          <p:nvPr/>
        </p:nvSpPr>
        <p:spPr>
          <a:xfrm>
            <a:off x="1907703" y="1268759"/>
            <a:ext cx="8312063" cy="1"/>
          </a:xfrm>
          <a:prstGeom prst="line">
            <a:avLst/>
          </a:prstGeom>
          <a:ln w="6350">
            <a:solidFill>
              <a:srgbClr val="BFBFBF"/>
            </a:solidFill>
            <a:miter/>
          </a:ln>
        </p:spPr>
        <p:txBody>
          <a:bodyPr lIns="45719" rIns="45719"/>
          <a:lstStyle/>
          <a:p>
            <a:endParaRPr/>
          </a:p>
        </p:txBody>
      </p:sp>
      <p:grpSp>
        <p:nvGrpSpPr>
          <p:cNvPr id="10" name="组合 11"/>
          <p:cNvGrpSpPr/>
          <p:nvPr/>
        </p:nvGrpSpPr>
        <p:grpSpPr>
          <a:xfrm>
            <a:off x="-1" y="1358721"/>
            <a:ext cx="1691682" cy="728263"/>
            <a:chOff x="0" y="0"/>
            <a:chExt cx="1691680" cy="728261"/>
          </a:xfrm>
        </p:grpSpPr>
        <p:grpSp>
          <p:nvGrpSpPr>
            <p:cNvPr id="8" name="矩形 12"/>
            <p:cNvGrpSpPr/>
            <p:nvPr/>
          </p:nvGrpSpPr>
          <p:grpSpPr>
            <a:xfrm>
              <a:off x="0" y="0"/>
              <a:ext cx="1691681" cy="728262"/>
              <a:chOff x="0" y="0"/>
              <a:chExt cx="1691680" cy="728261"/>
            </a:xfrm>
          </p:grpSpPr>
          <p:sp>
            <p:nvSpPr>
              <p:cNvPr id="6" name="矩形"/>
              <p:cNvSpPr/>
              <p:nvPr/>
            </p:nvSpPr>
            <p:spPr>
              <a:xfrm>
                <a:off x="-1" y="-1"/>
                <a:ext cx="1691682" cy="728263"/>
              </a:xfrm>
              <a:prstGeom prst="rect">
                <a:avLst/>
              </a:prstGeom>
              <a:solidFill>
                <a:srgbClr val="414455">
                  <a:alpha val="89804"/>
                </a:srgbClr>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2400">
                    <a:solidFill>
                      <a:srgbClr val="FFFFFF"/>
                    </a:solidFill>
                  </a:defRPr>
                </a:pPr>
                <a:endParaRPr/>
              </a:p>
            </p:txBody>
          </p:sp>
          <p:sp>
            <p:nvSpPr>
              <p:cNvPr id="7" name="主要内容"/>
              <p:cNvSpPr txBox="1"/>
              <p:nvPr/>
            </p:nvSpPr>
            <p:spPr>
              <a:xfrm>
                <a:off x="-1" y="108860"/>
                <a:ext cx="1691682" cy="510541"/>
              </a:xfrm>
              <a:prstGeom prst="rect">
                <a:avLst/>
              </a:prstGeom>
              <a:noFill/>
              <a:ln w="12700" cap="flat">
                <a:noFill/>
                <a:miter lim="400000"/>
              </a:ln>
              <a:effectLst/>
            </p:spPr>
            <p:txBody>
              <a:bodyPr wrap="square" lIns="45719" tIns="45719" rIns="45719" bIns="45719" numCol="1" anchor="ctr">
                <a:spAutoFit/>
              </a:bodyPr>
              <a:lstStyle>
                <a:lvl1pPr algn="ctr">
                  <a:defRPr sz="2400">
                    <a:solidFill>
                      <a:srgbClr val="FFFFFF"/>
                    </a:solidFill>
                  </a:defRPr>
                </a:lvl1pPr>
              </a:lstStyle>
              <a:p>
                <a:r>
                  <a:t>主要内容</a:t>
                </a:r>
              </a:p>
            </p:txBody>
          </p:sp>
        </p:grpSp>
        <p:sp>
          <p:nvSpPr>
            <p:cNvPr id="9" name="等腰三角形 13"/>
            <p:cNvSpPr/>
            <p:nvPr/>
          </p:nvSpPr>
          <p:spPr>
            <a:xfrm rot="16200000">
              <a:off x="1553138" y="292123"/>
              <a:ext cx="133068" cy="144017"/>
            </a:xfrm>
            <a:prstGeom prst="triangle">
              <a:avLst/>
            </a:prstGeom>
            <a:solidFill>
              <a:srgbClr val="F2F2F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1" name="文本框 15"/>
          <p:cNvSpPr txBox="1"/>
          <p:nvPr/>
        </p:nvSpPr>
        <p:spPr>
          <a:xfrm>
            <a:off x="2210764" y="509286"/>
            <a:ext cx="2136141"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主要内容</a:t>
            </a:r>
          </a:p>
        </p:txBody>
      </p:sp>
      <p:sp>
        <p:nvSpPr>
          <p:cNvPr id="12" name="标题文本"/>
          <p:cNvSpPr txBox="1">
            <a:spLocks noGrp="1"/>
          </p:cNvSpPr>
          <p:nvPr>
            <p:ph type="title"/>
          </p:nvPr>
        </p:nvSpPr>
        <p:spPr>
          <a:xfrm>
            <a:off x="609600" y="92074"/>
            <a:ext cx="10972800" cy="1508127"/>
          </a:xfrm>
          <a:prstGeom prst="rect">
            <a:avLst/>
          </a:prstGeom>
          <a:ln w="12700">
            <a:miter lim="400000"/>
          </a:ln>
        </p:spPr>
        <p:txBody>
          <a:bodyPr lIns="45719" rIns="45719" anchor="ctr">
            <a:normAutofit/>
          </a:bodyPr>
          <a:lstStyle/>
          <a:p>
            <a:r>
              <a:t>标题文本</a:t>
            </a:r>
          </a:p>
        </p:txBody>
      </p:sp>
      <p:sp>
        <p:nvSpPr>
          <p:cNvPr id="13" name="正文级别 1…"/>
          <p:cNvSpPr txBox="1">
            <a:spLocks noGrp="1"/>
          </p:cNvSpPr>
          <p:nvPr>
            <p:ph type="body" idx="1"/>
          </p:nvPr>
        </p:nvSpPr>
        <p:spPr>
          <a:xfrm>
            <a:off x="609600" y="1600200"/>
            <a:ext cx="10972800" cy="5257800"/>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14" name="幻灯片编号"/>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t>‹#›</a:t>
            </a:fld>
            <a:endParaRPr/>
          </a:p>
        </p:txBody>
      </p:sp>
    </p:spTree>
    <p:extLst>
      <p:ext uri="{BB962C8B-B14F-4D97-AF65-F5344CB8AC3E}">
        <p14:creationId xmlns:p14="http://schemas.microsoft.com/office/powerpoint/2010/main" val="3874551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1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slideLayout" Target="../slideLayouts/slideLayout10.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svg"/><Relationship Id="rId2" Type="http://schemas.openxmlformats.org/officeDocument/2006/relationships/image" Target="../media/image7.jpeg"/><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0.xml"/><Relationship Id="rId5" Type="http://schemas.openxmlformats.org/officeDocument/2006/relationships/image" Target="../media/image16.jpe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tags" Target="../tags/tag56.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 Type="http://schemas.openxmlformats.org/officeDocument/2006/relationships/tags" Target="../tags/tag40.xml"/><Relationship Id="rId16" Type="http://schemas.openxmlformats.org/officeDocument/2006/relationships/tags" Target="../tags/tag54.xml"/><Relationship Id="rId20" Type="http://schemas.openxmlformats.org/officeDocument/2006/relationships/slideLayout" Target="../slideLayouts/slideLayout1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tags" Target="../tags/tag53.xml"/><Relationship Id="rId10" Type="http://schemas.openxmlformats.org/officeDocument/2006/relationships/tags" Target="../tags/tag48.xml"/><Relationship Id="rId19" Type="http://schemas.openxmlformats.org/officeDocument/2006/relationships/tags" Target="../tags/tag57.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10.xml"/><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18" Type="http://schemas.openxmlformats.org/officeDocument/2006/relationships/tags" Target="../tags/tag75.xm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tags" Target="../tags/tag74.xml"/><Relationship Id="rId2" Type="http://schemas.openxmlformats.org/officeDocument/2006/relationships/tags" Target="../tags/tag59.xml"/><Relationship Id="rId16" Type="http://schemas.openxmlformats.org/officeDocument/2006/relationships/tags" Target="../tags/tag73.xml"/><Relationship Id="rId20" Type="http://schemas.openxmlformats.org/officeDocument/2006/relationships/slideLayout" Target="../slideLayouts/slideLayout10.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tags" Target="../tags/tag72.xml"/><Relationship Id="rId10" Type="http://schemas.openxmlformats.org/officeDocument/2006/relationships/tags" Target="../tags/tag67.xml"/><Relationship Id="rId19" Type="http://schemas.openxmlformats.org/officeDocument/2006/relationships/tags" Target="../tags/tag76.xml"/><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标志素材图片下载-素材编号11009579-素材天下图库">
            <a:extLst>
              <a:ext uri="{FF2B5EF4-FFF2-40B4-BE49-F238E27FC236}">
                <a16:creationId xmlns:a16="http://schemas.microsoft.com/office/drawing/2014/main" id="{98D15426-E94F-430D-A847-C5C2F7F4F7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1" r="-3478" b="6080"/>
          <a:stretch/>
        </p:blipFill>
        <p:spPr bwMode="auto">
          <a:xfrm>
            <a:off x="8308477" y="96904"/>
            <a:ext cx="2245443" cy="2207017"/>
          </a:xfrm>
          <a:prstGeom prst="rect">
            <a:avLst/>
          </a:prstGeom>
          <a:noFill/>
          <a:extLst>
            <a:ext uri="{909E8E84-426E-40DD-AFC4-6F175D3DCCD1}">
              <a14:hiddenFill xmlns:a14="http://schemas.microsoft.com/office/drawing/2010/main">
                <a:solidFill>
                  <a:srgbClr val="FFFFFF"/>
                </a:solidFill>
              </a14:hiddenFill>
            </a:ext>
          </a:extLst>
        </p:spPr>
      </p:pic>
      <p:sp>
        <p:nvSpPr>
          <p:cNvPr id="205" name="TextBox 3"/>
          <p:cNvSpPr txBox="1"/>
          <p:nvPr/>
        </p:nvSpPr>
        <p:spPr>
          <a:xfrm>
            <a:off x="1760324" y="1241062"/>
            <a:ext cx="10326370" cy="1815882"/>
          </a:xfrm>
          <a:prstGeom prst="rect">
            <a:avLst/>
          </a:prstGeom>
          <a:ln w="12700">
            <a:miter lim="400000"/>
          </a:ln>
        </p:spPr>
        <p:txBody>
          <a:bodyPr wrap="square" lIns="45719" rIns="45719" anchor="ctr">
            <a:spAutoFit/>
          </a:bodyPr>
          <a:lstStyle>
            <a:lvl1pPr>
              <a:defRPr sz="6600" b="1">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hangingPunct="0">
              <a:defRPr/>
            </a:pPr>
            <a:r>
              <a:rPr lang="zh-CN" altLang="en-US" sz="7200" noProof="0"/>
              <a:t>警察如何分工？</a:t>
            </a:r>
            <a:endParaRPr lang="en-US" altLang="zh-CN" sz="7200" noProof="0"/>
          </a:p>
          <a:p>
            <a:pPr lvl="0" hangingPunct="0">
              <a:defRPr/>
            </a:pPr>
            <a:r>
              <a:rPr kumimoji="0" lang="en-US" altLang="zh-CN" sz="4000" b="1" i="0" u="none" strike="noStrike" kern="0" cap="none" spc="0" normalizeH="0" baseline="0" noProof="0">
                <a:ln>
                  <a:noFill/>
                </a:ln>
                <a:solidFill>
                  <a:srgbClr val="414455"/>
                </a:solidFill>
                <a:effectLst/>
                <a:uLnTx/>
                <a:uFillTx/>
                <a:sym typeface="微软雅黑" panose="020B0503020204020204" charset="-122"/>
              </a:rPr>
              <a:t>——</a:t>
            </a:r>
            <a:r>
              <a:rPr lang="zh-CN" altLang="en-US" sz="4000"/>
              <a:t>我国警种划分制度及协同运作机制</a:t>
            </a:r>
            <a:endParaRPr kumimoji="0" lang="zh-CN" altLang="en-US" sz="4000" b="1" i="0" u="none" strike="noStrike" kern="0" cap="none" spc="0" normalizeH="0" baseline="0" noProof="0">
              <a:ln>
                <a:noFill/>
              </a:ln>
              <a:solidFill>
                <a:srgbClr val="414455"/>
              </a:solidFill>
              <a:effectLst/>
              <a:uLnTx/>
              <a:uFillTx/>
              <a:sym typeface="微软雅黑" panose="020B0503020204020204" charset="-122"/>
            </a:endParaRPr>
          </a:p>
        </p:txBody>
      </p:sp>
      <p:sp>
        <p:nvSpPr>
          <p:cNvPr id="207" name="TextBox 5"/>
          <p:cNvSpPr txBox="1"/>
          <p:nvPr/>
        </p:nvSpPr>
        <p:spPr>
          <a:xfrm>
            <a:off x="4232525" y="3955121"/>
            <a:ext cx="2583648" cy="368300"/>
          </a:xfrm>
          <a:prstGeom prst="rect">
            <a:avLst/>
          </a:prstGeom>
          <a:ln w="12700">
            <a:miter lim="400000"/>
          </a:ln>
        </p:spPr>
        <p:txBody>
          <a:bodyPr wrap="square" lIns="45719" rIns="45719" anchor="ctr">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zh-CN" altLang="en-US" sz="1800" b="0" i="0" u="none" strike="noStrike" kern="0" cap="none" spc="0" normalizeH="0" baseline="0" noProof="0" dirty="0" err="1">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汇报人</a:t>
            </a:r>
            <a:r>
              <a:rPr kumimoji="0"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a:t>
            </a: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209" name="矩形 6"/>
          <p:cNvSpPr/>
          <p:nvPr/>
        </p:nvSpPr>
        <p:spPr>
          <a:xfrm>
            <a:off x="6816173" y="4036421"/>
            <a:ext cx="5375828" cy="760731"/>
          </a:xfrm>
          <a:prstGeom prst="rect">
            <a:avLst/>
          </a:prstGeom>
          <a:solidFill>
            <a:srgbClr val="414455"/>
          </a:solidFill>
          <a:ln w="12700">
            <a:solidFill>
              <a:srgbClr val="005AAB"/>
            </a:solidFill>
            <a:miter/>
          </a:ln>
        </p:spPr>
        <p:txBody>
          <a:bodyPr lIns="45719" rIns="45719" anchor="ctr"/>
          <a:lstStyle/>
          <a:p>
            <a:pPr marL="0" marR="0" lvl="0" indent="0" algn="ctr"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panose="020F0502020204030204"/>
            </a:endParaRPr>
          </a:p>
        </p:txBody>
      </p:sp>
      <p:sp>
        <p:nvSpPr>
          <p:cNvPr id="210" name="矩形 8"/>
          <p:cNvSpPr/>
          <p:nvPr/>
        </p:nvSpPr>
        <p:spPr>
          <a:xfrm>
            <a:off x="-1" y="1149196"/>
            <a:ext cx="1663518" cy="1504552"/>
          </a:xfrm>
          <a:prstGeom prst="rect">
            <a:avLst/>
          </a:prstGeom>
          <a:solidFill>
            <a:srgbClr val="414455"/>
          </a:solidFill>
          <a:ln w="12700">
            <a:miter lim="400000"/>
          </a:ln>
        </p:spPr>
        <p:txBody>
          <a:bodyPr lIns="45719" rIns="45719" anchor="ctr"/>
          <a:lstStyle/>
          <a:p>
            <a:pPr marL="0" marR="0" lvl="0" indent="0" algn="ctr" defTabSz="914400" rtl="0" eaLnBrk="1" fontAlgn="auto" latinLnBrk="0" hangingPunct="0">
              <a:lnSpc>
                <a:spcPct val="100000"/>
              </a:lnSpc>
              <a:spcBef>
                <a:spcPts val="0"/>
              </a:spcBef>
              <a:spcAft>
                <a:spcPts val="0"/>
              </a:spcAft>
              <a:buClrTx/>
              <a:buSzTx/>
              <a:buFontTx/>
              <a:buNone/>
              <a:tabLst/>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kumimoji="0"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pic>
        <p:nvPicPr>
          <p:cNvPr id="211" name="同济大学的副本.png" descr="同济大学的副本.png"/>
          <p:cNvPicPr>
            <a:picLocks noChangeAspect="1"/>
          </p:cNvPicPr>
          <p:nvPr/>
        </p:nvPicPr>
        <p:blipFill>
          <a:blip r:embed="rId3"/>
          <a:srcRect l="19703" t="25822" r="1174" b="13927"/>
          <a:stretch>
            <a:fillRect/>
          </a:stretch>
        </p:blipFill>
        <p:spPr>
          <a:xfrm>
            <a:off x="22529" y="1388113"/>
            <a:ext cx="1618451" cy="1026657"/>
          </a:xfrm>
          <a:prstGeom prst="rect">
            <a:avLst/>
          </a:prstGeom>
          <a:ln w="12700">
            <a:miter lim="400000"/>
            <a:headEnd/>
            <a:tailEnd/>
          </a:ln>
          <a:effectLst>
            <a:outerShdw blurRad="254000" dist="127000" dir="16200000" rotWithShape="0">
              <a:srgbClr val="000000">
                <a:alpha val="70000"/>
              </a:srgbClr>
            </a:outerShdw>
          </a:effectLst>
        </p:spPr>
      </p:pic>
      <p:sp>
        <p:nvSpPr>
          <p:cNvPr id="2" name="TextBox 5"/>
          <p:cNvSpPr txBox="1"/>
          <p:nvPr/>
        </p:nvSpPr>
        <p:spPr>
          <a:xfrm>
            <a:off x="5185493" y="3955121"/>
            <a:ext cx="1630680" cy="923330"/>
          </a:xfrm>
          <a:prstGeom prst="rect">
            <a:avLst/>
          </a:prstGeom>
          <a:ln w="12700">
            <a:miter lim="400000"/>
          </a:ln>
        </p:spPr>
        <p:txBody>
          <a:bodyPr wrap="square" lIns="45719" rIns="45719" anchor="ctr">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桑治</a:t>
            </a:r>
            <a:r>
              <a:rPr kumimoji="0" lang="en-US" altLang="zh-CN"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  </a:t>
            </a:r>
            <a:r>
              <a:rPr kumimoji="0" lang="zh-CN" altLang="en-US"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幸可函</a:t>
            </a:r>
            <a:endParaRPr kumimoji="0" lang="zh-CN" altLang="en-US" sz="18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endParaRPr>
          </a:p>
          <a:p>
            <a:pPr hangingPunct="0"/>
            <a:r>
              <a:rPr lang="zh-CN" altLang="en-US" kern="0">
                <a:solidFill>
                  <a:srgbClr val="000000"/>
                </a:solidFill>
              </a:rPr>
              <a:t>尹誉</a:t>
            </a:r>
            <a:r>
              <a:rPr kumimoji="0" lang="en-US" altLang="zh-CN" sz="1800" b="0"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sym typeface="微软雅黑" panose="020B0503020204020204" charset="-122"/>
              </a:rPr>
              <a:t>  </a:t>
            </a:r>
            <a:r>
              <a:rPr lang="zh-CN" altLang="en-US" kern="0">
                <a:solidFill>
                  <a:srgbClr val="000000"/>
                </a:solidFill>
              </a:rPr>
              <a:t>王伟涵</a:t>
            </a:r>
            <a:endParaRPr lang="en-US" altLang="zh-CN" kern="0">
              <a:solidFill>
                <a:srgbClr val="000000"/>
              </a:solidFill>
            </a:endParaRPr>
          </a:p>
          <a:p>
            <a:pPr hangingPunct="0"/>
            <a:r>
              <a:rPr lang="zh-CN" altLang="en-US" kern="0">
                <a:solidFill>
                  <a:srgbClr val="000000"/>
                </a:solidFill>
              </a:rPr>
              <a:t>庞家宝</a:t>
            </a:r>
            <a:endParaRPr lang="en-US" altLang="zh-CN" kern="0">
              <a:solidFill>
                <a:srgbClr val="000000"/>
              </a:solidFill>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indefinite" fill="hold"/>
                                        <p:tgtEl>
                                          <p:spTgt spid="210"/>
                                        </p:tgtEl>
                                        <p:attrNameLst>
                                          <p:attrName>style.visibility</p:attrName>
                                        </p:attrNameLst>
                                      </p:cBhvr>
                                      <p:to>
                                        <p:strVal val="visible"/>
                                      </p:to>
                                    </p:set>
                                    <p:anim calcmode="lin" valueType="num">
                                      <p:cBhvr>
                                        <p:cTn id="7" dur="1000" fill="hold"/>
                                        <p:tgtEl>
                                          <p:spTgt spid="210"/>
                                        </p:tgtEl>
                                        <p:attrNameLst>
                                          <p:attrName>ppt_x</p:attrName>
                                        </p:attrNameLst>
                                      </p:cBhvr>
                                      <p:tavLst>
                                        <p:tav tm="0">
                                          <p:val>
                                            <p:strVal val="#ppt_x"/>
                                          </p:val>
                                        </p:tav>
                                        <p:tav tm="100000">
                                          <p:val>
                                            <p:strVal val="#ppt_x"/>
                                          </p:val>
                                        </p:tav>
                                      </p:tavLst>
                                    </p:anim>
                                    <p:anim calcmode="lin" valueType="num">
                                      <p:cBhvr>
                                        <p:cTn id="8" dur="1000" fill="hold"/>
                                        <p:tgtEl>
                                          <p:spTgt spid="210"/>
                                        </p:tgtEl>
                                        <p:attrNameLst>
                                          <p:attrName>ppt_y</p:attrName>
                                        </p:attrNameLst>
                                      </p:cBhvr>
                                      <p:tavLst>
                                        <p:tav tm="0">
                                          <p:val>
                                            <p:strVal val="1+#ppt_h/2"/>
                                          </p:val>
                                        </p:tav>
                                        <p:tav tm="100000">
                                          <p:val>
                                            <p:strVal val="#ppt_y"/>
                                          </p:val>
                                        </p:tav>
                                      </p:tavLst>
                                    </p:anim>
                                  </p:childTnLst>
                                </p:cTn>
                              </p:par>
                            </p:childTnLst>
                          </p:cTn>
                        </p:par>
                        <p:par>
                          <p:cTn id="9" fill="hold">
                            <p:stCondLst>
                              <p:cond delay="0"/>
                            </p:stCondLst>
                            <p:childTnLst>
                              <p:par>
                                <p:cTn id="10" presetID="22" presetClass="entr" presetSubtype="8" fill="hold" grpId="0" nodeType="afterEffect">
                                  <p:stCondLst>
                                    <p:cond delay="0"/>
                                  </p:stCondLst>
                                  <p:childTnLst>
                                    <p:set>
                                      <p:cBhvr>
                                        <p:cTn id="11" dur="indefinite" fill="hold"/>
                                        <p:tgtEl>
                                          <p:spTgt spid="205"/>
                                        </p:tgtEl>
                                        <p:attrNameLst>
                                          <p:attrName>style.visibility</p:attrName>
                                        </p:attrNameLst>
                                      </p:cBhvr>
                                      <p:to>
                                        <p:strVal val="visible"/>
                                      </p:to>
                                    </p:set>
                                    <p:animEffect transition="in" filter="wipe(left)">
                                      <p:cBhvr>
                                        <p:cTn id="12" dur="500"/>
                                        <p:tgtEl>
                                          <p:spTgt spid="205"/>
                                        </p:tgtEl>
                                      </p:cBhvr>
                                    </p:animEffect>
                                  </p:childTnLst>
                                </p:cTn>
                              </p:par>
                            </p:childTnLst>
                          </p:cTn>
                        </p:par>
                        <p:par>
                          <p:cTn id="13" fill="hold">
                            <p:stCondLst>
                              <p:cond delay="0"/>
                            </p:stCondLst>
                            <p:childTnLst>
                              <p:par>
                                <p:cTn id="14" presetID="22" presetClass="entr" presetSubtype="2" fill="hold" grpId="0" nodeType="afterEffect">
                                  <p:stCondLst>
                                    <p:cond delay="0"/>
                                  </p:stCondLst>
                                  <p:childTnLst>
                                    <p:set>
                                      <p:cBhvr>
                                        <p:cTn id="15" dur="indefinite" fill="hold"/>
                                        <p:tgtEl>
                                          <p:spTgt spid="209"/>
                                        </p:tgtEl>
                                        <p:attrNameLst>
                                          <p:attrName>style.visibility</p:attrName>
                                        </p:attrNameLst>
                                      </p:cBhvr>
                                      <p:to>
                                        <p:strVal val="visible"/>
                                      </p:to>
                                    </p:set>
                                    <p:animEffect transition="in" filter="wipe(right)">
                                      <p:cBhvr>
                                        <p:cTn id="16" dur="500"/>
                                        <p:tgtEl>
                                          <p:spTgt spid="209"/>
                                        </p:tgtEl>
                                      </p:cBhvr>
                                    </p:animEffect>
                                  </p:childTnLst>
                                </p:cTn>
                              </p:par>
                            </p:childTnLst>
                          </p:cTn>
                        </p:par>
                        <p:par>
                          <p:cTn id="17" fill="hold">
                            <p:stCondLst>
                              <p:cond delay="0"/>
                            </p:stCondLst>
                            <p:childTnLst>
                              <p:par>
                                <p:cTn id="18" presetID="2" presetClass="entr" presetSubtype="4" fill="hold" grpId="0" nodeType="afterEffect">
                                  <p:stCondLst>
                                    <p:cond delay="0"/>
                                  </p:stCondLst>
                                  <p:childTnLst>
                                    <p:set>
                                      <p:cBhvr>
                                        <p:cTn id="19" dur="indefinite" fill="hold"/>
                                        <p:tgtEl>
                                          <p:spTgt spid="207"/>
                                        </p:tgtEl>
                                        <p:attrNameLst>
                                          <p:attrName>style.visibility</p:attrName>
                                        </p:attrNameLst>
                                      </p:cBhvr>
                                      <p:to>
                                        <p:strVal val="visible"/>
                                      </p:to>
                                    </p:set>
                                    <p:anim calcmode="lin" valueType="num">
                                      <p:cBhvr>
                                        <p:cTn id="20" dur="600" fill="hold"/>
                                        <p:tgtEl>
                                          <p:spTgt spid="207"/>
                                        </p:tgtEl>
                                        <p:attrNameLst>
                                          <p:attrName>ppt_x</p:attrName>
                                        </p:attrNameLst>
                                      </p:cBhvr>
                                      <p:tavLst>
                                        <p:tav tm="0">
                                          <p:val>
                                            <p:strVal val="#ppt_x"/>
                                          </p:val>
                                        </p:tav>
                                        <p:tav tm="100000">
                                          <p:val>
                                            <p:strVal val="#ppt_x"/>
                                          </p:val>
                                        </p:tav>
                                      </p:tavLst>
                                    </p:anim>
                                    <p:anim calcmode="lin" valueType="num">
                                      <p:cBhvr>
                                        <p:cTn id="21" dur="600" fill="hold"/>
                                        <p:tgtEl>
                                          <p:spTgt spid="207"/>
                                        </p:tgtEl>
                                        <p:attrNameLst>
                                          <p:attrName>ppt_y</p:attrName>
                                        </p:attrNameLst>
                                      </p:cBhvr>
                                      <p:tavLst>
                                        <p:tav tm="0">
                                          <p:val>
                                            <p:strVal val="1+#ppt_h/2"/>
                                          </p:val>
                                        </p:tav>
                                        <p:tav tm="100000">
                                          <p:val>
                                            <p:strVal val="#ppt_y"/>
                                          </p:val>
                                        </p:tav>
                                      </p:tavLst>
                                    </p:anim>
                                  </p:childTnLst>
                                </p:cTn>
                              </p:par>
                            </p:childTnLst>
                          </p:cTn>
                        </p:par>
                        <p:par>
                          <p:cTn id="22" fill="hold">
                            <p:stCondLst>
                              <p:cond delay="0"/>
                            </p:stCondLst>
                            <p:childTnLst>
                              <p:par>
                                <p:cTn id="23" presetID="2" presetClass="entr" presetSubtype="4" fill="hold" grpId="0" nodeType="afterEffect">
                                  <p:stCondLst>
                                    <p:cond delay="0"/>
                                  </p:stCondLst>
                                  <p:childTnLst>
                                    <p:set>
                                      <p:cBhvr>
                                        <p:cTn id="24" dur="indefinite" fill="hold"/>
                                        <p:tgtEl>
                                          <p:spTgt spid="2"/>
                                        </p:tgtEl>
                                        <p:attrNameLst>
                                          <p:attrName>style.visibility</p:attrName>
                                        </p:attrNameLst>
                                      </p:cBhvr>
                                      <p:to>
                                        <p:strVal val="visible"/>
                                      </p:to>
                                    </p:set>
                                    <p:anim calcmode="lin" valueType="num">
                                      <p:cBhvr>
                                        <p:cTn id="25" dur="600" fill="hold"/>
                                        <p:tgtEl>
                                          <p:spTgt spid="2"/>
                                        </p:tgtEl>
                                        <p:attrNameLst>
                                          <p:attrName>ppt_x</p:attrName>
                                        </p:attrNameLst>
                                      </p:cBhvr>
                                      <p:tavLst>
                                        <p:tav tm="0">
                                          <p:val>
                                            <p:strVal val="#ppt_x"/>
                                          </p:val>
                                        </p:tav>
                                        <p:tav tm="100000">
                                          <p:val>
                                            <p:strVal val="#ppt_x"/>
                                          </p:val>
                                        </p:tav>
                                      </p:tavLst>
                                    </p:anim>
                                    <p:anim calcmode="lin" valueType="num">
                                      <p:cBhvr>
                                        <p:cTn id="26" dur="6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0" animBg="1" advAuto="0"/>
      <p:bldP spid="207" grpId="0" animBg="1" advAuto="0"/>
      <p:bldP spid="209" grpId="0" animBg="1" advAuto="0"/>
      <p:bldP spid="210" grpId="0" animBg="1" advAuto="0"/>
      <p:bldP spid="2" grpId="0"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圆角矩形 4"/>
          <p:cNvGrpSpPr/>
          <p:nvPr>
            <p:custDataLst>
              <p:tags r:id="rId1"/>
            </p:custDataLst>
          </p:nvPr>
        </p:nvGrpSpPr>
        <p:grpSpPr>
          <a:xfrm>
            <a:off x="6021081" y="1021094"/>
            <a:ext cx="506413" cy="574041"/>
            <a:chOff x="0" y="0"/>
            <a:chExt cx="506412" cy="574040"/>
          </a:xfrm>
        </p:grpSpPr>
        <p:sp>
          <p:nvSpPr>
            <p:cNvPr id="213" name="圆角矩形"/>
            <p:cNvSpPr/>
            <p:nvPr>
              <p:custDataLst>
                <p:tags r:id="rId1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4" name="1"/>
            <p:cNvSpPr txBox="1"/>
            <p:nvPr>
              <p:custDataLst>
                <p:tags r:id="rId19"/>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216" name="矩形 5"/>
          <p:cNvSpPr txBox="1"/>
          <p:nvPr>
            <p:custDataLst>
              <p:tags r:id="rId2"/>
            </p:custDataLst>
          </p:nvPr>
        </p:nvSpPr>
        <p:spPr>
          <a:xfrm>
            <a:off x="6875287" y="1116066"/>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引入</a:t>
            </a:r>
            <a:endParaRPr/>
          </a:p>
        </p:txBody>
      </p:sp>
      <p:grpSp>
        <p:nvGrpSpPr>
          <p:cNvPr id="219" name="圆角矩形 6"/>
          <p:cNvGrpSpPr/>
          <p:nvPr>
            <p:custDataLst>
              <p:tags r:id="rId3"/>
            </p:custDataLst>
          </p:nvPr>
        </p:nvGrpSpPr>
        <p:grpSpPr>
          <a:xfrm>
            <a:off x="6021081" y="1775156"/>
            <a:ext cx="506413" cy="574041"/>
            <a:chOff x="0" y="0"/>
            <a:chExt cx="506412" cy="574040"/>
          </a:xfrm>
        </p:grpSpPr>
        <p:sp>
          <p:nvSpPr>
            <p:cNvPr id="217" name="圆角矩形"/>
            <p:cNvSpPr/>
            <p:nvPr>
              <p:custDataLst>
                <p:tags r:id="rId16"/>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8" name="2"/>
            <p:cNvSpPr txBox="1"/>
            <p:nvPr>
              <p:custDataLst>
                <p:tags r:id="rId17"/>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grpSp>
        <p:nvGrpSpPr>
          <p:cNvPr id="223" name="圆角矩形 8"/>
          <p:cNvGrpSpPr/>
          <p:nvPr>
            <p:custDataLst>
              <p:tags r:id="rId4"/>
            </p:custDataLst>
          </p:nvPr>
        </p:nvGrpSpPr>
        <p:grpSpPr>
          <a:xfrm>
            <a:off x="6021081" y="2529219"/>
            <a:ext cx="506413" cy="574041"/>
            <a:chOff x="0" y="0"/>
            <a:chExt cx="506412" cy="574040"/>
          </a:xfrm>
        </p:grpSpPr>
        <p:sp>
          <p:nvSpPr>
            <p:cNvPr id="221" name="圆角矩形"/>
            <p:cNvSpPr/>
            <p:nvPr>
              <p:custDataLst>
                <p:tags r:id="rId14"/>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2" name="3"/>
            <p:cNvSpPr txBox="1"/>
            <p:nvPr>
              <p:custDataLst>
                <p:tags r:id="rId15"/>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grpSp>
        <p:nvGrpSpPr>
          <p:cNvPr id="227" name="圆角矩形 10"/>
          <p:cNvGrpSpPr/>
          <p:nvPr>
            <p:custDataLst>
              <p:tags r:id="rId5"/>
            </p:custDataLst>
          </p:nvPr>
        </p:nvGrpSpPr>
        <p:grpSpPr>
          <a:xfrm>
            <a:off x="6021081" y="3283281"/>
            <a:ext cx="506413" cy="574041"/>
            <a:chOff x="0" y="0"/>
            <a:chExt cx="506412" cy="574040"/>
          </a:xfrm>
        </p:grpSpPr>
        <p:sp>
          <p:nvSpPr>
            <p:cNvPr id="225" name="圆角矩形"/>
            <p:cNvSpPr/>
            <p:nvPr>
              <p:custDataLst>
                <p:tags r:id="rId12"/>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6" name="4"/>
            <p:cNvSpPr txBox="1"/>
            <p:nvPr>
              <p:custDataLst>
                <p:tags r:id="rId13"/>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grpSp>
        <p:nvGrpSpPr>
          <p:cNvPr id="231" name="圆角矩形 12"/>
          <p:cNvGrpSpPr/>
          <p:nvPr>
            <p:custDataLst>
              <p:tags r:id="rId6"/>
            </p:custDataLst>
          </p:nvPr>
        </p:nvGrpSpPr>
        <p:grpSpPr>
          <a:xfrm>
            <a:off x="6021081" y="4037343"/>
            <a:ext cx="506413" cy="574041"/>
            <a:chOff x="0" y="0"/>
            <a:chExt cx="506412" cy="574040"/>
          </a:xfrm>
        </p:grpSpPr>
        <p:sp>
          <p:nvSpPr>
            <p:cNvPr id="229" name="圆角矩形"/>
            <p:cNvSpPr/>
            <p:nvPr>
              <p:custDataLst>
                <p:tags r:id="rId10"/>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30" name="5"/>
            <p:cNvSpPr txBox="1"/>
            <p:nvPr>
              <p:custDataLst>
                <p:tags r:id="rId11"/>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grpSp>
        <p:nvGrpSpPr>
          <p:cNvPr id="235" name="矩形 33"/>
          <p:cNvGrpSpPr/>
          <p:nvPr/>
        </p:nvGrpSpPr>
        <p:grpSpPr>
          <a:xfrm>
            <a:off x="0" y="0"/>
            <a:ext cx="3721100" cy="6858000"/>
            <a:chOff x="0" y="0"/>
            <a:chExt cx="3721100" cy="6858000"/>
          </a:xfrm>
        </p:grpSpPr>
        <p:sp>
          <p:nvSpPr>
            <p:cNvPr id="23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23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23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23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240" name="组合 14"/>
          <p:cNvGrpSpPr/>
          <p:nvPr/>
        </p:nvGrpSpPr>
        <p:grpSpPr>
          <a:xfrm>
            <a:off x="4817366" y="948942"/>
            <a:ext cx="703580" cy="703580"/>
            <a:chOff x="0" y="0"/>
            <a:chExt cx="703578" cy="703578"/>
          </a:xfrm>
        </p:grpSpPr>
        <p:sp>
          <p:nvSpPr>
            <p:cNvPr id="238"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39"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2" name="矩形 7"/>
          <p:cNvSpPr txBox="1"/>
          <p:nvPr/>
        </p:nvSpPr>
        <p:spPr>
          <a:xfrm>
            <a:off x="6875287" y="1891750"/>
            <a:ext cx="1015661"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警种划分</a:t>
            </a:r>
          </a:p>
        </p:txBody>
      </p:sp>
      <p:sp>
        <p:nvSpPr>
          <p:cNvPr id="33" name="矩形 7"/>
          <p:cNvSpPr txBox="1"/>
          <p:nvPr/>
        </p:nvSpPr>
        <p:spPr>
          <a:xfrm>
            <a:off x="6874029" y="2630166"/>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分工如何运作</a:t>
            </a:r>
          </a:p>
        </p:txBody>
      </p:sp>
      <p:sp>
        <p:nvSpPr>
          <p:cNvPr id="652" name="矩形 13"/>
          <p:cNvSpPr txBox="1"/>
          <p:nvPr/>
        </p:nvSpPr>
        <p:spPr>
          <a:xfrm>
            <a:off x="6874029" y="4154418"/>
            <a:ext cx="124649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问题与改进</a:t>
            </a:r>
          </a:p>
        </p:txBody>
      </p:sp>
      <p:grpSp>
        <p:nvGrpSpPr>
          <p:cNvPr id="30" name="圆角矩形 12">
            <a:extLst>
              <a:ext uri="{FF2B5EF4-FFF2-40B4-BE49-F238E27FC236}">
                <a16:creationId xmlns:a16="http://schemas.microsoft.com/office/drawing/2014/main" id="{0649A779-6B3E-4F19-9C5E-9BB8206E9F74}"/>
              </a:ext>
            </a:extLst>
          </p:cNvPr>
          <p:cNvGrpSpPr/>
          <p:nvPr>
            <p:custDataLst>
              <p:tags r:id="rId7"/>
            </p:custDataLst>
          </p:nvPr>
        </p:nvGrpSpPr>
        <p:grpSpPr>
          <a:xfrm>
            <a:off x="6021082" y="4820646"/>
            <a:ext cx="506414" cy="584773"/>
            <a:chOff x="0" y="-5366"/>
            <a:chExt cx="506413" cy="584772"/>
          </a:xfrm>
        </p:grpSpPr>
        <p:sp>
          <p:nvSpPr>
            <p:cNvPr id="31" name="圆角矩形">
              <a:extLst>
                <a:ext uri="{FF2B5EF4-FFF2-40B4-BE49-F238E27FC236}">
                  <a16:creationId xmlns:a16="http://schemas.microsoft.com/office/drawing/2014/main" id="{C4ED9F6C-1CEB-4D6F-8630-59373F4A1CC4}"/>
                </a:ext>
              </a:extLst>
            </p:cNvPr>
            <p:cNvSpPr/>
            <p:nvPr>
              <p:custDataLst>
                <p:tags r:id="rId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2" name="5">
              <a:extLst>
                <a:ext uri="{FF2B5EF4-FFF2-40B4-BE49-F238E27FC236}">
                  <a16:creationId xmlns:a16="http://schemas.microsoft.com/office/drawing/2014/main" id="{AD20E037-FA13-476F-AAA3-371161CF83A4}"/>
                </a:ext>
              </a:extLst>
            </p:cNvPr>
            <p:cNvSpPr txBox="1"/>
            <p:nvPr>
              <p:custDataLst>
                <p:tags r:id="rId9"/>
              </p:custDataLst>
            </p:nvPr>
          </p:nvSpPr>
          <p:spPr>
            <a:xfrm>
              <a:off x="24644" y="-5366"/>
              <a:ext cx="457124" cy="584772"/>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rPr lang="en-US"/>
                <a:t>6</a:t>
              </a:r>
              <a:endParaRPr/>
            </a:p>
          </p:txBody>
        </p:sp>
      </p:grpSp>
      <p:sp>
        <p:nvSpPr>
          <p:cNvPr id="34" name="矩形 13">
            <a:extLst>
              <a:ext uri="{FF2B5EF4-FFF2-40B4-BE49-F238E27FC236}">
                <a16:creationId xmlns:a16="http://schemas.microsoft.com/office/drawing/2014/main" id="{BC4DDEB7-1AC3-49C0-899D-970F4C00C386}"/>
              </a:ext>
            </a:extLst>
          </p:cNvPr>
          <p:cNvSpPr txBox="1"/>
          <p:nvPr/>
        </p:nvSpPr>
        <p:spPr>
          <a:xfrm>
            <a:off x="6874029" y="4930102"/>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总结</a:t>
            </a:r>
          </a:p>
        </p:txBody>
      </p:sp>
      <p:sp>
        <p:nvSpPr>
          <p:cNvPr id="38" name="矩形 13">
            <a:extLst>
              <a:ext uri="{FF2B5EF4-FFF2-40B4-BE49-F238E27FC236}">
                <a16:creationId xmlns:a16="http://schemas.microsoft.com/office/drawing/2014/main" id="{545E8B07-1B06-4569-B70D-683129CF4B4F}"/>
              </a:ext>
            </a:extLst>
          </p:cNvPr>
          <p:cNvSpPr txBox="1"/>
          <p:nvPr/>
        </p:nvSpPr>
        <p:spPr>
          <a:xfrm>
            <a:off x="7109760" y="5686086"/>
            <a:ext cx="92395"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lang="zh-CN" altLang="en-US"/>
          </a:p>
        </p:txBody>
      </p:sp>
      <p:sp>
        <p:nvSpPr>
          <p:cNvPr id="39" name="矩形 7">
            <a:extLst>
              <a:ext uri="{FF2B5EF4-FFF2-40B4-BE49-F238E27FC236}">
                <a16:creationId xmlns:a16="http://schemas.microsoft.com/office/drawing/2014/main" id="{7C272FE9-AC75-4912-88D9-2A6205588F2D}"/>
              </a:ext>
            </a:extLst>
          </p:cNvPr>
          <p:cNvSpPr txBox="1"/>
          <p:nvPr/>
        </p:nvSpPr>
        <p:spPr>
          <a:xfrm>
            <a:off x="6874028" y="3416002"/>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lang="zh-CN" altLang="en-US">
                <a:solidFill>
                  <a:srgbClr val="000000"/>
                </a:solidFill>
                <a:sym typeface="Calibri" panose="020F0502020204030204"/>
              </a:rPr>
              <a:t>智能化下的警种分工</a:t>
            </a:r>
            <a:endParaRPr lang="en-US" altLang="zh-CN">
              <a:solidFill>
                <a:srgbClr val="000000"/>
              </a:solidFill>
              <a:sym typeface="Calibri" panose="020F0502020204030204"/>
            </a:endParaRPr>
          </a:p>
        </p:txBody>
      </p:sp>
    </p:spTree>
    <p:extLst>
      <p:ext uri="{BB962C8B-B14F-4D97-AF65-F5344CB8AC3E}">
        <p14:creationId xmlns:p14="http://schemas.microsoft.com/office/powerpoint/2010/main" val="1917804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indefinite" fill="hold"/>
                                        <p:tgtEl>
                                          <p:spTgt spid="240"/>
                                        </p:tgtEl>
                                        <p:attrNameLst>
                                          <p:attrName>style.visibility</p:attrName>
                                        </p:attrNameLst>
                                      </p:cBhvr>
                                      <p:to>
                                        <p:strVal val="visible"/>
                                      </p:to>
                                    </p:set>
                                    <p:anim calcmode="lin" valueType="num">
                                      <p:cBhvr>
                                        <p:cTn id="7" dur="500" fill="hold"/>
                                        <p:tgtEl>
                                          <p:spTgt spid="240"/>
                                        </p:tgtEl>
                                        <p:attrNameLst>
                                          <p:attrName>ppt_x</p:attrName>
                                        </p:attrNameLst>
                                      </p:cBhvr>
                                      <p:tavLst>
                                        <p:tav tm="0">
                                          <p:val>
                                            <p:strVal val="#ppt_x"/>
                                          </p:val>
                                        </p:tav>
                                        <p:tav tm="100000">
                                          <p:val>
                                            <p:strVal val="#ppt_x"/>
                                          </p:val>
                                        </p:tav>
                                      </p:tavLst>
                                    </p:anim>
                                    <p:anim calcmode="lin" valueType="num">
                                      <p:cBhvr>
                                        <p:cTn id="8" dur="500" fill="hold"/>
                                        <p:tgtEl>
                                          <p:spTgt spid="2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8A87FFEA-E2AB-480A-AFC8-EB53D5C8C968}"/>
              </a:ext>
            </a:extLst>
          </p:cNvPr>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直角三角形 2">
            <a:extLst>
              <a:ext uri="{FF2B5EF4-FFF2-40B4-BE49-F238E27FC236}">
                <a16:creationId xmlns:a16="http://schemas.microsoft.com/office/drawing/2014/main" id="{9E1643DE-BB57-4A86-8EE3-02273D8E8E74}"/>
              </a:ext>
            </a:extLst>
          </p:cNvPr>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直角三角形 3">
            <a:extLst>
              <a:ext uri="{FF2B5EF4-FFF2-40B4-BE49-F238E27FC236}">
                <a16:creationId xmlns:a16="http://schemas.microsoft.com/office/drawing/2014/main" id="{F793F7C0-623D-4485-8628-5C7CF4B4B46A}"/>
              </a:ext>
            </a:extLst>
          </p:cNvPr>
          <p:cNvSpPr/>
          <p:nvPr/>
        </p:nvSpPr>
        <p:spPr>
          <a:xfrm>
            <a:off x="0" y="3295212"/>
            <a:ext cx="3019647" cy="3562788"/>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cxnSp>
        <p:nvCxnSpPr>
          <p:cNvPr id="6" name="直接箭头连接符 5">
            <a:extLst>
              <a:ext uri="{FF2B5EF4-FFF2-40B4-BE49-F238E27FC236}">
                <a16:creationId xmlns:a16="http://schemas.microsoft.com/office/drawing/2014/main" id="{D3127B99-58E7-43A5-953E-6F4F7358916F}"/>
              </a:ext>
            </a:extLst>
          </p:cNvPr>
          <p:cNvCxnSpPr/>
          <p:nvPr/>
        </p:nvCxnSpPr>
        <p:spPr>
          <a:xfrm>
            <a:off x="765544" y="1127051"/>
            <a:ext cx="10299405" cy="0"/>
          </a:xfrm>
          <a:prstGeom prst="straightConnector1">
            <a:avLst/>
          </a:prstGeom>
          <a:noFill/>
          <a:ln w="25400" cap="flat">
            <a:solidFill>
              <a:schemeClr val="bg1">
                <a:lumMod val="50000"/>
              </a:schemeClr>
            </a:solidFill>
            <a:prstDash val="solid"/>
            <a:miter lim="800000"/>
            <a:tailEnd type="triangle"/>
          </a:ln>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D4ADD0BF-410C-4205-962A-9F6E04C5EE0F}"/>
              </a:ext>
            </a:extLst>
          </p:cNvPr>
          <p:cNvSpPr txBox="1"/>
          <p:nvPr/>
        </p:nvSpPr>
        <p:spPr>
          <a:xfrm>
            <a:off x="836428" y="269358"/>
            <a:ext cx="9909221" cy="70788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4000" b="1">
                <a:solidFill>
                  <a:srgbClr val="000000"/>
                </a:solidFill>
                <a:latin typeface="微软雅黑" panose="020B0503020204020204" charset="-122"/>
                <a:ea typeface="微软雅黑" panose="020B0503020204020204" charset="-122"/>
                <a:sym typeface="Calibri" panose="020F0502020204030204"/>
              </a:rPr>
              <a:t>同样是报警，为什么处理方式完全不同？</a:t>
            </a:r>
          </a:p>
        </p:txBody>
      </p:sp>
      <p:grpSp>
        <p:nvGrpSpPr>
          <p:cNvPr id="10" name="组合 9">
            <a:extLst>
              <a:ext uri="{FF2B5EF4-FFF2-40B4-BE49-F238E27FC236}">
                <a16:creationId xmlns:a16="http://schemas.microsoft.com/office/drawing/2014/main" id="{1F6DDF28-7470-4F16-AC60-BB7A7EEC88D0}"/>
              </a:ext>
            </a:extLst>
          </p:cNvPr>
          <p:cNvGrpSpPr/>
          <p:nvPr/>
        </p:nvGrpSpPr>
        <p:grpSpPr>
          <a:xfrm>
            <a:off x="3297768" y="3680279"/>
            <a:ext cx="2574106" cy="1004275"/>
            <a:chOff x="3057074" y="1921805"/>
            <a:chExt cx="2574106" cy="1004275"/>
          </a:xfrm>
        </p:grpSpPr>
        <p:sp>
          <p:nvSpPr>
            <p:cNvPr id="11" name="矩形: 圆角 10">
              <a:extLst>
                <a:ext uri="{FF2B5EF4-FFF2-40B4-BE49-F238E27FC236}">
                  <a16:creationId xmlns:a16="http://schemas.microsoft.com/office/drawing/2014/main" id="{1D790CAB-D549-48D8-916F-AE8CC29B2A23}"/>
                </a:ext>
              </a:extLst>
            </p:cNvPr>
            <p:cNvSpPr/>
            <p:nvPr/>
          </p:nvSpPr>
          <p:spPr>
            <a:xfrm>
              <a:off x="3057074" y="1921805"/>
              <a:ext cx="2574106" cy="1004275"/>
            </a:xfrm>
            <a:prstGeom prst="roundRect">
              <a:avLst/>
            </a:prstGeom>
            <a:solidFill>
              <a:srgbClr val="FFFFFF"/>
            </a:solidFill>
            <a:ln w="12700" cap="flat">
              <a:solidFill>
                <a:schemeClr val="tx1">
                  <a:lumMod val="50000"/>
                  <a:lumOff val="50000"/>
                </a:schemeClr>
              </a:solidFill>
              <a:prstDash val="solid"/>
              <a:miter lim="800000"/>
            </a:ln>
            <a:effectLst>
              <a:outerShdw blurRad="50800" dist="50800" dir="3000000" algn="ctr" rotWithShape="0">
                <a:srgbClr val="000000">
                  <a:alpha val="3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a:extLst>
                <a:ext uri="{FF2B5EF4-FFF2-40B4-BE49-F238E27FC236}">
                  <a16:creationId xmlns:a16="http://schemas.microsoft.com/office/drawing/2014/main" id="{ADD2F0CE-211B-41DF-A003-4F720760E88C}"/>
                </a:ext>
              </a:extLst>
            </p:cNvPr>
            <p:cNvSpPr txBox="1"/>
            <p:nvPr/>
          </p:nvSpPr>
          <p:spPr>
            <a:xfrm>
              <a:off x="3482340" y="2117642"/>
              <a:ext cx="2148840" cy="61555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b="1"/>
                <a:t>网上被骗 </a:t>
              </a:r>
              <a:r>
                <a:rPr lang="en-US" altLang="zh-CN" b="1"/>
                <a:t>/</a:t>
              </a:r>
              <a:r>
                <a:rPr lang="zh-CN" altLang="en-US" b="1"/>
                <a:t>陷进刷单</a:t>
              </a:r>
              <a:endParaRPr lang="en-US" altLang="zh-CN" b="1"/>
            </a:p>
            <a:p>
              <a:pPr marL="0" marR="0" indent="0" algn="l" defTabSz="914400" rtl="0" fontAlgn="auto" latinLnBrk="0" hangingPunct="0">
                <a:lnSpc>
                  <a:spcPct val="100000"/>
                </a:lnSpc>
                <a:spcBef>
                  <a:spcPts val="0"/>
                </a:spcBef>
                <a:spcAft>
                  <a:spcPts val="0"/>
                </a:spcAft>
                <a:buClrTx/>
                <a:buSzTx/>
                <a:buFontTx/>
                <a:buNone/>
              </a:pPr>
              <a:r>
                <a:rPr lang="zh-CN" altLang="en-US" sz="1600"/>
                <a:t>报案之后谁来处理？</a:t>
              </a:r>
              <a:endParaRPr kumimoji="0" lang="zh-CN" altLang="en-US" sz="1600" b="1" i="0" u="none" strike="noStrike" cap="none" spc="0" normalizeH="0" baseline="0">
                <a:ln>
                  <a:noFill/>
                </a:ln>
                <a:solidFill>
                  <a:srgbClr val="000000"/>
                </a:solidFill>
                <a:effectLst/>
                <a:uFillTx/>
                <a:latin typeface="+mn-lt"/>
                <a:ea typeface="+mn-ea"/>
                <a:cs typeface="+mn-cs"/>
                <a:sym typeface="Calibri" panose="020F0502020204030204"/>
              </a:endParaRPr>
            </a:p>
          </p:txBody>
        </p:sp>
      </p:grpSp>
      <p:pic>
        <p:nvPicPr>
          <p:cNvPr id="7" name="图片 6">
            <a:extLst>
              <a:ext uri="{FF2B5EF4-FFF2-40B4-BE49-F238E27FC236}">
                <a16:creationId xmlns:a16="http://schemas.microsoft.com/office/drawing/2014/main" id="{02A14F2B-A90E-4968-892A-CA31535CF688}"/>
              </a:ext>
            </a:extLst>
          </p:cNvPr>
          <p:cNvPicPr>
            <a:picLocks noChangeAspect="1"/>
          </p:cNvPicPr>
          <p:nvPr/>
        </p:nvPicPr>
        <p:blipFill rotWithShape="1">
          <a:blip r:embed="rId2">
            <a:extLst>
              <a:ext uri="{28A0092B-C50C-407E-A947-70E740481C1C}">
                <a14:useLocalDpi xmlns:a14="http://schemas.microsoft.com/office/drawing/2010/main" val="0"/>
              </a:ext>
            </a:extLst>
          </a:blip>
          <a:srcRect r="13815"/>
          <a:stretch/>
        </p:blipFill>
        <p:spPr>
          <a:xfrm>
            <a:off x="1518814" y="3189998"/>
            <a:ext cx="2100604" cy="1984836"/>
          </a:xfrm>
          <a:prstGeom prst="rect">
            <a:avLst/>
          </a:prstGeom>
          <a:effectLst>
            <a:outerShdw blurRad="50800" dist="50800" dir="3000000" algn="ctr" rotWithShape="0">
              <a:srgbClr val="000000">
                <a:alpha val="35000"/>
              </a:srgbClr>
            </a:outerShdw>
            <a:softEdge rad="12700"/>
          </a:effectLst>
        </p:spPr>
      </p:pic>
      <p:grpSp>
        <p:nvGrpSpPr>
          <p:cNvPr id="18" name="组合 17">
            <a:extLst>
              <a:ext uri="{FF2B5EF4-FFF2-40B4-BE49-F238E27FC236}">
                <a16:creationId xmlns:a16="http://schemas.microsoft.com/office/drawing/2014/main" id="{4FE58B65-686F-4BC7-A9BD-932135A50D75}"/>
              </a:ext>
            </a:extLst>
          </p:cNvPr>
          <p:cNvGrpSpPr/>
          <p:nvPr/>
        </p:nvGrpSpPr>
        <p:grpSpPr>
          <a:xfrm>
            <a:off x="8119412" y="3757116"/>
            <a:ext cx="2574106" cy="1004275"/>
            <a:chOff x="3057074" y="1921805"/>
            <a:chExt cx="2574106" cy="1004275"/>
          </a:xfrm>
        </p:grpSpPr>
        <p:sp>
          <p:nvSpPr>
            <p:cNvPr id="19" name="矩形: 圆角 18">
              <a:extLst>
                <a:ext uri="{FF2B5EF4-FFF2-40B4-BE49-F238E27FC236}">
                  <a16:creationId xmlns:a16="http://schemas.microsoft.com/office/drawing/2014/main" id="{90C54956-8979-4761-A33E-4D8F8C1AE32F}"/>
                </a:ext>
              </a:extLst>
            </p:cNvPr>
            <p:cNvSpPr/>
            <p:nvPr/>
          </p:nvSpPr>
          <p:spPr>
            <a:xfrm>
              <a:off x="3057074" y="1921805"/>
              <a:ext cx="2574106" cy="1004275"/>
            </a:xfrm>
            <a:prstGeom prst="roundRect">
              <a:avLst/>
            </a:prstGeom>
            <a:solidFill>
              <a:srgbClr val="FFFFFF"/>
            </a:solidFill>
            <a:ln w="12700" cap="flat">
              <a:solidFill>
                <a:schemeClr val="tx1">
                  <a:lumMod val="50000"/>
                  <a:lumOff val="50000"/>
                </a:schemeClr>
              </a:solidFill>
              <a:prstDash val="solid"/>
              <a:miter lim="800000"/>
            </a:ln>
            <a:effectLst>
              <a:outerShdw blurRad="50800" dist="50800" dir="3000000" algn="ctr" rotWithShape="0">
                <a:srgbClr val="000000">
                  <a:alpha val="3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0" name="文本框 19">
              <a:extLst>
                <a:ext uri="{FF2B5EF4-FFF2-40B4-BE49-F238E27FC236}">
                  <a16:creationId xmlns:a16="http://schemas.microsoft.com/office/drawing/2014/main" id="{1ECF7010-FBB4-4383-9FC6-59BCABC63B74}"/>
                </a:ext>
              </a:extLst>
            </p:cNvPr>
            <p:cNvSpPr txBox="1"/>
            <p:nvPr/>
          </p:nvSpPr>
          <p:spPr>
            <a:xfrm>
              <a:off x="3482340" y="2117642"/>
              <a:ext cx="2148840" cy="61555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b="1"/>
                <a:t>室友冲突 </a:t>
              </a:r>
              <a:r>
                <a:rPr lang="en-US" altLang="zh-CN" b="1"/>
                <a:t>/ </a:t>
              </a:r>
              <a:r>
                <a:rPr lang="zh-CN" altLang="en-US" b="1"/>
                <a:t>校园纠纷</a:t>
              </a:r>
              <a:r>
                <a:rPr lang="zh-CN" altLang="en-US" sz="1600"/>
                <a:t>学校处理</a:t>
              </a:r>
              <a:r>
                <a:rPr lang="en-US" altLang="zh-CN" sz="1600"/>
                <a:t>/</a:t>
              </a:r>
              <a:r>
                <a:rPr lang="zh-CN" altLang="en-US" sz="1600"/>
                <a:t>警察介入？</a:t>
              </a:r>
              <a:endParaRPr kumimoji="0" lang="zh-CN" altLang="en-US" sz="1600" b="1" i="0" u="none" strike="noStrike" cap="none" spc="0" normalizeH="0" baseline="0">
                <a:ln>
                  <a:noFill/>
                </a:ln>
                <a:solidFill>
                  <a:srgbClr val="000000"/>
                </a:solidFill>
                <a:effectLst/>
                <a:uFillTx/>
                <a:latin typeface="+mn-lt"/>
                <a:ea typeface="+mn-ea"/>
                <a:cs typeface="+mn-cs"/>
                <a:sym typeface="Calibri" panose="020F0502020204030204"/>
              </a:endParaRPr>
            </a:p>
          </p:txBody>
        </p:sp>
      </p:grpSp>
      <p:pic>
        <p:nvPicPr>
          <p:cNvPr id="17" name="图片 16">
            <a:extLst>
              <a:ext uri="{FF2B5EF4-FFF2-40B4-BE49-F238E27FC236}">
                <a16:creationId xmlns:a16="http://schemas.microsoft.com/office/drawing/2014/main" id="{34EC7E74-8FA7-4A40-8CC4-BF7917CEC252}"/>
              </a:ext>
            </a:extLst>
          </p:cNvPr>
          <p:cNvPicPr>
            <a:picLocks noChangeAspect="1"/>
          </p:cNvPicPr>
          <p:nvPr/>
        </p:nvPicPr>
        <p:blipFill rotWithShape="1">
          <a:blip r:embed="rId3">
            <a:extLst>
              <a:ext uri="{28A0092B-C50C-407E-A947-70E740481C1C}">
                <a14:useLocalDpi xmlns:a14="http://schemas.microsoft.com/office/drawing/2010/main" val="0"/>
              </a:ext>
            </a:extLst>
          </a:blip>
          <a:srcRect l="18493" r="4324"/>
          <a:stretch/>
        </p:blipFill>
        <p:spPr>
          <a:xfrm>
            <a:off x="6378014" y="3189998"/>
            <a:ext cx="2124000" cy="1954232"/>
          </a:xfrm>
          <a:prstGeom prst="rect">
            <a:avLst/>
          </a:prstGeom>
          <a:effectLst>
            <a:outerShdw blurRad="50800" dist="50800" dir="3000000" algn="ctr" rotWithShape="0">
              <a:srgbClr val="000000">
                <a:alpha val="35000"/>
              </a:srgbClr>
            </a:outerShdw>
            <a:softEdge rad="12700"/>
          </a:effectLst>
        </p:spPr>
      </p:pic>
      <p:grpSp>
        <p:nvGrpSpPr>
          <p:cNvPr id="22" name="组合 21">
            <a:extLst>
              <a:ext uri="{FF2B5EF4-FFF2-40B4-BE49-F238E27FC236}">
                <a16:creationId xmlns:a16="http://schemas.microsoft.com/office/drawing/2014/main" id="{29C2A69E-01DC-4614-9D30-9D8A038702C8}"/>
              </a:ext>
            </a:extLst>
          </p:cNvPr>
          <p:cNvGrpSpPr/>
          <p:nvPr/>
        </p:nvGrpSpPr>
        <p:grpSpPr>
          <a:xfrm>
            <a:off x="1231636" y="1743233"/>
            <a:ext cx="2785084" cy="1004275"/>
            <a:chOff x="3057074" y="1921805"/>
            <a:chExt cx="2574106" cy="1004275"/>
          </a:xfrm>
        </p:grpSpPr>
        <p:sp>
          <p:nvSpPr>
            <p:cNvPr id="23" name="矩形: 圆角 22">
              <a:extLst>
                <a:ext uri="{FF2B5EF4-FFF2-40B4-BE49-F238E27FC236}">
                  <a16:creationId xmlns:a16="http://schemas.microsoft.com/office/drawing/2014/main" id="{80506778-7105-41BF-A041-364629B85109}"/>
                </a:ext>
              </a:extLst>
            </p:cNvPr>
            <p:cNvSpPr/>
            <p:nvPr/>
          </p:nvSpPr>
          <p:spPr>
            <a:xfrm>
              <a:off x="3057074" y="1921805"/>
              <a:ext cx="2574106" cy="1004275"/>
            </a:xfrm>
            <a:prstGeom prst="roundRect">
              <a:avLst/>
            </a:prstGeom>
            <a:solidFill>
              <a:srgbClr val="FFFFFF"/>
            </a:solidFill>
            <a:ln w="12700" cap="flat">
              <a:solidFill>
                <a:schemeClr val="tx1">
                  <a:lumMod val="50000"/>
                  <a:lumOff val="50000"/>
                </a:schemeClr>
              </a:solidFill>
              <a:prstDash val="solid"/>
              <a:miter lim="800000"/>
            </a:ln>
            <a:effectLst>
              <a:outerShdw blurRad="50800" dist="50800" dir="3000000" algn="ctr" rotWithShape="0">
                <a:srgbClr val="000000">
                  <a:alpha val="3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4" name="文本框 23">
              <a:extLst>
                <a:ext uri="{FF2B5EF4-FFF2-40B4-BE49-F238E27FC236}">
                  <a16:creationId xmlns:a16="http://schemas.microsoft.com/office/drawing/2014/main" id="{7F3CBA24-0B4E-4C65-B536-2B20276F5AAB}"/>
                </a:ext>
              </a:extLst>
            </p:cNvPr>
            <p:cNvSpPr txBox="1"/>
            <p:nvPr/>
          </p:nvSpPr>
          <p:spPr>
            <a:xfrm>
              <a:off x="3141587" y="2115873"/>
              <a:ext cx="2177172" cy="61555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b="1"/>
                <a:t>外卖被偷 </a:t>
              </a:r>
              <a:r>
                <a:rPr lang="en-US" altLang="zh-CN" b="1"/>
                <a:t>/ </a:t>
              </a:r>
              <a:r>
                <a:rPr lang="zh-CN" altLang="en-US" b="1"/>
                <a:t>宿舍丢东西</a:t>
              </a:r>
              <a:r>
                <a:rPr lang="zh-CN" altLang="en-US" sz="1600"/>
                <a:t>该不该报警？</a:t>
              </a:r>
              <a:endParaRPr kumimoji="0" lang="zh-CN" altLang="en-US" sz="1600" b="1" i="0" u="none" strike="noStrike" cap="none" spc="0" normalizeH="0" baseline="0">
                <a:ln>
                  <a:noFill/>
                </a:ln>
                <a:solidFill>
                  <a:srgbClr val="000000"/>
                </a:solidFill>
                <a:effectLst/>
                <a:uFillTx/>
                <a:latin typeface="+mn-lt"/>
                <a:ea typeface="+mn-ea"/>
                <a:cs typeface="+mn-cs"/>
                <a:sym typeface="Calibri" panose="020F0502020204030204"/>
              </a:endParaRPr>
            </a:p>
          </p:txBody>
        </p:sp>
      </p:grpSp>
      <p:pic>
        <p:nvPicPr>
          <p:cNvPr id="21" name="图片 20">
            <a:extLst>
              <a:ext uri="{FF2B5EF4-FFF2-40B4-BE49-F238E27FC236}">
                <a16:creationId xmlns:a16="http://schemas.microsoft.com/office/drawing/2014/main" id="{5AA61C7F-C205-4850-9C0C-BBF8F6D85A8C}"/>
              </a:ext>
            </a:extLst>
          </p:cNvPr>
          <p:cNvPicPr>
            <a:picLocks noChangeAspect="1"/>
          </p:cNvPicPr>
          <p:nvPr/>
        </p:nvPicPr>
        <p:blipFill rotWithShape="1">
          <a:blip r:embed="rId4"/>
          <a:srcRect l="7833" r="10774"/>
          <a:stretch/>
        </p:blipFill>
        <p:spPr>
          <a:xfrm>
            <a:off x="3630628" y="1161969"/>
            <a:ext cx="2241246" cy="2039905"/>
          </a:xfrm>
          <a:prstGeom prst="rect">
            <a:avLst/>
          </a:prstGeom>
          <a:effectLst>
            <a:outerShdw blurRad="50800" dist="50800" dir="3000000" algn="ctr" rotWithShape="0">
              <a:srgbClr val="000000">
                <a:alpha val="35000"/>
              </a:srgbClr>
            </a:outerShdw>
            <a:softEdge rad="12700"/>
          </a:effectLst>
        </p:spPr>
      </p:pic>
      <p:grpSp>
        <p:nvGrpSpPr>
          <p:cNvPr id="25" name="组合 24">
            <a:extLst>
              <a:ext uri="{FF2B5EF4-FFF2-40B4-BE49-F238E27FC236}">
                <a16:creationId xmlns:a16="http://schemas.microsoft.com/office/drawing/2014/main" id="{64D7EB6D-4B69-4ED2-8E00-57AB2BEC1000}"/>
              </a:ext>
            </a:extLst>
          </p:cNvPr>
          <p:cNvGrpSpPr/>
          <p:nvPr/>
        </p:nvGrpSpPr>
        <p:grpSpPr>
          <a:xfrm>
            <a:off x="6272044" y="1782027"/>
            <a:ext cx="2785084" cy="1004275"/>
            <a:chOff x="3057074" y="1921805"/>
            <a:chExt cx="2574106" cy="1004275"/>
          </a:xfrm>
        </p:grpSpPr>
        <p:sp>
          <p:nvSpPr>
            <p:cNvPr id="26" name="矩形: 圆角 25">
              <a:extLst>
                <a:ext uri="{FF2B5EF4-FFF2-40B4-BE49-F238E27FC236}">
                  <a16:creationId xmlns:a16="http://schemas.microsoft.com/office/drawing/2014/main" id="{35A474F4-E763-4FFB-91F7-7AB270F03D59}"/>
                </a:ext>
              </a:extLst>
            </p:cNvPr>
            <p:cNvSpPr/>
            <p:nvPr/>
          </p:nvSpPr>
          <p:spPr>
            <a:xfrm>
              <a:off x="3057074" y="1921805"/>
              <a:ext cx="2574106" cy="1004275"/>
            </a:xfrm>
            <a:prstGeom prst="roundRect">
              <a:avLst/>
            </a:prstGeom>
            <a:solidFill>
              <a:srgbClr val="FFFFFF"/>
            </a:solidFill>
            <a:ln w="12700" cap="flat">
              <a:solidFill>
                <a:schemeClr val="tx1">
                  <a:lumMod val="50000"/>
                  <a:lumOff val="50000"/>
                </a:schemeClr>
              </a:solidFill>
              <a:prstDash val="solid"/>
              <a:miter lim="800000"/>
            </a:ln>
            <a:effectLst>
              <a:outerShdw blurRad="50800" dist="50800" dir="3000000" algn="ctr" rotWithShape="0">
                <a:srgbClr val="000000">
                  <a:alpha val="3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7" name="文本框 26">
              <a:extLst>
                <a:ext uri="{FF2B5EF4-FFF2-40B4-BE49-F238E27FC236}">
                  <a16:creationId xmlns:a16="http://schemas.microsoft.com/office/drawing/2014/main" id="{EF600322-769E-4BD4-8AF3-43592BEDB1AB}"/>
                </a:ext>
              </a:extLst>
            </p:cNvPr>
            <p:cNvSpPr txBox="1"/>
            <p:nvPr/>
          </p:nvSpPr>
          <p:spPr>
            <a:xfrm>
              <a:off x="3141587" y="2115873"/>
              <a:ext cx="2177172" cy="61555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b="1"/>
                <a:t>骑车被撞 </a:t>
              </a:r>
              <a:r>
                <a:rPr lang="en-US" altLang="zh-CN" b="1"/>
                <a:t>/ </a:t>
              </a:r>
              <a:r>
                <a:rPr lang="zh-CN" altLang="en-US" b="1"/>
                <a:t>发生剐蹭</a:t>
              </a:r>
              <a:endParaRPr lang="en-US" altLang="zh-CN" b="1"/>
            </a:p>
            <a:p>
              <a:pPr marL="0" marR="0" indent="0" algn="l" defTabSz="914400" rtl="0" fontAlgn="auto" latinLnBrk="0" hangingPunct="0">
                <a:lnSpc>
                  <a:spcPct val="100000"/>
                </a:lnSpc>
                <a:spcBef>
                  <a:spcPts val="0"/>
                </a:spcBef>
                <a:spcAft>
                  <a:spcPts val="0"/>
                </a:spcAft>
                <a:buClrTx/>
                <a:buSzTx/>
                <a:buFontTx/>
                <a:buNone/>
              </a:pPr>
              <a:r>
                <a:rPr lang="zh-CN" altLang="en-US" sz="1600"/>
                <a:t>找交警还是打</a:t>
              </a:r>
              <a:r>
                <a:rPr lang="en-US" altLang="zh-CN" sz="1600"/>
                <a:t>110</a:t>
              </a:r>
              <a:r>
                <a:rPr lang="zh-CN" altLang="en-US" sz="1600"/>
                <a:t>？</a:t>
              </a:r>
              <a:endParaRPr kumimoji="0" lang="zh-CN" altLang="en-US" sz="1600" b="1" i="0" u="none" strike="noStrike" cap="none" spc="0" normalizeH="0" baseline="0">
                <a:ln>
                  <a:noFill/>
                </a:ln>
                <a:solidFill>
                  <a:srgbClr val="000000"/>
                </a:solidFill>
                <a:effectLst/>
                <a:uFillTx/>
                <a:latin typeface="+mn-lt"/>
                <a:ea typeface="+mn-ea"/>
                <a:cs typeface="+mn-cs"/>
                <a:sym typeface="Calibri" panose="020F0502020204030204"/>
              </a:endParaRPr>
            </a:p>
          </p:txBody>
        </p:sp>
      </p:grpSp>
      <p:pic>
        <p:nvPicPr>
          <p:cNvPr id="31" name="图片 30">
            <a:extLst>
              <a:ext uri="{FF2B5EF4-FFF2-40B4-BE49-F238E27FC236}">
                <a16:creationId xmlns:a16="http://schemas.microsoft.com/office/drawing/2014/main" id="{0E402C51-2F7F-443E-B14B-6C07E43A19DF}"/>
              </a:ext>
            </a:extLst>
          </p:cNvPr>
          <p:cNvPicPr>
            <a:picLocks noChangeAspect="1"/>
          </p:cNvPicPr>
          <p:nvPr/>
        </p:nvPicPr>
        <p:blipFill rotWithShape="1">
          <a:blip r:embed="rId5">
            <a:extLst>
              <a:ext uri="{28A0092B-C50C-407E-A947-70E740481C1C}">
                <a14:useLocalDpi xmlns:a14="http://schemas.microsoft.com/office/drawing/2010/main" val="0"/>
              </a:ext>
            </a:extLst>
          </a:blip>
          <a:srcRect r="21254"/>
          <a:stretch/>
        </p:blipFill>
        <p:spPr>
          <a:xfrm>
            <a:off x="8502014" y="1194351"/>
            <a:ext cx="2312078" cy="1995647"/>
          </a:xfrm>
          <a:prstGeom prst="rect">
            <a:avLst/>
          </a:prstGeom>
          <a:effectLst>
            <a:outerShdw blurRad="50800" dist="50800" dir="3000000" algn="ctr" rotWithShape="0">
              <a:srgbClr val="000000">
                <a:alpha val="35000"/>
              </a:srgbClr>
            </a:outerShdw>
            <a:softEdge rad="12700"/>
          </a:effectLst>
        </p:spPr>
      </p:pic>
      <p:sp>
        <p:nvSpPr>
          <p:cNvPr id="32" name="矩形 31">
            <a:extLst>
              <a:ext uri="{FF2B5EF4-FFF2-40B4-BE49-F238E27FC236}">
                <a16:creationId xmlns:a16="http://schemas.microsoft.com/office/drawing/2014/main" id="{B616173A-B080-442A-894F-FE1402358543}"/>
              </a:ext>
            </a:extLst>
          </p:cNvPr>
          <p:cNvSpPr/>
          <p:nvPr/>
        </p:nvSpPr>
        <p:spPr>
          <a:xfrm>
            <a:off x="947855" y="5447001"/>
            <a:ext cx="10296290" cy="1080000"/>
          </a:xfrm>
          <a:prstGeom prst="rect">
            <a:avLst/>
          </a:prstGeom>
          <a:solidFill>
            <a:srgbClr val="414455"/>
          </a:solidFill>
          <a:ln w="12700" cap="flat">
            <a:noFill/>
            <a:prstDash val="solid"/>
            <a:miter lim="800000"/>
          </a:ln>
          <a:effectLst>
            <a:outerShdw blurRad="50800" dist="50800" dir="5400000" algn="ctr" rotWithShape="0">
              <a:srgbClr val="000000">
                <a:alpha val="3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3" name="文本框 32">
            <a:extLst>
              <a:ext uri="{FF2B5EF4-FFF2-40B4-BE49-F238E27FC236}">
                <a16:creationId xmlns:a16="http://schemas.microsoft.com/office/drawing/2014/main" id="{F953F44B-F451-4B44-9D37-9540BFAE6480}"/>
              </a:ext>
            </a:extLst>
          </p:cNvPr>
          <p:cNvSpPr txBox="1"/>
          <p:nvPr/>
        </p:nvSpPr>
        <p:spPr>
          <a:xfrm>
            <a:off x="990606" y="5521477"/>
            <a:ext cx="10296291"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3200" b="1">
                <a:solidFill>
                  <a:schemeClr val="bg1"/>
                </a:solidFill>
              </a:rPr>
              <a:t>这些情况都可以报警，但处理它们的警察却完全不同。</a:t>
            </a:r>
            <a:endParaRPr lang="en-US" altLang="zh-CN" sz="3200" b="1">
              <a:solidFill>
                <a:schemeClr val="bg1"/>
              </a:solidFill>
            </a:endParaRPr>
          </a:p>
          <a:p>
            <a:pPr algn="ctr"/>
            <a:r>
              <a:rPr lang="zh-CN" altLang="en-US" sz="2400">
                <a:solidFill>
                  <a:schemeClr val="bg1">
                    <a:lumMod val="95000"/>
                  </a:schemeClr>
                </a:solidFill>
              </a:rPr>
              <a:t>为什么不是同一个警察来处理？</a:t>
            </a:r>
          </a:p>
        </p:txBody>
      </p:sp>
    </p:spTree>
    <p:extLst>
      <p:ext uri="{BB962C8B-B14F-4D97-AF65-F5344CB8AC3E}">
        <p14:creationId xmlns:p14="http://schemas.microsoft.com/office/powerpoint/2010/main" val="377248170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圆角矩形 4"/>
          <p:cNvGrpSpPr/>
          <p:nvPr>
            <p:custDataLst>
              <p:tags r:id="rId1"/>
            </p:custDataLst>
          </p:nvPr>
        </p:nvGrpSpPr>
        <p:grpSpPr>
          <a:xfrm>
            <a:off x="6021081" y="1021094"/>
            <a:ext cx="506413" cy="574041"/>
            <a:chOff x="0" y="0"/>
            <a:chExt cx="506412" cy="574040"/>
          </a:xfrm>
        </p:grpSpPr>
        <p:sp>
          <p:nvSpPr>
            <p:cNvPr id="213" name="圆角矩形"/>
            <p:cNvSpPr/>
            <p:nvPr>
              <p:custDataLst>
                <p:tags r:id="rId1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4" name="1"/>
            <p:cNvSpPr txBox="1"/>
            <p:nvPr>
              <p:custDataLst>
                <p:tags r:id="rId19"/>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216" name="矩形 5"/>
          <p:cNvSpPr txBox="1"/>
          <p:nvPr>
            <p:custDataLst>
              <p:tags r:id="rId2"/>
            </p:custDataLst>
          </p:nvPr>
        </p:nvSpPr>
        <p:spPr>
          <a:xfrm>
            <a:off x="6875287" y="1116066"/>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引入</a:t>
            </a:r>
            <a:endParaRPr/>
          </a:p>
        </p:txBody>
      </p:sp>
      <p:grpSp>
        <p:nvGrpSpPr>
          <p:cNvPr id="219" name="圆角矩形 6"/>
          <p:cNvGrpSpPr/>
          <p:nvPr>
            <p:custDataLst>
              <p:tags r:id="rId3"/>
            </p:custDataLst>
          </p:nvPr>
        </p:nvGrpSpPr>
        <p:grpSpPr>
          <a:xfrm>
            <a:off x="6021081" y="1775156"/>
            <a:ext cx="506413" cy="574041"/>
            <a:chOff x="0" y="0"/>
            <a:chExt cx="506412" cy="574040"/>
          </a:xfrm>
        </p:grpSpPr>
        <p:sp>
          <p:nvSpPr>
            <p:cNvPr id="217" name="圆角矩形"/>
            <p:cNvSpPr/>
            <p:nvPr>
              <p:custDataLst>
                <p:tags r:id="rId16"/>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8" name="2"/>
            <p:cNvSpPr txBox="1"/>
            <p:nvPr>
              <p:custDataLst>
                <p:tags r:id="rId17"/>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grpSp>
        <p:nvGrpSpPr>
          <p:cNvPr id="223" name="圆角矩形 8"/>
          <p:cNvGrpSpPr/>
          <p:nvPr>
            <p:custDataLst>
              <p:tags r:id="rId4"/>
            </p:custDataLst>
          </p:nvPr>
        </p:nvGrpSpPr>
        <p:grpSpPr>
          <a:xfrm>
            <a:off x="6021081" y="2529219"/>
            <a:ext cx="506413" cy="574041"/>
            <a:chOff x="0" y="0"/>
            <a:chExt cx="506412" cy="574040"/>
          </a:xfrm>
        </p:grpSpPr>
        <p:sp>
          <p:nvSpPr>
            <p:cNvPr id="221" name="圆角矩形"/>
            <p:cNvSpPr/>
            <p:nvPr>
              <p:custDataLst>
                <p:tags r:id="rId14"/>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2" name="3"/>
            <p:cNvSpPr txBox="1"/>
            <p:nvPr>
              <p:custDataLst>
                <p:tags r:id="rId15"/>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grpSp>
        <p:nvGrpSpPr>
          <p:cNvPr id="227" name="圆角矩形 10"/>
          <p:cNvGrpSpPr/>
          <p:nvPr>
            <p:custDataLst>
              <p:tags r:id="rId5"/>
            </p:custDataLst>
          </p:nvPr>
        </p:nvGrpSpPr>
        <p:grpSpPr>
          <a:xfrm>
            <a:off x="6021081" y="3283281"/>
            <a:ext cx="506413" cy="574041"/>
            <a:chOff x="0" y="0"/>
            <a:chExt cx="506412" cy="574040"/>
          </a:xfrm>
        </p:grpSpPr>
        <p:sp>
          <p:nvSpPr>
            <p:cNvPr id="225" name="圆角矩形"/>
            <p:cNvSpPr/>
            <p:nvPr>
              <p:custDataLst>
                <p:tags r:id="rId12"/>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6" name="4"/>
            <p:cNvSpPr txBox="1"/>
            <p:nvPr>
              <p:custDataLst>
                <p:tags r:id="rId13"/>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grpSp>
        <p:nvGrpSpPr>
          <p:cNvPr id="231" name="圆角矩形 12"/>
          <p:cNvGrpSpPr/>
          <p:nvPr>
            <p:custDataLst>
              <p:tags r:id="rId6"/>
            </p:custDataLst>
          </p:nvPr>
        </p:nvGrpSpPr>
        <p:grpSpPr>
          <a:xfrm>
            <a:off x="6021081" y="4037343"/>
            <a:ext cx="506413" cy="574041"/>
            <a:chOff x="0" y="0"/>
            <a:chExt cx="506412" cy="574040"/>
          </a:xfrm>
        </p:grpSpPr>
        <p:sp>
          <p:nvSpPr>
            <p:cNvPr id="229" name="圆角矩形"/>
            <p:cNvSpPr/>
            <p:nvPr>
              <p:custDataLst>
                <p:tags r:id="rId10"/>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30" name="5"/>
            <p:cNvSpPr txBox="1"/>
            <p:nvPr>
              <p:custDataLst>
                <p:tags r:id="rId11"/>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grpSp>
        <p:nvGrpSpPr>
          <p:cNvPr id="235" name="矩形 33"/>
          <p:cNvGrpSpPr/>
          <p:nvPr/>
        </p:nvGrpSpPr>
        <p:grpSpPr>
          <a:xfrm>
            <a:off x="0" y="0"/>
            <a:ext cx="3721100" cy="6858000"/>
            <a:chOff x="0" y="0"/>
            <a:chExt cx="3721100" cy="6858000"/>
          </a:xfrm>
        </p:grpSpPr>
        <p:sp>
          <p:nvSpPr>
            <p:cNvPr id="23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23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23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23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240" name="组合 14"/>
          <p:cNvGrpSpPr/>
          <p:nvPr/>
        </p:nvGrpSpPr>
        <p:grpSpPr>
          <a:xfrm>
            <a:off x="4791815" y="1710386"/>
            <a:ext cx="703580" cy="703580"/>
            <a:chOff x="0" y="0"/>
            <a:chExt cx="703578" cy="703578"/>
          </a:xfrm>
        </p:grpSpPr>
        <p:sp>
          <p:nvSpPr>
            <p:cNvPr id="238"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39"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2" name="矩形 7"/>
          <p:cNvSpPr txBox="1"/>
          <p:nvPr/>
        </p:nvSpPr>
        <p:spPr>
          <a:xfrm>
            <a:off x="6875287" y="1891750"/>
            <a:ext cx="1015661"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警种划分</a:t>
            </a:r>
          </a:p>
        </p:txBody>
      </p:sp>
      <p:sp>
        <p:nvSpPr>
          <p:cNvPr id="33" name="矩形 7"/>
          <p:cNvSpPr txBox="1"/>
          <p:nvPr/>
        </p:nvSpPr>
        <p:spPr>
          <a:xfrm>
            <a:off x="6874029" y="2630166"/>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分工如何运作</a:t>
            </a:r>
          </a:p>
        </p:txBody>
      </p:sp>
      <p:sp>
        <p:nvSpPr>
          <p:cNvPr id="652" name="矩形 13"/>
          <p:cNvSpPr txBox="1"/>
          <p:nvPr/>
        </p:nvSpPr>
        <p:spPr>
          <a:xfrm>
            <a:off x="6874029" y="4154418"/>
            <a:ext cx="124649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问题与改进</a:t>
            </a:r>
          </a:p>
        </p:txBody>
      </p:sp>
      <p:grpSp>
        <p:nvGrpSpPr>
          <p:cNvPr id="30" name="圆角矩形 12">
            <a:extLst>
              <a:ext uri="{FF2B5EF4-FFF2-40B4-BE49-F238E27FC236}">
                <a16:creationId xmlns:a16="http://schemas.microsoft.com/office/drawing/2014/main" id="{0649A779-6B3E-4F19-9C5E-9BB8206E9F74}"/>
              </a:ext>
            </a:extLst>
          </p:cNvPr>
          <p:cNvGrpSpPr/>
          <p:nvPr>
            <p:custDataLst>
              <p:tags r:id="rId7"/>
            </p:custDataLst>
          </p:nvPr>
        </p:nvGrpSpPr>
        <p:grpSpPr>
          <a:xfrm>
            <a:off x="6021082" y="4820646"/>
            <a:ext cx="506414" cy="584773"/>
            <a:chOff x="0" y="-5366"/>
            <a:chExt cx="506413" cy="584772"/>
          </a:xfrm>
        </p:grpSpPr>
        <p:sp>
          <p:nvSpPr>
            <p:cNvPr id="31" name="圆角矩形">
              <a:extLst>
                <a:ext uri="{FF2B5EF4-FFF2-40B4-BE49-F238E27FC236}">
                  <a16:creationId xmlns:a16="http://schemas.microsoft.com/office/drawing/2014/main" id="{C4ED9F6C-1CEB-4D6F-8630-59373F4A1CC4}"/>
                </a:ext>
              </a:extLst>
            </p:cNvPr>
            <p:cNvSpPr/>
            <p:nvPr>
              <p:custDataLst>
                <p:tags r:id="rId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2" name="5">
              <a:extLst>
                <a:ext uri="{FF2B5EF4-FFF2-40B4-BE49-F238E27FC236}">
                  <a16:creationId xmlns:a16="http://schemas.microsoft.com/office/drawing/2014/main" id="{AD20E037-FA13-476F-AAA3-371161CF83A4}"/>
                </a:ext>
              </a:extLst>
            </p:cNvPr>
            <p:cNvSpPr txBox="1"/>
            <p:nvPr>
              <p:custDataLst>
                <p:tags r:id="rId9"/>
              </p:custDataLst>
            </p:nvPr>
          </p:nvSpPr>
          <p:spPr>
            <a:xfrm>
              <a:off x="24644" y="-5366"/>
              <a:ext cx="457124" cy="584772"/>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rPr lang="en-US"/>
                <a:t>6</a:t>
              </a:r>
              <a:endParaRPr/>
            </a:p>
          </p:txBody>
        </p:sp>
      </p:grpSp>
      <p:sp>
        <p:nvSpPr>
          <p:cNvPr id="34" name="矩形 13">
            <a:extLst>
              <a:ext uri="{FF2B5EF4-FFF2-40B4-BE49-F238E27FC236}">
                <a16:creationId xmlns:a16="http://schemas.microsoft.com/office/drawing/2014/main" id="{BC4DDEB7-1AC3-49C0-899D-970F4C00C386}"/>
              </a:ext>
            </a:extLst>
          </p:cNvPr>
          <p:cNvSpPr txBox="1"/>
          <p:nvPr/>
        </p:nvSpPr>
        <p:spPr>
          <a:xfrm>
            <a:off x="6874029" y="4930102"/>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总结</a:t>
            </a:r>
          </a:p>
        </p:txBody>
      </p:sp>
      <p:sp>
        <p:nvSpPr>
          <p:cNvPr id="38" name="矩形 13">
            <a:extLst>
              <a:ext uri="{FF2B5EF4-FFF2-40B4-BE49-F238E27FC236}">
                <a16:creationId xmlns:a16="http://schemas.microsoft.com/office/drawing/2014/main" id="{545E8B07-1B06-4569-B70D-683129CF4B4F}"/>
              </a:ext>
            </a:extLst>
          </p:cNvPr>
          <p:cNvSpPr txBox="1"/>
          <p:nvPr/>
        </p:nvSpPr>
        <p:spPr>
          <a:xfrm>
            <a:off x="7109760" y="5686086"/>
            <a:ext cx="92395"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lang="zh-CN" altLang="en-US"/>
          </a:p>
        </p:txBody>
      </p:sp>
      <p:sp>
        <p:nvSpPr>
          <p:cNvPr id="39" name="矩形 7">
            <a:extLst>
              <a:ext uri="{FF2B5EF4-FFF2-40B4-BE49-F238E27FC236}">
                <a16:creationId xmlns:a16="http://schemas.microsoft.com/office/drawing/2014/main" id="{7C272FE9-AC75-4912-88D9-2A6205588F2D}"/>
              </a:ext>
            </a:extLst>
          </p:cNvPr>
          <p:cNvSpPr txBox="1"/>
          <p:nvPr/>
        </p:nvSpPr>
        <p:spPr>
          <a:xfrm>
            <a:off x="6874028" y="3416002"/>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lang="zh-CN" altLang="en-US">
                <a:solidFill>
                  <a:srgbClr val="000000"/>
                </a:solidFill>
                <a:sym typeface="Calibri" panose="020F0502020204030204"/>
              </a:rPr>
              <a:t>智能化下的警种分工</a:t>
            </a:r>
            <a:endParaRPr lang="en-US" altLang="zh-CN">
              <a:solidFill>
                <a:srgbClr val="000000"/>
              </a:solidFill>
              <a:sym typeface="Calibri" panose="020F0502020204030204"/>
            </a:endParaRPr>
          </a:p>
        </p:txBody>
      </p:sp>
    </p:spTree>
    <p:extLst>
      <p:ext uri="{BB962C8B-B14F-4D97-AF65-F5344CB8AC3E}">
        <p14:creationId xmlns:p14="http://schemas.microsoft.com/office/powerpoint/2010/main" val="183178271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indefinite" fill="hold"/>
                                        <p:tgtEl>
                                          <p:spTgt spid="240"/>
                                        </p:tgtEl>
                                        <p:attrNameLst>
                                          <p:attrName>style.visibility</p:attrName>
                                        </p:attrNameLst>
                                      </p:cBhvr>
                                      <p:to>
                                        <p:strVal val="visible"/>
                                      </p:to>
                                    </p:set>
                                    <p:anim calcmode="lin" valueType="num">
                                      <p:cBhvr>
                                        <p:cTn id="7" dur="500" fill="hold"/>
                                        <p:tgtEl>
                                          <p:spTgt spid="240"/>
                                        </p:tgtEl>
                                        <p:attrNameLst>
                                          <p:attrName>ppt_x</p:attrName>
                                        </p:attrNameLst>
                                      </p:cBhvr>
                                      <p:tavLst>
                                        <p:tav tm="0">
                                          <p:val>
                                            <p:strVal val="#ppt_x"/>
                                          </p:val>
                                        </p:tav>
                                        <p:tav tm="100000">
                                          <p:val>
                                            <p:strVal val="#ppt_x"/>
                                          </p:val>
                                        </p:tav>
                                      </p:tavLst>
                                    </p:anim>
                                    <p:anim calcmode="lin" valueType="num">
                                      <p:cBhvr>
                                        <p:cTn id="8" dur="500" fill="hold"/>
                                        <p:tgtEl>
                                          <p:spTgt spid="2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直角三角形 3">
            <a:extLst>
              <a:ext uri="{FF2B5EF4-FFF2-40B4-BE49-F238E27FC236}">
                <a16:creationId xmlns:a16="http://schemas.microsoft.com/office/drawing/2014/main" id="{F793F7C0-623D-4485-8628-5C7CF4B4B46A}"/>
              </a:ext>
            </a:extLst>
          </p:cNvPr>
          <p:cNvSpPr/>
          <p:nvPr/>
        </p:nvSpPr>
        <p:spPr>
          <a:xfrm>
            <a:off x="0" y="3295212"/>
            <a:ext cx="3019647" cy="3562788"/>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7" name="矩形 36">
            <a:extLst>
              <a:ext uri="{FF2B5EF4-FFF2-40B4-BE49-F238E27FC236}">
                <a16:creationId xmlns:a16="http://schemas.microsoft.com/office/drawing/2014/main" id="{6379D63A-D246-4DE4-843C-C88D5AAB7406}"/>
              </a:ext>
            </a:extLst>
          </p:cNvPr>
          <p:cNvSpPr/>
          <p:nvPr/>
        </p:nvSpPr>
        <p:spPr>
          <a:xfrm>
            <a:off x="3140828" y="5709467"/>
            <a:ext cx="5929575" cy="776795"/>
          </a:xfrm>
          <a:prstGeom prst="rect">
            <a:avLst/>
          </a:prstGeom>
          <a:solidFill>
            <a:srgbClr val="414455"/>
          </a:solidFill>
          <a:ln w="12700" cap="flat">
            <a:noFill/>
            <a:prstDash val="solid"/>
            <a:miter lim="800000"/>
          </a:ln>
          <a:effectLst>
            <a:outerShdw blurRad="50800" dist="50800" dir="5400000" algn="ctr" rotWithShape="0">
              <a:srgbClr val="000000">
                <a:alpha val="3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直角三角形 1">
            <a:extLst>
              <a:ext uri="{FF2B5EF4-FFF2-40B4-BE49-F238E27FC236}">
                <a16:creationId xmlns:a16="http://schemas.microsoft.com/office/drawing/2014/main" id="{8A87FFEA-E2AB-480A-AFC8-EB53D5C8C968}"/>
              </a:ext>
            </a:extLst>
          </p:cNvPr>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直角三角形 2">
            <a:extLst>
              <a:ext uri="{FF2B5EF4-FFF2-40B4-BE49-F238E27FC236}">
                <a16:creationId xmlns:a16="http://schemas.microsoft.com/office/drawing/2014/main" id="{9E1643DE-BB57-4A86-8EE3-02273D8E8E74}"/>
              </a:ext>
            </a:extLst>
          </p:cNvPr>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cxnSp>
        <p:nvCxnSpPr>
          <p:cNvPr id="6" name="直接箭头连接符 5">
            <a:extLst>
              <a:ext uri="{FF2B5EF4-FFF2-40B4-BE49-F238E27FC236}">
                <a16:creationId xmlns:a16="http://schemas.microsoft.com/office/drawing/2014/main" id="{D3127B99-58E7-43A5-953E-6F4F7358916F}"/>
              </a:ext>
            </a:extLst>
          </p:cNvPr>
          <p:cNvCxnSpPr/>
          <p:nvPr/>
        </p:nvCxnSpPr>
        <p:spPr>
          <a:xfrm>
            <a:off x="765544" y="1127051"/>
            <a:ext cx="10299405" cy="0"/>
          </a:xfrm>
          <a:prstGeom prst="straightConnector1">
            <a:avLst/>
          </a:prstGeom>
          <a:noFill/>
          <a:ln w="25400" cap="flat">
            <a:solidFill>
              <a:schemeClr val="bg1">
                <a:lumMod val="50000"/>
              </a:schemeClr>
            </a:solidFill>
            <a:prstDash val="solid"/>
            <a:miter lim="800000"/>
            <a:tailEnd type="triangle"/>
          </a:ln>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D4ADD0BF-410C-4205-962A-9F6E04C5EE0F}"/>
              </a:ext>
            </a:extLst>
          </p:cNvPr>
          <p:cNvSpPr txBox="1"/>
          <p:nvPr/>
        </p:nvSpPr>
        <p:spPr>
          <a:xfrm>
            <a:off x="836428" y="269358"/>
            <a:ext cx="9909221" cy="70788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4000" b="1">
                <a:solidFill>
                  <a:srgbClr val="000000"/>
                </a:solidFill>
                <a:latin typeface="微软雅黑" panose="020B0503020204020204" charset="-122"/>
                <a:ea typeface="微软雅黑" panose="020B0503020204020204" charset="-122"/>
                <a:sym typeface="Calibri" panose="020F0502020204030204"/>
              </a:rPr>
              <a:t>中国警察体系概貌</a:t>
            </a:r>
          </a:p>
        </p:txBody>
      </p:sp>
      <p:sp>
        <p:nvSpPr>
          <p:cNvPr id="5" name="文本框 4">
            <a:extLst>
              <a:ext uri="{FF2B5EF4-FFF2-40B4-BE49-F238E27FC236}">
                <a16:creationId xmlns:a16="http://schemas.microsoft.com/office/drawing/2014/main" id="{8D3C2467-784E-4BD6-9B93-ED4FE23A2289}"/>
              </a:ext>
            </a:extLst>
          </p:cNvPr>
          <p:cNvSpPr txBox="1"/>
          <p:nvPr/>
        </p:nvSpPr>
        <p:spPr>
          <a:xfrm>
            <a:off x="684028" y="1303626"/>
            <a:ext cx="6736824" cy="369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a:t>根据</a:t>
            </a:r>
            <a:r>
              <a:rPr lang="en-US" altLang="zh-CN"/>
              <a:t>《</a:t>
            </a:r>
            <a:r>
              <a:rPr lang="zh-CN" altLang="en-US"/>
              <a:t>人民警察法</a:t>
            </a:r>
            <a:r>
              <a:rPr lang="en-US" altLang="zh-CN"/>
              <a:t>》</a:t>
            </a:r>
            <a:r>
              <a:rPr lang="zh-CN" altLang="en-US"/>
              <a:t>，我国人民警察按隶属可概括为四大系统：</a:t>
            </a: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6" name="文本框 35">
            <a:extLst>
              <a:ext uri="{FF2B5EF4-FFF2-40B4-BE49-F238E27FC236}">
                <a16:creationId xmlns:a16="http://schemas.microsoft.com/office/drawing/2014/main" id="{818A3B0C-7C04-473F-B2C8-C3FD33D25DE8}"/>
              </a:ext>
            </a:extLst>
          </p:cNvPr>
          <p:cNvSpPr txBox="1"/>
          <p:nvPr/>
        </p:nvSpPr>
        <p:spPr>
          <a:xfrm>
            <a:off x="3236880" y="5862584"/>
            <a:ext cx="6095064"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b="1">
                <a:solidFill>
                  <a:schemeClr val="bg1"/>
                </a:solidFill>
              </a:rPr>
              <a:t>公安机关是我们日常接触最多的执法主体</a:t>
            </a:r>
          </a:p>
        </p:txBody>
      </p:sp>
      <p:grpSp>
        <p:nvGrpSpPr>
          <p:cNvPr id="39" name="组合 38">
            <a:extLst>
              <a:ext uri="{FF2B5EF4-FFF2-40B4-BE49-F238E27FC236}">
                <a16:creationId xmlns:a16="http://schemas.microsoft.com/office/drawing/2014/main" id="{5FAAEBE7-B555-4683-8FB6-743E3246D971}"/>
              </a:ext>
            </a:extLst>
          </p:cNvPr>
          <p:cNvGrpSpPr/>
          <p:nvPr/>
        </p:nvGrpSpPr>
        <p:grpSpPr>
          <a:xfrm>
            <a:off x="559233" y="1794413"/>
            <a:ext cx="2700000" cy="3662812"/>
            <a:chOff x="518038" y="1817977"/>
            <a:chExt cx="2885935" cy="3662812"/>
          </a:xfrm>
        </p:grpSpPr>
        <p:sp>
          <p:nvSpPr>
            <p:cNvPr id="9" name="AutoShape 4">
              <a:extLst>
                <a:ext uri="{FF2B5EF4-FFF2-40B4-BE49-F238E27FC236}">
                  <a16:creationId xmlns:a16="http://schemas.microsoft.com/office/drawing/2014/main" id="{BB4B8BAD-518E-4973-BBBE-D95249688710}"/>
                </a:ext>
              </a:extLst>
            </p:cNvPr>
            <p:cNvSpPr/>
            <p:nvPr/>
          </p:nvSpPr>
          <p:spPr>
            <a:xfrm>
              <a:off x="518038" y="1817977"/>
              <a:ext cx="2880000" cy="3662812"/>
            </a:xfrm>
            <a:prstGeom prst="roundRect">
              <a:avLst>
                <a:gd name="adj" fmla="val 3797"/>
              </a:avLst>
            </a:prstGeom>
            <a:solidFill>
              <a:srgbClr val="FFFFFF">
                <a:alpha val="100000"/>
              </a:srgbClr>
            </a:solidFill>
            <a:ln w="25400" cap="flat" cmpd="sng">
              <a:solidFill>
                <a:schemeClr val="accent1">
                  <a:lumMod val="60000"/>
                  <a:lumOff val="40000"/>
                </a:schemeClr>
              </a:solidFill>
              <a:prstDash val="solid"/>
              <a:miter lim="10000000"/>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12" name="AutoShape 7">
              <a:extLst>
                <a:ext uri="{FF2B5EF4-FFF2-40B4-BE49-F238E27FC236}">
                  <a16:creationId xmlns:a16="http://schemas.microsoft.com/office/drawing/2014/main" id="{C57A7D23-BD7E-4CFF-A0DE-E36F43BE54DC}"/>
                </a:ext>
              </a:extLst>
            </p:cNvPr>
            <p:cNvSpPr/>
            <p:nvPr/>
          </p:nvSpPr>
          <p:spPr>
            <a:xfrm>
              <a:off x="787647" y="2518149"/>
              <a:ext cx="2232000" cy="1212651"/>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17000"/>
                </a:lnSpc>
              </a:pPr>
              <a:r>
                <a:rPr lang="zh-CN" altLang="en-US" sz="1400" b="1"/>
                <a:t>日常执法主力</a:t>
              </a:r>
              <a:br>
                <a:rPr lang="zh-CN" altLang="en-US" sz="1400"/>
              </a:br>
              <a:endParaRPr lang="en-US" altLang="zh-CN" sz="14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r>
                <a:rPr lang="zh-CN" altLang="en-US" sz="1200"/>
                <a:t>治安、刑侦、交通、网安等</a:t>
              </a:r>
              <a:br>
                <a:rPr lang="zh-CN" altLang="en-US" sz="1200"/>
              </a:br>
              <a:r>
                <a:rPr lang="zh-CN" altLang="en-US" sz="1200"/>
                <a:t>与社会公众接触最频繁</a:t>
              </a:r>
              <a:endParaRPr lang="en-US" sz="1400" b="0" i="0" u="none" strike="noStrike">
                <a:solidFill>
                  <a:srgbClr val="1E293B"/>
                </a:solidFill>
                <a:latin typeface="Noto Sans SC"/>
                <a:ea typeface="Noto Sans SC"/>
                <a:cs typeface="Noto Sans SC"/>
                <a:sym typeface="Noto Sans SC"/>
              </a:endParaRPr>
            </a:p>
          </p:txBody>
        </p:sp>
        <p:sp>
          <p:nvSpPr>
            <p:cNvPr id="44" name="矩形: 圆角 43">
              <a:extLst>
                <a:ext uri="{FF2B5EF4-FFF2-40B4-BE49-F238E27FC236}">
                  <a16:creationId xmlns:a16="http://schemas.microsoft.com/office/drawing/2014/main" id="{5EC11E91-577D-4FA6-9F7B-38A80DEEA034}"/>
                </a:ext>
              </a:extLst>
            </p:cNvPr>
            <p:cNvSpPr/>
            <p:nvPr/>
          </p:nvSpPr>
          <p:spPr>
            <a:xfrm>
              <a:off x="523973" y="1824440"/>
              <a:ext cx="2880000" cy="612245"/>
            </a:xfrm>
            <a:prstGeom prst="roundRect">
              <a:avLst/>
            </a:prstGeom>
            <a:solidFill>
              <a:schemeClr val="accent1">
                <a:lumMod val="60000"/>
                <a:lumOff val="40000"/>
              </a:schemeClr>
            </a:solidFill>
            <a:ln w="25400" cap="flat" cmpd="sng">
              <a:solidFill>
                <a:schemeClr val="accent1">
                  <a:lumMod val="60000"/>
                  <a:lumOff val="40000"/>
                </a:schemeClr>
              </a:solidFill>
              <a:prstDash val="solid"/>
              <a:round/>
            </a:ln>
          </p:spPr>
          <p:txBody>
            <a:bodyPr vert="horz" wrap="square" lIns="63500" tIns="63500" rIns="63500" bIns="63500" rtlCol="0" anchor="ctr"/>
            <a:lstStyle/>
            <a:p>
              <a:pPr algn="ctr"/>
              <a:endParaRPr lang="zh-CN" altLang="en-US">
                <a:sym typeface="Calibri" panose="020F0502020204030204"/>
              </a:endParaRPr>
            </a:p>
          </p:txBody>
        </p:sp>
        <p:sp>
          <p:nvSpPr>
            <p:cNvPr id="11" name="AutoShape 6">
              <a:extLst>
                <a:ext uri="{FF2B5EF4-FFF2-40B4-BE49-F238E27FC236}">
                  <a16:creationId xmlns:a16="http://schemas.microsoft.com/office/drawing/2014/main" id="{438C986C-DA4D-4CF2-BB90-B33A6B347250}"/>
                </a:ext>
              </a:extLst>
            </p:cNvPr>
            <p:cNvSpPr/>
            <p:nvPr/>
          </p:nvSpPr>
          <p:spPr>
            <a:xfrm>
              <a:off x="842038" y="1870794"/>
              <a:ext cx="2232000" cy="508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en-US" b="1" i="0" u="none" strike="noStrike">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公安机关</a:t>
              </a:r>
              <a:endParaRPr lang="en-US" b="1">
                <a:solidFill>
                  <a:schemeClr val="bg1"/>
                </a:solidFill>
                <a:effectLst>
                  <a:outerShdw blurRad="50800" dist="38100" dir="2700000" algn="tl" rotWithShape="0">
                    <a:prstClr val="black">
                      <a:alpha val="40000"/>
                    </a:prstClr>
                  </a:outerShdw>
                </a:effectLst>
              </a:endParaRPr>
            </a:p>
            <a:p>
              <a:pPr indent="0" algn="ctr">
                <a:lnSpc>
                  <a:spcPct val="100000"/>
                </a:lnSpc>
              </a:pPr>
              <a:r>
                <a:rPr lang="en-US" sz="1400" b="1" i="0" u="none" strike="noStrike">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人民警察</a:t>
              </a:r>
            </a:p>
          </p:txBody>
        </p:sp>
      </p:grpSp>
      <p:pic>
        <p:nvPicPr>
          <p:cNvPr id="1030" name="Picture 6" descr="福建省公安厅举行2024年中国人民警察节升警旗仪式_ 公安要闻_ 福建省公安厅">
            <a:extLst>
              <a:ext uri="{FF2B5EF4-FFF2-40B4-BE49-F238E27FC236}">
                <a16:creationId xmlns:a16="http://schemas.microsoft.com/office/drawing/2014/main" id="{4D50C66C-801C-4778-A62E-59608758F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509" y="2938562"/>
            <a:ext cx="2413492" cy="1608995"/>
          </a:xfrm>
          <a:prstGeom prst="rect">
            <a:avLst/>
          </a:prstGeom>
          <a:noFill/>
          <a:effectLst>
            <a:outerShdw blurRad="50800" dist="50800" dir="5400000" algn="ctr" rotWithShape="0">
              <a:srgbClr val="000000">
                <a:alpha val="11000"/>
              </a:srgbClr>
            </a:outerShdw>
            <a:softEdge rad="12700"/>
          </a:effectLst>
          <a:extLst>
            <a:ext uri="{909E8E84-426E-40DD-AFC4-6F175D3DCCD1}">
              <a14:hiddenFill xmlns:a14="http://schemas.microsoft.com/office/drawing/2010/main">
                <a:solidFill>
                  <a:srgbClr val="FFFFFF"/>
                </a:solidFill>
              </a14:hiddenFill>
            </a:ext>
          </a:extLst>
        </p:spPr>
      </p:pic>
      <p:grpSp>
        <p:nvGrpSpPr>
          <p:cNvPr id="61" name="组合 60">
            <a:extLst>
              <a:ext uri="{FF2B5EF4-FFF2-40B4-BE49-F238E27FC236}">
                <a16:creationId xmlns:a16="http://schemas.microsoft.com/office/drawing/2014/main" id="{38E4829A-F6A1-4CE9-BE1E-D4DFB7AE8492}"/>
              </a:ext>
            </a:extLst>
          </p:cNvPr>
          <p:cNvGrpSpPr/>
          <p:nvPr/>
        </p:nvGrpSpPr>
        <p:grpSpPr>
          <a:xfrm>
            <a:off x="3342211" y="1804539"/>
            <a:ext cx="2700000" cy="3662812"/>
            <a:chOff x="518038" y="1817977"/>
            <a:chExt cx="2885935" cy="3662812"/>
          </a:xfrm>
        </p:grpSpPr>
        <p:sp>
          <p:nvSpPr>
            <p:cNvPr id="62" name="AutoShape 4">
              <a:extLst>
                <a:ext uri="{FF2B5EF4-FFF2-40B4-BE49-F238E27FC236}">
                  <a16:creationId xmlns:a16="http://schemas.microsoft.com/office/drawing/2014/main" id="{975CDCC5-8FE0-450A-8386-C13AF9F7AD67}"/>
                </a:ext>
              </a:extLst>
            </p:cNvPr>
            <p:cNvSpPr/>
            <p:nvPr/>
          </p:nvSpPr>
          <p:spPr>
            <a:xfrm>
              <a:off x="518038" y="1817977"/>
              <a:ext cx="2880000" cy="3662812"/>
            </a:xfrm>
            <a:prstGeom prst="roundRect">
              <a:avLst>
                <a:gd name="adj" fmla="val 3797"/>
              </a:avLst>
            </a:prstGeom>
            <a:solidFill>
              <a:srgbClr val="FFFFFF">
                <a:alpha val="100000"/>
              </a:srgbClr>
            </a:solidFill>
            <a:ln w="25400" cap="flat" cmpd="sng">
              <a:solidFill>
                <a:schemeClr val="accent6">
                  <a:lumMod val="60000"/>
                  <a:lumOff val="40000"/>
                </a:schemeClr>
              </a:solidFill>
              <a:prstDash val="solid"/>
              <a:miter lim="10000000"/>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63" name="AutoShape 7">
              <a:extLst>
                <a:ext uri="{FF2B5EF4-FFF2-40B4-BE49-F238E27FC236}">
                  <a16:creationId xmlns:a16="http://schemas.microsoft.com/office/drawing/2014/main" id="{F5D404A3-093B-4C01-83B5-DB08B29A3858}"/>
                </a:ext>
              </a:extLst>
            </p:cNvPr>
            <p:cNvSpPr/>
            <p:nvPr/>
          </p:nvSpPr>
          <p:spPr>
            <a:xfrm>
              <a:off x="787647" y="2518149"/>
              <a:ext cx="2232000" cy="1212651"/>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17000"/>
                </a:lnSpc>
              </a:pPr>
              <a:r>
                <a:rPr lang="zh-CN" altLang="en-US" sz="1400" b="1"/>
                <a:t>维护国家安全</a:t>
              </a:r>
              <a:br>
                <a:rPr lang="zh-CN" altLang="en-US" sz="1400"/>
              </a:br>
              <a:endParaRPr lang="en-US" altLang="zh-CN" sz="14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r>
                <a:rPr lang="zh-CN" altLang="en-US" sz="1200"/>
                <a:t>反间谍、反渗透等</a:t>
              </a:r>
              <a:br>
                <a:rPr lang="zh-CN" altLang="en-US" sz="1200"/>
              </a:br>
              <a:r>
                <a:rPr lang="zh-CN" altLang="en-US" sz="1200"/>
                <a:t>承担隐蔽战线任务</a:t>
              </a:r>
              <a:endParaRPr lang="en-US" sz="1400" b="0" i="0" u="none" strike="noStrike">
                <a:solidFill>
                  <a:srgbClr val="1E293B"/>
                </a:solidFill>
                <a:latin typeface="Noto Sans SC"/>
                <a:ea typeface="Noto Sans SC"/>
                <a:cs typeface="Noto Sans SC"/>
                <a:sym typeface="Noto Sans SC"/>
              </a:endParaRPr>
            </a:p>
          </p:txBody>
        </p:sp>
        <p:sp>
          <p:nvSpPr>
            <p:cNvPr id="64" name="矩形: 圆角 63">
              <a:extLst>
                <a:ext uri="{FF2B5EF4-FFF2-40B4-BE49-F238E27FC236}">
                  <a16:creationId xmlns:a16="http://schemas.microsoft.com/office/drawing/2014/main" id="{515E52D9-F557-4680-A001-DEBA20F81296}"/>
                </a:ext>
              </a:extLst>
            </p:cNvPr>
            <p:cNvSpPr/>
            <p:nvPr/>
          </p:nvSpPr>
          <p:spPr>
            <a:xfrm>
              <a:off x="523973" y="1824440"/>
              <a:ext cx="2880000" cy="612245"/>
            </a:xfrm>
            <a:prstGeom prst="roundRect">
              <a:avLst/>
            </a:prstGeom>
            <a:solidFill>
              <a:schemeClr val="accent6">
                <a:lumMod val="60000"/>
                <a:lumOff val="40000"/>
              </a:schemeClr>
            </a:solidFill>
            <a:ln w="25400" cap="flat" cmpd="sng">
              <a:solidFill>
                <a:schemeClr val="accent6">
                  <a:lumMod val="60000"/>
                  <a:lumOff val="40000"/>
                </a:schemeClr>
              </a:solidFill>
              <a:prstDash val="solid"/>
              <a:round/>
            </a:ln>
          </p:spPr>
          <p:txBody>
            <a:bodyPr vert="horz" wrap="square" lIns="63500" tIns="63500" rIns="63500" bIns="63500" rtlCol="0" anchor="ctr"/>
            <a:lstStyle/>
            <a:p>
              <a:pPr algn="ctr"/>
              <a:endParaRPr lang="zh-CN" altLang="en-US">
                <a:sym typeface="Calibri" panose="020F0502020204030204"/>
              </a:endParaRPr>
            </a:p>
          </p:txBody>
        </p:sp>
        <p:sp>
          <p:nvSpPr>
            <p:cNvPr id="65" name="AutoShape 6">
              <a:extLst>
                <a:ext uri="{FF2B5EF4-FFF2-40B4-BE49-F238E27FC236}">
                  <a16:creationId xmlns:a16="http://schemas.microsoft.com/office/drawing/2014/main" id="{7DE02772-4273-4624-BF92-5BC126192B79}"/>
                </a:ext>
              </a:extLst>
            </p:cNvPr>
            <p:cNvSpPr/>
            <p:nvPr/>
          </p:nvSpPr>
          <p:spPr>
            <a:xfrm>
              <a:off x="842038" y="1870794"/>
              <a:ext cx="2232000" cy="508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zh-CN" altLang="en-US" b="1">
                  <a:solidFill>
                    <a:schemeClr val="bg1"/>
                  </a:solidFill>
                  <a:effectLst>
                    <a:outerShdw blurRad="50800" dist="38100" dir="2700000" algn="tl" rotWithShape="0">
                      <a:prstClr val="black">
                        <a:alpha val="40000"/>
                      </a:prstClr>
                    </a:outerShdw>
                  </a:effectLst>
                  <a:latin typeface="Arial" panose="020B0604020202090204"/>
                  <a:cs typeface="Arial" panose="020B0604020202090204"/>
                </a:rPr>
                <a:t>国家安全</a:t>
              </a:r>
              <a:r>
                <a:rPr lang="en-US" b="1" i="0" u="none" strike="noStrike">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机关</a:t>
              </a:r>
              <a:endParaRPr lang="en-US" b="1">
                <a:solidFill>
                  <a:schemeClr val="bg1"/>
                </a:solidFill>
                <a:effectLst>
                  <a:outerShdw blurRad="50800" dist="38100" dir="2700000" algn="tl" rotWithShape="0">
                    <a:prstClr val="black">
                      <a:alpha val="40000"/>
                    </a:prstClr>
                  </a:outerShdw>
                </a:effectLst>
              </a:endParaRPr>
            </a:p>
            <a:p>
              <a:pPr indent="0" algn="ctr">
                <a:lnSpc>
                  <a:spcPct val="100000"/>
                </a:lnSpc>
              </a:pPr>
              <a:r>
                <a:rPr lang="en-US" sz="1400" b="1" i="0" u="none" strike="noStrike">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人民警察</a:t>
              </a:r>
            </a:p>
          </p:txBody>
        </p:sp>
      </p:grpSp>
      <p:sp>
        <p:nvSpPr>
          <p:cNvPr id="67" name="AutoShape 4">
            <a:extLst>
              <a:ext uri="{FF2B5EF4-FFF2-40B4-BE49-F238E27FC236}">
                <a16:creationId xmlns:a16="http://schemas.microsoft.com/office/drawing/2014/main" id="{407FA1B4-B65D-49EC-8195-31E9D8CC9BFC}"/>
              </a:ext>
            </a:extLst>
          </p:cNvPr>
          <p:cNvSpPr/>
          <p:nvPr/>
        </p:nvSpPr>
        <p:spPr>
          <a:xfrm>
            <a:off x="6105616" y="1786743"/>
            <a:ext cx="2694447" cy="3662812"/>
          </a:xfrm>
          <a:prstGeom prst="roundRect">
            <a:avLst>
              <a:gd name="adj" fmla="val 3797"/>
            </a:avLst>
          </a:prstGeom>
          <a:solidFill>
            <a:srgbClr val="FFFFFF">
              <a:alpha val="100000"/>
            </a:srgbClr>
          </a:solidFill>
          <a:ln w="25400" cap="flat" cmpd="sng">
            <a:solidFill>
              <a:schemeClr val="accent2">
                <a:lumMod val="60000"/>
                <a:lumOff val="40000"/>
              </a:schemeClr>
            </a:solidFill>
            <a:prstDash val="solid"/>
            <a:miter lim="10000000"/>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68" name="AutoShape 7">
            <a:extLst>
              <a:ext uri="{FF2B5EF4-FFF2-40B4-BE49-F238E27FC236}">
                <a16:creationId xmlns:a16="http://schemas.microsoft.com/office/drawing/2014/main" id="{846490A9-9BB4-417A-BF29-A427DEC6EFCD}"/>
              </a:ext>
            </a:extLst>
          </p:cNvPr>
          <p:cNvSpPr/>
          <p:nvPr/>
        </p:nvSpPr>
        <p:spPr>
          <a:xfrm>
            <a:off x="6357855" y="2504711"/>
            <a:ext cx="2088197" cy="1212651"/>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17000"/>
              </a:lnSpc>
            </a:pPr>
            <a:r>
              <a:rPr lang="zh-CN" altLang="en-US" sz="1400" b="1"/>
              <a:t>监狱、戒毒执法力量</a:t>
            </a:r>
            <a:br>
              <a:rPr lang="zh-CN" altLang="en-US" sz="1400"/>
            </a:br>
            <a:endParaRPr lang="en-US" altLang="zh-CN" sz="14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r>
              <a:rPr lang="zh-CN" altLang="en-US" sz="1200"/>
              <a:t>监狱管理</a:t>
            </a:r>
            <a:br>
              <a:rPr lang="zh-CN" altLang="en-US" sz="1200"/>
            </a:br>
            <a:r>
              <a:rPr lang="zh-CN" altLang="en-US" sz="1200"/>
              <a:t>教育改造与戒治矫治</a:t>
            </a:r>
            <a:endParaRPr lang="en-US" sz="1400" b="0" i="0" u="none" strike="noStrike">
              <a:solidFill>
                <a:srgbClr val="1E293B"/>
              </a:solidFill>
              <a:latin typeface="Noto Sans SC"/>
              <a:ea typeface="Noto Sans SC"/>
              <a:cs typeface="Noto Sans SC"/>
              <a:sym typeface="Noto Sans SC"/>
            </a:endParaRPr>
          </a:p>
        </p:txBody>
      </p:sp>
      <p:sp>
        <p:nvSpPr>
          <p:cNvPr id="69" name="矩形: 圆角 68">
            <a:extLst>
              <a:ext uri="{FF2B5EF4-FFF2-40B4-BE49-F238E27FC236}">
                <a16:creationId xmlns:a16="http://schemas.microsoft.com/office/drawing/2014/main" id="{34B50A16-A0AA-40BA-8665-19E386BEA7C9}"/>
              </a:ext>
            </a:extLst>
          </p:cNvPr>
          <p:cNvSpPr/>
          <p:nvPr/>
        </p:nvSpPr>
        <p:spPr>
          <a:xfrm>
            <a:off x="6111169" y="1811002"/>
            <a:ext cx="2694447" cy="612245"/>
          </a:xfrm>
          <a:prstGeom prst="roundRect">
            <a:avLst/>
          </a:prstGeom>
          <a:solidFill>
            <a:schemeClr val="accent2">
              <a:lumMod val="60000"/>
              <a:lumOff val="40000"/>
            </a:schemeClr>
          </a:solidFill>
          <a:ln w="25400" cap="flat" cmpd="sng">
            <a:solidFill>
              <a:schemeClr val="accent2">
                <a:lumMod val="60000"/>
                <a:lumOff val="40000"/>
              </a:schemeClr>
            </a:solidFill>
            <a:prstDash val="solid"/>
            <a:round/>
          </a:ln>
        </p:spPr>
        <p:txBody>
          <a:bodyPr vert="horz" wrap="square" lIns="63500" tIns="63500" rIns="63500" bIns="63500" rtlCol="0" anchor="ctr"/>
          <a:lstStyle/>
          <a:p>
            <a:pPr algn="ctr"/>
            <a:endParaRPr lang="zh-CN" altLang="en-US">
              <a:sym typeface="Calibri" panose="020F0502020204030204"/>
            </a:endParaRPr>
          </a:p>
        </p:txBody>
      </p:sp>
      <p:sp>
        <p:nvSpPr>
          <p:cNvPr id="70" name="AutoShape 6">
            <a:extLst>
              <a:ext uri="{FF2B5EF4-FFF2-40B4-BE49-F238E27FC236}">
                <a16:creationId xmlns:a16="http://schemas.microsoft.com/office/drawing/2014/main" id="{DE764CCF-2B33-4CEA-974C-00CB3EBAB716}"/>
              </a:ext>
            </a:extLst>
          </p:cNvPr>
          <p:cNvSpPr/>
          <p:nvPr/>
        </p:nvSpPr>
        <p:spPr>
          <a:xfrm>
            <a:off x="6408741" y="1857356"/>
            <a:ext cx="2088197" cy="508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zh-CN" altLang="en-US" b="1">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司法行政</a:t>
            </a:r>
            <a:r>
              <a:rPr lang="en-US" b="1" i="0" u="none" strike="noStrike">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机关</a:t>
            </a:r>
            <a:endParaRPr lang="en-US" b="1">
              <a:solidFill>
                <a:schemeClr val="bg1"/>
              </a:solidFill>
              <a:effectLst>
                <a:outerShdw blurRad="50800" dist="38100" dir="2700000" algn="tl" rotWithShape="0">
                  <a:prstClr val="black">
                    <a:alpha val="40000"/>
                  </a:prstClr>
                </a:outerShdw>
              </a:effectLst>
            </a:endParaRPr>
          </a:p>
          <a:p>
            <a:pPr indent="0" algn="ctr">
              <a:lnSpc>
                <a:spcPct val="100000"/>
              </a:lnSpc>
            </a:pPr>
            <a:r>
              <a:rPr lang="en-US" sz="1400" b="1" i="0" u="none" strike="noStrike">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人民警察</a:t>
            </a:r>
          </a:p>
        </p:txBody>
      </p:sp>
      <p:sp>
        <p:nvSpPr>
          <p:cNvPr id="72" name="AutoShape 4">
            <a:extLst>
              <a:ext uri="{FF2B5EF4-FFF2-40B4-BE49-F238E27FC236}">
                <a16:creationId xmlns:a16="http://schemas.microsoft.com/office/drawing/2014/main" id="{3137FDF0-A34A-4ACC-B0BA-9EAFDAEBF58F}"/>
              </a:ext>
            </a:extLst>
          </p:cNvPr>
          <p:cNvSpPr/>
          <p:nvPr/>
        </p:nvSpPr>
        <p:spPr>
          <a:xfrm>
            <a:off x="8897099" y="1806132"/>
            <a:ext cx="2694447" cy="3662812"/>
          </a:xfrm>
          <a:prstGeom prst="roundRect">
            <a:avLst>
              <a:gd name="adj" fmla="val 3797"/>
            </a:avLst>
          </a:prstGeom>
          <a:solidFill>
            <a:srgbClr val="FFFFFF">
              <a:alpha val="100000"/>
            </a:srgbClr>
          </a:solidFill>
          <a:ln w="25400" cap="flat" cmpd="sng">
            <a:solidFill>
              <a:schemeClr val="accent4">
                <a:lumMod val="60000"/>
                <a:lumOff val="40000"/>
              </a:schemeClr>
            </a:solidFill>
            <a:prstDash val="solid"/>
            <a:miter lim="10000000"/>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73" name="AutoShape 7">
            <a:extLst>
              <a:ext uri="{FF2B5EF4-FFF2-40B4-BE49-F238E27FC236}">
                <a16:creationId xmlns:a16="http://schemas.microsoft.com/office/drawing/2014/main" id="{DB57624D-9CE5-4001-97C6-E1DF6B67C99E}"/>
              </a:ext>
            </a:extLst>
          </p:cNvPr>
          <p:cNvSpPr/>
          <p:nvPr/>
        </p:nvSpPr>
        <p:spPr>
          <a:xfrm>
            <a:off x="9149338" y="2506304"/>
            <a:ext cx="2088197" cy="1212651"/>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a:lnSpc>
                <a:spcPct val="117000"/>
              </a:lnSpc>
            </a:pPr>
            <a:r>
              <a:rPr lang="zh-CN" altLang="en-US" sz="1400" b="1"/>
              <a:t>司法活动保障力量</a:t>
            </a:r>
            <a:br>
              <a:rPr lang="zh-CN" altLang="en-US" sz="1400" b="1"/>
            </a:br>
            <a:endParaRPr lang="en-US" altLang="zh-CN" sz="1400" b="1"/>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endParaRPr lang="en-US" altLang="zh-CN" sz="1200"/>
          </a:p>
          <a:p>
            <a:pPr indent="0" algn="ctr">
              <a:lnSpc>
                <a:spcPct val="117000"/>
              </a:lnSpc>
            </a:pPr>
            <a:r>
              <a:rPr lang="zh-CN" altLang="en-US" sz="1200"/>
              <a:t>法庭警卫、押解看管</a:t>
            </a:r>
            <a:br>
              <a:rPr lang="zh-CN" altLang="en-US" sz="1200"/>
            </a:br>
            <a:r>
              <a:rPr lang="zh-CN" altLang="en-US" sz="1200"/>
              <a:t>协助办案与秩序维护</a:t>
            </a:r>
            <a:endParaRPr lang="en-US" sz="1400" b="0" i="0" u="none" strike="noStrike">
              <a:solidFill>
                <a:srgbClr val="1E293B"/>
              </a:solidFill>
              <a:latin typeface="Noto Sans SC"/>
              <a:ea typeface="Noto Sans SC"/>
              <a:cs typeface="Noto Sans SC"/>
              <a:sym typeface="Noto Sans SC"/>
            </a:endParaRPr>
          </a:p>
        </p:txBody>
      </p:sp>
      <p:sp>
        <p:nvSpPr>
          <p:cNvPr id="74" name="矩形: 圆角 73">
            <a:extLst>
              <a:ext uri="{FF2B5EF4-FFF2-40B4-BE49-F238E27FC236}">
                <a16:creationId xmlns:a16="http://schemas.microsoft.com/office/drawing/2014/main" id="{D32E7E5B-E92B-4D93-915C-56928843779D}"/>
              </a:ext>
            </a:extLst>
          </p:cNvPr>
          <p:cNvSpPr/>
          <p:nvPr/>
        </p:nvSpPr>
        <p:spPr>
          <a:xfrm>
            <a:off x="8902652" y="1812595"/>
            <a:ext cx="2694447" cy="612245"/>
          </a:xfrm>
          <a:prstGeom prst="roundRect">
            <a:avLst/>
          </a:prstGeom>
          <a:solidFill>
            <a:schemeClr val="accent4">
              <a:lumMod val="60000"/>
              <a:lumOff val="40000"/>
            </a:schemeClr>
          </a:solidFill>
          <a:ln w="25400" cap="flat" cmpd="sng">
            <a:solidFill>
              <a:schemeClr val="accent4">
                <a:lumMod val="60000"/>
                <a:lumOff val="40000"/>
              </a:schemeClr>
            </a:solidFill>
            <a:prstDash val="solid"/>
            <a:round/>
          </a:ln>
        </p:spPr>
        <p:txBody>
          <a:bodyPr vert="horz" wrap="square" lIns="63500" tIns="63500" rIns="63500" bIns="63500" rtlCol="0" anchor="ctr"/>
          <a:lstStyle/>
          <a:p>
            <a:pPr algn="ctr"/>
            <a:endParaRPr lang="zh-CN" altLang="en-US">
              <a:sym typeface="Calibri" panose="020F0502020204030204"/>
            </a:endParaRPr>
          </a:p>
        </p:txBody>
      </p:sp>
      <p:sp>
        <p:nvSpPr>
          <p:cNvPr id="75" name="AutoShape 6">
            <a:extLst>
              <a:ext uri="{FF2B5EF4-FFF2-40B4-BE49-F238E27FC236}">
                <a16:creationId xmlns:a16="http://schemas.microsoft.com/office/drawing/2014/main" id="{B48DB57C-9BCB-4237-89FD-462A0B6114C8}"/>
              </a:ext>
            </a:extLst>
          </p:cNvPr>
          <p:cNvSpPr/>
          <p:nvPr/>
        </p:nvSpPr>
        <p:spPr>
          <a:xfrm>
            <a:off x="9200224" y="1858949"/>
            <a:ext cx="2088197" cy="508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indent="0" algn="ctr">
              <a:lnSpc>
                <a:spcPct val="100000"/>
              </a:lnSpc>
              <a:defRPr/>
            </a:pPr>
            <a:r>
              <a:rPr lang="zh-CN" altLang="en-US" b="1">
                <a:solidFill>
                  <a:schemeClr val="bg1"/>
                </a:solidFill>
                <a:effectLst>
                  <a:outerShdw blurRad="50800" dist="38100" dir="2700000" algn="tl" rotWithShape="0">
                    <a:prstClr val="black">
                      <a:alpha val="40000"/>
                    </a:prstClr>
                  </a:outerShdw>
                </a:effectLst>
                <a:latin typeface="Arial" panose="020B0604020202090204"/>
                <a:cs typeface="Arial" panose="020B0604020202090204"/>
                <a:sym typeface="Arial" panose="020B0604020202090204"/>
              </a:rPr>
              <a:t>法院</a:t>
            </a:r>
            <a:r>
              <a:rPr lang="en-US" altLang="zh-CN" b="1">
                <a:solidFill>
                  <a:schemeClr val="bg1"/>
                </a:solidFill>
                <a:effectLst>
                  <a:outerShdw blurRad="50800" dist="38100" dir="2700000" algn="tl" rotWithShape="0">
                    <a:prstClr val="black">
                      <a:alpha val="40000"/>
                    </a:prstClr>
                  </a:outerShdw>
                </a:effectLst>
                <a:latin typeface="Arial" panose="020B0604020202090204"/>
                <a:cs typeface="Arial" panose="020B0604020202090204"/>
                <a:sym typeface="Arial" panose="020B0604020202090204"/>
              </a:rPr>
              <a:t>/</a:t>
            </a:r>
            <a:r>
              <a:rPr lang="zh-CN" altLang="en-US" b="1">
                <a:solidFill>
                  <a:schemeClr val="bg1"/>
                </a:solidFill>
                <a:effectLst>
                  <a:outerShdw blurRad="50800" dist="38100" dir="2700000" algn="tl" rotWithShape="0">
                    <a:prstClr val="black">
                      <a:alpha val="40000"/>
                    </a:prstClr>
                  </a:outerShdw>
                </a:effectLst>
                <a:latin typeface="Arial" panose="020B0604020202090204"/>
                <a:cs typeface="Arial" panose="020B0604020202090204"/>
                <a:sym typeface="Arial" panose="020B0604020202090204"/>
              </a:rPr>
              <a:t>检察院</a:t>
            </a:r>
            <a:endParaRPr lang="en-US" b="1">
              <a:solidFill>
                <a:schemeClr val="bg1"/>
              </a:solidFill>
              <a:effectLst>
                <a:outerShdw blurRad="50800" dist="38100" dir="2700000" algn="tl" rotWithShape="0">
                  <a:prstClr val="black">
                    <a:alpha val="40000"/>
                  </a:prstClr>
                </a:outerShdw>
              </a:effectLst>
            </a:endParaRPr>
          </a:p>
          <a:p>
            <a:pPr indent="0" algn="ctr">
              <a:lnSpc>
                <a:spcPct val="100000"/>
              </a:lnSpc>
            </a:pPr>
            <a:r>
              <a:rPr lang="en-US" sz="1400" b="1" i="0" u="none" strike="noStrike">
                <a:solidFill>
                  <a:schemeClr val="bg1"/>
                </a:solidFill>
                <a:effectLst>
                  <a:outerShdw blurRad="50800" dist="38100" dir="2700000" algn="tl" rotWithShape="0">
                    <a:prstClr val="black">
                      <a:alpha val="40000"/>
                    </a:prstClr>
                  </a:outerShdw>
                </a:effectLst>
                <a:latin typeface="Arial" panose="020B0604020202090204"/>
                <a:ea typeface="Arial" panose="020B0604020202090204"/>
                <a:cs typeface="Arial" panose="020B0604020202090204"/>
                <a:sym typeface="Arial" panose="020B0604020202090204"/>
              </a:rPr>
              <a:t>人民警察</a:t>
            </a:r>
          </a:p>
        </p:txBody>
      </p:sp>
      <p:pic>
        <p:nvPicPr>
          <p:cNvPr id="1028" name="Picture 4" descr="中华人民共和国司法部">
            <a:extLst>
              <a:ext uri="{FF2B5EF4-FFF2-40B4-BE49-F238E27FC236}">
                <a16:creationId xmlns:a16="http://schemas.microsoft.com/office/drawing/2014/main" id="{417B5F18-1145-4EC4-8347-58313E51C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8974" y="3099152"/>
            <a:ext cx="2487730" cy="1399348"/>
          </a:xfrm>
          <a:prstGeom prst="rect">
            <a:avLst/>
          </a:prstGeom>
          <a:noFill/>
          <a:effectLst>
            <a:outerShdw blurRad="50800" dist="50800" dir="5400000" algn="ctr" rotWithShape="0">
              <a:srgbClr val="000000">
                <a:alpha val="11000"/>
              </a:srgbClr>
            </a:outerShdw>
            <a:softEdge rad="12700"/>
          </a:effectLst>
          <a:extLst>
            <a:ext uri="{909E8E84-426E-40DD-AFC4-6F175D3DCCD1}">
              <a14:hiddenFill xmlns:a14="http://schemas.microsoft.com/office/drawing/2010/main">
                <a:solidFill>
                  <a:srgbClr val="FFFFFF"/>
                </a:solidFill>
              </a14:hiddenFill>
            </a:ext>
          </a:extLst>
        </p:spPr>
      </p:pic>
      <p:pic>
        <p:nvPicPr>
          <p:cNvPr id="1032" name="Picture 8" descr="检察院里的别样“警”色_中华人民共和国最高人民检察院">
            <a:extLst>
              <a:ext uri="{FF2B5EF4-FFF2-40B4-BE49-F238E27FC236}">
                <a16:creationId xmlns:a16="http://schemas.microsoft.com/office/drawing/2014/main" id="{617E6E37-B8E9-4F9F-B652-0E46185E6C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4439" y="2984672"/>
            <a:ext cx="2265329" cy="1512543"/>
          </a:xfrm>
          <a:prstGeom prst="rect">
            <a:avLst/>
          </a:prstGeom>
          <a:noFill/>
          <a:effectLst>
            <a:outerShdw blurRad="50800" dist="50800" dir="5400000" algn="ctr" rotWithShape="0">
              <a:srgbClr val="000000">
                <a:alpha val="11000"/>
              </a:srgbClr>
            </a:outerShdw>
            <a:softEdge rad="12700"/>
          </a:effectLst>
          <a:extLst>
            <a:ext uri="{909E8E84-426E-40DD-AFC4-6F175D3DCCD1}">
              <a14:hiddenFill xmlns:a14="http://schemas.microsoft.com/office/drawing/2010/main">
                <a:solidFill>
                  <a:srgbClr val="FFFFFF"/>
                </a:solidFill>
              </a14:hiddenFill>
            </a:ext>
          </a:extLst>
        </p:spPr>
      </p:pic>
      <p:sp>
        <p:nvSpPr>
          <p:cNvPr id="40" name="AutoShape 10" descr="公安部统一部署全国公安机关通过多种方式庆祝第三个中国人民警察节_荔枝网新闻">
            <a:extLst>
              <a:ext uri="{FF2B5EF4-FFF2-40B4-BE49-F238E27FC236}">
                <a16:creationId xmlns:a16="http://schemas.microsoft.com/office/drawing/2014/main" id="{C94ED25E-0587-4B7F-8F19-4BB98970EFF0}"/>
              </a:ext>
            </a:extLst>
          </p:cNvPr>
          <p:cNvSpPr>
            <a:spLocks noChangeAspect="1" noChangeArrowheads="1"/>
          </p:cNvSpPr>
          <p:nvPr/>
        </p:nvSpPr>
        <p:spPr bwMode="auto">
          <a:xfrm>
            <a:off x="6397995" y="324194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AutoShape 12" descr="全省公安机关组织开展系列活动隆重庆祝第三个中国人民警察节">
            <a:extLst>
              <a:ext uri="{FF2B5EF4-FFF2-40B4-BE49-F238E27FC236}">
                <a16:creationId xmlns:a16="http://schemas.microsoft.com/office/drawing/2014/main" id="{9B5459EE-9DEA-4270-8BD9-3DF0036F43B3}"/>
              </a:ext>
            </a:extLst>
          </p:cNvPr>
          <p:cNvSpPr>
            <a:spLocks noChangeAspect="1" noChangeArrowheads="1"/>
          </p:cNvSpPr>
          <p:nvPr/>
        </p:nvSpPr>
        <p:spPr bwMode="auto">
          <a:xfrm>
            <a:off x="6550395" y="339434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38" name="Picture 14">
            <a:extLst>
              <a:ext uri="{FF2B5EF4-FFF2-40B4-BE49-F238E27FC236}">
                <a16:creationId xmlns:a16="http://schemas.microsoft.com/office/drawing/2014/main" id="{3D2A0B86-5D6D-4D7E-A3DE-296E2AEF24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1020" y="3076707"/>
            <a:ext cx="2482075" cy="1375779"/>
          </a:xfrm>
          <a:prstGeom prst="rect">
            <a:avLst/>
          </a:prstGeom>
          <a:noFill/>
          <a:effectLst>
            <a:outerShdw blurRad="50800" dist="50800" dir="5400000" algn="ctr" rotWithShape="0">
              <a:srgbClr val="000000">
                <a:alpha val="11000"/>
              </a:srgbClr>
            </a:outerShdw>
            <a:softEdge rad="12700"/>
          </a:effectLst>
          <a:extLst>
            <a:ext uri="{909E8E84-426E-40DD-AFC4-6F175D3DCCD1}">
              <a14:hiddenFill xmlns:a14="http://schemas.microsoft.com/office/drawing/2010/main">
                <a:solidFill>
                  <a:srgbClr val="FFFFFF"/>
                </a:solidFill>
              </a14:hiddenFill>
            </a:ext>
          </a:extLst>
        </p:spPr>
      </p:pic>
      <p:pic>
        <p:nvPicPr>
          <p:cNvPr id="10" name="图形 9" descr="线箭头: 顺时针曲线 纯色填充">
            <a:extLst>
              <a:ext uri="{FF2B5EF4-FFF2-40B4-BE49-F238E27FC236}">
                <a16:creationId xmlns:a16="http://schemas.microsoft.com/office/drawing/2014/main" id="{B0CA470A-260C-4ECB-887F-67C57260FB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20457333">
            <a:off x="2345889" y="5356676"/>
            <a:ext cx="914400" cy="914400"/>
          </a:xfrm>
          <a:prstGeom prst="rect">
            <a:avLst/>
          </a:prstGeom>
        </p:spPr>
      </p:pic>
    </p:spTree>
    <p:extLst>
      <p:ext uri="{BB962C8B-B14F-4D97-AF65-F5344CB8AC3E}">
        <p14:creationId xmlns:p14="http://schemas.microsoft.com/office/powerpoint/2010/main" val="220447071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8A87FFEA-E2AB-480A-AFC8-EB53D5C8C968}"/>
              </a:ext>
            </a:extLst>
          </p:cNvPr>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直角三角形 2">
            <a:extLst>
              <a:ext uri="{FF2B5EF4-FFF2-40B4-BE49-F238E27FC236}">
                <a16:creationId xmlns:a16="http://schemas.microsoft.com/office/drawing/2014/main" id="{9E1643DE-BB57-4A86-8EE3-02273D8E8E74}"/>
              </a:ext>
            </a:extLst>
          </p:cNvPr>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直角三角形 3">
            <a:extLst>
              <a:ext uri="{FF2B5EF4-FFF2-40B4-BE49-F238E27FC236}">
                <a16:creationId xmlns:a16="http://schemas.microsoft.com/office/drawing/2014/main" id="{F793F7C0-623D-4485-8628-5C7CF4B4B46A}"/>
              </a:ext>
            </a:extLst>
          </p:cNvPr>
          <p:cNvSpPr/>
          <p:nvPr/>
        </p:nvSpPr>
        <p:spPr>
          <a:xfrm>
            <a:off x="0" y="3336830"/>
            <a:ext cx="3019647" cy="3562788"/>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cxnSp>
        <p:nvCxnSpPr>
          <p:cNvPr id="6" name="直接箭头连接符 5">
            <a:extLst>
              <a:ext uri="{FF2B5EF4-FFF2-40B4-BE49-F238E27FC236}">
                <a16:creationId xmlns:a16="http://schemas.microsoft.com/office/drawing/2014/main" id="{D3127B99-58E7-43A5-953E-6F4F7358916F}"/>
              </a:ext>
            </a:extLst>
          </p:cNvPr>
          <p:cNvCxnSpPr/>
          <p:nvPr/>
        </p:nvCxnSpPr>
        <p:spPr>
          <a:xfrm>
            <a:off x="765544" y="1127051"/>
            <a:ext cx="10299405" cy="0"/>
          </a:xfrm>
          <a:prstGeom prst="straightConnector1">
            <a:avLst/>
          </a:prstGeom>
          <a:noFill/>
          <a:ln w="25400" cap="flat">
            <a:solidFill>
              <a:schemeClr val="bg1">
                <a:lumMod val="50000"/>
              </a:schemeClr>
            </a:solidFill>
            <a:prstDash val="solid"/>
            <a:miter lim="800000"/>
            <a:tailEnd type="triangle"/>
          </a:ln>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D4ADD0BF-410C-4205-962A-9F6E04C5EE0F}"/>
              </a:ext>
            </a:extLst>
          </p:cNvPr>
          <p:cNvSpPr txBox="1"/>
          <p:nvPr/>
        </p:nvSpPr>
        <p:spPr>
          <a:xfrm>
            <a:off x="836428" y="269358"/>
            <a:ext cx="9909221" cy="70788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4000" b="1">
                <a:solidFill>
                  <a:srgbClr val="000000"/>
                </a:solidFill>
                <a:latin typeface="微软雅黑" panose="020B0503020204020204" charset="-122"/>
                <a:ea typeface="微软雅黑" panose="020B0503020204020204" charset="-122"/>
                <a:sym typeface="Calibri" panose="020F0502020204030204"/>
              </a:rPr>
              <a:t>公安机关内部警种</a:t>
            </a:r>
          </a:p>
        </p:txBody>
      </p:sp>
      <p:grpSp>
        <p:nvGrpSpPr>
          <p:cNvPr id="11" name="组合 10">
            <a:extLst>
              <a:ext uri="{FF2B5EF4-FFF2-40B4-BE49-F238E27FC236}">
                <a16:creationId xmlns:a16="http://schemas.microsoft.com/office/drawing/2014/main" id="{9E41EAD7-36DE-424D-8816-5F29B0440659}"/>
              </a:ext>
            </a:extLst>
          </p:cNvPr>
          <p:cNvGrpSpPr/>
          <p:nvPr/>
        </p:nvGrpSpPr>
        <p:grpSpPr>
          <a:xfrm>
            <a:off x="517205" y="1308931"/>
            <a:ext cx="5220000" cy="2042217"/>
            <a:chOff x="765543" y="1252992"/>
            <a:chExt cx="2729371" cy="2042217"/>
          </a:xfrm>
        </p:grpSpPr>
        <p:sp>
          <p:nvSpPr>
            <p:cNvPr id="7" name="AutoShape 3">
              <a:extLst>
                <a:ext uri="{FF2B5EF4-FFF2-40B4-BE49-F238E27FC236}">
                  <a16:creationId xmlns:a16="http://schemas.microsoft.com/office/drawing/2014/main" id="{02404B56-B623-4CFD-AB14-D1D67DA84FF8}"/>
                </a:ext>
              </a:extLst>
            </p:cNvPr>
            <p:cNvSpPr/>
            <p:nvPr/>
          </p:nvSpPr>
          <p:spPr>
            <a:xfrm>
              <a:off x="765544" y="1278793"/>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5" name="文本框 4">
              <a:extLst>
                <a:ext uri="{FF2B5EF4-FFF2-40B4-BE49-F238E27FC236}">
                  <a16:creationId xmlns:a16="http://schemas.microsoft.com/office/drawing/2014/main" id="{9D1093B4-6B66-4B9B-AB88-0523F221744A}"/>
                </a:ext>
              </a:extLst>
            </p:cNvPr>
            <p:cNvSpPr txBox="1"/>
            <p:nvPr/>
          </p:nvSpPr>
          <p:spPr>
            <a:xfrm>
              <a:off x="765543" y="1385625"/>
              <a:ext cx="2729371" cy="17851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000000"/>
                  </a:solidFill>
                  <a:effectLst/>
                  <a:uFillTx/>
                  <a:latin typeface="+mn-lt"/>
                  <a:ea typeface="+mn-ea"/>
                  <a:cs typeface="+mn-cs"/>
                  <a:sym typeface="Calibri" panose="020F0502020204030204"/>
                </a:rPr>
                <a:t>治安警察</a:t>
              </a:r>
              <a:endParaRPr kumimoji="0" lang="en-US" altLang="zh-CN" sz="2000" b="1" i="0" u="none" strike="noStrike" cap="none" spc="0" normalizeH="0" baseline="0">
                <a:ln>
                  <a:noFill/>
                </a:ln>
                <a:solidFill>
                  <a:srgbClr val="000000"/>
                </a:solidFill>
                <a:effectLst/>
                <a:uFillTx/>
                <a:latin typeface="+mn-lt"/>
                <a:ea typeface="+mn-ea"/>
                <a:cs typeface="+mn-cs"/>
                <a:sym typeface="Calibri" panose="020F0502020204030204"/>
              </a:endParaRPr>
            </a:p>
            <a:p>
              <a:pPr marL="0" marR="0" indent="0" algn="ctr" defTabSz="914400" rtl="0" fontAlgn="auto" latinLnBrk="0" hangingPunct="0">
                <a:lnSpc>
                  <a:spcPct val="100000"/>
                </a:lnSpc>
                <a:spcBef>
                  <a:spcPts val="0"/>
                </a:spcBef>
                <a:spcAft>
                  <a:spcPts val="0"/>
                </a:spcAft>
                <a:buClrTx/>
                <a:buSzTx/>
                <a:buFontTx/>
                <a:buNone/>
              </a:pPr>
              <a:r>
                <a:rPr lang="zh-CN" altLang="en-US"/>
                <a:t>负责公共秩序与常见治安问题</a:t>
              </a:r>
              <a:endParaRPr lang="en-US" altLang="zh-CN"/>
            </a:p>
            <a:p>
              <a:pPr marL="0" marR="0" indent="0" algn="ctr" defTabSz="914400" rtl="0" fontAlgn="auto" latinLnBrk="0" hangingPunct="0">
                <a:lnSpc>
                  <a:spcPct val="100000"/>
                </a:lnSpc>
                <a:spcBef>
                  <a:spcPts val="0"/>
                </a:spcBef>
                <a:spcAft>
                  <a:spcPts val="0"/>
                </a:spcAft>
                <a:buClrTx/>
                <a:buSzTx/>
                <a:buFontTx/>
                <a:buNone/>
              </a:pPr>
              <a:r>
                <a:rPr lang="en-US" altLang="zh-CN"/>
                <a:t>———————————</a:t>
              </a:r>
              <a:br>
                <a:rPr lang="zh-CN" altLang="en-US"/>
              </a:br>
              <a:r>
                <a:rPr lang="zh-CN" altLang="en-US"/>
                <a:t>宿舍纠纷、物品丢失、校园巡逻</a:t>
              </a:r>
              <a:endParaRPr kumimoji="0" lang="zh-CN" altLang="en-US" b="1"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AutoShape 3">
              <a:extLst>
                <a:ext uri="{FF2B5EF4-FFF2-40B4-BE49-F238E27FC236}">
                  <a16:creationId xmlns:a16="http://schemas.microsoft.com/office/drawing/2014/main" id="{3EEB167F-355E-4ABE-AC79-5AEEDB468DD1}"/>
                </a:ext>
              </a:extLst>
            </p:cNvPr>
            <p:cNvSpPr/>
            <p:nvPr/>
          </p:nvSpPr>
          <p:spPr>
            <a:xfrm>
              <a:off x="765544" y="1252992"/>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10" name="文本框 9">
              <a:extLst>
                <a:ext uri="{FF2B5EF4-FFF2-40B4-BE49-F238E27FC236}">
                  <a16:creationId xmlns:a16="http://schemas.microsoft.com/office/drawing/2014/main" id="{E890AE54-FDEC-4FD9-B83B-50336E0D75C4}"/>
                </a:ext>
              </a:extLst>
            </p:cNvPr>
            <p:cNvSpPr txBox="1"/>
            <p:nvPr/>
          </p:nvSpPr>
          <p:spPr>
            <a:xfrm>
              <a:off x="1844710" y="1493791"/>
              <a:ext cx="1542044" cy="17543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000000"/>
                  </a:solidFill>
                  <a:effectLst/>
                  <a:uFillTx/>
                  <a:latin typeface="+mn-lt"/>
                  <a:ea typeface="+mn-ea"/>
                  <a:cs typeface="+mn-cs"/>
                  <a:sym typeface="Calibri" panose="020F0502020204030204"/>
                </a:rPr>
                <a:t>治安警察</a:t>
              </a:r>
              <a:endParaRPr kumimoji="0" lang="en-US" altLang="zh-CN" sz="2000" b="1" i="0" u="none" strike="noStrike" cap="none" spc="0" normalizeH="0" baseline="0">
                <a:ln>
                  <a:noFill/>
                </a:ln>
                <a:solidFill>
                  <a:srgbClr val="000000"/>
                </a:solidFill>
                <a:effectLst/>
                <a:uFillTx/>
                <a:latin typeface="+mn-lt"/>
                <a:ea typeface="+mn-ea"/>
                <a:cs typeface="+mn-cs"/>
                <a:sym typeface="Calibri" panose="020F0502020204030204"/>
              </a:endParaRPr>
            </a:p>
            <a:p>
              <a:pPr marL="0" marR="0" indent="0" defTabSz="914400" rtl="0" fontAlgn="auto" latinLnBrk="0" hangingPunct="0">
                <a:lnSpc>
                  <a:spcPct val="100000"/>
                </a:lnSpc>
                <a:spcBef>
                  <a:spcPts val="0"/>
                </a:spcBef>
                <a:spcAft>
                  <a:spcPts val="0"/>
                </a:spcAft>
                <a:buClrTx/>
                <a:buSzTx/>
                <a:buFontTx/>
                <a:buNone/>
              </a:pPr>
              <a:endParaRPr kumimoji="0" lang="en-US" altLang="zh-CN" sz="2000" b="1" i="0" u="none" strike="noStrike" cap="none" spc="0" normalizeH="0" baseline="0">
                <a:ln>
                  <a:noFill/>
                </a:ln>
                <a:solidFill>
                  <a:srgbClr val="000000"/>
                </a:solidFill>
                <a:effectLst/>
                <a:uFillTx/>
                <a:latin typeface="+mn-lt"/>
                <a:ea typeface="+mn-ea"/>
                <a:cs typeface="+mn-cs"/>
                <a:sym typeface="Calibri" panose="020F0502020204030204"/>
              </a:endParaRPr>
            </a:p>
            <a:p>
              <a:pPr marL="0" marR="0" indent="0" defTabSz="914400" rtl="0" fontAlgn="auto" latinLnBrk="0" hangingPunct="0">
                <a:lnSpc>
                  <a:spcPct val="100000"/>
                </a:lnSpc>
                <a:spcBef>
                  <a:spcPts val="0"/>
                </a:spcBef>
                <a:spcAft>
                  <a:spcPts val="0"/>
                </a:spcAft>
                <a:buClrTx/>
                <a:buSzTx/>
                <a:buFontTx/>
                <a:buNone/>
              </a:pPr>
              <a:r>
                <a:rPr lang="zh-CN" altLang="en-US"/>
                <a:t>负责公共秩序与治安问题</a:t>
              </a:r>
              <a:endParaRPr lang="en-US" altLang="zh-CN"/>
            </a:p>
            <a:p>
              <a:pPr marL="0" marR="0" indent="0" defTabSz="914400" rtl="0" fontAlgn="auto" latinLnBrk="0" hangingPunct="0">
                <a:lnSpc>
                  <a:spcPct val="100000"/>
                </a:lnSpc>
                <a:spcBef>
                  <a:spcPts val="0"/>
                </a:spcBef>
                <a:spcAft>
                  <a:spcPts val="0"/>
                </a:spcAft>
                <a:buClrTx/>
                <a:buSzTx/>
                <a:buFontTx/>
                <a:buNone/>
              </a:pPr>
              <a:r>
                <a:rPr lang="en-US" altLang="zh-CN"/>
                <a:t>———————————</a:t>
              </a:r>
              <a:br>
                <a:rPr lang="zh-CN" altLang="en-US"/>
              </a:br>
              <a:r>
                <a:rPr lang="zh-CN" altLang="en-US" sz="1600">
                  <a:solidFill>
                    <a:schemeClr val="tx1">
                      <a:lumMod val="65000"/>
                      <a:lumOff val="35000"/>
                    </a:schemeClr>
                  </a:solidFill>
                </a:rPr>
                <a:t>宿舍纠纷、物品丢失、校园巡逻</a:t>
              </a:r>
              <a:endParaRPr kumimoji="0" lang="zh-CN" altLang="en-US" b="1" i="0" u="none" strike="noStrike" cap="none" spc="0" normalizeH="0" baseline="0">
                <a:ln>
                  <a:noFill/>
                </a:ln>
                <a:solidFill>
                  <a:schemeClr val="tx1">
                    <a:lumMod val="65000"/>
                    <a:lumOff val="35000"/>
                  </a:schemeClr>
                </a:solidFill>
                <a:effectLst/>
                <a:uFillTx/>
                <a:latin typeface="+mn-lt"/>
                <a:ea typeface="+mn-ea"/>
                <a:cs typeface="+mn-cs"/>
                <a:sym typeface="Calibri" panose="020F0502020204030204"/>
              </a:endParaRPr>
            </a:p>
          </p:txBody>
        </p:sp>
      </p:grpSp>
      <p:grpSp>
        <p:nvGrpSpPr>
          <p:cNvPr id="12" name="组合 11">
            <a:extLst>
              <a:ext uri="{FF2B5EF4-FFF2-40B4-BE49-F238E27FC236}">
                <a16:creationId xmlns:a16="http://schemas.microsoft.com/office/drawing/2014/main" id="{0014319B-E2EE-459F-9BB0-F25FA93BBE29}"/>
              </a:ext>
            </a:extLst>
          </p:cNvPr>
          <p:cNvGrpSpPr/>
          <p:nvPr/>
        </p:nvGrpSpPr>
        <p:grpSpPr>
          <a:xfrm>
            <a:off x="517205" y="3604426"/>
            <a:ext cx="5220000" cy="2042217"/>
            <a:chOff x="765543" y="1252992"/>
            <a:chExt cx="2729371" cy="2042217"/>
          </a:xfrm>
        </p:grpSpPr>
        <p:sp>
          <p:nvSpPr>
            <p:cNvPr id="13" name="AutoShape 3">
              <a:extLst>
                <a:ext uri="{FF2B5EF4-FFF2-40B4-BE49-F238E27FC236}">
                  <a16:creationId xmlns:a16="http://schemas.microsoft.com/office/drawing/2014/main" id="{4019A0B6-A0C0-4B02-9924-5B7D2B032DD7}"/>
                </a:ext>
              </a:extLst>
            </p:cNvPr>
            <p:cNvSpPr/>
            <p:nvPr/>
          </p:nvSpPr>
          <p:spPr>
            <a:xfrm>
              <a:off x="765544" y="1278793"/>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14" name="文本框 13">
              <a:extLst>
                <a:ext uri="{FF2B5EF4-FFF2-40B4-BE49-F238E27FC236}">
                  <a16:creationId xmlns:a16="http://schemas.microsoft.com/office/drawing/2014/main" id="{F89D9205-9B53-4679-AB37-CBD08D560E5A}"/>
                </a:ext>
              </a:extLst>
            </p:cNvPr>
            <p:cNvSpPr txBox="1"/>
            <p:nvPr/>
          </p:nvSpPr>
          <p:spPr>
            <a:xfrm>
              <a:off x="765543" y="1385625"/>
              <a:ext cx="2729371" cy="17851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000000"/>
                  </a:solidFill>
                  <a:effectLst/>
                  <a:uFillTx/>
                  <a:latin typeface="+mn-lt"/>
                  <a:ea typeface="+mn-ea"/>
                  <a:cs typeface="+mn-cs"/>
                  <a:sym typeface="Calibri" panose="020F0502020204030204"/>
                </a:rPr>
                <a:t>治安警察</a:t>
              </a:r>
              <a:endParaRPr kumimoji="0" lang="en-US" altLang="zh-CN" sz="2000" b="1" i="0" u="none" strike="noStrike" cap="none" spc="0" normalizeH="0" baseline="0">
                <a:ln>
                  <a:noFill/>
                </a:ln>
                <a:solidFill>
                  <a:srgbClr val="000000"/>
                </a:solidFill>
                <a:effectLst/>
                <a:uFillTx/>
                <a:latin typeface="+mn-lt"/>
                <a:ea typeface="+mn-ea"/>
                <a:cs typeface="+mn-cs"/>
                <a:sym typeface="Calibri" panose="020F0502020204030204"/>
              </a:endParaRPr>
            </a:p>
            <a:p>
              <a:pPr marL="0" marR="0" indent="0" algn="ctr" defTabSz="914400" rtl="0" fontAlgn="auto" latinLnBrk="0" hangingPunct="0">
                <a:lnSpc>
                  <a:spcPct val="100000"/>
                </a:lnSpc>
                <a:spcBef>
                  <a:spcPts val="0"/>
                </a:spcBef>
                <a:spcAft>
                  <a:spcPts val="0"/>
                </a:spcAft>
                <a:buClrTx/>
                <a:buSzTx/>
                <a:buFontTx/>
                <a:buNone/>
              </a:pPr>
              <a:r>
                <a:rPr lang="zh-CN" altLang="en-US"/>
                <a:t>负责公共秩序与常见治安问题</a:t>
              </a:r>
              <a:endParaRPr lang="en-US" altLang="zh-CN"/>
            </a:p>
            <a:p>
              <a:pPr marL="0" marR="0" indent="0" algn="ctr" defTabSz="914400" rtl="0" fontAlgn="auto" latinLnBrk="0" hangingPunct="0">
                <a:lnSpc>
                  <a:spcPct val="100000"/>
                </a:lnSpc>
                <a:spcBef>
                  <a:spcPts val="0"/>
                </a:spcBef>
                <a:spcAft>
                  <a:spcPts val="0"/>
                </a:spcAft>
                <a:buClrTx/>
                <a:buSzTx/>
                <a:buFontTx/>
                <a:buNone/>
              </a:pPr>
              <a:r>
                <a:rPr lang="en-US" altLang="zh-CN"/>
                <a:t>———————————</a:t>
              </a:r>
              <a:br>
                <a:rPr lang="zh-CN" altLang="en-US"/>
              </a:br>
              <a:r>
                <a:rPr lang="zh-CN" altLang="en-US"/>
                <a:t>宿舍纠纷、物品丢失、校园巡逻</a:t>
              </a:r>
              <a:endParaRPr kumimoji="0" lang="zh-CN" altLang="en-US" b="1"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5" name="AutoShape 3">
              <a:extLst>
                <a:ext uri="{FF2B5EF4-FFF2-40B4-BE49-F238E27FC236}">
                  <a16:creationId xmlns:a16="http://schemas.microsoft.com/office/drawing/2014/main" id="{A5B961DF-7655-432D-B4DB-0988E467CFE8}"/>
                </a:ext>
              </a:extLst>
            </p:cNvPr>
            <p:cNvSpPr/>
            <p:nvPr/>
          </p:nvSpPr>
          <p:spPr>
            <a:xfrm>
              <a:off x="765544" y="1252992"/>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16" name="文本框 15">
              <a:extLst>
                <a:ext uri="{FF2B5EF4-FFF2-40B4-BE49-F238E27FC236}">
                  <a16:creationId xmlns:a16="http://schemas.microsoft.com/office/drawing/2014/main" id="{859DF89D-112F-436F-BE44-20D8CD5786E8}"/>
                </a:ext>
              </a:extLst>
            </p:cNvPr>
            <p:cNvSpPr txBox="1"/>
            <p:nvPr/>
          </p:nvSpPr>
          <p:spPr>
            <a:xfrm>
              <a:off x="765543" y="1463006"/>
              <a:ext cx="1693807" cy="150810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914400" rtl="0" fontAlgn="auto" latinLnBrk="0" hangingPunct="0">
                <a:lnSpc>
                  <a:spcPct val="100000"/>
                </a:lnSpc>
                <a:spcBef>
                  <a:spcPts val="0"/>
                </a:spcBef>
                <a:spcAft>
                  <a:spcPts val="0"/>
                </a:spcAft>
                <a:buClrTx/>
                <a:buSzTx/>
                <a:buFontTx/>
                <a:buNone/>
              </a:pPr>
              <a:r>
                <a:rPr lang="zh-CN" altLang="en-US" sz="2000" b="1">
                  <a:solidFill>
                    <a:srgbClr val="000000"/>
                  </a:solidFill>
                </a:rPr>
                <a:t>   刑事警察（刑侦</a:t>
              </a:r>
              <a:r>
                <a:rPr lang="zh-CN" altLang="en-US" sz="2000"/>
                <a:t>）</a:t>
              </a:r>
              <a:endParaRPr lang="en-US" altLang="zh-CN" sz="2000"/>
            </a:p>
            <a:p>
              <a:pPr marL="0" marR="0" indent="0" algn="r" defTabSz="914400" rtl="0" fontAlgn="auto" latinLnBrk="0" hangingPunct="0">
                <a:lnSpc>
                  <a:spcPct val="100000"/>
                </a:lnSpc>
                <a:spcBef>
                  <a:spcPts val="0"/>
                </a:spcBef>
                <a:spcAft>
                  <a:spcPts val="0"/>
                </a:spcAft>
                <a:buClrTx/>
                <a:buSzTx/>
                <a:buFontTx/>
                <a:buNone/>
              </a:pPr>
              <a:endParaRPr lang="en-US" altLang="zh-CN" sz="2000"/>
            </a:p>
            <a:p>
              <a:pPr algn="r" hangingPunct="0"/>
              <a:r>
                <a:rPr lang="zh-CN" altLang="en-US"/>
                <a:t>负责刑事案件侦查</a:t>
              </a:r>
              <a:endParaRPr lang="en-US" altLang="zh-CN"/>
            </a:p>
            <a:p>
              <a:pPr algn="r" hangingPunct="0"/>
              <a:r>
                <a:rPr lang="en-US" altLang="zh-CN"/>
                <a:t>———————————</a:t>
              </a:r>
              <a:br>
                <a:rPr lang="zh-CN" altLang="en-US"/>
              </a:br>
              <a:r>
                <a:rPr lang="zh-CN" altLang="en-US" sz="1600">
                  <a:solidFill>
                    <a:schemeClr val="tx1">
                      <a:lumMod val="65000"/>
                      <a:lumOff val="35000"/>
                    </a:schemeClr>
                  </a:solidFill>
                </a:rPr>
                <a:t>盗窃、伤害、诈骗等案件侦办</a:t>
              </a:r>
              <a:endParaRPr lang="zh-CN" altLang="en-US" sz="1600">
                <a:solidFill>
                  <a:schemeClr val="tx1">
                    <a:lumMod val="65000"/>
                    <a:lumOff val="35000"/>
                  </a:schemeClr>
                </a:solidFill>
                <a:sym typeface="Calibri" panose="020F0502020204030204"/>
              </a:endParaRPr>
            </a:p>
          </p:txBody>
        </p:sp>
      </p:grpSp>
      <p:grpSp>
        <p:nvGrpSpPr>
          <p:cNvPr id="17" name="组合 16">
            <a:extLst>
              <a:ext uri="{FF2B5EF4-FFF2-40B4-BE49-F238E27FC236}">
                <a16:creationId xmlns:a16="http://schemas.microsoft.com/office/drawing/2014/main" id="{B432594B-6AF3-47E0-B61E-9E079F3F30EB}"/>
              </a:ext>
            </a:extLst>
          </p:cNvPr>
          <p:cNvGrpSpPr/>
          <p:nvPr/>
        </p:nvGrpSpPr>
        <p:grpSpPr>
          <a:xfrm>
            <a:off x="6096000" y="1308931"/>
            <a:ext cx="5220000" cy="2042217"/>
            <a:chOff x="765543" y="1252992"/>
            <a:chExt cx="2729371" cy="2042217"/>
          </a:xfrm>
        </p:grpSpPr>
        <p:sp>
          <p:nvSpPr>
            <p:cNvPr id="18" name="AutoShape 3">
              <a:extLst>
                <a:ext uri="{FF2B5EF4-FFF2-40B4-BE49-F238E27FC236}">
                  <a16:creationId xmlns:a16="http://schemas.microsoft.com/office/drawing/2014/main" id="{4E445E6F-21A2-416E-8E0B-1096E542E574}"/>
                </a:ext>
              </a:extLst>
            </p:cNvPr>
            <p:cNvSpPr/>
            <p:nvPr/>
          </p:nvSpPr>
          <p:spPr>
            <a:xfrm>
              <a:off x="765544" y="1278793"/>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19" name="文本框 18">
              <a:extLst>
                <a:ext uri="{FF2B5EF4-FFF2-40B4-BE49-F238E27FC236}">
                  <a16:creationId xmlns:a16="http://schemas.microsoft.com/office/drawing/2014/main" id="{DABB9505-914D-4E53-99A2-7ED99EE858E4}"/>
                </a:ext>
              </a:extLst>
            </p:cNvPr>
            <p:cNvSpPr txBox="1"/>
            <p:nvPr/>
          </p:nvSpPr>
          <p:spPr>
            <a:xfrm>
              <a:off x="765543" y="1385625"/>
              <a:ext cx="2729371" cy="17851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000000"/>
                  </a:solidFill>
                  <a:effectLst/>
                  <a:uFillTx/>
                  <a:latin typeface="+mn-lt"/>
                  <a:ea typeface="+mn-ea"/>
                  <a:cs typeface="+mn-cs"/>
                  <a:sym typeface="Calibri" panose="020F0502020204030204"/>
                </a:rPr>
                <a:t>治安警察</a:t>
              </a:r>
              <a:endParaRPr kumimoji="0" lang="en-US" altLang="zh-CN" sz="2000" b="1" i="0" u="none" strike="noStrike" cap="none" spc="0" normalizeH="0" baseline="0">
                <a:ln>
                  <a:noFill/>
                </a:ln>
                <a:solidFill>
                  <a:srgbClr val="000000"/>
                </a:solidFill>
                <a:effectLst/>
                <a:uFillTx/>
                <a:latin typeface="+mn-lt"/>
                <a:ea typeface="+mn-ea"/>
                <a:cs typeface="+mn-cs"/>
                <a:sym typeface="Calibri" panose="020F0502020204030204"/>
              </a:endParaRPr>
            </a:p>
            <a:p>
              <a:pPr marL="0" marR="0" indent="0" algn="ctr" defTabSz="914400" rtl="0" fontAlgn="auto" latinLnBrk="0" hangingPunct="0">
                <a:lnSpc>
                  <a:spcPct val="100000"/>
                </a:lnSpc>
                <a:spcBef>
                  <a:spcPts val="0"/>
                </a:spcBef>
                <a:spcAft>
                  <a:spcPts val="0"/>
                </a:spcAft>
                <a:buClrTx/>
                <a:buSzTx/>
                <a:buFontTx/>
                <a:buNone/>
              </a:pPr>
              <a:r>
                <a:rPr lang="zh-CN" altLang="en-US"/>
                <a:t>负责公共秩序与常见治安问题</a:t>
              </a:r>
              <a:endParaRPr lang="en-US" altLang="zh-CN"/>
            </a:p>
            <a:p>
              <a:pPr marL="0" marR="0" indent="0" algn="ctr" defTabSz="914400" rtl="0" fontAlgn="auto" latinLnBrk="0" hangingPunct="0">
                <a:lnSpc>
                  <a:spcPct val="100000"/>
                </a:lnSpc>
                <a:spcBef>
                  <a:spcPts val="0"/>
                </a:spcBef>
                <a:spcAft>
                  <a:spcPts val="0"/>
                </a:spcAft>
                <a:buClrTx/>
                <a:buSzTx/>
                <a:buFontTx/>
                <a:buNone/>
              </a:pPr>
              <a:r>
                <a:rPr lang="en-US" altLang="zh-CN"/>
                <a:t>———————————</a:t>
              </a:r>
              <a:br>
                <a:rPr lang="zh-CN" altLang="en-US"/>
              </a:br>
              <a:r>
                <a:rPr lang="zh-CN" altLang="en-US"/>
                <a:t>宿舍纠纷、物品丢失、校园巡逻</a:t>
              </a:r>
              <a:endParaRPr kumimoji="0" lang="zh-CN" altLang="en-US" b="1"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0" name="AutoShape 3">
              <a:extLst>
                <a:ext uri="{FF2B5EF4-FFF2-40B4-BE49-F238E27FC236}">
                  <a16:creationId xmlns:a16="http://schemas.microsoft.com/office/drawing/2014/main" id="{B69AC582-8919-4F2E-B8F0-CEBB6EB30177}"/>
                </a:ext>
              </a:extLst>
            </p:cNvPr>
            <p:cNvSpPr/>
            <p:nvPr/>
          </p:nvSpPr>
          <p:spPr>
            <a:xfrm>
              <a:off x="765544" y="1252992"/>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21" name="文本框 20">
              <a:extLst>
                <a:ext uri="{FF2B5EF4-FFF2-40B4-BE49-F238E27FC236}">
                  <a16:creationId xmlns:a16="http://schemas.microsoft.com/office/drawing/2014/main" id="{E45F811F-4194-466B-92EF-33AA71B807ED}"/>
                </a:ext>
              </a:extLst>
            </p:cNvPr>
            <p:cNvSpPr txBox="1"/>
            <p:nvPr/>
          </p:nvSpPr>
          <p:spPr>
            <a:xfrm>
              <a:off x="1820979" y="1455758"/>
              <a:ext cx="1660281" cy="150810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defTabSz="914400" rtl="0" fontAlgn="auto" latinLnBrk="0" hangingPunct="0">
                <a:lnSpc>
                  <a:spcPct val="100000"/>
                </a:lnSpc>
                <a:spcBef>
                  <a:spcPts val="0"/>
                </a:spcBef>
                <a:spcAft>
                  <a:spcPts val="0"/>
                </a:spcAft>
                <a:buClrTx/>
                <a:buSzTx/>
                <a:buFontTx/>
                <a:buNone/>
              </a:pPr>
              <a:r>
                <a:rPr lang="zh-CN" altLang="en-US" sz="2000" b="1">
                  <a:solidFill>
                    <a:srgbClr val="000000"/>
                  </a:solidFill>
                </a:rPr>
                <a:t>交通警察（交警）</a:t>
              </a:r>
              <a:endParaRPr lang="en-US" altLang="zh-CN" sz="2000" b="1">
                <a:solidFill>
                  <a:srgbClr val="000000"/>
                </a:solidFill>
              </a:endParaRPr>
            </a:p>
            <a:p>
              <a:pPr marL="0" marR="0" indent="0" defTabSz="914400" rtl="0" fontAlgn="auto" latinLnBrk="0" hangingPunct="0">
                <a:lnSpc>
                  <a:spcPct val="100000"/>
                </a:lnSpc>
                <a:spcBef>
                  <a:spcPts val="0"/>
                </a:spcBef>
                <a:spcAft>
                  <a:spcPts val="0"/>
                </a:spcAft>
                <a:buClrTx/>
                <a:buSzTx/>
                <a:buFontTx/>
                <a:buNone/>
              </a:pPr>
              <a:endParaRPr lang="en-US" altLang="zh-CN" sz="2000"/>
            </a:p>
            <a:p>
              <a:pPr marL="0" marR="0" indent="0" defTabSz="914400" rtl="0" fontAlgn="auto" latinLnBrk="0" hangingPunct="0">
                <a:lnSpc>
                  <a:spcPct val="100000"/>
                </a:lnSpc>
                <a:spcBef>
                  <a:spcPts val="0"/>
                </a:spcBef>
                <a:spcAft>
                  <a:spcPts val="0"/>
                </a:spcAft>
                <a:buClrTx/>
                <a:buSzTx/>
                <a:buFontTx/>
                <a:buNone/>
              </a:pPr>
              <a:r>
                <a:rPr lang="zh-CN" altLang="en-US"/>
                <a:t>负责道路交通管理</a:t>
              </a:r>
              <a:endParaRPr lang="en-US" altLang="zh-CN"/>
            </a:p>
            <a:p>
              <a:pPr marL="0" marR="0" indent="0" defTabSz="914400" rtl="0" fontAlgn="auto" latinLnBrk="0" hangingPunct="0">
                <a:lnSpc>
                  <a:spcPct val="100000"/>
                </a:lnSpc>
                <a:spcBef>
                  <a:spcPts val="0"/>
                </a:spcBef>
                <a:spcAft>
                  <a:spcPts val="0"/>
                </a:spcAft>
                <a:buClrTx/>
                <a:buSzTx/>
                <a:buFontTx/>
                <a:buNone/>
              </a:pPr>
              <a:r>
                <a:rPr lang="en-US" altLang="zh-CN"/>
                <a:t>———————————</a:t>
              </a:r>
              <a:br>
                <a:rPr lang="zh-CN" altLang="en-US"/>
              </a:br>
              <a:r>
                <a:rPr lang="zh-CN" altLang="en-US" sz="1600">
                  <a:solidFill>
                    <a:schemeClr val="tx1">
                      <a:lumMod val="65000"/>
                      <a:lumOff val="35000"/>
                    </a:schemeClr>
                  </a:solidFill>
                </a:rPr>
                <a:t>事故处理、交通疏导、违章治理</a:t>
              </a:r>
              <a:endParaRPr lang="zh-CN" altLang="en-US" sz="1600">
                <a:solidFill>
                  <a:schemeClr val="tx1">
                    <a:lumMod val="65000"/>
                    <a:lumOff val="35000"/>
                  </a:schemeClr>
                </a:solidFill>
                <a:sym typeface="Calibri" panose="020F0502020204030204"/>
              </a:endParaRPr>
            </a:p>
          </p:txBody>
        </p:sp>
      </p:grpSp>
      <p:grpSp>
        <p:nvGrpSpPr>
          <p:cNvPr id="22" name="组合 21">
            <a:extLst>
              <a:ext uri="{FF2B5EF4-FFF2-40B4-BE49-F238E27FC236}">
                <a16:creationId xmlns:a16="http://schemas.microsoft.com/office/drawing/2014/main" id="{56ADDCB8-03FF-4497-8ABE-1E35A51B4F34}"/>
              </a:ext>
            </a:extLst>
          </p:cNvPr>
          <p:cNvGrpSpPr/>
          <p:nvPr/>
        </p:nvGrpSpPr>
        <p:grpSpPr>
          <a:xfrm>
            <a:off x="6096000" y="3615122"/>
            <a:ext cx="5219998" cy="2042217"/>
            <a:chOff x="765543" y="1252992"/>
            <a:chExt cx="2729371" cy="2042217"/>
          </a:xfrm>
        </p:grpSpPr>
        <p:sp>
          <p:nvSpPr>
            <p:cNvPr id="23" name="AutoShape 3">
              <a:extLst>
                <a:ext uri="{FF2B5EF4-FFF2-40B4-BE49-F238E27FC236}">
                  <a16:creationId xmlns:a16="http://schemas.microsoft.com/office/drawing/2014/main" id="{FD4CCA1A-0E02-4B2A-9D8F-3EDD69561943}"/>
                </a:ext>
              </a:extLst>
            </p:cNvPr>
            <p:cNvSpPr/>
            <p:nvPr/>
          </p:nvSpPr>
          <p:spPr>
            <a:xfrm>
              <a:off x="765544" y="1278793"/>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24" name="文本框 23">
              <a:extLst>
                <a:ext uri="{FF2B5EF4-FFF2-40B4-BE49-F238E27FC236}">
                  <a16:creationId xmlns:a16="http://schemas.microsoft.com/office/drawing/2014/main" id="{B3695881-742A-460D-BA16-30131EEDB951}"/>
                </a:ext>
              </a:extLst>
            </p:cNvPr>
            <p:cNvSpPr txBox="1"/>
            <p:nvPr/>
          </p:nvSpPr>
          <p:spPr>
            <a:xfrm>
              <a:off x="765543" y="1385625"/>
              <a:ext cx="2729371" cy="178510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000000"/>
                  </a:solidFill>
                  <a:effectLst/>
                  <a:uFillTx/>
                  <a:latin typeface="+mn-lt"/>
                  <a:ea typeface="+mn-ea"/>
                  <a:cs typeface="+mn-cs"/>
                  <a:sym typeface="Calibri" panose="020F0502020204030204"/>
                </a:rPr>
                <a:t>治安警察</a:t>
              </a:r>
              <a:endParaRPr kumimoji="0" lang="en-US" altLang="zh-CN" sz="2000" b="1" i="0" u="none" strike="noStrike" cap="none" spc="0" normalizeH="0" baseline="0">
                <a:ln>
                  <a:noFill/>
                </a:ln>
                <a:solidFill>
                  <a:srgbClr val="000000"/>
                </a:solidFill>
                <a:effectLst/>
                <a:uFillTx/>
                <a:latin typeface="+mn-lt"/>
                <a:ea typeface="+mn-ea"/>
                <a:cs typeface="+mn-cs"/>
                <a:sym typeface="Calibri" panose="020F0502020204030204"/>
              </a:endParaRPr>
            </a:p>
            <a:p>
              <a:pPr marL="0" marR="0" indent="0" algn="ctr" defTabSz="914400" rtl="0" fontAlgn="auto" latinLnBrk="0" hangingPunct="0">
                <a:lnSpc>
                  <a:spcPct val="100000"/>
                </a:lnSpc>
                <a:spcBef>
                  <a:spcPts val="0"/>
                </a:spcBef>
                <a:spcAft>
                  <a:spcPts val="0"/>
                </a:spcAft>
                <a:buClrTx/>
                <a:buSzTx/>
                <a:buFontTx/>
                <a:buNone/>
              </a:pPr>
              <a:r>
                <a:rPr lang="zh-CN" altLang="en-US"/>
                <a:t>负责公共秩序与常见治安问题</a:t>
              </a:r>
              <a:endParaRPr lang="en-US" altLang="zh-CN"/>
            </a:p>
            <a:p>
              <a:pPr marL="0" marR="0" indent="0" algn="ctr" defTabSz="914400" rtl="0" fontAlgn="auto" latinLnBrk="0" hangingPunct="0">
                <a:lnSpc>
                  <a:spcPct val="100000"/>
                </a:lnSpc>
                <a:spcBef>
                  <a:spcPts val="0"/>
                </a:spcBef>
                <a:spcAft>
                  <a:spcPts val="0"/>
                </a:spcAft>
                <a:buClrTx/>
                <a:buSzTx/>
                <a:buFontTx/>
                <a:buNone/>
              </a:pPr>
              <a:r>
                <a:rPr lang="en-US" altLang="zh-CN"/>
                <a:t>———————————</a:t>
              </a:r>
              <a:br>
                <a:rPr lang="zh-CN" altLang="en-US"/>
              </a:br>
              <a:r>
                <a:rPr lang="zh-CN" altLang="en-US"/>
                <a:t>宿舍纠纷、物品丢失、校园巡逻</a:t>
              </a:r>
              <a:endParaRPr kumimoji="0" lang="zh-CN" altLang="en-US" b="1"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5" name="AutoShape 3">
              <a:extLst>
                <a:ext uri="{FF2B5EF4-FFF2-40B4-BE49-F238E27FC236}">
                  <a16:creationId xmlns:a16="http://schemas.microsoft.com/office/drawing/2014/main" id="{8172E787-EED4-4536-ABE7-CDCA0EF45888}"/>
                </a:ext>
              </a:extLst>
            </p:cNvPr>
            <p:cNvSpPr/>
            <p:nvPr/>
          </p:nvSpPr>
          <p:spPr>
            <a:xfrm>
              <a:off x="765544" y="1252992"/>
              <a:ext cx="2729370" cy="2016416"/>
            </a:xfrm>
            <a:prstGeom prst="roundRect">
              <a:avLst>
                <a:gd name="adj" fmla="val 3076"/>
              </a:avLst>
            </a:prstGeom>
            <a:solidFill>
              <a:srgbClr val="FFFFFF">
                <a:alpha val="100000"/>
              </a:srgbClr>
            </a:solidFill>
            <a:ln w="25400" cap="flat" cmpd="sng">
              <a:solidFill>
                <a:schemeClr val="tx1"/>
              </a:solidFill>
              <a:prstDash val="sysDot"/>
              <a:round/>
            </a:ln>
            <a:effectLst>
              <a:outerShdw blurRad="50800" dist="25400" dir="8100000" algn="bl" rotWithShape="0">
                <a:srgbClr val="000000">
                  <a:alpha val="10000"/>
                </a:srgbClr>
              </a:outerShdw>
            </a:effectLst>
          </p:spPr>
          <p:txBody>
            <a:bodyPr vert="horz" wrap="square" lIns="63500" tIns="63500" rIns="63500" bIns="63500" rtlCol="0" anchor="ctr"/>
            <a:lstStyle/>
            <a:p>
              <a:pPr algn="ctr">
                <a:defRPr/>
              </a:pPr>
              <a:endParaRPr/>
            </a:p>
          </p:txBody>
        </p:sp>
        <p:sp>
          <p:nvSpPr>
            <p:cNvPr id="26" name="文本框 25">
              <a:extLst>
                <a:ext uri="{FF2B5EF4-FFF2-40B4-BE49-F238E27FC236}">
                  <a16:creationId xmlns:a16="http://schemas.microsoft.com/office/drawing/2014/main" id="{4355F799-FEC6-4274-957B-4657EAF55E11}"/>
                </a:ext>
              </a:extLst>
            </p:cNvPr>
            <p:cNvSpPr txBox="1"/>
            <p:nvPr/>
          </p:nvSpPr>
          <p:spPr>
            <a:xfrm>
              <a:off x="770629" y="1486277"/>
              <a:ext cx="1888621" cy="17543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r" defTabSz="914400" rtl="0" fontAlgn="auto" latinLnBrk="0" hangingPunct="0">
                <a:lnSpc>
                  <a:spcPct val="100000"/>
                </a:lnSpc>
                <a:spcBef>
                  <a:spcPts val="0"/>
                </a:spcBef>
                <a:spcAft>
                  <a:spcPts val="0"/>
                </a:spcAft>
                <a:buClrTx/>
                <a:buSzTx/>
                <a:buFontTx/>
                <a:buNone/>
              </a:pPr>
              <a:r>
                <a:rPr lang="zh-CN" altLang="en-US" sz="2000" b="1">
                  <a:solidFill>
                    <a:srgbClr val="000000"/>
                  </a:solidFill>
                </a:rPr>
                <a:t> 网络安全警察（网安）</a:t>
              </a:r>
              <a:endParaRPr lang="en-US" altLang="zh-CN" sz="2000" b="1">
                <a:solidFill>
                  <a:srgbClr val="000000"/>
                </a:solidFill>
              </a:endParaRPr>
            </a:p>
            <a:p>
              <a:pPr marL="0" marR="0" indent="0" algn="r" defTabSz="914400" rtl="0" fontAlgn="auto" latinLnBrk="0" hangingPunct="0">
                <a:lnSpc>
                  <a:spcPct val="100000"/>
                </a:lnSpc>
                <a:spcBef>
                  <a:spcPts val="0"/>
                </a:spcBef>
                <a:spcAft>
                  <a:spcPts val="0"/>
                </a:spcAft>
                <a:buClrTx/>
                <a:buSzTx/>
                <a:buFontTx/>
                <a:buNone/>
              </a:pPr>
              <a:endParaRPr lang="en-US" altLang="zh-CN" sz="2000"/>
            </a:p>
            <a:p>
              <a:pPr algn="r" hangingPunct="0"/>
              <a:r>
                <a:rPr lang="zh-CN" altLang="en-US"/>
                <a:t>负责网络空间安全与案件</a:t>
              </a:r>
              <a:endParaRPr lang="en-US" altLang="zh-CN"/>
            </a:p>
            <a:p>
              <a:pPr algn="r" hangingPunct="0"/>
              <a:r>
                <a:rPr lang="en-US" altLang="zh-CN"/>
                <a:t>—————————————</a:t>
              </a:r>
              <a:br>
                <a:rPr lang="zh-CN" altLang="en-US"/>
              </a:br>
              <a:r>
                <a:rPr lang="zh-CN" altLang="en-US" sz="1600">
                  <a:solidFill>
                    <a:schemeClr val="tx1">
                      <a:lumMod val="65000"/>
                      <a:lumOff val="35000"/>
                    </a:schemeClr>
                  </a:solidFill>
                </a:rPr>
                <a:t>网络诈骗、信息泄露、网络违法犯罪</a:t>
              </a:r>
            </a:p>
            <a:p>
              <a:pPr algn="r" hangingPunct="0"/>
              <a:endParaRPr lang="zh-CN" altLang="en-US" sz="1600">
                <a:solidFill>
                  <a:schemeClr val="tx1">
                    <a:lumMod val="65000"/>
                    <a:lumOff val="35000"/>
                  </a:schemeClr>
                </a:solidFill>
                <a:sym typeface="Calibri" panose="020F0502020204030204"/>
              </a:endParaRPr>
            </a:p>
          </p:txBody>
        </p:sp>
      </p:grpSp>
      <p:sp>
        <p:nvSpPr>
          <p:cNvPr id="27" name="文本框 26">
            <a:extLst>
              <a:ext uri="{FF2B5EF4-FFF2-40B4-BE49-F238E27FC236}">
                <a16:creationId xmlns:a16="http://schemas.microsoft.com/office/drawing/2014/main" id="{7EE7D14C-EEC7-42F5-9E51-5AACA43518E4}"/>
              </a:ext>
            </a:extLst>
          </p:cNvPr>
          <p:cNvSpPr txBox="1"/>
          <p:nvPr/>
        </p:nvSpPr>
        <p:spPr>
          <a:xfrm>
            <a:off x="2821410" y="6053946"/>
            <a:ext cx="6978102" cy="3693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a:t>此外，还有</a:t>
            </a:r>
            <a:r>
              <a:rPr lang="zh-CN" altLang="en-US" b="1"/>
              <a:t>经侦、禁毒、特警、户籍、出入境管理</a:t>
            </a:r>
            <a:r>
              <a:rPr lang="zh-CN" altLang="en-US"/>
              <a:t>等其他专业警种。</a:t>
            </a:r>
            <a:endParaRPr kumimoji="0" lang="zh-CN" altLang="en-US" sz="1800" i="0" u="none" strike="noStrike" cap="none" spc="0" normalizeH="0" baseline="0">
              <a:ln>
                <a:noFill/>
              </a:ln>
              <a:solidFill>
                <a:srgbClr val="000000"/>
              </a:solidFill>
              <a:effectLst/>
              <a:uFillTx/>
              <a:latin typeface="+mn-lt"/>
              <a:ea typeface="+mn-ea"/>
              <a:cs typeface="+mn-cs"/>
              <a:sym typeface="Calibri" panose="020F0502020204030204"/>
            </a:endParaRPr>
          </a:p>
        </p:txBody>
      </p:sp>
      <p:pic>
        <p:nvPicPr>
          <p:cNvPr id="28" name="Picture 5">
            <a:extLst>
              <a:ext uri="{FF2B5EF4-FFF2-40B4-BE49-F238E27FC236}">
                <a16:creationId xmlns:a16="http://schemas.microsoft.com/office/drawing/2014/main" id="{03F9A08B-FEFB-47F2-A3FF-D18418F21161}"/>
              </a:ext>
            </a:extLst>
          </p:cNvPr>
          <p:cNvPicPr>
            <a:picLocks noChangeAspect="1"/>
          </p:cNvPicPr>
          <p:nvPr/>
        </p:nvPicPr>
        <p:blipFill>
          <a:blip r:embed="rId2"/>
          <a:srcRect l="7575" r="7575"/>
          <a:stretch>
            <a:fillRect/>
          </a:stretch>
        </p:blipFill>
        <p:spPr>
          <a:xfrm>
            <a:off x="663811" y="1545344"/>
            <a:ext cx="1778000" cy="1397000"/>
          </a:xfrm>
          <a:prstGeom prst="roundRect">
            <a:avLst>
              <a:gd name="adj" fmla="val 7272"/>
            </a:avLst>
          </a:prstGeom>
          <a:noFill/>
          <a:ln w="25400" cap="flat" cmpd="sng">
            <a:noFill/>
            <a:prstDash val="solid"/>
            <a:round/>
          </a:ln>
          <a:effectLst>
            <a:outerShdw blurRad="50800" dist="50800" dir="5400000" sx="95000" sy="95000" algn="ctr" rotWithShape="0">
              <a:srgbClr val="000000">
                <a:alpha val="28000"/>
              </a:srgbClr>
            </a:outerShdw>
            <a:softEdge rad="12700"/>
          </a:effectLst>
        </p:spPr>
      </p:pic>
      <p:pic>
        <p:nvPicPr>
          <p:cNvPr id="29" name="Picture 17">
            <a:extLst>
              <a:ext uri="{FF2B5EF4-FFF2-40B4-BE49-F238E27FC236}">
                <a16:creationId xmlns:a16="http://schemas.microsoft.com/office/drawing/2014/main" id="{56977852-9956-457D-803B-BE60483C1D01}"/>
              </a:ext>
            </a:extLst>
          </p:cNvPr>
          <p:cNvPicPr>
            <a:picLocks noChangeAspect="1"/>
          </p:cNvPicPr>
          <p:nvPr/>
        </p:nvPicPr>
        <p:blipFill>
          <a:blip r:embed="rId3"/>
          <a:srcRect l="19654" r="19654"/>
          <a:stretch>
            <a:fillRect/>
          </a:stretch>
        </p:blipFill>
        <p:spPr>
          <a:xfrm>
            <a:off x="9799512" y="3747755"/>
            <a:ext cx="1480982" cy="1629080"/>
          </a:xfrm>
          <a:prstGeom prst="roundRect">
            <a:avLst>
              <a:gd name="adj" fmla="val 7272"/>
            </a:avLst>
          </a:prstGeom>
          <a:noFill/>
          <a:ln w="25400" cap="flat" cmpd="sng">
            <a:noFill/>
            <a:prstDash val="solid"/>
            <a:round/>
          </a:ln>
          <a:effectLst>
            <a:outerShdw blurRad="50800" dist="50800" dir="5400000" sx="95000" sy="95000" algn="ctr" rotWithShape="0">
              <a:srgbClr val="000000">
                <a:alpha val="28000"/>
              </a:srgbClr>
            </a:outerShdw>
            <a:softEdge rad="12700"/>
          </a:effectLst>
        </p:spPr>
      </p:pic>
      <p:pic>
        <p:nvPicPr>
          <p:cNvPr id="30" name="Picture 9">
            <a:extLst>
              <a:ext uri="{FF2B5EF4-FFF2-40B4-BE49-F238E27FC236}">
                <a16:creationId xmlns:a16="http://schemas.microsoft.com/office/drawing/2014/main" id="{B15950DE-F070-4A12-8671-AB6EE56E0957}"/>
              </a:ext>
            </a:extLst>
          </p:cNvPr>
          <p:cNvPicPr>
            <a:picLocks noChangeAspect="1"/>
          </p:cNvPicPr>
          <p:nvPr/>
        </p:nvPicPr>
        <p:blipFill>
          <a:blip r:embed="rId4"/>
          <a:srcRect l="3986" r="3986"/>
          <a:stretch>
            <a:fillRect/>
          </a:stretch>
        </p:blipFill>
        <p:spPr>
          <a:xfrm>
            <a:off x="3857932" y="3845406"/>
            <a:ext cx="1778000" cy="1397000"/>
          </a:xfrm>
          <a:prstGeom prst="roundRect">
            <a:avLst>
              <a:gd name="adj" fmla="val 7272"/>
            </a:avLst>
          </a:prstGeom>
          <a:noFill/>
          <a:ln w="25400" cap="flat" cmpd="sng">
            <a:noFill/>
            <a:prstDash val="solid"/>
            <a:round/>
          </a:ln>
          <a:effectLst>
            <a:outerShdw blurRad="50800" dist="50800" dir="5400000" sx="95000" sy="95000" algn="ctr" rotWithShape="0">
              <a:srgbClr val="000000">
                <a:alpha val="28000"/>
              </a:srgbClr>
            </a:outerShdw>
            <a:softEdge rad="12700"/>
          </a:effectLst>
        </p:spPr>
      </p:pic>
      <p:pic>
        <p:nvPicPr>
          <p:cNvPr id="31" name="Picture 13">
            <a:extLst>
              <a:ext uri="{FF2B5EF4-FFF2-40B4-BE49-F238E27FC236}">
                <a16:creationId xmlns:a16="http://schemas.microsoft.com/office/drawing/2014/main" id="{602D84E4-9145-4493-B2BB-2E1E1DCFE7E8}"/>
              </a:ext>
            </a:extLst>
          </p:cNvPr>
          <p:cNvPicPr>
            <a:picLocks noChangeAspect="1"/>
          </p:cNvPicPr>
          <p:nvPr/>
        </p:nvPicPr>
        <p:blipFill>
          <a:blip r:embed="rId5"/>
          <a:srcRect t="3116" b="3116"/>
          <a:stretch>
            <a:fillRect/>
          </a:stretch>
        </p:blipFill>
        <p:spPr>
          <a:xfrm>
            <a:off x="6279777" y="1731339"/>
            <a:ext cx="1651000" cy="1205552"/>
          </a:xfrm>
          <a:prstGeom prst="roundRect">
            <a:avLst>
              <a:gd name="adj" fmla="val 7272"/>
            </a:avLst>
          </a:prstGeom>
          <a:noFill/>
          <a:ln w="25400" cap="flat" cmpd="sng">
            <a:noFill/>
            <a:prstDash val="solid"/>
            <a:round/>
          </a:ln>
          <a:effectLst>
            <a:outerShdw blurRad="50800" dist="50800" dir="5400000" sx="95000" sy="95000" algn="ctr" rotWithShape="0">
              <a:srgbClr val="000000">
                <a:alpha val="28000"/>
              </a:srgbClr>
            </a:outerShdw>
            <a:softEdge rad="12700"/>
          </a:effectLst>
        </p:spPr>
      </p:pic>
    </p:spTree>
    <p:extLst>
      <p:ext uri="{BB962C8B-B14F-4D97-AF65-F5344CB8AC3E}">
        <p14:creationId xmlns:p14="http://schemas.microsoft.com/office/powerpoint/2010/main" val="345250823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直角三角形 3">
            <a:extLst>
              <a:ext uri="{FF2B5EF4-FFF2-40B4-BE49-F238E27FC236}">
                <a16:creationId xmlns:a16="http://schemas.microsoft.com/office/drawing/2014/main" id="{F793F7C0-623D-4485-8628-5C7CF4B4B46A}"/>
              </a:ext>
            </a:extLst>
          </p:cNvPr>
          <p:cNvSpPr/>
          <p:nvPr/>
        </p:nvSpPr>
        <p:spPr>
          <a:xfrm>
            <a:off x="0" y="4419230"/>
            <a:ext cx="2329480" cy="2438769"/>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直角三角形 1">
            <a:extLst>
              <a:ext uri="{FF2B5EF4-FFF2-40B4-BE49-F238E27FC236}">
                <a16:creationId xmlns:a16="http://schemas.microsoft.com/office/drawing/2014/main" id="{8A87FFEA-E2AB-480A-AFC8-EB53D5C8C968}"/>
              </a:ext>
            </a:extLst>
          </p:cNvPr>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直角三角形 2">
            <a:extLst>
              <a:ext uri="{FF2B5EF4-FFF2-40B4-BE49-F238E27FC236}">
                <a16:creationId xmlns:a16="http://schemas.microsoft.com/office/drawing/2014/main" id="{9E1643DE-BB57-4A86-8EE3-02273D8E8E74}"/>
              </a:ext>
            </a:extLst>
          </p:cNvPr>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cxnSp>
        <p:nvCxnSpPr>
          <p:cNvPr id="6" name="直接箭头连接符 5">
            <a:extLst>
              <a:ext uri="{FF2B5EF4-FFF2-40B4-BE49-F238E27FC236}">
                <a16:creationId xmlns:a16="http://schemas.microsoft.com/office/drawing/2014/main" id="{D3127B99-58E7-43A5-953E-6F4F7358916F}"/>
              </a:ext>
            </a:extLst>
          </p:cNvPr>
          <p:cNvCxnSpPr/>
          <p:nvPr/>
        </p:nvCxnSpPr>
        <p:spPr>
          <a:xfrm>
            <a:off x="765544" y="1127051"/>
            <a:ext cx="10299405" cy="0"/>
          </a:xfrm>
          <a:prstGeom prst="straightConnector1">
            <a:avLst/>
          </a:prstGeom>
          <a:noFill/>
          <a:ln w="25400" cap="flat">
            <a:solidFill>
              <a:schemeClr val="bg1">
                <a:lumMod val="50000"/>
              </a:schemeClr>
            </a:solidFill>
            <a:prstDash val="solid"/>
            <a:miter lim="800000"/>
            <a:tailEnd type="triangle"/>
          </a:ln>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D4ADD0BF-410C-4205-962A-9F6E04C5EE0F}"/>
              </a:ext>
            </a:extLst>
          </p:cNvPr>
          <p:cNvSpPr txBox="1"/>
          <p:nvPr/>
        </p:nvSpPr>
        <p:spPr>
          <a:xfrm>
            <a:off x="836428" y="269358"/>
            <a:ext cx="9909221" cy="70788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4000" b="1">
                <a:solidFill>
                  <a:srgbClr val="000000"/>
                </a:solidFill>
                <a:latin typeface="微软雅黑" panose="020B0503020204020204" charset="-122"/>
                <a:ea typeface="微软雅黑" panose="020B0503020204020204" charset="-122"/>
                <a:sym typeface="Calibri" panose="020F0502020204030204"/>
              </a:rPr>
              <a:t>大学生遇险速查卡</a:t>
            </a:r>
          </a:p>
        </p:txBody>
      </p:sp>
      <p:graphicFrame>
        <p:nvGraphicFramePr>
          <p:cNvPr id="7" name="Table 16">
            <a:extLst>
              <a:ext uri="{FF2B5EF4-FFF2-40B4-BE49-F238E27FC236}">
                <a16:creationId xmlns:a16="http://schemas.microsoft.com/office/drawing/2014/main" id="{EE53CBC9-0FB8-488C-9361-01D0BE527F61}"/>
              </a:ext>
            </a:extLst>
          </p:cNvPr>
          <p:cNvGraphicFramePr>
            <a:graphicFrameLocks noGrp="1"/>
          </p:cNvGraphicFramePr>
          <p:nvPr>
            <p:extLst>
              <p:ext uri="{D42A27DB-BD31-4B8C-83A1-F6EECF244321}">
                <p14:modId xmlns:p14="http://schemas.microsoft.com/office/powerpoint/2010/main" val="473668317"/>
              </p:ext>
            </p:extLst>
          </p:nvPr>
        </p:nvGraphicFramePr>
        <p:xfrm>
          <a:off x="1348326" y="1324609"/>
          <a:ext cx="9133839" cy="4038003"/>
        </p:xfrm>
        <a:graphic>
          <a:graphicData uri="http://schemas.openxmlformats.org/drawingml/2006/table">
            <a:tbl>
              <a:tblPr>
                <a:effectLst>
                  <a:outerShdw blurRad="50800" dist="50800" dir="5400000" algn="ctr" rotWithShape="0">
                    <a:srgbClr val="000000">
                      <a:alpha val="18000"/>
                    </a:srgbClr>
                  </a:outerShdw>
                </a:effectLst>
              </a:tblPr>
              <a:tblGrid>
                <a:gridCol w="3044613">
                  <a:extLst>
                    <a:ext uri="{9D8B030D-6E8A-4147-A177-3AD203B41FA5}">
                      <a16:colId xmlns:a16="http://schemas.microsoft.com/office/drawing/2014/main" val="20000"/>
                    </a:ext>
                  </a:extLst>
                </a:gridCol>
                <a:gridCol w="3044613">
                  <a:extLst>
                    <a:ext uri="{9D8B030D-6E8A-4147-A177-3AD203B41FA5}">
                      <a16:colId xmlns:a16="http://schemas.microsoft.com/office/drawing/2014/main" val="20001"/>
                    </a:ext>
                  </a:extLst>
                </a:gridCol>
                <a:gridCol w="3044613">
                  <a:extLst>
                    <a:ext uri="{9D8B030D-6E8A-4147-A177-3AD203B41FA5}">
                      <a16:colId xmlns:a16="http://schemas.microsoft.com/office/drawing/2014/main" val="20002"/>
                    </a:ext>
                  </a:extLst>
                </a:gridCol>
              </a:tblGrid>
              <a:tr h="588011">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zh-CN" altLang="en-US" sz="2000" b="1" i="0" u="none" strike="noStrike">
                          <a:solidFill>
                            <a:srgbClr val="1E40AF"/>
                          </a:solidFill>
                          <a:latin typeface="微软雅黑" panose="020B0503020204020204" pitchFamily="34" charset="-122"/>
                          <a:ea typeface="微软雅黑" panose="020B0503020204020204" pitchFamily="34" charset="-122"/>
                          <a:sym typeface="Noto Sans SC"/>
                        </a:rPr>
                        <a:t>事故</a:t>
                      </a:r>
                      <a:endParaRPr lang="en-US" sz="2000" b="1">
                        <a:latin typeface="微软雅黑" panose="020B0503020204020204" pitchFamily="34" charset="-122"/>
                        <a:ea typeface="微软雅黑" panose="020B0503020204020204" pitchFamily="34" charset="-122"/>
                      </a:endParaRPr>
                    </a:p>
                  </a:txBody>
                  <a:tcPr marL="101600" marR="10160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en-US" sz="2000" b="1" i="0" u="none" strike="noStrike">
                          <a:solidFill>
                            <a:srgbClr val="1E40AF"/>
                          </a:solidFill>
                          <a:latin typeface="微软雅黑" panose="020B0503020204020204" pitchFamily="34" charset="-122"/>
                          <a:ea typeface="微软雅黑" panose="020B0503020204020204" pitchFamily="34" charset="-122"/>
                          <a:cs typeface="Noto Sans SC"/>
                          <a:sym typeface="Noto Sans SC"/>
                        </a:rPr>
                        <a:t>找</a:t>
                      </a:r>
                      <a:r>
                        <a:rPr lang="zh-CN" altLang="en-US" sz="2000" b="1" i="0" u="none" strike="noStrike">
                          <a:solidFill>
                            <a:srgbClr val="1E40AF"/>
                          </a:solidFill>
                          <a:latin typeface="微软雅黑" panose="020B0503020204020204" pitchFamily="34" charset="-122"/>
                          <a:ea typeface="微软雅黑" panose="020B0503020204020204" pitchFamily="34" charset="-122"/>
                          <a:cs typeface="Noto Sans SC"/>
                          <a:sym typeface="Noto Sans SC"/>
                        </a:rPr>
                        <a:t>谁？</a:t>
                      </a:r>
                      <a:endParaRPr lang="en-US" sz="2000" b="1">
                        <a:latin typeface="微软雅黑" panose="020B0503020204020204" pitchFamily="34" charset="-122"/>
                        <a:ea typeface="微软雅黑" panose="020B0503020204020204" pitchFamily="34" charset="-122"/>
                      </a:endParaRPr>
                    </a:p>
                  </a:txBody>
                  <a:tcPr marL="101600" marR="10160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en-US" sz="2000" b="1" i="0" u="none" strike="noStrike">
                          <a:solidFill>
                            <a:srgbClr val="1E40AF"/>
                          </a:solidFill>
                          <a:latin typeface="微软雅黑" panose="020B0503020204020204" pitchFamily="34" charset="-122"/>
                          <a:ea typeface="微软雅黑" panose="020B0503020204020204" pitchFamily="34" charset="-122"/>
                          <a:cs typeface="Noto Sans SC"/>
                          <a:sym typeface="Noto Sans SC"/>
                        </a:rPr>
                        <a:t>正确做法</a:t>
                      </a:r>
                      <a:endParaRPr lang="en-US" sz="2000" b="1">
                        <a:latin typeface="微软雅黑" panose="020B0503020204020204" pitchFamily="34" charset="-122"/>
                        <a:ea typeface="微软雅黑" panose="020B0503020204020204" pitchFamily="34" charset="-122"/>
                      </a:endParaRPr>
                    </a:p>
                  </a:txBody>
                  <a:tcPr marL="101600" marR="101600" marT="76200" marB="762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7586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宿舍被盗 / 外卖丢失</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社区片警 / 治安警</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保留现场，立即拨打110</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7586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电动车被撞 / 车辆刮擦</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交通警察</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拍照留证，拨打122/110</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7586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网上被骗 / 兼职刷单</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网安支队 + 刑侦大队</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立刻报案，保留转账记录</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7586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遭遇校园欺凌 / 打架斗殴</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治安警察</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先报告学校，再报警处理</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7586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身份证补办 / 户口迁移</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ctr">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户籍警察</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Arial"/>
                          <a:sym typeface="Calibri" panose="020F0502020204030204"/>
                        </a:defRPr>
                      </a:lvl9pPr>
                    </a:lstStyle>
                    <a:p>
                      <a:pPr indent="0" algn="l">
                        <a:lnSpc>
                          <a:spcPct val="100000"/>
                        </a:lnSpc>
                        <a:defRPr/>
                      </a:pPr>
                      <a:r>
                        <a:rPr lang="en-US" sz="2000" b="1" i="0" u="none" strike="noStrike">
                          <a:solidFill>
                            <a:srgbClr val="374151"/>
                          </a:solidFill>
                          <a:latin typeface="微软雅黑" panose="020B0503020204020204" pitchFamily="34" charset="-122"/>
                          <a:ea typeface="微软雅黑" panose="020B0503020204020204" pitchFamily="34" charset="-122"/>
                          <a:cs typeface="Noto Sans SC"/>
                          <a:sym typeface="Noto Sans SC"/>
                        </a:rPr>
                        <a:t>携带证件去派出所户籍窗口</a:t>
                      </a:r>
                      <a:endParaRPr lang="en-US" sz="2000" b="1">
                        <a:latin typeface="微软雅黑" panose="020B0503020204020204" pitchFamily="34" charset="-122"/>
                        <a:ea typeface="微软雅黑" panose="020B0503020204020204" pitchFamily="34" charset="-122"/>
                      </a:endParaRPr>
                    </a:p>
                  </a:txBody>
                  <a:tcPr marL="101600" marR="1016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9" name="矩形 8">
            <a:extLst>
              <a:ext uri="{FF2B5EF4-FFF2-40B4-BE49-F238E27FC236}">
                <a16:creationId xmlns:a16="http://schemas.microsoft.com/office/drawing/2014/main" id="{F162A0E6-9BFF-4794-850C-B24B18A7B8AA}"/>
              </a:ext>
            </a:extLst>
          </p:cNvPr>
          <p:cNvSpPr/>
          <p:nvPr/>
        </p:nvSpPr>
        <p:spPr>
          <a:xfrm>
            <a:off x="1277044" y="5777967"/>
            <a:ext cx="9409312" cy="776795"/>
          </a:xfrm>
          <a:prstGeom prst="rect">
            <a:avLst/>
          </a:prstGeom>
          <a:solidFill>
            <a:schemeClr val="accent4">
              <a:lumMod val="40000"/>
              <a:lumOff val="60000"/>
            </a:schemeClr>
          </a:solidFill>
          <a:ln w="12700" cap="flat">
            <a:noFill/>
            <a:prstDash val="solid"/>
            <a:miter lim="800000"/>
          </a:ln>
          <a:effectLst>
            <a:outerShdw blurRad="50800" dist="50800" dir="5400000" algn="ctr" rotWithShape="0">
              <a:srgbClr val="000000">
                <a:alpha val="3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 name="文本框 4">
            <a:extLst>
              <a:ext uri="{FF2B5EF4-FFF2-40B4-BE49-F238E27FC236}">
                <a16:creationId xmlns:a16="http://schemas.microsoft.com/office/drawing/2014/main" id="{76F386F8-C342-47BD-B674-A0B2233F01BC}"/>
              </a:ext>
            </a:extLst>
          </p:cNvPr>
          <p:cNvSpPr txBox="1"/>
          <p:nvPr/>
        </p:nvSpPr>
        <p:spPr>
          <a:xfrm>
            <a:off x="1620415" y="5966310"/>
            <a:ext cx="9065941"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000" b="1" i="0" u="none" strike="noStrike">
                <a:solidFill>
                  <a:srgbClr val="B45309"/>
                </a:solidFill>
                <a:latin typeface="微软雅黑" panose="020B0503020204020204" pitchFamily="34" charset="-122"/>
                <a:ea typeface="微软雅黑" panose="020B0503020204020204" pitchFamily="34" charset="-122"/>
                <a:cs typeface="Noto Sans SC"/>
                <a:sym typeface="Noto Sans SC"/>
              </a:rPr>
              <a:t>记不住具体警种？没关系，遇到紧急情况直接拨打 </a:t>
            </a:r>
            <a:r>
              <a:rPr lang="en-US" altLang="zh-CN" sz="2000" b="1" u="sng" strike="noStrike">
                <a:solidFill>
                  <a:srgbClr val="B45309"/>
                </a:solidFill>
                <a:latin typeface="微软雅黑" panose="020B0503020204020204" pitchFamily="34" charset="-122"/>
                <a:ea typeface="微软雅黑" panose="020B0503020204020204" pitchFamily="34" charset="-122"/>
                <a:cs typeface="Noto Sans SC"/>
                <a:sym typeface="Noto Sans SC"/>
              </a:rPr>
              <a:t>110</a:t>
            </a:r>
            <a:r>
              <a:rPr lang="en-US" altLang="zh-CN" sz="2000" b="1" i="0" u="none" strike="noStrike">
                <a:solidFill>
                  <a:srgbClr val="B45309"/>
                </a:solidFill>
                <a:latin typeface="微软雅黑" panose="020B0503020204020204" pitchFamily="34" charset="-122"/>
                <a:ea typeface="微软雅黑" panose="020B0503020204020204" pitchFamily="34" charset="-122"/>
                <a:cs typeface="Noto Sans SC"/>
                <a:sym typeface="Noto Sans SC"/>
              </a:rPr>
              <a:t>，指挥中心会帮你转接！</a:t>
            </a:r>
            <a:endParaRPr kumimoji="0" lang="zh-CN" altLang="en-US" sz="20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sym typeface="Calibri" panose="020F0502020204030204"/>
            </a:endParaRPr>
          </a:p>
        </p:txBody>
      </p:sp>
      <p:sp>
        <p:nvSpPr>
          <p:cNvPr id="11" name="文本框 10">
            <a:extLst>
              <a:ext uri="{FF2B5EF4-FFF2-40B4-BE49-F238E27FC236}">
                <a16:creationId xmlns:a16="http://schemas.microsoft.com/office/drawing/2014/main" id="{B565FD52-C1BA-40CC-92F3-22AE7DC48DBB}"/>
              </a:ext>
            </a:extLst>
          </p:cNvPr>
          <p:cNvSpPr txBox="1"/>
          <p:nvPr/>
        </p:nvSpPr>
        <p:spPr>
          <a:xfrm rot="19990126">
            <a:off x="813895" y="5473791"/>
            <a:ext cx="1068861" cy="923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en-US" altLang="zh-CN" sz="5400" b="1" i="0" u="none" strike="noStrike">
                <a:solidFill>
                  <a:srgbClr val="B45309"/>
                </a:solidFill>
                <a:latin typeface="Noto Sans SC"/>
                <a:ea typeface="Noto Sans SC"/>
                <a:cs typeface="Noto Sans SC"/>
                <a:sym typeface="Noto Sans SC"/>
              </a:rPr>
              <a:t>💡</a:t>
            </a:r>
            <a:endParaRPr lang="zh-CN" altLang="en-US" sz="5400"/>
          </a:p>
        </p:txBody>
      </p:sp>
    </p:spTree>
    <p:extLst>
      <p:ext uri="{BB962C8B-B14F-4D97-AF65-F5344CB8AC3E}">
        <p14:creationId xmlns:p14="http://schemas.microsoft.com/office/powerpoint/2010/main" val="18226360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圆角矩形 4"/>
          <p:cNvGrpSpPr/>
          <p:nvPr>
            <p:custDataLst>
              <p:tags r:id="rId1"/>
            </p:custDataLst>
          </p:nvPr>
        </p:nvGrpSpPr>
        <p:grpSpPr>
          <a:xfrm>
            <a:off x="6021081" y="1021094"/>
            <a:ext cx="506413" cy="574041"/>
            <a:chOff x="0" y="0"/>
            <a:chExt cx="506412" cy="574040"/>
          </a:xfrm>
        </p:grpSpPr>
        <p:sp>
          <p:nvSpPr>
            <p:cNvPr id="213" name="圆角矩形"/>
            <p:cNvSpPr/>
            <p:nvPr>
              <p:custDataLst>
                <p:tags r:id="rId1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4" name="1"/>
            <p:cNvSpPr txBox="1"/>
            <p:nvPr>
              <p:custDataLst>
                <p:tags r:id="rId19"/>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216" name="矩形 5"/>
          <p:cNvSpPr txBox="1"/>
          <p:nvPr>
            <p:custDataLst>
              <p:tags r:id="rId2"/>
            </p:custDataLst>
          </p:nvPr>
        </p:nvSpPr>
        <p:spPr>
          <a:xfrm>
            <a:off x="6875287" y="1116066"/>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引入</a:t>
            </a:r>
            <a:endParaRPr/>
          </a:p>
        </p:txBody>
      </p:sp>
      <p:grpSp>
        <p:nvGrpSpPr>
          <p:cNvPr id="219" name="圆角矩形 6"/>
          <p:cNvGrpSpPr/>
          <p:nvPr>
            <p:custDataLst>
              <p:tags r:id="rId3"/>
            </p:custDataLst>
          </p:nvPr>
        </p:nvGrpSpPr>
        <p:grpSpPr>
          <a:xfrm>
            <a:off x="6021081" y="1775156"/>
            <a:ext cx="506413" cy="574041"/>
            <a:chOff x="0" y="0"/>
            <a:chExt cx="506412" cy="574040"/>
          </a:xfrm>
        </p:grpSpPr>
        <p:sp>
          <p:nvSpPr>
            <p:cNvPr id="217" name="圆角矩形"/>
            <p:cNvSpPr/>
            <p:nvPr>
              <p:custDataLst>
                <p:tags r:id="rId16"/>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8" name="2"/>
            <p:cNvSpPr txBox="1"/>
            <p:nvPr>
              <p:custDataLst>
                <p:tags r:id="rId17"/>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grpSp>
        <p:nvGrpSpPr>
          <p:cNvPr id="223" name="圆角矩形 8"/>
          <p:cNvGrpSpPr/>
          <p:nvPr>
            <p:custDataLst>
              <p:tags r:id="rId4"/>
            </p:custDataLst>
          </p:nvPr>
        </p:nvGrpSpPr>
        <p:grpSpPr>
          <a:xfrm>
            <a:off x="6021081" y="2529219"/>
            <a:ext cx="506413" cy="574041"/>
            <a:chOff x="0" y="0"/>
            <a:chExt cx="506412" cy="574040"/>
          </a:xfrm>
        </p:grpSpPr>
        <p:sp>
          <p:nvSpPr>
            <p:cNvPr id="221" name="圆角矩形"/>
            <p:cNvSpPr/>
            <p:nvPr>
              <p:custDataLst>
                <p:tags r:id="rId14"/>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2" name="3"/>
            <p:cNvSpPr txBox="1"/>
            <p:nvPr>
              <p:custDataLst>
                <p:tags r:id="rId15"/>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grpSp>
        <p:nvGrpSpPr>
          <p:cNvPr id="227" name="圆角矩形 10"/>
          <p:cNvGrpSpPr/>
          <p:nvPr>
            <p:custDataLst>
              <p:tags r:id="rId5"/>
            </p:custDataLst>
          </p:nvPr>
        </p:nvGrpSpPr>
        <p:grpSpPr>
          <a:xfrm>
            <a:off x="6021081" y="3283281"/>
            <a:ext cx="506413" cy="574041"/>
            <a:chOff x="0" y="0"/>
            <a:chExt cx="506412" cy="574040"/>
          </a:xfrm>
        </p:grpSpPr>
        <p:sp>
          <p:nvSpPr>
            <p:cNvPr id="225" name="圆角矩形"/>
            <p:cNvSpPr/>
            <p:nvPr>
              <p:custDataLst>
                <p:tags r:id="rId12"/>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6" name="4"/>
            <p:cNvSpPr txBox="1"/>
            <p:nvPr>
              <p:custDataLst>
                <p:tags r:id="rId13"/>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grpSp>
        <p:nvGrpSpPr>
          <p:cNvPr id="231" name="圆角矩形 12"/>
          <p:cNvGrpSpPr/>
          <p:nvPr>
            <p:custDataLst>
              <p:tags r:id="rId6"/>
            </p:custDataLst>
          </p:nvPr>
        </p:nvGrpSpPr>
        <p:grpSpPr>
          <a:xfrm>
            <a:off x="6021081" y="4037343"/>
            <a:ext cx="506413" cy="574041"/>
            <a:chOff x="0" y="0"/>
            <a:chExt cx="506412" cy="574040"/>
          </a:xfrm>
        </p:grpSpPr>
        <p:sp>
          <p:nvSpPr>
            <p:cNvPr id="229" name="圆角矩形"/>
            <p:cNvSpPr/>
            <p:nvPr>
              <p:custDataLst>
                <p:tags r:id="rId10"/>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30" name="5"/>
            <p:cNvSpPr txBox="1"/>
            <p:nvPr>
              <p:custDataLst>
                <p:tags r:id="rId11"/>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grpSp>
        <p:nvGrpSpPr>
          <p:cNvPr id="235" name="矩形 33"/>
          <p:cNvGrpSpPr/>
          <p:nvPr/>
        </p:nvGrpSpPr>
        <p:grpSpPr>
          <a:xfrm>
            <a:off x="0" y="0"/>
            <a:ext cx="3721100" cy="6858000"/>
            <a:chOff x="0" y="0"/>
            <a:chExt cx="3721100" cy="6858000"/>
          </a:xfrm>
        </p:grpSpPr>
        <p:sp>
          <p:nvSpPr>
            <p:cNvPr id="23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23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23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23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240" name="组合 14"/>
          <p:cNvGrpSpPr/>
          <p:nvPr/>
        </p:nvGrpSpPr>
        <p:grpSpPr>
          <a:xfrm>
            <a:off x="4827754" y="2399680"/>
            <a:ext cx="703580" cy="703580"/>
            <a:chOff x="0" y="0"/>
            <a:chExt cx="703578" cy="703578"/>
          </a:xfrm>
        </p:grpSpPr>
        <p:sp>
          <p:nvSpPr>
            <p:cNvPr id="238"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39"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2" name="矩形 7"/>
          <p:cNvSpPr txBox="1"/>
          <p:nvPr/>
        </p:nvSpPr>
        <p:spPr>
          <a:xfrm>
            <a:off x="6875287" y="1891750"/>
            <a:ext cx="1015661"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警种划分</a:t>
            </a:r>
          </a:p>
        </p:txBody>
      </p:sp>
      <p:sp>
        <p:nvSpPr>
          <p:cNvPr id="33" name="矩形 7"/>
          <p:cNvSpPr txBox="1"/>
          <p:nvPr/>
        </p:nvSpPr>
        <p:spPr>
          <a:xfrm>
            <a:off x="6874029" y="2630166"/>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分工如何运作</a:t>
            </a:r>
          </a:p>
        </p:txBody>
      </p:sp>
      <p:sp>
        <p:nvSpPr>
          <p:cNvPr id="652" name="矩形 13"/>
          <p:cNvSpPr txBox="1"/>
          <p:nvPr/>
        </p:nvSpPr>
        <p:spPr>
          <a:xfrm>
            <a:off x="6874029" y="4154418"/>
            <a:ext cx="124649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问题与改进</a:t>
            </a:r>
          </a:p>
        </p:txBody>
      </p:sp>
      <p:grpSp>
        <p:nvGrpSpPr>
          <p:cNvPr id="30" name="圆角矩形 12">
            <a:extLst>
              <a:ext uri="{FF2B5EF4-FFF2-40B4-BE49-F238E27FC236}">
                <a16:creationId xmlns:a16="http://schemas.microsoft.com/office/drawing/2014/main" id="{0649A779-6B3E-4F19-9C5E-9BB8206E9F74}"/>
              </a:ext>
            </a:extLst>
          </p:cNvPr>
          <p:cNvGrpSpPr/>
          <p:nvPr>
            <p:custDataLst>
              <p:tags r:id="rId7"/>
            </p:custDataLst>
          </p:nvPr>
        </p:nvGrpSpPr>
        <p:grpSpPr>
          <a:xfrm>
            <a:off x="6021082" y="4820646"/>
            <a:ext cx="506414" cy="584773"/>
            <a:chOff x="0" y="-5366"/>
            <a:chExt cx="506413" cy="584772"/>
          </a:xfrm>
        </p:grpSpPr>
        <p:sp>
          <p:nvSpPr>
            <p:cNvPr id="31" name="圆角矩形">
              <a:extLst>
                <a:ext uri="{FF2B5EF4-FFF2-40B4-BE49-F238E27FC236}">
                  <a16:creationId xmlns:a16="http://schemas.microsoft.com/office/drawing/2014/main" id="{C4ED9F6C-1CEB-4D6F-8630-59373F4A1CC4}"/>
                </a:ext>
              </a:extLst>
            </p:cNvPr>
            <p:cNvSpPr/>
            <p:nvPr>
              <p:custDataLst>
                <p:tags r:id="rId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2" name="5">
              <a:extLst>
                <a:ext uri="{FF2B5EF4-FFF2-40B4-BE49-F238E27FC236}">
                  <a16:creationId xmlns:a16="http://schemas.microsoft.com/office/drawing/2014/main" id="{AD20E037-FA13-476F-AAA3-371161CF83A4}"/>
                </a:ext>
              </a:extLst>
            </p:cNvPr>
            <p:cNvSpPr txBox="1"/>
            <p:nvPr>
              <p:custDataLst>
                <p:tags r:id="rId9"/>
              </p:custDataLst>
            </p:nvPr>
          </p:nvSpPr>
          <p:spPr>
            <a:xfrm>
              <a:off x="24644" y="-5366"/>
              <a:ext cx="457124" cy="584772"/>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rPr lang="en-US"/>
                <a:t>6</a:t>
              </a:r>
              <a:endParaRPr/>
            </a:p>
          </p:txBody>
        </p:sp>
      </p:grpSp>
      <p:sp>
        <p:nvSpPr>
          <p:cNvPr id="34" name="矩形 13">
            <a:extLst>
              <a:ext uri="{FF2B5EF4-FFF2-40B4-BE49-F238E27FC236}">
                <a16:creationId xmlns:a16="http://schemas.microsoft.com/office/drawing/2014/main" id="{BC4DDEB7-1AC3-49C0-899D-970F4C00C386}"/>
              </a:ext>
            </a:extLst>
          </p:cNvPr>
          <p:cNvSpPr txBox="1"/>
          <p:nvPr/>
        </p:nvSpPr>
        <p:spPr>
          <a:xfrm>
            <a:off x="6874029" y="4930102"/>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总结</a:t>
            </a:r>
          </a:p>
        </p:txBody>
      </p:sp>
      <p:sp>
        <p:nvSpPr>
          <p:cNvPr id="38" name="矩形 13">
            <a:extLst>
              <a:ext uri="{FF2B5EF4-FFF2-40B4-BE49-F238E27FC236}">
                <a16:creationId xmlns:a16="http://schemas.microsoft.com/office/drawing/2014/main" id="{545E8B07-1B06-4569-B70D-683129CF4B4F}"/>
              </a:ext>
            </a:extLst>
          </p:cNvPr>
          <p:cNvSpPr txBox="1"/>
          <p:nvPr/>
        </p:nvSpPr>
        <p:spPr>
          <a:xfrm>
            <a:off x="7109760" y="5686086"/>
            <a:ext cx="92395"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lang="zh-CN" altLang="en-US"/>
          </a:p>
        </p:txBody>
      </p:sp>
      <p:sp>
        <p:nvSpPr>
          <p:cNvPr id="39" name="矩形 7">
            <a:extLst>
              <a:ext uri="{FF2B5EF4-FFF2-40B4-BE49-F238E27FC236}">
                <a16:creationId xmlns:a16="http://schemas.microsoft.com/office/drawing/2014/main" id="{7C272FE9-AC75-4912-88D9-2A6205588F2D}"/>
              </a:ext>
            </a:extLst>
          </p:cNvPr>
          <p:cNvSpPr txBox="1"/>
          <p:nvPr/>
        </p:nvSpPr>
        <p:spPr>
          <a:xfrm>
            <a:off x="6874028" y="3416002"/>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lang="zh-CN" altLang="en-US">
                <a:solidFill>
                  <a:srgbClr val="000000"/>
                </a:solidFill>
                <a:sym typeface="Calibri" panose="020F0502020204030204"/>
              </a:rPr>
              <a:t>智能化下的警种分工</a:t>
            </a:r>
            <a:endParaRPr lang="en-US" altLang="zh-CN">
              <a:solidFill>
                <a:srgbClr val="000000"/>
              </a:solidFill>
              <a:sym typeface="Calibri" panose="020F0502020204030204"/>
            </a:endParaRPr>
          </a:p>
        </p:txBody>
      </p:sp>
    </p:spTree>
    <p:extLst>
      <p:ext uri="{BB962C8B-B14F-4D97-AF65-F5344CB8AC3E}">
        <p14:creationId xmlns:p14="http://schemas.microsoft.com/office/powerpoint/2010/main" val="221408594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indefinite" fill="hold"/>
                                        <p:tgtEl>
                                          <p:spTgt spid="240"/>
                                        </p:tgtEl>
                                        <p:attrNameLst>
                                          <p:attrName>style.visibility</p:attrName>
                                        </p:attrNameLst>
                                      </p:cBhvr>
                                      <p:to>
                                        <p:strVal val="visible"/>
                                      </p:to>
                                    </p:set>
                                    <p:anim calcmode="lin" valueType="num">
                                      <p:cBhvr>
                                        <p:cTn id="7" dur="500" fill="hold"/>
                                        <p:tgtEl>
                                          <p:spTgt spid="240"/>
                                        </p:tgtEl>
                                        <p:attrNameLst>
                                          <p:attrName>ppt_x</p:attrName>
                                        </p:attrNameLst>
                                      </p:cBhvr>
                                      <p:tavLst>
                                        <p:tav tm="0">
                                          <p:val>
                                            <p:strVal val="#ppt_x"/>
                                          </p:val>
                                        </p:tav>
                                        <p:tav tm="100000">
                                          <p:val>
                                            <p:strVal val="#ppt_x"/>
                                          </p:val>
                                        </p:tav>
                                      </p:tavLst>
                                    </p:anim>
                                    <p:anim calcmode="lin" valueType="num">
                                      <p:cBhvr>
                                        <p:cTn id="8" dur="500" fill="hold"/>
                                        <p:tgtEl>
                                          <p:spTgt spid="2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D4DD5C88-BCBA-4C12-9C2A-EC99E665444E}"/>
              </a:ext>
            </a:extLst>
          </p:cNvPr>
          <p:cNvSpPr/>
          <p:nvPr/>
        </p:nvSpPr>
        <p:spPr>
          <a:xfrm>
            <a:off x="1734094" y="3066018"/>
            <a:ext cx="8488833" cy="1152000"/>
          </a:xfrm>
          <a:prstGeom prst="roundRect">
            <a:avLst/>
          </a:prstGeom>
          <a:solidFill>
            <a:srgbClr val="FFFFFF"/>
          </a:solidFill>
          <a:ln w="12700" cap="flat">
            <a:solidFill>
              <a:schemeClr val="tx1">
                <a:lumMod val="50000"/>
                <a:lumOff val="50000"/>
              </a:schemeClr>
            </a:solidFill>
            <a:prstDash val="solid"/>
            <a:miter lim="800000"/>
          </a:ln>
          <a:effectLst>
            <a:outerShdw blurRad="50800" dist="50800" dir="3000000" algn="ctr" rotWithShape="0">
              <a:srgbClr val="000000">
                <a:alpha val="3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直角三角形 1">
            <a:extLst>
              <a:ext uri="{FF2B5EF4-FFF2-40B4-BE49-F238E27FC236}">
                <a16:creationId xmlns:a16="http://schemas.microsoft.com/office/drawing/2014/main" id="{8A87FFEA-E2AB-480A-AFC8-EB53D5C8C968}"/>
              </a:ext>
            </a:extLst>
          </p:cNvPr>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直角三角形 2">
            <a:extLst>
              <a:ext uri="{FF2B5EF4-FFF2-40B4-BE49-F238E27FC236}">
                <a16:creationId xmlns:a16="http://schemas.microsoft.com/office/drawing/2014/main" id="{9E1643DE-BB57-4A86-8EE3-02273D8E8E74}"/>
              </a:ext>
            </a:extLst>
          </p:cNvPr>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直角三角形 3">
            <a:extLst>
              <a:ext uri="{FF2B5EF4-FFF2-40B4-BE49-F238E27FC236}">
                <a16:creationId xmlns:a16="http://schemas.microsoft.com/office/drawing/2014/main" id="{F793F7C0-623D-4485-8628-5C7CF4B4B46A}"/>
              </a:ext>
            </a:extLst>
          </p:cNvPr>
          <p:cNvSpPr/>
          <p:nvPr/>
        </p:nvSpPr>
        <p:spPr>
          <a:xfrm>
            <a:off x="0" y="3295212"/>
            <a:ext cx="3019647" cy="3562788"/>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cxnSp>
        <p:nvCxnSpPr>
          <p:cNvPr id="6" name="直接箭头连接符 5">
            <a:extLst>
              <a:ext uri="{FF2B5EF4-FFF2-40B4-BE49-F238E27FC236}">
                <a16:creationId xmlns:a16="http://schemas.microsoft.com/office/drawing/2014/main" id="{D3127B99-58E7-43A5-953E-6F4F7358916F}"/>
              </a:ext>
            </a:extLst>
          </p:cNvPr>
          <p:cNvCxnSpPr/>
          <p:nvPr/>
        </p:nvCxnSpPr>
        <p:spPr>
          <a:xfrm>
            <a:off x="765544" y="1127051"/>
            <a:ext cx="10299405" cy="0"/>
          </a:xfrm>
          <a:prstGeom prst="straightConnector1">
            <a:avLst/>
          </a:prstGeom>
          <a:noFill/>
          <a:ln w="25400" cap="flat">
            <a:solidFill>
              <a:schemeClr val="bg1">
                <a:lumMod val="50000"/>
              </a:schemeClr>
            </a:solidFill>
            <a:prstDash val="solid"/>
            <a:miter lim="800000"/>
            <a:tailEnd type="triangle"/>
          </a:ln>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D4ADD0BF-410C-4205-962A-9F6E04C5EE0F}"/>
              </a:ext>
            </a:extLst>
          </p:cNvPr>
          <p:cNvSpPr txBox="1"/>
          <p:nvPr/>
        </p:nvSpPr>
        <p:spPr>
          <a:xfrm>
            <a:off x="836428" y="269358"/>
            <a:ext cx="9909221" cy="70788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hangingPunct="0"/>
            <a:r>
              <a:rPr lang="zh-CN" altLang="en-US" sz="4000" b="1">
                <a:solidFill>
                  <a:srgbClr val="000000"/>
                </a:solidFill>
                <a:latin typeface="微软雅黑" panose="020B0503020204020204" charset="-122"/>
                <a:ea typeface="微软雅黑" panose="020B0503020204020204" charset="-122"/>
              </a:rPr>
              <a:t>警种分工是如何真正运作的</a:t>
            </a:r>
            <a:endParaRPr lang="zh-CN" altLang="en-US" sz="4000" b="1">
              <a:solidFill>
                <a:srgbClr val="000000"/>
              </a:solidFill>
              <a:latin typeface="微软雅黑" panose="020B0503020204020204" charset="-122"/>
              <a:ea typeface="微软雅黑" panose="020B0503020204020204" charset="-122"/>
              <a:sym typeface="Calibri" panose="020F0502020204030204"/>
            </a:endParaRPr>
          </a:p>
        </p:txBody>
      </p:sp>
      <p:sp>
        <p:nvSpPr>
          <p:cNvPr id="9" name="矩形: 圆角 8">
            <a:extLst>
              <a:ext uri="{FF2B5EF4-FFF2-40B4-BE49-F238E27FC236}">
                <a16:creationId xmlns:a16="http://schemas.microsoft.com/office/drawing/2014/main" id="{E7B49456-ED28-448B-B431-5B4AEF1458E0}"/>
              </a:ext>
            </a:extLst>
          </p:cNvPr>
          <p:cNvSpPr/>
          <p:nvPr/>
        </p:nvSpPr>
        <p:spPr>
          <a:xfrm>
            <a:off x="1734095" y="1747016"/>
            <a:ext cx="8488834" cy="1152000"/>
          </a:xfrm>
          <a:prstGeom prst="roundRect">
            <a:avLst/>
          </a:prstGeom>
          <a:solidFill>
            <a:srgbClr val="FFFFFF"/>
          </a:solidFill>
          <a:ln w="12700" cap="flat">
            <a:solidFill>
              <a:schemeClr val="tx1">
                <a:lumMod val="50000"/>
                <a:lumOff val="50000"/>
              </a:schemeClr>
            </a:solidFill>
            <a:prstDash val="solid"/>
            <a:miter lim="800000"/>
          </a:ln>
          <a:effectLst>
            <a:outerShdw blurRad="50800" dist="50800" dir="3000000" algn="ctr" rotWithShape="0">
              <a:srgbClr val="000000">
                <a:alpha val="3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0" name="文本框 9">
            <a:extLst>
              <a:ext uri="{FF2B5EF4-FFF2-40B4-BE49-F238E27FC236}">
                <a16:creationId xmlns:a16="http://schemas.microsoft.com/office/drawing/2014/main" id="{E36463F1-44BA-443C-8890-120980410AA5}"/>
              </a:ext>
            </a:extLst>
          </p:cNvPr>
          <p:cNvSpPr txBox="1"/>
          <p:nvPr/>
        </p:nvSpPr>
        <p:spPr>
          <a:xfrm>
            <a:off x="2973988" y="1852137"/>
            <a:ext cx="6374296" cy="92332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b="1"/>
              <a:t>①按专业领域划分</a:t>
            </a:r>
            <a:br>
              <a:rPr lang="zh-CN" altLang="en-US"/>
            </a:br>
            <a:r>
              <a:rPr lang="zh-CN" altLang="en-US"/>
              <a:t>让专业的人做专业的事</a:t>
            </a:r>
            <a:br>
              <a:rPr lang="zh-CN" altLang="en-US"/>
            </a:br>
            <a:r>
              <a:rPr lang="zh-CN" altLang="en-US" sz="1600">
                <a:solidFill>
                  <a:schemeClr val="tx1">
                    <a:lumMod val="75000"/>
                    <a:lumOff val="25000"/>
                  </a:schemeClr>
                </a:solidFill>
              </a:rPr>
              <a:t>刑侦、网安、治安、交警、特警等</a:t>
            </a:r>
            <a:r>
              <a:rPr lang="zh-CN" altLang="en-US" sz="1600" u="sng">
                <a:solidFill>
                  <a:schemeClr val="tx1">
                    <a:lumMod val="75000"/>
                    <a:lumOff val="25000"/>
                  </a:schemeClr>
                </a:solidFill>
              </a:rPr>
              <a:t>分别处理不同类型</a:t>
            </a:r>
            <a:r>
              <a:rPr lang="zh-CN" altLang="en-US" sz="1600">
                <a:solidFill>
                  <a:schemeClr val="tx1">
                    <a:lumMod val="75000"/>
                    <a:lumOff val="25000"/>
                  </a:schemeClr>
                </a:solidFill>
              </a:rPr>
              <a:t>问题</a:t>
            </a:r>
            <a:endParaRPr lang="zh-CN" altLang="en-US">
              <a:solidFill>
                <a:schemeClr val="tx1">
                  <a:lumMod val="75000"/>
                  <a:lumOff val="25000"/>
                </a:schemeClr>
              </a:solidFill>
            </a:endParaRPr>
          </a:p>
        </p:txBody>
      </p:sp>
      <p:sp>
        <p:nvSpPr>
          <p:cNvPr id="5" name="文本框 4">
            <a:extLst>
              <a:ext uri="{FF2B5EF4-FFF2-40B4-BE49-F238E27FC236}">
                <a16:creationId xmlns:a16="http://schemas.microsoft.com/office/drawing/2014/main" id="{8772DD04-4E89-4692-9D3F-3162CCE81A4E}"/>
              </a:ext>
            </a:extLst>
          </p:cNvPr>
          <p:cNvSpPr txBox="1"/>
          <p:nvPr/>
        </p:nvSpPr>
        <p:spPr>
          <a:xfrm>
            <a:off x="836428" y="1252950"/>
            <a:ext cx="8936226" cy="64632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a:t>警务体系的运行，不只是“分警种”，而是专业、管辖与任务三种分工同时展开：</a:t>
            </a:r>
            <a:endParaRPr lang="en-US" altLang="zh-CN"/>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2" name="文本框 11">
            <a:extLst>
              <a:ext uri="{FF2B5EF4-FFF2-40B4-BE49-F238E27FC236}">
                <a16:creationId xmlns:a16="http://schemas.microsoft.com/office/drawing/2014/main" id="{6E9898E1-C9F4-483D-89E5-565D1B7E46A4}"/>
              </a:ext>
            </a:extLst>
          </p:cNvPr>
          <p:cNvSpPr txBox="1"/>
          <p:nvPr/>
        </p:nvSpPr>
        <p:spPr>
          <a:xfrm>
            <a:off x="2973988" y="3188603"/>
            <a:ext cx="6192496" cy="892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b="1"/>
              <a:t>②按管辖范围划分</a:t>
            </a:r>
            <a:br>
              <a:rPr lang="zh-CN" altLang="en-US"/>
            </a:br>
            <a:r>
              <a:rPr lang="zh-CN" altLang="en-US"/>
              <a:t>让每件事都有人负责</a:t>
            </a:r>
            <a:br>
              <a:rPr lang="zh-CN" altLang="en-US"/>
            </a:br>
            <a:r>
              <a:rPr lang="zh-CN" altLang="en-US" sz="1600" u="sng">
                <a:solidFill>
                  <a:schemeClr val="tx1">
                    <a:lumMod val="75000"/>
                    <a:lumOff val="25000"/>
                  </a:schemeClr>
                </a:solidFill>
              </a:rPr>
              <a:t>属地管辖</a:t>
            </a:r>
            <a:r>
              <a:rPr lang="zh-CN" altLang="en-US" sz="1600">
                <a:solidFill>
                  <a:schemeClr val="tx1">
                    <a:lumMod val="75000"/>
                    <a:lumOff val="25000"/>
                  </a:schemeClr>
                </a:solidFill>
              </a:rPr>
              <a:t> </a:t>
            </a:r>
            <a:r>
              <a:rPr lang="en-US" altLang="zh-CN" sz="1600">
                <a:solidFill>
                  <a:schemeClr val="tx1">
                    <a:lumMod val="75000"/>
                    <a:lumOff val="25000"/>
                  </a:schemeClr>
                </a:solidFill>
              </a:rPr>
              <a:t>/ </a:t>
            </a:r>
            <a:r>
              <a:rPr lang="zh-CN" altLang="en-US" sz="1600" u="sng">
                <a:solidFill>
                  <a:schemeClr val="tx1">
                    <a:lumMod val="75000"/>
                    <a:lumOff val="25000"/>
                  </a:schemeClr>
                </a:solidFill>
              </a:rPr>
              <a:t>行业管辖 </a:t>
            </a:r>
            <a:r>
              <a:rPr lang="en-US" altLang="zh-CN" sz="1600">
                <a:solidFill>
                  <a:schemeClr val="tx1">
                    <a:lumMod val="75000"/>
                    <a:lumOff val="25000"/>
                  </a:schemeClr>
                </a:solidFill>
              </a:rPr>
              <a:t>/ </a:t>
            </a:r>
            <a:r>
              <a:rPr lang="zh-CN" altLang="en-US" sz="1600" u="sng">
                <a:solidFill>
                  <a:schemeClr val="tx1">
                    <a:lumMod val="75000"/>
                    <a:lumOff val="25000"/>
                  </a:schemeClr>
                </a:solidFill>
              </a:rPr>
              <a:t>层级管辖</a:t>
            </a:r>
            <a:r>
              <a:rPr lang="zh-CN" altLang="en-US" sz="1600"/>
              <a:t>，</a:t>
            </a:r>
            <a:r>
              <a:rPr lang="zh-CN" altLang="en-US" sz="1600">
                <a:solidFill>
                  <a:schemeClr val="tx1">
                    <a:lumMod val="75000"/>
                    <a:lumOff val="25000"/>
                  </a:schemeClr>
                </a:solidFill>
              </a:rPr>
              <a:t>共同确保案件有人管、管得了</a:t>
            </a:r>
          </a:p>
        </p:txBody>
      </p:sp>
      <p:pic>
        <p:nvPicPr>
          <p:cNvPr id="18" name="图形 17" descr="公文包 纯色填充">
            <a:extLst>
              <a:ext uri="{FF2B5EF4-FFF2-40B4-BE49-F238E27FC236}">
                <a16:creationId xmlns:a16="http://schemas.microsoft.com/office/drawing/2014/main" id="{9657A4CB-E8E9-4618-B789-77F12F5003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96291" y="1903063"/>
            <a:ext cx="728357" cy="728357"/>
          </a:xfrm>
          <a:prstGeom prst="rect">
            <a:avLst/>
          </a:prstGeom>
        </p:spPr>
      </p:pic>
      <p:sp>
        <p:nvSpPr>
          <p:cNvPr id="19" name="矩形: 圆角 18">
            <a:extLst>
              <a:ext uri="{FF2B5EF4-FFF2-40B4-BE49-F238E27FC236}">
                <a16:creationId xmlns:a16="http://schemas.microsoft.com/office/drawing/2014/main" id="{0D8C81AD-8262-41B5-9A60-AEACE00E7536}"/>
              </a:ext>
            </a:extLst>
          </p:cNvPr>
          <p:cNvSpPr/>
          <p:nvPr/>
        </p:nvSpPr>
        <p:spPr>
          <a:xfrm>
            <a:off x="1734095" y="4502040"/>
            <a:ext cx="8488832" cy="1152000"/>
          </a:xfrm>
          <a:prstGeom prst="roundRect">
            <a:avLst/>
          </a:prstGeom>
          <a:solidFill>
            <a:srgbClr val="FFFFFF"/>
          </a:solidFill>
          <a:ln w="12700" cap="flat">
            <a:solidFill>
              <a:schemeClr val="tx1">
                <a:lumMod val="50000"/>
                <a:lumOff val="50000"/>
              </a:schemeClr>
            </a:solidFill>
            <a:prstDash val="solid"/>
            <a:miter lim="800000"/>
          </a:ln>
          <a:effectLst>
            <a:outerShdw blurRad="50800" dist="50800" dir="3000000" algn="ctr" rotWithShape="0">
              <a:srgbClr val="000000">
                <a:alpha val="3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0" name="文本框 19">
            <a:extLst>
              <a:ext uri="{FF2B5EF4-FFF2-40B4-BE49-F238E27FC236}">
                <a16:creationId xmlns:a16="http://schemas.microsoft.com/office/drawing/2014/main" id="{CCC0B778-B208-42BA-9258-C1668B4CD3C2}"/>
              </a:ext>
            </a:extLst>
          </p:cNvPr>
          <p:cNvSpPr txBox="1"/>
          <p:nvPr/>
        </p:nvSpPr>
        <p:spPr>
          <a:xfrm>
            <a:off x="2973988" y="4606395"/>
            <a:ext cx="7248939" cy="89255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b="1"/>
              <a:t>③按任务性质划分</a:t>
            </a:r>
            <a:br>
              <a:rPr lang="zh-CN" altLang="en-US"/>
            </a:br>
            <a:r>
              <a:rPr lang="zh-CN" altLang="en-US"/>
              <a:t>让日常与应急都能覆盖</a:t>
            </a:r>
            <a:br>
              <a:rPr lang="zh-CN" altLang="en-US"/>
            </a:br>
            <a:r>
              <a:rPr lang="zh-CN" altLang="en-US" sz="1600">
                <a:solidFill>
                  <a:schemeClr val="tx1">
                    <a:lumMod val="75000"/>
                    <a:lumOff val="25000"/>
                  </a:schemeClr>
                </a:solidFill>
              </a:rPr>
              <a:t>从日常走访巡逻到专项打击行动，再到应急突发事件处置，形成</a:t>
            </a:r>
            <a:r>
              <a:rPr lang="zh-CN" altLang="en-US" sz="1600" u="sng">
                <a:solidFill>
                  <a:schemeClr val="tx1">
                    <a:lumMod val="75000"/>
                    <a:lumOff val="25000"/>
                  </a:schemeClr>
                </a:solidFill>
              </a:rPr>
              <a:t>全时警务保障</a:t>
            </a:r>
          </a:p>
        </p:txBody>
      </p:sp>
      <p:pic>
        <p:nvPicPr>
          <p:cNvPr id="22" name="图形 21" descr="时钟 纯色填充">
            <a:extLst>
              <a:ext uri="{FF2B5EF4-FFF2-40B4-BE49-F238E27FC236}">
                <a16:creationId xmlns:a16="http://schemas.microsoft.com/office/drawing/2014/main" id="{FE9F80FF-C8DA-46C1-8A08-21418A11C3B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83377" y="4544539"/>
            <a:ext cx="687277" cy="687277"/>
          </a:xfrm>
          <a:prstGeom prst="rect">
            <a:avLst/>
          </a:prstGeom>
        </p:spPr>
      </p:pic>
      <p:pic>
        <p:nvPicPr>
          <p:cNvPr id="24" name="图形 23" descr="雇员徽章 纯色填充">
            <a:extLst>
              <a:ext uri="{FF2B5EF4-FFF2-40B4-BE49-F238E27FC236}">
                <a16:creationId xmlns:a16="http://schemas.microsoft.com/office/drawing/2014/main" id="{FAA93A9B-71E7-42CC-9C6C-DBDBD0AA906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41999" y="3239863"/>
            <a:ext cx="741147" cy="741147"/>
          </a:xfrm>
          <a:prstGeom prst="rect">
            <a:avLst/>
          </a:prstGeom>
        </p:spPr>
      </p:pic>
      <p:sp>
        <p:nvSpPr>
          <p:cNvPr id="25" name="矩形 24">
            <a:extLst>
              <a:ext uri="{FF2B5EF4-FFF2-40B4-BE49-F238E27FC236}">
                <a16:creationId xmlns:a16="http://schemas.microsoft.com/office/drawing/2014/main" id="{2610E335-FA55-4531-A78F-6C57F9BC1DF9}"/>
              </a:ext>
            </a:extLst>
          </p:cNvPr>
          <p:cNvSpPr/>
          <p:nvPr/>
        </p:nvSpPr>
        <p:spPr>
          <a:xfrm>
            <a:off x="1895061" y="5811847"/>
            <a:ext cx="8362121" cy="776795"/>
          </a:xfrm>
          <a:prstGeom prst="rect">
            <a:avLst/>
          </a:prstGeom>
          <a:solidFill>
            <a:srgbClr val="414455"/>
          </a:solidFill>
          <a:ln w="12700" cap="flat">
            <a:noFill/>
            <a:prstDash val="solid"/>
            <a:miter lim="800000"/>
          </a:ln>
          <a:effectLst>
            <a:outerShdw blurRad="50800" dist="50800" dir="5400000" algn="ctr" rotWithShape="0">
              <a:srgbClr val="000000">
                <a:alpha val="3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6" name="梯形 25">
            <a:extLst>
              <a:ext uri="{FF2B5EF4-FFF2-40B4-BE49-F238E27FC236}">
                <a16:creationId xmlns:a16="http://schemas.microsoft.com/office/drawing/2014/main" id="{645F642A-E8B6-44D2-AD16-D3E213C68D5E}"/>
              </a:ext>
            </a:extLst>
          </p:cNvPr>
          <p:cNvSpPr/>
          <p:nvPr/>
        </p:nvSpPr>
        <p:spPr>
          <a:xfrm rot="18750288">
            <a:off x="1300161" y="1777106"/>
            <a:ext cx="1548000" cy="576000"/>
          </a:xfrm>
          <a:prstGeom prst="trapezoid">
            <a:avLst>
              <a:gd name="adj" fmla="val 78786"/>
            </a:avLst>
          </a:prstGeom>
          <a:solidFill>
            <a:srgbClr val="414455"/>
          </a:solidFill>
          <a:ln w="12700" cap="flat">
            <a:solidFill>
              <a:srgbClr val="414455"/>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7" name="文本框 26">
            <a:extLst>
              <a:ext uri="{FF2B5EF4-FFF2-40B4-BE49-F238E27FC236}">
                <a16:creationId xmlns:a16="http://schemas.microsoft.com/office/drawing/2014/main" id="{C544FD95-DC39-4703-964A-EA56016E6850}"/>
              </a:ext>
            </a:extLst>
          </p:cNvPr>
          <p:cNvSpPr txBox="1"/>
          <p:nvPr/>
        </p:nvSpPr>
        <p:spPr>
          <a:xfrm rot="18657754">
            <a:off x="1625265" y="1858057"/>
            <a:ext cx="1072810" cy="33855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600" b="1">
                <a:solidFill>
                  <a:schemeClr val="bg1"/>
                </a:solidFill>
              </a:rPr>
              <a:t>专业处理</a:t>
            </a:r>
            <a:endParaRPr kumimoji="0" lang="zh-CN" altLang="en-US" sz="1600" b="1" i="0" u="none" strike="noStrike" cap="none" spc="0" normalizeH="0" baseline="0">
              <a:ln>
                <a:noFill/>
              </a:ln>
              <a:solidFill>
                <a:schemeClr val="bg1"/>
              </a:solidFill>
              <a:effectLst/>
              <a:uFillTx/>
              <a:latin typeface="+mn-lt"/>
              <a:ea typeface="+mn-ea"/>
              <a:cs typeface="+mn-cs"/>
              <a:sym typeface="Calibri" panose="020F0502020204030204"/>
            </a:endParaRPr>
          </a:p>
        </p:txBody>
      </p:sp>
      <p:sp>
        <p:nvSpPr>
          <p:cNvPr id="28" name="梯形 27">
            <a:extLst>
              <a:ext uri="{FF2B5EF4-FFF2-40B4-BE49-F238E27FC236}">
                <a16:creationId xmlns:a16="http://schemas.microsoft.com/office/drawing/2014/main" id="{7F6AFEDA-1DA0-470E-B60F-4FDFF66487AA}"/>
              </a:ext>
            </a:extLst>
          </p:cNvPr>
          <p:cNvSpPr/>
          <p:nvPr/>
        </p:nvSpPr>
        <p:spPr>
          <a:xfrm rot="18750288">
            <a:off x="1300161" y="3144783"/>
            <a:ext cx="1548000" cy="576000"/>
          </a:xfrm>
          <a:prstGeom prst="trapezoid">
            <a:avLst>
              <a:gd name="adj" fmla="val 78786"/>
            </a:avLst>
          </a:prstGeom>
          <a:solidFill>
            <a:srgbClr val="414455"/>
          </a:solidFill>
          <a:ln w="12700" cap="flat">
            <a:solidFill>
              <a:srgbClr val="414455"/>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9" name="文本框 28">
            <a:extLst>
              <a:ext uri="{FF2B5EF4-FFF2-40B4-BE49-F238E27FC236}">
                <a16:creationId xmlns:a16="http://schemas.microsoft.com/office/drawing/2014/main" id="{494CEBBC-BE89-4327-B938-28EE355AF524}"/>
              </a:ext>
            </a:extLst>
          </p:cNvPr>
          <p:cNvSpPr txBox="1"/>
          <p:nvPr/>
        </p:nvSpPr>
        <p:spPr>
          <a:xfrm rot="18657754">
            <a:off x="1625265" y="3225734"/>
            <a:ext cx="1072810" cy="33855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600" b="1" i="0" u="none" strike="noStrike" cap="none" spc="0" normalizeH="0" baseline="0">
                <a:ln>
                  <a:noFill/>
                </a:ln>
                <a:solidFill>
                  <a:schemeClr val="bg1"/>
                </a:solidFill>
                <a:effectLst/>
                <a:uFillTx/>
                <a:latin typeface="+mn-lt"/>
                <a:ea typeface="+mn-ea"/>
                <a:cs typeface="+mn-cs"/>
                <a:sym typeface="Calibri" panose="020F0502020204030204"/>
              </a:rPr>
              <a:t>避免推诿</a:t>
            </a:r>
          </a:p>
        </p:txBody>
      </p:sp>
      <p:sp>
        <p:nvSpPr>
          <p:cNvPr id="30" name="梯形 29">
            <a:extLst>
              <a:ext uri="{FF2B5EF4-FFF2-40B4-BE49-F238E27FC236}">
                <a16:creationId xmlns:a16="http://schemas.microsoft.com/office/drawing/2014/main" id="{009B1CE5-68E6-4D1E-8095-697355845D76}"/>
              </a:ext>
            </a:extLst>
          </p:cNvPr>
          <p:cNvSpPr/>
          <p:nvPr/>
        </p:nvSpPr>
        <p:spPr>
          <a:xfrm rot="18750288">
            <a:off x="1297692" y="4555761"/>
            <a:ext cx="1548000" cy="576000"/>
          </a:xfrm>
          <a:prstGeom prst="trapezoid">
            <a:avLst>
              <a:gd name="adj" fmla="val 78786"/>
            </a:avLst>
          </a:prstGeom>
          <a:solidFill>
            <a:srgbClr val="414455"/>
          </a:solidFill>
          <a:ln w="12700" cap="flat">
            <a:solidFill>
              <a:srgbClr val="414455"/>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1" name="文本框 30">
            <a:extLst>
              <a:ext uri="{FF2B5EF4-FFF2-40B4-BE49-F238E27FC236}">
                <a16:creationId xmlns:a16="http://schemas.microsoft.com/office/drawing/2014/main" id="{73CD2A5A-5193-4FF0-80E8-4D4242D81E6E}"/>
              </a:ext>
            </a:extLst>
          </p:cNvPr>
          <p:cNvSpPr txBox="1"/>
          <p:nvPr/>
        </p:nvSpPr>
        <p:spPr>
          <a:xfrm rot="18657754">
            <a:off x="1622796" y="4636712"/>
            <a:ext cx="1072810" cy="33855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600" b="1">
                <a:solidFill>
                  <a:schemeClr val="bg1"/>
                </a:solidFill>
                <a:sym typeface="Calibri" panose="020F0502020204030204"/>
              </a:rPr>
              <a:t>全时覆盖</a:t>
            </a:r>
            <a:endParaRPr kumimoji="0" lang="zh-CN" altLang="en-US" sz="1600" b="1" i="0" u="none" strike="noStrike" cap="none" spc="0" normalizeH="0" baseline="0">
              <a:ln>
                <a:noFill/>
              </a:ln>
              <a:solidFill>
                <a:schemeClr val="bg1"/>
              </a:solidFill>
              <a:effectLst/>
              <a:uFillTx/>
              <a:latin typeface="+mn-lt"/>
              <a:ea typeface="+mn-ea"/>
              <a:cs typeface="+mn-cs"/>
              <a:sym typeface="Calibri" panose="020F0502020204030204"/>
            </a:endParaRPr>
          </a:p>
        </p:txBody>
      </p:sp>
      <p:sp>
        <p:nvSpPr>
          <p:cNvPr id="32" name="文本框 31">
            <a:extLst>
              <a:ext uri="{FF2B5EF4-FFF2-40B4-BE49-F238E27FC236}">
                <a16:creationId xmlns:a16="http://schemas.microsoft.com/office/drawing/2014/main" id="{9AB49400-17D0-4478-9271-B515F3445547}"/>
              </a:ext>
            </a:extLst>
          </p:cNvPr>
          <p:cNvSpPr txBox="1"/>
          <p:nvPr/>
        </p:nvSpPr>
        <p:spPr>
          <a:xfrm>
            <a:off x="2280221" y="5965377"/>
            <a:ext cx="8784728" cy="46166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b="1">
                <a:solidFill>
                  <a:schemeClr val="bg1"/>
                </a:solidFill>
              </a:rPr>
              <a:t>三种分工维度叠加在一起，才构成真正运行中的警务体系</a:t>
            </a:r>
            <a:endParaRPr lang="zh-CN" altLang="en-US" sz="2400" b="1">
              <a:solidFill>
                <a:schemeClr val="bg1"/>
              </a:solidFill>
              <a:sym typeface="Calibri" panose="020F0502020204030204"/>
            </a:endParaRPr>
          </a:p>
        </p:txBody>
      </p:sp>
      <p:pic>
        <p:nvPicPr>
          <p:cNvPr id="34" name="图形 33" descr="单级齿轮 纯色填充">
            <a:extLst>
              <a:ext uri="{FF2B5EF4-FFF2-40B4-BE49-F238E27FC236}">
                <a16:creationId xmlns:a16="http://schemas.microsoft.com/office/drawing/2014/main" id="{00295F1E-F7C8-42EF-8889-70CCC93B4EC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477618" y="5565304"/>
            <a:ext cx="914400" cy="914400"/>
          </a:xfrm>
          <a:prstGeom prst="rect">
            <a:avLst/>
          </a:prstGeom>
          <a:effectLst>
            <a:outerShdw blurRad="50800" dist="50800" dir="3000000" algn="ctr" rotWithShape="0">
              <a:srgbClr val="000000">
                <a:alpha val="99000"/>
              </a:srgbClr>
            </a:outerShdw>
          </a:effectLst>
        </p:spPr>
      </p:pic>
      <p:pic>
        <p:nvPicPr>
          <p:cNvPr id="35" name="图形 34" descr="单级齿轮 纯色填充">
            <a:extLst>
              <a:ext uri="{FF2B5EF4-FFF2-40B4-BE49-F238E27FC236}">
                <a16:creationId xmlns:a16="http://schemas.microsoft.com/office/drawing/2014/main" id="{9488184F-8D54-4521-AE38-4BED55285F7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908194" y="6177677"/>
            <a:ext cx="560953" cy="560953"/>
          </a:xfrm>
          <a:prstGeom prst="rect">
            <a:avLst/>
          </a:prstGeom>
          <a:effectLst>
            <a:outerShdw blurRad="50800" dist="50800" dir="3000000" algn="ctr" rotWithShape="0">
              <a:srgbClr val="000000">
                <a:alpha val="99000"/>
              </a:srgbClr>
            </a:outerShdw>
          </a:effectLst>
        </p:spPr>
      </p:pic>
      <p:sp>
        <p:nvSpPr>
          <p:cNvPr id="42" name="对话气泡: 圆角矩形 41">
            <a:extLst>
              <a:ext uri="{FF2B5EF4-FFF2-40B4-BE49-F238E27FC236}">
                <a16:creationId xmlns:a16="http://schemas.microsoft.com/office/drawing/2014/main" id="{784F8480-0205-4367-8315-F530BFD286D7}"/>
              </a:ext>
            </a:extLst>
          </p:cNvPr>
          <p:cNvSpPr/>
          <p:nvPr/>
        </p:nvSpPr>
        <p:spPr>
          <a:xfrm>
            <a:off x="9772654" y="2495461"/>
            <a:ext cx="2253624" cy="715087"/>
          </a:xfrm>
          <a:prstGeom prst="wedgeRoundRectCallout">
            <a:avLst>
              <a:gd name="adj1" fmla="val -46442"/>
              <a:gd name="adj2" fmla="val 79098"/>
              <a:gd name="adj3" fmla="val 16667"/>
            </a:avLst>
          </a:prstGeom>
          <a:solidFill>
            <a:srgbClr val="FFFFFF"/>
          </a:solidFill>
          <a:ln w="12700" cap="flat">
            <a:solidFill>
              <a:srgbClr val="414455"/>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1" i="0" u="none" strike="noStrike" cap="none" normalizeH="0" baseline="0">
                <a:ln>
                  <a:noFill/>
                </a:ln>
                <a:solidFill>
                  <a:schemeClr val="tx1"/>
                </a:solidFill>
                <a:effectLst/>
                <a:latin typeface="Arial" panose="020B0604020202020204" pitchFamily="34" charset="0"/>
              </a:rPr>
              <a:t>属地管辖</a:t>
            </a:r>
            <a:r>
              <a:rPr kumimoji="0" lang="zh-CN" altLang="zh-CN" sz="1200" b="0" i="0" u="none" strike="noStrike" cap="none" normalizeH="0" baseline="0">
                <a:ln>
                  <a:noFill/>
                </a:ln>
                <a:solidFill>
                  <a:schemeClr val="tx1"/>
                </a:solidFill>
                <a:effectLst/>
                <a:latin typeface="Arial" panose="020B0604020202020204" pitchFamily="34" charset="0"/>
              </a:rPr>
              <a:t>：事发地负责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1" i="0" u="none" strike="noStrike" cap="none" normalizeH="0" baseline="0">
                <a:ln>
                  <a:noFill/>
                </a:ln>
                <a:solidFill>
                  <a:schemeClr val="tx1"/>
                </a:solidFill>
                <a:effectLst/>
                <a:latin typeface="Arial" panose="020B0604020202020204" pitchFamily="34" charset="0"/>
              </a:rPr>
              <a:t>行业管辖</a:t>
            </a:r>
            <a:r>
              <a:rPr kumimoji="0" lang="zh-CN" altLang="zh-CN" sz="1200" b="0" i="0" u="none" strike="noStrike" cap="none" normalizeH="0" baseline="0">
                <a:ln>
                  <a:noFill/>
                </a:ln>
                <a:solidFill>
                  <a:schemeClr val="tx1"/>
                </a:solidFill>
                <a:effectLst/>
                <a:latin typeface="Arial" panose="020B0604020202020204" pitchFamily="34" charset="0"/>
              </a:rPr>
              <a:t>：特殊行业专管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1" i="0" u="none" strike="noStrike" cap="none" normalizeH="0" baseline="0">
                <a:ln>
                  <a:noFill/>
                </a:ln>
                <a:solidFill>
                  <a:schemeClr val="tx1"/>
                </a:solidFill>
                <a:effectLst/>
                <a:latin typeface="Arial" panose="020B0604020202020204" pitchFamily="34" charset="0"/>
              </a:rPr>
              <a:t>层级管辖</a:t>
            </a:r>
            <a:r>
              <a:rPr kumimoji="0" lang="zh-CN" altLang="zh-CN" sz="1200" b="0" i="0" u="none" strike="noStrike" cap="none" normalizeH="0" baseline="0">
                <a:ln>
                  <a:noFill/>
                </a:ln>
                <a:solidFill>
                  <a:schemeClr val="tx1"/>
                </a:solidFill>
                <a:effectLst/>
                <a:latin typeface="Arial" panose="020B0604020202020204" pitchFamily="34" charset="0"/>
              </a:rPr>
              <a:t>：重大案件上提 </a:t>
            </a:r>
            <a:endParaRPr kumimoji="0" lang="zh-CN" altLang="en-US" sz="12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extLst>
      <p:ext uri="{BB962C8B-B14F-4D97-AF65-F5344CB8AC3E}">
        <p14:creationId xmlns:p14="http://schemas.microsoft.com/office/powerpoint/2010/main" val="245511159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8A87FFEA-E2AB-480A-AFC8-EB53D5C8C968}"/>
              </a:ext>
            </a:extLst>
          </p:cNvPr>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直角三角形 2">
            <a:extLst>
              <a:ext uri="{FF2B5EF4-FFF2-40B4-BE49-F238E27FC236}">
                <a16:creationId xmlns:a16="http://schemas.microsoft.com/office/drawing/2014/main" id="{9E1643DE-BB57-4A86-8EE3-02273D8E8E74}"/>
              </a:ext>
            </a:extLst>
          </p:cNvPr>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直角三角形 3">
            <a:extLst>
              <a:ext uri="{FF2B5EF4-FFF2-40B4-BE49-F238E27FC236}">
                <a16:creationId xmlns:a16="http://schemas.microsoft.com/office/drawing/2014/main" id="{F793F7C0-623D-4485-8628-5C7CF4B4B46A}"/>
              </a:ext>
            </a:extLst>
          </p:cNvPr>
          <p:cNvSpPr/>
          <p:nvPr/>
        </p:nvSpPr>
        <p:spPr>
          <a:xfrm>
            <a:off x="0" y="3295212"/>
            <a:ext cx="3019647" cy="3562788"/>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cxnSp>
        <p:nvCxnSpPr>
          <p:cNvPr id="6" name="直接箭头连接符 5">
            <a:extLst>
              <a:ext uri="{FF2B5EF4-FFF2-40B4-BE49-F238E27FC236}">
                <a16:creationId xmlns:a16="http://schemas.microsoft.com/office/drawing/2014/main" id="{D3127B99-58E7-43A5-953E-6F4F7358916F}"/>
              </a:ext>
            </a:extLst>
          </p:cNvPr>
          <p:cNvCxnSpPr/>
          <p:nvPr/>
        </p:nvCxnSpPr>
        <p:spPr>
          <a:xfrm>
            <a:off x="765544" y="1127051"/>
            <a:ext cx="10299405" cy="0"/>
          </a:xfrm>
          <a:prstGeom prst="straightConnector1">
            <a:avLst/>
          </a:prstGeom>
          <a:noFill/>
          <a:ln w="25400" cap="flat">
            <a:solidFill>
              <a:schemeClr val="bg1">
                <a:lumMod val="50000"/>
              </a:schemeClr>
            </a:solidFill>
            <a:prstDash val="solid"/>
            <a:miter lim="800000"/>
            <a:tailEnd type="triangle"/>
          </a:ln>
        </p:spPr>
        <p:style>
          <a:lnRef idx="0">
            <a:scrgbClr r="0" g="0" b="0"/>
          </a:lnRef>
          <a:fillRef idx="0">
            <a:scrgbClr r="0" g="0" b="0"/>
          </a:fillRef>
          <a:effectRef idx="0">
            <a:scrgbClr r="0" g="0" b="0"/>
          </a:effectRef>
          <a:fontRef idx="none"/>
        </p:style>
      </p:cxnSp>
      <p:sp>
        <p:nvSpPr>
          <p:cNvPr id="8" name="文本框 7">
            <a:extLst>
              <a:ext uri="{FF2B5EF4-FFF2-40B4-BE49-F238E27FC236}">
                <a16:creationId xmlns:a16="http://schemas.microsoft.com/office/drawing/2014/main" id="{D4ADD0BF-410C-4205-962A-9F6E04C5EE0F}"/>
              </a:ext>
            </a:extLst>
          </p:cNvPr>
          <p:cNvSpPr txBox="1"/>
          <p:nvPr/>
        </p:nvSpPr>
        <p:spPr>
          <a:xfrm>
            <a:off x="836428" y="269358"/>
            <a:ext cx="9909221" cy="70788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hangingPunct="0"/>
            <a:r>
              <a:rPr lang="zh-CN" altLang="en-US" sz="4000" b="1">
                <a:solidFill>
                  <a:srgbClr val="000000"/>
                </a:solidFill>
                <a:latin typeface="微软雅黑" panose="020B0503020204020204" charset="-122"/>
                <a:ea typeface="微软雅黑" panose="020B0503020204020204" charset="-122"/>
              </a:rPr>
              <a:t>分工的目标不是分家，而是协同作战</a:t>
            </a:r>
            <a:endParaRPr lang="zh-CN" altLang="en-US" sz="4000" b="1">
              <a:solidFill>
                <a:srgbClr val="000000"/>
              </a:solidFill>
              <a:latin typeface="微软雅黑" panose="020B0503020204020204" charset="-122"/>
              <a:ea typeface="微软雅黑" panose="020B0503020204020204" charset="-122"/>
              <a:sym typeface="Calibri" panose="020F0502020204030204"/>
            </a:endParaRPr>
          </a:p>
        </p:txBody>
      </p:sp>
      <p:pic>
        <p:nvPicPr>
          <p:cNvPr id="2050" name="Picture 2">
            <a:extLst>
              <a:ext uri="{FF2B5EF4-FFF2-40B4-BE49-F238E27FC236}">
                <a16:creationId xmlns:a16="http://schemas.microsoft.com/office/drawing/2014/main" id="{A63A2400-D22F-47F2-9469-0FC1FF48F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7396" y="1189262"/>
            <a:ext cx="3795010" cy="284280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7ECBC858-F1D7-4A19-9838-A183BF0E3927}"/>
              </a:ext>
            </a:extLst>
          </p:cNvPr>
          <p:cNvSpPr txBox="1"/>
          <p:nvPr/>
        </p:nvSpPr>
        <p:spPr>
          <a:xfrm>
            <a:off x="1229193" y="1376388"/>
            <a:ext cx="5636302" cy="92332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a:t>2016</a:t>
            </a:r>
            <a:r>
              <a:rPr lang="zh-CN" altLang="en-US"/>
              <a:t>年</a:t>
            </a:r>
            <a:r>
              <a:rPr lang="en-US" altLang="zh-CN"/>
              <a:t>1</a:t>
            </a:r>
            <a:r>
              <a:rPr lang="zh-CN" altLang="en-US"/>
              <a:t>月，同济大学一名大二女生遭遇假冒“公检法”电信诈骗，被诱导转走 </a:t>
            </a:r>
            <a:r>
              <a:rPr lang="en-US" altLang="zh-CN"/>
              <a:t>70 </a:t>
            </a:r>
            <a:r>
              <a:rPr lang="zh-CN" altLang="en-US"/>
              <a:t>余万元，并按骗子指令前往外地“躲避调查”，家属一度误以为其被绑架而报警。 </a:t>
            </a: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3" name="矩形: 圆角 12">
            <a:extLst>
              <a:ext uri="{FF2B5EF4-FFF2-40B4-BE49-F238E27FC236}">
                <a16:creationId xmlns:a16="http://schemas.microsoft.com/office/drawing/2014/main" id="{E812D3B2-6CEF-4A1A-BF30-D1EE9DAFF101}"/>
              </a:ext>
            </a:extLst>
          </p:cNvPr>
          <p:cNvSpPr/>
          <p:nvPr/>
        </p:nvSpPr>
        <p:spPr>
          <a:xfrm>
            <a:off x="796540" y="2469693"/>
            <a:ext cx="2906409" cy="1532332"/>
          </a:xfrm>
          <a:prstGeom prst="roundRect">
            <a:avLst/>
          </a:prstGeom>
          <a:solidFill>
            <a:srgbClr val="FFFFFF"/>
          </a:solidFill>
          <a:ln w="12700" cap="flat">
            <a:solidFill>
              <a:srgbClr val="414455"/>
            </a:solidFill>
            <a:prstDash val="solid"/>
            <a:miter lim="800000"/>
          </a:ln>
          <a:effectLst>
            <a:outerShdw blurRad="50800" dist="50800" dir="5400000" algn="ctr" rotWithShape="0">
              <a:srgbClr val="000000">
                <a:alpha val="46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342900" marR="0" indent="-342900" algn="l" defTabSz="914400" rtl="0" fontAlgn="auto" latinLnBrk="0" hangingPunct="0">
              <a:lnSpc>
                <a:spcPct val="100000"/>
              </a:lnSpc>
              <a:spcBef>
                <a:spcPts val="0"/>
              </a:spcBef>
              <a:spcAft>
                <a:spcPts val="0"/>
              </a:spcAft>
              <a:buClrTx/>
              <a:buSzTx/>
              <a:buFontTx/>
              <a:buAutoNum type="arabicPeriod"/>
            </a:pPr>
            <a:r>
              <a:rPr lang="zh-CN" altLang="en-US" b="1" u="sng"/>
              <a:t>属地公安</a:t>
            </a:r>
            <a:r>
              <a:rPr lang="zh-CN" altLang="en-US"/>
              <a:t>先接警处置</a:t>
            </a:r>
            <a:endParaRPr lang="en-US" altLang="zh-CN"/>
          </a:p>
          <a:p>
            <a:pPr marR="0" algn="l" defTabSz="914400" rtl="0" fontAlgn="auto" latinLnBrk="0" hangingPunct="0">
              <a:lnSpc>
                <a:spcPct val="100000"/>
              </a:lnSpc>
              <a:spcBef>
                <a:spcPts val="0"/>
              </a:spcBef>
              <a:spcAft>
                <a:spcPts val="0"/>
              </a:spcAft>
              <a:buClrTx/>
              <a:buSzTx/>
            </a:pPr>
            <a:br>
              <a:rPr lang="zh-CN" altLang="en-US"/>
            </a:br>
            <a:r>
              <a:rPr lang="zh-CN" altLang="en-US" sz="1600">
                <a:solidFill>
                  <a:schemeClr val="tx1">
                    <a:lumMod val="75000"/>
                    <a:lumOff val="25000"/>
                  </a:schemeClr>
                </a:solidFill>
              </a:rPr>
              <a:t>家属发现失联后，首先向派出所报警，警方随即启动搜救。</a:t>
            </a:r>
            <a:endParaRPr lang="en-US" altLang="zh-CN" sz="1600">
              <a:solidFill>
                <a:schemeClr val="tx1">
                  <a:lumMod val="75000"/>
                  <a:lumOff val="25000"/>
                </a:schemeClr>
              </a:solidFill>
            </a:endParaRPr>
          </a:p>
          <a:p>
            <a:pPr marR="0" algn="l" defTabSz="914400" rtl="0" fontAlgn="auto" latinLnBrk="0" hangingPunct="0">
              <a:lnSpc>
                <a:spcPct val="100000"/>
              </a:lnSpc>
              <a:spcBef>
                <a:spcPts val="0"/>
              </a:spcBef>
              <a:spcAft>
                <a:spcPts val="0"/>
              </a:spcAft>
              <a:buClrTx/>
              <a:buSzTx/>
            </a:pPr>
            <a:r>
              <a:rPr lang="zh-CN" altLang="en-US" sz="1600">
                <a:solidFill>
                  <a:schemeClr val="tx1">
                    <a:lumMod val="75000"/>
                    <a:lumOff val="25000"/>
                  </a:schemeClr>
                </a:solidFill>
              </a:rPr>
              <a:t> </a:t>
            </a:r>
            <a:endParaRPr kumimoji="0" lang="zh-CN" altLang="en-US" sz="2000" b="0" i="0" u="none" strike="noStrike" cap="none" spc="0" normalizeH="0" baseline="0">
              <a:ln>
                <a:noFill/>
              </a:ln>
              <a:solidFill>
                <a:schemeClr val="tx1">
                  <a:lumMod val="75000"/>
                  <a:lumOff val="25000"/>
                </a:schemeClr>
              </a:solidFill>
              <a:effectLst/>
              <a:uFillTx/>
              <a:latin typeface="+mn-lt"/>
              <a:ea typeface="+mn-ea"/>
              <a:cs typeface="+mn-cs"/>
              <a:sym typeface="Calibri" panose="020F0502020204030204"/>
            </a:endParaRPr>
          </a:p>
        </p:txBody>
      </p:sp>
      <p:sp>
        <p:nvSpPr>
          <p:cNvPr id="21" name="矩形: 圆角 20">
            <a:extLst>
              <a:ext uri="{FF2B5EF4-FFF2-40B4-BE49-F238E27FC236}">
                <a16:creationId xmlns:a16="http://schemas.microsoft.com/office/drawing/2014/main" id="{BE19A60F-3F1C-48AA-A8EB-569F09F8FF95}"/>
              </a:ext>
            </a:extLst>
          </p:cNvPr>
          <p:cNvSpPr/>
          <p:nvPr/>
        </p:nvSpPr>
        <p:spPr>
          <a:xfrm>
            <a:off x="4188880" y="2457432"/>
            <a:ext cx="3236190" cy="1532332"/>
          </a:xfrm>
          <a:prstGeom prst="roundRect">
            <a:avLst/>
          </a:prstGeom>
          <a:solidFill>
            <a:srgbClr val="FFFFFF"/>
          </a:solidFill>
          <a:ln w="12700" cap="flat">
            <a:solidFill>
              <a:srgbClr val="414455"/>
            </a:solidFill>
            <a:prstDash val="solid"/>
            <a:miter lim="800000"/>
          </a:ln>
          <a:effectLst>
            <a:outerShdw blurRad="50800" dist="50800" dir="5400000" algn="ctr" rotWithShape="0">
              <a:srgbClr val="000000">
                <a:alpha val="46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b="1"/>
              <a:t>2.   </a:t>
            </a:r>
            <a:r>
              <a:rPr lang="zh-CN" altLang="en-US" b="1" u="sng"/>
              <a:t>侦查力量</a:t>
            </a:r>
            <a:r>
              <a:rPr lang="zh-CN" altLang="en-US"/>
              <a:t>负责追踪排查</a:t>
            </a:r>
            <a:endParaRPr lang="en-US" altLang="zh-CN"/>
          </a:p>
          <a:p>
            <a:pPr marL="0" marR="0" indent="0" algn="l" defTabSz="914400" rtl="0" fontAlgn="auto" latinLnBrk="0" hangingPunct="0">
              <a:lnSpc>
                <a:spcPct val="100000"/>
              </a:lnSpc>
              <a:spcBef>
                <a:spcPts val="0"/>
              </a:spcBef>
              <a:spcAft>
                <a:spcPts val="0"/>
              </a:spcAft>
              <a:buClrTx/>
              <a:buSzTx/>
              <a:buFontTx/>
              <a:buNone/>
            </a:pPr>
            <a:br>
              <a:rPr lang="zh-CN" altLang="en-US"/>
            </a:br>
            <a:r>
              <a:rPr lang="zh-CN" altLang="en-US" sz="1600">
                <a:solidFill>
                  <a:schemeClr val="tx1">
                    <a:lumMod val="75000"/>
                    <a:lumOff val="25000"/>
                  </a:schemeClr>
                </a:solidFill>
              </a:rPr>
              <a:t>上海警方调阅大量现场监控，查明她从同济大学嘉定校区离开后前往杭州、绍兴。</a:t>
            </a:r>
            <a:endParaRPr lang="zh-CN" altLang="en-US" sz="1600">
              <a:solidFill>
                <a:schemeClr val="tx1">
                  <a:lumMod val="75000"/>
                  <a:lumOff val="25000"/>
                </a:schemeClr>
              </a:solidFill>
              <a:sym typeface="Calibri" panose="020F0502020204030204"/>
            </a:endParaRPr>
          </a:p>
        </p:txBody>
      </p:sp>
      <p:sp>
        <p:nvSpPr>
          <p:cNvPr id="22" name="矩形: 圆角 21">
            <a:extLst>
              <a:ext uri="{FF2B5EF4-FFF2-40B4-BE49-F238E27FC236}">
                <a16:creationId xmlns:a16="http://schemas.microsoft.com/office/drawing/2014/main" id="{D18D4DE3-CE60-4C30-9EE4-AD2C336BED45}"/>
              </a:ext>
            </a:extLst>
          </p:cNvPr>
          <p:cNvSpPr/>
          <p:nvPr/>
        </p:nvSpPr>
        <p:spPr>
          <a:xfrm>
            <a:off x="4188880" y="4373562"/>
            <a:ext cx="3236190" cy="1532332"/>
          </a:xfrm>
          <a:prstGeom prst="roundRect">
            <a:avLst/>
          </a:prstGeom>
          <a:solidFill>
            <a:srgbClr val="FFFFFF"/>
          </a:solidFill>
          <a:ln w="12700" cap="flat">
            <a:solidFill>
              <a:srgbClr val="414455"/>
            </a:solidFill>
            <a:prstDash val="solid"/>
            <a:miter lim="800000"/>
          </a:ln>
          <a:effectLst>
            <a:outerShdw blurRad="50800" dist="50800" dir="5400000" algn="ctr" rotWithShape="0">
              <a:srgbClr val="000000">
                <a:alpha val="46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R="0" algn="l" defTabSz="914400" rtl="0" fontAlgn="auto" latinLnBrk="0" hangingPunct="0">
              <a:lnSpc>
                <a:spcPct val="100000"/>
              </a:lnSpc>
              <a:spcBef>
                <a:spcPts val="0"/>
              </a:spcBef>
              <a:spcAft>
                <a:spcPts val="0"/>
              </a:spcAft>
              <a:buClrTx/>
              <a:buSzTx/>
            </a:pPr>
            <a:r>
              <a:rPr lang="en-US" altLang="zh-CN" b="1"/>
              <a:t>3.   </a:t>
            </a:r>
            <a:r>
              <a:rPr lang="zh-CN" altLang="en-US" b="1" u="sng"/>
              <a:t>技术手段</a:t>
            </a:r>
            <a:r>
              <a:rPr lang="zh-CN" altLang="en-US"/>
              <a:t>提供支撑</a:t>
            </a:r>
            <a:endParaRPr lang="en-US" altLang="zh-CN"/>
          </a:p>
          <a:p>
            <a:pPr marR="0" algn="l" defTabSz="914400" rtl="0" fontAlgn="auto" latinLnBrk="0" hangingPunct="0">
              <a:lnSpc>
                <a:spcPct val="100000"/>
              </a:lnSpc>
              <a:spcBef>
                <a:spcPts val="0"/>
              </a:spcBef>
              <a:spcAft>
                <a:spcPts val="0"/>
              </a:spcAft>
              <a:buClrTx/>
              <a:buSzTx/>
            </a:pPr>
            <a:br>
              <a:rPr lang="zh-CN" altLang="en-US"/>
            </a:br>
            <a:r>
              <a:rPr lang="zh-CN" altLang="en-US" sz="1600">
                <a:solidFill>
                  <a:schemeClr val="tx1">
                    <a:lumMod val="75000"/>
                    <a:lumOff val="25000"/>
                  </a:schemeClr>
                </a:solidFill>
              </a:rPr>
              <a:t>在接警后 </a:t>
            </a:r>
            <a:r>
              <a:rPr lang="en-US" altLang="zh-CN" sz="1600">
                <a:solidFill>
                  <a:schemeClr val="tx1">
                    <a:lumMod val="75000"/>
                    <a:lumOff val="25000"/>
                  </a:schemeClr>
                </a:solidFill>
              </a:rPr>
              <a:t>48 </a:t>
            </a:r>
            <a:r>
              <a:rPr lang="zh-CN" altLang="en-US" sz="1600">
                <a:solidFill>
                  <a:schemeClr val="tx1">
                    <a:lumMod val="75000"/>
                    <a:lumOff val="25000"/>
                  </a:schemeClr>
                </a:solidFill>
              </a:rPr>
              <a:t>小时内，警方通过技术手段确定两名受害人的位置，并最终找到人。 </a:t>
            </a:r>
            <a:endParaRPr lang="zh-CN" altLang="en-US" sz="1600">
              <a:solidFill>
                <a:schemeClr val="tx1">
                  <a:lumMod val="75000"/>
                  <a:lumOff val="25000"/>
                </a:schemeClr>
              </a:solidFill>
              <a:sym typeface="Calibri" panose="020F0502020204030204"/>
            </a:endParaRPr>
          </a:p>
        </p:txBody>
      </p:sp>
      <p:sp>
        <p:nvSpPr>
          <p:cNvPr id="23" name="矩形: 圆角 22">
            <a:extLst>
              <a:ext uri="{FF2B5EF4-FFF2-40B4-BE49-F238E27FC236}">
                <a16:creationId xmlns:a16="http://schemas.microsoft.com/office/drawing/2014/main" id="{C1DF2DF9-E6CD-41C4-B0E0-3B1665D41177}"/>
              </a:ext>
            </a:extLst>
          </p:cNvPr>
          <p:cNvSpPr/>
          <p:nvPr/>
        </p:nvSpPr>
        <p:spPr>
          <a:xfrm>
            <a:off x="760778" y="4373562"/>
            <a:ext cx="2942171" cy="1532332"/>
          </a:xfrm>
          <a:prstGeom prst="roundRect">
            <a:avLst/>
          </a:prstGeom>
          <a:solidFill>
            <a:srgbClr val="FFFFFF"/>
          </a:solidFill>
          <a:ln w="12700" cap="flat">
            <a:solidFill>
              <a:srgbClr val="414455"/>
            </a:solidFill>
            <a:prstDash val="solid"/>
            <a:miter lim="800000"/>
          </a:ln>
          <a:effectLst>
            <a:outerShdw blurRad="50800" dist="50800" dir="5400000" algn="ctr" rotWithShape="0">
              <a:srgbClr val="000000">
                <a:alpha val="46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R="0" algn="l" defTabSz="914400" rtl="0" fontAlgn="auto" latinLnBrk="0" hangingPunct="0">
              <a:lnSpc>
                <a:spcPct val="100000"/>
              </a:lnSpc>
              <a:spcBef>
                <a:spcPts val="0"/>
              </a:spcBef>
              <a:spcAft>
                <a:spcPts val="0"/>
              </a:spcAft>
              <a:buClrTx/>
              <a:buSzTx/>
            </a:pPr>
            <a:r>
              <a:rPr lang="en-US" altLang="zh-CN" b="1"/>
              <a:t>4.   </a:t>
            </a:r>
            <a:r>
              <a:rPr lang="zh-CN" altLang="en-US" b="1" u="sng"/>
              <a:t>刑侦力量</a:t>
            </a:r>
            <a:r>
              <a:rPr lang="zh-CN" altLang="en-US"/>
              <a:t>继续案件侦办</a:t>
            </a:r>
            <a:endParaRPr lang="en-US" altLang="zh-CN"/>
          </a:p>
          <a:p>
            <a:pPr marR="0" algn="l" defTabSz="914400" rtl="0" fontAlgn="auto" latinLnBrk="0" hangingPunct="0">
              <a:lnSpc>
                <a:spcPct val="100000"/>
              </a:lnSpc>
              <a:spcBef>
                <a:spcPts val="0"/>
              </a:spcBef>
              <a:spcAft>
                <a:spcPts val="0"/>
              </a:spcAft>
              <a:buClrTx/>
              <a:buSzTx/>
            </a:pPr>
            <a:br>
              <a:rPr lang="zh-CN" altLang="en-US"/>
            </a:br>
            <a:r>
              <a:rPr lang="zh-CN" altLang="en-US" sz="1600">
                <a:solidFill>
                  <a:schemeClr val="tx1">
                    <a:lumMod val="75000"/>
                    <a:lumOff val="25000"/>
                  </a:schemeClr>
                </a:solidFill>
              </a:rPr>
              <a:t>松江公安分局刑侦支队反侵财队参与介绍案情，案件进入进一步侦查阶段。</a:t>
            </a:r>
            <a:endParaRPr lang="zh-CN" altLang="en-US" sz="1600">
              <a:solidFill>
                <a:schemeClr val="tx1">
                  <a:lumMod val="75000"/>
                  <a:lumOff val="25000"/>
                </a:schemeClr>
              </a:solidFill>
              <a:sym typeface="Calibri" panose="020F0502020204030204"/>
            </a:endParaRPr>
          </a:p>
        </p:txBody>
      </p:sp>
      <p:sp>
        <p:nvSpPr>
          <p:cNvPr id="14" name="文本框 13">
            <a:extLst>
              <a:ext uri="{FF2B5EF4-FFF2-40B4-BE49-F238E27FC236}">
                <a16:creationId xmlns:a16="http://schemas.microsoft.com/office/drawing/2014/main" id="{26C1B363-2E7C-48A2-8F0C-E2CA9FCC94F4}"/>
              </a:ext>
            </a:extLst>
          </p:cNvPr>
          <p:cNvSpPr txBox="1"/>
          <p:nvPr/>
        </p:nvSpPr>
        <p:spPr>
          <a:xfrm>
            <a:off x="7683707" y="4742182"/>
            <a:ext cx="3236190" cy="58477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hangingPunct="0"/>
            <a:r>
              <a:rPr lang="zh-CN" altLang="zh-CN" sz="1600"/>
              <a:t>一个复杂案件</a:t>
            </a:r>
            <a:r>
              <a:rPr lang="zh-CN" altLang="en-US" sz="1600"/>
              <a:t>，需要</a:t>
            </a:r>
            <a:r>
              <a:rPr lang="zh-CN" altLang="zh-CN" sz="1600"/>
              <a:t>多</a:t>
            </a:r>
            <a:r>
              <a:rPr lang="zh-CN" altLang="en-US" sz="1600"/>
              <a:t>个</a:t>
            </a:r>
            <a:r>
              <a:rPr lang="zh-CN" altLang="zh-CN" sz="1600"/>
              <a:t>警种无缝配合</a:t>
            </a:r>
            <a:r>
              <a:rPr lang="zh-CN" altLang="en-US" sz="1600"/>
              <a:t>，多个环节协同推进</a:t>
            </a:r>
            <a:endParaRPr kumimoji="0" lang="zh-CN" altLang="en-US" sz="1600" b="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6" name="矩形 25">
            <a:extLst>
              <a:ext uri="{FF2B5EF4-FFF2-40B4-BE49-F238E27FC236}">
                <a16:creationId xmlns:a16="http://schemas.microsoft.com/office/drawing/2014/main" id="{FCFEA55D-2121-4EC7-B4A9-3850CD1AB571}"/>
              </a:ext>
            </a:extLst>
          </p:cNvPr>
          <p:cNvSpPr/>
          <p:nvPr/>
        </p:nvSpPr>
        <p:spPr>
          <a:xfrm>
            <a:off x="1420830" y="6061389"/>
            <a:ext cx="8592079" cy="670024"/>
          </a:xfrm>
          <a:prstGeom prst="rect">
            <a:avLst/>
          </a:prstGeom>
          <a:solidFill>
            <a:srgbClr val="414455"/>
          </a:solidFill>
          <a:ln w="12700" cap="flat">
            <a:noFill/>
            <a:prstDash val="solid"/>
            <a:miter lim="800000"/>
          </a:ln>
          <a:effectLst>
            <a:outerShdw blurRad="50800" dist="50800" dir="5400000" algn="ctr" rotWithShape="0">
              <a:srgbClr val="000000">
                <a:alpha val="3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5" name="文本框 24">
            <a:extLst>
              <a:ext uri="{FF2B5EF4-FFF2-40B4-BE49-F238E27FC236}">
                <a16:creationId xmlns:a16="http://schemas.microsoft.com/office/drawing/2014/main" id="{86E3CC14-3488-484A-9DB7-618BBE41ED3C}"/>
              </a:ext>
            </a:extLst>
          </p:cNvPr>
          <p:cNvSpPr txBox="1"/>
          <p:nvPr/>
        </p:nvSpPr>
        <p:spPr>
          <a:xfrm>
            <a:off x="1501089" y="6178663"/>
            <a:ext cx="8969020"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hangingPunct="0"/>
            <a:r>
              <a:rPr lang="zh-CN" altLang="en-US" sz="2400" b="1">
                <a:solidFill>
                  <a:schemeClr val="bg1"/>
                </a:solidFill>
              </a:rPr>
              <a:t>分工</a:t>
            </a:r>
            <a:r>
              <a:rPr lang="zh-CN" altLang="zh-CN" sz="2400" b="1">
                <a:solidFill>
                  <a:schemeClr val="bg1"/>
                </a:solidFill>
              </a:rPr>
              <a:t>核心目标：明确职责边界，打破部门壁垒，形成整体合力</a:t>
            </a:r>
          </a:p>
        </p:txBody>
      </p:sp>
      <p:pic>
        <p:nvPicPr>
          <p:cNvPr id="27" name="图形 26" descr="闪电 纯色填充">
            <a:extLst>
              <a:ext uri="{FF2B5EF4-FFF2-40B4-BE49-F238E27FC236}">
                <a16:creationId xmlns:a16="http://schemas.microsoft.com/office/drawing/2014/main" id="{55597FE3-9616-4692-8FE0-D986C6F861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55709" y="5714647"/>
            <a:ext cx="914400" cy="914400"/>
          </a:xfrm>
          <a:prstGeom prst="rect">
            <a:avLst/>
          </a:prstGeom>
          <a:effectLst>
            <a:outerShdw blurRad="50800" dist="50800" dir="5400000" algn="ctr" rotWithShape="0">
              <a:srgbClr val="000000"/>
            </a:outerShdw>
          </a:effectLst>
        </p:spPr>
      </p:pic>
    </p:spTree>
    <p:extLst>
      <p:ext uri="{BB962C8B-B14F-4D97-AF65-F5344CB8AC3E}">
        <p14:creationId xmlns:p14="http://schemas.microsoft.com/office/powerpoint/2010/main" val="347717093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圆角矩形 4"/>
          <p:cNvGrpSpPr/>
          <p:nvPr>
            <p:custDataLst>
              <p:tags r:id="rId1"/>
            </p:custDataLst>
          </p:nvPr>
        </p:nvGrpSpPr>
        <p:grpSpPr>
          <a:xfrm>
            <a:off x="6021081" y="1021094"/>
            <a:ext cx="506413" cy="574041"/>
            <a:chOff x="0" y="0"/>
            <a:chExt cx="506412" cy="574040"/>
          </a:xfrm>
        </p:grpSpPr>
        <p:sp>
          <p:nvSpPr>
            <p:cNvPr id="213" name="圆角矩形"/>
            <p:cNvSpPr/>
            <p:nvPr>
              <p:custDataLst>
                <p:tags r:id="rId1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4" name="1"/>
            <p:cNvSpPr txBox="1"/>
            <p:nvPr>
              <p:custDataLst>
                <p:tags r:id="rId19"/>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216" name="矩形 5"/>
          <p:cNvSpPr txBox="1"/>
          <p:nvPr>
            <p:custDataLst>
              <p:tags r:id="rId2"/>
            </p:custDataLst>
          </p:nvPr>
        </p:nvSpPr>
        <p:spPr>
          <a:xfrm>
            <a:off x="6875287" y="1116066"/>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引入</a:t>
            </a:r>
            <a:endParaRPr/>
          </a:p>
        </p:txBody>
      </p:sp>
      <p:grpSp>
        <p:nvGrpSpPr>
          <p:cNvPr id="219" name="圆角矩形 6"/>
          <p:cNvGrpSpPr/>
          <p:nvPr>
            <p:custDataLst>
              <p:tags r:id="rId3"/>
            </p:custDataLst>
          </p:nvPr>
        </p:nvGrpSpPr>
        <p:grpSpPr>
          <a:xfrm>
            <a:off x="6021081" y="1775156"/>
            <a:ext cx="506413" cy="574041"/>
            <a:chOff x="0" y="0"/>
            <a:chExt cx="506412" cy="574040"/>
          </a:xfrm>
        </p:grpSpPr>
        <p:sp>
          <p:nvSpPr>
            <p:cNvPr id="217" name="圆角矩形"/>
            <p:cNvSpPr/>
            <p:nvPr>
              <p:custDataLst>
                <p:tags r:id="rId16"/>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8" name="2"/>
            <p:cNvSpPr txBox="1"/>
            <p:nvPr>
              <p:custDataLst>
                <p:tags r:id="rId17"/>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grpSp>
        <p:nvGrpSpPr>
          <p:cNvPr id="223" name="圆角矩形 8"/>
          <p:cNvGrpSpPr/>
          <p:nvPr>
            <p:custDataLst>
              <p:tags r:id="rId4"/>
            </p:custDataLst>
          </p:nvPr>
        </p:nvGrpSpPr>
        <p:grpSpPr>
          <a:xfrm>
            <a:off x="6021081" y="2529219"/>
            <a:ext cx="506413" cy="574041"/>
            <a:chOff x="0" y="0"/>
            <a:chExt cx="506412" cy="574040"/>
          </a:xfrm>
        </p:grpSpPr>
        <p:sp>
          <p:nvSpPr>
            <p:cNvPr id="221" name="圆角矩形"/>
            <p:cNvSpPr/>
            <p:nvPr>
              <p:custDataLst>
                <p:tags r:id="rId14"/>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2" name="3"/>
            <p:cNvSpPr txBox="1"/>
            <p:nvPr>
              <p:custDataLst>
                <p:tags r:id="rId15"/>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grpSp>
        <p:nvGrpSpPr>
          <p:cNvPr id="227" name="圆角矩形 10"/>
          <p:cNvGrpSpPr/>
          <p:nvPr>
            <p:custDataLst>
              <p:tags r:id="rId5"/>
            </p:custDataLst>
          </p:nvPr>
        </p:nvGrpSpPr>
        <p:grpSpPr>
          <a:xfrm>
            <a:off x="6021081" y="3283281"/>
            <a:ext cx="506413" cy="574041"/>
            <a:chOff x="0" y="0"/>
            <a:chExt cx="506412" cy="574040"/>
          </a:xfrm>
        </p:grpSpPr>
        <p:sp>
          <p:nvSpPr>
            <p:cNvPr id="225" name="圆角矩形"/>
            <p:cNvSpPr/>
            <p:nvPr>
              <p:custDataLst>
                <p:tags r:id="rId12"/>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6" name="4"/>
            <p:cNvSpPr txBox="1"/>
            <p:nvPr>
              <p:custDataLst>
                <p:tags r:id="rId13"/>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grpSp>
        <p:nvGrpSpPr>
          <p:cNvPr id="231" name="圆角矩形 12"/>
          <p:cNvGrpSpPr/>
          <p:nvPr>
            <p:custDataLst>
              <p:tags r:id="rId6"/>
            </p:custDataLst>
          </p:nvPr>
        </p:nvGrpSpPr>
        <p:grpSpPr>
          <a:xfrm>
            <a:off x="6021081" y="4037343"/>
            <a:ext cx="506413" cy="574041"/>
            <a:chOff x="0" y="0"/>
            <a:chExt cx="506412" cy="574040"/>
          </a:xfrm>
        </p:grpSpPr>
        <p:sp>
          <p:nvSpPr>
            <p:cNvPr id="229" name="圆角矩形"/>
            <p:cNvSpPr/>
            <p:nvPr>
              <p:custDataLst>
                <p:tags r:id="rId10"/>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30" name="5"/>
            <p:cNvSpPr txBox="1"/>
            <p:nvPr>
              <p:custDataLst>
                <p:tags r:id="rId11"/>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grpSp>
        <p:nvGrpSpPr>
          <p:cNvPr id="235" name="矩形 33"/>
          <p:cNvGrpSpPr/>
          <p:nvPr/>
        </p:nvGrpSpPr>
        <p:grpSpPr>
          <a:xfrm>
            <a:off x="0" y="0"/>
            <a:ext cx="3721100" cy="6858000"/>
            <a:chOff x="0" y="0"/>
            <a:chExt cx="3721100" cy="6858000"/>
          </a:xfrm>
        </p:grpSpPr>
        <p:sp>
          <p:nvSpPr>
            <p:cNvPr id="23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23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23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23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240" name="组合 14"/>
          <p:cNvGrpSpPr/>
          <p:nvPr/>
        </p:nvGrpSpPr>
        <p:grpSpPr>
          <a:xfrm>
            <a:off x="4887715" y="3218511"/>
            <a:ext cx="703580" cy="703580"/>
            <a:chOff x="0" y="0"/>
            <a:chExt cx="703578" cy="703578"/>
          </a:xfrm>
        </p:grpSpPr>
        <p:sp>
          <p:nvSpPr>
            <p:cNvPr id="238"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39"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2" name="矩形 7"/>
          <p:cNvSpPr txBox="1"/>
          <p:nvPr/>
        </p:nvSpPr>
        <p:spPr>
          <a:xfrm>
            <a:off x="6875287" y="1891750"/>
            <a:ext cx="1015661"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警种划分</a:t>
            </a:r>
          </a:p>
        </p:txBody>
      </p:sp>
      <p:sp>
        <p:nvSpPr>
          <p:cNvPr id="33" name="矩形 7"/>
          <p:cNvSpPr txBox="1"/>
          <p:nvPr/>
        </p:nvSpPr>
        <p:spPr>
          <a:xfrm>
            <a:off x="6874029" y="2630166"/>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分工如何运作</a:t>
            </a:r>
          </a:p>
        </p:txBody>
      </p:sp>
      <p:sp>
        <p:nvSpPr>
          <p:cNvPr id="652" name="矩形 13"/>
          <p:cNvSpPr txBox="1"/>
          <p:nvPr/>
        </p:nvSpPr>
        <p:spPr>
          <a:xfrm>
            <a:off x="6874029" y="4154418"/>
            <a:ext cx="124649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问题与改进</a:t>
            </a:r>
          </a:p>
        </p:txBody>
      </p:sp>
      <p:grpSp>
        <p:nvGrpSpPr>
          <p:cNvPr id="30" name="圆角矩形 12">
            <a:extLst>
              <a:ext uri="{FF2B5EF4-FFF2-40B4-BE49-F238E27FC236}">
                <a16:creationId xmlns:a16="http://schemas.microsoft.com/office/drawing/2014/main" id="{0649A779-6B3E-4F19-9C5E-9BB8206E9F74}"/>
              </a:ext>
            </a:extLst>
          </p:cNvPr>
          <p:cNvGrpSpPr/>
          <p:nvPr>
            <p:custDataLst>
              <p:tags r:id="rId7"/>
            </p:custDataLst>
          </p:nvPr>
        </p:nvGrpSpPr>
        <p:grpSpPr>
          <a:xfrm>
            <a:off x="6021082" y="4820646"/>
            <a:ext cx="506414" cy="584773"/>
            <a:chOff x="0" y="-5366"/>
            <a:chExt cx="506413" cy="584772"/>
          </a:xfrm>
        </p:grpSpPr>
        <p:sp>
          <p:nvSpPr>
            <p:cNvPr id="31" name="圆角矩形">
              <a:extLst>
                <a:ext uri="{FF2B5EF4-FFF2-40B4-BE49-F238E27FC236}">
                  <a16:creationId xmlns:a16="http://schemas.microsoft.com/office/drawing/2014/main" id="{C4ED9F6C-1CEB-4D6F-8630-59373F4A1CC4}"/>
                </a:ext>
              </a:extLst>
            </p:cNvPr>
            <p:cNvSpPr/>
            <p:nvPr>
              <p:custDataLst>
                <p:tags r:id="rId8"/>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2" name="5">
              <a:extLst>
                <a:ext uri="{FF2B5EF4-FFF2-40B4-BE49-F238E27FC236}">
                  <a16:creationId xmlns:a16="http://schemas.microsoft.com/office/drawing/2014/main" id="{AD20E037-FA13-476F-AAA3-371161CF83A4}"/>
                </a:ext>
              </a:extLst>
            </p:cNvPr>
            <p:cNvSpPr txBox="1"/>
            <p:nvPr>
              <p:custDataLst>
                <p:tags r:id="rId9"/>
              </p:custDataLst>
            </p:nvPr>
          </p:nvSpPr>
          <p:spPr>
            <a:xfrm>
              <a:off x="24644" y="-5366"/>
              <a:ext cx="457124" cy="584772"/>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rPr lang="en-US"/>
                <a:t>6</a:t>
              </a:r>
              <a:endParaRPr/>
            </a:p>
          </p:txBody>
        </p:sp>
      </p:grpSp>
      <p:sp>
        <p:nvSpPr>
          <p:cNvPr id="34" name="矩形 13">
            <a:extLst>
              <a:ext uri="{FF2B5EF4-FFF2-40B4-BE49-F238E27FC236}">
                <a16:creationId xmlns:a16="http://schemas.microsoft.com/office/drawing/2014/main" id="{BC4DDEB7-1AC3-49C0-899D-970F4C00C386}"/>
              </a:ext>
            </a:extLst>
          </p:cNvPr>
          <p:cNvSpPr txBox="1"/>
          <p:nvPr/>
        </p:nvSpPr>
        <p:spPr>
          <a:xfrm>
            <a:off x="6874029" y="4930102"/>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总结</a:t>
            </a:r>
          </a:p>
        </p:txBody>
      </p:sp>
      <p:sp>
        <p:nvSpPr>
          <p:cNvPr id="38" name="矩形 13">
            <a:extLst>
              <a:ext uri="{FF2B5EF4-FFF2-40B4-BE49-F238E27FC236}">
                <a16:creationId xmlns:a16="http://schemas.microsoft.com/office/drawing/2014/main" id="{545E8B07-1B06-4569-B70D-683129CF4B4F}"/>
              </a:ext>
            </a:extLst>
          </p:cNvPr>
          <p:cNvSpPr txBox="1"/>
          <p:nvPr/>
        </p:nvSpPr>
        <p:spPr>
          <a:xfrm>
            <a:off x="7109760" y="5686086"/>
            <a:ext cx="92395"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lang="zh-CN" altLang="en-US"/>
          </a:p>
        </p:txBody>
      </p:sp>
      <p:sp>
        <p:nvSpPr>
          <p:cNvPr id="39" name="矩形 7">
            <a:extLst>
              <a:ext uri="{FF2B5EF4-FFF2-40B4-BE49-F238E27FC236}">
                <a16:creationId xmlns:a16="http://schemas.microsoft.com/office/drawing/2014/main" id="{7C272FE9-AC75-4912-88D9-2A6205588F2D}"/>
              </a:ext>
            </a:extLst>
          </p:cNvPr>
          <p:cNvSpPr txBox="1"/>
          <p:nvPr/>
        </p:nvSpPr>
        <p:spPr>
          <a:xfrm>
            <a:off x="6874028" y="3416002"/>
            <a:ext cx="2868773" cy="369332"/>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indent="0" algn="l" defTabSz="914400" rtl="0" fontAlgn="auto" latinLnBrk="0" hangingPunct="0">
              <a:lnSpc>
                <a:spcPct val="100000"/>
              </a:lnSpc>
              <a:spcBef>
                <a:spcPts val="0"/>
              </a:spcBef>
              <a:spcAft>
                <a:spcPts val="0"/>
              </a:spcAft>
              <a:buClrTx/>
              <a:buSzTx/>
              <a:buFontTx/>
              <a:buNone/>
            </a:pPr>
            <a:r>
              <a:rPr lang="zh-CN" altLang="en-US">
                <a:solidFill>
                  <a:srgbClr val="000000"/>
                </a:solidFill>
                <a:sym typeface="Calibri" panose="020F0502020204030204"/>
              </a:rPr>
              <a:t>智能化下的警种分工</a:t>
            </a:r>
            <a:endParaRPr lang="en-US" altLang="zh-CN">
              <a:solidFill>
                <a:srgbClr val="000000"/>
              </a:solidFill>
              <a:sym typeface="Calibri" panose="020F0502020204030204"/>
            </a:endParaRPr>
          </a:p>
        </p:txBody>
      </p:sp>
    </p:spTree>
    <p:extLst>
      <p:ext uri="{BB962C8B-B14F-4D97-AF65-F5344CB8AC3E}">
        <p14:creationId xmlns:p14="http://schemas.microsoft.com/office/powerpoint/2010/main" val="165685440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indefinite" fill="hold"/>
                                        <p:tgtEl>
                                          <p:spTgt spid="240"/>
                                        </p:tgtEl>
                                        <p:attrNameLst>
                                          <p:attrName>style.visibility</p:attrName>
                                        </p:attrNameLst>
                                      </p:cBhvr>
                                      <p:to>
                                        <p:strVal val="visible"/>
                                      </p:to>
                                    </p:set>
                                    <p:anim calcmode="lin" valueType="num">
                                      <p:cBhvr>
                                        <p:cTn id="7" dur="500" fill="hold"/>
                                        <p:tgtEl>
                                          <p:spTgt spid="240"/>
                                        </p:tgtEl>
                                        <p:attrNameLst>
                                          <p:attrName>ppt_x</p:attrName>
                                        </p:attrNameLst>
                                      </p:cBhvr>
                                      <p:tavLst>
                                        <p:tav tm="0">
                                          <p:val>
                                            <p:strVal val="#ppt_x"/>
                                          </p:val>
                                        </p:tav>
                                        <p:tav tm="100000">
                                          <p:val>
                                            <p:strVal val="#ppt_x"/>
                                          </p:val>
                                        </p:tav>
                                      </p:tavLst>
                                    </p:anim>
                                    <p:anim calcmode="lin" valueType="num">
                                      <p:cBhvr>
                                        <p:cTn id="8" dur="500" fill="hold"/>
                                        <p:tgtEl>
                                          <p:spTgt spid="2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 name="矩形 10"/>
          <p:cNvSpPr txBox="1"/>
          <p:nvPr/>
        </p:nvSpPr>
        <p:spPr>
          <a:xfrm>
            <a:off x="5084982" y="1372989"/>
            <a:ext cx="3552519" cy="1436345"/>
          </a:xfrm>
          <a:prstGeom prst="rect">
            <a:avLst/>
          </a:prstGeom>
          <a:ln w="12700">
            <a:miter lim="400000"/>
          </a:ln>
        </p:spPr>
        <p:txBody>
          <a:bodyPr lIns="45715" tIns="45715" rIns="45715" bIns="45715">
            <a:spAutoFit/>
          </a:bodyPr>
          <a:lstStyle>
            <a:lvl1pPr>
              <a:lnSpc>
                <a:spcPct val="150000"/>
              </a:lnSpc>
              <a:defRPr sz="6600" b="1">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marL="0" marR="0" lvl="0" indent="0" algn="l" defTabSz="914400" rtl="0" eaLnBrk="1" fontAlgn="auto" latinLnBrk="0" hangingPunct="0">
              <a:lnSpc>
                <a:spcPct val="150000"/>
              </a:lnSpc>
              <a:spcBef>
                <a:spcPts val="0"/>
              </a:spcBef>
              <a:spcAft>
                <a:spcPts val="0"/>
              </a:spcAft>
              <a:buClrTx/>
              <a:buSzTx/>
              <a:buFontTx/>
              <a:buNone/>
              <a:tabLst/>
              <a:defRPr/>
            </a:pPr>
            <a:r>
              <a:rPr kumimoji="0" sz="6600" b="1" i="0" u="none" strike="noStrike" kern="0" cap="none" spc="0" normalizeH="0" baseline="0" noProof="0">
                <a:ln>
                  <a:noFill/>
                </a:ln>
                <a:solidFill>
                  <a:srgbClr val="414455"/>
                </a:solidFill>
                <a:effectLst/>
                <a:uLnTx/>
                <a:uFillTx/>
                <a:latin typeface="微软雅黑" panose="020B0503020204020204" charset="-122"/>
                <a:ea typeface="微软雅黑" panose="020B0503020204020204" charset="-122"/>
                <a:sym typeface="微软雅黑" panose="020B0503020204020204" charset="-122"/>
              </a:rPr>
              <a:t>谢谢</a:t>
            </a:r>
            <a:r>
              <a:rPr kumimoji="0" lang="en-US" sz="6600" b="1" i="0" u="none" strike="noStrike" kern="0" cap="none" spc="0" normalizeH="0" baseline="0" noProof="0">
                <a:ln>
                  <a:noFill/>
                </a:ln>
                <a:solidFill>
                  <a:srgbClr val="414455"/>
                </a:solidFill>
                <a:effectLst/>
                <a:uLnTx/>
                <a:uFillTx/>
                <a:latin typeface="微软雅黑" panose="020B0503020204020204" charset="-122"/>
                <a:ea typeface="微软雅黑" panose="020B0503020204020204" charset="-122"/>
                <a:sym typeface="微软雅黑" panose="020B0503020204020204" charset="-122"/>
              </a:rPr>
              <a:t>!</a:t>
            </a:r>
          </a:p>
        </p:txBody>
      </p:sp>
      <p:sp>
        <p:nvSpPr>
          <p:cNvPr id="933" name="矩形 11"/>
          <p:cNvSpPr txBox="1"/>
          <p:nvPr/>
        </p:nvSpPr>
        <p:spPr>
          <a:xfrm>
            <a:off x="2766984" y="3057578"/>
            <a:ext cx="6960676" cy="662544"/>
          </a:xfrm>
          <a:prstGeom prst="rect">
            <a:avLst/>
          </a:prstGeom>
          <a:ln w="12700">
            <a:miter lim="400000"/>
          </a:ln>
        </p:spPr>
        <p:txBody>
          <a:bodyPr wrap="square" lIns="45715" tIns="45715" rIns="45715" bIns="45715">
            <a:spAutoFit/>
          </a:bodyPr>
          <a:lstStyle/>
          <a:p>
            <a:pPr marL="0" marR="0" lvl="0" indent="0" algn="ctr" defTabSz="914400" rtl="0" eaLnBrk="1" fontAlgn="auto" latinLnBrk="0" hangingPunct="0">
              <a:lnSpc>
                <a:spcPct val="150000"/>
              </a:lnSpc>
              <a:spcBef>
                <a:spcPts val="0"/>
              </a:spcBef>
              <a:spcAft>
                <a:spcPts val="0"/>
              </a:spcAft>
              <a:buClrTx/>
              <a:buSzTx/>
              <a:buFontTx/>
              <a:buNone/>
              <a:tabLst/>
              <a:defRPr>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kumimoji="0" lang="zh-CN" altLang="en-US" sz="2800" b="0" i="0" u="none" strike="noStrike" kern="0" cap="none" spc="0" normalizeH="0" baseline="0" noProof="0">
                <a:ln>
                  <a:noFill/>
                </a:ln>
                <a:solidFill>
                  <a:srgbClr val="414455"/>
                </a:solidFill>
                <a:effectLst/>
                <a:uLnTx/>
                <a:uFillTx/>
                <a:latin typeface="微软雅黑" panose="020B0503020204020204" charset="-122"/>
                <a:ea typeface="微软雅黑" panose="020B0503020204020204" charset="-122"/>
                <a:sym typeface="微软雅黑" panose="020B0503020204020204" charset="-122"/>
              </a:rPr>
              <a:t>（总结）</a:t>
            </a:r>
          </a:p>
        </p:txBody>
      </p:sp>
      <p:sp>
        <p:nvSpPr>
          <p:cNvPr id="935" name="矩形 4"/>
          <p:cNvSpPr/>
          <p:nvPr/>
        </p:nvSpPr>
        <p:spPr>
          <a:xfrm>
            <a:off x="1" y="0"/>
            <a:ext cx="12192001" cy="1124746"/>
          </a:xfrm>
          <a:prstGeom prst="rect">
            <a:avLst/>
          </a:prstGeom>
          <a:solidFill>
            <a:srgbClr val="414455"/>
          </a:solidFill>
          <a:ln w="12700">
            <a:miter lim="400000"/>
          </a:ln>
        </p:spPr>
        <p:txBody>
          <a:bodyPr lIns="45719" rIns="45719" anchor="ctr"/>
          <a:lstStyle/>
          <a:p>
            <a:pPr marL="0" marR="0" lvl="0" indent="0" algn="ctr"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panose="020F0502020204030204"/>
            </a:endParaRPr>
          </a:p>
        </p:txBody>
      </p:sp>
      <p:sp>
        <p:nvSpPr>
          <p:cNvPr id="936" name="矩形 15"/>
          <p:cNvSpPr/>
          <p:nvPr/>
        </p:nvSpPr>
        <p:spPr>
          <a:xfrm>
            <a:off x="1" y="5733255"/>
            <a:ext cx="12192001" cy="1124745"/>
          </a:xfrm>
          <a:prstGeom prst="rect">
            <a:avLst/>
          </a:prstGeom>
          <a:solidFill>
            <a:srgbClr val="414455"/>
          </a:solidFill>
          <a:ln w="12700">
            <a:miter lim="400000"/>
          </a:ln>
        </p:spPr>
        <p:txBody>
          <a:bodyPr lIns="45719" rIns="45719" anchor="ctr"/>
          <a:lstStyle/>
          <a:p>
            <a:pPr marL="0" marR="0" lvl="0" indent="0" algn="ctr"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panose="020F0502020204030204"/>
            </a:endParaRPr>
          </a:p>
        </p:txBody>
      </p:sp>
      <p:cxnSp>
        <p:nvCxnSpPr>
          <p:cNvPr id="3" name="直接箭头连接符 2"/>
          <p:cNvCxnSpPr/>
          <p:nvPr/>
        </p:nvCxnSpPr>
        <p:spPr>
          <a:xfrm>
            <a:off x="2448233" y="2949678"/>
            <a:ext cx="7418439" cy="0"/>
          </a:xfrm>
          <a:prstGeom prst="straightConnector1">
            <a:avLst/>
          </a:prstGeom>
          <a:noFill/>
          <a:ln w="50800" cap="flat">
            <a:solidFill>
              <a:srgbClr val="414455"/>
            </a:solidFill>
            <a:prstDash val="solid"/>
            <a:miter lim="800000"/>
            <a:headEnd type="triangle"/>
            <a:tailEnd type="triangle"/>
          </a:ln>
          <a:effectLst/>
          <a:sp3d/>
        </p:spPr>
        <p:style>
          <a:lnRef idx="0">
            <a:scrgbClr r="0" g="0" b="0"/>
          </a:lnRef>
          <a:fillRef idx="0">
            <a:scrgbClr r="0" g="0" b="0"/>
          </a:fillRef>
          <a:effectRef idx="0">
            <a:scrgbClr r="0" g="0" b="0"/>
          </a:effectRef>
          <a:fontRef idx="none"/>
        </p:style>
      </p:cxn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TotalTime>
  <Words>922</Words>
  <Application>Microsoft Office PowerPoint</Application>
  <PresentationFormat>宽屏</PresentationFormat>
  <Paragraphs>204</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 Unicode MS</vt:lpstr>
      <vt:lpstr>Noto Sans SC</vt:lpstr>
      <vt:lpstr>等线</vt:lpstr>
      <vt:lpstr>黑体</vt:lpstr>
      <vt:lpstr>微软雅黑</vt:lpstr>
      <vt:lpstr>Arial</vt:lpstr>
      <vt:lpstr>Calibri</vt:lpstr>
      <vt:lpstr>Calibri Light</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可函 幸</dc:creator>
  <cp:lastModifiedBy>可函 幸</cp:lastModifiedBy>
  <cp:revision>31</cp:revision>
  <dcterms:created xsi:type="dcterms:W3CDTF">2026-04-21T02:10:56Z</dcterms:created>
  <dcterms:modified xsi:type="dcterms:W3CDTF">2026-04-21T11:57:39Z</dcterms:modified>
</cp:coreProperties>
</file>