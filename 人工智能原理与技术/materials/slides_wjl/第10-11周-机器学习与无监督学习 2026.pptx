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91" r:id="rId2"/>
    <p:sldId id="452" r:id="rId3"/>
    <p:sldId id="2076139121" r:id="rId4"/>
    <p:sldId id="2076139122" r:id="rId5"/>
    <p:sldId id="2076139133" r:id="rId6"/>
    <p:sldId id="2076139123" r:id="rId7"/>
    <p:sldId id="2076139127" r:id="rId8"/>
    <p:sldId id="2076139080" r:id="rId9"/>
    <p:sldId id="399" r:id="rId10"/>
    <p:sldId id="454" r:id="rId11"/>
    <p:sldId id="2076139128" r:id="rId12"/>
    <p:sldId id="2076139131" r:id="rId13"/>
    <p:sldId id="2076139077" r:id="rId14"/>
    <p:sldId id="2076139134" r:id="rId15"/>
    <p:sldId id="2076139078" r:id="rId16"/>
    <p:sldId id="2076139079" r:id="rId17"/>
    <p:sldId id="2076139088" r:id="rId18"/>
    <p:sldId id="2076139089" r:id="rId19"/>
    <p:sldId id="2076139135" r:id="rId20"/>
    <p:sldId id="2076139129" r:id="rId21"/>
    <p:sldId id="2076139136" r:id="rId22"/>
    <p:sldId id="2076139137" r:id="rId23"/>
    <p:sldId id="2076139139" r:id="rId24"/>
    <p:sldId id="2076139097" r:id="rId25"/>
    <p:sldId id="2076139100" r:id="rId26"/>
    <p:sldId id="2076139103" r:id="rId27"/>
    <p:sldId id="2076139101" r:id="rId28"/>
    <p:sldId id="2076139130" r:id="rId29"/>
    <p:sldId id="2076139102" r:id="rId30"/>
    <p:sldId id="2076139141" r:id="rId31"/>
    <p:sldId id="2076139093" r:id="rId32"/>
    <p:sldId id="2076139094" r:id="rId33"/>
    <p:sldId id="2076139132" r:id="rId34"/>
    <p:sldId id="2076139143" r:id="rId35"/>
    <p:sldId id="2076139104" r:id="rId36"/>
    <p:sldId id="2076139145" r:id="rId37"/>
    <p:sldId id="2076139144" r:id="rId38"/>
    <p:sldId id="2076139087" r:id="rId39"/>
    <p:sldId id="2076139107" r:id="rId40"/>
    <p:sldId id="2076139109" r:id="rId41"/>
    <p:sldId id="2076139111" r:id="rId42"/>
    <p:sldId id="2076139112" r:id="rId43"/>
    <p:sldId id="2076139113" r:id="rId44"/>
    <p:sldId id="2076139114" r:id="rId45"/>
    <p:sldId id="2076139115" r:id="rId46"/>
    <p:sldId id="2076139118" r:id="rId47"/>
    <p:sldId id="2076139119" r:id="rId48"/>
    <p:sldId id="2076139120" r:id="rId49"/>
    <p:sldId id="2076139108" r:id="rId50"/>
    <p:sldId id="387"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6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52" autoAdjust="0"/>
    <p:restoredTop sz="95918" autoAdjust="0"/>
  </p:normalViewPr>
  <p:slideViewPr>
    <p:cSldViewPr snapToGrid="0">
      <p:cViewPr varScale="1">
        <p:scale>
          <a:sx n="101" d="100"/>
          <a:sy n="101" d="100"/>
        </p:scale>
        <p:origin x="138" y="7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168AE3-B0F5-4C80-8F83-2DB06710D5A2}"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60A75-D360-4824-A020-85793697A30A}" type="slidenum">
              <a:rPr lang="zh-CN" altLang="en-US" smtClean="0"/>
              <a:t>‹#›</a:t>
            </a:fld>
            <a:endParaRPr lang="zh-CN" altLang="en-US"/>
          </a:p>
        </p:txBody>
      </p:sp>
    </p:spTree>
    <p:extLst>
      <p:ext uri="{BB962C8B-B14F-4D97-AF65-F5344CB8AC3E}">
        <p14:creationId xmlns:p14="http://schemas.microsoft.com/office/powerpoint/2010/main" val="2166721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a:t>
            </a:fld>
            <a:endParaRPr lang="zh-CN" altLang="en-US"/>
          </a:p>
        </p:txBody>
      </p:sp>
    </p:spTree>
    <p:extLst>
      <p:ext uri="{BB962C8B-B14F-4D97-AF65-F5344CB8AC3E}">
        <p14:creationId xmlns:p14="http://schemas.microsoft.com/office/powerpoint/2010/main" val="1791204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99A4-F166-2A07-D461-9EECB3708F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F2ADEC-ED12-8592-E9E6-1B192E4FF4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82213A-D402-6596-008B-2476CD6DBBBA}"/>
              </a:ext>
            </a:extLst>
          </p:cNvPr>
          <p:cNvSpPr>
            <a:spLocks noGrp="1"/>
          </p:cNvSpPr>
          <p:nvPr>
            <p:ph type="body" idx="1"/>
          </p:nvPr>
        </p:nvSpPr>
        <p:spPr/>
        <p:txBody>
          <a:bodyPr/>
          <a:lstStyle/>
          <a:p>
            <a:r>
              <a:rPr lang="zh-CN" altLang="en-US" dirty="0"/>
              <a:t>背景</a:t>
            </a:r>
          </a:p>
        </p:txBody>
      </p:sp>
      <p:sp>
        <p:nvSpPr>
          <p:cNvPr id="4" name="灯片编号占位符 3">
            <a:extLst>
              <a:ext uri="{FF2B5EF4-FFF2-40B4-BE49-F238E27FC236}">
                <a16:creationId xmlns:a16="http://schemas.microsoft.com/office/drawing/2014/main" id="{8E8FB344-65CF-A6B3-09F8-32B0717B8146}"/>
              </a:ext>
            </a:extLst>
          </p:cNvPr>
          <p:cNvSpPr>
            <a:spLocks noGrp="1"/>
          </p:cNvSpPr>
          <p:nvPr>
            <p:ph type="sldNum" sz="quarter" idx="10"/>
          </p:nvPr>
        </p:nvSpPr>
        <p:spPr/>
        <p:txBody>
          <a:bodyPr/>
          <a:lstStyle/>
          <a:p>
            <a:fld id="{FC8AECDA-B852-4CA6-98F9-FDA299AD4FD3}" type="slidenum">
              <a:rPr lang="zh-CN" altLang="en-US" smtClean="0"/>
              <a:t>4</a:t>
            </a:fld>
            <a:endParaRPr lang="zh-CN" altLang="en-US"/>
          </a:p>
        </p:txBody>
      </p:sp>
    </p:spTree>
    <p:extLst>
      <p:ext uri="{BB962C8B-B14F-4D97-AF65-F5344CB8AC3E}">
        <p14:creationId xmlns:p14="http://schemas.microsoft.com/office/powerpoint/2010/main" val="4243950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2790587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err="1" smtClean="0">
                <a:effectLst/>
              </a:rPr>
              <a:t>Forgy</a:t>
            </a:r>
            <a:r>
              <a:rPr lang="en-US" altLang="zh-CN" b="1" dirty="0" smtClean="0">
                <a:effectLst/>
              </a:rPr>
              <a:t> </a:t>
            </a:r>
            <a:r>
              <a:rPr lang="zh-CN" altLang="en-US" b="1" dirty="0" smtClean="0">
                <a:effectLst/>
              </a:rPr>
              <a:t>初始化方法</a:t>
            </a:r>
          </a:p>
          <a:p>
            <a:r>
              <a:rPr lang="zh-CN" altLang="en-US" b="1" dirty="0" smtClean="0">
                <a:effectLst/>
              </a:rPr>
              <a:t>原理：</a:t>
            </a:r>
          </a:p>
          <a:p>
            <a:r>
              <a:rPr lang="zh-CN" altLang="en-US" sz="1200" b="1" i="0" kern="1200" dirty="0" smtClean="0">
                <a:solidFill>
                  <a:schemeClr val="tx1"/>
                </a:solidFill>
                <a:effectLst/>
                <a:latin typeface="+mn-lt"/>
                <a:ea typeface="+mn-ea"/>
                <a:cs typeface="+mn-cs"/>
              </a:rPr>
              <a:t>步骤</a:t>
            </a:r>
            <a:r>
              <a:rPr lang="zh-CN" altLang="en-US" sz="1200" b="0" i="0" kern="1200" dirty="0" smtClean="0">
                <a:solidFill>
                  <a:schemeClr val="tx1"/>
                </a:solidFill>
                <a:effectLst/>
                <a:latin typeface="+mn-lt"/>
                <a:ea typeface="+mn-ea"/>
                <a:cs typeface="+mn-cs"/>
              </a:rPr>
              <a:t>：</a:t>
            </a:r>
          </a:p>
          <a:p>
            <a:pPr lvl="1"/>
            <a:r>
              <a:rPr lang="zh-CN" altLang="en-US" sz="1200" b="0" i="0" kern="1200" dirty="0" smtClean="0">
                <a:solidFill>
                  <a:schemeClr val="tx1"/>
                </a:solidFill>
                <a:effectLst/>
                <a:latin typeface="+mn-lt"/>
                <a:ea typeface="+mn-ea"/>
                <a:cs typeface="+mn-cs"/>
              </a:rPr>
              <a:t>随机从数据集中选取 �</a:t>
            </a:r>
            <a:r>
              <a:rPr lang="en-US" altLang="zh-CN" sz="1200" b="0" i="1" kern="1200" dirty="0" smtClean="0">
                <a:solidFill>
                  <a:schemeClr val="tx1"/>
                </a:solidFill>
                <a:effectLst/>
                <a:latin typeface="+mn-lt"/>
                <a:ea typeface="+mn-ea"/>
                <a:cs typeface="+mn-cs"/>
              </a:rPr>
              <a:t>k</a:t>
            </a:r>
            <a:r>
              <a:rPr lang="zh-CN" altLang="en-US" sz="1200" b="0" i="0" kern="1200" dirty="0" smtClean="0">
                <a:solidFill>
                  <a:schemeClr val="tx1"/>
                </a:solidFill>
                <a:effectLst/>
                <a:latin typeface="+mn-lt"/>
                <a:ea typeface="+mn-ea"/>
                <a:cs typeface="+mn-cs"/>
              </a:rPr>
              <a:t> 个样本点作为初始簇中心。</a:t>
            </a:r>
          </a:p>
          <a:p>
            <a:pPr lvl="1"/>
            <a:r>
              <a:rPr lang="zh-CN" altLang="en-US" sz="1200" b="0" i="0" kern="1200" dirty="0" smtClean="0">
                <a:solidFill>
                  <a:schemeClr val="tx1"/>
                </a:solidFill>
                <a:effectLst/>
                <a:latin typeface="+mn-lt"/>
                <a:ea typeface="+mn-ea"/>
                <a:cs typeface="+mn-cs"/>
              </a:rPr>
              <a:t>直接基于这些中心开始迭代优化（如</a:t>
            </a:r>
            <a:r>
              <a:rPr lang="en-US" altLang="zh-CN" sz="1200" b="0" i="0" kern="1200" dirty="0" smtClean="0">
                <a:solidFill>
                  <a:schemeClr val="tx1"/>
                </a:solidFill>
                <a:effectLst/>
                <a:latin typeface="+mn-lt"/>
                <a:ea typeface="+mn-ea"/>
                <a:cs typeface="+mn-cs"/>
              </a:rPr>
              <a:t>k-means</a:t>
            </a:r>
            <a:r>
              <a:rPr lang="zh-CN" altLang="en-US" sz="1200" b="0" i="0" kern="1200" dirty="0" smtClean="0">
                <a:solidFill>
                  <a:schemeClr val="tx1"/>
                </a:solidFill>
                <a:effectLst/>
                <a:latin typeface="+mn-lt"/>
                <a:ea typeface="+mn-ea"/>
                <a:cs typeface="+mn-cs"/>
              </a:rPr>
              <a:t>算法）。</a:t>
            </a:r>
          </a:p>
          <a:p>
            <a:r>
              <a:rPr lang="zh-CN" altLang="en-US" sz="1200" b="0" i="0" kern="1200" dirty="0" smtClean="0">
                <a:solidFill>
                  <a:schemeClr val="tx1"/>
                </a:solidFill>
                <a:effectLst/>
                <a:latin typeface="+mn-lt"/>
                <a:ea typeface="+mn-ea"/>
                <a:cs typeface="+mn-cs"/>
              </a:rPr>
              <a:t/>
            </a:r>
            <a:br>
              <a:rPr lang="zh-CN" altLang="en-US" sz="1200" b="0" i="0" kern="1200" dirty="0" smtClean="0">
                <a:solidFill>
                  <a:schemeClr val="tx1"/>
                </a:solidFill>
                <a:effectLst/>
                <a:latin typeface="+mn-lt"/>
                <a:ea typeface="+mn-ea"/>
                <a:cs typeface="+mn-cs"/>
              </a:rPr>
            </a:br>
            <a:r>
              <a:rPr lang="zh-CN" altLang="en-US" sz="1200" b="1" i="0" kern="1200" dirty="0" smtClean="0">
                <a:solidFill>
                  <a:schemeClr val="tx1"/>
                </a:solidFill>
                <a:effectLst/>
                <a:latin typeface="+mn-lt"/>
                <a:ea typeface="+mn-ea"/>
                <a:cs typeface="+mn-cs"/>
              </a:rPr>
              <a:t> </a:t>
            </a:r>
            <a:endParaRPr lang="en-US" altLang="zh-CN" sz="1200" b="1" i="0" kern="1200" dirty="0" smtClean="0">
              <a:solidFill>
                <a:schemeClr val="tx1"/>
              </a:solidFill>
              <a:effectLst/>
              <a:latin typeface="+mn-lt"/>
              <a:ea typeface="+mn-ea"/>
              <a:cs typeface="+mn-cs"/>
            </a:endParaRPr>
          </a:p>
          <a:p>
            <a:endParaRPr lang="en-US" altLang="zh-CN" sz="1200" b="1" i="0" kern="1200" dirty="0" smtClean="0">
              <a:solidFill>
                <a:schemeClr val="tx1"/>
              </a:solidFill>
              <a:effectLst/>
              <a:latin typeface="+mn-lt"/>
              <a:ea typeface="+mn-ea"/>
              <a:cs typeface="+mn-cs"/>
            </a:endParaRPr>
          </a:p>
          <a:p>
            <a:r>
              <a:rPr lang="en-US" altLang="zh-CN" sz="1200" b="1" i="0" kern="1200" dirty="0" smtClean="0">
                <a:solidFill>
                  <a:schemeClr val="tx1"/>
                </a:solidFill>
                <a:effectLst/>
                <a:latin typeface="+mn-lt"/>
                <a:ea typeface="+mn-ea"/>
                <a:cs typeface="+mn-cs"/>
              </a:rPr>
              <a:t>Random Partition </a:t>
            </a:r>
            <a:r>
              <a:rPr lang="zh-CN" altLang="en-US" sz="1200" b="1" i="0" kern="1200" dirty="0" smtClean="0">
                <a:solidFill>
                  <a:schemeClr val="tx1"/>
                </a:solidFill>
                <a:effectLst/>
                <a:latin typeface="+mn-lt"/>
                <a:ea typeface="+mn-ea"/>
                <a:cs typeface="+mn-cs"/>
              </a:rPr>
              <a:t>初始化方法</a:t>
            </a:r>
          </a:p>
          <a:p>
            <a:r>
              <a:rPr lang="zh-CN" altLang="en-US" sz="1200" b="1" i="0" kern="1200" dirty="0" smtClean="0">
                <a:solidFill>
                  <a:schemeClr val="tx1"/>
                </a:solidFill>
                <a:effectLst/>
                <a:latin typeface="+mn-lt"/>
                <a:ea typeface="+mn-ea"/>
                <a:cs typeface="+mn-cs"/>
              </a:rPr>
              <a:t>原理：</a:t>
            </a:r>
          </a:p>
          <a:p>
            <a:r>
              <a:rPr lang="zh-CN" altLang="en-US" sz="1200" b="1" i="0" kern="1200" dirty="0" smtClean="0">
                <a:solidFill>
                  <a:schemeClr val="tx1"/>
                </a:solidFill>
                <a:effectLst/>
                <a:latin typeface="+mn-lt"/>
                <a:ea typeface="+mn-ea"/>
                <a:cs typeface="+mn-cs"/>
              </a:rPr>
              <a:t>步骤</a:t>
            </a:r>
            <a:r>
              <a:rPr lang="zh-CN" altLang="en-US" sz="1200" b="0" i="0" kern="1200" dirty="0" smtClean="0">
                <a:solidFill>
                  <a:schemeClr val="tx1"/>
                </a:solidFill>
                <a:effectLst/>
                <a:latin typeface="+mn-lt"/>
                <a:ea typeface="+mn-ea"/>
                <a:cs typeface="+mn-cs"/>
              </a:rPr>
              <a:t>：</a:t>
            </a:r>
          </a:p>
          <a:p>
            <a:pPr lvl="1"/>
            <a:r>
              <a:rPr lang="zh-CN" altLang="en-US" sz="1200" b="0" i="0" kern="1200" dirty="0" smtClean="0">
                <a:solidFill>
                  <a:schemeClr val="tx1"/>
                </a:solidFill>
                <a:effectLst/>
                <a:latin typeface="+mn-lt"/>
                <a:ea typeface="+mn-ea"/>
                <a:cs typeface="+mn-cs"/>
              </a:rPr>
              <a:t>将所有数据点</a:t>
            </a:r>
            <a:r>
              <a:rPr lang="zh-CN" altLang="en-US" sz="1200" b="1" i="0" kern="1200" dirty="0" smtClean="0">
                <a:solidFill>
                  <a:schemeClr val="tx1"/>
                </a:solidFill>
                <a:effectLst/>
                <a:latin typeface="+mn-lt"/>
                <a:ea typeface="+mn-ea"/>
                <a:cs typeface="+mn-cs"/>
              </a:rPr>
              <a:t>随机分配</a:t>
            </a:r>
            <a:r>
              <a:rPr lang="zh-CN" altLang="en-US" sz="1200" b="0" i="0" kern="1200" dirty="0" smtClean="0">
                <a:solidFill>
                  <a:schemeClr val="tx1"/>
                </a:solidFill>
                <a:effectLst/>
                <a:latin typeface="+mn-lt"/>
                <a:ea typeface="+mn-ea"/>
                <a:cs typeface="+mn-cs"/>
              </a:rPr>
              <a:t>到 �</a:t>
            </a:r>
            <a:r>
              <a:rPr lang="en-US" altLang="zh-CN" sz="1200" b="0" i="1" kern="1200" dirty="0" smtClean="0">
                <a:solidFill>
                  <a:schemeClr val="tx1"/>
                </a:solidFill>
                <a:effectLst/>
                <a:latin typeface="+mn-lt"/>
                <a:ea typeface="+mn-ea"/>
                <a:cs typeface="+mn-cs"/>
              </a:rPr>
              <a:t>k</a:t>
            </a:r>
            <a:r>
              <a:rPr lang="zh-CN" altLang="en-US" sz="1200" b="0" i="0" kern="1200" dirty="0" smtClean="0">
                <a:solidFill>
                  <a:schemeClr val="tx1"/>
                </a:solidFill>
                <a:effectLst/>
                <a:latin typeface="+mn-lt"/>
                <a:ea typeface="+mn-ea"/>
                <a:cs typeface="+mn-cs"/>
              </a:rPr>
              <a:t> 个簇中（每个点随机归属一个簇）。</a:t>
            </a:r>
          </a:p>
          <a:p>
            <a:pPr lvl="1"/>
            <a:r>
              <a:rPr lang="zh-CN" altLang="en-US" sz="1200" b="0" i="0" kern="1200" dirty="0" smtClean="0">
                <a:solidFill>
                  <a:schemeClr val="tx1"/>
                </a:solidFill>
                <a:effectLst/>
                <a:latin typeface="+mn-lt"/>
                <a:ea typeface="+mn-ea"/>
                <a:cs typeface="+mn-cs"/>
              </a:rPr>
              <a:t>计算每个簇的均值作为初始中心。</a:t>
            </a:r>
          </a:p>
          <a:p>
            <a:endParaRPr lang="zh-CN" altLang="en-US" dirty="0"/>
          </a:p>
        </p:txBody>
      </p:sp>
      <p:sp>
        <p:nvSpPr>
          <p:cNvPr id="4" name="灯片编号占位符 3"/>
          <p:cNvSpPr>
            <a:spLocks noGrp="1"/>
          </p:cNvSpPr>
          <p:nvPr>
            <p:ph type="sldNum" sz="quarter" idx="10"/>
          </p:nvPr>
        </p:nvSpPr>
        <p:spPr/>
        <p:txBody>
          <a:bodyPr/>
          <a:lstStyle/>
          <a:p>
            <a:fld id="{2E660A75-D360-4824-A020-85793697A30A}" type="slidenum">
              <a:rPr lang="zh-CN" altLang="en-US" smtClean="0"/>
              <a:t>10</a:t>
            </a:fld>
            <a:endParaRPr lang="zh-CN" altLang="en-US"/>
          </a:p>
        </p:txBody>
      </p:sp>
    </p:spTree>
    <p:extLst>
      <p:ext uri="{BB962C8B-B14F-4D97-AF65-F5344CB8AC3E}">
        <p14:creationId xmlns:p14="http://schemas.microsoft.com/office/powerpoint/2010/main" val="2435036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4278343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221948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61583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ECE6-3B6F-38E4-9005-5FEB907AE4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52AB0C-7865-E371-E967-2D59576EAC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95E532-DD6D-287D-4CF3-364B866BF8F4}"/>
              </a:ext>
            </a:extLst>
          </p:cNvPr>
          <p:cNvSpPr>
            <a:spLocks noGrp="1"/>
          </p:cNvSpPr>
          <p:nvPr>
            <p:ph type="body" idx="1"/>
          </p:nvPr>
        </p:nvSpPr>
        <p:spPr/>
        <p:txBody>
          <a:bodyPr/>
          <a:lstStyle/>
          <a:p>
            <a:r>
              <a:rPr lang="zh-CN" altLang="en-US" dirty="0"/>
              <a:t>正文</a:t>
            </a:r>
          </a:p>
        </p:txBody>
      </p:sp>
      <p:sp>
        <p:nvSpPr>
          <p:cNvPr id="4" name="灯片编号占位符 3">
            <a:extLst>
              <a:ext uri="{FF2B5EF4-FFF2-40B4-BE49-F238E27FC236}">
                <a16:creationId xmlns:a16="http://schemas.microsoft.com/office/drawing/2014/main" id="{57555093-1EDE-7ED8-A4D1-D477D8986D58}"/>
              </a:ext>
            </a:extLst>
          </p:cNvPr>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2095810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ECE6-3B6F-38E4-9005-5FEB907AE4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52AB0C-7865-E371-E967-2D59576EAC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95E532-DD6D-287D-4CF3-364B866BF8F4}"/>
              </a:ext>
            </a:extLst>
          </p:cNvPr>
          <p:cNvSpPr>
            <a:spLocks noGrp="1"/>
          </p:cNvSpPr>
          <p:nvPr>
            <p:ph type="body" idx="1"/>
          </p:nvPr>
        </p:nvSpPr>
        <p:spPr/>
        <p:txBody>
          <a:bodyPr/>
          <a:lstStyle/>
          <a:p>
            <a:r>
              <a:rPr lang="zh-CN" altLang="en-US" dirty="0"/>
              <a:t>正文</a:t>
            </a:r>
          </a:p>
        </p:txBody>
      </p:sp>
      <p:sp>
        <p:nvSpPr>
          <p:cNvPr id="4" name="灯片编号占位符 3">
            <a:extLst>
              <a:ext uri="{FF2B5EF4-FFF2-40B4-BE49-F238E27FC236}">
                <a16:creationId xmlns:a16="http://schemas.microsoft.com/office/drawing/2014/main" id="{57555093-1EDE-7ED8-A4D1-D477D8986D58}"/>
              </a:ext>
            </a:extLst>
          </p:cNvPr>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3178101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15BBD-7F04-1B61-E3B5-382311F862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6C13E9-7855-9947-0D7B-D278FDA654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293E49-A44D-5998-EA1A-C891AADA2FE1}"/>
              </a:ext>
            </a:extLst>
          </p:cNvPr>
          <p:cNvSpPr>
            <a:spLocks noGrp="1"/>
          </p:cNvSpPr>
          <p:nvPr>
            <p:ph type="body" idx="1"/>
          </p:nvPr>
        </p:nvSpPr>
        <p:spPr/>
        <p:txBody>
          <a:bodyPr/>
          <a:lstStyle/>
          <a:p>
            <a:r>
              <a:rPr lang="zh-CN" altLang="en-US" dirty="0"/>
              <a:t>正文</a:t>
            </a:r>
          </a:p>
        </p:txBody>
      </p:sp>
      <p:sp>
        <p:nvSpPr>
          <p:cNvPr id="4" name="灯片编号占位符 3">
            <a:extLst>
              <a:ext uri="{FF2B5EF4-FFF2-40B4-BE49-F238E27FC236}">
                <a16:creationId xmlns:a16="http://schemas.microsoft.com/office/drawing/2014/main" id="{12FF8724-57A3-8B28-B56F-A34BA29239D4}"/>
              </a:ext>
            </a:extLst>
          </p:cNvPr>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208693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CA6E5-B7F2-9BD2-BB8F-476D177318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801751-668F-E74B-B540-8D22195D3C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C2A3A0-BC38-7DDF-BA3C-1580D88D87DF}"/>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BAD01870-F8D1-F687-7397-352A395B439B}"/>
              </a:ext>
            </a:extLst>
          </p:cNvPr>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994371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2614557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7BAC2-9395-EFEB-375B-1103B2202E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8C696F-E6A0-7F81-5889-037FF2A0AB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6BC558-8E76-6A39-8D07-F101321E4D4A}"/>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E090BA90-414C-DC6F-E09B-3D6B629ADE96}"/>
              </a:ext>
            </a:extLst>
          </p:cNvPr>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235823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44706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1714201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2171124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4094271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1301483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effectLst/>
              </a:rPr>
              <a:t>严格数学角度</a:t>
            </a:r>
            <a:r>
              <a:rPr lang="zh-CN" altLang="en-US" dirty="0" smtClean="0">
                <a:effectLst/>
              </a:rPr>
              <a:t>：若</a:t>
            </a:r>
            <a:r>
              <a:rPr lang="en-US" altLang="zh-CN" dirty="0" smtClean="0">
                <a:effectLst/>
              </a:rPr>
              <a:t>200</a:t>
            </a:r>
            <a:r>
              <a:rPr lang="zh-CN" altLang="en-US" dirty="0" smtClean="0">
                <a:effectLst/>
              </a:rPr>
              <a:t>张训练图像完全线性无关，</a:t>
            </a:r>
            <a:r>
              <a:rPr lang="en-US" altLang="zh-CN" dirty="0" smtClean="0">
                <a:effectLst/>
              </a:rPr>
              <a:t>PCA</a:t>
            </a:r>
            <a:r>
              <a:rPr lang="zh-CN" altLang="en-US" dirty="0" smtClean="0">
                <a:effectLst/>
              </a:rPr>
              <a:t>最多可提取</a:t>
            </a:r>
            <a:r>
              <a:rPr lang="en-US" altLang="zh-CN" b="1" dirty="0" smtClean="0">
                <a:effectLst/>
              </a:rPr>
              <a:t>200</a:t>
            </a:r>
            <a:r>
              <a:rPr lang="zh-CN" altLang="en-US" b="1" dirty="0" smtClean="0">
                <a:effectLst/>
              </a:rPr>
              <a:t>个特征向量</a:t>
            </a:r>
            <a:r>
              <a:rPr lang="zh-CN" altLang="en-US" dirty="0" smtClean="0">
                <a:effectLst/>
              </a:rPr>
              <a:t>。</a:t>
            </a:r>
          </a:p>
          <a:p>
            <a:r>
              <a:rPr lang="zh-CN" altLang="en-US" b="1" dirty="0" smtClean="0">
                <a:effectLst/>
              </a:rPr>
              <a:t>实际场景</a:t>
            </a:r>
            <a:r>
              <a:rPr lang="zh-CN" altLang="en-US" dirty="0" smtClean="0">
                <a:effectLst/>
              </a:rPr>
              <a:t>：由于数据相关性或数值舍入，可能有效特征向量数略少（如</a:t>
            </a:r>
            <a:r>
              <a:rPr lang="en-US" altLang="zh-CN" dirty="0" smtClean="0">
                <a:effectLst/>
              </a:rPr>
              <a:t>199</a:t>
            </a:r>
            <a:r>
              <a:rPr lang="zh-CN" altLang="en-US" dirty="0" smtClean="0">
                <a:effectLst/>
              </a:rPr>
              <a:t>），但理论上限为</a:t>
            </a:r>
            <a:r>
              <a:rPr lang="en-US" altLang="zh-CN" dirty="0" smtClean="0">
                <a:effectLst/>
              </a:rPr>
              <a:t>200</a:t>
            </a:r>
            <a:r>
              <a:rPr lang="zh-CN" altLang="en-US" dirty="0" smtClean="0">
                <a:effectLst/>
              </a:rPr>
              <a:t>。</a:t>
            </a:r>
          </a:p>
          <a:p>
            <a:r>
              <a:rPr lang="zh-CN" altLang="en-US" b="1" dirty="0" smtClean="0">
                <a:effectLst/>
              </a:rPr>
              <a:t>工程建议</a:t>
            </a:r>
            <a:r>
              <a:rPr lang="zh-CN" altLang="en-US" dirty="0" smtClean="0">
                <a:effectLst/>
              </a:rPr>
              <a:t>：不必追求全部特征向量，根据特征值衰减选择前</a:t>
            </a:r>
            <a:r>
              <a:rPr lang="en-US" altLang="zh-CN" dirty="0" smtClean="0">
                <a:effectLst/>
              </a:rPr>
              <a:t>k</a:t>
            </a:r>
            <a:r>
              <a:rPr lang="zh-CN" altLang="en-US" dirty="0" smtClean="0">
                <a:effectLst/>
              </a:rPr>
              <a:t>个即可平衡精度与复杂度。</a:t>
            </a:r>
          </a:p>
          <a:p>
            <a:r>
              <a:rPr lang="zh-CN" altLang="en-US" dirty="0" smtClean="0"/>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2515763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D2FB-05C7-8A7E-9F95-5E6F355EE7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40DE6F-4E91-60E4-A04A-5D84094F9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E265AC-A3FB-08B6-DE8F-5A08959939CC}"/>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F5813682-F502-CF45-F466-BE2CCDC12745}"/>
              </a:ext>
            </a:extLst>
          </p:cNvPr>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140953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CB7FF-7484-5190-05EF-7C0954D4F2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5DF935-67C5-62F6-0F04-3AEF290A9A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74BAE4-F3E3-332C-C3EE-C3F9F7E0AEEC}"/>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774B8C46-E6BB-6C85-BF15-28CF6B97E82B}"/>
              </a:ext>
            </a:extLst>
          </p:cNvPr>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29427044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004A-46AB-1749-9670-541B30A3E9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04E35D-14CD-59E5-B6D8-4557C5BDFA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6B546A-8B28-2023-8639-204309226759}"/>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AB67A8E3-CF75-31E6-94FD-5BBD965EA5C8}"/>
              </a:ext>
            </a:extLst>
          </p:cNvPr>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2142227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F8596-F9F2-1DF3-FF6C-EC7C6E683C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A06D97-C966-7378-E889-0C2A77CAE5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3A2140-9DA8-0A7B-05F3-B15D8BB18FF6}"/>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9F428228-0A77-1FDB-698C-12765A27D412}"/>
              </a:ext>
            </a:extLst>
          </p:cNvPr>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32419644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5CB0E-1B93-1397-9BDD-120D263C6E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8D8E53-2CD7-6074-D512-0E7C167FBA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F5EA37-6DC6-4ECB-D25E-06E59DD4588A}"/>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585FAEE9-C313-8F85-9B58-AA672256AE78}"/>
              </a:ext>
            </a:extLst>
          </p:cNvPr>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3036808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A8717-8C3E-2C4E-6822-A436C98994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D5EC6A-8F7D-A1EF-8050-99A5CD90E8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C92A65-B425-259E-3EDD-B67FEE845C4D}"/>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70343DD5-0F03-2FEE-F4F2-6A021B44244E}"/>
              </a:ext>
            </a:extLst>
          </p:cNvPr>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1530856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BA1A7-C295-8145-FF91-AFECC47C7C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0B5D98-688D-CCCC-453C-D638B093BE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D91E25-8D71-8267-44CF-0C0031C9145A}"/>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0BF9AEDC-B610-D88B-3B53-DA96F4CA0FE7}"/>
              </a:ext>
            </a:extLst>
          </p:cNvPr>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1992052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1483F-2F68-D447-D267-51899E5BBE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1F2AD2-275D-395C-CC32-E1D2CF5B0A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3BA9A4-7652-470F-5A74-9C9822430047}"/>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A6ABC836-5FA0-500B-7E95-B5EB3D864842}"/>
              </a:ext>
            </a:extLst>
          </p:cNvPr>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491263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8E5F1-E0ED-F432-8507-CE200474F7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B66ED4-C14E-07E1-8AFE-35CEB6E97E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F32160-EC67-A962-1351-D821A25A4FE2}"/>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A9EA7574-7E08-7C67-9724-3DC18BB9A63B}"/>
              </a:ext>
            </a:extLst>
          </p:cNvPr>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2761292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5933E-25C5-FBF2-0252-7300C13274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CA12B0-FB33-051B-B90A-88708940DC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AF462A-02A7-0C0A-BBBF-0DF0A36FD7CB}"/>
              </a:ext>
            </a:extLst>
          </p:cNvPr>
          <p:cNvSpPr>
            <a:spLocks noGrp="1"/>
          </p:cNvSpPr>
          <p:nvPr>
            <p:ph type="body" idx="1"/>
          </p:nvPr>
        </p:nvSpPr>
        <p:spPr/>
        <p:txBody>
          <a:bodyPr/>
          <a:lstStyle/>
          <a:p>
            <a:r>
              <a:rPr lang="zh-CN" altLang="en-US" dirty="0"/>
              <a:t>表格</a:t>
            </a:r>
          </a:p>
        </p:txBody>
      </p:sp>
      <p:sp>
        <p:nvSpPr>
          <p:cNvPr id="4" name="灯片编号占位符 3">
            <a:extLst>
              <a:ext uri="{FF2B5EF4-FFF2-40B4-BE49-F238E27FC236}">
                <a16:creationId xmlns:a16="http://schemas.microsoft.com/office/drawing/2014/main" id="{BFB70DE6-D4E7-5535-C22C-E3E70B7829E1}"/>
              </a:ext>
            </a:extLst>
          </p:cNvPr>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15358622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50</a:t>
            </a:fld>
            <a:endParaRPr lang="zh-CN" altLang="en-US"/>
          </a:p>
        </p:txBody>
      </p:sp>
    </p:spTree>
    <p:extLst>
      <p:ext uri="{BB962C8B-B14F-4D97-AF65-F5344CB8AC3E}">
        <p14:creationId xmlns:p14="http://schemas.microsoft.com/office/powerpoint/2010/main" val="398633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8F071-FB18-EA87-B2ED-39E60BA9E7F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5BCBA4-5E94-FDE0-DAE8-740A695AD2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0AC3987-5DE5-E119-34B4-996431EAB347}"/>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E3DE6A6B-E644-F8DD-B93F-077C7E5D34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367119-3746-F824-AC34-B53B5255810D}"/>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4121288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AEF31-D4CA-53EF-D03F-EC6EA4D0F52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19CDCF-287B-D5E0-0368-22A44E8815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21F76A-2E10-C174-E658-4DF275BD2AF4}"/>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5A792962-4EFE-0458-6442-5729C8C201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747B86-E796-9AB5-3403-181C7960A6FA}"/>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79344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30DED-8391-15BC-A4A1-A39F47A8962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0ECC848-A24F-87B4-E0BB-0852179368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558F2DA-76B4-00C4-AF10-4C6858D92366}"/>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7B842813-F9E7-707A-D2F5-4BFF43685F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C61E957-91E6-A833-D606-99696C079372}"/>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217552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3D65D-6419-8BCE-598E-78E6BE3A78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B773D-2172-4C53-334A-939D0B0104F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ED162C6-7F6B-4CE5-5CF8-587BF583BB4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C71B3C4-511D-9BF6-4797-7FE9CC801492}"/>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6" name="页脚占位符 5">
            <a:extLst>
              <a:ext uri="{FF2B5EF4-FFF2-40B4-BE49-F238E27FC236}">
                <a16:creationId xmlns:a16="http://schemas.microsoft.com/office/drawing/2014/main" id="{30FD6E41-C259-7599-D107-E91F2EFE4E7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CF30FE-E256-E2C9-4F82-AA3B62DFCF40}"/>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2802367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B40F0-C4E6-AD4C-134C-2820D104402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151B091-3255-9217-BB7C-EDA945E6AC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222165-BF2F-3ECA-0ED1-798D826E7A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2B80BC1-49AE-EE32-C884-85274F4A62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A19F7A5-12B3-0153-1201-C27A1FA7BA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8360207-9F37-42AA-085A-42D4765BEA88}"/>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8" name="页脚占位符 7">
            <a:extLst>
              <a:ext uri="{FF2B5EF4-FFF2-40B4-BE49-F238E27FC236}">
                <a16:creationId xmlns:a16="http://schemas.microsoft.com/office/drawing/2014/main" id="{5680E534-A321-9B55-EC63-0325829B6BF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87D32BC-A865-95FA-CA73-91B315B54D0C}"/>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82500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B4C514-BC0C-5620-F643-E489F6910BB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C4D4AB8-EA4D-49A0-1EA2-A358DFE44AE8}"/>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4" name="页脚占位符 3">
            <a:extLst>
              <a:ext uri="{FF2B5EF4-FFF2-40B4-BE49-F238E27FC236}">
                <a16:creationId xmlns:a16="http://schemas.microsoft.com/office/drawing/2014/main" id="{99CAE37B-C753-A1D8-DC23-4E7800EE393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DFDABDD-5F86-F8F5-F9A8-CC566D84FC20}"/>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14469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114EB0-2476-4D80-C6A2-A0EB0C8645A6}"/>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3" name="页脚占位符 2">
            <a:extLst>
              <a:ext uri="{FF2B5EF4-FFF2-40B4-BE49-F238E27FC236}">
                <a16:creationId xmlns:a16="http://schemas.microsoft.com/office/drawing/2014/main" id="{D7E9DCA9-8DF9-1259-A381-FC9DA7B04B9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9C75CF3-E246-2687-68CB-F48C266C6047}"/>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349640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F85C34-CC72-CF09-15DA-923228FA95C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2D5BDA0-18D4-311B-5428-ED6166483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9F80B4B-4262-10E6-B646-171CAD2B9A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181750-AAA6-B475-2672-2E8C40B1F488}"/>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6" name="页脚占位符 5">
            <a:extLst>
              <a:ext uri="{FF2B5EF4-FFF2-40B4-BE49-F238E27FC236}">
                <a16:creationId xmlns:a16="http://schemas.microsoft.com/office/drawing/2014/main" id="{9D428C01-14AC-CBD7-27B8-DD5164CAAD3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FA5355-F42F-16B4-5EB0-D40699D324DF}"/>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132659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12C7C-79FF-1FD0-5279-1DAC7D7C1DD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F72EC2B-C4FB-ECFD-76CB-D9058CB5EC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64B89B2-DBE1-B212-D59D-A178978BED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19EE5B9-1661-FBA4-2828-4D34954B1FA5}"/>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6" name="页脚占位符 5">
            <a:extLst>
              <a:ext uri="{FF2B5EF4-FFF2-40B4-BE49-F238E27FC236}">
                <a16:creationId xmlns:a16="http://schemas.microsoft.com/office/drawing/2014/main" id="{EDE9800E-7986-F1A7-8B4E-522D713B924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95CD23-F65F-3178-BC8A-737A8AE70A36}"/>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2352620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EDCC5-F2D5-D875-EA9D-B06E8ACDDBC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A9111B8-3B34-A99A-46A9-2402C026D8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F464F0-16D0-8CE6-09C6-239F2A9FFD69}"/>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610CA37D-37D7-B9FD-9D81-2D6753B774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12CF66-A994-868F-E4ED-A7316F192D98}"/>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3967783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982199-ECC1-E07C-C470-B830D6B1361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5DA4D1C-20AD-58C8-5C6F-B4A04293C27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034886-A435-4384-7C11-8E775FD48CB9}"/>
              </a:ext>
            </a:extLst>
          </p:cNvPr>
          <p:cNvSpPr>
            <a:spLocks noGrp="1"/>
          </p:cNvSpPr>
          <p:nvPr>
            <p:ph type="dt" sz="half" idx="10"/>
          </p:nvPr>
        </p:nvSpPr>
        <p:spPr/>
        <p:txBody>
          <a:body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3E0CA9AC-5D17-01E0-D255-2383A2731B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DD2218-8087-5FDB-60CB-9E8A1C4747C5}"/>
              </a:ext>
            </a:extLst>
          </p:cNvPr>
          <p:cNvSpPr>
            <a:spLocks noGrp="1"/>
          </p:cNvSpPr>
          <p:nvPr>
            <p:ph type="sldNum" sz="quarter" idx="12"/>
          </p:nvPr>
        </p:nvSpPr>
        <p:spPr/>
        <p:txBody>
          <a:body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3604661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a:extLst>
              <a:ext uri="{FF2B5EF4-FFF2-40B4-BE49-F238E27FC236}">
                <a16:creationId xmlns:a16="http://schemas.microsoft.com/office/drawing/2014/main" id="{A0D5012C-67EA-42AC-AC25-27EFC90204AC}"/>
              </a:ext>
            </a:extLst>
          </p:cNvPr>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589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pic>
        <p:nvPicPr>
          <p:cNvPr id="2" name="Picture 4" descr="同济大学logo矢量图(第1页) - 一起扣扣网">
            <a:extLst>
              <a:ext uri="{FF2B5EF4-FFF2-40B4-BE49-F238E27FC236}">
                <a16:creationId xmlns:a16="http://schemas.microsoft.com/office/drawing/2014/main" id="{A0D5012C-67EA-42AC-AC25-27EFC90204AC}"/>
              </a:ext>
            </a:extLst>
          </p:cNvPr>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316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rtl="0"/>
            <a:r>
              <a:rPr lang="zh-CN" altLang="en-US" sz="12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67531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EF16B5B-36CA-6DCC-B6BE-9237DC467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3A676AE-D93E-E535-1B24-F3A2845A3A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E06D8D-F052-62F2-DA03-D60ED86D1A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9AE4D3-C916-4415-A239-F3CB206B3795}" type="datetimeFigureOut">
              <a:rPr lang="zh-CN" altLang="en-US" smtClean="0"/>
              <a:t>2026-5-14</a:t>
            </a:fld>
            <a:endParaRPr lang="zh-CN" altLang="en-US"/>
          </a:p>
        </p:txBody>
      </p:sp>
      <p:sp>
        <p:nvSpPr>
          <p:cNvPr id="5" name="页脚占位符 4">
            <a:extLst>
              <a:ext uri="{FF2B5EF4-FFF2-40B4-BE49-F238E27FC236}">
                <a16:creationId xmlns:a16="http://schemas.microsoft.com/office/drawing/2014/main" id="{05FC3C43-4537-AC1E-464E-9A60EA7810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2099422-7737-8A98-8864-4BC3168BC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A143F6-88AD-4D51-9312-33142D4A94F7}" type="slidenum">
              <a:rPr lang="zh-CN" altLang="en-US" smtClean="0"/>
              <a:t>‹#›</a:t>
            </a:fld>
            <a:endParaRPr lang="zh-CN" altLang="en-US"/>
          </a:p>
        </p:txBody>
      </p:sp>
    </p:spTree>
    <p:extLst>
      <p:ext uri="{BB962C8B-B14F-4D97-AF65-F5344CB8AC3E}">
        <p14:creationId xmlns:p14="http://schemas.microsoft.com/office/powerpoint/2010/main" val="2867565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60.png"/></Relationships>
</file>

<file path=ppt/slides/_rels/slide42.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40.png"/></Relationships>
</file>

<file path=ppt/slides/_rels/slide48.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36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1370590" y="2465979"/>
            <a:ext cx="9673232" cy="1282576"/>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ln w="22225">
                  <a:solidFill>
                    <a:schemeClr val="accent2"/>
                  </a:solidFill>
                  <a:prstDash val="solid"/>
                </a:ln>
                <a:solidFill>
                  <a:schemeClr val="accent2">
                    <a:lumMod val="40000"/>
                    <a:lumOff val="60000"/>
                  </a:schemeClr>
                </a:solidFill>
              </a:rPr>
              <a:t>第十周 </a:t>
            </a:r>
            <a:r>
              <a:rPr lang="zh-CN" altLang="en-US" b="1" dirty="0">
                <a:ln w="22225">
                  <a:solidFill>
                    <a:schemeClr val="accent2"/>
                  </a:solidFill>
                  <a:prstDash val="solid"/>
                </a:ln>
                <a:solidFill>
                  <a:schemeClr val="accent2">
                    <a:lumMod val="40000"/>
                    <a:lumOff val="60000"/>
                  </a:schemeClr>
                </a:solidFill>
              </a:rPr>
              <a:t>机器学习与无监督学习</a:t>
            </a:r>
            <a:endParaRPr lang="zh-CN" altLang="en-US" sz="5300" b="1" dirty="0">
              <a:ln w="22225">
                <a:solidFill>
                  <a:schemeClr val="accent2"/>
                </a:solidFill>
                <a:prstDash val="solid"/>
              </a:ln>
              <a:solidFill>
                <a:schemeClr val="accent2">
                  <a:lumMod val="40000"/>
                  <a:lumOff val="60000"/>
                </a:schemeClr>
              </a:solidFill>
            </a:endParaRPr>
          </a:p>
        </p:txBody>
      </p:sp>
      <p:sp>
        <p:nvSpPr>
          <p:cNvPr id="8" name="Rectangle 4"/>
          <p:cNvSpPr>
            <a:spLocks noGrp="1" noChangeArrowheads="1"/>
          </p:cNvSpPr>
          <p:nvPr>
            <p:ph type="ctrTitle"/>
          </p:nvPr>
        </p:nvSpPr>
        <p:spPr>
          <a:xfrm>
            <a:off x="498235" y="791671"/>
            <a:ext cx="5410200" cy="589165"/>
          </a:xfrm>
        </p:spPr>
        <p:txBody>
          <a:bodyPr>
            <a:normAutofit/>
          </a:bodyPr>
          <a:lstStyle/>
          <a:p>
            <a:pPr algn="l"/>
            <a:r>
              <a:rPr lang="zh-CN" altLang="en-US" sz="3000" dirty="0">
                <a:ea typeface="宋体" panose="02010600030101010101" pitchFamily="2" charset="-122"/>
              </a:rPr>
              <a:t>课程</a:t>
            </a:r>
            <a:r>
              <a:rPr lang="en-US" altLang="zh-CN" sz="3000" dirty="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人工智能原理与技术</a:t>
            </a:r>
            <a:r>
              <a:rPr lang="en-US" altLang="zh-CN" sz="3000" i="0" dirty="0">
                <a:ea typeface="宋体" panose="02010600030101010101" pitchFamily="2" charset="-122"/>
              </a:rPr>
              <a:t>》</a:t>
            </a:r>
          </a:p>
        </p:txBody>
      </p:sp>
      <p:pic>
        <p:nvPicPr>
          <p:cNvPr id="10" name="图片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75204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EFC7-F189-6209-A72E-614D3E93689C}"/>
            </a:ext>
          </a:extLst>
        </p:cNvPr>
        <p:cNvGrpSpPr/>
        <p:nvPr/>
      </p:nvGrpSpPr>
      <p:grpSpPr>
        <a:xfrm>
          <a:off x="0" y="0"/>
          <a:ext cx="0" cy="0"/>
          <a:chOff x="0" y="0"/>
          <a:chExt cx="0" cy="0"/>
        </a:xfrm>
      </p:grpSpPr>
      <p:grpSp>
        <p:nvGrpSpPr>
          <p:cNvPr id="38" name="组合 37">
            <a:extLst>
              <a:ext uri="{FF2B5EF4-FFF2-40B4-BE49-F238E27FC236}">
                <a16:creationId xmlns:a16="http://schemas.microsoft.com/office/drawing/2014/main" id="{630522CE-BF99-1C2C-9E2C-76803CD02324}"/>
              </a:ext>
            </a:extLst>
          </p:cNvPr>
          <p:cNvGrpSpPr/>
          <p:nvPr/>
        </p:nvGrpSpPr>
        <p:grpSpPr>
          <a:xfrm>
            <a:off x="3869989" y="1594509"/>
            <a:ext cx="4452022" cy="4487848"/>
            <a:chOff x="3872379" y="1383943"/>
            <a:chExt cx="4452022" cy="4487848"/>
          </a:xfrm>
        </p:grpSpPr>
        <p:sp>
          <p:nvSpPr>
            <p:cNvPr id="3" name="Freeform 5">
              <a:extLst>
                <a:ext uri="{FF2B5EF4-FFF2-40B4-BE49-F238E27FC236}">
                  <a16:creationId xmlns:a16="http://schemas.microsoft.com/office/drawing/2014/main" id="{A0ECAAFF-0D78-F81E-66DC-9A7C4C080E32}"/>
                </a:ext>
              </a:extLst>
            </p:cNvPr>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a:extLst>
                <a:ext uri="{FF2B5EF4-FFF2-40B4-BE49-F238E27FC236}">
                  <a16:creationId xmlns:a16="http://schemas.microsoft.com/office/drawing/2014/main" id="{C3115C7E-9558-718E-BA58-FE89B01EF2B4}"/>
                </a:ext>
              </a:extLst>
            </p:cNvPr>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a:extLst>
                <a:ext uri="{FF2B5EF4-FFF2-40B4-BE49-F238E27FC236}">
                  <a16:creationId xmlns:a16="http://schemas.microsoft.com/office/drawing/2014/main" id="{5C674E5A-1246-1811-6A98-F86077497C20}"/>
                </a:ext>
              </a:extLst>
            </p:cNvPr>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a:extLst>
                <a:ext uri="{FF2B5EF4-FFF2-40B4-BE49-F238E27FC236}">
                  <a16:creationId xmlns:a16="http://schemas.microsoft.com/office/drawing/2014/main" id="{8567AC0D-A552-5BA9-4C32-F4A5369B728C}"/>
                </a:ext>
              </a:extLst>
            </p:cNvPr>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a:extLst>
                <a:ext uri="{FF2B5EF4-FFF2-40B4-BE49-F238E27FC236}">
                  <a16:creationId xmlns:a16="http://schemas.microsoft.com/office/drawing/2014/main" id="{C7096C22-7A18-CC04-F526-F57D5CC2E6F6}"/>
                </a:ext>
              </a:extLst>
            </p:cNvPr>
            <p:cNvGrpSpPr/>
            <p:nvPr/>
          </p:nvGrpSpPr>
          <p:grpSpPr>
            <a:xfrm>
              <a:off x="4569798" y="4627422"/>
              <a:ext cx="527842" cy="535007"/>
              <a:chOff x="3557588" y="3654425"/>
              <a:chExt cx="350838" cy="355600"/>
            </a:xfrm>
          </p:grpSpPr>
          <p:sp>
            <p:nvSpPr>
              <p:cNvPr id="20" name="Freeform 9">
                <a:extLst>
                  <a:ext uri="{FF2B5EF4-FFF2-40B4-BE49-F238E27FC236}">
                    <a16:creationId xmlns:a16="http://schemas.microsoft.com/office/drawing/2014/main" id="{4A1380A2-0863-55B6-BAE3-6FCEEBBD84B6}"/>
                  </a:ext>
                </a:extLst>
              </p:cNvPr>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a:extLst>
                  <a:ext uri="{FF2B5EF4-FFF2-40B4-BE49-F238E27FC236}">
                    <a16:creationId xmlns:a16="http://schemas.microsoft.com/office/drawing/2014/main" id="{35C59EC1-802B-3B7A-6F08-7379AB72BF99}"/>
                  </a:ext>
                </a:extLst>
              </p:cNvPr>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a:extLst>
                  <a:ext uri="{FF2B5EF4-FFF2-40B4-BE49-F238E27FC236}">
                    <a16:creationId xmlns:a16="http://schemas.microsoft.com/office/drawing/2014/main" id="{87F1F893-B51A-3BF1-C532-3EC9ED986B83}"/>
                  </a:ext>
                </a:extLst>
              </p:cNvPr>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a:extLst>
                <a:ext uri="{FF2B5EF4-FFF2-40B4-BE49-F238E27FC236}">
                  <a16:creationId xmlns:a16="http://schemas.microsoft.com/office/drawing/2014/main" id="{9943C6E0-3A21-E68D-5ABB-CE1158C5D321}"/>
                </a:ext>
              </a:extLst>
            </p:cNvPr>
            <p:cNvGrpSpPr/>
            <p:nvPr/>
          </p:nvGrpSpPr>
          <p:grpSpPr>
            <a:xfrm>
              <a:off x="7025097" y="2098082"/>
              <a:ext cx="606660" cy="539784"/>
              <a:chOff x="5189538" y="1973263"/>
              <a:chExt cx="403225" cy="358775"/>
            </a:xfrm>
          </p:grpSpPr>
          <p:sp>
            <p:nvSpPr>
              <p:cNvPr id="18" name="Freeform 12">
                <a:extLst>
                  <a:ext uri="{FF2B5EF4-FFF2-40B4-BE49-F238E27FC236}">
                    <a16:creationId xmlns:a16="http://schemas.microsoft.com/office/drawing/2014/main" id="{70DC6184-5D36-2771-E4F8-12E0D6B900E4}"/>
                  </a:ext>
                </a:extLst>
              </p:cNvPr>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a:extLst>
                  <a:ext uri="{FF2B5EF4-FFF2-40B4-BE49-F238E27FC236}">
                    <a16:creationId xmlns:a16="http://schemas.microsoft.com/office/drawing/2014/main" id="{BA0B801C-B3B0-EE98-B69D-74762A7A1673}"/>
                  </a:ext>
                </a:extLst>
              </p:cNvPr>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a:extLst>
                <a:ext uri="{FF2B5EF4-FFF2-40B4-BE49-F238E27FC236}">
                  <a16:creationId xmlns:a16="http://schemas.microsoft.com/office/drawing/2014/main" id="{26FBF4FB-827C-6AF7-3427-35C4B2BCE2E6}"/>
                </a:ext>
              </a:extLst>
            </p:cNvPr>
            <p:cNvGrpSpPr/>
            <p:nvPr/>
          </p:nvGrpSpPr>
          <p:grpSpPr>
            <a:xfrm>
              <a:off x="6984495" y="4601150"/>
              <a:ext cx="599495" cy="587552"/>
              <a:chOff x="5162551" y="3636963"/>
              <a:chExt cx="398463" cy="390525"/>
            </a:xfrm>
          </p:grpSpPr>
          <p:sp>
            <p:nvSpPr>
              <p:cNvPr id="15" name="Freeform 14">
                <a:extLst>
                  <a:ext uri="{FF2B5EF4-FFF2-40B4-BE49-F238E27FC236}">
                    <a16:creationId xmlns:a16="http://schemas.microsoft.com/office/drawing/2014/main" id="{66BA17DF-0983-019B-C82E-340E3F754C87}"/>
                  </a:ext>
                </a:extLst>
              </p:cNvPr>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a:extLst>
                  <a:ext uri="{FF2B5EF4-FFF2-40B4-BE49-F238E27FC236}">
                    <a16:creationId xmlns:a16="http://schemas.microsoft.com/office/drawing/2014/main" id="{4EF00F40-FF60-1F53-0058-3A407B392986}"/>
                  </a:ext>
                </a:extLst>
              </p:cNvPr>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a:extLst>
                  <a:ext uri="{FF2B5EF4-FFF2-40B4-BE49-F238E27FC236}">
                    <a16:creationId xmlns:a16="http://schemas.microsoft.com/office/drawing/2014/main" id="{5A2D1D32-66A3-E88C-E9C2-7BA04D131E6F}"/>
                  </a:ext>
                </a:extLst>
              </p:cNvPr>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a:extLst>
                <a:ext uri="{FF2B5EF4-FFF2-40B4-BE49-F238E27FC236}">
                  <a16:creationId xmlns:a16="http://schemas.microsoft.com/office/drawing/2014/main" id="{C05753DC-B785-D44D-77F7-74DB21C44C3F}"/>
                </a:ext>
              </a:extLst>
            </p:cNvPr>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a:extLst>
                <a:ext uri="{FF2B5EF4-FFF2-40B4-BE49-F238E27FC236}">
                  <a16:creationId xmlns:a16="http://schemas.microsoft.com/office/drawing/2014/main" id="{E7D11705-3F6B-CB57-37C2-58C4B82DCFBA}"/>
                </a:ext>
              </a:extLst>
            </p:cNvPr>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a:extLst>
                <a:ext uri="{FF2B5EF4-FFF2-40B4-BE49-F238E27FC236}">
                  <a16:creationId xmlns:a16="http://schemas.microsoft.com/office/drawing/2014/main" id="{1DE74504-49E8-8353-419B-519546BE4A69}"/>
                </a:ext>
              </a:extLst>
            </p:cNvPr>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a:extLst>
                <a:ext uri="{FF2B5EF4-FFF2-40B4-BE49-F238E27FC236}">
                  <a16:creationId xmlns:a16="http://schemas.microsoft.com/office/drawing/2014/main" id="{CAD98C20-8863-2A54-C3EE-75B67ABAC8C3}"/>
                </a:ext>
              </a:extLst>
            </p:cNvPr>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a:extLst>
                <a:ext uri="{FF2B5EF4-FFF2-40B4-BE49-F238E27FC236}">
                  <a16:creationId xmlns:a16="http://schemas.microsoft.com/office/drawing/2014/main" id="{4DD32CC4-7223-6DDF-38B8-99393251BE3E}"/>
                </a:ext>
              </a:extLst>
            </p:cNvPr>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a:extLst>
              <a:ext uri="{FF2B5EF4-FFF2-40B4-BE49-F238E27FC236}">
                <a16:creationId xmlns:a16="http://schemas.microsoft.com/office/drawing/2014/main" id="{65FD479B-C71F-D983-D2E0-58598A98470E}"/>
              </a:ext>
            </a:extLst>
          </p:cNvPr>
          <p:cNvGrpSpPr/>
          <p:nvPr>
            <p:custDataLst>
              <p:tags r:id="rId1"/>
            </p:custDataLst>
          </p:nvPr>
        </p:nvGrpSpPr>
        <p:grpSpPr>
          <a:xfrm>
            <a:off x="1445407" y="2526644"/>
            <a:ext cx="2855980" cy="823738"/>
            <a:chOff x="656868" y="2381121"/>
            <a:chExt cx="2855980" cy="823738"/>
          </a:xfrm>
        </p:grpSpPr>
        <p:sp>
          <p:nvSpPr>
            <p:cNvPr id="24" name="文本框 23">
              <a:extLst>
                <a:ext uri="{FF2B5EF4-FFF2-40B4-BE49-F238E27FC236}">
                  <a16:creationId xmlns:a16="http://schemas.microsoft.com/office/drawing/2014/main" id="{519BC2BC-D2E0-FC4E-70B5-202B000E3D05}"/>
                </a:ext>
              </a:extLst>
            </p:cNvPr>
            <p:cNvSpPr txBox="1"/>
            <p:nvPr/>
          </p:nvSpPr>
          <p:spPr>
            <a:xfrm>
              <a:off x="928440" y="2381121"/>
              <a:ext cx="1723549" cy="461665"/>
            </a:xfrm>
            <a:prstGeom prst="rect">
              <a:avLst/>
            </a:prstGeom>
            <a:noFill/>
          </p:spPr>
          <p:txBody>
            <a:bodyPr wrap="none" rtlCol="0">
              <a:spAutoFit/>
            </a:bodyPr>
            <a:lstStyle/>
            <a:p>
              <a:r>
                <a:rPr lang="zh-CN" altLang="en-US" sz="2400" b="1" dirty="0">
                  <a:solidFill>
                    <a:srgbClr val="FF0000"/>
                  </a:solidFill>
                </a:rPr>
                <a:t>无监督学习</a:t>
              </a:r>
            </a:p>
          </p:txBody>
        </p:sp>
        <p:sp>
          <p:nvSpPr>
            <p:cNvPr id="25" name="文本框 24">
              <a:extLst>
                <a:ext uri="{FF2B5EF4-FFF2-40B4-BE49-F238E27FC236}">
                  <a16:creationId xmlns:a16="http://schemas.microsoft.com/office/drawing/2014/main" id="{D8587460-E77B-0D64-6CFB-4FAF4C33FDA8}"/>
                </a:ext>
              </a:extLst>
            </p:cNvPr>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a:extLst>
              <a:ext uri="{FF2B5EF4-FFF2-40B4-BE49-F238E27FC236}">
                <a16:creationId xmlns:a16="http://schemas.microsoft.com/office/drawing/2014/main" id="{5C855F4D-256F-E2E8-82A4-C665B219CDEF}"/>
              </a:ext>
            </a:extLst>
          </p:cNvPr>
          <p:cNvSpPr txBox="1"/>
          <p:nvPr/>
        </p:nvSpPr>
        <p:spPr>
          <a:xfrm>
            <a:off x="8551048" y="4920321"/>
            <a:ext cx="1415772" cy="461665"/>
          </a:xfrm>
          <a:prstGeom prst="rect">
            <a:avLst/>
          </a:prstGeom>
          <a:noFill/>
        </p:spPr>
        <p:txBody>
          <a:bodyPr wrap="none" rtlCol="0">
            <a:spAutoFit/>
          </a:bodyPr>
          <a:lstStyle/>
          <a:p>
            <a:r>
              <a:rPr lang="zh-CN" altLang="en-US" sz="2400" b="1" u="sng" dirty="0">
                <a:solidFill>
                  <a:srgbClr val="24569D"/>
                </a:solidFill>
              </a:rPr>
              <a:t>演化算法</a:t>
            </a:r>
          </a:p>
        </p:txBody>
      </p:sp>
      <p:sp>
        <p:nvSpPr>
          <p:cNvPr id="31" name="文本框 30">
            <a:extLst>
              <a:ext uri="{FF2B5EF4-FFF2-40B4-BE49-F238E27FC236}">
                <a16:creationId xmlns:a16="http://schemas.microsoft.com/office/drawing/2014/main" id="{98F1FF43-C5CA-33A6-6031-A6442D5988F0}"/>
              </a:ext>
            </a:extLst>
          </p:cNvPr>
          <p:cNvSpPr txBox="1"/>
          <p:nvPr/>
        </p:nvSpPr>
        <p:spPr>
          <a:xfrm>
            <a:off x="1743730" y="4865798"/>
            <a:ext cx="1415772" cy="461665"/>
          </a:xfrm>
          <a:prstGeom prst="rect">
            <a:avLst/>
          </a:prstGeom>
          <a:noFill/>
        </p:spPr>
        <p:txBody>
          <a:bodyPr wrap="none" rtlCol="0">
            <a:spAutoFit/>
          </a:bodyPr>
          <a:lstStyle/>
          <a:p>
            <a:r>
              <a:rPr lang="zh-CN" altLang="en-US" sz="2400" b="1" dirty="0">
                <a:solidFill>
                  <a:srgbClr val="24569D"/>
                </a:solidFill>
              </a:rPr>
              <a:t>特征降维</a:t>
            </a:r>
          </a:p>
        </p:txBody>
      </p:sp>
      <p:sp>
        <p:nvSpPr>
          <p:cNvPr id="34" name="文本框 33">
            <a:extLst>
              <a:ext uri="{FF2B5EF4-FFF2-40B4-BE49-F238E27FC236}">
                <a16:creationId xmlns:a16="http://schemas.microsoft.com/office/drawing/2014/main" id="{A2F85AE4-7643-D4EA-4763-00323BB76FBF}"/>
              </a:ext>
            </a:extLst>
          </p:cNvPr>
          <p:cNvSpPr txBox="1"/>
          <p:nvPr/>
        </p:nvSpPr>
        <p:spPr>
          <a:xfrm>
            <a:off x="8551048" y="2586871"/>
            <a:ext cx="1415772" cy="461665"/>
          </a:xfrm>
          <a:prstGeom prst="rect">
            <a:avLst/>
          </a:prstGeom>
          <a:noFill/>
        </p:spPr>
        <p:txBody>
          <a:bodyPr wrap="none" rtlCol="0">
            <a:spAutoFit/>
          </a:bodyPr>
          <a:lstStyle/>
          <a:p>
            <a:r>
              <a:rPr lang="zh-CN" altLang="en-US" sz="2400" b="1" dirty="0">
                <a:solidFill>
                  <a:srgbClr val="24569D"/>
                </a:solidFill>
              </a:rPr>
              <a:t>聚类算法</a:t>
            </a:r>
          </a:p>
        </p:txBody>
      </p:sp>
      <p:sp>
        <p:nvSpPr>
          <p:cNvPr id="2" name="矩形 1">
            <a:extLst>
              <a:ext uri="{FF2B5EF4-FFF2-40B4-BE49-F238E27FC236}">
                <a16:creationId xmlns:a16="http://schemas.microsoft.com/office/drawing/2014/main" id="{D55DBC89-F105-4F49-BB60-1701ECA7B3C0}"/>
              </a:ext>
            </a:extLst>
          </p:cNvPr>
          <p:cNvSpPr/>
          <p:nvPr/>
        </p:nvSpPr>
        <p:spPr>
          <a:xfrm>
            <a:off x="745606" y="902626"/>
            <a:ext cx="902811" cy="523220"/>
          </a:xfrm>
          <a:prstGeom prst="rect">
            <a:avLst/>
          </a:prstGeom>
        </p:spPr>
        <p:txBody>
          <a:bodyPr wrap="none">
            <a:spAutoFit/>
          </a:bodyPr>
          <a:lstStyle/>
          <a:p>
            <a:r>
              <a:rPr lang="zh-CN" altLang="en-US" sz="2800" dirty="0"/>
              <a:t>目录</a:t>
            </a:r>
          </a:p>
        </p:txBody>
      </p:sp>
    </p:spTree>
    <p:extLst>
      <p:ext uri="{BB962C8B-B14F-4D97-AF65-F5344CB8AC3E}">
        <p14:creationId xmlns:p14="http://schemas.microsoft.com/office/powerpoint/2010/main" val="2669241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E4BD768A-4FCE-4C5A-EE2C-645BB0ED9C20}"/>
              </a:ext>
            </a:extLst>
          </p:cNvPr>
          <p:cNvSpPr/>
          <p:nvPr/>
        </p:nvSpPr>
        <p:spPr>
          <a:xfrm>
            <a:off x="540799" y="897453"/>
            <a:ext cx="4350797" cy="2517313"/>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角 5">
            <a:extLst>
              <a:ext uri="{FF2B5EF4-FFF2-40B4-BE49-F238E27FC236}">
                <a16:creationId xmlns:a16="http://schemas.microsoft.com/office/drawing/2014/main" id="{DFE07440-1CA0-CE30-47EC-374EEDA07290}"/>
              </a:ext>
            </a:extLst>
          </p:cNvPr>
          <p:cNvSpPr/>
          <p:nvPr/>
        </p:nvSpPr>
        <p:spPr>
          <a:xfrm>
            <a:off x="5861634" y="939464"/>
            <a:ext cx="4291852" cy="251731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0422849-0242-14BF-AAA2-5B1696C28326}"/>
              </a:ext>
            </a:extLst>
          </p:cNvPr>
          <p:cNvSpPr txBox="1"/>
          <p:nvPr/>
        </p:nvSpPr>
        <p:spPr>
          <a:xfrm>
            <a:off x="887123" y="921127"/>
            <a:ext cx="3222811" cy="2243050"/>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监督学习</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目标明确</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需要带标签数据</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效果容易评估</a:t>
            </a:r>
          </a:p>
        </p:txBody>
      </p:sp>
      <p:sp>
        <p:nvSpPr>
          <p:cNvPr id="4" name="文本框 3">
            <a:extLst>
              <a:ext uri="{FF2B5EF4-FFF2-40B4-BE49-F238E27FC236}">
                <a16:creationId xmlns:a16="http://schemas.microsoft.com/office/drawing/2014/main" id="{531692D8-574E-8008-AE0C-B813DD05A932}"/>
              </a:ext>
            </a:extLst>
          </p:cNvPr>
          <p:cNvSpPr txBox="1"/>
          <p:nvPr/>
        </p:nvSpPr>
        <p:spPr>
          <a:xfrm>
            <a:off x="6231428" y="963137"/>
            <a:ext cx="3922058" cy="2243050"/>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无监督学习</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目标不明确</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不需要带标签数据</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效果较难评估</a:t>
            </a:r>
          </a:p>
        </p:txBody>
      </p:sp>
      <p:grpSp>
        <p:nvGrpSpPr>
          <p:cNvPr id="12" name="组合 11">
            <a:extLst>
              <a:ext uri="{FF2B5EF4-FFF2-40B4-BE49-F238E27FC236}">
                <a16:creationId xmlns:a16="http://schemas.microsoft.com/office/drawing/2014/main" id="{8F4295D1-28B1-F78B-5EF6-B035A4BEAA00}"/>
              </a:ext>
            </a:extLst>
          </p:cNvPr>
          <p:cNvGrpSpPr/>
          <p:nvPr/>
        </p:nvGrpSpPr>
        <p:grpSpPr>
          <a:xfrm>
            <a:off x="1340971" y="292058"/>
            <a:ext cx="7464387" cy="497934"/>
            <a:chOff x="4099943" y="2819853"/>
            <a:chExt cx="2570275" cy="497934"/>
          </a:xfrm>
        </p:grpSpPr>
        <p:sp>
          <p:nvSpPr>
            <p:cNvPr id="13" name="平行四边形 12">
              <a:extLst>
                <a:ext uri="{FF2B5EF4-FFF2-40B4-BE49-F238E27FC236}">
                  <a16:creationId xmlns:a16="http://schemas.microsoft.com/office/drawing/2014/main" id="{98E524E0-3B0D-F269-8CF2-33B0D9F52DA1}"/>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平行四边形 13">
              <a:extLst>
                <a:ext uri="{FF2B5EF4-FFF2-40B4-BE49-F238E27FC236}">
                  <a16:creationId xmlns:a16="http://schemas.microsoft.com/office/drawing/2014/main" id="{CF0A576D-88BE-01BC-9362-C341D8E917DE}"/>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矩形 14">
              <a:extLst>
                <a:ext uri="{FF2B5EF4-FFF2-40B4-BE49-F238E27FC236}">
                  <a16:creationId xmlns:a16="http://schemas.microsoft.com/office/drawing/2014/main" id="{7E98A042-FC5B-AB11-D707-BE24AD95835E}"/>
                </a:ext>
              </a:extLst>
            </p:cNvPr>
            <p:cNvSpPr/>
            <p:nvPr/>
          </p:nvSpPr>
          <p:spPr>
            <a:xfrm>
              <a:off x="4216534" y="2853798"/>
              <a:ext cx="2359684" cy="400110"/>
            </a:xfrm>
            <a:prstGeom prst="rect">
              <a:avLst/>
            </a:prstGeom>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监督学习</a:t>
              </a:r>
              <a:r>
                <a:rPr lang="en-US" altLang="zh-CN" sz="2000" b="1" dirty="0">
                  <a:latin typeface="微软雅黑" panose="020B0503020204020204" pitchFamily="34" charset="-122"/>
                  <a:ea typeface="微软雅黑" panose="020B0503020204020204" pitchFamily="34" charset="-122"/>
                </a:rPr>
                <a:t>	VS	</a:t>
              </a:r>
              <a:r>
                <a:rPr lang="zh-CN" altLang="en-US" sz="2000" b="1" dirty="0">
                  <a:latin typeface="微软雅黑" panose="020B0503020204020204" pitchFamily="34" charset="-122"/>
                  <a:ea typeface="微软雅黑" panose="020B0503020204020204" pitchFamily="34" charset="-122"/>
                </a:rPr>
                <a:t>无监督学习</a:t>
              </a:r>
            </a:p>
          </p:txBody>
        </p:sp>
      </p:grpSp>
      <p:pic>
        <p:nvPicPr>
          <p:cNvPr id="10" name="图片 9"/>
          <p:cNvPicPr>
            <a:picLocks noChangeAspect="1"/>
          </p:cNvPicPr>
          <p:nvPr/>
        </p:nvPicPr>
        <p:blipFill>
          <a:blip r:embed="rId2"/>
          <a:stretch>
            <a:fillRect/>
          </a:stretch>
        </p:blipFill>
        <p:spPr>
          <a:xfrm>
            <a:off x="330846" y="3456777"/>
            <a:ext cx="5334000" cy="3304854"/>
          </a:xfrm>
          <a:prstGeom prst="rect">
            <a:avLst/>
          </a:prstGeom>
        </p:spPr>
      </p:pic>
      <p:sp>
        <p:nvSpPr>
          <p:cNvPr id="11" name="矩形 10"/>
          <p:cNvSpPr/>
          <p:nvPr/>
        </p:nvSpPr>
        <p:spPr>
          <a:xfrm>
            <a:off x="8739754" y="4102774"/>
            <a:ext cx="2366211" cy="2320635"/>
          </a:xfrm>
          <a:prstGeom prst="rect">
            <a:avLst/>
          </a:prstGeom>
        </p:spPr>
        <p:txBody>
          <a:bodyPr wrap="square">
            <a:spAutoFit/>
          </a:bodyPr>
          <a:lstStyle/>
          <a:p>
            <a:pPr>
              <a:spcBef>
                <a:spcPct val="20000"/>
              </a:spcBef>
              <a:defRPr/>
            </a:pPr>
            <a:r>
              <a:rPr lang="zh-CN" altLang="en-US" sz="2800" b="1" kern="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生成</a:t>
            </a:r>
            <a:r>
              <a:rPr lang="zh-CN" altLang="en-US"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任务</a:t>
            </a:r>
            <a:endParaRPr lang="en-US" altLang="zh-CN" sz="2800" b="1" kern="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spcBef>
                <a:spcPct val="20000"/>
              </a:spcBef>
              <a:defRPr/>
            </a:pPr>
            <a:endParaRPr lang="en-US" altLang="zh-CN" sz="2800" kern="0" dirty="0">
              <a:latin typeface="微软雅黑" panose="020B0503020204020204" pitchFamily="34" charset="-122"/>
              <a:ea typeface="微软雅黑" panose="020B0503020204020204" pitchFamily="34" charset="-122"/>
            </a:endParaRPr>
          </a:p>
          <a:p>
            <a:pPr>
              <a:lnSpc>
                <a:spcPct val="150000"/>
              </a:lnSpc>
              <a:spcBef>
                <a:spcPct val="20000"/>
              </a:spcBef>
              <a:defRPr/>
            </a:pPr>
            <a:r>
              <a:rPr lang="zh-CN" altLang="en-US" sz="2000" dirty="0" smtClean="0"/>
              <a:t>能够</a:t>
            </a:r>
            <a:r>
              <a:rPr lang="zh-CN" altLang="en-US" sz="2000" dirty="0"/>
              <a:t>生成与训练数据相似的新</a:t>
            </a:r>
            <a:r>
              <a:rPr lang="zh-CN" altLang="en-US" sz="2000" dirty="0" smtClean="0"/>
              <a:t>数据</a:t>
            </a:r>
            <a:endParaRPr lang="en-US" altLang="zh-CN" sz="2000" kern="0" dirty="0">
              <a:latin typeface="微软雅黑" panose="020B0503020204020204" pitchFamily="34" charset="-122"/>
              <a:ea typeface="微软雅黑" panose="020B0503020204020204" pitchFamily="34" charset="-122"/>
            </a:endParaRPr>
          </a:p>
          <a:p>
            <a:pPr marL="2057400" lvl="4" indent="-228600">
              <a:spcBef>
                <a:spcPct val="20000"/>
              </a:spcBef>
              <a:defRPr/>
            </a:pPr>
            <a:endParaRPr lang="en-US" altLang="zh-CN" sz="1600" kern="0" dirty="0"/>
          </a:p>
        </p:txBody>
      </p:sp>
      <p:pic>
        <p:nvPicPr>
          <p:cNvPr id="17" name="圖片 25"/>
          <p:cNvPicPr>
            <a:picLocks noChangeAspect="1"/>
          </p:cNvPicPr>
          <p:nvPr/>
        </p:nvPicPr>
        <p:blipFill>
          <a:blip r:embed="rId3"/>
          <a:stretch>
            <a:fillRect/>
          </a:stretch>
        </p:blipFill>
        <p:spPr>
          <a:xfrm>
            <a:off x="6724694" y="5354714"/>
            <a:ext cx="1629193" cy="1281460"/>
          </a:xfrm>
          <a:prstGeom prst="rect">
            <a:avLst/>
          </a:prstGeom>
        </p:spPr>
      </p:pic>
      <p:pic>
        <p:nvPicPr>
          <p:cNvPr id="18" name="Picture 6" descr="「梵谷」的圖片搜尋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7828" y="4048522"/>
            <a:ext cx="1029114" cy="1254008"/>
          </a:xfrm>
          <a:prstGeom prst="rect">
            <a:avLst/>
          </a:prstGeom>
          <a:noFill/>
          <a:extLst>
            <a:ext uri="{909E8E84-426E-40DD-AFC4-6F175D3DCCD1}">
              <a14:hiddenFill xmlns:a14="http://schemas.microsoft.com/office/drawing/2010/main">
                <a:solidFill>
                  <a:srgbClr val="FFFFFF"/>
                </a:solidFill>
              </a14:hiddenFill>
            </a:ext>
          </a:extLst>
        </p:spPr>
      </p:pic>
      <p:pic>
        <p:nvPicPr>
          <p:cNvPr id="19" name="圖片 27"/>
          <p:cNvPicPr>
            <a:picLocks noChangeAspect="1"/>
          </p:cNvPicPr>
          <p:nvPr/>
        </p:nvPicPr>
        <p:blipFill>
          <a:blip r:embed="rId5"/>
          <a:stretch>
            <a:fillRect/>
          </a:stretch>
        </p:blipFill>
        <p:spPr>
          <a:xfrm>
            <a:off x="6440932" y="4044888"/>
            <a:ext cx="942018" cy="1257642"/>
          </a:xfrm>
          <a:prstGeom prst="rect">
            <a:avLst/>
          </a:prstGeom>
        </p:spPr>
      </p:pic>
    </p:spTree>
    <p:extLst>
      <p:ext uri="{BB962C8B-B14F-4D97-AF65-F5344CB8AC3E}">
        <p14:creationId xmlns:p14="http://schemas.microsoft.com/office/powerpoint/2010/main" val="2472861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56D72-B462-8C91-460B-DD54457AB8F2}"/>
            </a:ext>
          </a:extLst>
        </p:cNvPr>
        <p:cNvGrpSpPr/>
        <p:nvPr/>
      </p:nvGrpSpPr>
      <p:grpSpPr>
        <a:xfrm>
          <a:off x="0" y="0"/>
          <a:ext cx="0" cy="0"/>
          <a:chOff x="0" y="0"/>
          <a:chExt cx="0" cy="0"/>
        </a:xfrm>
      </p:grpSpPr>
      <p:sp>
        <p:nvSpPr>
          <p:cNvPr id="10" name="矩形: 圆角 6">
            <a:extLst>
              <a:ext uri="{FF2B5EF4-FFF2-40B4-BE49-F238E27FC236}">
                <a16:creationId xmlns:a16="http://schemas.microsoft.com/office/drawing/2014/main" id="{C6922FF4-856A-99DC-F18F-B23F6A7772A0}"/>
              </a:ext>
            </a:extLst>
          </p:cNvPr>
          <p:cNvSpPr/>
          <p:nvPr/>
        </p:nvSpPr>
        <p:spPr>
          <a:xfrm>
            <a:off x="422056" y="2046809"/>
            <a:ext cx="11661846" cy="4290195"/>
          </a:xfrm>
          <a:prstGeom prst="roundRect">
            <a:avLst>
              <a:gd name="adj" fmla="val 0"/>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A7F70DC4-9BA7-C974-F2A6-EED5DAC21EAB}"/>
              </a:ext>
            </a:extLst>
          </p:cNvPr>
          <p:cNvGrpSpPr/>
          <p:nvPr/>
        </p:nvGrpSpPr>
        <p:grpSpPr>
          <a:xfrm>
            <a:off x="3623930" y="1023187"/>
            <a:ext cx="4944140" cy="497934"/>
            <a:chOff x="4099943" y="2819853"/>
            <a:chExt cx="2570275" cy="497934"/>
          </a:xfrm>
        </p:grpSpPr>
        <p:sp>
          <p:nvSpPr>
            <p:cNvPr id="3" name="平行四边形 2">
              <a:extLst>
                <a:ext uri="{FF2B5EF4-FFF2-40B4-BE49-F238E27FC236}">
                  <a16:creationId xmlns:a16="http://schemas.microsoft.com/office/drawing/2014/main" id="{6830B80A-4DE3-2510-C90C-A0C5DF83D2C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9784EF15-BC6B-E78F-822D-051DA148ECC4}"/>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FA344440-CD27-A55B-4D90-EBA7BCB605B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无监督学习的基本概念</a:t>
              </a:r>
            </a:p>
          </p:txBody>
        </p:sp>
      </p:grpSp>
      <p:grpSp>
        <p:nvGrpSpPr>
          <p:cNvPr id="20" name="组合 19">
            <a:extLst>
              <a:ext uri="{FF2B5EF4-FFF2-40B4-BE49-F238E27FC236}">
                <a16:creationId xmlns:a16="http://schemas.microsoft.com/office/drawing/2014/main" id="{C5B9128E-AA5C-7AD5-6B9E-D997E1720D54}"/>
              </a:ext>
            </a:extLst>
          </p:cNvPr>
          <p:cNvGrpSpPr/>
          <p:nvPr/>
        </p:nvGrpSpPr>
        <p:grpSpPr>
          <a:xfrm>
            <a:off x="8092715" y="2292258"/>
            <a:ext cx="4194242" cy="3874625"/>
            <a:chOff x="191935" y="527891"/>
            <a:chExt cx="10359504" cy="4430956"/>
          </a:xfrm>
        </p:grpSpPr>
        <p:sp>
          <p:nvSpPr>
            <p:cNvPr id="25" name="圆角矩形 24">
              <a:extLst>
                <a:ext uri="{FF2B5EF4-FFF2-40B4-BE49-F238E27FC236}">
                  <a16:creationId xmlns:a16="http://schemas.microsoft.com/office/drawing/2014/main" id="{545AAB6B-FE65-4424-2C7E-5C3939E749FB}"/>
                </a:ext>
              </a:extLst>
            </p:cNvPr>
            <p:cNvSpPr/>
            <p:nvPr/>
          </p:nvSpPr>
          <p:spPr>
            <a:xfrm>
              <a:off x="265598" y="527891"/>
              <a:ext cx="9455488" cy="4430956"/>
            </a:xfrm>
            <a:prstGeom prst="roundRect">
              <a:avLst>
                <a:gd name="adj" fmla="val 4011"/>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10">
              <a:extLst>
                <a:ext uri="{FF2B5EF4-FFF2-40B4-BE49-F238E27FC236}">
                  <a16:creationId xmlns:a16="http://schemas.microsoft.com/office/drawing/2014/main" id="{43660401-D013-220D-BD4C-8D6ECCBCD2DF}"/>
                </a:ext>
              </a:extLst>
            </p:cNvPr>
            <p:cNvPicPr>
              <a:picLocks noChangeArrowheads="1"/>
            </p:cNvPicPr>
            <p:nvPr/>
          </p:nvPicPr>
          <p:blipFill>
            <a:blip r:embed="rId3">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5209184" y="-4406987"/>
              <a:ext cx="325006" cy="1035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grpSp>
      <p:sp>
        <p:nvSpPr>
          <p:cNvPr id="21" name="Text Box 5">
            <a:extLst>
              <a:ext uri="{FF2B5EF4-FFF2-40B4-BE49-F238E27FC236}">
                <a16:creationId xmlns:a16="http://schemas.microsoft.com/office/drawing/2014/main" id="{7051F09F-1190-936F-BD6B-62E131CAABEA}"/>
              </a:ext>
            </a:extLst>
          </p:cNvPr>
          <p:cNvSpPr txBox="1">
            <a:spLocks noChangeArrowheads="1"/>
          </p:cNvSpPr>
          <p:nvPr/>
        </p:nvSpPr>
        <p:spPr bwMode="auto">
          <a:xfrm>
            <a:off x="8244852" y="2413376"/>
            <a:ext cx="3525092"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zh-CN" altLang="en-US" dirty="0"/>
              <a:t>例：划分法下列图形</a:t>
            </a:r>
            <a:endParaRPr lang="en-US" altLang="zh-CN" dirty="0"/>
          </a:p>
          <a:p>
            <a:pPr lvl="1"/>
            <a:r>
              <a:rPr lang="zh-CN" altLang="en-US" dirty="0"/>
              <a:t>按照：距离？形状？颜色？</a:t>
            </a:r>
          </a:p>
        </p:txBody>
      </p:sp>
      <p:sp>
        <p:nvSpPr>
          <p:cNvPr id="7" name="内容占位符 2">
            <a:extLst>
              <a:ext uri="{FF2B5EF4-FFF2-40B4-BE49-F238E27FC236}">
                <a16:creationId xmlns:a16="http://schemas.microsoft.com/office/drawing/2014/main" id="{141493E4-6C58-EAB2-91E2-5C763F6A1D80}"/>
              </a:ext>
            </a:extLst>
          </p:cNvPr>
          <p:cNvSpPr txBox="1">
            <a:spLocks/>
          </p:cNvSpPr>
          <p:nvPr/>
        </p:nvSpPr>
        <p:spPr>
          <a:xfrm>
            <a:off x="771039" y="2296935"/>
            <a:ext cx="7157304"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solidFill>
                  <a:schemeClr val="bg1"/>
                </a:solidFill>
                <a:latin typeface="+mj-ea"/>
                <a:ea typeface="+mj-ea"/>
              </a:rPr>
              <a:t>从没有“输入</a:t>
            </a:r>
            <a:r>
              <a:rPr lang="en-US" altLang="zh-CN" dirty="0">
                <a:solidFill>
                  <a:schemeClr val="bg1"/>
                </a:solidFill>
                <a:latin typeface="+mj-ea"/>
                <a:ea typeface="+mj-ea"/>
              </a:rPr>
              <a:t>-</a:t>
            </a:r>
            <a:r>
              <a:rPr lang="zh-CN" altLang="en-US" dirty="0">
                <a:solidFill>
                  <a:schemeClr val="bg1"/>
                </a:solidFill>
                <a:latin typeface="+mj-ea"/>
                <a:ea typeface="+mj-ea"/>
              </a:rPr>
              <a:t>输出”关系对的数据中学习模式</a:t>
            </a:r>
            <a:r>
              <a:rPr lang="en-US" altLang="zh-CN" dirty="0">
                <a:solidFill>
                  <a:schemeClr val="bg1"/>
                </a:solidFill>
                <a:latin typeface="+mj-ea"/>
                <a:ea typeface="+mj-ea"/>
              </a:rPr>
              <a:t>/</a:t>
            </a:r>
            <a:r>
              <a:rPr lang="zh-CN" altLang="en-US" dirty="0">
                <a:solidFill>
                  <a:schemeClr val="bg1"/>
                </a:solidFill>
                <a:latin typeface="+mj-ea"/>
                <a:ea typeface="+mj-ea"/>
              </a:rPr>
              <a:t>特征</a:t>
            </a:r>
            <a:endParaRPr lang="en-US" altLang="zh-CN" dirty="0">
              <a:solidFill>
                <a:schemeClr val="bg1"/>
              </a:solidFill>
              <a:latin typeface="+mj-ea"/>
              <a:ea typeface="+mj-ea"/>
            </a:endParaRPr>
          </a:p>
          <a:p>
            <a:pPr lvl="1">
              <a:lnSpc>
                <a:spcPct val="150000"/>
              </a:lnSpc>
            </a:pPr>
            <a:r>
              <a:rPr lang="zh-CN" altLang="en-US" dirty="0">
                <a:solidFill>
                  <a:schemeClr val="bg1"/>
                </a:solidFill>
                <a:latin typeface="+mj-ea"/>
                <a:ea typeface="+mj-ea"/>
              </a:rPr>
              <a:t>仅有输入，没有输出</a:t>
            </a:r>
            <a:endParaRPr lang="en-US" altLang="zh-CN" dirty="0">
              <a:solidFill>
                <a:schemeClr val="bg1"/>
              </a:solidFill>
              <a:latin typeface="+mj-ea"/>
              <a:ea typeface="+mj-ea"/>
            </a:endParaRPr>
          </a:p>
          <a:p>
            <a:pPr lvl="1">
              <a:lnSpc>
                <a:spcPct val="150000"/>
              </a:lnSpc>
            </a:pPr>
            <a:r>
              <a:rPr lang="zh-CN" altLang="en-US" dirty="0">
                <a:solidFill>
                  <a:schemeClr val="bg1"/>
                </a:solidFill>
                <a:latin typeface="+mj-ea"/>
                <a:ea typeface="+mj-ea"/>
              </a:rPr>
              <a:t>没有标签</a:t>
            </a:r>
            <a:r>
              <a:rPr lang="en-US" altLang="zh-CN" dirty="0">
                <a:solidFill>
                  <a:schemeClr val="bg1"/>
                </a:solidFill>
                <a:latin typeface="+mj-ea"/>
                <a:ea typeface="+mj-ea"/>
              </a:rPr>
              <a:t>/</a:t>
            </a:r>
            <a:r>
              <a:rPr lang="zh-CN" altLang="en-US" dirty="0">
                <a:solidFill>
                  <a:schemeClr val="bg1"/>
                </a:solidFill>
                <a:latin typeface="+mj-ea"/>
                <a:ea typeface="+mj-ea"/>
              </a:rPr>
              <a:t>没有目标</a:t>
            </a:r>
            <a:endParaRPr lang="en-US" altLang="zh-CN" dirty="0">
              <a:solidFill>
                <a:schemeClr val="bg1"/>
              </a:solidFill>
              <a:latin typeface="+mj-ea"/>
              <a:ea typeface="+mj-ea"/>
            </a:endParaRPr>
          </a:p>
          <a:p>
            <a:pPr lvl="1">
              <a:lnSpc>
                <a:spcPct val="150000"/>
              </a:lnSpc>
            </a:pPr>
            <a:r>
              <a:rPr lang="zh-CN" altLang="en-US" dirty="0">
                <a:solidFill>
                  <a:schemeClr val="bg1"/>
                </a:solidFill>
                <a:latin typeface="+mj-ea"/>
                <a:ea typeface="+mj-ea"/>
              </a:rPr>
              <a:t>有时也被称为知识发现</a:t>
            </a:r>
            <a:endParaRPr lang="en-US" altLang="zh-CN" dirty="0">
              <a:solidFill>
                <a:schemeClr val="bg1"/>
              </a:solidFill>
              <a:latin typeface="+mj-ea"/>
              <a:ea typeface="+mj-ea"/>
            </a:endParaRPr>
          </a:p>
          <a:p>
            <a:pPr lvl="1">
              <a:lnSpc>
                <a:spcPct val="150000"/>
              </a:lnSpc>
            </a:pPr>
            <a:r>
              <a:rPr lang="zh-CN" altLang="en-US" dirty="0">
                <a:solidFill>
                  <a:schemeClr val="bg1"/>
                </a:solidFill>
                <a:latin typeface="+mj-ea"/>
                <a:ea typeface="+mj-ea"/>
              </a:rPr>
              <a:t>希望学习出一些有用的模式</a:t>
            </a:r>
            <a:endParaRPr lang="en-US" altLang="zh-CN" dirty="0">
              <a:solidFill>
                <a:schemeClr val="bg1"/>
              </a:solidFill>
              <a:latin typeface="+mj-ea"/>
              <a:ea typeface="+mj-ea"/>
            </a:endParaRPr>
          </a:p>
        </p:txBody>
      </p:sp>
      <p:grpSp>
        <p:nvGrpSpPr>
          <p:cNvPr id="33" name="组合 32">
            <a:extLst>
              <a:ext uri="{FF2B5EF4-FFF2-40B4-BE49-F238E27FC236}">
                <a16:creationId xmlns:a16="http://schemas.microsoft.com/office/drawing/2014/main" id="{4902C3C7-D5CF-A49C-57AE-CFDBE2D42963}"/>
              </a:ext>
            </a:extLst>
          </p:cNvPr>
          <p:cNvGrpSpPr/>
          <p:nvPr/>
        </p:nvGrpSpPr>
        <p:grpSpPr>
          <a:xfrm>
            <a:off x="8322891" y="3487924"/>
            <a:ext cx="3569366" cy="2452176"/>
            <a:chOff x="7950855" y="3228718"/>
            <a:chExt cx="4395011" cy="3019399"/>
          </a:xfrm>
        </p:grpSpPr>
        <p:pic>
          <p:nvPicPr>
            <p:cNvPr id="8" name="Picture 19">
              <a:extLst>
                <a:ext uri="{FF2B5EF4-FFF2-40B4-BE49-F238E27FC236}">
                  <a16:creationId xmlns:a16="http://schemas.microsoft.com/office/drawing/2014/main" id="{52A6D90A-9CE3-81CD-1EE4-5164D7D0A2E8}"/>
                </a:ext>
              </a:extLst>
            </p:cNvPr>
            <p:cNvPicPr>
              <a:picLocks noChangeAspect="1"/>
            </p:cNvPicPr>
            <p:nvPr/>
          </p:nvPicPr>
          <p:blipFill>
            <a:blip r:embed="rId4"/>
            <a:stretch>
              <a:fillRect/>
            </a:stretch>
          </p:blipFill>
          <p:spPr>
            <a:xfrm>
              <a:off x="8307266" y="3377363"/>
              <a:ext cx="3701439" cy="2457450"/>
            </a:xfrm>
            <a:prstGeom prst="rect">
              <a:avLst/>
            </a:prstGeom>
          </p:spPr>
        </p:pic>
        <p:grpSp>
          <p:nvGrpSpPr>
            <p:cNvPr id="11" name="Group 27">
              <a:extLst>
                <a:ext uri="{FF2B5EF4-FFF2-40B4-BE49-F238E27FC236}">
                  <a16:creationId xmlns:a16="http://schemas.microsoft.com/office/drawing/2014/main" id="{F34F9A22-2030-E89F-5C8A-A0449B62B7CF}"/>
                </a:ext>
              </a:extLst>
            </p:cNvPr>
            <p:cNvGrpSpPr/>
            <p:nvPr/>
          </p:nvGrpSpPr>
          <p:grpSpPr>
            <a:xfrm>
              <a:off x="8154866" y="3326835"/>
              <a:ext cx="3995812" cy="2620258"/>
              <a:chOff x="381000" y="3679517"/>
              <a:chExt cx="3995812" cy="2620258"/>
            </a:xfrm>
          </p:grpSpPr>
          <p:sp>
            <p:nvSpPr>
              <p:cNvPr id="13" name="Oval 23">
                <a:extLst>
                  <a:ext uri="{FF2B5EF4-FFF2-40B4-BE49-F238E27FC236}">
                    <a16:creationId xmlns:a16="http://schemas.microsoft.com/office/drawing/2014/main" id="{E9C83167-D7A7-5B62-696D-C5D639A4051C}"/>
                  </a:ext>
                </a:extLst>
              </p:cNvPr>
              <p:cNvSpPr/>
              <p:nvPr/>
            </p:nvSpPr>
            <p:spPr>
              <a:xfrm>
                <a:off x="504524" y="3679517"/>
                <a:ext cx="1324276" cy="12287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24">
                <a:extLst>
                  <a:ext uri="{FF2B5EF4-FFF2-40B4-BE49-F238E27FC236}">
                    <a16:creationId xmlns:a16="http://schemas.microsoft.com/office/drawing/2014/main" id="{B5B6D927-2DE8-787F-1D33-F8354D48132D}"/>
                  </a:ext>
                </a:extLst>
              </p:cNvPr>
              <p:cNvSpPr/>
              <p:nvPr/>
            </p:nvSpPr>
            <p:spPr>
              <a:xfrm>
                <a:off x="381000" y="5469049"/>
                <a:ext cx="1324276" cy="7689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25">
                <a:extLst>
                  <a:ext uri="{FF2B5EF4-FFF2-40B4-BE49-F238E27FC236}">
                    <a16:creationId xmlns:a16="http://schemas.microsoft.com/office/drawing/2014/main" id="{DD219CEA-899A-EA6C-06DB-F772593DC5BA}"/>
                  </a:ext>
                </a:extLst>
              </p:cNvPr>
              <p:cNvSpPr/>
              <p:nvPr/>
            </p:nvSpPr>
            <p:spPr>
              <a:xfrm>
                <a:off x="3433536" y="5607001"/>
                <a:ext cx="943276" cy="6927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26">
                <a:extLst>
                  <a:ext uri="{FF2B5EF4-FFF2-40B4-BE49-F238E27FC236}">
                    <a16:creationId xmlns:a16="http://schemas.microsoft.com/office/drawing/2014/main" id="{BAB3F190-DFA8-539B-473E-F8251A98BA96}"/>
                  </a:ext>
                </a:extLst>
              </p:cNvPr>
              <p:cNvSpPr/>
              <p:nvPr/>
            </p:nvSpPr>
            <p:spPr>
              <a:xfrm>
                <a:off x="2800426" y="3758524"/>
                <a:ext cx="943276" cy="10353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32">
              <a:extLst>
                <a:ext uri="{FF2B5EF4-FFF2-40B4-BE49-F238E27FC236}">
                  <a16:creationId xmlns:a16="http://schemas.microsoft.com/office/drawing/2014/main" id="{36EE92E8-EDE0-AF45-2B14-E599A1400FB8}"/>
                </a:ext>
              </a:extLst>
            </p:cNvPr>
            <p:cNvGrpSpPr/>
            <p:nvPr/>
          </p:nvGrpSpPr>
          <p:grpSpPr>
            <a:xfrm>
              <a:off x="7950855" y="3356423"/>
              <a:ext cx="4395011" cy="2572775"/>
              <a:chOff x="176989" y="3709105"/>
              <a:chExt cx="4395011" cy="2572775"/>
            </a:xfrm>
          </p:grpSpPr>
          <p:sp>
            <p:nvSpPr>
              <p:cNvPr id="18" name="Oval 29">
                <a:extLst>
                  <a:ext uri="{FF2B5EF4-FFF2-40B4-BE49-F238E27FC236}">
                    <a16:creationId xmlns:a16="http://schemas.microsoft.com/office/drawing/2014/main" id="{9C1270F8-08BC-07F1-D7FB-A3BC0646E9BC}"/>
                  </a:ext>
                </a:extLst>
              </p:cNvPr>
              <p:cNvSpPr/>
              <p:nvPr/>
            </p:nvSpPr>
            <p:spPr>
              <a:xfrm>
                <a:off x="381000" y="3709105"/>
                <a:ext cx="3701439" cy="4276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30">
                <a:extLst>
                  <a:ext uri="{FF2B5EF4-FFF2-40B4-BE49-F238E27FC236}">
                    <a16:creationId xmlns:a16="http://schemas.microsoft.com/office/drawing/2014/main" id="{792ABF99-49A3-1E25-00CA-F493FA2E2F48}"/>
                  </a:ext>
                </a:extLst>
              </p:cNvPr>
              <p:cNvSpPr/>
              <p:nvPr/>
            </p:nvSpPr>
            <p:spPr>
              <a:xfrm>
                <a:off x="203735" y="4197480"/>
                <a:ext cx="3701439" cy="4276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31">
                <a:extLst>
                  <a:ext uri="{FF2B5EF4-FFF2-40B4-BE49-F238E27FC236}">
                    <a16:creationId xmlns:a16="http://schemas.microsoft.com/office/drawing/2014/main" id="{1C4C69C9-3C1C-DE03-D2CE-56061F275121}"/>
                  </a:ext>
                </a:extLst>
              </p:cNvPr>
              <p:cNvSpPr/>
              <p:nvPr/>
            </p:nvSpPr>
            <p:spPr>
              <a:xfrm>
                <a:off x="176989" y="5571308"/>
                <a:ext cx="4395011" cy="7105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37">
              <a:extLst>
                <a:ext uri="{FF2B5EF4-FFF2-40B4-BE49-F238E27FC236}">
                  <a16:creationId xmlns:a16="http://schemas.microsoft.com/office/drawing/2014/main" id="{4B2F8101-E569-0505-2527-FE50A9054AC2}"/>
                </a:ext>
              </a:extLst>
            </p:cNvPr>
            <p:cNvGrpSpPr/>
            <p:nvPr/>
          </p:nvGrpSpPr>
          <p:grpSpPr>
            <a:xfrm>
              <a:off x="8154866" y="3228718"/>
              <a:ext cx="3962400" cy="3019399"/>
              <a:chOff x="381000" y="3581400"/>
              <a:chExt cx="3962400" cy="3019399"/>
            </a:xfrm>
          </p:grpSpPr>
          <p:sp>
            <p:nvSpPr>
              <p:cNvPr id="30" name="Oval 34">
                <a:extLst>
                  <a:ext uri="{FF2B5EF4-FFF2-40B4-BE49-F238E27FC236}">
                    <a16:creationId xmlns:a16="http://schemas.microsoft.com/office/drawing/2014/main" id="{265B7D17-8441-DCC6-5DAA-45E90587010B}"/>
                  </a:ext>
                </a:extLst>
              </p:cNvPr>
              <p:cNvSpPr/>
              <p:nvPr/>
            </p:nvSpPr>
            <p:spPr>
              <a:xfrm>
                <a:off x="381000" y="3635660"/>
                <a:ext cx="685800" cy="296513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5">
                <a:extLst>
                  <a:ext uri="{FF2B5EF4-FFF2-40B4-BE49-F238E27FC236}">
                    <a16:creationId xmlns:a16="http://schemas.microsoft.com/office/drawing/2014/main" id="{70D9E07F-90C3-26ED-E522-37E6F189A1E1}"/>
                  </a:ext>
                </a:extLst>
              </p:cNvPr>
              <p:cNvSpPr/>
              <p:nvPr/>
            </p:nvSpPr>
            <p:spPr>
              <a:xfrm>
                <a:off x="1143000" y="3581400"/>
                <a:ext cx="685800" cy="296513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6">
                <a:extLst>
                  <a:ext uri="{FF2B5EF4-FFF2-40B4-BE49-F238E27FC236}">
                    <a16:creationId xmlns:a16="http://schemas.microsoft.com/office/drawing/2014/main" id="{095E1B0B-0C10-B419-278A-EDC886EF7753}"/>
                  </a:ext>
                </a:extLst>
              </p:cNvPr>
              <p:cNvSpPr/>
              <p:nvPr/>
            </p:nvSpPr>
            <p:spPr>
              <a:xfrm>
                <a:off x="2819400" y="3581400"/>
                <a:ext cx="1524000" cy="301939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4235350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3444-5A79-CD23-FE00-59380D0154F4}"/>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717A759E-1AF1-5675-37CE-ECF7270B05C3}"/>
              </a:ext>
            </a:extLst>
          </p:cNvPr>
          <p:cNvGrpSpPr/>
          <p:nvPr/>
        </p:nvGrpSpPr>
        <p:grpSpPr>
          <a:xfrm>
            <a:off x="852700" y="574454"/>
            <a:ext cx="7482143" cy="505321"/>
            <a:chOff x="4099943" y="2818163"/>
            <a:chExt cx="2576389" cy="505321"/>
          </a:xfrm>
        </p:grpSpPr>
        <p:sp>
          <p:nvSpPr>
            <p:cNvPr id="13" name="平行四边形 12">
              <a:extLst>
                <a:ext uri="{FF2B5EF4-FFF2-40B4-BE49-F238E27FC236}">
                  <a16:creationId xmlns:a16="http://schemas.microsoft.com/office/drawing/2014/main" id="{EB8FCA0D-52DC-8E63-36AE-9EC45DF873AF}"/>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50000"/>
                </a:lnSpc>
                <a:buFont typeface="Arial" panose="020B0604020202020204" pitchFamily="34" charset="0"/>
                <a:buNone/>
              </a:pPr>
              <a:endParaRPr lang="zh-CN" altLang="en-US" dirty="0">
                <a:latin typeface="+mj-ea"/>
                <a:ea typeface="+mj-ea"/>
              </a:endParaRPr>
            </a:p>
          </p:txBody>
        </p:sp>
        <p:sp>
          <p:nvSpPr>
            <p:cNvPr id="14" name="平行四边形 13">
              <a:extLst>
                <a:ext uri="{FF2B5EF4-FFF2-40B4-BE49-F238E27FC236}">
                  <a16:creationId xmlns:a16="http://schemas.microsoft.com/office/drawing/2014/main" id="{FCCFEE73-596B-94B8-0603-3E58D4585579}"/>
                </a:ext>
              </a:extLst>
            </p:cNvPr>
            <p:cNvSpPr/>
            <p:nvPr/>
          </p:nvSpPr>
          <p:spPr bwMode="auto">
            <a:xfrm>
              <a:off x="4128647" y="2855484"/>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50000"/>
                </a:lnSpc>
                <a:buFont typeface="Arial" panose="020B0604020202020204" pitchFamily="34" charset="0"/>
                <a:buNone/>
              </a:pPr>
              <a:endParaRPr lang="zh-CN" altLang="en-US" dirty="0">
                <a:latin typeface="+mj-ea"/>
                <a:ea typeface="+mj-ea"/>
              </a:endParaRPr>
            </a:p>
          </p:txBody>
        </p:sp>
        <p:sp>
          <p:nvSpPr>
            <p:cNvPr id="15" name="矩形 14">
              <a:extLst>
                <a:ext uri="{FF2B5EF4-FFF2-40B4-BE49-F238E27FC236}">
                  <a16:creationId xmlns:a16="http://schemas.microsoft.com/office/drawing/2014/main" id="{A7AD5E70-1728-091B-4F13-3E2B124EED72}"/>
                </a:ext>
              </a:extLst>
            </p:cNvPr>
            <p:cNvSpPr/>
            <p:nvPr/>
          </p:nvSpPr>
          <p:spPr>
            <a:xfrm>
              <a:off x="4200057" y="2818163"/>
              <a:ext cx="2359684" cy="499624"/>
            </a:xfrm>
            <a:prstGeom prst="rect">
              <a:avLst/>
            </a:prstGeom>
          </p:spPr>
          <p:txBody>
            <a:bodyPr wrap="square">
              <a:spAutoFit/>
            </a:bodyPr>
            <a:lstStyle/>
            <a:p>
              <a:pPr algn="ctr">
                <a:lnSpc>
                  <a:spcPct val="150000"/>
                </a:lnSpc>
              </a:pPr>
              <a:r>
                <a:rPr lang="zh-CN" altLang="en-US" sz="2000" b="1" dirty="0">
                  <a:latin typeface="+mj-ea"/>
                  <a:ea typeface="+mj-ea"/>
                </a:rPr>
                <a:t>无监督学习的使用场景</a:t>
              </a:r>
            </a:p>
          </p:txBody>
        </p:sp>
      </p:grpSp>
      <p:sp>
        <p:nvSpPr>
          <p:cNvPr id="2" name="矩形: 圆角 6">
            <a:extLst>
              <a:ext uri="{FF2B5EF4-FFF2-40B4-BE49-F238E27FC236}">
                <a16:creationId xmlns:a16="http://schemas.microsoft.com/office/drawing/2014/main" id="{F8468227-5BE6-1D87-8377-C5FAA16F5E7F}"/>
              </a:ext>
            </a:extLst>
          </p:cNvPr>
          <p:cNvSpPr/>
          <p:nvPr/>
        </p:nvSpPr>
        <p:spPr>
          <a:xfrm>
            <a:off x="69112" y="1659372"/>
            <a:ext cx="6407888" cy="5084009"/>
          </a:xfrm>
          <a:prstGeom prst="roundRect">
            <a:avLst>
              <a:gd name="adj" fmla="val 0"/>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endParaRPr lang="zh-CN" altLang="en-US" b="0" i="0" dirty="0">
              <a:solidFill>
                <a:srgbClr val="191B1F"/>
              </a:solidFill>
              <a:effectLst/>
              <a:latin typeface="+mj-ea"/>
              <a:ea typeface="+mj-ea"/>
            </a:endParaRPr>
          </a:p>
        </p:txBody>
      </p:sp>
      <p:sp>
        <p:nvSpPr>
          <p:cNvPr id="9" name="文本框 8">
            <a:extLst>
              <a:ext uri="{FF2B5EF4-FFF2-40B4-BE49-F238E27FC236}">
                <a16:creationId xmlns:a16="http://schemas.microsoft.com/office/drawing/2014/main" id="{50611C93-FD94-36A6-A9AC-280CB2EC3379}"/>
              </a:ext>
            </a:extLst>
          </p:cNvPr>
          <p:cNvSpPr txBox="1"/>
          <p:nvPr/>
        </p:nvSpPr>
        <p:spPr>
          <a:xfrm>
            <a:off x="303237" y="1665069"/>
            <a:ext cx="5973276" cy="5078313"/>
          </a:xfrm>
          <a:prstGeom prst="rect">
            <a:avLst/>
          </a:prstGeom>
          <a:noFill/>
        </p:spPr>
        <p:txBody>
          <a:bodyPr wrap="square">
            <a:spAutoFit/>
          </a:bodyPr>
          <a:lstStyle/>
          <a:p>
            <a:pPr algn="l">
              <a:lnSpc>
                <a:spcPct val="150000"/>
              </a:lnSpc>
            </a:pPr>
            <a:r>
              <a:rPr lang="zh-CN" altLang="en-US" b="1" i="0" dirty="0">
                <a:solidFill>
                  <a:schemeClr val="bg1"/>
                </a:solidFill>
                <a:effectLst/>
                <a:latin typeface="+mj-ea"/>
                <a:ea typeface="+mj-ea"/>
              </a:rPr>
              <a:t>案例</a:t>
            </a:r>
            <a:r>
              <a:rPr lang="en-US" altLang="zh-CN" b="1" i="0" dirty="0">
                <a:solidFill>
                  <a:schemeClr val="bg1"/>
                </a:solidFill>
                <a:effectLst/>
                <a:latin typeface="+mj-ea"/>
                <a:ea typeface="+mj-ea"/>
              </a:rPr>
              <a:t>1</a:t>
            </a:r>
            <a:r>
              <a:rPr lang="zh-CN" altLang="en-US" b="1" i="0" dirty="0" smtClean="0">
                <a:solidFill>
                  <a:schemeClr val="bg1"/>
                </a:solidFill>
                <a:effectLst/>
                <a:latin typeface="+mj-ea"/>
                <a:ea typeface="+mj-ea"/>
              </a:rPr>
              <a:t>：异常</a:t>
            </a:r>
            <a:r>
              <a:rPr lang="zh-CN" altLang="en-US" b="1" dirty="0">
                <a:solidFill>
                  <a:schemeClr val="bg1"/>
                </a:solidFill>
                <a:latin typeface="+mj-ea"/>
                <a:ea typeface="+mj-ea"/>
              </a:rPr>
              <a:t>检测</a:t>
            </a:r>
            <a:endParaRPr lang="zh-CN" altLang="en-US" b="0" i="0" dirty="0">
              <a:solidFill>
                <a:schemeClr val="bg1"/>
              </a:solidFill>
              <a:effectLst/>
              <a:latin typeface="+mj-ea"/>
              <a:ea typeface="+mj-ea"/>
            </a:endParaRPr>
          </a:p>
          <a:p>
            <a:pPr algn="l">
              <a:lnSpc>
                <a:spcPct val="150000"/>
              </a:lnSpc>
            </a:pPr>
            <a:r>
              <a:rPr lang="zh-CN" altLang="en-US" b="0" i="0" dirty="0">
                <a:solidFill>
                  <a:schemeClr val="bg1"/>
                </a:solidFill>
                <a:effectLst/>
                <a:latin typeface="+mj-ea"/>
                <a:ea typeface="+mj-ea"/>
              </a:rPr>
              <a:t>有很多违法行为都需要</a:t>
            </a:r>
            <a:r>
              <a:rPr lang="en-US" altLang="zh-CN" b="0" i="0" dirty="0">
                <a:solidFill>
                  <a:schemeClr val="bg1"/>
                </a:solidFill>
                <a:effectLst/>
                <a:latin typeface="+mj-ea"/>
                <a:ea typeface="+mj-ea"/>
              </a:rPr>
              <a:t>"</a:t>
            </a:r>
            <a:r>
              <a:rPr lang="zh-CN" altLang="en-US" b="0" i="0" dirty="0">
                <a:solidFill>
                  <a:schemeClr val="bg1"/>
                </a:solidFill>
                <a:effectLst/>
                <a:latin typeface="+mj-ea"/>
                <a:ea typeface="+mj-ea"/>
              </a:rPr>
              <a:t>洗钱</a:t>
            </a:r>
            <a:r>
              <a:rPr lang="en-US" altLang="zh-CN" b="0" i="0" dirty="0">
                <a:solidFill>
                  <a:schemeClr val="bg1"/>
                </a:solidFill>
                <a:effectLst/>
                <a:latin typeface="+mj-ea"/>
                <a:ea typeface="+mj-ea"/>
              </a:rPr>
              <a:t>"</a:t>
            </a:r>
            <a:r>
              <a:rPr lang="zh-CN" altLang="en-US" b="0" i="0" dirty="0">
                <a:solidFill>
                  <a:schemeClr val="bg1"/>
                </a:solidFill>
                <a:effectLst/>
                <a:latin typeface="+mj-ea"/>
                <a:ea typeface="+mj-ea"/>
              </a:rPr>
              <a:t>，这些洗钱行为跟普通用户的行为是不一样的，到底哪里不一样？</a:t>
            </a:r>
          </a:p>
          <a:p>
            <a:pPr algn="l">
              <a:lnSpc>
                <a:spcPct val="150000"/>
              </a:lnSpc>
            </a:pPr>
            <a:r>
              <a:rPr lang="zh-CN" altLang="en-US" b="0" i="0" dirty="0">
                <a:solidFill>
                  <a:schemeClr val="bg1"/>
                </a:solidFill>
                <a:effectLst/>
                <a:latin typeface="+mj-ea"/>
                <a:ea typeface="+mj-ea"/>
              </a:rPr>
              <a:t>如果通过人为去分析是一件成本很高很复杂的事情，我们可以通过这些行为的特征对用户进行分类，就更容易找到那些行为异常的用户，然后再深入分析他们的行为到底哪里不一样，是否属于违法洗钱的范畴。</a:t>
            </a:r>
          </a:p>
          <a:p>
            <a:pPr algn="l">
              <a:lnSpc>
                <a:spcPct val="150000"/>
              </a:lnSpc>
            </a:pPr>
            <a:r>
              <a:rPr lang="zh-CN" altLang="en-US" b="1" i="0" dirty="0">
                <a:solidFill>
                  <a:schemeClr val="bg1"/>
                </a:solidFill>
                <a:effectLst/>
                <a:latin typeface="+mj-ea"/>
                <a:ea typeface="+mj-ea"/>
              </a:rPr>
              <a:t>通过无监督学习，我们可以快速把行为进行分类，虽然我们不知道这些分类意味着什么，但是通过这种分类，可以快速排出正常的用户，更有针对性的对异常行为进行深入分析。</a:t>
            </a:r>
            <a:endParaRPr lang="en-US" altLang="zh-CN" b="1" i="0" dirty="0">
              <a:solidFill>
                <a:schemeClr val="bg1"/>
              </a:solidFill>
              <a:effectLst/>
              <a:latin typeface="+mj-ea"/>
              <a:ea typeface="+mj-ea"/>
            </a:endParaRPr>
          </a:p>
          <a:p>
            <a:pPr algn="l">
              <a:lnSpc>
                <a:spcPct val="150000"/>
              </a:lnSpc>
            </a:pPr>
            <a:endParaRPr lang="en-US" altLang="zh-CN" b="1" dirty="0">
              <a:solidFill>
                <a:schemeClr val="bg1"/>
              </a:solidFill>
              <a:latin typeface="+mj-ea"/>
              <a:ea typeface="+mj-ea"/>
            </a:endParaRPr>
          </a:p>
        </p:txBody>
      </p:sp>
      <p:pic>
        <p:nvPicPr>
          <p:cNvPr id="1026" name="Picture 2" descr="https://i-blog.csdnimg.cn/blog_migrate/934fb6e59d745fae0b7a568d0dce759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3592" y="3261822"/>
            <a:ext cx="4552604" cy="3384103"/>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3"/>
          <a:stretch>
            <a:fillRect/>
          </a:stretch>
        </p:blipFill>
        <p:spPr>
          <a:xfrm>
            <a:off x="7040880" y="1551305"/>
            <a:ext cx="4178029" cy="1710517"/>
          </a:xfrm>
          <a:prstGeom prst="rect">
            <a:avLst/>
          </a:prstGeom>
        </p:spPr>
      </p:pic>
    </p:spTree>
    <p:extLst>
      <p:ext uri="{BB962C8B-B14F-4D97-AF65-F5344CB8AC3E}">
        <p14:creationId xmlns:p14="http://schemas.microsoft.com/office/powerpoint/2010/main" val="7526673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3444-5A79-CD23-FE00-59380D0154F4}"/>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717A759E-1AF1-5675-37CE-ECF7270B05C3}"/>
              </a:ext>
            </a:extLst>
          </p:cNvPr>
          <p:cNvGrpSpPr/>
          <p:nvPr/>
        </p:nvGrpSpPr>
        <p:grpSpPr>
          <a:xfrm>
            <a:off x="852700" y="574454"/>
            <a:ext cx="7482143" cy="505321"/>
            <a:chOff x="4099943" y="2818163"/>
            <a:chExt cx="2576389" cy="505321"/>
          </a:xfrm>
        </p:grpSpPr>
        <p:sp>
          <p:nvSpPr>
            <p:cNvPr id="13" name="平行四边形 12">
              <a:extLst>
                <a:ext uri="{FF2B5EF4-FFF2-40B4-BE49-F238E27FC236}">
                  <a16:creationId xmlns:a16="http://schemas.microsoft.com/office/drawing/2014/main" id="{EB8FCA0D-52DC-8E63-36AE-9EC45DF873AF}"/>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50000"/>
                </a:lnSpc>
                <a:buFont typeface="Arial" panose="020B0604020202020204" pitchFamily="34" charset="0"/>
                <a:buNone/>
              </a:pPr>
              <a:endParaRPr lang="zh-CN" altLang="en-US" dirty="0">
                <a:latin typeface="+mj-ea"/>
                <a:ea typeface="+mj-ea"/>
              </a:endParaRPr>
            </a:p>
          </p:txBody>
        </p:sp>
        <p:sp>
          <p:nvSpPr>
            <p:cNvPr id="14" name="平行四边形 13">
              <a:extLst>
                <a:ext uri="{FF2B5EF4-FFF2-40B4-BE49-F238E27FC236}">
                  <a16:creationId xmlns:a16="http://schemas.microsoft.com/office/drawing/2014/main" id="{FCCFEE73-596B-94B8-0603-3E58D4585579}"/>
                </a:ext>
              </a:extLst>
            </p:cNvPr>
            <p:cNvSpPr/>
            <p:nvPr/>
          </p:nvSpPr>
          <p:spPr bwMode="auto">
            <a:xfrm>
              <a:off x="4128647" y="2855484"/>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50000"/>
                </a:lnSpc>
                <a:buFont typeface="Arial" panose="020B0604020202020204" pitchFamily="34" charset="0"/>
                <a:buNone/>
              </a:pPr>
              <a:endParaRPr lang="zh-CN" altLang="en-US" dirty="0">
                <a:latin typeface="+mj-ea"/>
                <a:ea typeface="+mj-ea"/>
              </a:endParaRPr>
            </a:p>
          </p:txBody>
        </p:sp>
        <p:sp>
          <p:nvSpPr>
            <p:cNvPr id="15" name="矩形 14">
              <a:extLst>
                <a:ext uri="{FF2B5EF4-FFF2-40B4-BE49-F238E27FC236}">
                  <a16:creationId xmlns:a16="http://schemas.microsoft.com/office/drawing/2014/main" id="{A7AD5E70-1728-091B-4F13-3E2B124EED72}"/>
                </a:ext>
              </a:extLst>
            </p:cNvPr>
            <p:cNvSpPr/>
            <p:nvPr/>
          </p:nvSpPr>
          <p:spPr>
            <a:xfrm>
              <a:off x="4200057" y="2818163"/>
              <a:ext cx="2359684" cy="499624"/>
            </a:xfrm>
            <a:prstGeom prst="rect">
              <a:avLst/>
            </a:prstGeom>
          </p:spPr>
          <p:txBody>
            <a:bodyPr wrap="square">
              <a:spAutoFit/>
            </a:bodyPr>
            <a:lstStyle/>
            <a:p>
              <a:pPr algn="ctr">
                <a:lnSpc>
                  <a:spcPct val="150000"/>
                </a:lnSpc>
              </a:pPr>
              <a:r>
                <a:rPr lang="zh-CN" altLang="en-US" sz="2000" b="1" dirty="0">
                  <a:latin typeface="+mj-ea"/>
                  <a:ea typeface="+mj-ea"/>
                </a:rPr>
                <a:t>无监督学习的使用场景</a:t>
              </a:r>
            </a:p>
          </p:txBody>
        </p:sp>
      </p:grpSp>
      <p:sp>
        <p:nvSpPr>
          <p:cNvPr id="2" name="矩形: 圆角 6">
            <a:extLst>
              <a:ext uri="{FF2B5EF4-FFF2-40B4-BE49-F238E27FC236}">
                <a16:creationId xmlns:a16="http://schemas.microsoft.com/office/drawing/2014/main" id="{F8468227-5BE6-1D87-8377-C5FAA16F5E7F}"/>
              </a:ext>
            </a:extLst>
          </p:cNvPr>
          <p:cNvSpPr/>
          <p:nvPr/>
        </p:nvSpPr>
        <p:spPr>
          <a:xfrm>
            <a:off x="69112" y="1659373"/>
            <a:ext cx="12014790" cy="1829552"/>
          </a:xfrm>
          <a:prstGeom prst="roundRect">
            <a:avLst>
              <a:gd name="adj" fmla="val 0"/>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endParaRPr lang="zh-CN" altLang="en-US" b="0" i="0" dirty="0">
              <a:solidFill>
                <a:srgbClr val="191B1F"/>
              </a:solidFill>
              <a:effectLst/>
              <a:latin typeface="+mj-ea"/>
              <a:ea typeface="+mj-ea"/>
            </a:endParaRPr>
          </a:p>
        </p:txBody>
      </p:sp>
      <p:sp>
        <p:nvSpPr>
          <p:cNvPr id="9" name="文本框 8">
            <a:extLst>
              <a:ext uri="{FF2B5EF4-FFF2-40B4-BE49-F238E27FC236}">
                <a16:creationId xmlns:a16="http://schemas.microsoft.com/office/drawing/2014/main" id="{50611C93-FD94-36A6-A9AC-280CB2EC3379}"/>
              </a:ext>
            </a:extLst>
          </p:cNvPr>
          <p:cNvSpPr txBox="1"/>
          <p:nvPr/>
        </p:nvSpPr>
        <p:spPr>
          <a:xfrm>
            <a:off x="303237" y="1665069"/>
            <a:ext cx="11546540" cy="2169825"/>
          </a:xfrm>
          <a:prstGeom prst="rect">
            <a:avLst/>
          </a:prstGeom>
          <a:noFill/>
        </p:spPr>
        <p:txBody>
          <a:bodyPr wrap="square">
            <a:spAutoFit/>
          </a:bodyPr>
          <a:lstStyle/>
          <a:p>
            <a:pPr algn="l">
              <a:lnSpc>
                <a:spcPct val="150000"/>
              </a:lnSpc>
            </a:pPr>
            <a:r>
              <a:rPr lang="zh-CN" altLang="en-US" b="1" i="0" dirty="0" smtClean="0">
                <a:solidFill>
                  <a:schemeClr val="bg1"/>
                </a:solidFill>
                <a:effectLst/>
                <a:latin typeface="+mj-ea"/>
                <a:ea typeface="+mj-ea"/>
              </a:rPr>
              <a:t>案例</a:t>
            </a:r>
            <a:r>
              <a:rPr lang="en-US" altLang="zh-CN" b="1" i="0" dirty="0">
                <a:solidFill>
                  <a:schemeClr val="bg1"/>
                </a:solidFill>
                <a:effectLst/>
                <a:latin typeface="+mj-ea"/>
                <a:ea typeface="+mj-ea"/>
              </a:rPr>
              <a:t>2</a:t>
            </a:r>
            <a:r>
              <a:rPr lang="zh-CN" altLang="en-US" b="1" i="0" dirty="0">
                <a:solidFill>
                  <a:schemeClr val="bg1"/>
                </a:solidFill>
                <a:effectLst/>
                <a:latin typeface="+mj-ea"/>
                <a:ea typeface="+mj-ea"/>
              </a:rPr>
              <a:t>：用户细分</a:t>
            </a:r>
            <a:endParaRPr lang="zh-CN" altLang="en-US" b="0" i="0" dirty="0">
              <a:solidFill>
                <a:schemeClr val="bg1"/>
              </a:solidFill>
              <a:effectLst/>
              <a:latin typeface="+mj-ea"/>
              <a:ea typeface="+mj-ea"/>
            </a:endParaRPr>
          </a:p>
          <a:p>
            <a:pPr algn="l">
              <a:lnSpc>
                <a:spcPct val="150000"/>
              </a:lnSpc>
            </a:pPr>
            <a:r>
              <a:rPr lang="zh-CN" altLang="en-US" b="0" i="0" dirty="0">
                <a:solidFill>
                  <a:schemeClr val="bg1"/>
                </a:solidFill>
                <a:effectLst/>
                <a:latin typeface="+mj-ea"/>
                <a:ea typeface="+mj-ea"/>
              </a:rPr>
              <a:t>这个对于广告平台很有意义，我们不仅把用户按照性别、年龄、地理位置等维度进行用户细分，还可以通过用户行为对用户进行分类。</a:t>
            </a:r>
          </a:p>
          <a:p>
            <a:pPr algn="l">
              <a:lnSpc>
                <a:spcPct val="150000"/>
              </a:lnSpc>
            </a:pPr>
            <a:r>
              <a:rPr lang="zh-CN" altLang="en-US" b="0" i="0" dirty="0">
                <a:solidFill>
                  <a:schemeClr val="bg1"/>
                </a:solidFill>
                <a:effectLst/>
                <a:latin typeface="+mj-ea"/>
                <a:ea typeface="+mj-ea"/>
              </a:rPr>
              <a:t>通过很多维度的用户细分，广告投放可以更有针对性，效果也会更好。</a:t>
            </a:r>
          </a:p>
          <a:p>
            <a:pPr algn="l">
              <a:lnSpc>
                <a:spcPct val="150000"/>
              </a:lnSpc>
            </a:pPr>
            <a:endParaRPr lang="zh-CN" altLang="en-US" b="0" i="0" dirty="0">
              <a:solidFill>
                <a:schemeClr val="bg1"/>
              </a:solidFill>
              <a:effectLst/>
              <a:latin typeface="+mj-ea"/>
              <a:ea typeface="+mj-ea"/>
            </a:endParaRPr>
          </a:p>
        </p:txBody>
      </p:sp>
      <p:pic>
        <p:nvPicPr>
          <p:cNvPr id="8" name="图片 7">
            <a:extLst>
              <a:ext uri="{FF2B5EF4-FFF2-40B4-BE49-F238E27FC236}">
                <a16:creationId xmlns:a16="http://schemas.microsoft.com/office/drawing/2014/main" id="{02EF899A-B411-FA1A-01A2-A030A14DA037}"/>
              </a:ext>
            </a:extLst>
          </p:cNvPr>
          <p:cNvPicPr>
            <a:picLocks noChangeAspect="1"/>
          </p:cNvPicPr>
          <p:nvPr/>
        </p:nvPicPr>
        <p:blipFill>
          <a:blip r:embed="rId2"/>
          <a:stretch>
            <a:fillRect/>
          </a:stretch>
        </p:blipFill>
        <p:spPr>
          <a:xfrm>
            <a:off x="1080344" y="3834894"/>
            <a:ext cx="3692536" cy="2844454"/>
          </a:xfrm>
          <a:prstGeom prst="rect">
            <a:avLst/>
          </a:prstGeom>
        </p:spPr>
      </p:pic>
      <p:pic>
        <p:nvPicPr>
          <p:cNvPr id="10" name="图片 9">
            <a:extLst>
              <a:ext uri="{FF2B5EF4-FFF2-40B4-BE49-F238E27FC236}">
                <a16:creationId xmlns:a16="http://schemas.microsoft.com/office/drawing/2014/main" id="{14500548-1ADA-E0C9-20BB-2CD6648BF464}"/>
              </a:ext>
            </a:extLst>
          </p:cNvPr>
          <p:cNvPicPr>
            <a:picLocks noChangeAspect="1"/>
          </p:cNvPicPr>
          <p:nvPr/>
        </p:nvPicPr>
        <p:blipFill>
          <a:blip r:embed="rId3"/>
          <a:stretch>
            <a:fillRect/>
          </a:stretch>
        </p:blipFill>
        <p:spPr>
          <a:xfrm>
            <a:off x="5155817" y="3880822"/>
            <a:ext cx="5919623" cy="2798526"/>
          </a:xfrm>
          <a:prstGeom prst="rect">
            <a:avLst/>
          </a:prstGeom>
        </p:spPr>
      </p:pic>
    </p:spTree>
    <p:extLst>
      <p:ext uri="{BB962C8B-B14F-4D97-AF65-F5344CB8AC3E}">
        <p14:creationId xmlns:p14="http://schemas.microsoft.com/office/powerpoint/2010/main" val="1788174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2AE388F-3B78-864C-DF34-406E588E91B5}"/>
              </a:ext>
            </a:extLst>
          </p:cNvPr>
          <p:cNvGrpSpPr/>
          <p:nvPr/>
        </p:nvGrpSpPr>
        <p:grpSpPr>
          <a:xfrm>
            <a:off x="1963844" y="1105852"/>
            <a:ext cx="7464387" cy="497934"/>
            <a:chOff x="4099943" y="2819853"/>
            <a:chExt cx="2570275" cy="497934"/>
          </a:xfrm>
        </p:grpSpPr>
        <p:sp>
          <p:nvSpPr>
            <p:cNvPr id="3" name="平行四边形 2">
              <a:extLst>
                <a:ext uri="{FF2B5EF4-FFF2-40B4-BE49-F238E27FC236}">
                  <a16:creationId xmlns:a16="http://schemas.microsoft.com/office/drawing/2014/main" id="{B6C97BA9-07D5-DC9D-6C13-657C1F000A0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4" name="平行四边形 3">
              <a:extLst>
                <a:ext uri="{FF2B5EF4-FFF2-40B4-BE49-F238E27FC236}">
                  <a16:creationId xmlns:a16="http://schemas.microsoft.com/office/drawing/2014/main" id="{029565D2-94A8-43D5-4204-4E1E62681E59}"/>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5" name="矩形 4">
              <a:extLst>
                <a:ext uri="{FF2B5EF4-FFF2-40B4-BE49-F238E27FC236}">
                  <a16:creationId xmlns:a16="http://schemas.microsoft.com/office/drawing/2014/main" id="{9ED62B40-FE94-0708-A2D8-03C9A262FA92}"/>
                </a:ext>
              </a:extLst>
            </p:cNvPr>
            <p:cNvSpPr/>
            <p:nvPr/>
          </p:nvSpPr>
          <p:spPr>
            <a:xfrm>
              <a:off x="4216534" y="2853798"/>
              <a:ext cx="2359684" cy="400110"/>
            </a:xfrm>
            <a:prstGeom prst="rect">
              <a:avLst/>
            </a:prstGeom>
          </p:spPr>
          <p:txBody>
            <a:bodyPr wrap="square">
              <a:spAutoFit/>
            </a:bodyPr>
            <a:lstStyle/>
            <a:p>
              <a:pPr algn="ctr"/>
              <a:r>
                <a:rPr lang="zh-CN" altLang="en-US" sz="2000" b="1" dirty="0">
                  <a:latin typeface="+mj-ea"/>
                  <a:ea typeface="+mj-ea"/>
                </a:rPr>
                <a:t>常见的无监督学习算法</a:t>
              </a:r>
            </a:p>
          </p:txBody>
        </p:sp>
      </p:grpSp>
      <p:grpSp>
        <p:nvGrpSpPr>
          <p:cNvPr id="26" name="组合 25">
            <a:extLst>
              <a:ext uri="{FF2B5EF4-FFF2-40B4-BE49-F238E27FC236}">
                <a16:creationId xmlns:a16="http://schemas.microsoft.com/office/drawing/2014/main" id="{F19FFF42-8901-55B3-02EC-34534E5B34E3}"/>
              </a:ext>
            </a:extLst>
          </p:cNvPr>
          <p:cNvGrpSpPr/>
          <p:nvPr/>
        </p:nvGrpSpPr>
        <p:grpSpPr>
          <a:xfrm>
            <a:off x="2180873" y="2245532"/>
            <a:ext cx="1206489" cy="1223810"/>
            <a:chOff x="1482601" y="2102097"/>
            <a:chExt cx="1206489" cy="1223810"/>
          </a:xfrm>
        </p:grpSpPr>
        <p:sp>
          <p:nvSpPr>
            <p:cNvPr id="6" name="椭圆 5">
              <a:extLst>
                <a:ext uri="{FF2B5EF4-FFF2-40B4-BE49-F238E27FC236}">
                  <a16:creationId xmlns:a16="http://schemas.microsoft.com/office/drawing/2014/main" id="{9C39C1A7-B057-9A7C-2EB7-CD375D60903F}"/>
                </a:ext>
              </a:extLst>
            </p:cNvPr>
            <p:cNvSpPr/>
            <p:nvPr/>
          </p:nvSpPr>
          <p:spPr>
            <a:xfrm>
              <a:off x="1482601" y="2315138"/>
              <a:ext cx="336176" cy="313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7" name="椭圆 6">
              <a:extLst>
                <a:ext uri="{FF2B5EF4-FFF2-40B4-BE49-F238E27FC236}">
                  <a16:creationId xmlns:a16="http://schemas.microsoft.com/office/drawing/2014/main" id="{26C8E154-41B3-4649-1CA1-41E7C8CFF48E}"/>
                </a:ext>
              </a:extLst>
            </p:cNvPr>
            <p:cNvSpPr/>
            <p:nvPr/>
          </p:nvSpPr>
          <p:spPr>
            <a:xfrm>
              <a:off x="2069677" y="2606489"/>
              <a:ext cx="196903" cy="183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8" name="椭圆 7">
              <a:extLst>
                <a:ext uri="{FF2B5EF4-FFF2-40B4-BE49-F238E27FC236}">
                  <a16:creationId xmlns:a16="http://schemas.microsoft.com/office/drawing/2014/main" id="{A15EAB6B-EBDE-3AD2-78AD-7E90F099470F}"/>
                </a:ext>
              </a:extLst>
            </p:cNvPr>
            <p:cNvSpPr/>
            <p:nvPr/>
          </p:nvSpPr>
          <p:spPr>
            <a:xfrm>
              <a:off x="1588994" y="3074895"/>
              <a:ext cx="134470" cy="125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椭圆 8">
              <a:extLst>
                <a:ext uri="{FF2B5EF4-FFF2-40B4-BE49-F238E27FC236}">
                  <a16:creationId xmlns:a16="http://schemas.microsoft.com/office/drawing/2014/main" id="{7E3AF9CF-EF63-F158-8B60-0C275AC0957C}"/>
                </a:ext>
              </a:extLst>
            </p:cNvPr>
            <p:cNvSpPr/>
            <p:nvPr/>
          </p:nvSpPr>
          <p:spPr>
            <a:xfrm>
              <a:off x="1865937" y="2974041"/>
              <a:ext cx="134470" cy="125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 name="椭圆 9">
              <a:extLst>
                <a:ext uri="{FF2B5EF4-FFF2-40B4-BE49-F238E27FC236}">
                  <a16:creationId xmlns:a16="http://schemas.microsoft.com/office/drawing/2014/main" id="{0BEAD074-CA42-9C47-C731-C4581D8C315E}"/>
                </a:ext>
              </a:extLst>
            </p:cNvPr>
            <p:cNvSpPr/>
            <p:nvPr/>
          </p:nvSpPr>
          <p:spPr>
            <a:xfrm>
              <a:off x="1684307" y="2832847"/>
              <a:ext cx="134470" cy="125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1" name="椭圆 10">
              <a:extLst>
                <a:ext uri="{FF2B5EF4-FFF2-40B4-BE49-F238E27FC236}">
                  <a16:creationId xmlns:a16="http://schemas.microsoft.com/office/drawing/2014/main" id="{15D2C909-A4C9-48B2-A3CA-A27748CF68A1}"/>
                </a:ext>
              </a:extLst>
            </p:cNvPr>
            <p:cNvSpPr/>
            <p:nvPr/>
          </p:nvSpPr>
          <p:spPr>
            <a:xfrm>
              <a:off x="2393736" y="2537014"/>
              <a:ext cx="196903" cy="183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椭圆 11">
              <a:extLst>
                <a:ext uri="{FF2B5EF4-FFF2-40B4-BE49-F238E27FC236}">
                  <a16:creationId xmlns:a16="http://schemas.microsoft.com/office/drawing/2014/main" id="{D27C12E0-5EF3-15CB-535F-84C0CCA878C5}"/>
                </a:ext>
              </a:extLst>
            </p:cNvPr>
            <p:cNvSpPr/>
            <p:nvPr/>
          </p:nvSpPr>
          <p:spPr>
            <a:xfrm>
              <a:off x="2492187" y="2895600"/>
              <a:ext cx="196903" cy="183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4" name="椭圆 13">
              <a:extLst>
                <a:ext uri="{FF2B5EF4-FFF2-40B4-BE49-F238E27FC236}">
                  <a16:creationId xmlns:a16="http://schemas.microsoft.com/office/drawing/2014/main" id="{2DC0ED10-99C3-795A-7A62-B4528309B181}"/>
                </a:ext>
              </a:extLst>
            </p:cNvPr>
            <p:cNvSpPr/>
            <p:nvPr/>
          </p:nvSpPr>
          <p:spPr>
            <a:xfrm>
              <a:off x="2069677" y="3198160"/>
              <a:ext cx="134470" cy="125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5" name="椭圆 14">
              <a:extLst>
                <a:ext uri="{FF2B5EF4-FFF2-40B4-BE49-F238E27FC236}">
                  <a16:creationId xmlns:a16="http://schemas.microsoft.com/office/drawing/2014/main" id="{5E618C12-8FA3-B569-8462-8A8FF8ADC52B}"/>
                </a:ext>
              </a:extLst>
            </p:cNvPr>
            <p:cNvSpPr/>
            <p:nvPr/>
          </p:nvSpPr>
          <p:spPr>
            <a:xfrm>
              <a:off x="1752600" y="3200401"/>
              <a:ext cx="134470" cy="1255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 name="椭圆 15">
              <a:extLst>
                <a:ext uri="{FF2B5EF4-FFF2-40B4-BE49-F238E27FC236}">
                  <a16:creationId xmlns:a16="http://schemas.microsoft.com/office/drawing/2014/main" id="{D0FF9982-CF42-707A-BE19-A299B7D0D8EB}"/>
                </a:ext>
              </a:extLst>
            </p:cNvPr>
            <p:cNvSpPr/>
            <p:nvPr/>
          </p:nvSpPr>
          <p:spPr>
            <a:xfrm>
              <a:off x="1887070" y="2102097"/>
              <a:ext cx="336176" cy="3137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sp>
        <p:nvSpPr>
          <p:cNvPr id="17" name="文本框 16">
            <a:extLst>
              <a:ext uri="{FF2B5EF4-FFF2-40B4-BE49-F238E27FC236}">
                <a16:creationId xmlns:a16="http://schemas.microsoft.com/office/drawing/2014/main" id="{63E8AE31-F1C5-01F5-17BF-1D338EA1F3E6}"/>
              </a:ext>
            </a:extLst>
          </p:cNvPr>
          <p:cNvSpPr txBox="1"/>
          <p:nvPr/>
        </p:nvSpPr>
        <p:spPr>
          <a:xfrm>
            <a:off x="1001742" y="3323666"/>
            <a:ext cx="4926106" cy="3831818"/>
          </a:xfrm>
          <a:prstGeom prst="rect">
            <a:avLst/>
          </a:prstGeom>
          <a:noFill/>
        </p:spPr>
        <p:txBody>
          <a:bodyPr wrap="square" rtlCol="0">
            <a:spAutoFit/>
          </a:bodyPr>
          <a:lstStyle/>
          <a:p>
            <a:pPr algn="l">
              <a:lnSpc>
                <a:spcPts val="1800"/>
              </a:lnSpc>
              <a:spcAft>
                <a:spcPts val="1200"/>
              </a:spcAft>
            </a:pPr>
            <a:r>
              <a:rPr lang="zh-CN" altLang="en-US" b="1" dirty="0">
                <a:latin typeface="+mj-ea"/>
                <a:ea typeface="+mj-ea"/>
              </a:rPr>
              <a:t>聚类：</a:t>
            </a:r>
            <a:endParaRPr lang="en-US" altLang="zh-CN" b="1" dirty="0">
              <a:latin typeface="+mj-ea"/>
              <a:ea typeface="+mj-ea"/>
            </a:endParaRPr>
          </a:p>
          <a:p>
            <a:pPr algn="l">
              <a:lnSpc>
                <a:spcPct val="150000"/>
              </a:lnSpc>
              <a:spcAft>
                <a:spcPts val="1200"/>
              </a:spcAft>
            </a:pPr>
            <a:r>
              <a:rPr lang="zh-CN" altLang="en-US" b="0" i="0" dirty="0">
                <a:solidFill>
                  <a:srgbClr val="4D4D4D"/>
                </a:solidFill>
                <a:effectLst/>
                <a:latin typeface="+mj-ea"/>
                <a:ea typeface="+mj-ea"/>
              </a:rPr>
              <a:t>一种典型的无监督学习</a:t>
            </a:r>
            <a:r>
              <a:rPr lang="zh-CN" altLang="en-US" sz="2000" b="0" i="0" dirty="0">
                <a:solidFill>
                  <a:srgbClr val="4D4D4D"/>
                </a:solidFill>
                <a:effectLst/>
                <a:latin typeface="+mj-ea"/>
                <a:ea typeface="+mj-ea"/>
              </a:rPr>
              <a:t>算法，主要用于将相似的样本自动归到一个类别中。</a:t>
            </a:r>
            <a:endParaRPr lang="en-US" altLang="zh-CN" sz="2000" b="0" i="0" dirty="0">
              <a:solidFill>
                <a:srgbClr val="4D4D4D"/>
              </a:solidFill>
              <a:effectLst/>
              <a:latin typeface="+mj-ea"/>
              <a:ea typeface="+mj-ea"/>
            </a:endParaRPr>
          </a:p>
          <a:p>
            <a:pPr algn="l">
              <a:lnSpc>
                <a:spcPct val="150000"/>
              </a:lnSpc>
              <a:spcAft>
                <a:spcPts val="1200"/>
              </a:spcAft>
            </a:pPr>
            <a:r>
              <a:rPr lang="zh-CN" altLang="en-US" sz="2000" b="0" i="0" dirty="0">
                <a:solidFill>
                  <a:srgbClr val="4D4D4D"/>
                </a:solidFill>
                <a:effectLst/>
                <a:latin typeface="+mj-ea"/>
                <a:ea typeface="+mj-ea"/>
              </a:rPr>
              <a:t>在聚类算法中根据样本之间的相似性，将样本划分到不同的类别中，对于不同的相似度计算方法，会得到不同的聚类结果，常用的相似度计算方法有欧式距离法。</a:t>
            </a:r>
          </a:p>
          <a:p>
            <a:endParaRPr lang="zh-CN" altLang="en-US" dirty="0">
              <a:latin typeface="+mj-ea"/>
              <a:ea typeface="+mj-ea"/>
            </a:endParaRPr>
          </a:p>
        </p:txBody>
      </p:sp>
      <p:sp>
        <p:nvSpPr>
          <p:cNvPr id="18" name="文本框 17">
            <a:extLst>
              <a:ext uri="{FF2B5EF4-FFF2-40B4-BE49-F238E27FC236}">
                <a16:creationId xmlns:a16="http://schemas.microsoft.com/office/drawing/2014/main" id="{B014C103-45FB-0D29-ECEB-D057DC230479}"/>
              </a:ext>
            </a:extLst>
          </p:cNvPr>
          <p:cNvSpPr txBox="1"/>
          <p:nvPr/>
        </p:nvSpPr>
        <p:spPr>
          <a:xfrm>
            <a:off x="6921942" y="3404348"/>
            <a:ext cx="4466602" cy="2807948"/>
          </a:xfrm>
          <a:prstGeom prst="rect">
            <a:avLst/>
          </a:prstGeom>
          <a:noFill/>
        </p:spPr>
        <p:txBody>
          <a:bodyPr wrap="square" rtlCol="0">
            <a:spAutoFit/>
          </a:bodyPr>
          <a:lstStyle/>
          <a:p>
            <a:pPr>
              <a:lnSpc>
                <a:spcPct val="150000"/>
              </a:lnSpc>
            </a:pPr>
            <a:r>
              <a:rPr lang="zh-CN" altLang="en-US" sz="2000" b="1" dirty="0">
                <a:latin typeface="+mj-ea"/>
                <a:ea typeface="+mj-ea"/>
              </a:rPr>
              <a:t>降维：</a:t>
            </a:r>
            <a:endParaRPr lang="en-US" altLang="zh-CN" sz="2000" b="1" dirty="0">
              <a:latin typeface="+mj-ea"/>
              <a:ea typeface="+mj-ea"/>
            </a:endParaRPr>
          </a:p>
          <a:p>
            <a:pPr>
              <a:lnSpc>
                <a:spcPct val="150000"/>
              </a:lnSpc>
            </a:pPr>
            <a:r>
              <a:rPr lang="zh-CN" altLang="en-US" sz="2000" b="0" i="0" dirty="0">
                <a:solidFill>
                  <a:srgbClr val="404040"/>
                </a:solidFill>
                <a:effectLst/>
                <a:latin typeface="+mj-ea"/>
                <a:ea typeface="+mj-ea"/>
              </a:rPr>
              <a:t>降维方法旨在将高维数据映射到低维空间，同时尽可能保留数据的重要信息。降维的主要目的是减少数据的复杂性、去除冗余特征、提高计算效率，并有助于可视化和模型性能的提升。</a:t>
            </a:r>
            <a:endParaRPr lang="zh-CN" altLang="en-US" sz="2000" b="1" dirty="0">
              <a:latin typeface="+mj-ea"/>
              <a:ea typeface="+mj-ea"/>
            </a:endParaRPr>
          </a:p>
        </p:txBody>
      </p:sp>
      <p:grpSp>
        <p:nvGrpSpPr>
          <p:cNvPr id="27" name="组合 26">
            <a:extLst>
              <a:ext uri="{FF2B5EF4-FFF2-40B4-BE49-F238E27FC236}">
                <a16:creationId xmlns:a16="http://schemas.microsoft.com/office/drawing/2014/main" id="{8E9FB12C-4A62-6C9F-8BDA-0E7D64FC079E}"/>
              </a:ext>
            </a:extLst>
          </p:cNvPr>
          <p:cNvGrpSpPr/>
          <p:nvPr/>
        </p:nvGrpSpPr>
        <p:grpSpPr>
          <a:xfrm>
            <a:off x="7847131" y="2324101"/>
            <a:ext cx="1017494" cy="1017494"/>
            <a:chOff x="8345133" y="2180666"/>
            <a:chExt cx="1017494" cy="1017494"/>
          </a:xfrm>
        </p:grpSpPr>
        <p:sp>
          <p:nvSpPr>
            <p:cNvPr id="19" name="L 形 18">
              <a:extLst>
                <a:ext uri="{FF2B5EF4-FFF2-40B4-BE49-F238E27FC236}">
                  <a16:creationId xmlns:a16="http://schemas.microsoft.com/office/drawing/2014/main" id="{5F016FB8-9EAC-04F1-A986-E93D61F5F438}"/>
                </a:ext>
              </a:extLst>
            </p:cNvPr>
            <p:cNvSpPr/>
            <p:nvPr/>
          </p:nvSpPr>
          <p:spPr>
            <a:xfrm>
              <a:off x="8345133" y="2180666"/>
              <a:ext cx="1017494" cy="1017494"/>
            </a:xfrm>
            <a:prstGeom prst="corner">
              <a:avLst>
                <a:gd name="adj1" fmla="val 25331"/>
                <a:gd name="adj2" fmla="val 244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 name="L 形 19">
              <a:extLst>
                <a:ext uri="{FF2B5EF4-FFF2-40B4-BE49-F238E27FC236}">
                  <a16:creationId xmlns:a16="http://schemas.microsoft.com/office/drawing/2014/main" id="{FFAD8335-FC63-C83E-F303-EAF1B723987F}"/>
                </a:ext>
              </a:extLst>
            </p:cNvPr>
            <p:cNvSpPr/>
            <p:nvPr/>
          </p:nvSpPr>
          <p:spPr>
            <a:xfrm>
              <a:off x="8717553" y="2204379"/>
              <a:ext cx="575724" cy="598394"/>
            </a:xfrm>
            <a:prstGeom prst="corner">
              <a:avLst>
                <a:gd name="adj1" fmla="val 31498"/>
                <a:gd name="adj2" fmla="val 275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 name="L 形 20">
              <a:extLst>
                <a:ext uri="{FF2B5EF4-FFF2-40B4-BE49-F238E27FC236}">
                  <a16:creationId xmlns:a16="http://schemas.microsoft.com/office/drawing/2014/main" id="{505D6A5C-4C03-0466-38C5-ED1A5FCDA7A0}"/>
                </a:ext>
              </a:extLst>
            </p:cNvPr>
            <p:cNvSpPr/>
            <p:nvPr/>
          </p:nvSpPr>
          <p:spPr>
            <a:xfrm>
              <a:off x="9009371" y="2245532"/>
              <a:ext cx="287862" cy="266702"/>
            </a:xfrm>
            <a:prstGeom prst="corner">
              <a:avLst>
                <a:gd name="adj1" fmla="val 31498"/>
                <a:gd name="adj2" fmla="val 275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2" name="矩形 21">
              <a:extLst>
                <a:ext uri="{FF2B5EF4-FFF2-40B4-BE49-F238E27FC236}">
                  <a16:creationId xmlns:a16="http://schemas.microsoft.com/office/drawing/2014/main" id="{F9091B35-DF8A-3EF7-729B-9D0C11E8F06C}"/>
                </a:ext>
              </a:extLst>
            </p:cNvPr>
            <p:cNvSpPr/>
            <p:nvPr/>
          </p:nvSpPr>
          <p:spPr>
            <a:xfrm>
              <a:off x="9189161" y="2204379"/>
              <a:ext cx="139975" cy="139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Tree>
    <p:extLst>
      <p:ext uri="{BB962C8B-B14F-4D97-AF65-F5344CB8AC3E}">
        <p14:creationId xmlns:p14="http://schemas.microsoft.com/office/powerpoint/2010/main" val="3585049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3D3A-08CB-9268-E93C-711A61A396B4}"/>
            </a:ext>
          </a:extLst>
        </p:cNvPr>
        <p:cNvGrpSpPr/>
        <p:nvPr/>
      </p:nvGrpSpPr>
      <p:grpSpPr>
        <a:xfrm>
          <a:off x="0" y="0"/>
          <a:ext cx="0" cy="0"/>
          <a:chOff x="0" y="0"/>
          <a:chExt cx="0" cy="0"/>
        </a:xfrm>
      </p:grpSpPr>
      <p:grpSp>
        <p:nvGrpSpPr>
          <p:cNvPr id="38" name="组合 37">
            <a:extLst>
              <a:ext uri="{FF2B5EF4-FFF2-40B4-BE49-F238E27FC236}">
                <a16:creationId xmlns:a16="http://schemas.microsoft.com/office/drawing/2014/main" id="{4B688872-3090-8AA2-1D45-C5007AFF731C}"/>
              </a:ext>
            </a:extLst>
          </p:cNvPr>
          <p:cNvGrpSpPr/>
          <p:nvPr/>
        </p:nvGrpSpPr>
        <p:grpSpPr>
          <a:xfrm>
            <a:off x="3869989" y="1594509"/>
            <a:ext cx="4452022" cy="4487848"/>
            <a:chOff x="3872379" y="1383943"/>
            <a:chExt cx="4452022" cy="4487848"/>
          </a:xfrm>
        </p:grpSpPr>
        <p:sp>
          <p:nvSpPr>
            <p:cNvPr id="3" name="Freeform 5">
              <a:extLst>
                <a:ext uri="{FF2B5EF4-FFF2-40B4-BE49-F238E27FC236}">
                  <a16:creationId xmlns:a16="http://schemas.microsoft.com/office/drawing/2014/main" id="{23671742-58CF-DB48-8AB5-A597954061F4}"/>
                </a:ext>
              </a:extLst>
            </p:cNvPr>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a:extLst>
                <a:ext uri="{FF2B5EF4-FFF2-40B4-BE49-F238E27FC236}">
                  <a16:creationId xmlns:a16="http://schemas.microsoft.com/office/drawing/2014/main" id="{7577F0BB-680C-8D98-1415-91527CCD740D}"/>
                </a:ext>
              </a:extLst>
            </p:cNvPr>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a:extLst>
                <a:ext uri="{FF2B5EF4-FFF2-40B4-BE49-F238E27FC236}">
                  <a16:creationId xmlns:a16="http://schemas.microsoft.com/office/drawing/2014/main" id="{5795FDA9-62EE-7269-44F3-DF8EA004927B}"/>
                </a:ext>
              </a:extLst>
            </p:cNvPr>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a:extLst>
                <a:ext uri="{FF2B5EF4-FFF2-40B4-BE49-F238E27FC236}">
                  <a16:creationId xmlns:a16="http://schemas.microsoft.com/office/drawing/2014/main" id="{6EAEAFE1-187D-98E8-9E66-6B5B8F9B0304}"/>
                </a:ext>
              </a:extLst>
            </p:cNvPr>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a:extLst>
                <a:ext uri="{FF2B5EF4-FFF2-40B4-BE49-F238E27FC236}">
                  <a16:creationId xmlns:a16="http://schemas.microsoft.com/office/drawing/2014/main" id="{A598CF54-74E9-A9DE-A10B-185FA11673ED}"/>
                </a:ext>
              </a:extLst>
            </p:cNvPr>
            <p:cNvGrpSpPr/>
            <p:nvPr/>
          </p:nvGrpSpPr>
          <p:grpSpPr>
            <a:xfrm>
              <a:off x="4569798" y="4627422"/>
              <a:ext cx="527842" cy="535007"/>
              <a:chOff x="3557588" y="3654425"/>
              <a:chExt cx="350838" cy="355600"/>
            </a:xfrm>
          </p:grpSpPr>
          <p:sp>
            <p:nvSpPr>
              <p:cNvPr id="20" name="Freeform 9">
                <a:extLst>
                  <a:ext uri="{FF2B5EF4-FFF2-40B4-BE49-F238E27FC236}">
                    <a16:creationId xmlns:a16="http://schemas.microsoft.com/office/drawing/2014/main" id="{51F9E973-A6D8-C702-DA77-24D4022F1599}"/>
                  </a:ext>
                </a:extLst>
              </p:cNvPr>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a:extLst>
                  <a:ext uri="{FF2B5EF4-FFF2-40B4-BE49-F238E27FC236}">
                    <a16:creationId xmlns:a16="http://schemas.microsoft.com/office/drawing/2014/main" id="{B36F7895-6D1D-D5BF-18C2-CECBB1D52604}"/>
                  </a:ext>
                </a:extLst>
              </p:cNvPr>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a:extLst>
                  <a:ext uri="{FF2B5EF4-FFF2-40B4-BE49-F238E27FC236}">
                    <a16:creationId xmlns:a16="http://schemas.microsoft.com/office/drawing/2014/main" id="{55867E3D-7B64-1538-11A4-49D0C774958E}"/>
                  </a:ext>
                </a:extLst>
              </p:cNvPr>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a:extLst>
                <a:ext uri="{FF2B5EF4-FFF2-40B4-BE49-F238E27FC236}">
                  <a16:creationId xmlns:a16="http://schemas.microsoft.com/office/drawing/2014/main" id="{A61A2BEA-395D-E90D-96DD-1673F05D2E88}"/>
                </a:ext>
              </a:extLst>
            </p:cNvPr>
            <p:cNvGrpSpPr/>
            <p:nvPr/>
          </p:nvGrpSpPr>
          <p:grpSpPr>
            <a:xfrm>
              <a:off x="7025097" y="2098082"/>
              <a:ext cx="606660" cy="539784"/>
              <a:chOff x="5189538" y="1973263"/>
              <a:chExt cx="403225" cy="358775"/>
            </a:xfrm>
          </p:grpSpPr>
          <p:sp>
            <p:nvSpPr>
              <p:cNvPr id="18" name="Freeform 12">
                <a:extLst>
                  <a:ext uri="{FF2B5EF4-FFF2-40B4-BE49-F238E27FC236}">
                    <a16:creationId xmlns:a16="http://schemas.microsoft.com/office/drawing/2014/main" id="{4F4A54BD-76C9-F1BD-C545-0AA9238E8B6E}"/>
                  </a:ext>
                </a:extLst>
              </p:cNvPr>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a:extLst>
                  <a:ext uri="{FF2B5EF4-FFF2-40B4-BE49-F238E27FC236}">
                    <a16:creationId xmlns:a16="http://schemas.microsoft.com/office/drawing/2014/main" id="{6CC232B0-CB3C-4037-D84A-4A52FA235431}"/>
                  </a:ext>
                </a:extLst>
              </p:cNvPr>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a:extLst>
                <a:ext uri="{FF2B5EF4-FFF2-40B4-BE49-F238E27FC236}">
                  <a16:creationId xmlns:a16="http://schemas.microsoft.com/office/drawing/2014/main" id="{5547298C-9E8F-DA94-16BB-47725C97E838}"/>
                </a:ext>
              </a:extLst>
            </p:cNvPr>
            <p:cNvGrpSpPr/>
            <p:nvPr/>
          </p:nvGrpSpPr>
          <p:grpSpPr>
            <a:xfrm>
              <a:off x="6984495" y="4601150"/>
              <a:ext cx="599495" cy="587552"/>
              <a:chOff x="5162551" y="3636963"/>
              <a:chExt cx="398463" cy="390525"/>
            </a:xfrm>
          </p:grpSpPr>
          <p:sp>
            <p:nvSpPr>
              <p:cNvPr id="15" name="Freeform 14">
                <a:extLst>
                  <a:ext uri="{FF2B5EF4-FFF2-40B4-BE49-F238E27FC236}">
                    <a16:creationId xmlns:a16="http://schemas.microsoft.com/office/drawing/2014/main" id="{D0479412-7F80-704D-9953-F69CBDD50614}"/>
                  </a:ext>
                </a:extLst>
              </p:cNvPr>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a:extLst>
                  <a:ext uri="{FF2B5EF4-FFF2-40B4-BE49-F238E27FC236}">
                    <a16:creationId xmlns:a16="http://schemas.microsoft.com/office/drawing/2014/main" id="{77DA387E-E582-3413-7DC3-8641BCD91D11}"/>
                  </a:ext>
                </a:extLst>
              </p:cNvPr>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a:extLst>
                  <a:ext uri="{FF2B5EF4-FFF2-40B4-BE49-F238E27FC236}">
                    <a16:creationId xmlns:a16="http://schemas.microsoft.com/office/drawing/2014/main" id="{474072A1-C3DE-5645-E8D7-096AE3994D19}"/>
                  </a:ext>
                </a:extLst>
              </p:cNvPr>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a:extLst>
                <a:ext uri="{FF2B5EF4-FFF2-40B4-BE49-F238E27FC236}">
                  <a16:creationId xmlns:a16="http://schemas.microsoft.com/office/drawing/2014/main" id="{669BB0E1-8CD6-F94F-AE49-17BD357C6B58}"/>
                </a:ext>
              </a:extLst>
            </p:cNvPr>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a:extLst>
                <a:ext uri="{FF2B5EF4-FFF2-40B4-BE49-F238E27FC236}">
                  <a16:creationId xmlns:a16="http://schemas.microsoft.com/office/drawing/2014/main" id="{D5845A30-855D-18F4-0BE0-673BA3D1B1A8}"/>
                </a:ext>
              </a:extLst>
            </p:cNvPr>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a:extLst>
                <a:ext uri="{FF2B5EF4-FFF2-40B4-BE49-F238E27FC236}">
                  <a16:creationId xmlns:a16="http://schemas.microsoft.com/office/drawing/2014/main" id="{82557636-F9CE-037F-CA3F-229D0C0F9055}"/>
                </a:ext>
              </a:extLst>
            </p:cNvPr>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a:extLst>
                <a:ext uri="{FF2B5EF4-FFF2-40B4-BE49-F238E27FC236}">
                  <a16:creationId xmlns:a16="http://schemas.microsoft.com/office/drawing/2014/main" id="{6575189F-F5D0-4F15-BE6C-C4DC57E2F4B9}"/>
                </a:ext>
              </a:extLst>
            </p:cNvPr>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a:extLst>
                <a:ext uri="{FF2B5EF4-FFF2-40B4-BE49-F238E27FC236}">
                  <a16:creationId xmlns:a16="http://schemas.microsoft.com/office/drawing/2014/main" id="{E66B9A49-6250-E75C-561E-A0F6155B0240}"/>
                </a:ext>
              </a:extLst>
            </p:cNvPr>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a:extLst>
              <a:ext uri="{FF2B5EF4-FFF2-40B4-BE49-F238E27FC236}">
                <a16:creationId xmlns:a16="http://schemas.microsoft.com/office/drawing/2014/main" id="{4B9A10F0-1C01-ABCE-1267-14E79BB07CB2}"/>
              </a:ext>
            </a:extLst>
          </p:cNvPr>
          <p:cNvGrpSpPr/>
          <p:nvPr>
            <p:custDataLst>
              <p:tags r:id="rId1"/>
            </p:custDataLst>
          </p:nvPr>
        </p:nvGrpSpPr>
        <p:grpSpPr>
          <a:xfrm>
            <a:off x="1445407" y="2526644"/>
            <a:ext cx="2855980" cy="823738"/>
            <a:chOff x="656868" y="2381121"/>
            <a:chExt cx="2855980" cy="823738"/>
          </a:xfrm>
        </p:grpSpPr>
        <p:sp>
          <p:nvSpPr>
            <p:cNvPr id="24" name="文本框 23">
              <a:extLst>
                <a:ext uri="{FF2B5EF4-FFF2-40B4-BE49-F238E27FC236}">
                  <a16:creationId xmlns:a16="http://schemas.microsoft.com/office/drawing/2014/main" id="{B86D6E6B-4017-B61E-95CE-22DA43DC3F1E}"/>
                </a:ext>
              </a:extLst>
            </p:cNvPr>
            <p:cNvSpPr txBox="1"/>
            <p:nvPr/>
          </p:nvSpPr>
          <p:spPr>
            <a:xfrm>
              <a:off x="928440" y="2381121"/>
              <a:ext cx="1723549" cy="461665"/>
            </a:xfrm>
            <a:prstGeom prst="rect">
              <a:avLst/>
            </a:prstGeom>
            <a:noFill/>
          </p:spPr>
          <p:txBody>
            <a:bodyPr wrap="none" rtlCol="0">
              <a:spAutoFit/>
            </a:bodyPr>
            <a:lstStyle/>
            <a:p>
              <a:r>
                <a:rPr lang="zh-CN" altLang="en-US" sz="2400" b="1" dirty="0">
                  <a:solidFill>
                    <a:srgbClr val="24569D"/>
                  </a:solidFill>
                </a:rPr>
                <a:t>无监督学习</a:t>
              </a:r>
            </a:p>
          </p:txBody>
        </p:sp>
        <p:sp>
          <p:nvSpPr>
            <p:cNvPr id="25" name="文本框 24">
              <a:extLst>
                <a:ext uri="{FF2B5EF4-FFF2-40B4-BE49-F238E27FC236}">
                  <a16:creationId xmlns:a16="http://schemas.microsoft.com/office/drawing/2014/main" id="{CC93929C-D140-48C6-C7AA-856E14384FDC}"/>
                </a:ext>
              </a:extLst>
            </p:cNvPr>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a:extLst>
              <a:ext uri="{FF2B5EF4-FFF2-40B4-BE49-F238E27FC236}">
                <a16:creationId xmlns:a16="http://schemas.microsoft.com/office/drawing/2014/main" id="{88053633-204B-815E-DDD5-28A69F5BB6CE}"/>
              </a:ext>
            </a:extLst>
          </p:cNvPr>
          <p:cNvSpPr txBox="1"/>
          <p:nvPr/>
        </p:nvSpPr>
        <p:spPr>
          <a:xfrm>
            <a:off x="8551048" y="4920321"/>
            <a:ext cx="1415772" cy="461665"/>
          </a:xfrm>
          <a:prstGeom prst="rect">
            <a:avLst/>
          </a:prstGeom>
          <a:noFill/>
        </p:spPr>
        <p:txBody>
          <a:bodyPr wrap="none" rtlCol="0">
            <a:spAutoFit/>
          </a:bodyPr>
          <a:lstStyle/>
          <a:p>
            <a:r>
              <a:rPr lang="zh-CN" altLang="en-US" sz="2400" b="1" dirty="0">
                <a:solidFill>
                  <a:srgbClr val="24569D"/>
                </a:solidFill>
              </a:rPr>
              <a:t>演化算法</a:t>
            </a:r>
          </a:p>
        </p:txBody>
      </p:sp>
      <p:sp>
        <p:nvSpPr>
          <p:cNvPr id="31" name="文本框 30">
            <a:extLst>
              <a:ext uri="{FF2B5EF4-FFF2-40B4-BE49-F238E27FC236}">
                <a16:creationId xmlns:a16="http://schemas.microsoft.com/office/drawing/2014/main" id="{8F51D8EE-F6B3-BE60-AA05-A535C37C4BE3}"/>
              </a:ext>
            </a:extLst>
          </p:cNvPr>
          <p:cNvSpPr txBox="1"/>
          <p:nvPr/>
        </p:nvSpPr>
        <p:spPr>
          <a:xfrm>
            <a:off x="1743730" y="4865798"/>
            <a:ext cx="1415772" cy="461665"/>
          </a:xfrm>
          <a:prstGeom prst="rect">
            <a:avLst/>
          </a:prstGeom>
          <a:noFill/>
        </p:spPr>
        <p:txBody>
          <a:bodyPr wrap="none" rtlCol="0">
            <a:spAutoFit/>
          </a:bodyPr>
          <a:lstStyle/>
          <a:p>
            <a:r>
              <a:rPr lang="zh-CN" altLang="en-US" sz="2400" b="1" dirty="0">
                <a:solidFill>
                  <a:srgbClr val="24569D"/>
                </a:solidFill>
              </a:rPr>
              <a:t>特征降维</a:t>
            </a:r>
          </a:p>
        </p:txBody>
      </p:sp>
      <p:sp>
        <p:nvSpPr>
          <p:cNvPr id="34" name="文本框 33">
            <a:extLst>
              <a:ext uri="{FF2B5EF4-FFF2-40B4-BE49-F238E27FC236}">
                <a16:creationId xmlns:a16="http://schemas.microsoft.com/office/drawing/2014/main" id="{2CC758B3-46C9-8CAC-68D4-7D2E373038F6}"/>
              </a:ext>
            </a:extLst>
          </p:cNvPr>
          <p:cNvSpPr txBox="1"/>
          <p:nvPr/>
        </p:nvSpPr>
        <p:spPr>
          <a:xfrm>
            <a:off x="8551048" y="2586871"/>
            <a:ext cx="1415772" cy="461665"/>
          </a:xfrm>
          <a:prstGeom prst="rect">
            <a:avLst/>
          </a:prstGeom>
          <a:noFill/>
        </p:spPr>
        <p:txBody>
          <a:bodyPr wrap="none" rtlCol="0">
            <a:spAutoFit/>
          </a:bodyPr>
          <a:lstStyle/>
          <a:p>
            <a:r>
              <a:rPr lang="zh-CN" altLang="en-US" sz="2400" b="1" dirty="0">
                <a:solidFill>
                  <a:srgbClr val="FF0000"/>
                </a:solidFill>
              </a:rPr>
              <a:t>聚类算法</a:t>
            </a:r>
          </a:p>
        </p:txBody>
      </p:sp>
      <p:sp>
        <p:nvSpPr>
          <p:cNvPr id="2" name="矩形 1">
            <a:extLst>
              <a:ext uri="{FF2B5EF4-FFF2-40B4-BE49-F238E27FC236}">
                <a16:creationId xmlns:a16="http://schemas.microsoft.com/office/drawing/2014/main" id="{8DCFF90C-F7F8-AD38-9FAC-5D5C830B5D96}"/>
              </a:ext>
            </a:extLst>
          </p:cNvPr>
          <p:cNvSpPr/>
          <p:nvPr/>
        </p:nvSpPr>
        <p:spPr>
          <a:xfrm>
            <a:off x="745606" y="902626"/>
            <a:ext cx="902811" cy="523220"/>
          </a:xfrm>
          <a:prstGeom prst="rect">
            <a:avLst/>
          </a:prstGeom>
        </p:spPr>
        <p:txBody>
          <a:bodyPr wrap="none">
            <a:spAutoFit/>
          </a:bodyPr>
          <a:lstStyle/>
          <a:p>
            <a:r>
              <a:rPr lang="zh-CN" altLang="en-US" sz="2800" dirty="0"/>
              <a:t>目录</a:t>
            </a:r>
          </a:p>
        </p:txBody>
      </p:sp>
    </p:spTree>
    <p:extLst>
      <p:ext uri="{BB962C8B-B14F-4D97-AF65-F5344CB8AC3E}">
        <p14:creationId xmlns:p14="http://schemas.microsoft.com/office/powerpoint/2010/main" val="113795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09103" y="955795"/>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物以类聚，人与群分</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97626" y="2007935"/>
            <a:ext cx="11012814" cy="2478900"/>
            <a:chOff x="1099312" y="1723345"/>
            <a:chExt cx="10062913" cy="3432863"/>
          </a:xfrm>
          <a:solidFill>
            <a:schemeClr val="accent5">
              <a:lumMod val="50000"/>
            </a:schemeClr>
          </a:solidFill>
        </p:grpSpPr>
        <p:sp>
          <p:nvSpPr>
            <p:cNvPr id="9" name="立方体 8"/>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0" name="直接连接符 9"/>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099312" y="1742007"/>
              <a:ext cx="3220132" cy="3220133"/>
              <a:chOff x="1099312" y="2369187"/>
              <a:chExt cx="3220132" cy="3220133"/>
            </a:xfrm>
            <a:grpFill/>
          </p:grpSpPr>
          <p:cxnSp>
            <p:nvCxnSpPr>
              <p:cNvPr id="13" name="直接连接符 12"/>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607215" y="2618893"/>
            <a:ext cx="10867609" cy="1569660"/>
          </a:xfrm>
          <a:prstGeom prst="rect">
            <a:avLst/>
          </a:prstGeom>
        </p:spPr>
        <p:txBody>
          <a:bodyPr wrap="square">
            <a:spAutoFit/>
          </a:bodyPr>
          <a:lstStyle/>
          <a:p>
            <a:pPr marL="342900" indent="-342900">
              <a:lnSpc>
                <a:spcPct val="150000"/>
              </a:lnSpc>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聚类算法是一种无监督学习方法，旨在将数据集中的对象划分为若干个类别或簇，使得同一类别内的对象相似度较高，不同类别之间的相似度较低。聚类分析在多个领域均有广泛应用，如市场细分、生物学研究、图像分析、社交网络分析等。</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聚类算法的基本步骤包括</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选择相似度度量方法</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选择聚类算法</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确定聚类数目</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评估聚类分析结果</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 name="矩形 15"/>
          <p:cNvSpPr/>
          <p:nvPr/>
        </p:nvSpPr>
        <p:spPr>
          <a:xfrm>
            <a:off x="681560" y="2253177"/>
            <a:ext cx="5340096" cy="400110"/>
          </a:xfrm>
          <a:prstGeom prst="rect">
            <a:avLst/>
          </a:prstGeom>
        </p:spPr>
        <p:txBody>
          <a:bodyPr wrap="square">
            <a:spAutoFit/>
          </a:bodyPr>
          <a:lstStyle/>
          <a:p>
            <a:r>
              <a:rPr lang="zh-CN" altLang="en-US"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聚类算法的基本概念</a:t>
            </a:r>
            <a:endParaRPr lang="zh-CN" altLang="en-US" sz="2000"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76" name="object 29">
            <a:extLst>
              <a:ext uri="{FF2B5EF4-FFF2-40B4-BE49-F238E27FC236}">
                <a16:creationId xmlns:a16="http://schemas.microsoft.com/office/drawing/2014/main" id="{2C267A44-6BEA-5652-2FA5-A4135EF6EDB6}"/>
              </a:ext>
            </a:extLst>
          </p:cNvPr>
          <p:cNvGrpSpPr/>
          <p:nvPr/>
        </p:nvGrpSpPr>
        <p:grpSpPr>
          <a:xfrm>
            <a:off x="484749" y="4930837"/>
            <a:ext cx="2366645" cy="1083310"/>
            <a:chOff x="825500" y="3003550"/>
            <a:chExt cx="2366645" cy="1083310"/>
          </a:xfrm>
        </p:grpSpPr>
        <p:sp>
          <p:nvSpPr>
            <p:cNvPr id="77" name="object 30">
              <a:extLst>
                <a:ext uri="{FF2B5EF4-FFF2-40B4-BE49-F238E27FC236}">
                  <a16:creationId xmlns:a16="http://schemas.microsoft.com/office/drawing/2014/main" id="{6775E76D-1360-C4DD-0A3F-CCBEB8F57E8B}"/>
                </a:ext>
              </a:extLst>
            </p:cNvPr>
            <p:cNvSpPr/>
            <p:nvPr/>
          </p:nvSpPr>
          <p:spPr>
            <a:xfrm>
              <a:off x="838200" y="3015996"/>
              <a:ext cx="2341245" cy="1059180"/>
            </a:xfrm>
            <a:custGeom>
              <a:avLst/>
              <a:gdLst/>
              <a:ahLst/>
              <a:cxnLst/>
              <a:rect l="l" t="t" r="r" b="b"/>
              <a:pathLst>
                <a:path w="2341245" h="1059179">
                  <a:moveTo>
                    <a:pt x="2164080" y="1059180"/>
                  </a:moveTo>
                  <a:lnTo>
                    <a:pt x="176784" y="1059180"/>
                  </a:lnTo>
                  <a:lnTo>
                    <a:pt x="129734" y="1052738"/>
                  </a:lnTo>
                  <a:lnTo>
                    <a:pt x="87488" y="1034858"/>
                  </a:lnTo>
                  <a:lnTo>
                    <a:pt x="51720" y="1007211"/>
                  </a:lnTo>
                  <a:lnTo>
                    <a:pt x="24101" y="971470"/>
                  </a:lnTo>
                  <a:lnTo>
                    <a:pt x="6304" y="929308"/>
                  </a:lnTo>
                  <a:lnTo>
                    <a:pt x="0" y="882396"/>
                  </a:lnTo>
                  <a:lnTo>
                    <a:pt x="0" y="176784"/>
                  </a:lnTo>
                  <a:lnTo>
                    <a:pt x="6304" y="129839"/>
                  </a:lnTo>
                  <a:lnTo>
                    <a:pt x="24101" y="87658"/>
                  </a:lnTo>
                  <a:lnTo>
                    <a:pt x="51720" y="51911"/>
                  </a:lnTo>
                  <a:lnTo>
                    <a:pt x="87488" y="24271"/>
                  </a:lnTo>
                  <a:lnTo>
                    <a:pt x="129734" y="6409"/>
                  </a:lnTo>
                  <a:lnTo>
                    <a:pt x="176784" y="0"/>
                  </a:lnTo>
                  <a:lnTo>
                    <a:pt x="2164080" y="0"/>
                  </a:lnTo>
                  <a:lnTo>
                    <a:pt x="2211214" y="6409"/>
                  </a:lnTo>
                  <a:lnTo>
                    <a:pt x="2253510" y="24271"/>
                  </a:lnTo>
                  <a:lnTo>
                    <a:pt x="2289295" y="51911"/>
                  </a:lnTo>
                  <a:lnTo>
                    <a:pt x="2316897" y="87658"/>
                  </a:lnTo>
                  <a:lnTo>
                    <a:pt x="2334644" y="129839"/>
                  </a:lnTo>
                  <a:lnTo>
                    <a:pt x="2340864" y="176784"/>
                  </a:lnTo>
                  <a:lnTo>
                    <a:pt x="2340864" y="882396"/>
                  </a:lnTo>
                  <a:lnTo>
                    <a:pt x="2334644" y="929308"/>
                  </a:lnTo>
                  <a:lnTo>
                    <a:pt x="2316897" y="971470"/>
                  </a:lnTo>
                  <a:lnTo>
                    <a:pt x="2289295" y="1007211"/>
                  </a:lnTo>
                  <a:lnTo>
                    <a:pt x="2253510" y="1034858"/>
                  </a:lnTo>
                  <a:lnTo>
                    <a:pt x="2211214" y="1052738"/>
                  </a:lnTo>
                  <a:lnTo>
                    <a:pt x="2164080" y="1059180"/>
                  </a:lnTo>
                  <a:close/>
                </a:path>
              </a:pathLst>
            </a:custGeom>
            <a:solidFill>
              <a:srgbClr val="F1F1F1"/>
            </a:solidFill>
          </p:spPr>
          <p:txBody>
            <a:bodyPr wrap="square" lIns="0" tIns="0" rIns="0" bIns="0" rtlCol="0"/>
            <a:lstStyle/>
            <a:p>
              <a:endParaRPr dirty="0"/>
            </a:p>
          </p:txBody>
        </p:sp>
        <p:sp>
          <p:nvSpPr>
            <p:cNvPr id="78" name="object 31">
              <a:extLst>
                <a:ext uri="{FF2B5EF4-FFF2-40B4-BE49-F238E27FC236}">
                  <a16:creationId xmlns:a16="http://schemas.microsoft.com/office/drawing/2014/main" id="{6DFFF7F6-B3FB-110B-7457-862EC8C32D1D}"/>
                </a:ext>
              </a:extLst>
            </p:cNvPr>
            <p:cNvSpPr/>
            <p:nvPr/>
          </p:nvSpPr>
          <p:spPr>
            <a:xfrm>
              <a:off x="825500" y="3003550"/>
              <a:ext cx="2366645" cy="1083310"/>
            </a:xfrm>
            <a:custGeom>
              <a:avLst/>
              <a:gdLst/>
              <a:ahLst/>
              <a:cxnLst/>
              <a:rect l="l" t="t" r="r" b="b"/>
              <a:pathLst>
                <a:path w="2366645" h="1083310">
                  <a:moveTo>
                    <a:pt x="2250668" y="13969"/>
                  </a:moveTo>
                  <a:lnTo>
                    <a:pt x="115798" y="13969"/>
                  </a:lnTo>
                  <a:lnTo>
                    <a:pt x="124396" y="10159"/>
                  </a:lnTo>
                  <a:lnTo>
                    <a:pt x="132600" y="7619"/>
                  </a:lnTo>
                  <a:lnTo>
                    <a:pt x="141566" y="5079"/>
                  </a:lnTo>
                  <a:lnTo>
                    <a:pt x="150723" y="3809"/>
                  </a:lnTo>
                  <a:lnTo>
                    <a:pt x="151345" y="2539"/>
                  </a:lnTo>
                  <a:lnTo>
                    <a:pt x="160032" y="1269"/>
                  </a:lnTo>
                  <a:lnTo>
                    <a:pt x="160667" y="1269"/>
                  </a:lnTo>
                  <a:lnTo>
                    <a:pt x="169494" y="0"/>
                  </a:lnTo>
                  <a:lnTo>
                    <a:pt x="2196973" y="0"/>
                  </a:lnTo>
                  <a:lnTo>
                    <a:pt x="2215121" y="2539"/>
                  </a:lnTo>
                  <a:lnTo>
                    <a:pt x="2215743" y="3809"/>
                  </a:lnTo>
                  <a:lnTo>
                    <a:pt x="2224900" y="5079"/>
                  </a:lnTo>
                  <a:lnTo>
                    <a:pt x="2233866" y="7619"/>
                  </a:lnTo>
                  <a:lnTo>
                    <a:pt x="2242070" y="10159"/>
                  </a:lnTo>
                  <a:lnTo>
                    <a:pt x="2250668" y="13969"/>
                  </a:lnTo>
                  <a:close/>
                </a:path>
                <a:path w="2366645" h="1083310">
                  <a:moveTo>
                    <a:pt x="163868" y="26669"/>
                  </a:moveTo>
                  <a:lnTo>
                    <a:pt x="91313" y="26669"/>
                  </a:lnTo>
                  <a:lnTo>
                    <a:pt x="98704" y="22859"/>
                  </a:lnTo>
                  <a:lnTo>
                    <a:pt x="106857" y="17779"/>
                  </a:lnTo>
                  <a:lnTo>
                    <a:pt x="115227" y="13969"/>
                  </a:lnTo>
                  <a:lnTo>
                    <a:pt x="2251240" y="13969"/>
                  </a:lnTo>
                  <a:lnTo>
                    <a:pt x="2259622" y="17779"/>
                  </a:lnTo>
                  <a:lnTo>
                    <a:pt x="2267229" y="21589"/>
                  </a:lnTo>
                  <a:lnTo>
                    <a:pt x="2273172" y="25399"/>
                  </a:lnTo>
                  <a:lnTo>
                    <a:pt x="172694" y="25399"/>
                  </a:lnTo>
                  <a:lnTo>
                    <a:pt x="163868" y="26669"/>
                  </a:lnTo>
                  <a:close/>
                </a:path>
                <a:path w="2366645" h="1083310">
                  <a:moveTo>
                    <a:pt x="2275154" y="26669"/>
                  </a:moveTo>
                  <a:lnTo>
                    <a:pt x="2202599" y="26669"/>
                  </a:lnTo>
                  <a:lnTo>
                    <a:pt x="2193772" y="25399"/>
                  </a:lnTo>
                  <a:lnTo>
                    <a:pt x="2273172" y="25399"/>
                  </a:lnTo>
                  <a:lnTo>
                    <a:pt x="2275154" y="26669"/>
                  </a:lnTo>
                  <a:close/>
                </a:path>
                <a:path w="2366645" h="1083310">
                  <a:moveTo>
                    <a:pt x="57734" y="90169"/>
                  </a:moveTo>
                  <a:lnTo>
                    <a:pt x="27546" y="90169"/>
                  </a:lnTo>
                  <a:lnTo>
                    <a:pt x="32143" y="82549"/>
                  </a:lnTo>
                  <a:lnTo>
                    <a:pt x="37401" y="76199"/>
                  </a:lnTo>
                  <a:lnTo>
                    <a:pt x="43002" y="68579"/>
                  </a:lnTo>
                  <a:lnTo>
                    <a:pt x="48933" y="60959"/>
                  </a:lnTo>
                  <a:lnTo>
                    <a:pt x="55181" y="54609"/>
                  </a:lnTo>
                  <a:lnTo>
                    <a:pt x="55613" y="54609"/>
                  </a:lnTo>
                  <a:lnTo>
                    <a:pt x="61734" y="48259"/>
                  </a:lnTo>
                  <a:lnTo>
                    <a:pt x="69062" y="41909"/>
                  </a:lnTo>
                  <a:lnTo>
                    <a:pt x="76212" y="36829"/>
                  </a:lnTo>
                  <a:lnTo>
                    <a:pt x="83629" y="31749"/>
                  </a:lnTo>
                  <a:lnTo>
                    <a:pt x="90792" y="26669"/>
                  </a:lnTo>
                  <a:lnTo>
                    <a:pt x="164503" y="26669"/>
                  </a:lnTo>
                  <a:lnTo>
                    <a:pt x="157039" y="27761"/>
                  </a:lnTo>
                  <a:lnTo>
                    <a:pt x="152171" y="29209"/>
                  </a:lnTo>
                  <a:lnTo>
                    <a:pt x="148513" y="29209"/>
                  </a:lnTo>
                  <a:lnTo>
                    <a:pt x="140144" y="31749"/>
                  </a:lnTo>
                  <a:lnTo>
                    <a:pt x="140741" y="31749"/>
                  </a:lnTo>
                  <a:lnTo>
                    <a:pt x="132537" y="34289"/>
                  </a:lnTo>
                  <a:lnTo>
                    <a:pt x="133134" y="34289"/>
                  </a:lnTo>
                  <a:lnTo>
                    <a:pt x="125120" y="38099"/>
                  </a:lnTo>
                  <a:lnTo>
                    <a:pt x="125691" y="38099"/>
                  </a:lnTo>
                  <a:lnTo>
                    <a:pt x="117881" y="40639"/>
                  </a:lnTo>
                  <a:lnTo>
                    <a:pt x="118427" y="40639"/>
                  </a:lnTo>
                  <a:lnTo>
                    <a:pt x="110820" y="44449"/>
                  </a:lnTo>
                  <a:lnTo>
                    <a:pt x="111366" y="44449"/>
                  </a:lnTo>
                  <a:lnTo>
                    <a:pt x="103974" y="48259"/>
                  </a:lnTo>
                  <a:lnTo>
                    <a:pt x="104495" y="48259"/>
                  </a:lnTo>
                  <a:lnTo>
                    <a:pt x="99133" y="52069"/>
                  </a:lnTo>
                  <a:lnTo>
                    <a:pt x="97853" y="52069"/>
                  </a:lnTo>
                  <a:lnTo>
                    <a:pt x="90932" y="57149"/>
                  </a:lnTo>
                  <a:lnTo>
                    <a:pt x="91414" y="57149"/>
                  </a:lnTo>
                  <a:lnTo>
                    <a:pt x="84759" y="62229"/>
                  </a:lnTo>
                  <a:lnTo>
                    <a:pt x="85217" y="62229"/>
                  </a:lnTo>
                  <a:lnTo>
                    <a:pt x="78816" y="67309"/>
                  </a:lnTo>
                  <a:lnTo>
                    <a:pt x="79273" y="67309"/>
                  </a:lnTo>
                  <a:lnTo>
                    <a:pt x="73139" y="72389"/>
                  </a:lnTo>
                  <a:lnTo>
                    <a:pt x="73571" y="72389"/>
                  </a:lnTo>
                  <a:lnTo>
                    <a:pt x="67729" y="78739"/>
                  </a:lnTo>
                  <a:lnTo>
                    <a:pt x="68135" y="78739"/>
                  </a:lnTo>
                  <a:lnTo>
                    <a:pt x="63695" y="83819"/>
                  </a:lnTo>
                  <a:lnTo>
                    <a:pt x="62979" y="83819"/>
                  </a:lnTo>
                  <a:lnTo>
                    <a:pt x="57734" y="90169"/>
                  </a:lnTo>
                  <a:close/>
                </a:path>
                <a:path w="2366645" h="1083310">
                  <a:moveTo>
                    <a:pt x="2218575" y="30479"/>
                  </a:moveTo>
                  <a:lnTo>
                    <a:pt x="2209440" y="27761"/>
                  </a:lnTo>
                  <a:lnTo>
                    <a:pt x="2201976" y="26669"/>
                  </a:lnTo>
                  <a:lnTo>
                    <a:pt x="2275674" y="26669"/>
                  </a:lnTo>
                  <a:lnTo>
                    <a:pt x="2279256" y="29209"/>
                  </a:lnTo>
                  <a:lnTo>
                    <a:pt x="2217966" y="29209"/>
                  </a:lnTo>
                  <a:lnTo>
                    <a:pt x="2218575" y="30479"/>
                  </a:lnTo>
                  <a:close/>
                </a:path>
                <a:path w="2366645" h="1083310">
                  <a:moveTo>
                    <a:pt x="147904" y="30479"/>
                  </a:moveTo>
                  <a:lnTo>
                    <a:pt x="148513" y="29209"/>
                  </a:lnTo>
                  <a:lnTo>
                    <a:pt x="152171" y="29209"/>
                  </a:lnTo>
                  <a:lnTo>
                    <a:pt x="147904" y="30479"/>
                  </a:lnTo>
                  <a:close/>
                </a:path>
                <a:path w="2366645" h="1083310">
                  <a:moveTo>
                    <a:pt x="2282837" y="31749"/>
                  </a:moveTo>
                  <a:lnTo>
                    <a:pt x="2226335" y="31749"/>
                  </a:lnTo>
                  <a:lnTo>
                    <a:pt x="2217966" y="29209"/>
                  </a:lnTo>
                  <a:lnTo>
                    <a:pt x="2279256" y="29209"/>
                  </a:lnTo>
                  <a:lnTo>
                    <a:pt x="2282837" y="31749"/>
                  </a:lnTo>
                  <a:close/>
                </a:path>
                <a:path w="2366645" h="1083310">
                  <a:moveTo>
                    <a:pt x="2269121" y="53339"/>
                  </a:moveTo>
                  <a:lnTo>
                    <a:pt x="2261971" y="48259"/>
                  </a:lnTo>
                  <a:lnTo>
                    <a:pt x="2262492" y="48259"/>
                  </a:lnTo>
                  <a:lnTo>
                    <a:pt x="2255100" y="44449"/>
                  </a:lnTo>
                  <a:lnTo>
                    <a:pt x="2255647" y="44449"/>
                  </a:lnTo>
                  <a:lnTo>
                    <a:pt x="2248039" y="40639"/>
                  </a:lnTo>
                  <a:lnTo>
                    <a:pt x="2248598" y="40639"/>
                  </a:lnTo>
                  <a:lnTo>
                    <a:pt x="2240775" y="38099"/>
                  </a:lnTo>
                  <a:lnTo>
                    <a:pt x="2241359" y="38099"/>
                  </a:lnTo>
                  <a:lnTo>
                    <a:pt x="2233345" y="34289"/>
                  </a:lnTo>
                  <a:lnTo>
                    <a:pt x="2233930" y="34289"/>
                  </a:lnTo>
                  <a:lnTo>
                    <a:pt x="2225725" y="31749"/>
                  </a:lnTo>
                  <a:lnTo>
                    <a:pt x="2283345" y="31749"/>
                  </a:lnTo>
                  <a:lnTo>
                    <a:pt x="2290749" y="36829"/>
                  </a:lnTo>
                  <a:lnTo>
                    <a:pt x="2297417" y="41909"/>
                  </a:lnTo>
                  <a:lnTo>
                    <a:pt x="2304732" y="48259"/>
                  </a:lnTo>
                  <a:lnTo>
                    <a:pt x="2308405" y="52069"/>
                  </a:lnTo>
                  <a:lnTo>
                    <a:pt x="2268626" y="52069"/>
                  </a:lnTo>
                  <a:lnTo>
                    <a:pt x="2269121" y="53339"/>
                  </a:lnTo>
                  <a:close/>
                </a:path>
                <a:path w="2366645" h="1083310">
                  <a:moveTo>
                    <a:pt x="97345" y="53339"/>
                  </a:moveTo>
                  <a:lnTo>
                    <a:pt x="97853" y="52069"/>
                  </a:lnTo>
                  <a:lnTo>
                    <a:pt x="99133" y="52069"/>
                  </a:lnTo>
                  <a:lnTo>
                    <a:pt x="97345" y="53339"/>
                  </a:lnTo>
                  <a:close/>
                </a:path>
                <a:path w="2366645" h="1083310">
                  <a:moveTo>
                    <a:pt x="2303881" y="85089"/>
                  </a:moveTo>
                  <a:lnTo>
                    <a:pt x="2298331" y="78739"/>
                  </a:lnTo>
                  <a:lnTo>
                    <a:pt x="2298738" y="78739"/>
                  </a:lnTo>
                  <a:lnTo>
                    <a:pt x="2292896" y="72389"/>
                  </a:lnTo>
                  <a:lnTo>
                    <a:pt x="2293327" y="72389"/>
                  </a:lnTo>
                  <a:lnTo>
                    <a:pt x="2287206" y="67309"/>
                  </a:lnTo>
                  <a:lnTo>
                    <a:pt x="2287651" y="67309"/>
                  </a:lnTo>
                  <a:lnTo>
                    <a:pt x="2281250" y="62229"/>
                  </a:lnTo>
                  <a:lnTo>
                    <a:pt x="2281720" y="62229"/>
                  </a:lnTo>
                  <a:lnTo>
                    <a:pt x="2275052" y="57149"/>
                  </a:lnTo>
                  <a:lnTo>
                    <a:pt x="2275535" y="57149"/>
                  </a:lnTo>
                  <a:lnTo>
                    <a:pt x="2268626" y="52069"/>
                  </a:lnTo>
                  <a:lnTo>
                    <a:pt x="2308405" y="52069"/>
                  </a:lnTo>
                  <a:lnTo>
                    <a:pt x="2310853" y="54609"/>
                  </a:lnTo>
                  <a:lnTo>
                    <a:pt x="2311285" y="54609"/>
                  </a:lnTo>
                  <a:lnTo>
                    <a:pt x="2317534" y="60959"/>
                  </a:lnTo>
                  <a:lnTo>
                    <a:pt x="2323084" y="68579"/>
                  </a:lnTo>
                  <a:lnTo>
                    <a:pt x="2328710" y="74929"/>
                  </a:lnTo>
                  <a:lnTo>
                    <a:pt x="2334336" y="82549"/>
                  </a:lnTo>
                  <a:lnTo>
                    <a:pt x="2335153" y="83819"/>
                  </a:lnTo>
                  <a:lnTo>
                    <a:pt x="2303500" y="83819"/>
                  </a:lnTo>
                  <a:lnTo>
                    <a:pt x="2303881" y="85089"/>
                  </a:lnTo>
                  <a:close/>
                </a:path>
                <a:path w="2366645" h="1083310">
                  <a:moveTo>
                    <a:pt x="62585" y="85089"/>
                  </a:moveTo>
                  <a:lnTo>
                    <a:pt x="62979" y="83819"/>
                  </a:lnTo>
                  <a:lnTo>
                    <a:pt x="63695" y="83819"/>
                  </a:lnTo>
                  <a:lnTo>
                    <a:pt x="62585" y="85089"/>
                  </a:lnTo>
                  <a:close/>
                </a:path>
                <a:path w="2366645" h="1083310">
                  <a:moveTo>
                    <a:pt x="2313292" y="97789"/>
                  </a:moveTo>
                  <a:lnTo>
                    <a:pt x="2308364" y="90169"/>
                  </a:lnTo>
                  <a:lnTo>
                    <a:pt x="2308733" y="90169"/>
                  </a:lnTo>
                  <a:lnTo>
                    <a:pt x="2303500" y="83819"/>
                  </a:lnTo>
                  <a:lnTo>
                    <a:pt x="2335153" y="83819"/>
                  </a:lnTo>
                  <a:lnTo>
                    <a:pt x="2339238" y="90169"/>
                  </a:lnTo>
                  <a:lnTo>
                    <a:pt x="2342485" y="96519"/>
                  </a:lnTo>
                  <a:lnTo>
                    <a:pt x="2312949" y="96519"/>
                  </a:lnTo>
                  <a:lnTo>
                    <a:pt x="2313292" y="97789"/>
                  </a:lnTo>
                  <a:close/>
                </a:path>
                <a:path w="2366645" h="1083310">
                  <a:moveTo>
                    <a:pt x="2251240" y="1068069"/>
                  </a:moveTo>
                  <a:lnTo>
                    <a:pt x="115227" y="1068069"/>
                  </a:lnTo>
                  <a:lnTo>
                    <a:pt x="106857" y="1064259"/>
                  </a:lnTo>
                  <a:lnTo>
                    <a:pt x="98704" y="1060449"/>
                  </a:lnTo>
                  <a:lnTo>
                    <a:pt x="91313" y="1056639"/>
                  </a:lnTo>
                  <a:lnTo>
                    <a:pt x="90792" y="1055369"/>
                  </a:lnTo>
                  <a:lnTo>
                    <a:pt x="83629" y="1051559"/>
                  </a:lnTo>
                  <a:lnTo>
                    <a:pt x="76212" y="1046479"/>
                  </a:lnTo>
                  <a:lnTo>
                    <a:pt x="69062" y="1040129"/>
                  </a:lnTo>
                  <a:lnTo>
                    <a:pt x="61734" y="1033779"/>
                  </a:lnTo>
                  <a:lnTo>
                    <a:pt x="55613" y="1028699"/>
                  </a:lnTo>
                  <a:lnTo>
                    <a:pt x="55181" y="1027429"/>
                  </a:lnTo>
                  <a:lnTo>
                    <a:pt x="48933" y="1021079"/>
                  </a:lnTo>
                  <a:lnTo>
                    <a:pt x="43002" y="1014729"/>
                  </a:lnTo>
                  <a:lnTo>
                    <a:pt x="37401" y="1007109"/>
                  </a:lnTo>
                  <a:lnTo>
                    <a:pt x="32143" y="999489"/>
                  </a:lnTo>
                  <a:lnTo>
                    <a:pt x="27546" y="993139"/>
                  </a:lnTo>
                  <a:lnTo>
                    <a:pt x="27228" y="991869"/>
                  </a:lnTo>
                  <a:lnTo>
                    <a:pt x="22987" y="984249"/>
                  </a:lnTo>
                  <a:lnTo>
                    <a:pt x="18796" y="976629"/>
                  </a:lnTo>
                  <a:lnTo>
                    <a:pt x="3784" y="932179"/>
                  </a:lnTo>
                  <a:lnTo>
                    <a:pt x="952" y="913129"/>
                  </a:lnTo>
                  <a:lnTo>
                    <a:pt x="228" y="904239"/>
                  </a:lnTo>
                  <a:lnTo>
                    <a:pt x="0" y="894079"/>
                  </a:lnTo>
                  <a:lnTo>
                    <a:pt x="0" y="187959"/>
                  </a:lnTo>
                  <a:lnTo>
                    <a:pt x="195" y="180339"/>
                  </a:lnTo>
                  <a:lnTo>
                    <a:pt x="228" y="179069"/>
                  </a:lnTo>
                  <a:lnTo>
                    <a:pt x="1016" y="168909"/>
                  </a:lnTo>
                  <a:lnTo>
                    <a:pt x="2133" y="160019"/>
                  </a:lnTo>
                  <a:lnTo>
                    <a:pt x="3784" y="151129"/>
                  </a:lnTo>
                  <a:lnTo>
                    <a:pt x="3911" y="149859"/>
                  </a:lnTo>
                  <a:lnTo>
                    <a:pt x="18796" y="106679"/>
                  </a:lnTo>
                  <a:lnTo>
                    <a:pt x="27228" y="90169"/>
                  </a:lnTo>
                  <a:lnTo>
                    <a:pt x="58102" y="90169"/>
                  </a:lnTo>
                  <a:lnTo>
                    <a:pt x="54006" y="96519"/>
                  </a:lnTo>
                  <a:lnTo>
                    <a:pt x="53517" y="96519"/>
                  </a:lnTo>
                  <a:lnTo>
                    <a:pt x="49697" y="102869"/>
                  </a:lnTo>
                  <a:lnTo>
                    <a:pt x="49250" y="102869"/>
                  </a:lnTo>
                  <a:lnTo>
                    <a:pt x="45008" y="110489"/>
                  </a:lnTo>
                  <a:lnTo>
                    <a:pt x="45300" y="110489"/>
                  </a:lnTo>
                  <a:lnTo>
                    <a:pt x="42051" y="116839"/>
                  </a:lnTo>
                  <a:lnTo>
                    <a:pt x="41668" y="116839"/>
                  </a:lnTo>
                  <a:lnTo>
                    <a:pt x="38138" y="124459"/>
                  </a:lnTo>
                  <a:lnTo>
                    <a:pt x="38379" y="124459"/>
                  </a:lnTo>
                  <a:lnTo>
                    <a:pt x="35217" y="132079"/>
                  </a:lnTo>
                  <a:lnTo>
                    <a:pt x="35433" y="132079"/>
                  </a:lnTo>
                  <a:lnTo>
                    <a:pt x="32664" y="139699"/>
                  </a:lnTo>
                  <a:lnTo>
                    <a:pt x="32854" y="139699"/>
                  </a:lnTo>
                  <a:lnTo>
                    <a:pt x="30467" y="147319"/>
                  </a:lnTo>
                  <a:lnTo>
                    <a:pt x="30632" y="147319"/>
                  </a:lnTo>
                  <a:lnTo>
                    <a:pt x="28945" y="154939"/>
                  </a:lnTo>
                  <a:lnTo>
                    <a:pt x="28790" y="154939"/>
                  </a:lnTo>
                  <a:lnTo>
                    <a:pt x="27330" y="163829"/>
                  </a:lnTo>
                  <a:lnTo>
                    <a:pt x="25400" y="894079"/>
                  </a:lnTo>
                  <a:lnTo>
                    <a:pt x="25590" y="902969"/>
                  </a:lnTo>
                  <a:lnTo>
                    <a:pt x="26109" y="909696"/>
                  </a:lnTo>
                  <a:lnTo>
                    <a:pt x="26178" y="910591"/>
                  </a:lnTo>
                  <a:lnTo>
                    <a:pt x="26358" y="911849"/>
                  </a:lnTo>
                  <a:lnTo>
                    <a:pt x="27241" y="919479"/>
                  </a:lnTo>
                  <a:lnTo>
                    <a:pt x="28786" y="927076"/>
                  </a:lnTo>
                  <a:lnTo>
                    <a:pt x="28658" y="927076"/>
                  </a:lnTo>
                  <a:lnTo>
                    <a:pt x="29727" y="931902"/>
                  </a:lnTo>
                  <a:lnTo>
                    <a:pt x="30473" y="934744"/>
                  </a:lnTo>
                  <a:lnTo>
                    <a:pt x="30522" y="935494"/>
                  </a:lnTo>
                  <a:lnTo>
                    <a:pt x="30632" y="935989"/>
                  </a:lnTo>
                  <a:lnTo>
                    <a:pt x="30808" y="935989"/>
                  </a:lnTo>
                  <a:lnTo>
                    <a:pt x="32854" y="943609"/>
                  </a:lnTo>
                  <a:lnTo>
                    <a:pt x="33059" y="943609"/>
                  </a:lnTo>
                  <a:lnTo>
                    <a:pt x="35433" y="951229"/>
                  </a:lnTo>
                  <a:lnTo>
                    <a:pt x="35668" y="951229"/>
                  </a:lnTo>
                  <a:lnTo>
                    <a:pt x="38379" y="958849"/>
                  </a:lnTo>
                  <a:lnTo>
                    <a:pt x="38726" y="958849"/>
                  </a:lnTo>
                  <a:lnTo>
                    <a:pt x="41668" y="965199"/>
                  </a:lnTo>
                  <a:lnTo>
                    <a:pt x="41402" y="965199"/>
                  </a:lnTo>
                  <a:lnTo>
                    <a:pt x="45300" y="972819"/>
                  </a:lnTo>
                  <a:lnTo>
                    <a:pt x="45715" y="972819"/>
                  </a:lnTo>
                  <a:lnTo>
                    <a:pt x="49250" y="979169"/>
                  </a:lnTo>
                  <a:lnTo>
                    <a:pt x="48933" y="979169"/>
                  </a:lnTo>
                  <a:lnTo>
                    <a:pt x="53517" y="985519"/>
                  </a:lnTo>
                  <a:lnTo>
                    <a:pt x="53187" y="985519"/>
                  </a:lnTo>
                  <a:lnTo>
                    <a:pt x="58102" y="991869"/>
                  </a:lnTo>
                  <a:lnTo>
                    <a:pt x="57734" y="991869"/>
                  </a:lnTo>
                  <a:lnTo>
                    <a:pt x="62979" y="998219"/>
                  </a:lnTo>
                  <a:lnTo>
                    <a:pt x="62585" y="998219"/>
                  </a:lnTo>
                  <a:lnTo>
                    <a:pt x="68135" y="1004569"/>
                  </a:lnTo>
                  <a:lnTo>
                    <a:pt x="67729" y="1004569"/>
                  </a:lnTo>
                  <a:lnTo>
                    <a:pt x="73571" y="1009649"/>
                  </a:lnTo>
                  <a:lnTo>
                    <a:pt x="73139" y="1009649"/>
                  </a:lnTo>
                  <a:lnTo>
                    <a:pt x="79273" y="1015999"/>
                  </a:lnTo>
                  <a:lnTo>
                    <a:pt x="80096" y="1015999"/>
                  </a:lnTo>
                  <a:lnTo>
                    <a:pt x="85217" y="1021079"/>
                  </a:lnTo>
                  <a:lnTo>
                    <a:pt x="86090" y="1021079"/>
                  </a:lnTo>
                  <a:lnTo>
                    <a:pt x="91414" y="1026159"/>
                  </a:lnTo>
                  <a:lnTo>
                    <a:pt x="92662" y="1026159"/>
                  </a:lnTo>
                  <a:lnTo>
                    <a:pt x="97853" y="1029969"/>
                  </a:lnTo>
                  <a:lnTo>
                    <a:pt x="97345" y="1029969"/>
                  </a:lnTo>
                  <a:lnTo>
                    <a:pt x="104495" y="1035049"/>
                  </a:lnTo>
                  <a:lnTo>
                    <a:pt x="105822" y="1035049"/>
                  </a:lnTo>
                  <a:lnTo>
                    <a:pt x="111366" y="1038859"/>
                  </a:lnTo>
                  <a:lnTo>
                    <a:pt x="113355" y="1038859"/>
                  </a:lnTo>
                  <a:lnTo>
                    <a:pt x="118427" y="1041399"/>
                  </a:lnTo>
                  <a:lnTo>
                    <a:pt x="117881" y="1041399"/>
                  </a:lnTo>
                  <a:lnTo>
                    <a:pt x="125691" y="1045209"/>
                  </a:lnTo>
                  <a:lnTo>
                    <a:pt x="125120" y="1045209"/>
                  </a:lnTo>
                  <a:lnTo>
                    <a:pt x="133134" y="1047749"/>
                  </a:lnTo>
                  <a:lnTo>
                    <a:pt x="132537" y="1047749"/>
                  </a:lnTo>
                  <a:lnTo>
                    <a:pt x="140741" y="1050289"/>
                  </a:lnTo>
                  <a:lnTo>
                    <a:pt x="140144" y="1050289"/>
                  </a:lnTo>
                  <a:lnTo>
                    <a:pt x="148513" y="1052830"/>
                  </a:lnTo>
                  <a:lnTo>
                    <a:pt x="147904" y="1052830"/>
                  </a:lnTo>
                  <a:lnTo>
                    <a:pt x="155171" y="1053911"/>
                  </a:lnTo>
                  <a:lnTo>
                    <a:pt x="164503" y="1056639"/>
                  </a:lnTo>
                  <a:lnTo>
                    <a:pt x="172059" y="1056639"/>
                  </a:lnTo>
                  <a:lnTo>
                    <a:pt x="181013" y="1057909"/>
                  </a:lnTo>
                  <a:lnTo>
                    <a:pt x="2272512" y="1057909"/>
                  </a:lnTo>
                  <a:lnTo>
                    <a:pt x="2267229" y="1060449"/>
                  </a:lnTo>
                  <a:lnTo>
                    <a:pt x="2259622" y="1064259"/>
                  </a:lnTo>
                  <a:lnTo>
                    <a:pt x="2251240" y="1068069"/>
                  </a:lnTo>
                  <a:close/>
                </a:path>
                <a:path w="2366645" h="1083310">
                  <a:moveTo>
                    <a:pt x="53187" y="97789"/>
                  </a:moveTo>
                  <a:lnTo>
                    <a:pt x="53517" y="96519"/>
                  </a:lnTo>
                  <a:lnTo>
                    <a:pt x="54006" y="96519"/>
                  </a:lnTo>
                  <a:lnTo>
                    <a:pt x="53187" y="97789"/>
                  </a:lnTo>
                  <a:close/>
                </a:path>
                <a:path w="2366645" h="1083310">
                  <a:moveTo>
                    <a:pt x="2317534" y="104139"/>
                  </a:moveTo>
                  <a:lnTo>
                    <a:pt x="2312949" y="96519"/>
                  </a:lnTo>
                  <a:lnTo>
                    <a:pt x="2342485" y="96519"/>
                  </a:lnTo>
                  <a:lnTo>
                    <a:pt x="2343785" y="99059"/>
                  </a:lnTo>
                  <a:lnTo>
                    <a:pt x="2345867" y="102869"/>
                  </a:lnTo>
                  <a:lnTo>
                    <a:pt x="2317216" y="102869"/>
                  </a:lnTo>
                  <a:lnTo>
                    <a:pt x="2317534" y="104139"/>
                  </a:lnTo>
                  <a:close/>
                </a:path>
                <a:path w="2366645" h="1083310">
                  <a:moveTo>
                    <a:pt x="48933" y="104139"/>
                  </a:moveTo>
                  <a:lnTo>
                    <a:pt x="49250" y="102869"/>
                  </a:lnTo>
                  <a:lnTo>
                    <a:pt x="49697" y="102869"/>
                  </a:lnTo>
                  <a:lnTo>
                    <a:pt x="48933" y="104139"/>
                  </a:lnTo>
                  <a:close/>
                </a:path>
                <a:path w="2366645" h="1083310">
                  <a:moveTo>
                    <a:pt x="2325065" y="118109"/>
                  </a:moveTo>
                  <a:lnTo>
                    <a:pt x="2321166" y="110489"/>
                  </a:lnTo>
                  <a:lnTo>
                    <a:pt x="2321471" y="110489"/>
                  </a:lnTo>
                  <a:lnTo>
                    <a:pt x="2317216" y="102869"/>
                  </a:lnTo>
                  <a:lnTo>
                    <a:pt x="2345867" y="102869"/>
                  </a:lnTo>
                  <a:lnTo>
                    <a:pt x="2347950" y="106679"/>
                  </a:lnTo>
                  <a:lnTo>
                    <a:pt x="2351481" y="114299"/>
                  </a:lnTo>
                  <a:lnTo>
                    <a:pt x="2351722" y="115569"/>
                  </a:lnTo>
                  <a:lnTo>
                    <a:pt x="2352285" y="116839"/>
                  </a:lnTo>
                  <a:lnTo>
                    <a:pt x="2324798" y="116839"/>
                  </a:lnTo>
                  <a:lnTo>
                    <a:pt x="2325065" y="118109"/>
                  </a:lnTo>
                  <a:close/>
                </a:path>
                <a:path w="2366645" h="1083310">
                  <a:moveTo>
                    <a:pt x="41402" y="118109"/>
                  </a:moveTo>
                  <a:lnTo>
                    <a:pt x="41668" y="116839"/>
                  </a:lnTo>
                  <a:lnTo>
                    <a:pt x="42051" y="116839"/>
                  </a:lnTo>
                  <a:lnTo>
                    <a:pt x="41402" y="118109"/>
                  </a:lnTo>
                  <a:close/>
                </a:path>
                <a:path w="2366645" h="1083310">
                  <a:moveTo>
                    <a:pt x="2361760" y="935989"/>
                  </a:moveTo>
                  <a:lnTo>
                    <a:pt x="2335847" y="935989"/>
                  </a:lnTo>
                  <a:lnTo>
                    <a:pt x="2336921" y="931140"/>
                  </a:lnTo>
                  <a:lnTo>
                    <a:pt x="2339136" y="919479"/>
                  </a:lnTo>
                  <a:lnTo>
                    <a:pt x="2341067" y="894079"/>
                  </a:lnTo>
                  <a:lnTo>
                    <a:pt x="2341050" y="187959"/>
                  </a:lnTo>
                  <a:lnTo>
                    <a:pt x="2340876" y="180339"/>
                  </a:lnTo>
                  <a:lnTo>
                    <a:pt x="2340267" y="171449"/>
                  </a:lnTo>
                  <a:lnTo>
                    <a:pt x="2339238" y="163829"/>
                  </a:lnTo>
                  <a:lnTo>
                    <a:pt x="2337689" y="154939"/>
                  </a:lnTo>
                  <a:lnTo>
                    <a:pt x="2337534" y="154939"/>
                  </a:lnTo>
                  <a:lnTo>
                    <a:pt x="2335847" y="147319"/>
                  </a:lnTo>
                  <a:lnTo>
                    <a:pt x="2335999" y="147319"/>
                  </a:lnTo>
                  <a:lnTo>
                    <a:pt x="2333625" y="139699"/>
                  </a:lnTo>
                  <a:lnTo>
                    <a:pt x="2333802" y="139699"/>
                  </a:lnTo>
                  <a:lnTo>
                    <a:pt x="2331034" y="132079"/>
                  </a:lnTo>
                  <a:lnTo>
                    <a:pt x="2331250" y="132079"/>
                  </a:lnTo>
                  <a:lnTo>
                    <a:pt x="2328087" y="124459"/>
                  </a:lnTo>
                  <a:lnTo>
                    <a:pt x="2328329" y="124459"/>
                  </a:lnTo>
                  <a:lnTo>
                    <a:pt x="2324798" y="116839"/>
                  </a:lnTo>
                  <a:lnTo>
                    <a:pt x="2352285" y="116839"/>
                  </a:lnTo>
                  <a:lnTo>
                    <a:pt x="2362682" y="151129"/>
                  </a:lnTo>
                  <a:lnTo>
                    <a:pt x="2363352" y="154939"/>
                  </a:lnTo>
                  <a:lnTo>
                    <a:pt x="2337689" y="154939"/>
                  </a:lnTo>
                  <a:lnTo>
                    <a:pt x="2337907" y="156194"/>
                  </a:lnTo>
                  <a:lnTo>
                    <a:pt x="2363572" y="156194"/>
                  </a:lnTo>
                  <a:lnTo>
                    <a:pt x="2364244" y="160019"/>
                  </a:lnTo>
                  <a:lnTo>
                    <a:pt x="2365527" y="168909"/>
                  </a:lnTo>
                  <a:lnTo>
                    <a:pt x="2366238" y="179069"/>
                  </a:lnTo>
                  <a:lnTo>
                    <a:pt x="2366467" y="187959"/>
                  </a:lnTo>
                  <a:lnTo>
                    <a:pt x="2366467" y="894079"/>
                  </a:lnTo>
                  <a:lnTo>
                    <a:pt x="2365629" y="911849"/>
                  </a:lnTo>
                  <a:lnTo>
                    <a:pt x="2365527" y="913129"/>
                  </a:lnTo>
                  <a:lnTo>
                    <a:pt x="2365463" y="914399"/>
                  </a:lnTo>
                  <a:lnTo>
                    <a:pt x="2364244" y="923289"/>
                  </a:lnTo>
                  <a:lnTo>
                    <a:pt x="2362731" y="931902"/>
                  </a:lnTo>
                  <a:lnTo>
                    <a:pt x="2362682" y="932179"/>
                  </a:lnTo>
                  <a:lnTo>
                    <a:pt x="2362555" y="932179"/>
                  </a:lnTo>
                  <a:lnTo>
                    <a:pt x="2361863" y="935494"/>
                  </a:lnTo>
                  <a:lnTo>
                    <a:pt x="2361760" y="935989"/>
                  </a:lnTo>
                  <a:close/>
                </a:path>
                <a:path w="2366645" h="1083310">
                  <a:moveTo>
                    <a:pt x="28667" y="156194"/>
                  </a:moveTo>
                  <a:lnTo>
                    <a:pt x="28790" y="154939"/>
                  </a:lnTo>
                  <a:lnTo>
                    <a:pt x="28945" y="154939"/>
                  </a:lnTo>
                  <a:lnTo>
                    <a:pt x="28667" y="156194"/>
                  </a:lnTo>
                  <a:close/>
                </a:path>
                <a:path w="2366645" h="1083310">
                  <a:moveTo>
                    <a:pt x="2360038" y="943609"/>
                  </a:moveTo>
                  <a:lnTo>
                    <a:pt x="2333625" y="943609"/>
                  </a:lnTo>
                  <a:lnTo>
                    <a:pt x="2336678" y="932179"/>
                  </a:lnTo>
                  <a:lnTo>
                    <a:pt x="2335957" y="935494"/>
                  </a:lnTo>
                  <a:lnTo>
                    <a:pt x="2335847" y="935989"/>
                  </a:lnTo>
                  <a:lnTo>
                    <a:pt x="2361760" y="935989"/>
                  </a:lnTo>
                  <a:lnTo>
                    <a:pt x="2360434" y="942339"/>
                  </a:lnTo>
                  <a:lnTo>
                    <a:pt x="2360038" y="943609"/>
                  </a:lnTo>
                  <a:close/>
                </a:path>
                <a:path w="2366645" h="1083310">
                  <a:moveTo>
                    <a:pt x="30808" y="935989"/>
                  </a:moveTo>
                  <a:lnTo>
                    <a:pt x="30632" y="935989"/>
                  </a:lnTo>
                  <a:lnTo>
                    <a:pt x="30568" y="935494"/>
                  </a:lnTo>
                  <a:lnTo>
                    <a:pt x="30808" y="935989"/>
                  </a:lnTo>
                  <a:close/>
                </a:path>
                <a:path w="2366645" h="1083310">
                  <a:moveTo>
                    <a:pt x="33059" y="943609"/>
                  </a:moveTo>
                  <a:lnTo>
                    <a:pt x="32854" y="943609"/>
                  </a:lnTo>
                  <a:lnTo>
                    <a:pt x="32664" y="942339"/>
                  </a:lnTo>
                  <a:lnTo>
                    <a:pt x="33059" y="943609"/>
                  </a:lnTo>
                  <a:close/>
                </a:path>
                <a:path w="2366645" h="1083310">
                  <a:moveTo>
                    <a:pt x="2357637" y="951229"/>
                  </a:moveTo>
                  <a:lnTo>
                    <a:pt x="2331034" y="951229"/>
                  </a:lnTo>
                  <a:lnTo>
                    <a:pt x="2333802" y="942339"/>
                  </a:lnTo>
                  <a:lnTo>
                    <a:pt x="2333625" y="943609"/>
                  </a:lnTo>
                  <a:lnTo>
                    <a:pt x="2360038" y="943609"/>
                  </a:lnTo>
                  <a:lnTo>
                    <a:pt x="2358059" y="949959"/>
                  </a:lnTo>
                  <a:lnTo>
                    <a:pt x="2357637" y="951229"/>
                  </a:lnTo>
                  <a:close/>
                </a:path>
                <a:path w="2366645" h="1083310">
                  <a:moveTo>
                    <a:pt x="35668" y="951229"/>
                  </a:moveTo>
                  <a:lnTo>
                    <a:pt x="35433" y="951229"/>
                  </a:lnTo>
                  <a:lnTo>
                    <a:pt x="35217" y="949959"/>
                  </a:lnTo>
                  <a:lnTo>
                    <a:pt x="35668" y="951229"/>
                  </a:lnTo>
                  <a:close/>
                </a:path>
                <a:path w="2366645" h="1083310">
                  <a:moveTo>
                    <a:pt x="2355100" y="958849"/>
                  </a:moveTo>
                  <a:lnTo>
                    <a:pt x="2328087" y="958849"/>
                  </a:lnTo>
                  <a:lnTo>
                    <a:pt x="2331250" y="949959"/>
                  </a:lnTo>
                  <a:lnTo>
                    <a:pt x="2331034" y="951229"/>
                  </a:lnTo>
                  <a:lnTo>
                    <a:pt x="2357637" y="951229"/>
                  </a:lnTo>
                  <a:lnTo>
                    <a:pt x="2355100" y="958849"/>
                  </a:lnTo>
                  <a:close/>
                </a:path>
                <a:path w="2366645" h="1083310">
                  <a:moveTo>
                    <a:pt x="38726" y="958849"/>
                  </a:moveTo>
                  <a:lnTo>
                    <a:pt x="38379" y="958849"/>
                  </a:lnTo>
                  <a:lnTo>
                    <a:pt x="38138" y="957579"/>
                  </a:lnTo>
                  <a:lnTo>
                    <a:pt x="38726" y="958849"/>
                  </a:lnTo>
                  <a:close/>
                </a:path>
                <a:path w="2366645" h="1083310">
                  <a:moveTo>
                    <a:pt x="2349127" y="972819"/>
                  </a:moveTo>
                  <a:lnTo>
                    <a:pt x="2321166" y="972819"/>
                  </a:lnTo>
                  <a:lnTo>
                    <a:pt x="2325065" y="965199"/>
                  </a:lnTo>
                  <a:lnTo>
                    <a:pt x="2324798" y="965199"/>
                  </a:lnTo>
                  <a:lnTo>
                    <a:pt x="2328329" y="957579"/>
                  </a:lnTo>
                  <a:lnTo>
                    <a:pt x="2328087" y="958849"/>
                  </a:lnTo>
                  <a:lnTo>
                    <a:pt x="2355100" y="958849"/>
                  </a:lnTo>
                  <a:lnTo>
                    <a:pt x="2351722" y="967739"/>
                  </a:lnTo>
                  <a:lnTo>
                    <a:pt x="2351481" y="967739"/>
                  </a:lnTo>
                  <a:lnTo>
                    <a:pt x="2349127" y="972819"/>
                  </a:lnTo>
                  <a:close/>
                </a:path>
                <a:path w="2366645" h="1083310">
                  <a:moveTo>
                    <a:pt x="45715" y="972819"/>
                  </a:moveTo>
                  <a:lnTo>
                    <a:pt x="45300" y="972819"/>
                  </a:lnTo>
                  <a:lnTo>
                    <a:pt x="45008" y="971549"/>
                  </a:lnTo>
                  <a:lnTo>
                    <a:pt x="45715" y="972819"/>
                  </a:lnTo>
                  <a:close/>
                </a:path>
                <a:path w="2366645" h="1083310">
                  <a:moveTo>
                    <a:pt x="2321974" y="1015999"/>
                  </a:moveTo>
                  <a:lnTo>
                    <a:pt x="2287206" y="1015999"/>
                  </a:lnTo>
                  <a:lnTo>
                    <a:pt x="2293327" y="1009649"/>
                  </a:lnTo>
                  <a:lnTo>
                    <a:pt x="2292896" y="1009649"/>
                  </a:lnTo>
                  <a:lnTo>
                    <a:pt x="2298738" y="1004569"/>
                  </a:lnTo>
                  <a:lnTo>
                    <a:pt x="2298331" y="1004569"/>
                  </a:lnTo>
                  <a:lnTo>
                    <a:pt x="2303881" y="998219"/>
                  </a:lnTo>
                  <a:lnTo>
                    <a:pt x="2303500" y="998219"/>
                  </a:lnTo>
                  <a:lnTo>
                    <a:pt x="2308733" y="991869"/>
                  </a:lnTo>
                  <a:lnTo>
                    <a:pt x="2308364" y="991869"/>
                  </a:lnTo>
                  <a:lnTo>
                    <a:pt x="2313292" y="985519"/>
                  </a:lnTo>
                  <a:lnTo>
                    <a:pt x="2312949" y="985519"/>
                  </a:lnTo>
                  <a:lnTo>
                    <a:pt x="2317534" y="979169"/>
                  </a:lnTo>
                  <a:lnTo>
                    <a:pt x="2317216" y="979169"/>
                  </a:lnTo>
                  <a:lnTo>
                    <a:pt x="2321471" y="971549"/>
                  </a:lnTo>
                  <a:lnTo>
                    <a:pt x="2321166" y="972819"/>
                  </a:lnTo>
                  <a:lnTo>
                    <a:pt x="2349127" y="972819"/>
                  </a:lnTo>
                  <a:lnTo>
                    <a:pt x="2343785" y="984249"/>
                  </a:lnTo>
                  <a:lnTo>
                    <a:pt x="2339238" y="991869"/>
                  </a:lnTo>
                  <a:lnTo>
                    <a:pt x="2334336" y="999489"/>
                  </a:lnTo>
                  <a:lnTo>
                    <a:pt x="2323084" y="1014729"/>
                  </a:lnTo>
                  <a:lnTo>
                    <a:pt x="2321974" y="1015999"/>
                  </a:lnTo>
                  <a:close/>
                </a:path>
                <a:path w="2366645" h="1083310">
                  <a:moveTo>
                    <a:pt x="80096" y="1015999"/>
                  </a:moveTo>
                  <a:lnTo>
                    <a:pt x="79273" y="1015999"/>
                  </a:lnTo>
                  <a:lnTo>
                    <a:pt x="78816" y="1014729"/>
                  </a:lnTo>
                  <a:lnTo>
                    <a:pt x="80096" y="1015999"/>
                  </a:lnTo>
                  <a:close/>
                </a:path>
                <a:path w="2366645" h="1083310">
                  <a:moveTo>
                    <a:pt x="2317534" y="1021079"/>
                  </a:moveTo>
                  <a:lnTo>
                    <a:pt x="2281250" y="1021079"/>
                  </a:lnTo>
                  <a:lnTo>
                    <a:pt x="2287651" y="1014729"/>
                  </a:lnTo>
                  <a:lnTo>
                    <a:pt x="2287206" y="1015999"/>
                  </a:lnTo>
                  <a:lnTo>
                    <a:pt x="2321974" y="1015999"/>
                  </a:lnTo>
                  <a:lnTo>
                    <a:pt x="2317534" y="1021079"/>
                  </a:lnTo>
                  <a:close/>
                </a:path>
                <a:path w="2366645" h="1083310">
                  <a:moveTo>
                    <a:pt x="86090" y="1021079"/>
                  </a:moveTo>
                  <a:lnTo>
                    <a:pt x="85217" y="1021079"/>
                  </a:lnTo>
                  <a:lnTo>
                    <a:pt x="84759" y="1019809"/>
                  </a:lnTo>
                  <a:lnTo>
                    <a:pt x="86090" y="1021079"/>
                  </a:lnTo>
                  <a:close/>
                </a:path>
                <a:path w="2366645" h="1083310">
                  <a:moveTo>
                    <a:pt x="2312535" y="1026159"/>
                  </a:moveTo>
                  <a:lnTo>
                    <a:pt x="2275052" y="1026159"/>
                  </a:lnTo>
                  <a:lnTo>
                    <a:pt x="2281720" y="1019809"/>
                  </a:lnTo>
                  <a:lnTo>
                    <a:pt x="2281250" y="1021079"/>
                  </a:lnTo>
                  <a:lnTo>
                    <a:pt x="2317534" y="1021079"/>
                  </a:lnTo>
                  <a:lnTo>
                    <a:pt x="2312535" y="1026159"/>
                  </a:lnTo>
                  <a:close/>
                </a:path>
                <a:path w="2366645" h="1083310">
                  <a:moveTo>
                    <a:pt x="92662" y="1026159"/>
                  </a:moveTo>
                  <a:lnTo>
                    <a:pt x="91414" y="1026159"/>
                  </a:lnTo>
                  <a:lnTo>
                    <a:pt x="90932" y="1024889"/>
                  </a:lnTo>
                  <a:lnTo>
                    <a:pt x="92662" y="1026159"/>
                  </a:lnTo>
                  <a:close/>
                </a:path>
                <a:path w="2366645" h="1083310">
                  <a:moveTo>
                    <a:pt x="2303269" y="1035049"/>
                  </a:moveTo>
                  <a:lnTo>
                    <a:pt x="2261971" y="1035049"/>
                  </a:lnTo>
                  <a:lnTo>
                    <a:pt x="2269121" y="1029969"/>
                  </a:lnTo>
                  <a:lnTo>
                    <a:pt x="2268626" y="1029969"/>
                  </a:lnTo>
                  <a:lnTo>
                    <a:pt x="2275535" y="1024889"/>
                  </a:lnTo>
                  <a:lnTo>
                    <a:pt x="2275052" y="1026159"/>
                  </a:lnTo>
                  <a:lnTo>
                    <a:pt x="2312535" y="1026159"/>
                  </a:lnTo>
                  <a:lnTo>
                    <a:pt x="2311285" y="1027429"/>
                  </a:lnTo>
                  <a:lnTo>
                    <a:pt x="2310853" y="1028699"/>
                  </a:lnTo>
                  <a:lnTo>
                    <a:pt x="2304732" y="1033779"/>
                  </a:lnTo>
                  <a:lnTo>
                    <a:pt x="2303269" y="1035049"/>
                  </a:lnTo>
                  <a:close/>
                </a:path>
                <a:path w="2366645" h="1083310">
                  <a:moveTo>
                    <a:pt x="105822" y="1035049"/>
                  </a:moveTo>
                  <a:lnTo>
                    <a:pt x="104495" y="1035049"/>
                  </a:lnTo>
                  <a:lnTo>
                    <a:pt x="103974" y="1033779"/>
                  </a:lnTo>
                  <a:lnTo>
                    <a:pt x="105822" y="1035049"/>
                  </a:lnTo>
                  <a:close/>
                </a:path>
                <a:path w="2366645" h="1083310">
                  <a:moveTo>
                    <a:pt x="2298880" y="1038859"/>
                  </a:moveTo>
                  <a:lnTo>
                    <a:pt x="2255100" y="1038859"/>
                  </a:lnTo>
                  <a:lnTo>
                    <a:pt x="2262492" y="1033779"/>
                  </a:lnTo>
                  <a:lnTo>
                    <a:pt x="2261971" y="1035049"/>
                  </a:lnTo>
                  <a:lnTo>
                    <a:pt x="2303269" y="1035049"/>
                  </a:lnTo>
                  <a:lnTo>
                    <a:pt x="2298880" y="1038859"/>
                  </a:lnTo>
                  <a:close/>
                </a:path>
                <a:path w="2366645" h="1083310">
                  <a:moveTo>
                    <a:pt x="113355" y="1038859"/>
                  </a:moveTo>
                  <a:lnTo>
                    <a:pt x="111366" y="1038859"/>
                  </a:lnTo>
                  <a:lnTo>
                    <a:pt x="110820" y="1037589"/>
                  </a:lnTo>
                  <a:lnTo>
                    <a:pt x="113355" y="1038859"/>
                  </a:lnTo>
                  <a:close/>
                </a:path>
                <a:path w="2366645" h="1083310">
                  <a:moveTo>
                    <a:pt x="2272512" y="1057909"/>
                  </a:moveTo>
                  <a:lnTo>
                    <a:pt x="2185454" y="1057909"/>
                  </a:lnTo>
                  <a:lnTo>
                    <a:pt x="2194407" y="1056639"/>
                  </a:lnTo>
                  <a:lnTo>
                    <a:pt x="2201976" y="1056639"/>
                  </a:lnTo>
                  <a:lnTo>
                    <a:pt x="2211308" y="1053911"/>
                  </a:lnTo>
                  <a:lnTo>
                    <a:pt x="2218575" y="1052830"/>
                  </a:lnTo>
                  <a:lnTo>
                    <a:pt x="2217966" y="1052830"/>
                  </a:lnTo>
                  <a:lnTo>
                    <a:pt x="2226335" y="1050289"/>
                  </a:lnTo>
                  <a:lnTo>
                    <a:pt x="2225725" y="1050289"/>
                  </a:lnTo>
                  <a:lnTo>
                    <a:pt x="2233930" y="1047749"/>
                  </a:lnTo>
                  <a:lnTo>
                    <a:pt x="2233345" y="1047749"/>
                  </a:lnTo>
                  <a:lnTo>
                    <a:pt x="2241359" y="1045209"/>
                  </a:lnTo>
                  <a:lnTo>
                    <a:pt x="2240775" y="1045209"/>
                  </a:lnTo>
                  <a:lnTo>
                    <a:pt x="2248598" y="1041399"/>
                  </a:lnTo>
                  <a:lnTo>
                    <a:pt x="2248039" y="1041399"/>
                  </a:lnTo>
                  <a:lnTo>
                    <a:pt x="2255647" y="1037589"/>
                  </a:lnTo>
                  <a:lnTo>
                    <a:pt x="2255100" y="1038859"/>
                  </a:lnTo>
                  <a:lnTo>
                    <a:pt x="2298880" y="1038859"/>
                  </a:lnTo>
                  <a:lnTo>
                    <a:pt x="2297417" y="1040129"/>
                  </a:lnTo>
                  <a:lnTo>
                    <a:pt x="2290749" y="1045209"/>
                  </a:lnTo>
                  <a:lnTo>
                    <a:pt x="2283345" y="1050289"/>
                  </a:lnTo>
                  <a:lnTo>
                    <a:pt x="2282837" y="1051559"/>
                  </a:lnTo>
                  <a:lnTo>
                    <a:pt x="2275674" y="1055369"/>
                  </a:lnTo>
                  <a:lnTo>
                    <a:pt x="2275154" y="1056639"/>
                  </a:lnTo>
                  <a:lnTo>
                    <a:pt x="2272512" y="1057909"/>
                  </a:lnTo>
                  <a:close/>
                </a:path>
                <a:path w="2366645" h="1083310">
                  <a:moveTo>
                    <a:pt x="2215743" y="1079499"/>
                  </a:moveTo>
                  <a:lnTo>
                    <a:pt x="150723" y="1079499"/>
                  </a:lnTo>
                  <a:lnTo>
                    <a:pt x="132600" y="1074419"/>
                  </a:lnTo>
                  <a:lnTo>
                    <a:pt x="124396" y="1071880"/>
                  </a:lnTo>
                  <a:lnTo>
                    <a:pt x="115798" y="1068069"/>
                  </a:lnTo>
                  <a:lnTo>
                    <a:pt x="2250668" y="1068069"/>
                  </a:lnTo>
                  <a:lnTo>
                    <a:pt x="2242070" y="1071880"/>
                  </a:lnTo>
                  <a:lnTo>
                    <a:pt x="2233866" y="1074419"/>
                  </a:lnTo>
                  <a:lnTo>
                    <a:pt x="2215743" y="1079499"/>
                  </a:lnTo>
                  <a:close/>
                </a:path>
                <a:path w="2366645" h="1083310">
                  <a:moveTo>
                    <a:pt x="2196973" y="1082039"/>
                  </a:moveTo>
                  <a:lnTo>
                    <a:pt x="169494" y="1082039"/>
                  </a:lnTo>
                  <a:lnTo>
                    <a:pt x="151345" y="1079499"/>
                  </a:lnTo>
                  <a:lnTo>
                    <a:pt x="2215121" y="1079499"/>
                  </a:lnTo>
                  <a:lnTo>
                    <a:pt x="2206434" y="1080769"/>
                  </a:lnTo>
                  <a:lnTo>
                    <a:pt x="2205799" y="1080769"/>
                  </a:lnTo>
                  <a:lnTo>
                    <a:pt x="2196973" y="1082039"/>
                  </a:lnTo>
                  <a:close/>
                </a:path>
                <a:path w="2366645" h="1083310">
                  <a:moveTo>
                    <a:pt x="2187371" y="1083309"/>
                  </a:moveTo>
                  <a:lnTo>
                    <a:pt x="179730" y="1083309"/>
                  </a:lnTo>
                  <a:lnTo>
                    <a:pt x="170129" y="1082039"/>
                  </a:lnTo>
                  <a:lnTo>
                    <a:pt x="2196338" y="1082039"/>
                  </a:lnTo>
                  <a:lnTo>
                    <a:pt x="2187371" y="1083309"/>
                  </a:lnTo>
                  <a:close/>
                </a:path>
              </a:pathLst>
            </a:custGeom>
            <a:solidFill>
              <a:srgbClr val="7E7E7E"/>
            </a:solidFill>
          </p:spPr>
          <p:txBody>
            <a:bodyPr wrap="square" lIns="0" tIns="0" rIns="0" bIns="0" rtlCol="0"/>
            <a:lstStyle/>
            <a:p>
              <a:endParaRPr/>
            </a:p>
          </p:txBody>
        </p:sp>
      </p:grpSp>
      <p:grpSp>
        <p:nvGrpSpPr>
          <p:cNvPr id="82" name="object 29">
            <a:extLst>
              <a:ext uri="{FF2B5EF4-FFF2-40B4-BE49-F238E27FC236}">
                <a16:creationId xmlns:a16="http://schemas.microsoft.com/office/drawing/2014/main" id="{7850CAA8-00D1-6235-5A76-FD753297F3D8}"/>
              </a:ext>
            </a:extLst>
          </p:cNvPr>
          <p:cNvGrpSpPr/>
          <p:nvPr/>
        </p:nvGrpSpPr>
        <p:grpSpPr>
          <a:xfrm>
            <a:off x="3417467" y="4930837"/>
            <a:ext cx="2366645" cy="1083310"/>
            <a:chOff x="825500" y="3003550"/>
            <a:chExt cx="2366645" cy="1083310"/>
          </a:xfrm>
        </p:grpSpPr>
        <p:sp>
          <p:nvSpPr>
            <p:cNvPr id="83" name="object 30">
              <a:extLst>
                <a:ext uri="{FF2B5EF4-FFF2-40B4-BE49-F238E27FC236}">
                  <a16:creationId xmlns:a16="http://schemas.microsoft.com/office/drawing/2014/main" id="{B6543D8A-AC0D-29EC-B306-055DD44C83B3}"/>
                </a:ext>
              </a:extLst>
            </p:cNvPr>
            <p:cNvSpPr/>
            <p:nvPr/>
          </p:nvSpPr>
          <p:spPr>
            <a:xfrm>
              <a:off x="838200" y="3015996"/>
              <a:ext cx="2341245" cy="1059180"/>
            </a:xfrm>
            <a:custGeom>
              <a:avLst/>
              <a:gdLst/>
              <a:ahLst/>
              <a:cxnLst/>
              <a:rect l="l" t="t" r="r" b="b"/>
              <a:pathLst>
                <a:path w="2341245" h="1059179">
                  <a:moveTo>
                    <a:pt x="2164080" y="1059180"/>
                  </a:moveTo>
                  <a:lnTo>
                    <a:pt x="176784" y="1059180"/>
                  </a:lnTo>
                  <a:lnTo>
                    <a:pt x="129734" y="1052738"/>
                  </a:lnTo>
                  <a:lnTo>
                    <a:pt x="87488" y="1034858"/>
                  </a:lnTo>
                  <a:lnTo>
                    <a:pt x="51720" y="1007211"/>
                  </a:lnTo>
                  <a:lnTo>
                    <a:pt x="24101" y="971470"/>
                  </a:lnTo>
                  <a:lnTo>
                    <a:pt x="6304" y="929308"/>
                  </a:lnTo>
                  <a:lnTo>
                    <a:pt x="0" y="882396"/>
                  </a:lnTo>
                  <a:lnTo>
                    <a:pt x="0" y="176784"/>
                  </a:lnTo>
                  <a:lnTo>
                    <a:pt x="6304" y="129839"/>
                  </a:lnTo>
                  <a:lnTo>
                    <a:pt x="24101" y="87658"/>
                  </a:lnTo>
                  <a:lnTo>
                    <a:pt x="51720" y="51911"/>
                  </a:lnTo>
                  <a:lnTo>
                    <a:pt x="87488" y="24271"/>
                  </a:lnTo>
                  <a:lnTo>
                    <a:pt x="129734" y="6409"/>
                  </a:lnTo>
                  <a:lnTo>
                    <a:pt x="176784" y="0"/>
                  </a:lnTo>
                  <a:lnTo>
                    <a:pt x="2164080" y="0"/>
                  </a:lnTo>
                  <a:lnTo>
                    <a:pt x="2211214" y="6409"/>
                  </a:lnTo>
                  <a:lnTo>
                    <a:pt x="2253510" y="24271"/>
                  </a:lnTo>
                  <a:lnTo>
                    <a:pt x="2289295" y="51911"/>
                  </a:lnTo>
                  <a:lnTo>
                    <a:pt x="2316897" y="87658"/>
                  </a:lnTo>
                  <a:lnTo>
                    <a:pt x="2334644" y="129839"/>
                  </a:lnTo>
                  <a:lnTo>
                    <a:pt x="2340864" y="176784"/>
                  </a:lnTo>
                  <a:lnTo>
                    <a:pt x="2340864" y="882396"/>
                  </a:lnTo>
                  <a:lnTo>
                    <a:pt x="2334644" y="929308"/>
                  </a:lnTo>
                  <a:lnTo>
                    <a:pt x="2316897" y="971470"/>
                  </a:lnTo>
                  <a:lnTo>
                    <a:pt x="2289295" y="1007211"/>
                  </a:lnTo>
                  <a:lnTo>
                    <a:pt x="2253510" y="1034858"/>
                  </a:lnTo>
                  <a:lnTo>
                    <a:pt x="2211214" y="1052738"/>
                  </a:lnTo>
                  <a:lnTo>
                    <a:pt x="2164080" y="1059180"/>
                  </a:lnTo>
                  <a:close/>
                </a:path>
              </a:pathLst>
            </a:custGeom>
            <a:solidFill>
              <a:srgbClr val="F1F1F1"/>
            </a:solidFill>
          </p:spPr>
          <p:txBody>
            <a:bodyPr wrap="square" lIns="0" tIns="0" rIns="0" bIns="0" rtlCol="0"/>
            <a:lstStyle/>
            <a:p>
              <a:endParaRPr dirty="0"/>
            </a:p>
          </p:txBody>
        </p:sp>
        <p:sp>
          <p:nvSpPr>
            <p:cNvPr id="84" name="object 31">
              <a:extLst>
                <a:ext uri="{FF2B5EF4-FFF2-40B4-BE49-F238E27FC236}">
                  <a16:creationId xmlns:a16="http://schemas.microsoft.com/office/drawing/2014/main" id="{AB851FC0-430F-CF7A-89FF-9D099A4E2714}"/>
                </a:ext>
              </a:extLst>
            </p:cNvPr>
            <p:cNvSpPr/>
            <p:nvPr/>
          </p:nvSpPr>
          <p:spPr>
            <a:xfrm>
              <a:off x="825500" y="3003550"/>
              <a:ext cx="2366645" cy="1083310"/>
            </a:xfrm>
            <a:custGeom>
              <a:avLst/>
              <a:gdLst/>
              <a:ahLst/>
              <a:cxnLst/>
              <a:rect l="l" t="t" r="r" b="b"/>
              <a:pathLst>
                <a:path w="2366645" h="1083310">
                  <a:moveTo>
                    <a:pt x="2250668" y="13969"/>
                  </a:moveTo>
                  <a:lnTo>
                    <a:pt x="115798" y="13969"/>
                  </a:lnTo>
                  <a:lnTo>
                    <a:pt x="124396" y="10159"/>
                  </a:lnTo>
                  <a:lnTo>
                    <a:pt x="132600" y="7619"/>
                  </a:lnTo>
                  <a:lnTo>
                    <a:pt x="141566" y="5079"/>
                  </a:lnTo>
                  <a:lnTo>
                    <a:pt x="150723" y="3809"/>
                  </a:lnTo>
                  <a:lnTo>
                    <a:pt x="151345" y="2539"/>
                  </a:lnTo>
                  <a:lnTo>
                    <a:pt x="160032" y="1269"/>
                  </a:lnTo>
                  <a:lnTo>
                    <a:pt x="160667" y="1269"/>
                  </a:lnTo>
                  <a:lnTo>
                    <a:pt x="169494" y="0"/>
                  </a:lnTo>
                  <a:lnTo>
                    <a:pt x="2196973" y="0"/>
                  </a:lnTo>
                  <a:lnTo>
                    <a:pt x="2215121" y="2539"/>
                  </a:lnTo>
                  <a:lnTo>
                    <a:pt x="2215743" y="3809"/>
                  </a:lnTo>
                  <a:lnTo>
                    <a:pt x="2224900" y="5079"/>
                  </a:lnTo>
                  <a:lnTo>
                    <a:pt x="2233866" y="7619"/>
                  </a:lnTo>
                  <a:lnTo>
                    <a:pt x="2242070" y="10159"/>
                  </a:lnTo>
                  <a:lnTo>
                    <a:pt x="2250668" y="13969"/>
                  </a:lnTo>
                  <a:close/>
                </a:path>
                <a:path w="2366645" h="1083310">
                  <a:moveTo>
                    <a:pt x="163868" y="26669"/>
                  </a:moveTo>
                  <a:lnTo>
                    <a:pt x="91313" y="26669"/>
                  </a:lnTo>
                  <a:lnTo>
                    <a:pt x="98704" y="22859"/>
                  </a:lnTo>
                  <a:lnTo>
                    <a:pt x="106857" y="17779"/>
                  </a:lnTo>
                  <a:lnTo>
                    <a:pt x="115227" y="13969"/>
                  </a:lnTo>
                  <a:lnTo>
                    <a:pt x="2251240" y="13969"/>
                  </a:lnTo>
                  <a:lnTo>
                    <a:pt x="2259622" y="17779"/>
                  </a:lnTo>
                  <a:lnTo>
                    <a:pt x="2267229" y="21589"/>
                  </a:lnTo>
                  <a:lnTo>
                    <a:pt x="2273172" y="25399"/>
                  </a:lnTo>
                  <a:lnTo>
                    <a:pt x="172694" y="25399"/>
                  </a:lnTo>
                  <a:lnTo>
                    <a:pt x="163868" y="26669"/>
                  </a:lnTo>
                  <a:close/>
                </a:path>
                <a:path w="2366645" h="1083310">
                  <a:moveTo>
                    <a:pt x="2275154" y="26669"/>
                  </a:moveTo>
                  <a:lnTo>
                    <a:pt x="2202599" y="26669"/>
                  </a:lnTo>
                  <a:lnTo>
                    <a:pt x="2193772" y="25399"/>
                  </a:lnTo>
                  <a:lnTo>
                    <a:pt x="2273172" y="25399"/>
                  </a:lnTo>
                  <a:lnTo>
                    <a:pt x="2275154" y="26669"/>
                  </a:lnTo>
                  <a:close/>
                </a:path>
                <a:path w="2366645" h="1083310">
                  <a:moveTo>
                    <a:pt x="57734" y="90169"/>
                  </a:moveTo>
                  <a:lnTo>
                    <a:pt x="27546" y="90169"/>
                  </a:lnTo>
                  <a:lnTo>
                    <a:pt x="32143" y="82549"/>
                  </a:lnTo>
                  <a:lnTo>
                    <a:pt x="37401" y="76199"/>
                  </a:lnTo>
                  <a:lnTo>
                    <a:pt x="43002" y="68579"/>
                  </a:lnTo>
                  <a:lnTo>
                    <a:pt x="48933" y="60959"/>
                  </a:lnTo>
                  <a:lnTo>
                    <a:pt x="55181" y="54609"/>
                  </a:lnTo>
                  <a:lnTo>
                    <a:pt x="55613" y="54609"/>
                  </a:lnTo>
                  <a:lnTo>
                    <a:pt x="61734" y="48259"/>
                  </a:lnTo>
                  <a:lnTo>
                    <a:pt x="69062" y="41909"/>
                  </a:lnTo>
                  <a:lnTo>
                    <a:pt x="76212" y="36829"/>
                  </a:lnTo>
                  <a:lnTo>
                    <a:pt x="83629" y="31749"/>
                  </a:lnTo>
                  <a:lnTo>
                    <a:pt x="90792" y="26669"/>
                  </a:lnTo>
                  <a:lnTo>
                    <a:pt x="164503" y="26669"/>
                  </a:lnTo>
                  <a:lnTo>
                    <a:pt x="157039" y="27761"/>
                  </a:lnTo>
                  <a:lnTo>
                    <a:pt x="152171" y="29209"/>
                  </a:lnTo>
                  <a:lnTo>
                    <a:pt x="148513" y="29209"/>
                  </a:lnTo>
                  <a:lnTo>
                    <a:pt x="140144" y="31749"/>
                  </a:lnTo>
                  <a:lnTo>
                    <a:pt x="140741" y="31749"/>
                  </a:lnTo>
                  <a:lnTo>
                    <a:pt x="132537" y="34289"/>
                  </a:lnTo>
                  <a:lnTo>
                    <a:pt x="133134" y="34289"/>
                  </a:lnTo>
                  <a:lnTo>
                    <a:pt x="125120" y="38099"/>
                  </a:lnTo>
                  <a:lnTo>
                    <a:pt x="125691" y="38099"/>
                  </a:lnTo>
                  <a:lnTo>
                    <a:pt x="117881" y="40639"/>
                  </a:lnTo>
                  <a:lnTo>
                    <a:pt x="118427" y="40639"/>
                  </a:lnTo>
                  <a:lnTo>
                    <a:pt x="110820" y="44449"/>
                  </a:lnTo>
                  <a:lnTo>
                    <a:pt x="111366" y="44449"/>
                  </a:lnTo>
                  <a:lnTo>
                    <a:pt x="103974" y="48259"/>
                  </a:lnTo>
                  <a:lnTo>
                    <a:pt x="104495" y="48259"/>
                  </a:lnTo>
                  <a:lnTo>
                    <a:pt x="99133" y="52069"/>
                  </a:lnTo>
                  <a:lnTo>
                    <a:pt x="97853" y="52069"/>
                  </a:lnTo>
                  <a:lnTo>
                    <a:pt x="90932" y="57149"/>
                  </a:lnTo>
                  <a:lnTo>
                    <a:pt x="91414" y="57149"/>
                  </a:lnTo>
                  <a:lnTo>
                    <a:pt x="84759" y="62229"/>
                  </a:lnTo>
                  <a:lnTo>
                    <a:pt x="85217" y="62229"/>
                  </a:lnTo>
                  <a:lnTo>
                    <a:pt x="78816" y="67309"/>
                  </a:lnTo>
                  <a:lnTo>
                    <a:pt x="79273" y="67309"/>
                  </a:lnTo>
                  <a:lnTo>
                    <a:pt x="73139" y="72389"/>
                  </a:lnTo>
                  <a:lnTo>
                    <a:pt x="73571" y="72389"/>
                  </a:lnTo>
                  <a:lnTo>
                    <a:pt x="67729" y="78739"/>
                  </a:lnTo>
                  <a:lnTo>
                    <a:pt x="68135" y="78739"/>
                  </a:lnTo>
                  <a:lnTo>
                    <a:pt x="63695" y="83819"/>
                  </a:lnTo>
                  <a:lnTo>
                    <a:pt x="62979" y="83819"/>
                  </a:lnTo>
                  <a:lnTo>
                    <a:pt x="57734" y="90169"/>
                  </a:lnTo>
                  <a:close/>
                </a:path>
                <a:path w="2366645" h="1083310">
                  <a:moveTo>
                    <a:pt x="2218575" y="30479"/>
                  </a:moveTo>
                  <a:lnTo>
                    <a:pt x="2209440" y="27761"/>
                  </a:lnTo>
                  <a:lnTo>
                    <a:pt x="2201976" y="26669"/>
                  </a:lnTo>
                  <a:lnTo>
                    <a:pt x="2275674" y="26669"/>
                  </a:lnTo>
                  <a:lnTo>
                    <a:pt x="2279256" y="29209"/>
                  </a:lnTo>
                  <a:lnTo>
                    <a:pt x="2217966" y="29209"/>
                  </a:lnTo>
                  <a:lnTo>
                    <a:pt x="2218575" y="30479"/>
                  </a:lnTo>
                  <a:close/>
                </a:path>
                <a:path w="2366645" h="1083310">
                  <a:moveTo>
                    <a:pt x="147904" y="30479"/>
                  </a:moveTo>
                  <a:lnTo>
                    <a:pt x="148513" y="29209"/>
                  </a:lnTo>
                  <a:lnTo>
                    <a:pt x="152171" y="29209"/>
                  </a:lnTo>
                  <a:lnTo>
                    <a:pt x="147904" y="30479"/>
                  </a:lnTo>
                  <a:close/>
                </a:path>
                <a:path w="2366645" h="1083310">
                  <a:moveTo>
                    <a:pt x="2282837" y="31749"/>
                  </a:moveTo>
                  <a:lnTo>
                    <a:pt x="2226335" y="31749"/>
                  </a:lnTo>
                  <a:lnTo>
                    <a:pt x="2217966" y="29209"/>
                  </a:lnTo>
                  <a:lnTo>
                    <a:pt x="2279256" y="29209"/>
                  </a:lnTo>
                  <a:lnTo>
                    <a:pt x="2282837" y="31749"/>
                  </a:lnTo>
                  <a:close/>
                </a:path>
                <a:path w="2366645" h="1083310">
                  <a:moveTo>
                    <a:pt x="2269121" y="53339"/>
                  </a:moveTo>
                  <a:lnTo>
                    <a:pt x="2261971" y="48259"/>
                  </a:lnTo>
                  <a:lnTo>
                    <a:pt x="2262492" y="48259"/>
                  </a:lnTo>
                  <a:lnTo>
                    <a:pt x="2255100" y="44449"/>
                  </a:lnTo>
                  <a:lnTo>
                    <a:pt x="2255647" y="44449"/>
                  </a:lnTo>
                  <a:lnTo>
                    <a:pt x="2248039" y="40639"/>
                  </a:lnTo>
                  <a:lnTo>
                    <a:pt x="2248598" y="40639"/>
                  </a:lnTo>
                  <a:lnTo>
                    <a:pt x="2240775" y="38099"/>
                  </a:lnTo>
                  <a:lnTo>
                    <a:pt x="2241359" y="38099"/>
                  </a:lnTo>
                  <a:lnTo>
                    <a:pt x="2233345" y="34289"/>
                  </a:lnTo>
                  <a:lnTo>
                    <a:pt x="2233930" y="34289"/>
                  </a:lnTo>
                  <a:lnTo>
                    <a:pt x="2225725" y="31749"/>
                  </a:lnTo>
                  <a:lnTo>
                    <a:pt x="2283345" y="31749"/>
                  </a:lnTo>
                  <a:lnTo>
                    <a:pt x="2290749" y="36829"/>
                  </a:lnTo>
                  <a:lnTo>
                    <a:pt x="2297417" y="41909"/>
                  </a:lnTo>
                  <a:lnTo>
                    <a:pt x="2304732" y="48259"/>
                  </a:lnTo>
                  <a:lnTo>
                    <a:pt x="2308405" y="52069"/>
                  </a:lnTo>
                  <a:lnTo>
                    <a:pt x="2268626" y="52069"/>
                  </a:lnTo>
                  <a:lnTo>
                    <a:pt x="2269121" y="53339"/>
                  </a:lnTo>
                  <a:close/>
                </a:path>
                <a:path w="2366645" h="1083310">
                  <a:moveTo>
                    <a:pt x="97345" y="53339"/>
                  </a:moveTo>
                  <a:lnTo>
                    <a:pt x="97853" y="52069"/>
                  </a:lnTo>
                  <a:lnTo>
                    <a:pt x="99133" y="52069"/>
                  </a:lnTo>
                  <a:lnTo>
                    <a:pt x="97345" y="53339"/>
                  </a:lnTo>
                  <a:close/>
                </a:path>
                <a:path w="2366645" h="1083310">
                  <a:moveTo>
                    <a:pt x="2303881" y="85089"/>
                  </a:moveTo>
                  <a:lnTo>
                    <a:pt x="2298331" y="78739"/>
                  </a:lnTo>
                  <a:lnTo>
                    <a:pt x="2298738" y="78739"/>
                  </a:lnTo>
                  <a:lnTo>
                    <a:pt x="2292896" y="72389"/>
                  </a:lnTo>
                  <a:lnTo>
                    <a:pt x="2293327" y="72389"/>
                  </a:lnTo>
                  <a:lnTo>
                    <a:pt x="2287206" y="67309"/>
                  </a:lnTo>
                  <a:lnTo>
                    <a:pt x="2287651" y="67309"/>
                  </a:lnTo>
                  <a:lnTo>
                    <a:pt x="2281250" y="62229"/>
                  </a:lnTo>
                  <a:lnTo>
                    <a:pt x="2281720" y="62229"/>
                  </a:lnTo>
                  <a:lnTo>
                    <a:pt x="2275052" y="57149"/>
                  </a:lnTo>
                  <a:lnTo>
                    <a:pt x="2275535" y="57149"/>
                  </a:lnTo>
                  <a:lnTo>
                    <a:pt x="2268626" y="52069"/>
                  </a:lnTo>
                  <a:lnTo>
                    <a:pt x="2308405" y="52069"/>
                  </a:lnTo>
                  <a:lnTo>
                    <a:pt x="2310853" y="54609"/>
                  </a:lnTo>
                  <a:lnTo>
                    <a:pt x="2311285" y="54609"/>
                  </a:lnTo>
                  <a:lnTo>
                    <a:pt x="2317534" y="60959"/>
                  </a:lnTo>
                  <a:lnTo>
                    <a:pt x="2323084" y="68579"/>
                  </a:lnTo>
                  <a:lnTo>
                    <a:pt x="2328710" y="74929"/>
                  </a:lnTo>
                  <a:lnTo>
                    <a:pt x="2334336" y="82549"/>
                  </a:lnTo>
                  <a:lnTo>
                    <a:pt x="2335153" y="83819"/>
                  </a:lnTo>
                  <a:lnTo>
                    <a:pt x="2303500" y="83819"/>
                  </a:lnTo>
                  <a:lnTo>
                    <a:pt x="2303881" y="85089"/>
                  </a:lnTo>
                  <a:close/>
                </a:path>
                <a:path w="2366645" h="1083310">
                  <a:moveTo>
                    <a:pt x="62585" y="85089"/>
                  </a:moveTo>
                  <a:lnTo>
                    <a:pt x="62979" y="83819"/>
                  </a:lnTo>
                  <a:lnTo>
                    <a:pt x="63695" y="83819"/>
                  </a:lnTo>
                  <a:lnTo>
                    <a:pt x="62585" y="85089"/>
                  </a:lnTo>
                  <a:close/>
                </a:path>
                <a:path w="2366645" h="1083310">
                  <a:moveTo>
                    <a:pt x="2313292" y="97789"/>
                  </a:moveTo>
                  <a:lnTo>
                    <a:pt x="2308364" y="90169"/>
                  </a:lnTo>
                  <a:lnTo>
                    <a:pt x="2308733" y="90169"/>
                  </a:lnTo>
                  <a:lnTo>
                    <a:pt x="2303500" y="83819"/>
                  </a:lnTo>
                  <a:lnTo>
                    <a:pt x="2335153" y="83819"/>
                  </a:lnTo>
                  <a:lnTo>
                    <a:pt x="2339238" y="90169"/>
                  </a:lnTo>
                  <a:lnTo>
                    <a:pt x="2342485" y="96519"/>
                  </a:lnTo>
                  <a:lnTo>
                    <a:pt x="2312949" y="96519"/>
                  </a:lnTo>
                  <a:lnTo>
                    <a:pt x="2313292" y="97789"/>
                  </a:lnTo>
                  <a:close/>
                </a:path>
                <a:path w="2366645" h="1083310">
                  <a:moveTo>
                    <a:pt x="2251240" y="1068069"/>
                  </a:moveTo>
                  <a:lnTo>
                    <a:pt x="115227" y="1068069"/>
                  </a:lnTo>
                  <a:lnTo>
                    <a:pt x="106857" y="1064259"/>
                  </a:lnTo>
                  <a:lnTo>
                    <a:pt x="98704" y="1060449"/>
                  </a:lnTo>
                  <a:lnTo>
                    <a:pt x="91313" y="1056639"/>
                  </a:lnTo>
                  <a:lnTo>
                    <a:pt x="90792" y="1055369"/>
                  </a:lnTo>
                  <a:lnTo>
                    <a:pt x="83629" y="1051559"/>
                  </a:lnTo>
                  <a:lnTo>
                    <a:pt x="76212" y="1046479"/>
                  </a:lnTo>
                  <a:lnTo>
                    <a:pt x="69062" y="1040129"/>
                  </a:lnTo>
                  <a:lnTo>
                    <a:pt x="61734" y="1033779"/>
                  </a:lnTo>
                  <a:lnTo>
                    <a:pt x="55613" y="1028699"/>
                  </a:lnTo>
                  <a:lnTo>
                    <a:pt x="55181" y="1027429"/>
                  </a:lnTo>
                  <a:lnTo>
                    <a:pt x="48933" y="1021079"/>
                  </a:lnTo>
                  <a:lnTo>
                    <a:pt x="43002" y="1014729"/>
                  </a:lnTo>
                  <a:lnTo>
                    <a:pt x="37401" y="1007109"/>
                  </a:lnTo>
                  <a:lnTo>
                    <a:pt x="32143" y="999489"/>
                  </a:lnTo>
                  <a:lnTo>
                    <a:pt x="27546" y="993139"/>
                  </a:lnTo>
                  <a:lnTo>
                    <a:pt x="27228" y="991869"/>
                  </a:lnTo>
                  <a:lnTo>
                    <a:pt x="22987" y="984249"/>
                  </a:lnTo>
                  <a:lnTo>
                    <a:pt x="18796" y="976629"/>
                  </a:lnTo>
                  <a:lnTo>
                    <a:pt x="3784" y="932179"/>
                  </a:lnTo>
                  <a:lnTo>
                    <a:pt x="952" y="913129"/>
                  </a:lnTo>
                  <a:lnTo>
                    <a:pt x="228" y="904239"/>
                  </a:lnTo>
                  <a:lnTo>
                    <a:pt x="0" y="894079"/>
                  </a:lnTo>
                  <a:lnTo>
                    <a:pt x="0" y="187959"/>
                  </a:lnTo>
                  <a:lnTo>
                    <a:pt x="195" y="180339"/>
                  </a:lnTo>
                  <a:lnTo>
                    <a:pt x="228" y="179069"/>
                  </a:lnTo>
                  <a:lnTo>
                    <a:pt x="1016" y="168909"/>
                  </a:lnTo>
                  <a:lnTo>
                    <a:pt x="2133" y="160019"/>
                  </a:lnTo>
                  <a:lnTo>
                    <a:pt x="3784" y="151129"/>
                  </a:lnTo>
                  <a:lnTo>
                    <a:pt x="3911" y="149859"/>
                  </a:lnTo>
                  <a:lnTo>
                    <a:pt x="18796" y="106679"/>
                  </a:lnTo>
                  <a:lnTo>
                    <a:pt x="27228" y="90169"/>
                  </a:lnTo>
                  <a:lnTo>
                    <a:pt x="58102" y="90169"/>
                  </a:lnTo>
                  <a:lnTo>
                    <a:pt x="54006" y="96519"/>
                  </a:lnTo>
                  <a:lnTo>
                    <a:pt x="53517" y="96519"/>
                  </a:lnTo>
                  <a:lnTo>
                    <a:pt x="49697" y="102869"/>
                  </a:lnTo>
                  <a:lnTo>
                    <a:pt x="49250" y="102869"/>
                  </a:lnTo>
                  <a:lnTo>
                    <a:pt x="45008" y="110489"/>
                  </a:lnTo>
                  <a:lnTo>
                    <a:pt x="45300" y="110489"/>
                  </a:lnTo>
                  <a:lnTo>
                    <a:pt x="42051" y="116839"/>
                  </a:lnTo>
                  <a:lnTo>
                    <a:pt x="41668" y="116839"/>
                  </a:lnTo>
                  <a:lnTo>
                    <a:pt x="38138" y="124459"/>
                  </a:lnTo>
                  <a:lnTo>
                    <a:pt x="38379" y="124459"/>
                  </a:lnTo>
                  <a:lnTo>
                    <a:pt x="35217" y="132079"/>
                  </a:lnTo>
                  <a:lnTo>
                    <a:pt x="35433" y="132079"/>
                  </a:lnTo>
                  <a:lnTo>
                    <a:pt x="32664" y="139699"/>
                  </a:lnTo>
                  <a:lnTo>
                    <a:pt x="32854" y="139699"/>
                  </a:lnTo>
                  <a:lnTo>
                    <a:pt x="30467" y="147319"/>
                  </a:lnTo>
                  <a:lnTo>
                    <a:pt x="30632" y="147319"/>
                  </a:lnTo>
                  <a:lnTo>
                    <a:pt x="28945" y="154939"/>
                  </a:lnTo>
                  <a:lnTo>
                    <a:pt x="28790" y="154939"/>
                  </a:lnTo>
                  <a:lnTo>
                    <a:pt x="27330" y="163829"/>
                  </a:lnTo>
                  <a:lnTo>
                    <a:pt x="25400" y="894079"/>
                  </a:lnTo>
                  <a:lnTo>
                    <a:pt x="25590" y="902969"/>
                  </a:lnTo>
                  <a:lnTo>
                    <a:pt x="26109" y="909696"/>
                  </a:lnTo>
                  <a:lnTo>
                    <a:pt x="26178" y="910591"/>
                  </a:lnTo>
                  <a:lnTo>
                    <a:pt x="26358" y="911849"/>
                  </a:lnTo>
                  <a:lnTo>
                    <a:pt x="27241" y="919479"/>
                  </a:lnTo>
                  <a:lnTo>
                    <a:pt x="28786" y="927076"/>
                  </a:lnTo>
                  <a:lnTo>
                    <a:pt x="28658" y="927076"/>
                  </a:lnTo>
                  <a:lnTo>
                    <a:pt x="29727" y="931902"/>
                  </a:lnTo>
                  <a:lnTo>
                    <a:pt x="30473" y="934744"/>
                  </a:lnTo>
                  <a:lnTo>
                    <a:pt x="30522" y="935494"/>
                  </a:lnTo>
                  <a:lnTo>
                    <a:pt x="30632" y="935989"/>
                  </a:lnTo>
                  <a:lnTo>
                    <a:pt x="30808" y="935989"/>
                  </a:lnTo>
                  <a:lnTo>
                    <a:pt x="32854" y="943609"/>
                  </a:lnTo>
                  <a:lnTo>
                    <a:pt x="33059" y="943609"/>
                  </a:lnTo>
                  <a:lnTo>
                    <a:pt x="35433" y="951229"/>
                  </a:lnTo>
                  <a:lnTo>
                    <a:pt x="35668" y="951229"/>
                  </a:lnTo>
                  <a:lnTo>
                    <a:pt x="38379" y="958849"/>
                  </a:lnTo>
                  <a:lnTo>
                    <a:pt x="38726" y="958849"/>
                  </a:lnTo>
                  <a:lnTo>
                    <a:pt x="41668" y="965199"/>
                  </a:lnTo>
                  <a:lnTo>
                    <a:pt x="41402" y="965199"/>
                  </a:lnTo>
                  <a:lnTo>
                    <a:pt x="45300" y="972819"/>
                  </a:lnTo>
                  <a:lnTo>
                    <a:pt x="45715" y="972819"/>
                  </a:lnTo>
                  <a:lnTo>
                    <a:pt x="49250" y="979169"/>
                  </a:lnTo>
                  <a:lnTo>
                    <a:pt x="48933" y="979169"/>
                  </a:lnTo>
                  <a:lnTo>
                    <a:pt x="53517" y="985519"/>
                  </a:lnTo>
                  <a:lnTo>
                    <a:pt x="53187" y="985519"/>
                  </a:lnTo>
                  <a:lnTo>
                    <a:pt x="58102" y="991869"/>
                  </a:lnTo>
                  <a:lnTo>
                    <a:pt x="57734" y="991869"/>
                  </a:lnTo>
                  <a:lnTo>
                    <a:pt x="62979" y="998219"/>
                  </a:lnTo>
                  <a:lnTo>
                    <a:pt x="62585" y="998219"/>
                  </a:lnTo>
                  <a:lnTo>
                    <a:pt x="68135" y="1004569"/>
                  </a:lnTo>
                  <a:lnTo>
                    <a:pt x="67729" y="1004569"/>
                  </a:lnTo>
                  <a:lnTo>
                    <a:pt x="73571" y="1009649"/>
                  </a:lnTo>
                  <a:lnTo>
                    <a:pt x="73139" y="1009649"/>
                  </a:lnTo>
                  <a:lnTo>
                    <a:pt x="79273" y="1015999"/>
                  </a:lnTo>
                  <a:lnTo>
                    <a:pt x="80096" y="1015999"/>
                  </a:lnTo>
                  <a:lnTo>
                    <a:pt x="85217" y="1021079"/>
                  </a:lnTo>
                  <a:lnTo>
                    <a:pt x="86090" y="1021079"/>
                  </a:lnTo>
                  <a:lnTo>
                    <a:pt x="91414" y="1026159"/>
                  </a:lnTo>
                  <a:lnTo>
                    <a:pt x="92662" y="1026159"/>
                  </a:lnTo>
                  <a:lnTo>
                    <a:pt x="97853" y="1029969"/>
                  </a:lnTo>
                  <a:lnTo>
                    <a:pt x="97345" y="1029969"/>
                  </a:lnTo>
                  <a:lnTo>
                    <a:pt x="104495" y="1035049"/>
                  </a:lnTo>
                  <a:lnTo>
                    <a:pt x="105822" y="1035049"/>
                  </a:lnTo>
                  <a:lnTo>
                    <a:pt x="111366" y="1038859"/>
                  </a:lnTo>
                  <a:lnTo>
                    <a:pt x="113355" y="1038859"/>
                  </a:lnTo>
                  <a:lnTo>
                    <a:pt x="118427" y="1041399"/>
                  </a:lnTo>
                  <a:lnTo>
                    <a:pt x="117881" y="1041399"/>
                  </a:lnTo>
                  <a:lnTo>
                    <a:pt x="125691" y="1045209"/>
                  </a:lnTo>
                  <a:lnTo>
                    <a:pt x="125120" y="1045209"/>
                  </a:lnTo>
                  <a:lnTo>
                    <a:pt x="133134" y="1047749"/>
                  </a:lnTo>
                  <a:lnTo>
                    <a:pt x="132537" y="1047749"/>
                  </a:lnTo>
                  <a:lnTo>
                    <a:pt x="140741" y="1050289"/>
                  </a:lnTo>
                  <a:lnTo>
                    <a:pt x="140144" y="1050289"/>
                  </a:lnTo>
                  <a:lnTo>
                    <a:pt x="148513" y="1052830"/>
                  </a:lnTo>
                  <a:lnTo>
                    <a:pt x="147904" y="1052830"/>
                  </a:lnTo>
                  <a:lnTo>
                    <a:pt x="155171" y="1053911"/>
                  </a:lnTo>
                  <a:lnTo>
                    <a:pt x="164503" y="1056639"/>
                  </a:lnTo>
                  <a:lnTo>
                    <a:pt x="172059" y="1056639"/>
                  </a:lnTo>
                  <a:lnTo>
                    <a:pt x="181013" y="1057909"/>
                  </a:lnTo>
                  <a:lnTo>
                    <a:pt x="2272512" y="1057909"/>
                  </a:lnTo>
                  <a:lnTo>
                    <a:pt x="2267229" y="1060449"/>
                  </a:lnTo>
                  <a:lnTo>
                    <a:pt x="2259622" y="1064259"/>
                  </a:lnTo>
                  <a:lnTo>
                    <a:pt x="2251240" y="1068069"/>
                  </a:lnTo>
                  <a:close/>
                </a:path>
                <a:path w="2366645" h="1083310">
                  <a:moveTo>
                    <a:pt x="53187" y="97789"/>
                  </a:moveTo>
                  <a:lnTo>
                    <a:pt x="53517" y="96519"/>
                  </a:lnTo>
                  <a:lnTo>
                    <a:pt x="54006" y="96519"/>
                  </a:lnTo>
                  <a:lnTo>
                    <a:pt x="53187" y="97789"/>
                  </a:lnTo>
                  <a:close/>
                </a:path>
                <a:path w="2366645" h="1083310">
                  <a:moveTo>
                    <a:pt x="2317534" y="104139"/>
                  </a:moveTo>
                  <a:lnTo>
                    <a:pt x="2312949" y="96519"/>
                  </a:lnTo>
                  <a:lnTo>
                    <a:pt x="2342485" y="96519"/>
                  </a:lnTo>
                  <a:lnTo>
                    <a:pt x="2343785" y="99059"/>
                  </a:lnTo>
                  <a:lnTo>
                    <a:pt x="2345867" y="102869"/>
                  </a:lnTo>
                  <a:lnTo>
                    <a:pt x="2317216" y="102869"/>
                  </a:lnTo>
                  <a:lnTo>
                    <a:pt x="2317534" y="104139"/>
                  </a:lnTo>
                  <a:close/>
                </a:path>
                <a:path w="2366645" h="1083310">
                  <a:moveTo>
                    <a:pt x="48933" y="104139"/>
                  </a:moveTo>
                  <a:lnTo>
                    <a:pt x="49250" y="102869"/>
                  </a:lnTo>
                  <a:lnTo>
                    <a:pt x="49697" y="102869"/>
                  </a:lnTo>
                  <a:lnTo>
                    <a:pt x="48933" y="104139"/>
                  </a:lnTo>
                  <a:close/>
                </a:path>
                <a:path w="2366645" h="1083310">
                  <a:moveTo>
                    <a:pt x="2325065" y="118109"/>
                  </a:moveTo>
                  <a:lnTo>
                    <a:pt x="2321166" y="110489"/>
                  </a:lnTo>
                  <a:lnTo>
                    <a:pt x="2321471" y="110489"/>
                  </a:lnTo>
                  <a:lnTo>
                    <a:pt x="2317216" y="102869"/>
                  </a:lnTo>
                  <a:lnTo>
                    <a:pt x="2345867" y="102869"/>
                  </a:lnTo>
                  <a:lnTo>
                    <a:pt x="2347950" y="106679"/>
                  </a:lnTo>
                  <a:lnTo>
                    <a:pt x="2351481" y="114299"/>
                  </a:lnTo>
                  <a:lnTo>
                    <a:pt x="2351722" y="115569"/>
                  </a:lnTo>
                  <a:lnTo>
                    <a:pt x="2352285" y="116839"/>
                  </a:lnTo>
                  <a:lnTo>
                    <a:pt x="2324798" y="116839"/>
                  </a:lnTo>
                  <a:lnTo>
                    <a:pt x="2325065" y="118109"/>
                  </a:lnTo>
                  <a:close/>
                </a:path>
                <a:path w="2366645" h="1083310">
                  <a:moveTo>
                    <a:pt x="41402" y="118109"/>
                  </a:moveTo>
                  <a:lnTo>
                    <a:pt x="41668" y="116839"/>
                  </a:lnTo>
                  <a:lnTo>
                    <a:pt x="42051" y="116839"/>
                  </a:lnTo>
                  <a:lnTo>
                    <a:pt x="41402" y="118109"/>
                  </a:lnTo>
                  <a:close/>
                </a:path>
                <a:path w="2366645" h="1083310">
                  <a:moveTo>
                    <a:pt x="2361760" y="935989"/>
                  </a:moveTo>
                  <a:lnTo>
                    <a:pt x="2335847" y="935989"/>
                  </a:lnTo>
                  <a:lnTo>
                    <a:pt x="2336921" y="931140"/>
                  </a:lnTo>
                  <a:lnTo>
                    <a:pt x="2339136" y="919479"/>
                  </a:lnTo>
                  <a:lnTo>
                    <a:pt x="2341067" y="894079"/>
                  </a:lnTo>
                  <a:lnTo>
                    <a:pt x="2341050" y="187959"/>
                  </a:lnTo>
                  <a:lnTo>
                    <a:pt x="2340876" y="180339"/>
                  </a:lnTo>
                  <a:lnTo>
                    <a:pt x="2340267" y="171449"/>
                  </a:lnTo>
                  <a:lnTo>
                    <a:pt x="2339238" y="163829"/>
                  </a:lnTo>
                  <a:lnTo>
                    <a:pt x="2337689" y="154939"/>
                  </a:lnTo>
                  <a:lnTo>
                    <a:pt x="2337534" y="154939"/>
                  </a:lnTo>
                  <a:lnTo>
                    <a:pt x="2335847" y="147319"/>
                  </a:lnTo>
                  <a:lnTo>
                    <a:pt x="2335999" y="147319"/>
                  </a:lnTo>
                  <a:lnTo>
                    <a:pt x="2333625" y="139699"/>
                  </a:lnTo>
                  <a:lnTo>
                    <a:pt x="2333802" y="139699"/>
                  </a:lnTo>
                  <a:lnTo>
                    <a:pt x="2331034" y="132079"/>
                  </a:lnTo>
                  <a:lnTo>
                    <a:pt x="2331250" y="132079"/>
                  </a:lnTo>
                  <a:lnTo>
                    <a:pt x="2328087" y="124459"/>
                  </a:lnTo>
                  <a:lnTo>
                    <a:pt x="2328329" y="124459"/>
                  </a:lnTo>
                  <a:lnTo>
                    <a:pt x="2324798" y="116839"/>
                  </a:lnTo>
                  <a:lnTo>
                    <a:pt x="2352285" y="116839"/>
                  </a:lnTo>
                  <a:lnTo>
                    <a:pt x="2362682" y="151129"/>
                  </a:lnTo>
                  <a:lnTo>
                    <a:pt x="2363352" y="154939"/>
                  </a:lnTo>
                  <a:lnTo>
                    <a:pt x="2337689" y="154939"/>
                  </a:lnTo>
                  <a:lnTo>
                    <a:pt x="2337907" y="156194"/>
                  </a:lnTo>
                  <a:lnTo>
                    <a:pt x="2363572" y="156194"/>
                  </a:lnTo>
                  <a:lnTo>
                    <a:pt x="2364244" y="160019"/>
                  </a:lnTo>
                  <a:lnTo>
                    <a:pt x="2365527" y="168909"/>
                  </a:lnTo>
                  <a:lnTo>
                    <a:pt x="2366238" y="179069"/>
                  </a:lnTo>
                  <a:lnTo>
                    <a:pt x="2366467" y="187959"/>
                  </a:lnTo>
                  <a:lnTo>
                    <a:pt x="2366467" y="894079"/>
                  </a:lnTo>
                  <a:lnTo>
                    <a:pt x="2365629" y="911849"/>
                  </a:lnTo>
                  <a:lnTo>
                    <a:pt x="2365527" y="913129"/>
                  </a:lnTo>
                  <a:lnTo>
                    <a:pt x="2365463" y="914399"/>
                  </a:lnTo>
                  <a:lnTo>
                    <a:pt x="2364244" y="923289"/>
                  </a:lnTo>
                  <a:lnTo>
                    <a:pt x="2362731" y="931902"/>
                  </a:lnTo>
                  <a:lnTo>
                    <a:pt x="2362682" y="932179"/>
                  </a:lnTo>
                  <a:lnTo>
                    <a:pt x="2362555" y="932179"/>
                  </a:lnTo>
                  <a:lnTo>
                    <a:pt x="2361863" y="935494"/>
                  </a:lnTo>
                  <a:lnTo>
                    <a:pt x="2361760" y="935989"/>
                  </a:lnTo>
                  <a:close/>
                </a:path>
                <a:path w="2366645" h="1083310">
                  <a:moveTo>
                    <a:pt x="28667" y="156194"/>
                  </a:moveTo>
                  <a:lnTo>
                    <a:pt x="28790" y="154939"/>
                  </a:lnTo>
                  <a:lnTo>
                    <a:pt x="28945" y="154939"/>
                  </a:lnTo>
                  <a:lnTo>
                    <a:pt x="28667" y="156194"/>
                  </a:lnTo>
                  <a:close/>
                </a:path>
                <a:path w="2366645" h="1083310">
                  <a:moveTo>
                    <a:pt x="2360038" y="943609"/>
                  </a:moveTo>
                  <a:lnTo>
                    <a:pt x="2333625" y="943609"/>
                  </a:lnTo>
                  <a:lnTo>
                    <a:pt x="2336678" y="932179"/>
                  </a:lnTo>
                  <a:lnTo>
                    <a:pt x="2335957" y="935494"/>
                  </a:lnTo>
                  <a:lnTo>
                    <a:pt x="2335847" y="935989"/>
                  </a:lnTo>
                  <a:lnTo>
                    <a:pt x="2361760" y="935989"/>
                  </a:lnTo>
                  <a:lnTo>
                    <a:pt x="2360434" y="942339"/>
                  </a:lnTo>
                  <a:lnTo>
                    <a:pt x="2360038" y="943609"/>
                  </a:lnTo>
                  <a:close/>
                </a:path>
                <a:path w="2366645" h="1083310">
                  <a:moveTo>
                    <a:pt x="30808" y="935989"/>
                  </a:moveTo>
                  <a:lnTo>
                    <a:pt x="30632" y="935989"/>
                  </a:lnTo>
                  <a:lnTo>
                    <a:pt x="30568" y="935494"/>
                  </a:lnTo>
                  <a:lnTo>
                    <a:pt x="30808" y="935989"/>
                  </a:lnTo>
                  <a:close/>
                </a:path>
                <a:path w="2366645" h="1083310">
                  <a:moveTo>
                    <a:pt x="33059" y="943609"/>
                  </a:moveTo>
                  <a:lnTo>
                    <a:pt x="32854" y="943609"/>
                  </a:lnTo>
                  <a:lnTo>
                    <a:pt x="32664" y="942339"/>
                  </a:lnTo>
                  <a:lnTo>
                    <a:pt x="33059" y="943609"/>
                  </a:lnTo>
                  <a:close/>
                </a:path>
                <a:path w="2366645" h="1083310">
                  <a:moveTo>
                    <a:pt x="2357637" y="951229"/>
                  </a:moveTo>
                  <a:lnTo>
                    <a:pt x="2331034" y="951229"/>
                  </a:lnTo>
                  <a:lnTo>
                    <a:pt x="2333802" y="942339"/>
                  </a:lnTo>
                  <a:lnTo>
                    <a:pt x="2333625" y="943609"/>
                  </a:lnTo>
                  <a:lnTo>
                    <a:pt x="2360038" y="943609"/>
                  </a:lnTo>
                  <a:lnTo>
                    <a:pt x="2358059" y="949959"/>
                  </a:lnTo>
                  <a:lnTo>
                    <a:pt x="2357637" y="951229"/>
                  </a:lnTo>
                  <a:close/>
                </a:path>
                <a:path w="2366645" h="1083310">
                  <a:moveTo>
                    <a:pt x="35668" y="951229"/>
                  </a:moveTo>
                  <a:lnTo>
                    <a:pt x="35433" y="951229"/>
                  </a:lnTo>
                  <a:lnTo>
                    <a:pt x="35217" y="949959"/>
                  </a:lnTo>
                  <a:lnTo>
                    <a:pt x="35668" y="951229"/>
                  </a:lnTo>
                  <a:close/>
                </a:path>
                <a:path w="2366645" h="1083310">
                  <a:moveTo>
                    <a:pt x="2355100" y="958849"/>
                  </a:moveTo>
                  <a:lnTo>
                    <a:pt x="2328087" y="958849"/>
                  </a:lnTo>
                  <a:lnTo>
                    <a:pt x="2331250" y="949959"/>
                  </a:lnTo>
                  <a:lnTo>
                    <a:pt x="2331034" y="951229"/>
                  </a:lnTo>
                  <a:lnTo>
                    <a:pt x="2357637" y="951229"/>
                  </a:lnTo>
                  <a:lnTo>
                    <a:pt x="2355100" y="958849"/>
                  </a:lnTo>
                  <a:close/>
                </a:path>
                <a:path w="2366645" h="1083310">
                  <a:moveTo>
                    <a:pt x="38726" y="958849"/>
                  </a:moveTo>
                  <a:lnTo>
                    <a:pt x="38379" y="958849"/>
                  </a:lnTo>
                  <a:lnTo>
                    <a:pt x="38138" y="957579"/>
                  </a:lnTo>
                  <a:lnTo>
                    <a:pt x="38726" y="958849"/>
                  </a:lnTo>
                  <a:close/>
                </a:path>
                <a:path w="2366645" h="1083310">
                  <a:moveTo>
                    <a:pt x="2349127" y="972819"/>
                  </a:moveTo>
                  <a:lnTo>
                    <a:pt x="2321166" y="972819"/>
                  </a:lnTo>
                  <a:lnTo>
                    <a:pt x="2325065" y="965199"/>
                  </a:lnTo>
                  <a:lnTo>
                    <a:pt x="2324798" y="965199"/>
                  </a:lnTo>
                  <a:lnTo>
                    <a:pt x="2328329" y="957579"/>
                  </a:lnTo>
                  <a:lnTo>
                    <a:pt x="2328087" y="958849"/>
                  </a:lnTo>
                  <a:lnTo>
                    <a:pt x="2355100" y="958849"/>
                  </a:lnTo>
                  <a:lnTo>
                    <a:pt x="2351722" y="967739"/>
                  </a:lnTo>
                  <a:lnTo>
                    <a:pt x="2351481" y="967739"/>
                  </a:lnTo>
                  <a:lnTo>
                    <a:pt x="2349127" y="972819"/>
                  </a:lnTo>
                  <a:close/>
                </a:path>
                <a:path w="2366645" h="1083310">
                  <a:moveTo>
                    <a:pt x="45715" y="972819"/>
                  </a:moveTo>
                  <a:lnTo>
                    <a:pt x="45300" y="972819"/>
                  </a:lnTo>
                  <a:lnTo>
                    <a:pt x="45008" y="971549"/>
                  </a:lnTo>
                  <a:lnTo>
                    <a:pt x="45715" y="972819"/>
                  </a:lnTo>
                  <a:close/>
                </a:path>
                <a:path w="2366645" h="1083310">
                  <a:moveTo>
                    <a:pt x="2321974" y="1015999"/>
                  </a:moveTo>
                  <a:lnTo>
                    <a:pt x="2287206" y="1015999"/>
                  </a:lnTo>
                  <a:lnTo>
                    <a:pt x="2293327" y="1009649"/>
                  </a:lnTo>
                  <a:lnTo>
                    <a:pt x="2292896" y="1009649"/>
                  </a:lnTo>
                  <a:lnTo>
                    <a:pt x="2298738" y="1004569"/>
                  </a:lnTo>
                  <a:lnTo>
                    <a:pt x="2298331" y="1004569"/>
                  </a:lnTo>
                  <a:lnTo>
                    <a:pt x="2303881" y="998219"/>
                  </a:lnTo>
                  <a:lnTo>
                    <a:pt x="2303500" y="998219"/>
                  </a:lnTo>
                  <a:lnTo>
                    <a:pt x="2308733" y="991869"/>
                  </a:lnTo>
                  <a:lnTo>
                    <a:pt x="2308364" y="991869"/>
                  </a:lnTo>
                  <a:lnTo>
                    <a:pt x="2313292" y="985519"/>
                  </a:lnTo>
                  <a:lnTo>
                    <a:pt x="2312949" y="985519"/>
                  </a:lnTo>
                  <a:lnTo>
                    <a:pt x="2317534" y="979169"/>
                  </a:lnTo>
                  <a:lnTo>
                    <a:pt x="2317216" y="979169"/>
                  </a:lnTo>
                  <a:lnTo>
                    <a:pt x="2321471" y="971549"/>
                  </a:lnTo>
                  <a:lnTo>
                    <a:pt x="2321166" y="972819"/>
                  </a:lnTo>
                  <a:lnTo>
                    <a:pt x="2349127" y="972819"/>
                  </a:lnTo>
                  <a:lnTo>
                    <a:pt x="2343785" y="984249"/>
                  </a:lnTo>
                  <a:lnTo>
                    <a:pt x="2339238" y="991869"/>
                  </a:lnTo>
                  <a:lnTo>
                    <a:pt x="2334336" y="999489"/>
                  </a:lnTo>
                  <a:lnTo>
                    <a:pt x="2323084" y="1014729"/>
                  </a:lnTo>
                  <a:lnTo>
                    <a:pt x="2321974" y="1015999"/>
                  </a:lnTo>
                  <a:close/>
                </a:path>
                <a:path w="2366645" h="1083310">
                  <a:moveTo>
                    <a:pt x="80096" y="1015999"/>
                  </a:moveTo>
                  <a:lnTo>
                    <a:pt x="79273" y="1015999"/>
                  </a:lnTo>
                  <a:lnTo>
                    <a:pt x="78816" y="1014729"/>
                  </a:lnTo>
                  <a:lnTo>
                    <a:pt x="80096" y="1015999"/>
                  </a:lnTo>
                  <a:close/>
                </a:path>
                <a:path w="2366645" h="1083310">
                  <a:moveTo>
                    <a:pt x="2317534" y="1021079"/>
                  </a:moveTo>
                  <a:lnTo>
                    <a:pt x="2281250" y="1021079"/>
                  </a:lnTo>
                  <a:lnTo>
                    <a:pt x="2287651" y="1014729"/>
                  </a:lnTo>
                  <a:lnTo>
                    <a:pt x="2287206" y="1015999"/>
                  </a:lnTo>
                  <a:lnTo>
                    <a:pt x="2321974" y="1015999"/>
                  </a:lnTo>
                  <a:lnTo>
                    <a:pt x="2317534" y="1021079"/>
                  </a:lnTo>
                  <a:close/>
                </a:path>
                <a:path w="2366645" h="1083310">
                  <a:moveTo>
                    <a:pt x="86090" y="1021079"/>
                  </a:moveTo>
                  <a:lnTo>
                    <a:pt x="85217" y="1021079"/>
                  </a:lnTo>
                  <a:lnTo>
                    <a:pt x="84759" y="1019809"/>
                  </a:lnTo>
                  <a:lnTo>
                    <a:pt x="86090" y="1021079"/>
                  </a:lnTo>
                  <a:close/>
                </a:path>
                <a:path w="2366645" h="1083310">
                  <a:moveTo>
                    <a:pt x="2312535" y="1026159"/>
                  </a:moveTo>
                  <a:lnTo>
                    <a:pt x="2275052" y="1026159"/>
                  </a:lnTo>
                  <a:lnTo>
                    <a:pt x="2281720" y="1019809"/>
                  </a:lnTo>
                  <a:lnTo>
                    <a:pt x="2281250" y="1021079"/>
                  </a:lnTo>
                  <a:lnTo>
                    <a:pt x="2317534" y="1021079"/>
                  </a:lnTo>
                  <a:lnTo>
                    <a:pt x="2312535" y="1026159"/>
                  </a:lnTo>
                  <a:close/>
                </a:path>
                <a:path w="2366645" h="1083310">
                  <a:moveTo>
                    <a:pt x="92662" y="1026159"/>
                  </a:moveTo>
                  <a:lnTo>
                    <a:pt x="91414" y="1026159"/>
                  </a:lnTo>
                  <a:lnTo>
                    <a:pt x="90932" y="1024889"/>
                  </a:lnTo>
                  <a:lnTo>
                    <a:pt x="92662" y="1026159"/>
                  </a:lnTo>
                  <a:close/>
                </a:path>
                <a:path w="2366645" h="1083310">
                  <a:moveTo>
                    <a:pt x="2303269" y="1035049"/>
                  </a:moveTo>
                  <a:lnTo>
                    <a:pt x="2261971" y="1035049"/>
                  </a:lnTo>
                  <a:lnTo>
                    <a:pt x="2269121" y="1029969"/>
                  </a:lnTo>
                  <a:lnTo>
                    <a:pt x="2268626" y="1029969"/>
                  </a:lnTo>
                  <a:lnTo>
                    <a:pt x="2275535" y="1024889"/>
                  </a:lnTo>
                  <a:lnTo>
                    <a:pt x="2275052" y="1026159"/>
                  </a:lnTo>
                  <a:lnTo>
                    <a:pt x="2312535" y="1026159"/>
                  </a:lnTo>
                  <a:lnTo>
                    <a:pt x="2311285" y="1027429"/>
                  </a:lnTo>
                  <a:lnTo>
                    <a:pt x="2310853" y="1028699"/>
                  </a:lnTo>
                  <a:lnTo>
                    <a:pt x="2304732" y="1033779"/>
                  </a:lnTo>
                  <a:lnTo>
                    <a:pt x="2303269" y="1035049"/>
                  </a:lnTo>
                  <a:close/>
                </a:path>
                <a:path w="2366645" h="1083310">
                  <a:moveTo>
                    <a:pt x="105822" y="1035049"/>
                  </a:moveTo>
                  <a:lnTo>
                    <a:pt x="104495" y="1035049"/>
                  </a:lnTo>
                  <a:lnTo>
                    <a:pt x="103974" y="1033779"/>
                  </a:lnTo>
                  <a:lnTo>
                    <a:pt x="105822" y="1035049"/>
                  </a:lnTo>
                  <a:close/>
                </a:path>
                <a:path w="2366645" h="1083310">
                  <a:moveTo>
                    <a:pt x="2298880" y="1038859"/>
                  </a:moveTo>
                  <a:lnTo>
                    <a:pt x="2255100" y="1038859"/>
                  </a:lnTo>
                  <a:lnTo>
                    <a:pt x="2262492" y="1033779"/>
                  </a:lnTo>
                  <a:lnTo>
                    <a:pt x="2261971" y="1035049"/>
                  </a:lnTo>
                  <a:lnTo>
                    <a:pt x="2303269" y="1035049"/>
                  </a:lnTo>
                  <a:lnTo>
                    <a:pt x="2298880" y="1038859"/>
                  </a:lnTo>
                  <a:close/>
                </a:path>
                <a:path w="2366645" h="1083310">
                  <a:moveTo>
                    <a:pt x="113355" y="1038859"/>
                  </a:moveTo>
                  <a:lnTo>
                    <a:pt x="111366" y="1038859"/>
                  </a:lnTo>
                  <a:lnTo>
                    <a:pt x="110820" y="1037589"/>
                  </a:lnTo>
                  <a:lnTo>
                    <a:pt x="113355" y="1038859"/>
                  </a:lnTo>
                  <a:close/>
                </a:path>
                <a:path w="2366645" h="1083310">
                  <a:moveTo>
                    <a:pt x="2272512" y="1057909"/>
                  </a:moveTo>
                  <a:lnTo>
                    <a:pt x="2185454" y="1057909"/>
                  </a:lnTo>
                  <a:lnTo>
                    <a:pt x="2194407" y="1056639"/>
                  </a:lnTo>
                  <a:lnTo>
                    <a:pt x="2201976" y="1056639"/>
                  </a:lnTo>
                  <a:lnTo>
                    <a:pt x="2211308" y="1053911"/>
                  </a:lnTo>
                  <a:lnTo>
                    <a:pt x="2218575" y="1052830"/>
                  </a:lnTo>
                  <a:lnTo>
                    <a:pt x="2217966" y="1052830"/>
                  </a:lnTo>
                  <a:lnTo>
                    <a:pt x="2226335" y="1050289"/>
                  </a:lnTo>
                  <a:lnTo>
                    <a:pt x="2225725" y="1050289"/>
                  </a:lnTo>
                  <a:lnTo>
                    <a:pt x="2233930" y="1047749"/>
                  </a:lnTo>
                  <a:lnTo>
                    <a:pt x="2233345" y="1047749"/>
                  </a:lnTo>
                  <a:lnTo>
                    <a:pt x="2241359" y="1045209"/>
                  </a:lnTo>
                  <a:lnTo>
                    <a:pt x="2240775" y="1045209"/>
                  </a:lnTo>
                  <a:lnTo>
                    <a:pt x="2248598" y="1041399"/>
                  </a:lnTo>
                  <a:lnTo>
                    <a:pt x="2248039" y="1041399"/>
                  </a:lnTo>
                  <a:lnTo>
                    <a:pt x="2255647" y="1037589"/>
                  </a:lnTo>
                  <a:lnTo>
                    <a:pt x="2255100" y="1038859"/>
                  </a:lnTo>
                  <a:lnTo>
                    <a:pt x="2298880" y="1038859"/>
                  </a:lnTo>
                  <a:lnTo>
                    <a:pt x="2297417" y="1040129"/>
                  </a:lnTo>
                  <a:lnTo>
                    <a:pt x="2290749" y="1045209"/>
                  </a:lnTo>
                  <a:lnTo>
                    <a:pt x="2283345" y="1050289"/>
                  </a:lnTo>
                  <a:lnTo>
                    <a:pt x="2282837" y="1051559"/>
                  </a:lnTo>
                  <a:lnTo>
                    <a:pt x="2275674" y="1055369"/>
                  </a:lnTo>
                  <a:lnTo>
                    <a:pt x="2275154" y="1056639"/>
                  </a:lnTo>
                  <a:lnTo>
                    <a:pt x="2272512" y="1057909"/>
                  </a:lnTo>
                  <a:close/>
                </a:path>
                <a:path w="2366645" h="1083310">
                  <a:moveTo>
                    <a:pt x="2215743" y="1079499"/>
                  </a:moveTo>
                  <a:lnTo>
                    <a:pt x="150723" y="1079499"/>
                  </a:lnTo>
                  <a:lnTo>
                    <a:pt x="132600" y="1074419"/>
                  </a:lnTo>
                  <a:lnTo>
                    <a:pt x="124396" y="1071880"/>
                  </a:lnTo>
                  <a:lnTo>
                    <a:pt x="115798" y="1068069"/>
                  </a:lnTo>
                  <a:lnTo>
                    <a:pt x="2250668" y="1068069"/>
                  </a:lnTo>
                  <a:lnTo>
                    <a:pt x="2242070" y="1071880"/>
                  </a:lnTo>
                  <a:lnTo>
                    <a:pt x="2233866" y="1074419"/>
                  </a:lnTo>
                  <a:lnTo>
                    <a:pt x="2215743" y="1079499"/>
                  </a:lnTo>
                  <a:close/>
                </a:path>
                <a:path w="2366645" h="1083310">
                  <a:moveTo>
                    <a:pt x="2196973" y="1082039"/>
                  </a:moveTo>
                  <a:lnTo>
                    <a:pt x="169494" y="1082039"/>
                  </a:lnTo>
                  <a:lnTo>
                    <a:pt x="151345" y="1079499"/>
                  </a:lnTo>
                  <a:lnTo>
                    <a:pt x="2215121" y="1079499"/>
                  </a:lnTo>
                  <a:lnTo>
                    <a:pt x="2206434" y="1080769"/>
                  </a:lnTo>
                  <a:lnTo>
                    <a:pt x="2205799" y="1080769"/>
                  </a:lnTo>
                  <a:lnTo>
                    <a:pt x="2196973" y="1082039"/>
                  </a:lnTo>
                  <a:close/>
                </a:path>
                <a:path w="2366645" h="1083310">
                  <a:moveTo>
                    <a:pt x="2187371" y="1083309"/>
                  </a:moveTo>
                  <a:lnTo>
                    <a:pt x="179730" y="1083309"/>
                  </a:lnTo>
                  <a:lnTo>
                    <a:pt x="170129" y="1082039"/>
                  </a:lnTo>
                  <a:lnTo>
                    <a:pt x="2196338" y="1082039"/>
                  </a:lnTo>
                  <a:lnTo>
                    <a:pt x="2187371" y="1083309"/>
                  </a:lnTo>
                  <a:close/>
                </a:path>
              </a:pathLst>
            </a:custGeom>
            <a:solidFill>
              <a:srgbClr val="7E7E7E"/>
            </a:solidFill>
          </p:spPr>
          <p:txBody>
            <a:bodyPr wrap="square" lIns="0" tIns="0" rIns="0" bIns="0" rtlCol="0"/>
            <a:lstStyle/>
            <a:p>
              <a:endParaRPr/>
            </a:p>
          </p:txBody>
        </p:sp>
      </p:grpSp>
      <p:grpSp>
        <p:nvGrpSpPr>
          <p:cNvPr id="85" name="object 29">
            <a:extLst>
              <a:ext uri="{FF2B5EF4-FFF2-40B4-BE49-F238E27FC236}">
                <a16:creationId xmlns:a16="http://schemas.microsoft.com/office/drawing/2014/main" id="{AE8BB960-0846-D23F-F9F9-608849873F06}"/>
              </a:ext>
            </a:extLst>
          </p:cNvPr>
          <p:cNvGrpSpPr/>
          <p:nvPr/>
        </p:nvGrpSpPr>
        <p:grpSpPr>
          <a:xfrm>
            <a:off x="6302178" y="4943283"/>
            <a:ext cx="2366645" cy="1083310"/>
            <a:chOff x="825500" y="3003550"/>
            <a:chExt cx="2366645" cy="1083310"/>
          </a:xfrm>
        </p:grpSpPr>
        <p:sp>
          <p:nvSpPr>
            <p:cNvPr id="86" name="object 30">
              <a:extLst>
                <a:ext uri="{FF2B5EF4-FFF2-40B4-BE49-F238E27FC236}">
                  <a16:creationId xmlns:a16="http://schemas.microsoft.com/office/drawing/2014/main" id="{8C925A3D-8FC8-92C0-B105-7C6F976DC58F}"/>
                </a:ext>
              </a:extLst>
            </p:cNvPr>
            <p:cNvSpPr/>
            <p:nvPr/>
          </p:nvSpPr>
          <p:spPr>
            <a:xfrm>
              <a:off x="838200" y="3015996"/>
              <a:ext cx="2341245" cy="1059180"/>
            </a:xfrm>
            <a:custGeom>
              <a:avLst/>
              <a:gdLst/>
              <a:ahLst/>
              <a:cxnLst/>
              <a:rect l="l" t="t" r="r" b="b"/>
              <a:pathLst>
                <a:path w="2341245" h="1059179">
                  <a:moveTo>
                    <a:pt x="2164080" y="1059180"/>
                  </a:moveTo>
                  <a:lnTo>
                    <a:pt x="176784" y="1059180"/>
                  </a:lnTo>
                  <a:lnTo>
                    <a:pt x="129734" y="1052738"/>
                  </a:lnTo>
                  <a:lnTo>
                    <a:pt x="87488" y="1034858"/>
                  </a:lnTo>
                  <a:lnTo>
                    <a:pt x="51720" y="1007211"/>
                  </a:lnTo>
                  <a:lnTo>
                    <a:pt x="24101" y="971470"/>
                  </a:lnTo>
                  <a:lnTo>
                    <a:pt x="6304" y="929308"/>
                  </a:lnTo>
                  <a:lnTo>
                    <a:pt x="0" y="882396"/>
                  </a:lnTo>
                  <a:lnTo>
                    <a:pt x="0" y="176784"/>
                  </a:lnTo>
                  <a:lnTo>
                    <a:pt x="6304" y="129839"/>
                  </a:lnTo>
                  <a:lnTo>
                    <a:pt x="24101" y="87658"/>
                  </a:lnTo>
                  <a:lnTo>
                    <a:pt x="51720" y="51911"/>
                  </a:lnTo>
                  <a:lnTo>
                    <a:pt x="87488" y="24271"/>
                  </a:lnTo>
                  <a:lnTo>
                    <a:pt x="129734" y="6409"/>
                  </a:lnTo>
                  <a:lnTo>
                    <a:pt x="176784" y="0"/>
                  </a:lnTo>
                  <a:lnTo>
                    <a:pt x="2164080" y="0"/>
                  </a:lnTo>
                  <a:lnTo>
                    <a:pt x="2211214" y="6409"/>
                  </a:lnTo>
                  <a:lnTo>
                    <a:pt x="2253510" y="24271"/>
                  </a:lnTo>
                  <a:lnTo>
                    <a:pt x="2289295" y="51911"/>
                  </a:lnTo>
                  <a:lnTo>
                    <a:pt x="2316897" y="87658"/>
                  </a:lnTo>
                  <a:lnTo>
                    <a:pt x="2334644" y="129839"/>
                  </a:lnTo>
                  <a:lnTo>
                    <a:pt x="2340864" y="176784"/>
                  </a:lnTo>
                  <a:lnTo>
                    <a:pt x="2340864" y="882396"/>
                  </a:lnTo>
                  <a:lnTo>
                    <a:pt x="2334644" y="929308"/>
                  </a:lnTo>
                  <a:lnTo>
                    <a:pt x="2316897" y="971470"/>
                  </a:lnTo>
                  <a:lnTo>
                    <a:pt x="2289295" y="1007211"/>
                  </a:lnTo>
                  <a:lnTo>
                    <a:pt x="2253510" y="1034858"/>
                  </a:lnTo>
                  <a:lnTo>
                    <a:pt x="2211214" y="1052738"/>
                  </a:lnTo>
                  <a:lnTo>
                    <a:pt x="2164080" y="1059180"/>
                  </a:lnTo>
                  <a:close/>
                </a:path>
              </a:pathLst>
            </a:custGeom>
            <a:solidFill>
              <a:srgbClr val="F1F1F1"/>
            </a:solidFill>
          </p:spPr>
          <p:txBody>
            <a:bodyPr wrap="square" lIns="0" tIns="0" rIns="0" bIns="0" rtlCol="0"/>
            <a:lstStyle/>
            <a:p>
              <a:endParaRPr dirty="0"/>
            </a:p>
          </p:txBody>
        </p:sp>
        <p:sp>
          <p:nvSpPr>
            <p:cNvPr id="87" name="object 31">
              <a:extLst>
                <a:ext uri="{FF2B5EF4-FFF2-40B4-BE49-F238E27FC236}">
                  <a16:creationId xmlns:a16="http://schemas.microsoft.com/office/drawing/2014/main" id="{DD0F51E6-8B32-5DE9-1E7A-40BBB7D55565}"/>
                </a:ext>
              </a:extLst>
            </p:cNvPr>
            <p:cNvSpPr/>
            <p:nvPr/>
          </p:nvSpPr>
          <p:spPr>
            <a:xfrm>
              <a:off x="825500" y="3003550"/>
              <a:ext cx="2366645" cy="1083310"/>
            </a:xfrm>
            <a:custGeom>
              <a:avLst/>
              <a:gdLst/>
              <a:ahLst/>
              <a:cxnLst/>
              <a:rect l="l" t="t" r="r" b="b"/>
              <a:pathLst>
                <a:path w="2366645" h="1083310">
                  <a:moveTo>
                    <a:pt x="2250668" y="13969"/>
                  </a:moveTo>
                  <a:lnTo>
                    <a:pt x="115798" y="13969"/>
                  </a:lnTo>
                  <a:lnTo>
                    <a:pt x="124396" y="10159"/>
                  </a:lnTo>
                  <a:lnTo>
                    <a:pt x="132600" y="7619"/>
                  </a:lnTo>
                  <a:lnTo>
                    <a:pt x="141566" y="5079"/>
                  </a:lnTo>
                  <a:lnTo>
                    <a:pt x="150723" y="3809"/>
                  </a:lnTo>
                  <a:lnTo>
                    <a:pt x="151345" y="2539"/>
                  </a:lnTo>
                  <a:lnTo>
                    <a:pt x="160032" y="1269"/>
                  </a:lnTo>
                  <a:lnTo>
                    <a:pt x="160667" y="1269"/>
                  </a:lnTo>
                  <a:lnTo>
                    <a:pt x="169494" y="0"/>
                  </a:lnTo>
                  <a:lnTo>
                    <a:pt x="2196973" y="0"/>
                  </a:lnTo>
                  <a:lnTo>
                    <a:pt x="2215121" y="2539"/>
                  </a:lnTo>
                  <a:lnTo>
                    <a:pt x="2215743" y="3809"/>
                  </a:lnTo>
                  <a:lnTo>
                    <a:pt x="2224900" y="5079"/>
                  </a:lnTo>
                  <a:lnTo>
                    <a:pt x="2233866" y="7619"/>
                  </a:lnTo>
                  <a:lnTo>
                    <a:pt x="2242070" y="10159"/>
                  </a:lnTo>
                  <a:lnTo>
                    <a:pt x="2250668" y="13969"/>
                  </a:lnTo>
                  <a:close/>
                </a:path>
                <a:path w="2366645" h="1083310">
                  <a:moveTo>
                    <a:pt x="163868" y="26669"/>
                  </a:moveTo>
                  <a:lnTo>
                    <a:pt x="91313" y="26669"/>
                  </a:lnTo>
                  <a:lnTo>
                    <a:pt x="98704" y="22859"/>
                  </a:lnTo>
                  <a:lnTo>
                    <a:pt x="106857" y="17779"/>
                  </a:lnTo>
                  <a:lnTo>
                    <a:pt x="115227" y="13969"/>
                  </a:lnTo>
                  <a:lnTo>
                    <a:pt x="2251240" y="13969"/>
                  </a:lnTo>
                  <a:lnTo>
                    <a:pt x="2259622" y="17779"/>
                  </a:lnTo>
                  <a:lnTo>
                    <a:pt x="2267229" y="21589"/>
                  </a:lnTo>
                  <a:lnTo>
                    <a:pt x="2273172" y="25399"/>
                  </a:lnTo>
                  <a:lnTo>
                    <a:pt x="172694" y="25399"/>
                  </a:lnTo>
                  <a:lnTo>
                    <a:pt x="163868" y="26669"/>
                  </a:lnTo>
                  <a:close/>
                </a:path>
                <a:path w="2366645" h="1083310">
                  <a:moveTo>
                    <a:pt x="2275154" y="26669"/>
                  </a:moveTo>
                  <a:lnTo>
                    <a:pt x="2202599" y="26669"/>
                  </a:lnTo>
                  <a:lnTo>
                    <a:pt x="2193772" y="25399"/>
                  </a:lnTo>
                  <a:lnTo>
                    <a:pt x="2273172" y="25399"/>
                  </a:lnTo>
                  <a:lnTo>
                    <a:pt x="2275154" y="26669"/>
                  </a:lnTo>
                  <a:close/>
                </a:path>
                <a:path w="2366645" h="1083310">
                  <a:moveTo>
                    <a:pt x="57734" y="90169"/>
                  </a:moveTo>
                  <a:lnTo>
                    <a:pt x="27546" y="90169"/>
                  </a:lnTo>
                  <a:lnTo>
                    <a:pt x="32143" y="82549"/>
                  </a:lnTo>
                  <a:lnTo>
                    <a:pt x="37401" y="76199"/>
                  </a:lnTo>
                  <a:lnTo>
                    <a:pt x="43002" y="68579"/>
                  </a:lnTo>
                  <a:lnTo>
                    <a:pt x="48933" y="60959"/>
                  </a:lnTo>
                  <a:lnTo>
                    <a:pt x="55181" y="54609"/>
                  </a:lnTo>
                  <a:lnTo>
                    <a:pt x="55613" y="54609"/>
                  </a:lnTo>
                  <a:lnTo>
                    <a:pt x="61734" y="48259"/>
                  </a:lnTo>
                  <a:lnTo>
                    <a:pt x="69062" y="41909"/>
                  </a:lnTo>
                  <a:lnTo>
                    <a:pt x="76212" y="36829"/>
                  </a:lnTo>
                  <a:lnTo>
                    <a:pt x="83629" y="31749"/>
                  </a:lnTo>
                  <a:lnTo>
                    <a:pt x="90792" y="26669"/>
                  </a:lnTo>
                  <a:lnTo>
                    <a:pt x="164503" y="26669"/>
                  </a:lnTo>
                  <a:lnTo>
                    <a:pt x="157039" y="27761"/>
                  </a:lnTo>
                  <a:lnTo>
                    <a:pt x="152171" y="29209"/>
                  </a:lnTo>
                  <a:lnTo>
                    <a:pt x="148513" y="29209"/>
                  </a:lnTo>
                  <a:lnTo>
                    <a:pt x="140144" y="31749"/>
                  </a:lnTo>
                  <a:lnTo>
                    <a:pt x="140741" y="31749"/>
                  </a:lnTo>
                  <a:lnTo>
                    <a:pt x="132537" y="34289"/>
                  </a:lnTo>
                  <a:lnTo>
                    <a:pt x="133134" y="34289"/>
                  </a:lnTo>
                  <a:lnTo>
                    <a:pt x="125120" y="38099"/>
                  </a:lnTo>
                  <a:lnTo>
                    <a:pt x="125691" y="38099"/>
                  </a:lnTo>
                  <a:lnTo>
                    <a:pt x="117881" y="40639"/>
                  </a:lnTo>
                  <a:lnTo>
                    <a:pt x="118427" y="40639"/>
                  </a:lnTo>
                  <a:lnTo>
                    <a:pt x="110820" y="44449"/>
                  </a:lnTo>
                  <a:lnTo>
                    <a:pt x="111366" y="44449"/>
                  </a:lnTo>
                  <a:lnTo>
                    <a:pt x="103974" y="48259"/>
                  </a:lnTo>
                  <a:lnTo>
                    <a:pt x="104495" y="48259"/>
                  </a:lnTo>
                  <a:lnTo>
                    <a:pt x="99133" y="52069"/>
                  </a:lnTo>
                  <a:lnTo>
                    <a:pt x="97853" y="52069"/>
                  </a:lnTo>
                  <a:lnTo>
                    <a:pt x="90932" y="57149"/>
                  </a:lnTo>
                  <a:lnTo>
                    <a:pt x="91414" y="57149"/>
                  </a:lnTo>
                  <a:lnTo>
                    <a:pt x="84759" y="62229"/>
                  </a:lnTo>
                  <a:lnTo>
                    <a:pt x="85217" y="62229"/>
                  </a:lnTo>
                  <a:lnTo>
                    <a:pt x="78816" y="67309"/>
                  </a:lnTo>
                  <a:lnTo>
                    <a:pt x="79273" y="67309"/>
                  </a:lnTo>
                  <a:lnTo>
                    <a:pt x="73139" y="72389"/>
                  </a:lnTo>
                  <a:lnTo>
                    <a:pt x="73571" y="72389"/>
                  </a:lnTo>
                  <a:lnTo>
                    <a:pt x="67729" y="78739"/>
                  </a:lnTo>
                  <a:lnTo>
                    <a:pt x="68135" y="78739"/>
                  </a:lnTo>
                  <a:lnTo>
                    <a:pt x="63695" y="83819"/>
                  </a:lnTo>
                  <a:lnTo>
                    <a:pt x="62979" y="83819"/>
                  </a:lnTo>
                  <a:lnTo>
                    <a:pt x="57734" y="90169"/>
                  </a:lnTo>
                  <a:close/>
                </a:path>
                <a:path w="2366645" h="1083310">
                  <a:moveTo>
                    <a:pt x="2218575" y="30479"/>
                  </a:moveTo>
                  <a:lnTo>
                    <a:pt x="2209440" y="27761"/>
                  </a:lnTo>
                  <a:lnTo>
                    <a:pt x="2201976" y="26669"/>
                  </a:lnTo>
                  <a:lnTo>
                    <a:pt x="2275674" y="26669"/>
                  </a:lnTo>
                  <a:lnTo>
                    <a:pt x="2279256" y="29209"/>
                  </a:lnTo>
                  <a:lnTo>
                    <a:pt x="2217966" y="29209"/>
                  </a:lnTo>
                  <a:lnTo>
                    <a:pt x="2218575" y="30479"/>
                  </a:lnTo>
                  <a:close/>
                </a:path>
                <a:path w="2366645" h="1083310">
                  <a:moveTo>
                    <a:pt x="147904" y="30479"/>
                  </a:moveTo>
                  <a:lnTo>
                    <a:pt x="148513" y="29209"/>
                  </a:lnTo>
                  <a:lnTo>
                    <a:pt x="152171" y="29209"/>
                  </a:lnTo>
                  <a:lnTo>
                    <a:pt x="147904" y="30479"/>
                  </a:lnTo>
                  <a:close/>
                </a:path>
                <a:path w="2366645" h="1083310">
                  <a:moveTo>
                    <a:pt x="2282837" y="31749"/>
                  </a:moveTo>
                  <a:lnTo>
                    <a:pt x="2226335" y="31749"/>
                  </a:lnTo>
                  <a:lnTo>
                    <a:pt x="2217966" y="29209"/>
                  </a:lnTo>
                  <a:lnTo>
                    <a:pt x="2279256" y="29209"/>
                  </a:lnTo>
                  <a:lnTo>
                    <a:pt x="2282837" y="31749"/>
                  </a:lnTo>
                  <a:close/>
                </a:path>
                <a:path w="2366645" h="1083310">
                  <a:moveTo>
                    <a:pt x="2269121" y="53339"/>
                  </a:moveTo>
                  <a:lnTo>
                    <a:pt x="2261971" y="48259"/>
                  </a:lnTo>
                  <a:lnTo>
                    <a:pt x="2262492" y="48259"/>
                  </a:lnTo>
                  <a:lnTo>
                    <a:pt x="2255100" y="44449"/>
                  </a:lnTo>
                  <a:lnTo>
                    <a:pt x="2255647" y="44449"/>
                  </a:lnTo>
                  <a:lnTo>
                    <a:pt x="2248039" y="40639"/>
                  </a:lnTo>
                  <a:lnTo>
                    <a:pt x="2248598" y="40639"/>
                  </a:lnTo>
                  <a:lnTo>
                    <a:pt x="2240775" y="38099"/>
                  </a:lnTo>
                  <a:lnTo>
                    <a:pt x="2241359" y="38099"/>
                  </a:lnTo>
                  <a:lnTo>
                    <a:pt x="2233345" y="34289"/>
                  </a:lnTo>
                  <a:lnTo>
                    <a:pt x="2233930" y="34289"/>
                  </a:lnTo>
                  <a:lnTo>
                    <a:pt x="2225725" y="31749"/>
                  </a:lnTo>
                  <a:lnTo>
                    <a:pt x="2283345" y="31749"/>
                  </a:lnTo>
                  <a:lnTo>
                    <a:pt x="2290749" y="36829"/>
                  </a:lnTo>
                  <a:lnTo>
                    <a:pt x="2297417" y="41909"/>
                  </a:lnTo>
                  <a:lnTo>
                    <a:pt x="2304732" y="48259"/>
                  </a:lnTo>
                  <a:lnTo>
                    <a:pt x="2308405" y="52069"/>
                  </a:lnTo>
                  <a:lnTo>
                    <a:pt x="2268626" y="52069"/>
                  </a:lnTo>
                  <a:lnTo>
                    <a:pt x="2269121" y="53339"/>
                  </a:lnTo>
                  <a:close/>
                </a:path>
                <a:path w="2366645" h="1083310">
                  <a:moveTo>
                    <a:pt x="97345" y="53339"/>
                  </a:moveTo>
                  <a:lnTo>
                    <a:pt x="97853" y="52069"/>
                  </a:lnTo>
                  <a:lnTo>
                    <a:pt x="99133" y="52069"/>
                  </a:lnTo>
                  <a:lnTo>
                    <a:pt x="97345" y="53339"/>
                  </a:lnTo>
                  <a:close/>
                </a:path>
                <a:path w="2366645" h="1083310">
                  <a:moveTo>
                    <a:pt x="2303881" y="85089"/>
                  </a:moveTo>
                  <a:lnTo>
                    <a:pt x="2298331" y="78739"/>
                  </a:lnTo>
                  <a:lnTo>
                    <a:pt x="2298738" y="78739"/>
                  </a:lnTo>
                  <a:lnTo>
                    <a:pt x="2292896" y="72389"/>
                  </a:lnTo>
                  <a:lnTo>
                    <a:pt x="2293327" y="72389"/>
                  </a:lnTo>
                  <a:lnTo>
                    <a:pt x="2287206" y="67309"/>
                  </a:lnTo>
                  <a:lnTo>
                    <a:pt x="2287651" y="67309"/>
                  </a:lnTo>
                  <a:lnTo>
                    <a:pt x="2281250" y="62229"/>
                  </a:lnTo>
                  <a:lnTo>
                    <a:pt x="2281720" y="62229"/>
                  </a:lnTo>
                  <a:lnTo>
                    <a:pt x="2275052" y="57149"/>
                  </a:lnTo>
                  <a:lnTo>
                    <a:pt x="2275535" y="57149"/>
                  </a:lnTo>
                  <a:lnTo>
                    <a:pt x="2268626" y="52069"/>
                  </a:lnTo>
                  <a:lnTo>
                    <a:pt x="2308405" y="52069"/>
                  </a:lnTo>
                  <a:lnTo>
                    <a:pt x="2310853" y="54609"/>
                  </a:lnTo>
                  <a:lnTo>
                    <a:pt x="2311285" y="54609"/>
                  </a:lnTo>
                  <a:lnTo>
                    <a:pt x="2317534" y="60959"/>
                  </a:lnTo>
                  <a:lnTo>
                    <a:pt x="2323084" y="68579"/>
                  </a:lnTo>
                  <a:lnTo>
                    <a:pt x="2328710" y="74929"/>
                  </a:lnTo>
                  <a:lnTo>
                    <a:pt x="2334336" y="82549"/>
                  </a:lnTo>
                  <a:lnTo>
                    <a:pt x="2335153" y="83819"/>
                  </a:lnTo>
                  <a:lnTo>
                    <a:pt x="2303500" y="83819"/>
                  </a:lnTo>
                  <a:lnTo>
                    <a:pt x="2303881" y="85089"/>
                  </a:lnTo>
                  <a:close/>
                </a:path>
                <a:path w="2366645" h="1083310">
                  <a:moveTo>
                    <a:pt x="62585" y="85089"/>
                  </a:moveTo>
                  <a:lnTo>
                    <a:pt x="62979" y="83819"/>
                  </a:lnTo>
                  <a:lnTo>
                    <a:pt x="63695" y="83819"/>
                  </a:lnTo>
                  <a:lnTo>
                    <a:pt x="62585" y="85089"/>
                  </a:lnTo>
                  <a:close/>
                </a:path>
                <a:path w="2366645" h="1083310">
                  <a:moveTo>
                    <a:pt x="2313292" y="97789"/>
                  </a:moveTo>
                  <a:lnTo>
                    <a:pt x="2308364" y="90169"/>
                  </a:lnTo>
                  <a:lnTo>
                    <a:pt x="2308733" y="90169"/>
                  </a:lnTo>
                  <a:lnTo>
                    <a:pt x="2303500" y="83819"/>
                  </a:lnTo>
                  <a:lnTo>
                    <a:pt x="2335153" y="83819"/>
                  </a:lnTo>
                  <a:lnTo>
                    <a:pt x="2339238" y="90169"/>
                  </a:lnTo>
                  <a:lnTo>
                    <a:pt x="2342485" y="96519"/>
                  </a:lnTo>
                  <a:lnTo>
                    <a:pt x="2312949" y="96519"/>
                  </a:lnTo>
                  <a:lnTo>
                    <a:pt x="2313292" y="97789"/>
                  </a:lnTo>
                  <a:close/>
                </a:path>
                <a:path w="2366645" h="1083310">
                  <a:moveTo>
                    <a:pt x="2251240" y="1068069"/>
                  </a:moveTo>
                  <a:lnTo>
                    <a:pt x="115227" y="1068069"/>
                  </a:lnTo>
                  <a:lnTo>
                    <a:pt x="106857" y="1064259"/>
                  </a:lnTo>
                  <a:lnTo>
                    <a:pt x="98704" y="1060449"/>
                  </a:lnTo>
                  <a:lnTo>
                    <a:pt x="91313" y="1056639"/>
                  </a:lnTo>
                  <a:lnTo>
                    <a:pt x="90792" y="1055369"/>
                  </a:lnTo>
                  <a:lnTo>
                    <a:pt x="83629" y="1051559"/>
                  </a:lnTo>
                  <a:lnTo>
                    <a:pt x="76212" y="1046479"/>
                  </a:lnTo>
                  <a:lnTo>
                    <a:pt x="69062" y="1040129"/>
                  </a:lnTo>
                  <a:lnTo>
                    <a:pt x="61734" y="1033779"/>
                  </a:lnTo>
                  <a:lnTo>
                    <a:pt x="55613" y="1028699"/>
                  </a:lnTo>
                  <a:lnTo>
                    <a:pt x="55181" y="1027429"/>
                  </a:lnTo>
                  <a:lnTo>
                    <a:pt x="48933" y="1021079"/>
                  </a:lnTo>
                  <a:lnTo>
                    <a:pt x="43002" y="1014729"/>
                  </a:lnTo>
                  <a:lnTo>
                    <a:pt x="37401" y="1007109"/>
                  </a:lnTo>
                  <a:lnTo>
                    <a:pt x="32143" y="999489"/>
                  </a:lnTo>
                  <a:lnTo>
                    <a:pt x="27546" y="993139"/>
                  </a:lnTo>
                  <a:lnTo>
                    <a:pt x="27228" y="991869"/>
                  </a:lnTo>
                  <a:lnTo>
                    <a:pt x="22987" y="984249"/>
                  </a:lnTo>
                  <a:lnTo>
                    <a:pt x="18796" y="976629"/>
                  </a:lnTo>
                  <a:lnTo>
                    <a:pt x="3784" y="932179"/>
                  </a:lnTo>
                  <a:lnTo>
                    <a:pt x="952" y="913129"/>
                  </a:lnTo>
                  <a:lnTo>
                    <a:pt x="228" y="904239"/>
                  </a:lnTo>
                  <a:lnTo>
                    <a:pt x="0" y="894079"/>
                  </a:lnTo>
                  <a:lnTo>
                    <a:pt x="0" y="187959"/>
                  </a:lnTo>
                  <a:lnTo>
                    <a:pt x="195" y="180339"/>
                  </a:lnTo>
                  <a:lnTo>
                    <a:pt x="228" y="179069"/>
                  </a:lnTo>
                  <a:lnTo>
                    <a:pt x="1016" y="168909"/>
                  </a:lnTo>
                  <a:lnTo>
                    <a:pt x="2133" y="160019"/>
                  </a:lnTo>
                  <a:lnTo>
                    <a:pt x="3784" y="151129"/>
                  </a:lnTo>
                  <a:lnTo>
                    <a:pt x="3911" y="149859"/>
                  </a:lnTo>
                  <a:lnTo>
                    <a:pt x="18796" y="106679"/>
                  </a:lnTo>
                  <a:lnTo>
                    <a:pt x="27228" y="90169"/>
                  </a:lnTo>
                  <a:lnTo>
                    <a:pt x="58102" y="90169"/>
                  </a:lnTo>
                  <a:lnTo>
                    <a:pt x="54006" y="96519"/>
                  </a:lnTo>
                  <a:lnTo>
                    <a:pt x="53517" y="96519"/>
                  </a:lnTo>
                  <a:lnTo>
                    <a:pt x="49697" y="102869"/>
                  </a:lnTo>
                  <a:lnTo>
                    <a:pt x="49250" y="102869"/>
                  </a:lnTo>
                  <a:lnTo>
                    <a:pt x="45008" y="110489"/>
                  </a:lnTo>
                  <a:lnTo>
                    <a:pt x="45300" y="110489"/>
                  </a:lnTo>
                  <a:lnTo>
                    <a:pt x="42051" y="116839"/>
                  </a:lnTo>
                  <a:lnTo>
                    <a:pt x="41668" y="116839"/>
                  </a:lnTo>
                  <a:lnTo>
                    <a:pt x="38138" y="124459"/>
                  </a:lnTo>
                  <a:lnTo>
                    <a:pt x="38379" y="124459"/>
                  </a:lnTo>
                  <a:lnTo>
                    <a:pt x="35217" y="132079"/>
                  </a:lnTo>
                  <a:lnTo>
                    <a:pt x="35433" y="132079"/>
                  </a:lnTo>
                  <a:lnTo>
                    <a:pt x="32664" y="139699"/>
                  </a:lnTo>
                  <a:lnTo>
                    <a:pt x="32854" y="139699"/>
                  </a:lnTo>
                  <a:lnTo>
                    <a:pt x="30467" y="147319"/>
                  </a:lnTo>
                  <a:lnTo>
                    <a:pt x="30632" y="147319"/>
                  </a:lnTo>
                  <a:lnTo>
                    <a:pt x="28945" y="154939"/>
                  </a:lnTo>
                  <a:lnTo>
                    <a:pt x="28790" y="154939"/>
                  </a:lnTo>
                  <a:lnTo>
                    <a:pt x="27330" y="163829"/>
                  </a:lnTo>
                  <a:lnTo>
                    <a:pt x="25400" y="894079"/>
                  </a:lnTo>
                  <a:lnTo>
                    <a:pt x="25590" y="902969"/>
                  </a:lnTo>
                  <a:lnTo>
                    <a:pt x="26109" y="909696"/>
                  </a:lnTo>
                  <a:lnTo>
                    <a:pt x="26178" y="910591"/>
                  </a:lnTo>
                  <a:lnTo>
                    <a:pt x="26358" y="911849"/>
                  </a:lnTo>
                  <a:lnTo>
                    <a:pt x="27241" y="919479"/>
                  </a:lnTo>
                  <a:lnTo>
                    <a:pt x="28786" y="927076"/>
                  </a:lnTo>
                  <a:lnTo>
                    <a:pt x="28658" y="927076"/>
                  </a:lnTo>
                  <a:lnTo>
                    <a:pt x="29727" y="931902"/>
                  </a:lnTo>
                  <a:lnTo>
                    <a:pt x="30473" y="934744"/>
                  </a:lnTo>
                  <a:lnTo>
                    <a:pt x="30522" y="935494"/>
                  </a:lnTo>
                  <a:lnTo>
                    <a:pt x="30632" y="935989"/>
                  </a:lnTo>
                  <a:lnTo>
                    <a:pt x="30808" y="935989"/>
                  </a:lnTo>
                  <a:lnTo>
                    <a:pt x="32854" y="943609"/>
                  </a:lnTo>
                  <a:lnTo>
                    <a:pt x="33059" y="943609"/>
                  </a:lnTo>
                  <a:lnTo>
                    <a:pt x="35433" y="951229"/>
                  </a:lnTo>
                  <a:lnTo>
                    <a:pt x="35668" y="951229"/>
                  </a:lnTo>
                  <a:lnTo>
                    <a:pt x="38379" y="958849"/>
                  </a:lnTo>
                  <a:lnTo>
                    <a:pt x="38726" y="958849"/>
                  </a:lnTo>
                  <a:lnTo>
                    <a:pt x="41668" y="965199"/>
                  </a:lnTo>
                  <a:lnTo>
                    <a:pt x="41402" y="965199"/>
                  </a:lnTo>
                  <a:lnTo>
                    <a:pt x="45300" y="972819"/>
                  </a:lnTo>
                  <a:lnTo>
                    <a:pt x="45715" y="972819"/>
                  </a:lnTo>
                  <a:lnTo>
                    <a:pt x="49250" y="979169"/>
                  </a:lnTo>
                  <a:lnTo>
                    <a:pt x="48933" y="979169"/>
                  </a:lnTo>
                  <a:lnTo>
                    <a:pt x="53517" y="985519"/>
                  </a:lnTo>
                  <a:lnTo>
                    <a:pt x="53187" y="985519"/>
                  </a:lnTo>
                  <a:lnTo>
                    <a:pt x="58102" y="991869"/>
                  </a:lnTo>
                  <a:lnTo>
                    <a:pt x="57734" y="991869"/>
                  </a:lnTo>
                  <a:lnTo>
                    <a:pt x="62979" y="998219"/>
                  </a:lnTo>
                  <a:lnTo>
                    <a:pt x="62585" y="998219"/>
                  </a:lnTo>
                  <a:lnTo>
                    <a:pt x="68135" y="1004569"/>
                  </a:lnTo>
                  <a:lnTo>
                    <a:pt x="67729" y="1004569"/>
                  </a:lnTo>
                  <a:lnTo>
                    <a:pt x="73571" y="1009649"/>
                  </a:lnTo>
                  <a:lnTo>
                    <a:pt x="73139" y="1009649"/>
                  </a:lnTo>
                  <a:lnTo>
                    <a:pt x="79273" y="1015999"/>
                  </a:lnTo>
                  <a:lnTo>
                    <a:pt x="80096" y="1015999"/>
                  </a:lnTo>
                  <a:lnTo>
                    <a:pt x="85217" y="1021079"/>
                  </a:lnTo>
                  <a:lnTo>
                    <a:pt x="86090" y="1021079"/>
                  </a:lnTo>
                  <a:lnTo>
                    <a:pt x="91414" y="1026159"/>
                  </a:lnTo>
                  <a:lnTo>
                    <a:pt x="92662" y="1026159"/>
                  </a:lnTo>
                  <a:lnTo>
                    <a:pt x="97853" y="1029969"/>
                  </a:lnTo>
                  <a:lnTo>
                    <a:pt x="97345" y="1029969"/>
                  </a:lnTo>
                  <a:lnTo>
                    <a:pt x="104495" y="1035049"/>
                  </a:lnTo>
                  <a:lnTo>
                    <a:pt x="105822" y="1035049"/>
                  </a:lnTo>
                  <a:lnTo>
                    <a:pt x="111366" y="1038859"/>
                  </a:lnTo>
                  <a:lnTo>
                    <a:pt x="113355" y="1038859"/>
                  </a:lnTo>
                  <a:lnTo>
                    <a:pt x="118427" y="1041399"/>
                  </a:lnTo>
                  <a:lnTo>
                    <a:pt x="117881" y="1041399"/>
                  </a:lnTo>
                  <a:lnTo>
                    <a:pt x="125691" y="1045209"/>
                  </a:lnTo>
                  <a:lnTo>
                    <a:pt x="125120" y="1045209"/>
                  </a:lnTo>
                  <a:lnTo>
                    <a:pt x="133134" y="1047749"/>
                  </a:lnTo>
                  <a:lnTo>
                    <a:pt x="132537" y="1047749"/>
                  </a:lnTo>
                  <a:lnTo>
                    <a:pt x="140741" y="1050289"/>
                  </a:lnTo>
                  <a:lnTo>
                    <a:pt x="140144" y="1050289"/>
                  </a:lnTo>
                  <a:lnTo>
                    <a:pt x="148513" y="1052830"/>
                  </a:lnTo>
                  <a:lnTo>
                    <a:pt x="147904" y="1052830"/>
                  </a:lnTo>
                  <a:lnTo>
                    <a:pt x="155171" y="1053911"/>
                  </a:lnTo>
                  <a:lnTo>
                    <a:pt x="164503" y="1056639"/>
                  </a:lnTo>
                  <a:lnTo>
                    <a:pt x="172059" y="1056639"/>
                  </a:lnTo>
                  <a:lnTo>
                    <a:pt x="181013" y="1057909"/>
                  </a:lnTo>
                  <a:lnTo>
                    <a:pt x="2272512" y="1057909"/>
                  </a:lnTo>
                  <a:lnTo>
                    <a:pt x="2267229" y="1060449"/>
                  </a:lnTo>
                  <a:lnTo>
                    <a:pt x="2259622" y="1064259"/>
                  </a:lnTo>
                  <a:lnTo>
                    <a:pt x="2251240" y="1068069"/>
                  </a:lnTo>
                  <a:close/>
                </a:path>
                <a:path w="2366645" h="1083310">
                  <a:moveTo>
                    <a:pt x="53187" y="97789"/>
                  </a:moveTo>
                  <a:lnTo>
                    <a:pt x="53517" y="96519"/>
                  </a:lnTo>
                  <a:lnTo>
                    <a:pt x="54006" y="96519"/>
                  </a:lnTo>
                  <a:lnTo>
                    <a:pt x="53187" y="97789"/>
                  </a:lnTo>
                  <a:close/>
                </a:path>
                <a:path w="2366645" h="1083310">
                  <a:moveTo>
                    <a:pt x="2317534" y="104139"/>
                  </a:moveTo>
                  <a:lnTo>
                    <a:pt x="2312949" y="96519"/>
                  </a:lnTo>
                  <a:lnTo>
                    <a:pt x="2342485" y="96519"/>
                  </a:lnTo>
                  <a:lnTo>
                    <a:pt x="2343785" y="99059"/>
                  </a:lnTo>
                  <a:lnTo>
                    <a:pt x="2345867" y="102869"/>
                  </a:lnTo>
                  <a:lnTo>
                    <a:pt x="2317216" y="102869"/>
                  </a:lnTo>
                  <a:lnTo>
                    <a:pt x="2317534" y="104139"/>
                  </a:lnTo>
                  <a:close/>
                </a:path>
                <a:path w="2366645" h="1083310">
                  <a:moveTo>
                    <a:pt x="48933" y="104139"/>
                  </a:moveTo>
                  <a:lnTo>
                    <a:pt x="49250" y="102869"/>
                  </a:lnTo>
                  <a:lnTo>
                    <a:pt x="49697" y="102869"/>
                  </a:lnTo>
                  <a:lnTo>
                    <a:pt x="48933" y="104139"/>
                  </a:lnTo>
                  <a:close/>
                </a:path>
                <a:path w="2366645" h="1083310">
                  <a:moveTo>
                    <a:pt x="2325065" y="118109"/>
                  </a:moveTo>
                  <a:lnTo>
                    <a:pt x="2321166" y="110489"/>
                  </a:lnTo>
                  <a:lnTo>
                    <a:pt x="2321471" y="110489"/>
                  </a:lnTo>
                  <a:lnTo>
                    <a:pt x="2317216" y="102869"/>
                  </a:lnTo>
                  <a:lnTo>
                    <a:pt x="2345867" y="102869"/>
                  </a:lnTo>
                  <a:lnTo>
                    <a:pt x="2347950" y="106679"/>
                  </a:lnTo>
                  <a:lnTo>
                    <a:pt x="2351481" y="114299"/>
                  </a:lnTo>
                  <a:lnTo>
                    <a:pt x="2351722" y="115569"/>
                  </a:lnTo>
                  <a:lnTo>
                    <a:pt x="2352285" y="116839"/>
                  </a:lnTo>
                  <a:lnTo>
                    <a:pt x="2324798" y="116839"/>
                  </a:lnTo>
                  <a:lnTo>
                    <a:pt x="2325065" y="118109"/>
                  </a:lnTo>
                  <a:close/>
                </a:path>
                <a:path w="2366645" h="1083310">
                  <a:moveTo>
                    <a:pt x="41402" y="118109"/>
                  </a:moveTo>
                  <a:lnTo>
                    <a:pt x="41668" y="116839"/>
                  </a:lnTo>
                  <a:lnTo>
                    <a:pt x="42051" y="116839"/>
                  </a:lnTo>
                  <a:lnTo>
                    <a:pt x="41402" y="118109"/>
                  </a:lnTo>
                  <a:close/>
                </a:path>
                <a:path w="2366645" h="1083310">
                  <a:moveTo>
                    <a:pt x="2361760" y="935989"/>
                  </a:moveTo>
                  <a:lnTo>
                    <a:pt x="2335847" y="935989"/>
                  </a:lnTo>
                  <a:lnTo>
                    <a:pt x="2336921" y="931140"/>
                  </a:lnTo>
                  <a:lnTo>
                    <a:pt x="2339136" y="919479"/>
                  </a:lnTo>
                  <a:lnTo>
                    <a:pt x="2341067" y="894079"/>
                  </a:lnTo>
                  <a:lnTo>
                    <a:pt x="2341050" y="187959"/>
                  </a:lnTo>
                  <a:lnTo>
                    <a:pt x="2340876" y="180339"/>
                  </a:lnTo>
                  <a:lnTo>
                    <a:pt x="2340267" y="171449"/>
                  </a:lnTo>
                  <a:lnTo>
                    <a:pt x="2339238" y="163829"/>
                  </a:lnTo>
                  <a:lnTo>
                    <a:pt x="2337689" y="154939"/>
                  </a:lnTo>
                  <a:lnTo>
                    <a:pt x="2337534" y="154939"/>
                  </a:lnTo>
                  <a:lnTo>
                    <a:pt x="2335847" y="147319"/>
                  </a:lnTo>
                  <a:lnTo>
                    <a:pt x="2335999" y="147319"/>
                  </a:lnTo>
                  <a:lnTo>
                    <a:pt x="2333625" y="139699"/>
                  </a:lnTo>
                  <a:lnTo>
                    <a:pt x="2333802" y="139699"/>
                  </a:lnTo>
                  <a:lnTo>
                    <a:pt x="2331034" y="132079"/>
                  </a:lnTo>
                  <a:lnTo>
                    <a:pt x="2331250" y="132079"/>
                  </a:lnTo>
                  <a:lnTo>
                    <a:pt x="2328087" y="124459"/>
                  </a:lnTo>
                  <a:lnTo>
                    <a:pt x="2328329" y="124459"/>
                  </a:lnTo>
                  <a:lnTo>
                    <a:pt x="2324798" y="116839"/>
                  </a:lnTo>
                  <a:lnTo>
                    <a:pt x="2352285" y="116839"/>
                  </a:lnTo>
                  <a:lnTo>
                    <a:pt x="2362682" y="151129"/>
                  </a:lnTo>
                  <a:lnTo>
                    <a:pt x="2363352" y="154939"/>
                  </a:lnTo>
                  <a:lnTo>
                    <a:pt x="2337689" y="154939"/>
                  </a:lnTo>
                  <a:lnTo>
                    <a:pt x="2337907" y="156194"/>
                  </a:lnTo>
                  <a:lnTo>
                    <a:pt x="2363572" y="156194"/>
                  </a:lnTo>
                  <a:lnTo>
                    <a:pt x="2364244" y="160019"/>
                  </a:lnTo>
                  <a:lnTo>
                    <a:pt x="2365527" y="168909"/>
                  </a:lnTo>
                  <a:lnTo>
                    <a:pt x="2366238" y="179069"/>
                  </a:lnTo>
                  <a:lnTo>
                    <a:pt x="2366467" y="187959"/>
                  </a:lnTo>
                  <a:lnTo>
                    <a:pt x="2366467" y="894079"/>
                  </a:lnTo>
                  <a:lnTo>
                    <a:pt x="2365629" y="911849"/>
                  </a:lnTo>
                  <a:lnTo>
                    <a:pt x="2365527" y="913129"/>
                  </a:lnTo>
                  <a:lnTo>
                    <a:pt x="2365463" y="914399"/>
                  </a:lnTo>
                  <a:lnTo>
                    <a:pt x="2364244" y="923289"/>
                  </a:lnTo>
                  <a:lnTo>
                    <a:pt x="2362731" y="931902"/>
                  </a:lnTo>
                  <a:lnTo>
                    <a:pt x="2362682" y="932179"/>
                  </a:lnTo>
                  <a:lnTo>
                    <a:pt x="2362555" y="932179"/>
                  </a:lnTo>
                  <a:lnTo>
                    <a:pt x="2361863" y="935494"/>
                  </a:lnTo>
                  <a:lnTo>
                    <a:pt x="2361760" y="935989"/>
                  </a:lnTo>
                  <a:close/>
                </a:path>
                <a:path w="2366645" h="1083310">
                  <a:moveTo>
                    <a:pt x="28667" y="156194"/>
                  </a:moveTo>
                  <a:lnTo>
                    <a:pt x="28790" y="154939"/>
                  </a:lnTo>
                  <a:lnTo>
                    <a:pt x="28945" y="154939"/>
                  </a:lnTo>
                  <a:lnTo>
                    <a:pt x="28667" y="156194"/>
                  </a:lnTo>
                  <a:close/>
                </a:path>
                <a:path w="2366645" h="1083310">
                  <a:moveTo>
                    <a:pt x="2360038" y="943609"/>
                  </a:moveTo>
                  <a:lnTo>
                    <a:pt x="2333625" y="943609"/>
                  </a:lnTo>
                  <a:lnTo>
                    <a:pt x="2336678" y="932179"/>
                  </a:lnTo>
                  <a:lnTo>
                    <a:pt x="2335957" y="935494"/>
                  </a:lnTo>
                  <a:lnTo>
                    <a:pt x="2335847" y="935989"/>
                  </a:lnTo>
                  <a:lnTo>
                    <a:pt x="2361760" y="935989"/>
                  </a:lnTo>
                  <a:lnTo>
                    <a:pt x="2360434" y="942339"/>
                  </a:lnTo>
                  <a:lnTo>
                    <a:pt x="2360038" y="943609"/>
                  </a:lnTo>
                  <a:close/>
                </a:path>
                <a:path w="2366645" h="1083310">
                  <a:moveTo>
                    <a:pt x="30808" y="935989"/>
                  </a:moveTo>
                  <a:lnTo>
                    <a:pt x="30632" y="935989"/>
                  </a:lnTo>
                  <a:lnTo>
                    <a:pt x="30568" y="935494"/>
                  </a:lnTo>
                  <a:lnTo>
                    <a:pt x="30808" y="935989"/>
                  </a:lnTo>
                  <a:close/>
                </a:path>
                <a:path w="2366645" h="1083310">
                  <a:moveTo>
                    <a:pt x="33059" y="943609"/>
                  </a:moveTo>
                  <a:lnTo>
                    <a:pt x="32854" y="943609"/>
                  </a:lnTo>
                  <a:lnTo>
                    <a:pt x="32664" y="942339"/>
                  </a:lnTo>
                  <a:lnTo>
                    <a:pt x="33059" y="943609"/>
                  </a:lnTo>
                  <a:close/>
                </a:path>
                <a:path w="2366645" h="1083310">
                  <a:moveTo>
                    <a:pt x="2357637" y="951229"/>
                  </a:moveTo>
                  <a:lnTo>
                    <a:pt x="2331034" y="951229"/>
                  </a:lnTo>
                  <a:lnTo>
                    <a:pt x="2333802" y="942339"/>
                  </a:lnTo>
                  <a:lnTo>
                    <a:pt x="2333625" y="943609"/>
                  </a:lnTo>
                  <a:lnTo>
                    <a:pt x="2360038" y="943609"/>
                  </a:lnTo>
                  <a:lnTo>
                    <a:pt x="2358059" y="949959"/>
                  </a:lnTo>
                  <a:lnTo>
                    <a:pt x="2357637" y="951229"/>
                  </a:lnTo>
                  <a:close/>
                </a:path>
                <a:path w="2366645" h="1083310">
                  <a:moveTo>
                    <a:pt x="35668" y="951229"/>
                  </a:moveTo>
                  <a:lnTo>
                    <a:pt x="35433" y="951229"/>
                  </a:lnTo>
                  <a:lnTo>
                    <a:pt x="35217" y="949959"/>
                  </a:lnTo>
                  <a:lnTo>
                    <a:pt x="35668" y="951229"/>
                  </a:lnTo>
                  <a:close/>
                </a:path>
                <a:path w="2366645" h="1083310">
                  <a:moveTo>
                    <a:pt x="2355100" y="958849"/>
                  </a:moveTo>
                  <a:lnTo>
                    <a:pt x="2328087" y="958849"/>
                  </a:lnTo>
                  <a:lnTo>
                    <a:pt x="2331250" y="949959"/>
                  </a:lnTo>
                  <a:lnTo>
                    <a:pt x="2331034" y="951229"/>
                  </a:lnTo>
                  <a:lnTo>
                    <a:pt x="2357637" y="951229"/>
                  </a:lnTo>
                  <a:lnTo>
                    <a:pt x="2355100" y="958849"/>
                  </a:lnTo>
                  <a:close/>
                </a:path>
                <a:path w="2366645" h="1083310">
                  <a:moveTo>
                    <a:pt x="38726" y="958849"/>
                  </a:moveTo>
                  <a:lnTo>
                    <a:pt x="38379" y="958849"/>
                  </a:lnTo>
                  <a:lnTo>
                    <a:pt x="38138" y="957579"/>
                  </a:lnTo>
                  <a:lnTo>
                    <a:pt x="38726" y="958849"/>
                  </a:lnTo>
                  <a:close/>
                </a:path>
                <a:path w="2366645" h="1083310">
                  <a:moveTo>
                    <a:pt x="2349127" y="972819"/>
                  </a:moveTo>
                  <a:lnTo>
                    <a:pt x="2321166" y="972819"/>
                  </a:lnTo>
                  <a:lnTo>
                    <a:pt x="2325065" y="965199"/>
                  </a:lnTo>
                  <a:lnTo>
                    <a:pt x="2324798" y="965199"/>
                  </a:lnTo>
                  <a:lnTo>
                    <a:pt x="2328329" y="957579"/>
                  </a:lnTo>
                  <a:lnTo>
                    <a:pt x="2328087" y="958849"/>
                  </a:lnTo>
                  <a:lnTo>
                    <a:pt x="2355100" y="958849"/>
                  </a:lnTo>
                  <a:lnTo>
                    <a:pt x="2351722" y="967739"/>
                  </a:lnTo>
                  <a:lnTo>
                    <a:pt x="2351481" y="967739"/>
                  </a:lnTo>
                  <a:lnTo>
                    <a:pt x="2349127" y="972819"/>
                  </a:lnTo>
                  <a:close/>
                </a:path>
                <a:path w="2366645" h="1083310">
                  <a:moveTo>
                    <a:pt x="45715" y="972819"/>
                  </a:moveTo>
                  <a:lnTo>
                    <a:pt x="45300" y="972819"/>
                  </a:lnTo>
                  <a:lnTo>
                    <a:pt x="45008" y="971549"/>
                  </a:lnTo>
                  <a:lnTo>
                    <a:pt x="45715" y="972819"/>
                  </a:lnTo>
                  <a:close/>
                </a:path>
                <a:path w="2366645" h="1083310">
                  <a:moveTo>
                    <a:pt x="2321974" y="1015999"/>
                  </a:moveTo>
                  <a:lnTo>
                    <a:pt x="2287206" y="1015999"/>
                  </a:lnTo>
                  <a:lnTo>
                    <a:pt x="2293327" y="1009649"/>
                  </a:lnTo>
                  <a:lnTo>
                    <a:pt x="2292896" y="1009649"/>
                  </a:lnTo>
                  <a:lnTo>
                    <a:pt x="2298738" y="1004569"/>
                  </a:lnTo>
                  <a:lnTo>
                    <a:pt x="2298331" y="1004569"/>
                  </a:lnTo>
                  <a:lnTo>
                    <a:pt x="2303881" y="998219"/>
                  </a:lnTo>
                  <a:lnTo>
                    <a:pt x="2303500" y="998219"/>
                  </a:lnTo>
                  <a:lnTo>
                    <a:pt x="2308733" y="991869"/>
                  </a:lnTo>
                  <a:lnTo>
                    <a:pt x="2308364" y="991869"/>
                  </a:lnTo>
                  <a:lnTo>
                    <a:pt x="2313292" y="985519"/>
                  </a:lnTo>
                  <a:lnTo>
                    <a:pt x="2312949" y="985519"/>
                  </a:lnTo>
                  <a:lnTo>
                    <a:pt x="2317534" y="979169"/>
                  </a:lnTo>
                  <a:lnTo>
                    <a:pt x="2317216" y="979169"/>
                  </a:lnTo>
                  <a:lnTo>
                    <a:pt x="2321471" y="971549"/>
                  </a:lnTo>
                  <a:lnTo>
                    <a:pt x="2321166" y="972819"/>
                  </a:lnTo>
                  <a:lnTo>
                    <a:pt x="2349127" y="972819"/>
                  </a:lnTo>
                  <a:lnTo>
                    <a:pt x="2343785" y="984249"/>
                  </a:lnTo>
                  <a:lnTo>
                    <a:pt x="2339238" y="991869"/>
                  </a:lnTo>
                  <a:lnTo>
                    <a:pt x="2334336" y="999489"/>
                  </a:lnTo>
                  <a:lnTo>
                    <a:pt x="2323084" y="1014729"/>
                  </a:lnTo>
                  <a:lnTo>
                    <a:pt x="2321974" y="1015999"/>
                  </a:lnTo>
                  <a:close/>
                </a:path>
                <a:path w="2366645" h="1083310">
                  <a:moveTo>
                    <a:pt x="80096" y="1015999"/>
                  </a:moveTo>
                  <a:lnTo>
                    <a:pt x="79273" y="1015999"/>
                  </a:lnTo>
                  <a:lnTo>
                    <a:pt x="78816" y="1014729"/>
                  </a:lnTo>
                  <a:lnTo>
                    <a:pt x="80096" y="1015999"/>
                  </a:lnTo>
                  <a:close/>
                </a:path>
                <a:path w="2366645" h="1083310">
                  <a:moveTo>
                    <a:pt x="2317534" y="1021079"/>
                  </a:moveTo>
                  <a:lnTo>
                    <a:pt x="2281250" y="1021079"/>
                  </a:lnTo>
                  <a:lnTo>
                    <a:pt x="2287651" y="1014729"/>
                  </a:lnTo>
                  <a:lnTo>
                    <a:pt x="2287206" y="1015999"/>
                  </a:lnTo>
                  <a:lnTo>
                    <a:pt x="2321974" y="1015999"/>
                  </a:lnTo>
                  <a:lnTo>
                    <a:pt x="2317534" y="1021079"/>
                  </a:lnTo>
                  <a:close/>
                </a:path>
                <a:path w="2366645" h="1083310">
                  <a:moveTo>
                    <a:pt x="86090" y="1021079"/>
                  </a:moveTo>
                  <a:lnTo>
                    <a:pt x="85217" y="1021079"/>
                  </a:lnTo>
                  <a:lnTo>
                    <a:pt x="84759" y="1019809"/>
                  </a:lnTo>
                  <a:lnTo>
                    <a:pt x="86090" y="1021079"/>
                  </a:lnTo>
                  <a:close/>
                </a:path>
                <a:path w="2366645" h="1083310">
                  <a:moveTo>
                    <a:pt x="2312535" y="1026159"/>
                  </a:moveTo>
                  <a:lnTo>
                    <a:pt x="2275052" y="1026159"/>
                  </a:lnTo>
                  <a:lnTo>
                    <a:pt x="2281720" y="1019809"/>
                  </a:lnTo>
                  <a:lnTo>
                    <a:pt x="2281250" y="1021079"/>
                  </a:lnTo>
                  <a:lnTo>
                    <a:pt x="2317534" y="1021079"/>
                  </a:lnTo>
                  <a:lnTo>
                    <a:pt x="2312535" y="1026159"/>
                  </a:lnTo>
                  <a:close/>
                </a:path>
                <a:path w="2366645" h="1083310">
                  <a:moveTo>
                    <a:pt x="92662" y="1026159"/>
                  </a:moveTo>
                  <a:lnTo>
                    <a:pt x="91414" y="1026159"/>
                  </a:lnTo>
                  <a:lnTo>
                    <a:pt x="90932" y="1024889"/>
                  </a:lnTo>
                  <a:lnTo>
                    <a:pt x="92662" y="1026159"/>
                  </a:lnTo>
                  <a:close/>
                </a:path>
                <a:path w="2366645" h="1083310">
                  <a:moveTo>
                    <a:pt x="2303269" y="1035049"/>
                  </a:moveTo>
                  <a:lnTo>
                    <a:pt x="2261971" y="1035049"/>
                  </a:lnTo>
                  <a:lnTo>
                    <a:pt x="2269121" y="1029969"/>
                  </a:lnTo>
                  <a:lnTo>
                    <a:pt x="2268626" y="1029969"/>
                  </a:lnTo>
                  <a:lnTo>
                    <a:pt x="2275535" y="1024889"/>
                  </a:lnTo>
                  <a:lnTo>
                    <a:pt x="2275052" y="1026159"/>
                  </a:lnTo>
                  <a:lnTo>
                    <a:pt x="2312535" y="1026159"/>
                  </a:lnTo>
                  <a:lnTo>
                    <a:pt x="2311285" y="1027429"/>
                  </a:lnTo>
                  <a:lnTo>
                    <a:pt x="2310853" y="1028699"/>
                  </a:lnTo>
                  <a:lnTo>
                    <a:pt x="2304732" y="1033779"/>
                  </a:lnTo>
                  <a:lnTo>
                    <a:pt x="2303269" y="1035049"/>
                  </a:lnTo>
                  <a:close/>
                </a:path>
                <a:path w="2366645" h="1083310">
                  <a:moveTo>
                    <a:pt x="105822" y="1035049"/>
                  </a:moveTo>
                  <a:lnTo>
                    <a:pt x="104495" y="1035049"/>
                  </a:lnTo>
                  <a:lnTo>
                    <a:pt x="103974" y="1033779"/>
                  </a:lnTo>
                  <a:lnTo>
                    <a:pt x="105822" y="1035049"/>
                  </a:lnTo>
                  <a:close/>
                </a:path>
                <a:path w="2366645" h="1083310">
                  <a:moveTo>
                    <a:pt x="2298880" y="1038859"/>
                  </a:moveTo>
                  <a:lnTo>
                    <a:pt x="2255100" y="1038859"/>
                  </a:lnTo>
                  <a:lnTo>
                    <a:pt x="2262492" y="1033779"/>
                  </a:lnTo>
                  <a:lnTo>
                    <a:pt x="2261971" y="1035049"/>
                  </a:lnTo>
                  <a:lnTo>
                    <a:pt x="2303269" y="1035049"/>
                  </a:lnTo>
                  <a:lnTo>
                    <a:pt x="2298880" y="1038859"/>
                  </a:lnTo>
                  <a:close/>
                </a:path>
                <a:path w="2366645" h="1083310">
                  <a:moveTo>
                    <a:pt x="113355" y="1038859"/>
                  </a:moveTo>
                  <a:lnTo>
                    <a:pt x="111366" y="1038859"/>
                  </a:lnTo>
                  <a:lnTo>
                    <a:pt x="110820" y="1037589"/>
                  </a:lnTo>
                  <a:lnTo>
                    <a:pt x="113355" y="1038859"/>
                  </a:lnTo>
                  <a:close/>
                </a:path>
                <a:path w="2366645" h="1083310">
                  <a:moveTo>
                    <a:pt x="2272512" y="1057909"/>
                  </a:moveTo>
                  <a:lnTo>
                    <a:pt x="2185454" y="1057909"/>
                  </a:lnTo>
                  <a:lnTo>
                    <a:pt x="2194407" y="1056639"/>
                  </a:lnTo>
                  <a:lnTo>
                    <a:pt x="2201976" y="1056639"/>
                  </a:lnTo>
                  <a:lnTo>
                    <a:pt x="2211308" y="1053911"/>
                  </a:lnTo>
                  <a:lnTo>
                    <a:pt x="2218575" y="1052830"/>
                  </a:lnTo>
                  <a:lnTo>
                    <a:pt x="2217966" y="1052830"/>
                  </a:lnTo>
                  <a:lnTo>
                    <a:pt x="2226335" y="1050289"/>
                  </a:lnTo>
                  <a:lnTo>
                    <a:pt x="2225725" y="1050289"/>
                  </a:lnTo>
                  <a:lnTo>
                    <a:pt x="2233930" y="1047749"/>
                  </a:lnTo>
                  <a:lnTo>
                    <a:pt x="2233345" y="1047749"/>
                  </a:lnTo>
                  <a:lnTo>
                    <a:pt x="2241359" y="1045209"/>
                  </a:lnTo>
                  <a:lnTo>
                    <a:pt x="2240775" y="1045209"/>
                  </a:lnTo>
                  <a:lnTo>
                    <a:pt x="2248598" y="1041399"/>
                  </a:lnTo>
                  <a:lnTo>
                    <a:pt x="2248039" y="1041399"/>
                  </a:lnTo>
                  <a:lnTo>
                    <a:pt x="2255647" y="1037589"/>
                  </a:lnTo>
                  <a:lnTo>
                    <a:pt x="2255100" y="1038859"/>
                  </a:lnTo>
                  <a:lnTo>
                    <a:pt x="2298880" y="1038859"/>
                  </a:lnTo>
                  <a:lnTo>
                    <a:pt x="2297417" y="1040129"/>
                  </a:lnTo>
                  <a:lnTo>
                    <a:pt x="2290749" y="1045209"/>
                  </a:lnTo>
                  <a:lnTo>
                    <a:pt x="2283345" y="1050289"/>
                  </a:lnTo>
                  <a:lnTo>
                    <a:pt x="2282837" y="1051559"/>
                  </a:lnTo>
                  <a:lnTo>
                    <a:pt x="2275674" y="1055369"/>
                  </a:lnTo>
                  <a:lnTo>
                    <a:pt x="2275154" y="1056639"/>
                  </a:lnTo>
                  <a:lnTo>
                    <a:pt x="2272512" y="1057909"/>
                  </a:lnTo>
                  <a:close/>
                </a:path>
                <a:path w="2366645" h="1083310">
                  <a:moveTo>
                    <a:pt x="2215743" y="1079499"/>
                  </a:moveTo>
                  <a:lnTo>
                    <a:pt x="150723" y="1079499"/>
                  </a:lnTo>
                  <a:lnTo>
                    <a:pt x="132600" y="1074419"/>
                  </a:lnTo>
                  <a:lnTo>
                    <a:pt x="124396" y="1071880"/>
                  </a:lnTo>
                  <a:lnTo>
                    <a:pt x="115798" y="1068069"/>
                  </a:lnTo>
                  <a:lnTo>
                    <a:pt x="2250668" y="1068069"/>
                  </a:lnTo>
                  <a:lnTo>
                    <a:pt x="2242070" y="1071880"/>
                  </a:lnTo>
                  <a:lnTo>
                    <a:pt x="2233866" y="1074419"/>
                  </a:lnTo>
                  <a:lnTo>
                    <a:pt x="2215743" y="1079499"/>
                  </a:lnTo>
                  <a:close/>
                </a:path>
                <a:path w="2366645" h="1083310">
                  <a:moveTo>
                    <a:pt x="2196973" y="1082039"/>
                  </a:moveTo>
                  <a:lnTo>
                    <a:pt x="169494" y="1082039"/>
                  </a:lnTo>
                  <a:lnTo>
                    <a:pt x="151345" y="1079499"/>
                  </a:lnTo>
                  <a:lnTo>
                    <a:pt x="2215121" y="1079499"/>
                  </a:lnTo>
                  <a:lnTo>
                    <a:pt x="2206434" y="1080769"/>
                  </a:lnTo>
                  <a:lnTo>
                    <a:pt x="2205799" y="1080769"/>
                  </a:lnTo>
                  <a:lnTo>
                    <a:pt x="2196973" y="1082039"/>
                  </a:lnTo>
                  <a:close/>
                </a:path>
                <a:path w="2366645" h="1083310">
                  <a:moveTo>
                    <a:pt x="2187371" y="1083309"/>
                  </a:moveTo>
                  <a:lnTo>
                    <a:pt x="179730" y="1083309"/>
                  </a:lnTo>
                  <a:lnTo>
                    <a:pt x="170129" y="1082039"/>
                  </a:lnTo>
                  <a:lnTo>
                    <a:pt x="2196338" y="1082039"/>
                  </a:lnTo>
                  <a:lnTo>
                    <a:pt x="2187371" y="1083309"/>
                  </a:lnTo>
                  <a:close/>
                </a:path>
              </a:pathLst>
            </a:custGeom>
            <a:solidFill>
              <a:srgbClr val="7E7E7E"/>
            </a:solidFill>
          </p:spPr>
          <p:txBody>
            <a:bodyPr wrap="square" lIns="0" tIns="0" rIns="0" bIns="0" rtlCol="0"/>
            <a:lstStyle/>
            <a:p>
              <a:endParaRPr/>
            </a:p>
          </p:txBody>
        </p:sp>
      </p:grpSp>
      <p:grpSp>
        <p:nvGrpSpPr>
          <p:cNvPr id="88" name="object 29">
            <a:extLst>
              <a:ext uri="{FF2B5EF4-FFF2-40B4-BE49-F238E27FC236}">
                <a16:creationId xmlns:a16="http://schemas.microsoft.com/office/drawing/2014/main" id="{D94B5472-FCE8-1F89-EA99-D6053F434944}"/>
              </a:ext>
            </a:extLst>
          </p:cNvPr>
          <p:cNvGrpSpPr/>
          <p:nvPr/>
        </p:nvGrpSpPr>
        <p:grpSpPr>
          <a:xfrm>
            <a:off x="9349981" y="4943283"/>
            <a:ext cx="2366645" cy="1083310"/>
            <a:chOff x="825500" y="3003550"/>
            <a:chExt cx="2366645" cy="1083310"/>
          </a:xfrm>
        </p:grpSpPr>
        <p:sp>
          <p:nvSpPr>
            <p:cNvPr id="89" name="object 30">
              <a:extLst>
                <a:ext uri="{FF2B5EF4-FFF2-40B4-BE49-F238E27FC236}">
                  <a16:creationId xmlns:a16="http://schemas.microsoft.com/office/drawing/2014/main" id="{65E2F5D9-0E67-B3C1-1E3D-5B449A605E75}"/>
                </a:ext>
              </a:extLst>
            </p:cNvPr>
            <p:cNvSpPr/>
            <p:nvPr/>
          </p:nvSpPr>
          <p:spPr>
            <a:xfrm>
              <a:off x="838200" y="3015996"/>
              <a:ext cx="2341245" cy="1059180"/>
            </a:xfrm>
            <a:custGeom>
              <a:avLst/>
              <a:gdLst/>
              <a:ahLst/>
              <a:cxnLst/>
              <a:rect l="l" t="t" r="r" b="b"/>
              <a:pathLst>
                <a:path w="2341245" h="1059179">
                  <a:moveTo>
                    <a:pt x="2164080" y="1059180"/>
                  </a:moveTo>
                  <a:lnTo>
                    <a:pt x="176784" y="1059180"/>
                  </a:lnTo>
                  <a:lnTo>
                    <a:pt x="129734" y="1052738"/>
                  </a:lnTo>
                  <a:lnTo>
                    <a:pt x="87488" y="1034858"/>
                  </a:lnTo>
                  <a:lnTo>
                    <a:pt x="51720" y="1007211"/>
                  </a:lnTo>
                  <a:lnTo>
                    <a:pt x="24101" y="971470"/>
                  </a:lnTo>
                  <a:lnTo>
                    <a:pt x="6304" y="929308"/>
                  </a:lnTo>
                  <a:lnTo>
                    <a:pt x="0" y="882396"/>
                  </a:lnTo>
                  <a:lnTo>
                    <a:pt x="0" y="176784"/>
                  </a:lnTo>
                  <a:lnTo>
                    <a:pt x="6304" y="129839"/>
                  </a:lnTo>
                  <a:lnTo>
                    <a:pt x="24101" y="87658"/>
                  </a:lnTo>
                  <a:lnTo>
                    <a:pt x="51720" y="51911"/>
                  </a:lnTo>
                  <a:lnTo>
                    <a:pt x="87488" y="24271"/>
                  </a:lnTo>
                  <a:lnTo>
                    <a:pt x="129734" y="6409"/>
                  </a:lnTo>
                  <a:lnTo>
                    <a:pt x="176784" y="0"/>
                  </a:lnTo>
                  <a:lnTo>
                    <a:pt x="2164080" y="0"/>
                  </a:lnTo>
                  <a:lnTo>
                    <a:pt x="2211214" y="6409"/>
                  </a:lnTo>
                  <a:lnTo>
                    <a:pt x="2253510" y="24271"/>
                  </a:lnTo>
                  <a:lnTo>
                    <a:pt x="2289295" y="51911"/>
                  </a:lnTo>
                  <a:lnTo>
                    <a:pt x="2316897" y="87658"/>
                  </a:lnTo>
                  <a:lnTo>
                    <a:pt x="2334644" y="129839"/>
                  </a:lnTo>
                  <a:lnTo>
                    <a:pt x="2340864" y="176784"/>
                  </a:lnTo>
                  <a:lnTo>
                    <a:pt x="2340864" y="882396"/>
                  </a:lnTo>
                  <a:lnTo>
                    <a:pt x="2334644" y="929308"/>
                  </a:lnTo>
                  <a:lnTo>
                    <a:pt x="2316897" y="971470"/>
                  </a:lnTo>
                  <a:lnTo>
                    <a:pt x="2289295" y="1007211"/>
                  </a:lnTo>
                  <a:lnTo>
                    <a:pt x="2253510" y="1034858"/>
                  </a:lnTo>
                  <a:lnTo>
                    <a:pt x="2211214" y="1052738"/>
                  </a:lnTo>
                  <a:lnTo>
                    <a:pt x="2164080" y="1059180"/>
                  </a:lnTo>
                  <a:close/>
                </a:path>
              </a:pathLst>
            </a:custGeom>
            <a:solidFill>
              <a:srgbClr val="F1F1F1"/>
            </a:solidFill>
          </p:spPr>
          <p:txBody>
            <a:bodyPr wrap="square" lIns="0" tIns="0" rIns="0" bIns="0" rtlCol="0"/>
            <a:lstStyle/>
            <a:p>
              <a:endParaRPr dirty="0"/>
            </a:p>
          </p:txBody>
        </p:sp>
        <p:sp>
          <p:nvSpPr>
            <p:cNvPr id="90" name="object 31">
              <a:extLst>
                <a:ext uri="{FF2B5EF4-FFF2-40B4-BE49-F238E27FC236}">
                  <a16:creationId xmlns:a16="http://schemas.microsoft.com/office/drawing/2014/main" id="{304D468B-A8AE-D857-E3B1-3372616AF045}"/>
                </a:ext>
              </a:extLst>
            </p:cNvPr>
            <p:cNvSpPr/>
            <p:nvPr/>
          </p:nvSpPr>
          <p:spPr>
            <a:xfrm>
              <a:off x="825500" y="3003550"/>
              <a:ext cx="2366645" cy="1083310"/>
            </a:xfrm>
            <a:custGeom>
              <a:avLst/>
              <a:gdLst/>
              <a:ahLst/>
              <a:cxnLst/>
              <a:rect l="l" t="t" r="r" b="b"/>
              <a:pathLst>
                <a:path w="2366645" h="1083310">
                  <a:moveTo>
                    <a:pt x="2250668" y="13969"/>
                  </a:moveTo>
                  <a:lnTo>
                    <a:pt x="115798" y="13969"/>
                  </a:lnTo>
                  <a:lnTo>
                    <a:pt x="124396" y="10159"/>
                  </a:lnTo>
                  <a:lnTo>
                    <a:pt x="132600" y="7619"/>
                  </a:lnTo>
                  <a:lnTo>
                    <a:pt x="141566" y="5079"/>
                  </a:lnTo>
                  <a:lnTo>
                    <a:pt x="150723" y="3809"/>
                  </a:lnTo>
                  <a:lnTo>
                    <a:pt x="151345" y="2539"/>
                  </a:lnTo>
                  <a:lnTo>
                    <a:pt x="160032" y="1269"/>
                  </a:lnTo>
                  <a:lnTo>
                    <a:pt x="160667" y="1269"/>
                  </a:lnTo>
                  <a:lnTo>
                    <a:pt x="169494" y="0"/>
                  </a:lnTo>
                  <a:lnTo>
                    <a:pt x="2196973" y="0"/>
                  </a:lnTo>
                  <a:lnTo>
                    <a:pt x="2215121" y="2539"/>
                  </a:lnTo>
                  <a:lnTo>
                    <a:pt x="2215743" y="3809"/>
                  </a:lnTo>
                  <a:lnTo>
                    <a:pt x="2224900" y="5079"/>
                  </a:lnTo>
                  <a:lnTo>
                    <a:pt x="2233866" y="7619"/>
                  </a:lnTo>
                  <a:lnTo>
                    <a:pt x="2242070" y="10159"/>
                  </a:lnTo>
                  <a:lnTo>
                    <a:pt x="2250668" y="13969"/>
                  </a:lnTo>
                  <a:close/>
                </a:path>
                <a:path w="2366645" h="1083310">
                  <a:moveTo>
                    <a:pt x="163868" y="26669"/>
                  </a:moveTo>
                  <a:lnTo>
                    <a:pt x="91313" y="26669"/>
                  </a:lnTo>
                  <a:lnTo>
                    <a:pt x="98704" y="22859"/>
                  </a:lnTo>
                  <a:lnTo>
                    <a:pt x="106857" y="17779"/>
                  </a:lnTo>
                  <a:lnTo>
                    <a:pt x="115227" y="13969"/>
                  </a:lnTo>
                  <a:lnTo>
                    <a:pt x="2251240" y="13969"/>
                  </a:lnTo>
                  <a:lnTo>
                    <a:pt x="2259622" y="17779"/>
                  </a:lnTo>
                  <a:lnTo>
                    <a:pt x="2267229" y="21589"/>
                  </a:lnTo>
                  <a:lnTo>
                    <a:pt x="2273172" y="25399"/>
                  </a:lnTo>
                  <a:lnTo>
                    <a:pt x="172694" y="25399"/>
                  </a:lnTo>
                  <a:lnTo>
                    <a:pt x="163868" y="26669"/>
                  </a:lnTo>
                  <a:close/>
                </a:path>
                <a:path w="2366645" h="1083310">
                  <a:moveTo>
                    <a:pt x="2275154" y="26669"/>
                  </a:moveTo>
                  <a:lnTo>
                    <a:pt x="2202599" y="26669"/>
                  </a:lnTo>
                  <a:lnTo>
                    <a:pt x="2193772" y="25399"/>
                  </a:lnTo>
                  <a:lnTo>
                    <a:pt x="2273172" y="25399"/>
                  </a:lnTo>
                  <a:lnTo>
                    <a:pt x="2275154" y="26669"/>
                  </a:lnTo>
                  <a:close/>
                </a:path>
                <a:path w="2366645" h="1083310">
                  <a:moveTo>
                    <a:pt x="57734" y="90169"/>
                  </a:moveTo>
                  <a:lnTo>
                    <a:pt x="27546" y="90169"/>
                  </a:lnTo>
                  <a:lnTo>
                    <a:pt x="32143" y="82549"/>
                  </a:lnTo>
                  <a:lnTo>
                    <a:pt x="37401" y="76199"/>
                  </a:lnTo>
                  <a:lnTo>
                    <a:pt x="43002" y="68579"/>
                  </a:lnTo>
                  <a:lnTo>
                    <a:pt x="48933" y="60959"/>
                  </a:lnTo>
                  <a:lnTo>
                    <a:pt x="55181" y="54609"/>
                  </a:lnTo>
                  <a:lnTo>
                    <a:pt x="55613" y="54609"/>
                  </a:lnTo>
                  <a:lnTo>
                    <a:pt x="61734" y="48259"/>
                  </a:lnTo>
                  <a:lnTo>
                    <a:pt x="69062" y="41909"/>
                  </a:lnTo>
                  <a:lnTo>
                    <a:pt x="76212" y="36829"/>
                  </a:lnTo>
                  <a:lnTo>
                    <a:pt x="83629" y="31749"/>
                  </a:lnTo>
                  <a:lnTo>
                    <a:pt x="90792" y="26669"/>
                  </a:lnTo>
                  <a:lnTo>
                    <a:pt x="164503" y="26669"/>
                  </a:lnTo>
                  <a:lnTo>
                    <a:pt x="157039" y="27761"/>
                  </a:lnTo>
                  <a:lnTo>
                    <a:pt x="152171" y="29209"/>
                  </a:lnTo>
                  <a:lnTo>
                    <a:pt x="148513" y="29209"/>
                  </a:lnTo>
                  <a:lnTo>
                    <a:pt x="140144" y="31749"/>
                  </a:lnTo>
                  <a:lnTo>
                    <a:pt x="140741" y="31749"/>
                  </a:lnTo>
                  <a:lnTo>
                    <a:pt x="132537" y="34289"/>
                  </a:lnTo>
                  <a:lnTo>
                    <a:pt x="133134" y="34289"/>
                  </a:lnTo>
                  <a:lnTo>
                    <a:pt x="125120" y="38099"/>
                  </a:lnTo>
                  <a:lnTo>
                    <a:pt x="125691" y="38099"/>
                  </a:lnTo>
                  <a:lnTo>
                    <a:pt x="117881" y="40639"/>
                  </a:lnTo>
                  <a:lnTo>
                    <a:pt x="118427" y="40639"/>
                  </a:lnTo>
                  <a:lnTo>
                    <a:pt x="110820" y="44449"/>
                  </a:lnTo>
                  <a:lnTo>
                    <a:pt x="111366" y="44449"/>
                  </a:lnTo>
                  <a:lnTo>
                    <a:pt x="103974" y="48259"/>
                  </a:lnTo>
                  <a:lnTo>
                    <a:pt x="104495" y="48259"/>
                  </a:lnTo>
                  <a:lnTo>
                    <a:pt x="99133" y="52069"/>
                  </a:lnTo>
                  <a:lnTo>
                    <a:pt x="97853" y="52069"/>
                  </a:lnTo>
                  <a:lnTo>
                    <a:pt x="90932" y="57149"/>
                  </a:lnTo>
                  <a:lnTo>
                    <a:pt x="91414" y="57149"/>
                  </a:lnTo>
                  <a:lnTo>
                    <a:pt x="84759" y="62229"/>
                  </a:lnTo>
                  <a:lnTo>
                    <a:pt x="85217" y="62229"/>
                  </a:lnTo>
                  <a:lnTo>
                    <a:pt x="78816" y="67309"/>
                  </a:lnTo>
                  <a:lnTo>
                    <a:pt x="79273" y="67309"/>
                  </a:lnTo>
                  <a:lnTo>
                    <a:pt x="73139" y="72389"/>
                  </a:lnTo>
                  <a:lnTo>
                    <a:pt x="73571" y="72389"/>
                  </a:lnTo>
                  <a:lnTo>
                    <a:pt x="67729" y="78739"/>
                  </a:lnTo>
                  <a:lnTo>
                    <a:pt x="68135" y="78739"/>
                  </a:lnTo>
                  <a:lnTo>
                    <a:pt x="63695" y="83819"/>
                  </a:lnTo>
                  <a:lnTo>
                    <a:pt x="62979" y="83819"/>
                  </a:lnTo>
                  <a:lnTo>
                    <a:pt x="57734" y="90169"/>
                  </a:lnTo>
                  <a:close/>
                </a:path>
                <a:path w="2366645" h="1083310">
                  <a:moveTo>
                    <a:pt x="2218575" y="30479"/>
                  </a:moveTo>
                  <a:lnTo>
                    <a:pt x="2209440" y="27761"/>
                  </a:lnTo>
                  <a:lnTo>
                    <a:pt x="2201976" y="26669"/>
                  </a:lnTo>
                  <a:lnTo>
                    <a:pt x="2275674" y="26669"/>
                  </a:lnTo>
                  <a:lnTo>
                    <a:pt x="2279256" y="29209"/>
                  </a:lnTo>
                  <a:lnTo>
                    <a:pt x="2217966" y="29209"/>
                  </a:lnTo>
                  <a:lnTo>
                    <a:pt x="2218575" y="30479"/>
                  </a:lnTo>
                  <a:close/>
                </a:path>
                <a:path w="2366645" h="1083310">
                  <a:moveTo>
                    <a:pt x="147904" y="30479"/>
                  </a:moveTo>
                  <a:lnTo>
                    <a:pt x="148513" y="29209"/>
                  </a:lnTo>
                  <a:lnTo>
                    <a:pt x="152171" y="29209"/>
                  </a:lnTo>
                  <a:lnTo>
                    <a:pt x="147904" y="30479"/>
                  </a:lnTo>
                  <a:close/>
                </a:path>
                <a:path w="2366645" h="1083310">
                  <a:moveTo>
                    <a:pt x="2282837" y="31749"/>
                  </a:moveTo>
                  <a:lnTo>
                    <a:pt x="2226335" y="31749"/>
                  </a:lnTo>
                  <a:lnTo>
                    <a:pt x="2217966" y="29209"/>
                  </a:lnTo>
                  <a:lnTo>
                    <a:pt x="2279256" y="29209"/>
                  </a:lnTo>
                  <a:lnTo>
                    <a:pt x="2282837" y="31749"/>
                  </a:lnTo>
                  <a:close/>
                </a:path>
                <a:path w="2366645" h="1083310">
                  <a:moveTo>
                    <a:pt x="2269121" y="53339"/>
                  </a:moveTo>
                  <a:lnTo>
                    <a:pt x="2261971" y="48259"/>
                  </a:lnTo>
                  <a:lnTo>
                    <a:pt x="2262492" y="48259"/>
                  </a:lnTo>
                  <a:lnTo>
                    <a:pt x="2255100" y="44449"/>
                  </a:lnTo>
                  <a:lnTo>
                    <a:pt x="2255647" y="44449"/>
                  </a:lnTo>
                  <a:lnTo>
                    <a:pt x="2248039" y="40639"/>
                  </a:lnTo>
                  <a:lnTo>
                    <a:pt x="2248598" y="40639"/>
                  </a:lnTo>
                  <a:lnTo>
                    <a:pt x="2240775" y="38099"/>
                  </a:lnTo>
                  <a:lnTo>
                    <a:pt x="2241359" y="38099"/>
                  </a:lnTo>
                  <a:lnTo>
                    <a:pt x="2233345" y="34289"/>
                  </a:lnTo>
                  <a:lnTo>
                    <a:pt x="2233930" y="34289"/>
                  </a:lnTo>
                  <a:lnTo>
                    <a:pt x="2225725" y="31749"/>
                  </a:lnTo>
                  <a:lnTo>
                    <a:pt x="2283345" y="31749"/>
                  </a:lnTo>
                  <a:lnTo>
                    <a:pt x="2290749" y="36829"/>
                  </a:lnTo>
                  <a:lnTo>
                    <a:pt x="2297417" y="41909"/>
                  </a:lnTo>
                  <a:lnTo>
                    <a:pt x="2304732" y="48259"/>
                  </a:lnTo>
                  <a:lnTo>
                    <a:pt x="2308405" y="52069"/>
                  </a:lnTo>
                  <a:lnTo>
                    <a:pt x="2268626" y="52069"/>
                  </a:lnTo>
                  <a:lnTo>
                    <a:pt x="2269121" y="53339"/>
                  </a:lnTo>
                  <a:close/>
                </a:path>
                <a:path w="2366645" h="1083310">
                  <a:moveTo>
                    <a:pt x="97345" y="53339"/>
                  </a:moveTo>
                  <a:lnTo>
                    <a:pt x="97853" y="52069"/>
                  </a:lnTo>
                  <a:lnTo>
                    <a:pt x="99133" y="52069"/>
                  </a:lnTo>
                  <a:lnTo>
                    <a:pt x="97345" y="53339"/>
                  </a:lnTo>
                  <a:close/>
                </a:path>
                <a:path w="2366645" h="1083310">
                  <a:moveTo>
                    <a:pt x="2303881" y="85089"/>
                  </a:moveTo>
                  <a:lnTo>
                    <a:pt x="2298331" y="78739"/>
                  </a:lnTo>
                  <a:lnTo>
                    <a:pt x="2298738" y="78739"/>
                  </a:lnTo>
                  <a:lnTo>
                    <a:pt x="2292896" y="72389"/>
                  </a:lnTo>
                  <a:lnTo>
                    <a:pt x="2293327" y="72389"/>
                  </a:lnTo>
                  <a:lnTo>
                    <a:pt x="2287206" y="67309"/>
                  </a:lnTo>
                  <a:lnTo>
                    <a:pt x="2287651" y="67309"/>
                  </a:lnTo>
                  <a:lnTo>
                    <a:pt x="2281250" y="62229"/>
                  </a:lnTo>
                  <a:lnTo>
                    <a:pt x="2281720" y="62229"/>
                  </a:lnTo>
                  <a:lnTo>
                    <a:pt x="2275052" y="57149"/>
                  </a:lnTo>
                  <a:lnTo>
                    <a:pt x="2275535" y="57149"/>
                  </a:lnTo>
                  <a:lnTo>
                    <a:pt x="2268626" y="52069"/>
                  </a:lnTo>
                  <a:lnTo>
                    <a:pt x="2308405" y="52069"/>
                  </a:lnTo>
                  <a:lnTo>
                    <a:pt x="2310853" y="54609"/>
                  </a:lnTo>
                  <a:lnTo>
                    <a:pt x="2311285" y="54609"/>
                  </a:lnTo>
                  <a:lnTo>
                    <a:pt x="2317534" y="60959"/>
                  </a:lnTo>
                  <a:lnTo>
                    <a:pt x="2323084" y="68579"/>
                  </a:lnTo>
                  <a:lnTo>
                    <a:pt x="2328710" y="74929"/>
                  </a:lnTo>
                  <a:lnTo>
                    <a:pt x="2334336" y="82549"/>
                  </a:lnTo>
                  <a:lnTo>
                    <a:pt x="2335153" y="83819"/>
                  </a:lnTo>
                  <a:lnTo>
                    <a:pt x="2303500" y="83819"/>
                  </a:lnTo>
                  <a:lnTo>
                    <a:pt x="2303881" y="85089"/>
                  </a:lnTo>
                  <a:close/>
                </a:path>
                <a:path w="2366645" h="1083310">
                  <a:moveTo>
                    <a:pt x="62585" y="85089"/>
                  </a:moveTo>
                  <a:lnTo>
                    <a:pt x="62979" y="83819"/>
                  </a:lnTo>
                  <a:lnTo>
                    <a:pt x="63695" y="83819"/>
                  </a:lnTo>
                  <a:lnTo>
                    <a:pt x="62585" y="85089"/>
                  </a:lnTo>
                  <a:close/>
                </a:path>
                <a:path w="2366645" h="1083310">
                  <a:moveTo>
                    <a:pt x="2313292" y="97789"/>
                  </a:moveTo>
                  <a:lnTo>
                    <a:pt x="2308364" y="90169"/>
                  </a:lnTo>
                  <a:lnTo>
                    <a:pt x="2308733" y="90169"/>
                  </a:lnTo>
                  <a:lnTo>
                    <a:pt x="2303500" y="83819"/>
                  </a:lnTo>
                  <a:lnTo>
                    <a:pt x="2335153" y="83819"/>
                  </a:lnTo>
                  <a:lnTo>
                    <a:pt x="2339238" y="90169"/>
                  </a:lnTo>
                  <a:lnTo>
                    <a:pt x="2342485" y="96519"/>
                  </a:lnTo>
                  <a:lnTo>
                    <a:pt x="2312949" y="96519"/>
                  </a:lnTo>
                  <a:lnTo>
                    <a:pt x="2313292" y="97789"/>
                  </a:lnTo>
                  <a:close/>
                </a:path>
                <a:path w="2366645" h="1083310">
                  <a:moveTo>
                    <a:pt x="2251240" y="1068069"/>
                  </a:moveTo>
                  <a:lnTo>
                    <a:pt x="115227" y="1068069"/>
                  </a:lnTo>
                  <a:lnTo>
                    <a:pt x="106857" y="1064259"/>
                  </a:lnTo>
                  <a:lnTo>
                    <a:pt x="98704" y="1060449"/>
                  </a:lnTo>
                  <a:lnTo>
                    <a:pt x="91313" y="1056639"/>
                  </a:lnTo>
                  <a:lnTo>
                    <a:pt x="90792" y="1055369"/>
                  </a:lnTo>
                  <a:lnTo>
                    <a:pt x="83629" y="1051559"/>
                  </a:lnTo>
                  <a:lnTo>
                    <a:pt x="76212" y="1046479"/>
                  </a:lnTo>
                  <a:lnTo>
                    <a:pt x="69062" y="1040129"/>
                  </a:lnTo>
                  <a:lnTo>
                    <a:pt x="61734" y="1033779"/>
                  </a:lnTo>
                  <a:lnTo>
                    <a:pt x="55613" y="1028699"/>
                  </a:lnTo>
                  <a:lnTo>
                    <a:pt x="55181" y="1027429"/>
                  </a:lnTo>
                  <a:lnTo>
                    <a:pt x="48933" y="1021079"/>
                  </a:lnTo>
                  <a:lnTo>
                    <a:pt x="43002" y="1014729"/>
                  </a:lnTo>
                  <a:lnTo>
                    <a:pt x="37401" y="1007109"/>
                  </a:lnTo>
                  <a:lnTo>
                    <a:pt x="32143" y="999489"/>
                  </a:lnTo>
                  <a:lnTo>
                    <a:pt x="27546" y="993139"/>
                  </a:lnTo>
                  <a:lnTo>
                    <a:pt x="27228" y="991869"/>
                  </a:lnTo>
                  <a:lnTo>
                    <a:pt x="22987" y="984249"/>
                  </a:lnTo>
                  <a:lnTo>
                    <a:pt x="18796" y="976629"/>
                  </a:lnTo>
                  <a:lnTo>
                    <a:pt x="3784" y="932179"/>
                  </a:lnTo>
                  <a:lnTo>
                    <a:pt x="952" y="913129"/>
                  </a:lnTo>
                  <a:lnTo>
                    <a:pt x="228" y="904239"/>
                  </a:lnTo>
                  <a:lnTo>
                    <a:pt x="0" y="894079"/>
                  </a:lnTo>
                  <a:lnTo>
                    <a:pt x="0" y="187959"/>
                  </a:lnTo>
                  <a:lnTo>
                    <a:pt x="195" y="180339"/>
                  </a:lnTo>
                  <a:lnTo>
                    <a:pt x="228" y="179069"/>
                  </a:lnTo>
                  <a:lnTo>
                    <a:pt x="1016" y="168909"/>
                  </a:lnTo>
                  <a:lnTo>
                    <a:pt x="2133" y="160019"/>
                  </a:lnTo>
                  <a:lnTo>
                    <a:pt x="3784" y="151129"/>
                  </a:lnTo>
                  <a:lnTo>
                    <a:pt x="3911" y="149859"/>
                  </a:lnTo>
                  <a:lnTo>
                    <a:pt x="18796" y="106679"/>
                  </a:lnTo>
                  <a:lnTo>
                    <a:pt x="27228" y="90169"/>
                  </a:lnTo>
                  <a:lnTo>
                    <a:pt x="58102" y="90169"/>
                  </a:lnTo>
                  <a:lnTo>
                    <a:pt x="54006" y="96519"/>
                  </a:lnTo>
                  <a:lnTo>
                    <a:pt x="53517" y="96519"/>
                  </a:lnTo>
                  <a:lnTo>
                    <a:pt x="49697" y="102869"/>
                  </a:lnTo>
                  <a:lnTo>
                    <a:pt x="49250" y="102869"/>
                  </a:lnTo>
                  <a:lnTo>
                    <a:pt x="45008" y="110489"/>
                  </a:lnTo>
                  <a:lnTo>
                    <a:pt x="45300" y="110489"/>
                  </a:lnTo>
                  <a:lnTo>
                    <a:pt x="42051" y="116839"/>
                  </a:lnTo>
                  <a:lnTo>
                    <a:pt x="41668" y="116839"/>
                  </a:lnTo>
                  <a:lnTo>
                    <a:pt x="38138" y="124459"/>
                  </a:lnTo>
                  <a:lnTo>
                    <a:pt x="38379" y="124459"/>
                  </a:lnTo>
                  <a:lnTo>
                    <a:pt x="35217" y="132079"/>
                  </a:lnTo>
                  <a:lnTo>
                    <a:pt x="35433" y="132079"/>
                  </a:lnTo>
                  <a:lnTo>
                    <a:pt x="32664" y="139699"/>
                  </a:lnTo>
                  <a:lnTo>
                    <a:pt x="32854" y="139699"/>
                  </a:lnTo>
                  <a:lnTo>
                    <a:pt x="30467" y="147319"/>
                  </a:lnTo>
                  <a:lnTo>
                    <a:pt x="30632" y="147319"/>
                  </a:lnTo>
                  <a:lnTo>
                    <a:pt x="28945" y="154939"/>
                  </a:lnTo>
                  <a:lnTo>
                    <a:pt x="28790" y="154939"/>
                  </a:lnTo>
                  <a:lnTo>
                    <a:pt x="27330" y="163829"/>
                  </a:lnTo>
                  <a:lnTo>
                    <a:pt x="25400" y="894079"/>
                  </a:lnTo>
                  <a:lnTo>
                    <a:pt x="25590" y="902969"/>
                  </a:lnTo>
                  <a:lnTo>
                    <a:pt x="26109" y="909696"/>
                  </a:lnTo>
                  <a:lnTo>
                    <a:pt x="26178" y="910591"/>
                  </a:lnTo>
                  <a:lnTo>
                    <a:pt x="26358" y="911849"/>
                  </a:lnTo>
                  <a:lnTo>
                    <a:pt x="27241" y="919479"/>
                  </a:lnTo>
                  <a:lnTo>
                    <a:pt x="28786" y="927076"/>
                  </a:lnTo>
                  <a:lnTo>
                    <a:pt x="28658" y="927076"/>
                  </a:lnTo>
                  <a:lnTo>
                    <a:pt x="29727" y="931902"/>
                  </a:lnTo>
                  <a:lnTo>
                    <a:pt x="30473" y="934744"/>
                  </a:lnTo>
                  <a:lnTo>
                    <a:pt x="30522" y="935494"/>
                  </a:lnTo>
                  <a:lnTo>
                    <a:pt x="30632" y="935989"/>
                  </a:lnTo>
                  <a:lnTo>
                    <a:pt x="30808" y="935989"/>
                  </a:lnTo>
                  <a:lnTo>
                    <a:pt x="32854" y="943609"/>
                  </a:lnTo>
                  <a:lnTo>
                    <a:pt x="33059" y="943609"/>
                  </a:lnTo>
                  <a:lnTo>
                    <a:pt x="35433" y="951229"/>
                  </a:lnTo>
                  <a:lnTo>
                    <a:pt x="35668" y="951229"/>
                  </a:lnTo>
                  <a:lnTo>
                    <a:pt x="38379" y="958849"/>
                  </a:lnTo>
                  <a:lnTo>
                    <a:pt x="38726" y="958849"/>
                  </a:lnTo>
                  <a:lnTo>
                    <a:pt x="41668" y="965199"/>
                  </a:lnTo>
                  <a:lnTo>
                    <a:pt x="41402" y="965199"/>
                  </a:lnTo>
                  <a:lnTo>
                    <a:pt x="45300" y="972819"/>
                  </a:lnTo>
                  <a:lnTo>
                    <a:pt x="45715" y="972819"/>
                  </a:lnTo>
                  <a:lnTo>
                    <a:pt x="49250" y="979169"/>
                  </a:lnTo>
                  <a:lnTo>
                    <a:pt x="48933" y="979169"/>
                  </a:lnTo>
                  <a:lnTo>
                    <a:pt x="53517" y="985519"/>
                  </a:lnTo>
                  <a:lnTo>
                    <a:pt x="53187" y="985519"/>
                  </a:lnTo>
                  <a:lnTo>
                    <a:pt x="58102" y="991869"/>
                  </a:lnTo>
                  <a:lnTo>
                    <a:pt x="57734" y="991869"/>
                  </a:lnTo>
                  <a:lnTo>
                    <a:pt x="62979" y="998219"/>
                  </a:lnTo>
                  <a:lnTo>
                    <a:pt x="62585" y="998219"/>
                  </a:lnTo>
                  <a:lnTo>
                    <a:pt x="68135" y="1004569"/>
                  </a:lnTo>
                  <a:lnTo>
                    <a:pt x="67729" y="1004569"/>
                  </a:lnTo>
                  <a:lnTo>
                    <a:pt x="73571" y="1009649"/>
                  </a:lnTo>
                  <a:lnTo>
                    <a:pt x="73139" y="1009649"/>
                  </a:lnTo>
                  <a:lnTo>
                    <a:pt x="79273" y="1015999"/>
                  </a:lnTo>
                  <a:lnTo>
                    <a:pt x="80096" y="1015999"/>
                  </a:lnTo>
                  <a:lnTo>
                    <a:pt x="85217" y="1021079"/>
                  </a:lnTo>
                  <a:lnTo>
                    <a:pt x="86090" y="1021079"/>
                  </a:lnTo>
                  <a:lnTo>
                    <a:pt x="91414" y="1026159"/>
                  </a:lnTo>
                  <a:lnTo>
                    <a:pt x="92662" y="1026159"/>
                  </a:lnTo>
                  <a:lnTo>
                    <a:pt x="97853" y="1029969"/>
                  </a:lnTo>
                  <a:lnTo>
                    <a:pt x="97345" y="1029969"/>
                  </a:lnTo>
                  <a:lnTo>
                    <a:pt x="104495" y="1035049"/>
                  </a:lnTo>
                  <a:lnTo>
                    <a:pt x="105822" y="1035049"/>
                  </a:lnTo>
                  <a:lnTo>
                    <a:pt x="111366" y="1038859"/>
                  </a:lnTo>
                  <a:lnTo>
                    <a:pt x="113355" y="1038859"/>
                  </a:lnTo>
                  <a:lnTo>
                    <a:pt x="118427" y="1041399"/>
                  </a:lnTo>
                  <a:lnTo>
                    <a:pt x="117881" y="1041399"/>
                  </a:lnTo>
                  <a:lnTo>
                    <a:pt x="125691" y="1045209"/>
                  </a:lnTo>
                  <a:lnTo>
                    <a:pt x="125120" y="1045209"/>
                  </a:lnTo>
                  <a:lnTo>
                    <a:pt x="133134" y="1047749"/>
                  </a:lnTo>
                  <a:lnTo>
                    <a:pt x="132537" y="1047749"/>
                  </a:lnTo>
                  <a:lnTo>
                    <a:pt x="140741" y="1050289"/>
                  </a:lnTo>
                  <a:lnTo>
                    <a:pt x="140144" y="1050289"/>
                  </a:lnTo>
                  <a:lnTo>
                    <a:pt x="148513" y="1052830"/>
                  </a:lnTo>
                  <a:lnTo>
                    <a:pt x="147904" y="1052830"/>
                  </a:lnTo>
                  <a:lnTo>
                    <a:pt x="155171" y="1053911"/>
                  </a:lnTo>
                  <a:lnTo>
                    <a:pt x="164503" y="1056639"/>
                  </a:lnTo>
                  <a:lnTo>
                    <a:pt x="172059" y="1056639"/>
                  </a:lnTo>
                  <a:lnTo>
                    <a:pt x="181013" y="1057909"/>
                  </a:lnTo>
                  <a:lnTo>
                    <a:pt x="2272512" y="1057909"/>
                  </a:lnTo>
                  <a:lnTo>
                    <a:pt x="2267229" y="1060449"/>
                  </a:lnTo>
                  <a:lnTo>
                    <a:pt x="2259622" y="1064259"/>
                  </a:lnTo>
                  <a:lnTo>
                    <a:pt x="2251240" y="1068069"/>
                  </a:lnTo>
                  <a:close/>
                </a:path>
                <a:path w="2366645" h="1083310">
                  <a:moveTo>
                    <a:pt x="53187" y="97789"/>
                  </a:moveTo>
                  <a:lnTo>
                    <a:pt x="53517" y="96519"/>
                  </a:lnTo>
                  <a:lnTo>
                    <a:pt x="54006" y="96519"/>
                  </a:lnTo>
                  <a:lnTo>
                    <a:pt x="53187" y="97789"/>
                  </a:lnTo>
                  <a:close/>
                </a:path>
                <a:path w="2366645" h="1083310">
                  <a:moveTo>
                    <a:pt x="2317534" y="104139"/>
                  </a:moveTo>
                  <a:lnTo>
                    <a:pt x="2312949" y="96519"/>
                  </a:lnTo>
                  <a:lnTo>
                    <a:pt x="2342485" y="96519"/>
                  </a:lnTo>
                  <a:lnTo>
                    <a:pt x="2343785" y="99059"/>
                  </a:lnTo>
                  <a:lnTo>
                    <a:pt x="2345867" y="102869"/>
                  </a:lnTo>
                  <a:lnTo>
                    <a:pt x="2317216" y="102869"/>
                  </a:lnTo>
                  <a:lnTo>
                    <a:pt x="2317534" y="104139"/>
                  </a:lnTo>
                  <a:close/>
                </a:path>
                <a:path w="2366645" h="1083310">
                  <a:moveTo>
                    <a:pt x="48933" y="104139"/>
                  </a:moveTo>
                  <a:lnTo>
                    <a:pt x="49250" y="102869"/>
                  </a:lnTo>
                  <a:lnTo>
                    <a:pt x="49697" y="102869"/>
                  </a:lnTo>
                  <a:lnTo>
                    <a:pt x="48933" y="104139"/>
                  </a:lnTo>
                  <a:close/>
                </a:path>
                <a:path w="2366645" h="1083310">
                  <a:moveTo>
                    <a:pt x="2325065" y="118109"/>
                  </a:moveTo>
                  <a:lnTo>
                    <a:pt x="2321166" y="110489"/>
                  </a:lnTo>
                  <a:lnTo>
                    <a:pt x="2321471" y="110489"/>
                  </a:lnTo>
                  <a:lnTo>
                    <a:pt x="2317216" y="102869"/>
                  </a:lnTo>
                  <a:lnTo>
                    <a:pt x="2345867" y="102869"/>
                  </a:lnTo>
                  <a:lnTo>
                    <a:pt x="2347950" y="106679"/>
                  </a:lnTo>
                  <a:lnTo>
                    <a:pt x="2351481" y="114299"/>
                  </a:lnTo>
                  <a:lnTo>
                    <a:pt x="2351722" y="115569"/>
                  </a:lnTo>
                  <a:lnTo>
                    <a:pt x="2352285" y="116839"/>
                  </a:lnTo>
                  <a:lnTo>
                    <a:pt x="2324798" y="116839"/>
                  </a:lnTo>
                  <a:lnTo>
                    <a:pt x="2325065" y="118109"/>
                  </a:lnTo>
                  <a:close/>
                </a:path>
                <a:path w="2366645" h="1083310">
                  <a:moveTo>
                    <a:pt x="41402" y="118109"/>
                  </a:moveTo>
                  <a:lnTo>
                    <a:pt x="41668" y="116839"/>
                  </a:lnTo>
                  <a:lnTo>
                    <a:pt x="42051" y="116839"/>
                  </a:lnTo>
                  <a:lnTo>
                    <a:pt x="41402" y="118109"/>
                  </a:lnTo>
                  <a:close/>
                </a:path>
                <a:path w="2366645" h="1083310">
                  <a:moveTo>
                    <a:pt x="2361760" y="935989"/>
                  </a:moveTo>
                  <a:lnTo>
                    <a:pt x="2335847" y="935989"/>
                  </a:lnTo>
                  <a:lnTo>
                    <a:pt x="2336921" y="931140"/>
                  </a:lnTo>
                  <a:lnTo>
                    <a:pt x="2339136" y="919479"/>
                  </a:lnTo>
                  <a:lnTo>
                    <a:pt x="2341067" y="894079"/>
                  </a:lnTo>
                  <a:lnTo>
                    <a:pt x="2341050" y="187959"/>
                  </a:lnTo>
                  <a:lnTo>
                    <a:pt x="2340876" y="180339"/>
                  </a:lnTo>
                  <a:lnTo>
                    <a:pt x="2340267" y="171449"/>
                  </a:lnTo>
                  <a:lnTo>
                    <a:pt x="2339238" y="163829"/>
                  </a:lnTo>
                  <a:lnTo>
                    <a:pt x="2337689" y="154939"/>
                  </a:lnTo>
                  <a:lnTo>
                    <a:pt x="2337534" y="154939"/>
                  </a:lnTo>
                  <a:lnTo>
                    <a:pt x="2335847" y="147319"/>
                  </a:lnTo>
                  <a:lnTo>
                    <a:pt x="2335999" y="147319"/>
                  </a:lnTo>
                  <a:lnTo>
                    <a:pt x="2333625" y="139699"/>
                  </a:lnTo>
                  <a:lnTo>
                    <a:pt x="2333802" y="139699"/>
                  </a:lnTo>
                  <a:lnTo>
                    <a:pt x="2331034" y="132079"/>
                  </a:lnTo>
                  <a:lnTo>
                    <a:pt x="2331250" y="132079"/>
                  </a:lnTo>
                  <a:lnTo>
                    <a:pt x="2328087" y="124459"/>
                  </a:lnTo>
                  <a:lnTo>
                    <a:pt x="2328329" y="124459"/>
                  </a:lnTo>
                  <a:lnTo>
                    <a:pt x="2324798" y="116839"/>
                  </a:lnTo>
                  <a:lnTo>
                    <a:pt x="2352285" y="116839"/>
                  </a:lnTo>
                  <a:lnTo>
                    <a:pt x="2362682" y="151129"/>
                  </a:lnTo>
                  <a:lnTo>
                    <a:pt x="2363352" y="154939"/>
                  </a:lnTo>
                  <a:lnTo>
                    <a:pt x="2337689" y="154939"/>
                  </a:lnTo>
                  <a:lnTo>
                    <a:pt x="2337907" y="156194"/>
                  </a:lnTo>
                  <a:lnTo>
                    <a:pt x="2363572" y="156194"/>
                  </a:lnTo>
                  <a:lnTo>
                    <a:pt x="2364244" y="160019"/>
                  </a:lnTo>
                  <a:lnTo>
                    <a:pt x="2365527" y="168909"/>
                  </a:lnTo>
                  <a:lnTo>
                    <a:pt x="2366238" y="179069"/>
                  </a:lnTo>
                  <a:lnTo>
                    <a:pt x="2366467" y="187959"/>
                  </a:lnTo>
                  <a:lnTo>
                    <a:pt x="2366467" y="894079"/>
                  </a:lnTo>
                  <a:lnTo>
                    <a:pt x="2365629" y="911849"/>
                  </a:lnTo>
                  <a:lnTo>
                    <a:pt x="2365527" y="913129"/>
                  </a:lnTo>
                  <a:lnTo>
                    <a:pt x="2365463" y="914399"/>
                  </a:lnTo>
                  <a:lnTo>
                    <a:pt x="2364244" y="923289"/>
                  </a:lnTo>
                  <a:lnTo>
                    <a:pt x="2362731" y="931902"/>
                  </a:lnTo>
                  <a:lnTo>
                    <a:pt x="2362682" y="932179"/>
                  </a:lnTo>
                  <a:lnTo>
                    <a:pt x="2362555" y="932179"/>
                  </a:lnTo>
                  <a:lnTo>
                    <a:pt x="2361863" y="935494"/>
                  </a:lnTo>
                  <a:lnTo>
                    <a:pt x="2361760" y="935989"/>
                  </a:lnTo>
                  <a:close/>
                </a:path>
                <a:path w="2366645" h="1083310">
                  <a:moveTo>
                    <a:pt x="28667" y="156194"/>
                  </a:moveTo>
                  <a:lnTo>
                    <a:pt x="28790" y="154939"/>
                  </a:lnTo>
                  <a:lnTo>
                    <a:pt x="28945" y="154939"/>
                  </a:lnTo>
                  <a:lnTo>
                    <a:pt x="28667" y="156194"/>
                  </a:lnTo>
                  <a:close/>
                </a:path>
                <a:path w="2366645" h="1083310">
                  <a:moveTo>
                    <a:pt x="2360038" y="943609"/>
                  </a:moveTo>
                  <a:lnTo>
                    <a:pt x="2333625" y="943609"/>
                  </a:lnTo>
                  <a:lnTo>
                    <a:pt x="2336678" y="932179"/>
                  </a:lnTo>
                  <a:lnTo>
                    <a:pt x="2335957" y="935494"/>
                  </a:lnTo>
                  <a:lnTo>
                    <a:pt x="2335847" y="935989"/>
                  </a:lnTo>
                  <a:lnTo>
                    <a:pt x="2361760" y="935989"/>
                  </a:lnTo>
                  <a:lnTo>
                    <a:pt x="2360434" y="942339"/>
                  </a:lnTo>
                  <a:lnTo>
                    <a:pt x="2360038" y="943609"/>
                  </a:lnTo>
                  <a:close/>
                </a:path>
                <a:path w="2366645" h="1083310">
                  <a:moveTo>
                    <a:pt x="30808" y="935989"/>
                  </a:moveTo>
                  <a:lnTo>
                    <a:pt x="30632" y="935989"/>
                  </a:lnTo>
                  <a:lnTo>
                    <a:pt x="30568" y="935494"/>
                  </a:lnTo>
                  <a:lnTo>
                    <a:pt x="30808" y="935989"/>
                  </a:lnTo>
                  <a:close/>
                </a:path>
                <a:path w="2366645" h="1083310">
                  <a:moveTo>
                    <a:pt x="33059" y="943609"/>
                  </a:moveTo>
                  <a:lnTo>
                    <a:pt x="32854" y="943609"/>
                  </a:lnTo>
                  <a:lnTo>
                    <a:pt x="32664" y="942339"/>
                  </a:lnTo>
                  <a:lnTo>
                    <a:pt x="33059" y="943609"/>
                  </a:lnTo>
                  <a:close/>
                </a:path>
                <a:path w="2366645" h="1083310">
                  <a:moveTo>
                    <a:pt x="2357637" y="951229"/>
                  </a:moveTo>
                  <a:lnTo>
                    <a:pt x="2331034" y="951229"/>
                  </a:lnTo>
                  <a:lnTo>
                    <a:pt x="2333802" y="942339"/>
                  </a:lnTo>
                  <a:lnTo>
                    <a:pt x="2333625" y="943609"/>
                  </a:lnTo>
                  <a:lnTo>
                    <a:pt x="2360038" y="943609"/>
                  </a:lnTo>
                  <a:lnTo>
                    <a:pt x="2358059" y="949959"/>
                  </a:lnTo>
                  <a:lnTo>
                    <a:pt x="2357637" y="951229"/>
                  </a:lnTo>
                  <a:close/>
                </a:path>
                <a:path w="2366645" h="1083310">
                  <a:moveTo>
                    <a:pt x="35668" y="951229"/>
                  </a:moveTo>
                  <a:lnTo>
                    <a:pt x="35433" y="951229"/>
                  </a:lnTo>
                  <a:lnTo>
                    <a:pt x="35217" y="949959"/>
                  </a:lnTo>
                  <a:lnTo>
                    <a:pt x="35668" y="951229"/>
                  </a:lnTo>
                  <a:close/>
                </a:path>
                <a:path w="2366645" h="1083310">
                  <a:moveTo>
                    <a:pt x="2355100" y="958849"/>
                  </a:moveTo>
                  <a:lnTo>
                    <a:pt x="2328087" y="958849"/>
                  </a:lnTo>
                  <a:lnTo>
                    <a:pt x="2331250" y="949959"/>
                  </a:lnTo>
                  <a:lnTo>
                    <a:pt x="2331034" y="951229"/>
                  </a:lnTo>
                  <a:lnTo>
                    <a:pt x="2357637" y="951229"/>
                  </a:lnTo>
                  <a:lnTo>
                    <a:pt x="2355100" y="958849"/>
                  </a:lnTo>
                  <a:close/>
                </a:path>
                <a:path w="2366645" h="1083310">
                  <a:moveTo>
                    <a:pt x="38726" y="958849"/>
                  </a:moveTo>
                  <a:lnTo>
                    <a:pt x="38379" y="958849"/>
                  </a:lnTo>
                  <a:lnTo>
                    <a:pt x="38138" y="957579"/>
                  </a:lnTo>
                  <a:lnTo>
                    <a:pt x="38726" y="958849"/>
                  </a:lnTo>
                  <a:close/>
                </a:path>
                <a:path w="2366645" h="1083310">
                  <a:moveTo>
                    <a:pt x="2349127" y="972819"/>
                  </a:moveTo>
                  <a:lnTo>
                    <a:pt x="2321166" y="972819"/>
                  </a:lnTo>
                  <a:lnTo>
                    <a:pt x="2325065" y="965199"/>
                  </a:lnTo>
                  <a:lnTo>
                    <a:pt x="2324798" y="965199"/>
                  </a:lnTo>
                  <a:lnTo>
                    <a:pt x="2328329" y="957579"/>
                  </a:lnTo>
                  <a:lnTo>
                    <a:pt x="2328087" y="958849"/>
                  </a:lnTo>
                  <a:lnTo>
                    <a:pt x="2355100" y="958849"/>
                  </a:lnTo>
                  <a:lnTo>
                    <a:pt x="2351722" y="967739"/>
                  </a:lnTo>
                  <a:lnTo>
                    <a:pt x="2351481" y="967739"/>
                  </a:lnTo>
                  <a:lnTo>
                    <a:pt x="2349127" y="972819"/>
                  </a:lnTo>
                  <a:close/>
                </a:path>
                <a:path w="2366645" h="1083310">
                  <a:moveTo>
                    <a:pt x="45715" y="972819"/>
                  </a:moveTo>
                  <a:lnTo>
                    <a:pt x="45300" y="972819"/>
                  </a:lnTo>
                  <a:lnTo>
                    <a:pt x="45008" y="971549"/>
                  </a:lnTo>
                  <a:lnTo>
                    <a:pt x="45715" y="972819"/>
                  </a:lnTo>
                  <a:close/>
                </a:path>
                <a:path w="2366645" h="1083310">
                  <a:moveTo>
                    <a:pt x="2321974" y="1015999"/>
                  </a:moveTo>
                  <a:lnTo>
                    <a:pt x="2287206" y="1015999"/>
                  </a:lnTo>
                  <a:lnTo>
                    <a:pt x="2293327" y="1009649"/>
                  </a:lnTo>
                  <a:lnTo>
                    <a:pt x="2292896" y="1009649"/>
                  </a:lnTo>
                  <a:lnTo>
                    <a:pt x="2298738" y="1004569"/>
                  </a:lnTo>
                  <a:lnTo>
                    <a:pt x="2298331" y="1004569"/>
                  </a:lnTo>
                  <a:lnTo>
                    <a:pt x="2303881" y="998219"/>
                  </a:lnTo>
                  <a:lnTo>
                    <a:pt x="2303500" y="998219"/>
                  </a:lnTo>
                  <a:lnTo>
                    <a:pt x="2308733" y="991869"/>
                  </a:lnTo>
                  <a:lnTo>
                    <a:pt x="2308364" y="991869"/>
                  </a:lnTo>
                  <a:lnTo>
                    <a:pt x="2313292" y="985519"/>
                  </a:lnTo>
                  <a:lnTo>
                    <a:pt x="2312949" y="985519"/>
                  </a:lnTo>
                  <a:lnTo>
                    <a:pt x="2317534" y="979169"/>
                  </a:lnTo>
                  <a:lnTo>
                    <a:pt x="2317216" y="979169"/>
                  </a:lnTo>
                  <a:lnTo>
                    <a:pt x="2321471" y="971549"/>
                  </a:lnTo>
                  <a:lnTo>
                    <a:pt x="2321166" y="972819"/>
                  </a:lnTo>
                  <a:lnTo>
                    <a:pt x="2349127" y="972819"/>
                  </a:lnTo>
                  <a:lnTo>
                    <a:pt x="2343785" y="984249"/>
                  </a:lnTo>
                  <a:lnTo>
                    <a:pt x="2339238" y="991869"/>
                  </a:lnTo>
                  <a:lnTo>
                    <a:pt x="2334336" y="999489"/>
                  </a:lnTo>
                  <a:lnTo>
                    <a:pt x="2323084" y="1014729"/>
                  </a:lnTo>
                  <a:lnTo>
                    <a:pt x="2321974" y="1015999"/>
                  </a:lnTo>
                  <a:close/>
                </a:path>
                <a:path w="2366645" h="1083310">
                  <a:moveTo>
                    <a:pt x="80096" y="1015999"/>
                  </a:moveTo>
                  <a:lnTo>
                    <a:pt x="79273" y="1015999"/>
                  </a:lnTo>
                  <a:lnTo>
                    <a:pt x="78816" y="1014729"/>
                  </a:lnTo>
                  <a:lnTo>
                    <a:pt x="80096" y="1015999"/>
                  </a:lnTo>
                  <a:close/>
                </a:path>
                <a:path w="2366645" h="1083310">
                  <a:moveTo>
                    <a:pt x="2317534" y="1021079"/>
                  </a:moveTo>
                  <a:lnTo>
                    <a:pt x="2281250" y="1021079"/>
                  </a:lnTo>
                  <a:lnTo>
                    <a:pt x="2287651" y="1014729"/>
                  </a:lnTo>
                  <a:lnTo>
                    <a:pt x="2287206" y="1015999"/>
                  </a:lnTo>
                  <a:lnTo>
                    <a:pt x="2321974" y="1015999"/>
                  </a:lnTo>
                  <a:lnTo>
                    <a:pt x="2317534" y="1021079"/>
                  </a:lnTo>
                  <a:close/>
                </a:path>
                <a:path w="2366645" h="1083310">
                  <a:moveTo>
                    <a:pt x="86090" y="1021079"/>
                  </a:moveTo>
                  <a:lnTo>
                    <a:pt x="85217" y="1021079"/>
                  </a:lnTo>
                  <a:lnTo>
                    <a:pt x="84759" y="1019809"/>
                  </a:lnTo>
                  <a:lnTo>
                    <a:pt x="86090" y="1021079"/>
                  </a:lnTo>
                  <a:close/>
                </a:path>
                <a:path w="2366645" h="1083310">
                  <a:moveTo>
                    <a:pt x="2312535" y="1026159"/>
                  </a:moveTo>
                  <a:lnTo>
                    <a:pt x="2275052" y="1026159"/>
                  </a:lnTo>
                  <a:lnTo>
                    <a:pt x="2281720" y="1019809"/>
                  </a:lnTo>
                  <a:lnTo>
                    <a:pt x="2281250" y="1021079"/>
                  </a:lnTo>
                  <a:lnTo>
                    <a:pt x="2317534" y="1021079"/>
                  </a:lnTo>
                  <a:lnTo>
                    <a:pt x="2312535" y="1026159"/>
                  </a:lnTo>
                  <a:close/>
                </a:path>
                <a:path w="2366645" h="1083310">
                  <a:moveTo>
                    <a:pt x="92662" y="1026159"/>
                  </a:moveTo>
                  <a:lnTo>
                    <a:pt x="91414" y="1026159"/>
                  </a:lnTo>
                  <a:lnTo>
                    <a:pt x="90932" y="1024889"/>
                  </a:lnTo>
                  <a:lnTo>
                    <a:pt x="92662" y="1026159"/>
                  </a:lnTo>
                  <a:close/>
                </a:path>
                <a:path w="2366645" h="1083310">
                  <a:moveTo>
                    <a:pt x="2303269" y="1035049"/>
                  </a:moveTo>
                  <a:lnTo>
                    <a:pt x="2261971" y="1035049"/>
                  </a:lnTo>
                  <a:lnTo>
                    <a:pt x="2269121" y="1029969"/>
                  </a:lnTo>
                  <a:lnTo>
                    <a:pt x="2268626" y="1029969"/>
                  </a:lnTo>
                  <a:lnTo>
                    <a:pt x="2275535" y="1024889"/>
                  </a:lnTo>
                  <a:lnTo>
                    <a:pt x="2275052" y="1026159"/>
                  </a:lnTo>
                  <a:lnTo>
                    <a:pt x="2312535" y="1026159"/>
                  </a:lnTo>
                  <a:lnTo>
                    <a:pt x="2311285" y="1027429"/>
                  </a:lnTo>
                  <a:lnTo>
                    <a:pt x="2310853" y="1028699"/>
                  </a:lnTo>
                  <a:lnTo>
                    <a:pt x="2304732" y="1033779"/>
                  </a:lnTo>
                  <a:lnTo>
                    <a:pt x="2303269" y="1035049"/>
                  </a:lnTo>
                  <a:close/>
                </a:path>
                <a:path w="2366645" h="1083310">
                  <a:moveTo>
                    <a:pt x="105822" y="1035049"/>
                  </a:moveTo>
                  <a:lnTo>
                    <a:pt x="104495" y="1035049"/>
                  </a:lnTo>
                  <a:lnTo>
                    <a:pt x="103974" y="1033779"/>
                  </a:lnTo>
                  <a:lnTo>
                    <a:pt x="105822" y="1035049"/>
                  </a:lnTo>
                  <a:close/>
                </a:path>
                <a:path w="2366645" h="1083310">
                  <a:moveTo>
                    <a:pt x="2298880" y="1038859"/>
                  </a:moveTo>
                  <a:lnTo>
                    <a:pt x="2255100" y="1038859"/>
                  </a:lnTo>
                  <a:lnTo>
                    <a:pt x="2262492" y="1033779"/>
                  </a:lnTo>
                  <a:lnTo>
                    <a:pt x="2261971" y="1035049"/>
                  </a:lnTo>
                  <a:lnTo>
                    <a:pt x="2303269" y="1035049"/>
                  </a:lnTo>
                  <a:lnTo>
                    <a:pt x="2298880" y="1038859"/>
                  </a:lnTo>
                  <a:close/>
                </a:path>
                <a:path w="2366645" h="1083310">
                  <a:moveTo>
                    <a:pt x="113355" y="1038859"/>
                  </a:moveTo>
                  <a:lnTo>
                    <a:pt x="111366" y="1038859"/>
                  </a:lnTo>
                  <a:lnTo>
                    <a:pt x="110820" y="1037589"/>
                  </a:lnTo>
                  <a:lnTo>
                    <a:pt x="113355" y="1038859"/>
                  </a:lnTo>
                  <a:close/>
                </a:path>
                <a:path w="2366645" h="1083310">
                  <a:moveTo>
                    <a:pt x="2272512" y="1057909"/>
                  </a:moveTo>
                  <a:lnTo>
                    <a:pt x="2185454" y="1057909"/>
                  </a:lnTo>
                  <a:lnTo>
                    <a:pt x="2194407" y="1056639"/>
                  </a:lnTo>
                  <a:lnTo>
                    <a:pt x="2201976" y="1056639"/>
                  </a:lnTo>
                  <a:lnTo>
                    <a:pt x="2211308" y="1053911"/>
                  </a:lnTo>
                  <a:lnTo>
                    <a:pt x="2218575" y="1052830"/>
                  </a:lnTo>
                  <a:lnTo>
                    <a:pt x="2217966" y="1052830"/>
                  </a:lnTo>
                  <a:lnTo>
                    <a:pt x="2226335" y="1050289"/>
                  </a:lnTo>
                  <a:lnTo>
                    <a:pt x="2225725" y="1050289"/>
                  </a:lnTo>
                  <a:lnTo>
                    <a:pt x="2233930" y="1047749"/>
                  </a:lnTo>
                  <a:lnTo>
                    <a:pt x="2233345" y="1047749"/>
                  </a:lnTo>
                  <a:lnTo>
                    <a:pt x="2241359" y="1045209"/>
                  </a:lnTo>
                  <a:lnTo>
                    <a:pt x="2240775" y="1045209"/>
                  </a:lnTo>
                  <a:lnTo>
                    <a:pt x="2248598" y="1041399"/>
                  </a:lnTo>
                  <a:lnTo>
                    <a:pt x="2248039" y="1041399"/>
                  </a:lnTo>
                  <a:lnTo>
                    <a:pt x="2255647" y="1037589"/>
                  </a:lnTo>
                  <a:lnTo>
                    <a:pt x="2255100" y="1038859"/>
                  </a:lnTo>
                  <a:lnTo>
                    <a:pt x="2298880" y="1038859"/>
                  </a:lnTo>
                  <a:lnTo>
                    <a:pt x="2297417" y="1040129"/>
                  </a:lnTo>
                  <a:lnTo>
                    <a:pt x="2290749" y="1045209"/>
                  </a:lnTo>
                  <a:lnTo>
                    <a:pt x="2283345" y="1050289"/>
                  </a:lnTo>
                  <a:lnTo>
                    <a:pt x="2282837" y="1051559"/>
                  </a:lnTo>
                  <a:lnTo>
                    <a:pt x="2275674" y="1055369"/>
                  </a:lnTo>
                  <a:lnTo>
                    <a:pt x="2275154" y="1056639"/>
                  </a:lnTo>
                  <a:lnTo>
                    <a:pt x="2272512" y="1057909"/>
                  </a:lnTo>
                  <a:close/>
                </a:path>
                <a:path w="2366645" h="1083310">
                  <a:moveTo>
                    <a:pt x="2215743" y="1079499"/>
                  </a:moveTo>
                  <a:lnTo>
                    <a:pt x="150723" y="1079499"/>
                  </a:lnTo>
                  <a:lnTo>
                    <a:pt x="132600" y="1074419"/>
                  </a:lnTo>
                  <a:lnTo>
                    <a:pt x="124396" y="1071880"/>
                  </a:lnTo>
                  <a:lnTo>
                    <a:pt x="115798" y="1068069"/>
                  </a:lnTo>
                  <a:lnTo>
                    <a:pt x="2250668" y="1068069"/>
                  </a:lnTo>
                  <a:lnTo>
                    <a:pt x="2242070" y="1071880"/>
                  </a:lnTo>
                  <a:lnTo>
                    <a:pt x="2233866" y="1074419"/>
                  </a:lnTo>
                  <a:lnTo>
                    <a:pt x="2215743" y="1079499"/>
                  </a:lnTo>
                  <a:close/>
                </a:path>
                <a:path w="2366645" h="1083310">
                  <a:moveTo>
                    <a:pt x="2196973" y="1082039"/>
                  </a:moveTo>
                  <a:lnTo>
                    <a:pt x="169494" y="1082039"/>
                  </a:lnTo>
                  <a:lnTo>
                    <a:pt x="151345" y="1079499"/>
                  </a:lnTo>
                  <a:lnTo>
                    <a:pt x="2215121" y="1079499"/>
                  </a:lnTo>
                  <a:lnTo>
                    <a:pt x="2206434" y="1080769"/>
                  </a:lnTo>
                  <a:lnTo>
                    <a:pt x="2205799" y="1080769"/>
                  </a:lnTo>
                  <a:lnTo>
                    <a:pt x="2196973" y="1082039"/>
                  </a:lnTo>
                  <a:close/>
                </a:path>
                <a:path w="2366645" h="1083310">
                  <a:moveTo>
                    <a:pt x="2187371" y="1083309"/>
                  </a:moveTo>
                  <a:lnTo>
                    <a:pt x="179730" y="1083309"/>
                  </a:lnTo>
                  <a:lnTo>
                    <a:pt x="170129" y="1082039"/>
                  </a:lnTo>
                  <a:lnTo>
                    <a:pt x="2196338" y="1082039"/>
                  </a:lnTo>
                  <a:lnTo>
                    <a:pt x="2187371" y="1083309"/>
                  </a:lnTo>
                  <a:close/>
                </a:path>
              </a:pathLst>
            </a:custGeom>
            <a:solidFill>
              <a:srgbClr val="7E7E7E"/>
            </a:solidFill>
          </p:spPr>
          <p:txBody>
            <a:bodyPr wrap="square" lIns="0" tIns="0" rIns="0" bIns="0" rtlCol="0"/>
            <a:lstStyle/>
            <a:p>
              <a:endParaRPr/>
            </a:p>
          </p:txBody>
        </p:sp>
      </p:grpSp>
      <p:sp>
        <p:nvSpPr>
          <p:cNvPr id="91" name="文本框 90">
            <a:extLst>
              <a:ext uri="{FF2B5EF4-FFF2-40B4-BE49-F238E27FC236}">
                <a16:creationId xmlns:a16="http://schemas.microsoft.com/office/drawing/2014/main" id="{13BDFC07-E5D0-0ABC-4661-7686D8C126AF}"/>
              </a:ext>
            </a:extLst>
          </p:cNvPr>
          <p:cNvSpPr txBox="1"/>
          <p:nvPr/>
        </p:nvSpPr>
        <p:spPr>
          <a:xfrm>
            <a:off x="578679" y="5234755"/>
            <a:ext cx="2012334" cy="461665"/>
          </a:xfrm>
          <a:prstGeom prst="rect">
            <a:avLst/>
          </a:prstGeom>
          <a:noFill/>
        </p:spPr>
        <p:txBody>
          <a:bodyPr wrap="square" rtlCol="0">
            <a:spAutoFit/>
          </a:bodyPr>
          <a:lstStyle/>
          <a:p>
            <a:pPr algn="ctr"/>
            <a:r>
              <a:rPr lang="en-US" altLang="zh-CN" sz="2400" dirty="0">
                <a:solidFill>
                  <a:srgbClr val="FF0000"/>
                </a:solidFill>
                <a:latin typeface="Times New Roman" panose="02020603050405020304" pitchFamily="18" charset="0"/>
                <a:cs typeface="Times New Roman" panose="02020603050405020304" pitchFamily="18" charset="0"/>
              </a:rPr>
              <a:t>K-means</a:t>
            </a:r>
            <a:endParaRPr lang="zh-CN" altLang="en-US" sz="2400" dirty="0">
              <a:solidFill>
                <a:srgbClr val="FF0000"/>
              </a:solidFill>
              <a:latin typeface="Times New Roman" panose="02020603050405020304" pitchFamily="18" charset="0"/>
              <a:cs typeface="Times New Roman" panose="02020603050405020304" pitchFamily="18" charset="0"/>
            </a:endParaRPr>
          </a:p>
        </p:txBody>
      </p:sp>
      <p:sp>
        <p:nvSpPr>
          <p:cNvPr id="93" name="文本框 92">
            <a:extLst>
              <a:ext uri="{FF2B5EF4-FFF2-40B4-BE49-F238E27FC236}">
                <a16:creationId xmlns:a16="http://schemas.microsoft.com/office/drawing/2014/main" id="{27031B7B-4632-0779-C155-5E9836B88753}"/>
              </a:ext>
            </a:extLst>
          </p:cNvPr>
          <p:cNvSpPr txBox="1"/>
          <p:nvPr/>
        </p:nvSpPr>
        <p:spPr>
          <a:xfrm>
            <a:off x="3681906" y="5234757"/>
            <a:ext cx="1837765" cy="461665"/>
          </a:xfrm>
          <a:prstGeom prst="rect">
            <a:avLst/>
          </a:prstGeom>
          <a:noFill/>
        </p:spPr>
        <p:txBody>
          <a:bodyPr wrap="square" rtlCol="0">
            <a:spAutoFit/>
          </a:bodyPr>
          <a:lstStyle/>
          <a:p>
            <a:pPr algn="ctr"/>
            <a:r>
              <a:rPr lang="en-US" altLang="zh-CN" sz="2400" dirty="0">
                <a:latin typeface="Times New Roman" panose="02020603050405020304" pitchFamily="18" charset="0"/>
                <a:cs typeface="Times New Roman" panose="02020603050405020304" pitchFamily="18" charset="0"/>
              </a:rPr>
              <a:t>DBSCAN</a:t>
            </a:r>
            <a:endParaRPr lang="zh-CN" altLang="en-US" sz="2400" dirty="0">
              <a:latin typeface="Times New Roman" panose="02020603050405020304" pitchFamily="18" charset="0"/>
              <a:cs typeface="Times New Roman" panose="02020603050405020304" pitchFamily="18" charset="0"/>
            </a:endParaRPr>
          </a:p>
        </p:txBody>
      </p:sp>
      <p:sp>
        <p:nvSpPr>
          <p:cNvPr id="94" name="文本框 93">
            <a:extLst>
              <a:ext uri="{FF2B5EF4-FFF2-40B4-BE49-F238E27FC236}">
                <a16:creationId xmlns:a16="http://schemas.microsoft.com/office/drawing/2014/main" id="{C4E32B44-05B0-4019-C383-4784616630DC}"/>
              </a:ext>
            </a:extLst>
          </p:cNvPr>
          <p:cNvSpPr txBox="1"/>
          <p:nvPr/>
        </p:nvSpPr>
        <p:spPr>
          <a:xfrm>
            <a:off x="6570121" y="5234757"/>
            <a:ext cx="1837765" cy="461665"/>
          </a:xfrm>
          <a:prstGeom prst="rect">
            <a:avLst/>
          </a:prstGeom>
          <a:noFill/>
        </p:spPr>
        <p:txBody>
          <a:bodyPr wrap="square" rtlCol="0">
            <a:spAutoFit/>
          </a:bodyPr>
          <a:lstStyle/>
          <a:p>
            <a:pPr algn="ctr"/>
            <a:r>
              <a:rPr lang="zh-CN" altLang="en-US" sz="2400" dirty="0">
                <a:latin typeface="Times New Roman" panose="02020603050405020304" pitchFamily="18" charset="0"/>
                <a:cs typeface="Times New Roman" panose="02020603050405020304" pitchFamily="18" charset="0"/>
              </a:rPr>
              <a:t>层次聚类</a:t>
            </a:r>
          </a:p>
        </p:txBody>
      </p:sp>
      <p:sp>
        <p:nvSpPr>
          <p:cNvPr id="95" name="文本框 94">
            <a:extLst>
              <a:ext uri="{FF2B5EF4-FFF2-40B4-BE49-F238E27FC236}">
                <a16:creationId xmlns:a16="http://schemas.microsoft.com/office/drawing/2014/main" id="{75D6D9C2-77DB-275E-EE9C-81D234FC90B0}"/>
              </a:ext>
            </a:extLst>
          </p:cNvPr>
          <p:cNvSpPr txBox="1"/>
          <p:nvPr/>
        </p:nvSpPr>
        <p:spPr>
          <a:xfrm>
            <a:off x="9569824" y="5234756"/>
            <a:ext cx="1837765" cy="461665"/>
          </a:xfrm>
          <a:prstGeom prst="rect">
            <a:avLst/>
          </a:prstGeom>
          <a:noFill/>
        </p:spPr>
        <p:txBody>
          <a:bodyPr wrap="square" rtlCol="0">
            <a:spAutoFit/>
          </a:bodyPr>
          <a:lstStyle/>
          <a:p>
            <a:pPr algn="ctr"/>
            <a:r>
              <a:rPr lang="zh-CN" altLang="en-US" sz="2400" dirty="0">
                <a:latin typeface="Times New Roman" panose="02020603050405020304" pitchFamily="18" charset="0"/>
                <a:cs typeface="Times New Roman" panose="02020603050405020304" pitchFamily="18" charset="0"/>
              </a:rPr>
              <a:t>谱聚类</a:t>
            </a:r>
          </a:p>
        </p:txBody>
      </p:sp>
    </p:spTree>
    <p:extLst>
      <p:ext uri="{BB962C8B-B14F-4D97-AF65-F5344CB8AC3E}">
        <p14:creationId xmlns:p14="http://schemas.microsoft.com/office/powerpoint/2010/main" val="1217841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1E88A60-A0A9-A3FF-98F8-F7C390902CA0}"/>
              </a:ext>
            </a:extLst>
          </p:cNvPr>
          <p:cNvGrpSpPr/>
          <p:nvPr/>
        </p:nvGrpSpPr>
        <p:grpSpPr>
          <a:xfrm>
            <a:off x="1959362" y="1085911"/>
            <a:ext cx="7464387" cy="497934"/>
            <a:chOff x="4099943" y="2819853"/>
            <a:chExt cx="2570275" cy="497934"/>
          </a:xfrm>
        </p:grpSpPr>
        <p:sp>
          <p:nvSpPr>
            <p:cNvPr id="3" name="平行四边形 2">
              <a:extLst>
                <a:ext uri="{FF2B5EF4-FFF2-40B4-BE49-F238E27FC236}">
                  <a16:creationId xmlns:a16="http://schemas.microsoft.com/office/drawing/2014/main" id="{BD74B556-308C-BD1F-290B-B97FCDEB2697}"/>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338D72CB-3D28-FA2E-7314-20C91D6309A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B495DDB6-C7A3-9941-FE46-9B4D909AD108}"/>
                </a:ext>
              </a:extLst>
            </p:cNvPr>
            <p:cNvSpPr/>
            <p:nvPr/>
          </p:nvSpPr>
          <p:spPr>
            <a:xfrm>
              <a:off x="4216534" y="2853798"/>
              <a:ext cx="2359684"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p>
          </p:txBody>
        </p:sp>
      </p:grpSp>
      <p:grpSp>
        <p:nvGrpSpPr>
          <p:cNvPr id="6" name="组合 5">
            <a:extLst>
              <a:ext uri="{FF2B5EF4-FFF2-40B4-BE49-F238E27FC236}">
                <a16:creationId xmlns:a16="http://schemas.microsoft.com/office/drawing/2014/main" id="{27FE8027-D345-359A-B1E2-0A08CC0F2B64}"/>
              </a:ext>
            </a:extLst>
          </p:cNvPr>
          <p:cNvGrpSpPr/>
          <p:nvPr/>
        </p:nvGrpSpPr>
        <p:grpSpPr>
          <a:xfrm>
            <a:off x="546388" y="1960384"/>
            <a:ext cx="11035468" cy="4768409"/>
            <a:chOff x="1099312" y="1723345"/>
            <a:chExt cx="10062913" cy="3432863"/>
          </a:xfrm>
          <a:solidFill>
            <a:schemeClr val="accent5">
              <a:lumMod val="50000"/>
            </a:schemeClr>
          </a:solidFill>
        </p:grpSpPr>
        <p:sp>
          <p:nvSpPr>
            <p:cNvPr id="7" name="立方体 6">
              <a:extLst>
                <a:ext uri="{FF2B5EF4-FFF2-40B4-BE49-F238E27FC236}">
                  <a16:creationId xmlns:a16="http://schemas.microsoft.com/office/drawing/2014/main" id="{7A46EFFF-CF26-DDAC-5D66-D7FFFA0FBDAE}"/>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8" name="直接连接符 7">
              <a:extLst>
                <a:ext uri="{FF2B5EF4-FFF2-40B4-BE49-F238E27FC236}">
                  <a16:creationId xmlns:a16="http://schemas.microsoft.com/office/drawing/2014/main" id="{651221EB-6B67-CF73-8A4D-F9F71E5EDED4}"/>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6C2EA955-4231-A17F-FE77-9EC02B2A799D}"/>
                </a:ext>
              </a:extLst>
            </p:cNvPr>
            <p:cNvGrpSpPr/>
            <p:nvPr/>
          </p:nvGrpSpPr>
          <p:grpSpPr>
            <a:xfrm>
              <a:off x="1099312" y="1742007"/>
              <a:ext cx="3220132" cy="3220133"/>
              <a:chOff x="1099312" y="2369187"/>
              <a:chExt cx="3220132" cy="3220133"/>
            </a:xfrm>
            <a:grpFill/>
          </p:grpSpPr>
          <p:cxnSp>
            <p:nvCxnSpPr>
              <p:cNvPr id="11" name="直接连接符 10">
                <a:extLst>
                  <a:ext uri="{FF2B5EF4-FFF2-40B4-BE49-F238E27FC236}">
                    <a16:creationId xmlns:a16="http://schemas.microsoft.com/office/drawing/2014/main" id="{AC954713-AB04-FE69-4864-D7655D1D3698}"/>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342482-4C9D-F712-48D7-829469F5C7DC}"/>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232DB185-65A3-AF78-EAA2-78772D732EAF}"/>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3" name="矩形 12">
            <a:extLst>
              <a:ext uri="{FF2B5EF4-FFF2-40B4-BE49-F238E27FC236}">
                <a16:creationId xmlns:a16="http://schemas.microsoft.com/office/drawing/2014/main" id="{30B86E49-A67B-4EAB-A6FB-DC3A11932F1B}"/>
              </a:ext>
            </a:extLst>
          </p:cNvPr>
          <p:cNvSpPr/>
          <p:nvPr/>
        </p:nvSpPr>
        <p:spPr>
          <a:xfrm>
            <a:off x="838671" y="2057287"/>
            <a:ext cx="10387153" cy="3970318"/>
          </a:xfrm>
          <a:prstGeom prst="rect">
            <a:avLst/>
          </a:prstGeom>
        </p:spPr>
        <p:txBody>
          <a:bodyPr wrap="square">
            <a:spAutoFit/>
          </a:bodyPr>
          <a:lstStyle/>
          <a:p>
            <a:pPr marL="342900" indent="-342900">
              <a:lnSpc>
                <a:spcPct val="150000"/>
              </a:lnSpc>
              <a:buSzPct val="80000"/>
              <a:buFont typeface="Wingdings" panose="05000000000000000000" pitchFamily="2" charset="2"/>
              <a:buChar char="u"/>
            </a:pPr>
            <a:r>
              <a:rPr lang="en-US" altLang="zh-CN" sz="2400" b="1" dirty="0" smtClean="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4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的目标是将</a:t>
            </a:r>
            <a:r>
              <a:rPr lang="zh-CN" altLang="en-US"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𝑛个𝑑维数据</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𝑥</a:t>
            </a:r>
            <a:r>
              <a:rPr lang="zh-CN" altLang="en-US" sz="2400" baseline="-250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𝑖</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𝑖</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𝑛</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划分为</a:t>
            </a:r>
            <a:r>
              <a:rPr lang="zh-CN" altLang="en-US" sz="2400"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𝐾个聚簇</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，使得</a:t>
            </a:r>
            <a:r>
              <a:rPr lang="zh-CN" altLang="en-US"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簇内方差最小化</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。由于原始数据可能的聚类结果数量巨大，要求一个特定的聚类算法总是能达到最优是不切实际的。所以，</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算法找到的是一个</a:t>
            </a:r>
            <a:r>
              <a:rPr lang="zh-CN" altLang="en-US"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“局部”最优</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，即没有任何其他的聚类结果，能够让簇内的方差更小，但不能保证找到全局最优</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[Hartigan 1979]</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同时也是一个</a:t>
            </a:r>
            <a:r>
              <a:rPr lang="zh-CN" altLang="en-US"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易受初始值影响的迭代算法</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，可以用不同的初始值重复几次，以达到上述的“局部”最优，常用的初始化方法包括</a:t>
            </a:r>
            <a:r>
              <a:rPr lang="en-US" altLang="zh-CN"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Forgy</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Random Partition</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Hamerly</a:t>
            </a:r>
            <a:r>
              <a:rPr lang="en-US" altLang="zh-CN"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2002]</a:t>
            </a:r>
            <a:r>
              <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16259267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47AF0A5-B360-F40D-C091-4B52D44EF30B}"/>
              </a:ext>
            </a:extLst>
          </p:cNvPr>
          <p:cNvSpPr txBox="1"/>
          <p:nvPr/>
        </p:nvSpPr>
        <p:spPr>
          <a:xfrm>
            <a:off x="814619" y="2714302"/>
            <a:ext cx="6818634" cy="2862322"/>
          </a:xfrm>
          <a:prstGeom prst="rect">
            <a:avLst/>
          </a:prstGeom>
          <a:noFill/>
        </p:spPr>
        <p:txBody>
          <a:bodyPr wrap="square">
            <a:spAutoFit/>
          </a:bodyPr>
          <a:lstStyle/>
          <a:p>
            <a:pPr algn="l">
              <a:spcAft>
                <a:spcPts val="1200"/>
              </a:spcAft>
            </a:pPr>
            <a:r>
              <a:rPr lang="zh-CN" altLang="en-US" sz="2000" b="1" i="0" dirty="0">
                <a:solidFill>
                  <a:srgbClr val="0D0016"/>
                </a:solidFill>
                <a:effectLst/>
                <a:latin typeface="-apple-system"/>
              </a:rPr>
              <a:t>算法步骤</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初始化</a:t>
            </a:r>
            <a:r>
              <a:rPr lang="zh-CN" altLang="en-US" sz="2000" b="0" i="0" dirty="0">
                <a:solidFill>
                  <a:srgbClr val="0D0016"/>
                </a:solidFill>
                <a:effectLst/>
                <a:latin typeface="-apple-system"/>
              </a:rPr>
              <a:t>：</a:t>
            </a:r>
            <a:r>
              <a:rPr lang="zh-CN" altLang="en-US" sz="2000" b="0" i="0" dirty="0">
                <a:solidFill>
                  <a:srgbClr val="FF0000"/>
                </a:solidFill>
                <a:effectLst/>
                <a:latin typeface="-apple-system"/>
              </a:rPr>
              <a:t>随机选择 </a:t>
            </a:r>
            <a:r>
              <a:rPr lang="en-US" altLang="zh-CN" sz="2000" b="0" i="0" dirty="0">
                <a:solidFill>
                  <a:srgbClr val="FF0000"/>
                </a:solidFill>
                <a:effectLst/>
                <a:latin typeface="-apple-system"/>
              </a:rPr>
              <a:t>K </a:t>
            </a:r>
            <a:r>
              <a:rPr lang="zh-CN" altLang="en-US" sz="2000" b="0" i="0" dirty="0">
                <a:solidFill>
                  <a:srgbClr val="FF0000"/>
                </a:solidFill>
                <a:effectLst/>
                <a:latin typeface="-apple-system"/>
              </a:rPr>
              <a:t>个数据点</a:t>
            </a:r>
            <a:r>
              <a:rPr lang="zh-CN" altLang="en-US" sz="2000" b="0" i="0" dirty="0">
                <a:solidFill>
                  <a:srgbClr val="0D0016"/>
                </a:solidFill>
                <a:effectLst/>
                <a:latin typeface="-apple-system"/>
              </a:rPr>
              <a:t>作为初始簇中心。</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分配</a:t>
            </a:r>
            <a:r>
              <a:rPr lang="zh-CN" altLang="en-US" sz="2000" b="0" i="0" dirty="0">
                <a:solidFill>
                  <a:srgbClr val="0D0016"/>
                </a:solidFill>
                <a:effectLst/>
                <a:latin typeface="-apple-system"/>
              </a:rPr>
              <a:t>：将</a:t>
            </a:r>
            <a:r>
              <a:rPr lang="zh-CN" altLang="en-US" sz="2000" b="0" i="0" dirty="0">
                <a:solidFill>
                  <a:srgbClr val="FF0000"/>
                </a:solidFill>
                <a:effectLst/>
                <a:latin typeface="-apple-system"/>
              </a:rPr>
              <a:t>每个数据点分配给最近的簇中心</a:t>
            </a:r>
            <a:r>
              <a:rPr lang="zh-CN" altLang="en-US" sz="2000" b="0" i="0" dirty="0">
                <a:solidFill>
                  <a:srgbClr val="0D0016"/>
                </a:solidFill>
                <a:effectLst/>
                <a:latin typeface="-apple-system"/>
              </a:rPr>
              <a:t>。</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更新</a:t>
            </a:r>
            <a:r>
              <a:rPr lang="zh-CN" altLang="en-US" sz="2000" b="0" i="0" dirty="0">
                <a:solidFill>
                  <a:srgbClr val="0D0016"/>
                </a:solidFill>
                <a:effectLst/>
                <a:latin typeface="-apple-system"/>
              </a:rPr>
              <a:t>：</a:t>
            </a:r>
            <a:r>
              <a:rPr lang="zh-CN" altLang="en-US" sz="2000" b="0" i="0" dirty="0">
                <a:solidFill>
                  <a:srgbClr val="FF0000"/>
                </a:solidFill>
                <a:effectLst/>
                <a:latin typeface="-apple-system"/>
              </a:rPr>
              <a:t>重新计算每个簇的中心</a:t>
            </a:r>
            <a:r>
              <a:rPr lang="zh-CN" altLang="en-US" sz="2000" b="0" i="0" dirty="0">
                <a:solidFill>
                  <a:srgbClr val="0D0016"/>
                </a:solidFill>
                <a:effectLst/>
                <a:latin typeface="-apple-system"/>
              </a:rPr>
              <a:t>（即簇内所有点的均值）。</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迭代</a:t>
            </a:r>
            <a:r>
              <a:rPr lang="zh-CN" altLang="en-US" sz="2000" b="0" i="0" dirty="0">
                <a:solidFill>
                  <a:srgbClr val="0D0016"/>
                </a:solidFill>
                <a:effectLst/>
                <a:latin typeface="-apple-system"/>
              </a:rPr>
              <a:t>：重复步骤 </a:t>
            </a:r>
            <a:r>
              <a:rPr lang="en-US" altLang="zh-CN" sz="2000" b="0" i="0" dirty="0">
                <a:solidFill>
                  <a:srgbClr val="0D0016"/>
                </a:solidFill>
                <a:effectLst/>
                <a:latin typeface="-apple-system"/>
              </a:rPr>
              <a:t>2 </a:t>
            </a:r>
            <a:r>
              <a:rPr lang="zh-CN" altLang="en-US" sz="2000" b="0" i="0" dirty="0">
                <a:solidFill>
                  <a:srgbClr val="0D0016"/>
                </a:solidFill>
                <a:effectLst/>
                <a:latin typeface="-apple-system"/>
              </a:rPr>
              <a:t>和 </a:t>
            </a:r>
            <a:r>
              <a:rPr lang="en-US" altLang="zh-CN" sz="2000" b="0" i="0" dirty="0">
                <a:solidFill>
                  <a:srgbClr val="0D0016"/>
                </a:solidFill>
                <a:effectLst/>
                <a:latin typeface="-apple-system"/>
              </a:rPr>
              <a:t>3 </a:t>
            </a:r>
            <a:r>
              <a:rPr lang="zh-CN" altLang="en-US" sz="2000" b="0" i="0" dirty="0">
                <a:solidFill>
                  <a:srgbClr val="0D0016"/>
                </a:solidFill>
                <a:effectLst/>
                <a:latin typeface="-apple-system"/>
              </a:rPr>
              <a:t>直到簇中心不再发生变化或达到预设的迭代次数。</a:t>
            </a:r>
            <a:endParaRPr lang="zh-CN" altLang="en-US" sz="2000" b="0" i="0" dirty="0">
              <a:solidFill>
                <a:srgbClr val="4D4D4D"/>
              </a:solidFill>
              <a:effectLst/>
              <a:latin typeface="-apple-system"/>
            </a:endParaRPr>
          </a:p>
        </p:txBody>
      </p:sp>
      <p:grpSp>
        <p:nvGrpSpPr>
          <p:cNvPr id="3" name="组合 2">
            <a:extLst>
              <a:ext uri="{FF2B5EF4-FFF2-40B4-BE49-F238E27FC236}">
                <a16:creationId xmlns:a16="http://schemas.microsoft.com/office/drawing/2014/main" id="{290D6EB5-DAE1-D2E1-7F5E-352C9DDFA595}"/>
              </a:ext>
            </a:extLst>
          </p:cNvPr>
          <p:cNvGrpSpPr/>
          <p:nvPr/>
        </p:nvGrpSpPr>
        <p:grpSpPr>
          <a:xfrm>
            <a:off x="814619" y="1053154"/>
            <a:ext cx="7464387" cy="497934"/>
            <a:chOff x="4099943" y="2819853"/>
            <a:chExt cx="2570275" cy="497934"/>
          </a:xfrm>
        </p:grpSpPr>
        <p:sp>
          <p:nvSpPr>
            <p:cNvPr id="4" name="平行四边形 3">
              <a:extLst>
                <a:ext uri="{FF2B5EF4-FFF2-40B4-BE49-F238E27FC236}">
                  <a16:creationId xmlns:a16="http://schemas.microsoft.com/office/drawing/2014/main" id="{74BB133E-CA3F-5C21-B204-F68BE4FC0B07}"/>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C037A65A-631D-578B-854A-A5B6850B95D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D0D4D441-F7C6-DF3B-D7EF-8C55331F00FB}"/>
                </a:ext>
              </a:extLst>
            </p:cNvPr>
            <p:cNvSpPr/>
            <p:nvPr/>
          </p:nvSpPr>
          <p:spPr>
            <a:xfrm>
              <a:off x="4216534" y="2853798"/>
              <a:ext cx="2359684"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均值聚类算法流程</a:t>
              </a:r>
            </a:p>
          </p:txBody>
        </p:sp>
      </p:grpSp>
      <p:pic>
        <p:nvPicPr>
          <p:cNvPr id="7" name="Picture 6" descr="什么是无监督学习？概念、使用场景及算法详解. 无监督学习是机器学习领域内的一种学习方式。本文将给大家解释他的基本概念，告诉大家… | by ...">
            <a:extLst>
              <a:ext uri="{FF2B5EF4-FFF2-40B4-BE49-F238E27FC236}">
                <a16:creationId xmlns:a16="http://schemas.microsoft.com/office/drawing/2014/main" id="{B5270E2B-BE79-B514-5C23-76636C97BE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975"/>
          <a:stretch/>
        </p:blipFill>
        <p:spPr bwMode="auto">
          <a:xfrm>
            <a:off x="7559817" y="2383489"/>
            <a:ext cx="4595032" cy="4274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8506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47AF0A5-B360-F40D-C091-4B52D44EF30B}"/>
              </a:ext>
            </a:extLst>
          </p:cNvPr>
          <p:cNvSpPr txBox="1"/>
          <p:nvPr/>
        </p:nvSpPr>
        <p:spPr>
          <a:xfrm>
            <a:off x="814619" y="2714302"/>
            <a:ext cx="6818634" cy="2862322"/>
          </a:xfrm>
          <a:prstGeom prst="rect">
            <a:avLst/>
          </a:prstGeom>
          <a:noFill/>
        </p:spPr>
        <p:txBody>
          <a:bodyPr wrap="square">
            <a:spAutoFit/>
          </a:bodyPr>
          <a:lstStyle/>
          <a:p>
            <a:pPr algn="l">
              <a:spcAft>
                <a:spcPts val="1200"/>
              </a:spcAft>
            </a:pPr>
            <a:r>
              <a:rPr lang="zh-CN" altLang="en-US" sz="2000" b="1" i="0" dirty="0">
                <a:solidFill>
                  <a:srgbClr val="0D0016"/>
                </a:solidFill>
                <a:effectLst/>
                <a:latin typeface="-apple-system"/>
              </a:rPr>
              <a:t>算法步骤</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初始化</a:t>
            </a:r>
            <a:r>
              <a:rPr lang="zh-CN" altLang="en-US" sz="2000" b="0" i="0" dirty="0">
                <a:solidFill>
                  <a:srgbClr val="0D0016"/>
                </a:solidFill>
                <a:effectLst/>
                <a:latin typeface="-apple-system"/>
              </a:rPr>
              <a:t>：随机选择 </a:t>
            </a:r>
            <a:r>
              <a:rPr lang="en-US" altLang="zh-CN" sz="2000" b="0" i="0" dirty="0">
                <a:solidFill>
                  <a:srgbClr val="0D0016"/>
                </a:solidFill>
                <a:effectLst/>
                <a:latin typeface="-apple-system"/>
              </a:rPr>
              <a:t>K </a:t>
            </a:r>
            <a:r>
              <a:rPr lang="zh-CN" altLang="en-US" sz="2000" b="0" i="0" dirty="0">
                <a:solidFill>
                  <a:srgbClr val="0D0016"/>
                </a:solidFill>
                <a:effectLst/>
                <a:latin typeface="-apple-system"/>
              </a:rPr>
              <a:t>个数据点作为初始簇中心。</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分配</a:t>
            </a:r>
            <a:r>
              <a:rPr lang="zh-CN" altLang="en-US" sz="2000" b="0" i="0" dirty="0">
                <a:solidFill>
                  <a:srgbClr val="0D0016"/>
                </a:solidFill>
                <a:effectLst/>
                <a:latin typeface="-apple-system"/>
              </a:rPr>
              <a:t>：将每个数据点分配给最近的簇中心。</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更新</a:t>
            </a:r>
            <a:r>
              <a:rPr lang="zh-CN" altLang="en-US" sz="2000" b="0" i="0" dirty="0">
                <a:solidFill>
                  <a:srgbClr val="0D0016"/>
                </a:solidFill>
                <a:effectLst/>
                <a:latin typeface="-apple-system"/>
              </a:rPr>
              <a:t>：重新计算每个簇的中心（即簇内所有点的均值）。</a:t>
            </a:r>
            <a:endParaRPr lang="zh-CN" altLang="en-US" sz="2000" b="0" i="0" dirty="0">
              <a:solidFill>
                <a:srgbClr val="4D4D4D"/>
              </a:solidFill>
              <a:effectLst/>
              <a:latin typeface="-apple-system"/>
            </a:endParaRPr>
          </a:p>
          <a:p>
            <a:pPr algn="l">
              <a:spcBef>
                <a:spcPts val="600"/>
              </a:spcBef>
              <a:spcAft>
                <a:spcPts val="1200"/>
              </a:spcAft>
              <a:buFont typeface="+mj-lt"/>
              <a:buAutoNum type="arabicPeriod"/>
            </a:pPr>
            <a:r>
              <a:rPr lang="zh-CN" altLang="en-US" sz="2000" b="1" i="0" dirty="0">
                <a:solidFill>
                  <a:srgbClr val="0D0016"/>
                </a:solidFill>
                <a:effectLst/>
                <a:latin typeface="-apple-system"/>
              </a:rPr>
              <a:t>迭代</a:t>
            </a:r>
            <a:r>
              <a:rPr lang="zh-CN" altLang="en-US" sz="2000" b="0" i="0" dirty="0">
                <a:solidFill>
                  <a:srgbClr val="0D0016"/>
                </a:solidFill>
                <a:effectLst/>
                <a:latin typeface="-apple-system"/>
              </a:rPr>
              <a:t>：重复步骤 </a:t>
            </a:r>
            <a:r>
              <a:rPr lang="en-US" altLang="zh-CN" sz="2000" b="0" i="0" dirty="0">
                <a:solidFill>
                  <a:srgbClr val="0D0016"/>
                </a:solidFill>
                <a:effectLst/>
                <a:latin typeface="-apple-system"/>
              </a:rPr>
              <a:t>2 </a:t>
            </a:r>
            <a:r>
              <a:rPr lang="zh-CN" altLang="en-US" sz="2000" b="0" i="0" dirty="0">
                <a:solidFill>
                  <a:srgbClr val="0D0016"/>
                </a:solidFill>
                <a:effectLst/>
                <a:latin typeface="-apple-system"/>
              </a:rPr>
              <a:t>和 </a:t>
            </a:r>
            <a:r>
              <a:rPr lang="en-US" altLang="zh-CN" sz="2000" b="0" i="0" dirty="0">
                <a:solidFill>
                  <a:srgbClr val="0D0016"/>
                </a:solidFill>
                <a:effectLst/>
                <a:latin typeface="-apple-system"/>
              </a:rPr>
              <a:t>3 </a:t>
            </a:r>
            <a:r>
              <a:rPr lang="zh-CN" altLang="en-US" sz="2000" b="0" i="0" dirty="0">
                <a:solidFill>
                  <a:srgbClr val="0D0016"/>
                </a:solidFill>
                <a:effectLst/>
                <a:latin typeface="-apple-system"/>
              </a:rPr>
              <a:t>直到簇中心不再发生变化或达到预设的迭代次数。</a:t>
            </a:r>
            <a:endParaRPr lang="zh-CN" altLang="en-US" sz="2000" b="0" i="0" dirty="0">
              <a:solidFill>
                <a:srgbClr val="4D4D4D"/>
              </a:solidFill>
              <a:effectLst/>
              <a:latin typeface="-apple-system"/>
            </a:endParaRPr>
          </a:p>
        </p:txBody>
      </p:sp>
      <p:grpSp>
        <p:nvGrpSpPr>
          <p:cNvPr id="3" name="组合 2">
            <a:extLst>
              <a:ext uri="{FF2B5EF4-FFF2-40B4-BE49-F238E27FC236}">
                <a16:creationId xmlns:a16="http://schemas.microsoft.com/office/drawing/2014/main" id="{290D6EB5-DAE1-D2E1-7F5E-352C9DDFA595}"/>
              </a:ext>
            </a:extLst>
          </p:cNvPr>
          <p:cNvGrpSpPr/>
          <p:nvPr/>
        </p:nvGrpSpPr>
        <p:grpSpPr>
          <a:xfrm>
            <a:off x="814619" y="833339"/>
            <a:ext cx="7464387" cy="497934"/>
            <a:chOff x="4099943" y="2819853"/>
            <a:chExt cx="2570275" cy="497934"/>
          </a:xfrm>
        </p:grpSpPr>
        <p:sp>
          <p:nvSpPr>
            <p:cNvPr id="4" name="平行四边形 3">
              <a:extLst>
                <a:ext uri="{FF2B5EF4-FFF2-40B4-BE49-F238E27FC236}">
                  <a16:creationId xmlns:a16="http://schemas.microsoft.com/office/drawing/2014/main" id="{74BB133E-CA3F-5C21-B204-F68BE4FC0B07}"/>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C037A65A-631D-578B-854A-A5B6850B95D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D0D4D441-F7C6-DF3B-D7EF-8C55331F00FB}"/>
                </a:ext>
              </a:extLst>
            </p:cNvPr>
            <p:cNvSpPr/>
            <p:nvPr/>
          </p:nvSpPr>
          <p:spPr>
            <a:xfrm>
              <a:off x="4216534" y="2853798"/>
              <a:ext cx="2359684"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均值聚类算法流程</a:t>
              </a:r>
            </a:p>
          </p:txBody>
        </p:sp>
      </p:grpSp>
      <p:pic>
        <p:nvPicPr>
          <p:cNvPr id="8" name="图片 7">
            <a:extLst>
              <a:ext uri="{FF2B5EF4-FFF2-40B4-BE49-F238E27FC236}">
                <a16:creationId xmlns:a16="http://schemas.microsoft.com/office/drawing/2014/main" id="{F28E0071-C777-59F7-3749-7AFB641E2462}"/>
              </a:ext>
            </a:extLst>
          </p:cNvPr>
          <p:cNvPicPr>
            <a:picLocks noChangeAspect="1"/>
          </p:cNvPicPr>
          <p:nvPr/>
        </p:nvPicPr>
        <p:blipFill>
          <a:blip r:embed="rId2"/>
          <a:stretch>
            <a:fillRect/>
          </a:stretch>
        </p:blipFill>
        <p:spPr>
          <a:xfrm>
            <a:off x="7546913" y="1978805"/>
            <a:ext cx="4645088" cy="3496577"/>
          </a:xfrm>
          <a:prstGeom prst="rect">
            <a:avLst/>
          </a:prstGeom>
        </p:spPr>
      </p:pic>
    </p:spTree>
    <p:extLst>
      <p:ext uri="{BB962C8B-B14F-4D97-AF65-F5344CB8AC3E}">
        <p14:creationId xmlns:p14="http://schemas.microsoft.com/office/powerpoint/2010/main" val="6606118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4056" y="20396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p>
          </p:txBody>
        </p:sp>
      </p:grpSp>
      <p:pic>
        <p:nvPicPr>
          <p:cNvPr id="7" name="图片 6">
            <a:extLst>
              <a:ext uri="{FF2B5EF4-FFF2-40B4-BE49-F238E27FC236}">
                <a16:creationId xmlns:a16="http://schemas.microsoft.com/office/drawing/2014/main" id="{B109AE26-E254-49FD-8CC8-B920603038ED}"/>
              </a:ext>
            </a:extLst>
          </p:cNvPr>
          <p:cNvPicPr>
            <a:picLocks noChangeAspect="1"/>
          </p:cNvPicPr>
          <p:nvPr/>
        </p:nvPicPr>
        <p:blipFill>
          <a:blip r:embed="rId3"/>
          <a:stretch>
            <a:fillRect/>
          </a:stretch>
        </p:blipFill>
        <p:spPr>
          <a:xfrm>
            <a:off x="667539" y="879954"/>
            <a:ext cx="8492125" cy="5978046"/>
          </a:xfrm>
          <a:prstGeom prst="rect">
            <a:avLst/>
          </a:prstGeom>
        </p:spPr>
      </p:pic>
      <p:pic>
        <p:nvPicPr>
          <p:cNvPr id="6" name="图片 5"/>
          <p:cNvPicPr>
            <a:picLocks noChangeAspect="1"/>
          </p:cNvPicPr>
          <p:nvPr/>
        </p:nvPicPr>
        <p:blipFill>
          <a:blip r:embed="rId4"/>
          <a:stretch>
            <a:fillRect/>
          </a:stretch>
        </p:blipFill>
        <p:spPr>
          <a:xfrm>
            <a:off x="4743276" y="4457263"/>
            <a:ext cx="95250" cy="104775"/>
          </a:xfrm>
          <a:prstGeom prst="rect">
            <a:avLst/>
          </a:prstGeom>
        </p:spPr>
      </p:pic>
      <p:sp>
        <p:nvSpPr>
          <p:cNvPr id="9" name="矩形 8"/>
          <p:cNvSpPr/>
          <p:nvPr/>
        </p:nvSpPr>
        <p:spPr>
          <a:xfrm>
            <a:off x="4751589" y="4357345"/>
            <a:ext cx="124690" cy="108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5"/>
          <a:stretch>
            <a:fillRect/>
          </a:stretch>
        </p:blipFill>
        <p:spPr>
          <a:xfrm>
            <a:off x="8938910" y="2482132"/>
            <a:ext cx="3198300" cy="2979329"/>
          </a:xfrm>
          <a:prstGeom prst="rect">
            <a:avLst/>
          </a:prstGeom>
        </p:spPr>
      </p:pic>
    </p:spTree>
    <p:extLst>
      <p:ext uri="{BB962C8B-B14F-4D97-AF65-F5344CB8AC3E}">
        <p14:creationId xmlns:p14="http://schemas.microsoft.com/office/powerpoint/2010/main" val="4219288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4056" y="20396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均值聚类</a:t>
              </a:r>
            </a:p>
          </p:txBody>
        </p:sp>
      </p:grpSp>
      <p:pic>
        <p:nvPicPr>
          <p:cNvPr id="8" name="图片 7">
            <a:extLst>
              <a:ext uri="{FF2B5EF4-FFF2-40B4-BE49-F238E27FC236}">
                <a16:creationId xmlns:a16="http://schemas.microsoft.com/office/drawing/2014/main" id="{318EA1DC-8D5D-4817-8C2C-C0772DAEB011}"/>
              </a:ext>
            </a:extLst>
          </p:cNvPr>
          <p:cNvPicPr>
            <a:picLocks noChangeAspect="1"/>
          </p:cNvPicPr>
          <p:nvPr/>
        </p:nvPicPr>
        <p:blipFill>
          <a:blip r:embed="rId3"/>
          <a:stretch>
            <a:fillRect/>
          </a:stretch>
        </p:blipFill>
        <p:spPr>
          <a:xfrm>
            <a:off x="559472" y="2097353"/>
            <a:ext cx="8271619" cy="4586080"/>
          </a:xfrm>
          <a:prstGeom prst="rect">
            <a:avLst/>
          </a:prstGeom>
        </p:spPr>
      </p:pic>
      <p:pic>
        <p:nvPicPr>
          <p:cNvPr id="9" name="图片 8">
            <a:extLst>
              <a:ext uri="{FF2B5EF4-FFF2-40B4-BE49-F238E27FC236}">
                <a16:creationId xmlns:a16="http://schemas.microsoft.com/office/drawing/2014/main" id="{B109AE26-E254-49FD-8CC8-B920603038ED}"/>
              </a:ext>
            </a:extLst>
          </p:cNvPr>
          <p:cNvPicPr>
            <a:picLocks noChangeAspect="1"/>
          </p:cNvPicPr>
          <p:nvPr/>
        </p:nvPicPr>
        <p:blipFill rotWithShape="1">
          <a:blip r:embed="rId4"/>
          <a:srcRect t="74136" b="139"/>
          <a:stretch/>
        </p:blipFill>
        <p:spPr>
          <a:xfrm>
            <a:off x="348464" y="792255"/>
            <a:ext cx="8064936" cy="1460494"/>
          </a:xfrm>
          <a:prstGeom prst="rect">
            <a:avLst/>
          </a:prstGeom>
        </p:spPr>
      </p:pic>
      <p:pic>
        <p:nvPicPr>
          <p:cNvPr id="6" name="图片 5"/>
          <p:cNvPicPr>
            <a:picLocks noChangeAspect="1"/>
          </p:cNvPicPr>
          <p:nvPr/>
        </p:nvPicPr>
        <p:blipFill>
          <a:blip r:embed="rId5"/>
          <a:stretch>
            <a:fillRect/>
          </a:stretch>
        </p:blipFill>
        <p:spPr>
          <a:xfrm>
            <a:off x="8504573" y="1845426"/>
            <a:ext cx="3687427" cy="3218597"/>
          </a:xfrm>
          <a:prstGeom prst="rect">
            <a:avLst/>
          </a:prstGeom>
        </p:spPr>
      </p:pic>
      <p:sp>
        <p:nvSpPr>
          <p:cNvPr id="10" name="矩形 9"/>
          <p:cNvSpPr/>
          <p:nvPr/>
        </p:nvSpPr>
        <p:spPr>
          <a:xfrm>
            <a:off x="649217" y="3758828"/>
            <a:ext cx="2991757" cy="4058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5146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mj-ea"/>
                  <a:ea typeface="+mj-ea"/>
                  <a:cs typeface="Times New Roman" panose="02020603050405020304" pitchFamily="18" charset="0"/>
                </a:rPr>
                <a:t>K</a:t>
              </a:r>
              <a:r>
                <a:rPr lang="zh-CN" altLang="en-US" b="1" dirty="0">
                  <a:solidFill>
                    <a:schemeClr val="tx1">
                      <a:lumMod val="95000"/>
                      <a:lumOff val="5000"/>
                    </a:schemeClr>
                  </a:solidFill>
                  <a:latin typeface="+mj-ea"/>
                  <a:ea typeface="+mj-ea"/>
                  <a:cs typeface="Times New Roman" panose="02020603050405020304" pitchFamily="18" charset="0"/>
                </a:rPr>
                <a:t>均值聚类的目标</a:t>
              </a:r>
            </a:p>
          </p:txBody>
        </p:sp>
      </p:grpSp>
      <mc:AlternateContent xmlns:mc="http://schemas.openxmlformats.org/markup-compatibility/2006" xmlns:a14="http://schemas.microsoft.com/office/drawing/2010/main">
        <mc:Choice Requires="a14">
          <p:sp>
            <p:nvSpPr>
              <p:cNvPr id="10" name="TextBox 3">
                <a:extLst>
                  <a:ext uri="{FF2B5EF4-FFF2-40B4-BE49-F238E27FC236}">
                    <a16:creationId xmlns:a16="http://schemas.microsoft.com/office/drawing/2014/main" id="{E6790A23-73E2-4CC9-A854-CA3294CE9C92}"/>
                  </a:ext>
                </a:extLst>
              </p:cNvPr>
              <p:cNvSpPr txBox="1"/>
              <p:nvPr/>
            </p:nvSpPr>
            <p:spPr>
              <a:xfrm>
                <a:off x="2366683" y="1674929"/>
                <a:ext cx="6960312" cy="9130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ea typeface="+mj-ea"/>
                            </a:rPr>
                          </m:ctrlPr>
                        </m:funcPr>
                        <m:fName>
                          <m:r>
                            <m:rPr>
                              <m:nor/>
                            </m:rPr>
                            <a:rPr lang="zh-CN" altLang="en-US" b="1" dirty="0">
                              <a:solidFill>
                                <a:srgbClr val="0D0016"/>
                              </a:solidFill>
                              <a:latin typeface="+mj-ea"/>
                              <a:ea typeface="+mj-ea"/>
                            </a:rPr>
                            <m:t>目标函数：</m:t>
                          </m:r>
                          <m:r>
                            <m:rPr>
                              <m:nor/>
                            </m:rPr>
                            <a:rPr lang="zh-CN" altLang="en-US" dirty="0">
                              <a:latin typeface="+mj-ea"/>
                              <a:ea typeface="+mj-ea"/>
                            </a:rPr>
                            <m:t> </m:t>
                          </m:r>
                          <m:limLow>
                            <m:limLowPr>
                              <m:ctrlPr>
                                <a:rPr lang="en-US" altLang="zh-CN" i="1" smtClean="0">
                                  <a:latin typeface="Cambria Math" panose="02040503050406030204" pitchFamily="18" charset="0"/>
                                  <a:ea typeface="+mj-ea"/>
                                </a:rPr>
                              </m:ctrlPr>
                            </m:limLowPr>
                            <m:e>
                              <m:r>
                                <m:rPr>
                                  <m:sty m:val="p"/>
                                </m:rPr>
                                <a:rPr lang="en-US" altLang="zh-CN" b="0" i="0" smtClean="0">
                                  <a:latin typeface="Cambria Math" panose="02040503050406030204" pitchFamily="18" charset="0"/>
                                  <a:ea typeface="+mj-ea"/>
                                </a:rPr>
                                <m:t>arg</m:t>
                              </m:r>
                              <m:r>
                                <a:rPr lang="en-US" altLang="zh-CN" b="0" i="0" smtClean="0">
                                  <a:latin typeface="Cambria Math" panose="02040503050406030204" pitchFamily="18" charset="0"/>
                                  <a:ea typeface="+mj-ea"/>
                                </a:rPr>
                                <m:t> </m:t>
                              </m:r>
                              <m:r>
                                <m:rPr>
                                  <m:sty m:val="p"/>
                                </m:rPr>
                                <a:rPr lang="en-US" altLang="zh-CN" i="0" smtClean="0">
                                  <a:latin typeface="Cambria Math" panose="02040503050406030204" pitchFamily="18" charset="0"/>
                                  <a:ea typeface="+mj-ea"/>
                                </a:rPr>
                                <m:t>min</m:t>
                              </m:r>
                            </m:e>
                            <m:lim>
                              <m:r>
                                <a:rPr lang="en-US" altLang="zh-CN" b="0" i="1" smtClean="0">
                                  <a:latin typeface="Cambria Math" panose="02040503050406030204" pitchFamily="18" charset="0"/>
                                  <a:ea typeface="+mj-ea"/>
                                </a:rPr>
                                <m:t>𝐺</m:t>
                              </m:r>
                            </m:lim>
                          </m:limLow>
                          <m:nary>
                            <m:naryPr>
                              <m:chr m:val="∑"/>
                              <m:ctrlPr>
                                <a:rPr lang="en-US" altLang="zh-CN" i="1" smtClean="0">
                                  <a:latin typeface="Cambria Math" panose="02040503050406030204" pitchFamily="18" charset="0"/>
                                  <a:ea typeface="+mj-ea"/>
                                </a:rPr>
                              </m:ctrlPr>
                            </m:naryPr>
                            <m:sub>
                              <m:r>
                                <m:rPr>
                                  <m:brk m:alnAt="23"/>
                                </m:rPr>
                                <a:rPr lang="en-US" altLang="zh-CN" b="0" i="1" smtClean="0">
                                  <a:latin typeface="Cambria Math" panose="02040503050406030204" pitchFamily="18" charset="0"/>
                                  <a:ea typeface="+mj-ea"/>
                                </a:rPr>
                                <m:t>𝑖</m:t>
                              </m:r>
                              <m:r>
                                <a:rPr lang="en-US" altLang="zh-CN" b="0" i="1" smtClean="0">
                                  <a:latin typeface="Cambria Math" panose="02040503050406030204" pitchFamily="18" charset="0"/>
                                  <a:ea typeface="+mj-ea"/>
                                </a:rPr>
                                <m:t>=1</m:t>
                              </m:r>
                            </m:sub>
                            <m:sup>
                              <m:r>
                                <a:rPr lang="en-US" altLang="zh-CN" b="0" i="1" smtClean="0">
                                  <a:latin typeface="Cambria Math" panose="02040503050406030204" pitchFamily="18" charset="0"/>
                                  <a:ea typeface="+mj-ea"/>
                                </a:rPr>
                                <m:t>𝑘</m:t>
                              </m:r>
                            </m:sup>
                            <m:e>
                              <m:nary>
                                <m:naryPr>
                                  <m:chr m:val="∑"/>
                                  <m:supHide m:val="on"/>
                                  <m:ctrlPr>
                                    <a:rPr lang="en-US" altLang="zh-CN" i="1" smtClean="0">
                                      <a:latin typeface="Cambria Math" panose="02040503050406030204" pitchFamily="18" charset="0"/>
                                      <a:ea typeface="+mj-ea"/>
                                    </a:rPr>
                                  </m:ctrlPr>
                                </m:naryPr>
                                <m:sub>
                                  <m:r>
                                    <m:rPr>
                                      <m:brk m:alnAt="7"/>
                                    </m:rPr>
                                    <a:rPr lang="en-US" altLang="zh-CN" b="0" i="1" smtClean="0">
                                      <a:latin typeface="Cambria Math" panose="02040503050406030204" pitchFamily="18" charset="0"/>
                                      <a:ea typeface="+mj-ea"/>
                                    </a:rPr>
                                    <m:t>𝑥</m:t>
                                  </m:r>
                                  <m:r>
                                    <a:rPr lang="en-US" altLang="zh-CN" i="1" smtClean="0">
                                      <a:latin typeface="Cambria Math" panose="02040503050406030204" pitchFamily="18" charset="0"/>
                                      <a:ea typeface="+mj-ea"/>
                                    </a:rPr>
                                    <m:t>∈</m:t>
                                  </m:r>
                                  <m:sSub>
                                    <m:sSubPr>
                                      <m:ctrlPr>
                                        <a:rPr lang="en-US" altLang="zh-CN" b="0" i="1" smtClean="0">
                                          <a:latin typeface="Cambria Math" panose="02040503050406030204" pitchFamily="18" charset="0"/>
                                          <a:ea typeface="+mj-ea"/>
                                        </a:rPr>
                                      </m:ctrlPr>
                                    </m:sSubPr>
                                    <m:e>
                                      <m:r>
                                        <a:rPr lang="en-US" altLang="zh-CN" b="0" i="1" smtClean="0">
                                          <a:latin typeface="Cambria Math" panose="02040503050406030204" pitchFamily="18" charset="0"/>
                                          <a:ea typeface="+mj-ea"/>
                                        </a:rPr>
                                        <m:t>𝐺</m:t>
                                      </m:r>
                                    </m:e>
                                    <m:sub>
                                      <m:r>
                                        <a:rPr lang="en-US" altLang="zh-CN" b="0" i="1" smtClean="0">
                                          <a:latin typeface="Cambria Math" panose="02040503050406030204" pitchFamily="18" charset="0"/>
                                          <a:ea typeface="+mj-ea"/>
                                        </a:rPr>
                                        <m:t>𝑖</m:t>
                                      </m:r>
                                    </m:sub>
                                  </m:sSub>
                                </m:sub>
                                <m:sup/>
                                <m:e>
                                  <m:sSup>
                                    <m:sSupPr>
                                      <m:ctrlPr>
                                        <a:rPr lang="en-US" altLang="zh-CN" i="1" smtClean="0">
                                          <a:latin typeface="Cambria Math" panose="02040503050406030204" pitchFamily="18" charset="0"/>
                                          <a:ea typeface="+mj-ea"/>
                                        </a:rPr>
                                      </m:ctrlPr>
                                    </m:sSupPr>
                                    <m:e>
                                      <m:r>
                                        <a:rPr lang="en-US" altLang="zh-CN" b="0" i="1" smtClean="0">
                                          <a:latin typeface="Cambria Math" panose="02040503050406030204" pitchFamily="18" charset="0"/>
                                          <a:ea typeface="+mj-ea"/>
                                        </a:rPr>
                                        <m:t>||</m:t>
                                      </m:r>
                                      <m:r>
                                        <a:rPr lang="en-US" altLang="zh-CN" b="0" i="1" smtClean="0">
                                          <a:latin typeface="Cambria Math" panose="02040503050406030204" pitchFamily="18" charset="0"/>
                                          <a:ea typeface="+mj-ea"/>
                                        </a:rPr>
                                        <m:t>𝑥</m:t>
                                      </m:r>
                                      <m:r>
                                        <a:rPr lang="en-US" altLang="zh-CN" b="0" i="1" smtClean="0">
                                          <a:latin typeface="Cambria Math" panose="02040503050406030204" pitchFamily="18" charset="0"/>
                                          <a:ea typeface="+mj-ea"/>
                                        </a:rPr>
                                        <m:t>−</m:t>
                                      </m:r>
                                      <m:sSub>
                                        <m:sSubPr>
                                          <m:ctrlPr>
                                            <a:rPr lang="en-US" altLang="zh-CN" b="0" i="1" smtClean="0">
                                              <a:latin typeface="Cambria Math" panose="02040503050406030204" pitchFamily="18" charset="0"/>
                                              <a:ea typeface="+mj-ea"/>
                                            </a:rPr>
                                          </m:ctrlPr>
                                        </m:sSubPr>
                                        <m:e>
                                          <m:r>
                                            <a:rPr lang="en-US" altLang="zh-CN" b="0" i="1" smtClean="0">
                                              <a:latin typeface="Cambria Math" panose="02040503050406030204" pitchFamily="18" charset="0"/>
                                              <a:ea typeface="+mj-ea"/>
                                            </a:rPr>
                                            <m:t>𝐺</m:t>
                                          </m:r>
                                        </m:e>
                                        <m:sub>
                                          <m:r>
                                            <a:rPr lang="en-US" altLang="zh-CN" b="0" i="1" smtClean="0">
                                              <a:latin typeface="Cambria Math" panose="02040503050406030204" pitchFamily="18" charset="0"/>
                                              <a:ea typeface="+mj-ea"/>
                                            </a:rPr>
                                            <m:t>𝑖</m:t>
                                          </m:r>
                                        </m:sub>
                                      </m:sSub>
                                      <m:r>
                                        <a:rPr lang="en-US" altLang="zh-CN" b="0" i="1" smtClean="0">
                                          <a:latin typeface="Cambria Math" panose="02040503050406030204" pitchFamily="18" charset="0"/>
                                          <a:ea typeface="+mj-ea"/>
                                        </a:rPr>
                                        <m:t>||</m:t>
                                      </m:r>
                                    </m:e>
                                    <m:sup>
                                      <m:r>
                                        <a:rPr lang="en-US" altLang="zh-CN" b="0" i="1" smtClean="0">
                                          <a:latin typeface="Cambria Math" panose="02040503050406030204" pitchFamily="18" charset="0"/>
                                          <a:ea typeface="+mj-ea"/>
                                        </a:rPr>
                                        <m:t>2</m:t>
                                      </m:r>
                                    </m:sup>
                                  </m:sSup>
                                  <m:r>
                                    <a:rPr lang="en-US" altLang="zh-CN" b="0" i="1" smtClean="0">
                                      <a:latin typeface="Cambria Math" panose="02040503050406030204" pitchFamily="18" charset="0"/>
                                      <a:ea typeface="+mj-ea"/>
                                    </a:rPr>
                                    <m:t>=</m:t>
                                  </m:r>
                                  <m:func>
                                    <m:funcPr>
                                      <m:ctrlPr>
                                        <a:rPr lang="en-US" altLang="zh-CN" b="0" i="1" smtClean="0">
                                          <a:latin typeface="Cambria Math" panose="02040503050406030204" pitchFamily="18" charset="0"/>
                                          <a:ea typeface="+mj-ea"/>
                                        </a:rPr>
                                      </m:ctrlPr>
                                    </m:funcPr>
                                    <m:fName>
                                      <m:limLow>
                                        <m:limLowPr>
                                          <m:ctrlPr>
                                            <a:rPr lang="en-US" altLang="zh-CN" b="0" i="1" smtClean="0">
                                              <a:latin typeface="Cambria Math" panose="02040503050406030204" pitchFamily="18" charset="0"/>
                                              <a:ea typeface="+mj-ea"/>
                                            </a:rPr>
                                          </m:ctrlPr>
                                        </m:limLowPr>
                                        <m:e>
                                          <m:r>
                                            <m:rPr>
                                              <m:sty m:val="p"/>
                                            </m:rPr>
                                            <a:rPr lang="en-US" altLang="zh-CN" b="0" i="0" smtClean="0">
                                              <a:latin typeface="Cambria Math" panose="02040503050406030204" pitchFamily="18" charset="0"/>
                                              <a:ea typeface="+mj-ea"/>
                                            </a:rPr>
                                            <m:t>arg</m:t>
                                          </m:r>
                                          <m:r>
                                            <a:rPr lang="en-US" altLang="zh-CN" b="0" i="0" smtClean="0">
                                              <a:latin typeface="Cambria Math" panose="02040503050406030204" pitchFamily="18" charset="0"/>
                                              <a:ea typeface="+mj-ea"/>
                                            </a:rPr>
                                            <m:t> </m:t>
                                          </m:r>
                                          <m:r>
                                            <m:rPr>
                                              <m:sty m:val="p"/>
                                            </m:rPr>
                                            <a:rPr lang="en-US" altLang="zh-CN" b="0" i="0" smtClean="0">
                                              <a:latin typeface="Cambria Math" panose="02040503050406030204" pitchFamily="18" charset="0"/>
                                              <a:ea typeface="+mj-ea"/>
                                            </a:rPr>
                                            <m:t>min</m:t>
                                          </m:r>
                                        </m:e>
                                        <m:lim>
                                          <m:r>
                                            <a:rPr lang="en-US" altLang="zh-CN" b="0" i="1" smtClean="0">
                                              <a:latin typeface="Cambria Math" panose="02040503050406030204" pitchFamily="18" charset="0"/>
                                              <a:ea typeface="+mj-ea"/>
                                            </a:rPr>
                                            <m:t>𝐺</m:t>
                                          </m:r>
                                        </m:lim>
                                      </m:limLow>
                                    </m:fName>
                                    <m:e>
                                      <m:nary>
                                        <m:naryPr>
                                          <m:chr m:val="∑"/>
                                          <m:ctrlPr>
                                            <a:rPr lang="en-US" altLang="zh-CN" b="0" i="1" smtClean="0">
                                              <a:latin typeface="Cambria Math" panose="02040503050406030204" pitchFamily="18" charset="0"/>
                                              <a:ea typeface="+mj-ea"/>
                                            </a:rPr>
                                          </m:ctrlPr>
                                        </m:naryPr>
                                        <m:sub>
                                          <m:r>
                                            <m:rPr>
                                              <m:brk m:alnAt="23"/>
                                            </m:rPr>
                                            <a:rPr lang="en-US" altLang="zh-CN" b="0" i="1" smtClean="0">
                                              <a:latin typeface="Cambria Math" panose="02040503050406030204" pitchFamily="18" charset="0"/>
                                              <a:ea typeface="+mj-ea"/>
                                            </a:rPr>
                                            <m:t>𝑖</m:t>
                                          </m:r>
                                          <m:r>
                                            <a:rPr lang="en-US" altLang="zh-CN" b="0" i="1" smtClean="0">
                                              <a:latin typeface="Cambria Math" panose="02040503050406030204" pitchFamily="18" charset="0"/>
                                              <a:ea typeface="+mj-ea"/>
                                            </a:rPr>
                                            <m:t>=1</m:t>
                                          </m:r>
                                        </m:sub>
                                        <m:sup>
                                          <m:r>
                                            <a:rPr lang="en-US" altLang="zh-CN" b="0" i="1" smtClean="0">
                                              <a:latin typeface="Cambria Math" panose="02040503050406030204" pitchFamily="18" charset="0"/>
                                              <a:ea typeface="+mj-ea"/>
                                            </a:rPr>
                                            <m:t>𝑘</m:t>
                                          </m:r>
                                        </m:sup>
                                        <m:e>
                                          <m:r>
                                            <a:rPr lang="en-US" altLang="zh-CN" b="0" i="1" smtClean="0">
                                              <a:latin typeface="Cambria Math" panose="02040503050406030204" pitchFamily="18" charset="0"/>
                                              <a:ea typeface="+mj-ea"/>
                                            </a:rPr>
                                            <m:t>|</m:t>
                                          </m:r>
                                          <m:sSub>
                                            <m:sSubPr>
                                              <m:ctrlPr>
                                                <a:rPr lang="en-US" altLang="zh-CN" b="0" i="1" smtClean="0">
                                                  <a:latin typeface="Cambria Math" panose="02040503050406030204" pitchFamily="18" charset="0"/>
                                                  <a:ea typeface="+mj-ea"/>
                                                </a:rPr>
                                              </m:ctrlPr>
                                            </m:sSubPr>
                                            <m:e>
                                              <m:r>
                                                <a:rPr lang="en-US" altLang="zh-CN" b="0" i="1" smtClean="0">
                                                  <a:latin typeface="Cambria Math" panose="02040503050406030204" pitchFamily="18" charset="0"/>
                                                  <a:ea typeface="+mj-ea"/>
                                                </a:rPr>
                                                <m:t>𝐺</m:t>
                                              </m:r>
                                            </m:e>
                                            <m:sub>
                                              <m:r>
                                                <a:rPr lang="en-US" altLang="zh-CN" b="0" i="1" smtClean="0">
                                                  <a:latin typeface="Cambria Math" panose="02040503050406030204" pitchFamily="18" charset="0"/>
                                                  <a:ea typeface="+mj-ea"/>
                                                </a:rPr>
                                                <m:t>𝑖</m:t>
                                              </m:r>
                                            </m:sub>
                                          </m:sSub>
                                          <m:r>
                                            <a:rPr lang="en-US" altLang="zh-CN" b="0" i="1" smtClean="0">
                                              <a:latin typeface="Cambria Math" panose="02040503050406030204" pitchFamily="18" charset="0"/>
                                              <a:ea typeface="+mj-ea"/>
                                            </a:rPr>
                                            <m:t>|</m:t>
                                          </m:r>
                                        </m:e>
                                      </m:nary>
                                    </m:e>
                                  </m:func>
                                  <m:r>
                                    <a:rPr lang="en-US" altLang="zh-CN" b="0" i="1" smtClean="0">
                                      <a:latin typeface="Cambria Math" panose="02040503050406030204" pitchFamily="18" charset="0"/>
                                      <a:ea typeface="+mj-ea"/>
                                    </a:rPr>
                                    <m:t>𝑉𝑎𝑟</m:t>
                                  </m:r>
                                </m:e>
                              </m:nary>
                              <m:sSub>
                                <m:sSubPr>
                                  <m:ctrlPr>
                                    <a:rPr lang="en-US" altLang="zh-CN" i="1" smtClean="0">
                                      <a:latin typeface="Cambria Math" panose="02040503050406030204" pitchFamily="18" charset="0"/>
                                      <a:ea typeface="+mj-ea"/>
                                    </a:rPr>
                                  </m:ctrlPr>
                                </m:sSubPr>
                                <m:e>
                                  <m:r>
                                    <a:rPr lang="en-US" altLang="zh-CN" b="0" i="1" smtClean="0">
                                      <a:latin typeface="Cambria Math" panose="02040503050406030204" pitchFamily="18" charset="0"/>
                                      <a:ea typeface="+mj-ea"/>
                                    </a:rPr>
                                    <m:t>𝐺</m:t>
                                  </m:r>
                                </m:e>
                                <m:sub>
                                  <m:r>
                                    <a:rPr lang="en-US" altLang="zh-CN" b="0" i="1" smtClean="0">
                                      <a:latin typeface="Cambria Math" panose="02040503050406030204" pitchFamily="18" charset="0"/>
                                      <a:ea typeface="+mj-ea"/>
                                    </a:rPr>
                                    <m:t>𝑖</m:t>
                                  </m:r>
                                </m:sub>
                              </m:sSub>
                            </m:e>
                          </m:nary>
                        </m:fName>
                        <m:e/>
                      </m:func>
                    </m:oMath>
                  </m:oMathPara>
                </a14:m>
                <a:endParaRPr lang="zh-CN" altLang="en-US" dirty="0">
                  <a:latin typeface="+mj-ea"/>
                  <a:ea typeface="+mj-ea"/>
                </a:endParaRPr>
              </a:p>
            </p:txBody>
          </p:sp>
        </mc:Choice>
        <mc:Fallback xmlns="">
          <p:sp>
            <p:nvSpPr>
              <p:cNvPr id="10" name="TextBox 3">
                <a:extLst>
                  <a:ext uri="{FF2B5EF4-FFF2-40B4-BE49-F238E27FC236}">
                    <a16:creationId xmlns:a16="http://schemas.microsoft.com/office/drawing/2014/main" id="{E6790A23-73E2-4CC9-A854-CA3294CE9C92}"/>
                  </a:ext>
                </a:extLst>
              </p:cNvPr>
              <p:cNvSpPr txBox="1">
                <a:spLocks noRot="1" noChangeAspect="1" noMove="1" noResize="1" noEditPoints="1" noAdjustHandles="1" noChangeArrowheads="1" noChangeShapeType="1" noTextEdit="1"/>
              </p:cNvSpPr>
              <p:nvPr/>
            </p:nvSpPr>
            <p:spPr>
              <a:xfrm>
                <a:off x="2366683" y="1674929"/>
                <a:ext cx="6960312" cy="913070"/>
              </a:xfrm>
              <a:prstGeom prst="rect">
                <a:avLst/>
              </a:prstGeom>
              <a:blipFill>
                <a:blip r:embed="rId3"/>
                <a:stretch>
                  <a:fillRect/>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1FF104C0-742C-4495-AA84-BBD276B39B1D}"/>
              </a:ext>
            </a:extLst>
          </p:cNvPr>
          <p:cNvCxnSpPr/>
          <p:nvPr/>
        </p:nvCxnSpPr>
        <p:spPr>
          <a:xfrm flipV="1">
            <a:off x="4962532" y="2587999"/>
            <a:ext cx="1285875" cy="12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6F69DBA-2EA2-4B1F-866C-35AF2B5F0B34}"/>
                  </a:ext>
                </a:extLst>
              </p:cNvPr>
              <p:cNvSpPr/>
              <p:nvPr/>
            </p:nvSpPr>
            <p:spPr>
              <a:xfrm>
                <a:off x="3542952" y="2873624"/>
                <a:ext cx="4902304" cy="526491"/>
              </a:xfrm>
              <a:prstGeom prst="rect">
                <a:avLst/>
              </a:prstGeom>
            </p:spPr>
            <p:txBody>
              <a:bodyPr wrap="none">
                <a:spAutoFit/>
              </a:bodyPr>
              <a:lstStyle/>
              <a:p>
                <a:r>
                  <a:rPr lang="zh-CN" altLang="en-US" dirty="0">
                    <a:latin typeface="+mj-ea"/>
                    <a:ea typeface="+mj-ea"/>
                    <a:cs typeface="Times New Roman" panose="02020603050405020304" pitchFamily="18" charset="0"/>
                  </a:rPr>
                  <a:t>第</a:t>
                </a:r>
                <a14:m>
                  <m:oMath xmlns:m="http://schemas.openxmlformats.org/officeDocument/2006/math">
                    <m:r>
                      <a:rPr lang="en-US" altLang="zh-CN" b="0" i="1" smtClean="0">
                        <a:latin typeface="Cambria Math" panose="02040503050406030204" pitchFamily="18" charset="0"/>
                        <a:ea typeface="+mj-ea"/>
                        <a:cs typeface="Times New Roman" panose="02020603050405020304" pitchFamily="18" charset="0"/>
                      </a:rPr>
                      <m:t>𝑖</m:t>
                    </m:r>
                  </m:oMath>
                </a14:m>
                <a:r>
                  <a:rPr lang="zh-CN" altLang="en-US" dirty="0">
                    <a:latin typeface="+mj-ea"/>
                    <a:ea typeface="+mj-ea"/>
                    <a:cs typeface="Times New Roman" panose="02020603050405020304" pitchFamily="18" charset="0"/>
                  </a:rPr>
                  <a:t>个类簇的方差</a:t>
                </a:r>
                <a:r>
                  <a:rPr lang="en-US" altLang="zh-CN" dirty="0">
                    <a:latin typeface="+mj-ea"/>
                    <a:ea typeface="+mj-ea"/>
                    <a:cs typeface="Times New Roman" panose="02020603050405020304" pitchFamily="18" charset="0"/>
                  </a:rPr>
                  <a:t>:</a:t>
                </a:r>
                <a:r>
                  <a:rPr lang="zh-CN" altLang="en-US" dirty="0">
                    <a:latin typeface="+mj-ea"/>
                    <a:ea typeface="+mj-ea"/>
                    <a:cs typeface="Times New Roman" panose="02020603050405020304" pitchFamily="18" charset="0"/>
                  </a:rPr>
                  <a:t> </a:t>
                </a:r>
                <a14:m>
                  <m:oMath xmlns:m="http://schemas.openxmlformats.org/officeDocument/2006/math">
                    <m:r>
                      <m:rPr>
                        <m:sty m:val="p"/>
                      </m:rPr>
                      <a:rPr lang="en-US" altLang="zh-CN" b="0" i="0" smtClean="0">
                        <a:latin typeface="Cambria Math" panose="02040503050406030204" pitchFamily="18" charset="0"/>
                        <a:ea typeface="+mj-ea"/>
                        <a:cs typeface="Times New Roman" panose="02020603050405020304" pitchFamily="18" charset="0"/>
                      </a:rPr>
                      <m:t>var</m:t>
                    </m:r>
                    <m:d>
                      <m:dPr>
                        <m:ctrlPr>
                          <a:rPr lang="en-US" altLang="zh-CN" b="0" i="1" smtClean="0">
                            <a:latin typeface="Cambria Math" panose="02040503050406030204" pitchFamily="18" charset="0"/>
                            <a:ea typeface="+mj-ea"/>
                            <a:cs typeface="Times New Roman" panose="02020603050405020304" pitchFamily="18" charset="0"/>
                          </a:rPr>
                        </m:ctrlPr>
                      </m:dPr>
                      <m:e>
                        <m:sSub>
                          <m:sSubPr>
                            <m:ctrlPr>
                              <a:rPr lang="en-US" altLang="zh-CN" b="0" i="1" smtClean="0">
                                <a:latin typeface="Cambria Math" panose="02040503050406030204" pitchFamily="18" charset="0"/>
                                <a:ea typeface="+mj-ea"/>
                                <a:cs typeface="Times New Roman" panose="02020603050405020304" pitchFamily="18" charset="0"/>
                              </a:rPr>
                            </m:ctrlPr>
                          </m:sSubPr>
                          <m:e>
                            <m:r>
                              <a:rPr lang="en-US" altLang="zh-CN" b="0" i="1" smtClean="0">
                                <a:latin typeface="Cambria Math" panose="02040503050406030204" pitchFamily="18" charset="0"/>
                                <a:ea typeface="+mj-ea"/>
                                <a:cs typeface="Times New Roman" panose="02020603050405020304" pitchFamily="18" charset="0"/>
                              </a:rPr>
                              <m:t>𝐺</m:t>
                            </m:r>
                          </m:e>
                          <m:sub>
                            <m:r>
                              <a:rPr lang="en-US" altLang="zh-CN" b="0" i="1" smtClean="0">
                                <a:latin typeface="Cambria Math" panose="02040503050406030204" pitchFamily="18" charset="0"/>
                                <a:ea typeface="+mj-ea"/>
                                <a:cs typeface="Times New Roman" panose="02020603050405020304" pitchFamily="18" charset="0"/>
                              </a:rPr>
                              <m:t>𝑖</m:t>
                            </m:r>
                          </m:sub>
                        </m:sSub>
                      </m:e>
                    </m:d>
                    <m:r>
                      <a:rPr lang="en-US" altLang="zh-CN" b="0" i="0" smtClean="0">
                        <a:latin typeface="Cambria Math" panose="02040503050406030204" pitchFamily="18" charset="0"/>
                        <a:ea typeface="+mj-ea"/>
                        <a:cs typeface="Times New Roman" panose="02020603050405020304" pitchFamily="18" charset="0"/>
                      </a:rPr>
                      <m:t>=</m:t>
                    </m:r>
                    <m:f>
                      <m:fPr>
                        <m:ctrlPr>
                          <a:rPr lang="en-US" altLang="zh-CN" i="1" smtClean="0">
                            <a:latin typeface="Cambria Math" panose="02040503050406030204" pitchFamily="18" charset="0"/>
                            <a:ea typeface="+mj-ea"/>
                            <a:cs typeface="Times New Roman" panose="02020603050405020304" pitchFamily="18" charset="0"/>
                          </a:rPr>
                        </m:ctrlPr>
                      </m:fPr>
                      <m:num>
                        <m:r>
                          <a:rPr lang="en-US" altLang="zh-CN" b="0" i="1" smtClean="0">
                            <a:latin typeface="Cambria Math" panose="02040503050406030204" pitchFamily="18" charset="0"/>
                            <a:ea typeface="+mj-ea"/>
                            <a:cs typeface="Times New Roman" panose="02020603050405020304" pitchFamily="18" charset="0"/>
                          </a:rPr>
                          <m:t>1</m:t>
                        </m:r>
                      </m:num>
                      <m:den>
                        <m:r>
                          <a:rPr lang="en-US" altLang="zh-CN" b="0" i="1" smtClean="0">
                            <a:latin typeface="Cambria Math" panose="02040503050406030204" pitchFamily="18" charset="0"/>
                            <a:ea typeface="+mj-ea"/>
                            <a:cs typeface="Times New Roman" panose="02020603050405020304" pitchFamily="18" charset="0"/>
                          </a:rPr>
                          <m:t>|</m:t>
                        </m:r>
                        <m:sSub>
                          <m:sSubPr>
                            <m:ctrlPr>
                              <a:rPr lang="en-US" altLang="zh-CN" b="0" i="1" smtClean="0">
                                <a:latin typeface="Cambria Math" panose="02040503050406030204" pitchFamily="18" charset="0"/>
                                <a:ea typeface="+mj-ea"/>
                                <a:cs typeface="Times New Roman" panose="02020603050405020304" pitchFamily="18" charset="0"/>
                              </a:rPr>
                            </m:ctrlPr>
                          </m:sSubPr>
                          <m:e>
                            <m:r>
                              <a:rPr lang="en-US" altLang="zh-CN" b="0" i="1" smtClean="0">
                                <a:latin typeface="Cambria Math" panose="02040503050406030204" pitchFamily="18" charset="0"/>
                                <a:ea typeface="+mj-ea"/>
                                <a:cs typeface="Times New Roman" panose="02020603050405020304" pitchFamily="18" charset="0"/>
                              </a:rPr>
                              <m:t>𝐺</m:t>
                            </m:r>
                          </m:e>
                          <m:sub>
                            <m:r>
                              <a:rPr lang="en-US" altLang="zh-CN" b="0" i="1" smtClean="0">
                                <a:latin typeface="Cambria Math" panose="02040503050406030204" pitchFamily="18" charset="0"/>
                                <a:ea typeface="+mj-ea"/>
                                <a:cs typeface="Times New Roman" panose="02020603050405020304" pitchFamily="18" charset="0"/>
                              </a:rPr>
                              <m:t>𝑖</m:t>
                            </m:r>
                          </m:sub>
                        </m:sSub>
                        <m:r>
                          <a:rPr lang="en-US" altLang="zh-CN" b="0" i="1" smtClean="0">
                            <a:latin typeface="Cambria Math" panose="02040503050406030204" pitchFamily="18" charset="0"/>
                            <a:ea typeface="+mj-ea"/>
                            <a:cs typeface="Times New Roman" panose="02020603050405020304" pitchFamily="18" charset="0"/>
                          </a:rPr>
                          <m:t>|</m:t>
                        </m:r>
                      </m:den>
                    </m:f>
                    <m:nary>
                      <m:naryPr>
                        <m:chr m:val="∑"/>
                        <m:supHide m:val="on"/>
                        <m:ctrlPr>
                          <a:rPr lang="en-US" altLang="zh-CN" i="1" smtClean="0">
                            <a:latin typeface="Cambria Math" panose="02040503050406030204" pitchFamily="18" charset="0"/>
                            <a:ea typeface="+mj-ea"/>
                            <a:cs typeface="Times New Roman" panose="02020603050405020304" pitchFamily="18" charset="0"/>
                          </a:rPr>
                        </m:ctrlPr>
                      </m:naryPr>
                      <m:sub>
                        <m:r>
                          <m:rPr>
                            <m:brk m:alnAt="7"/>
                          </m:rPr>
                          <a:rPr lang="en-US" altLang="zh-CN" b="0" i="1" smtClean="0">
                            <a:latin typeface="Cambria Math" panose="02040503050406030204" pitchFamily="18" charset="0"/>
                            <a:ea typeface="+mj-ea"/>
                            <a:cs typeface="Times New Roman" panose="02020603050405020304" pitchFamily="18" charset="0"/>
                          </a:rPr>
                          <m:t>𝑥</m:t>
                        </m:r>
                        <m:r>
                          <a:rPr lang="en-US" altLang="zh-CN" b="0" i="1" smtClean="0">
                            <a:latin typeface="Cambria Math" panose="02040503050406030204" pitchFamily="18" charset="0"/>
                            <a:ea typeface="+mj-ea"/>
                            <a:cs typeface="Times New Roman" panose="02020603050405020304" pitchFamily="18" charset="0"/>
                          </a:rPr>
                          <m:t>∈</m:t>
                        </m:r>
                        <m:sSub>
                          <m:sSubPr>
                            <m:ctrlPr>
                              <a:rPr lang="en-US" altLang="zh-CN" b="0" i="1" smtClean="0">
                                <a:latin typeface="Cambria Math" panose="02040503050406030204" pitchFamily="18" charset="0"/>
                                <a:ea typeface="+mj-ea"/>
                                <a:cs typeface="Times New Roman" panose="02020603050405020304" pitchFamily="18" charset="0"/>
                              </a:rPr>
                            </m:ctrlPr>
                          </m:sSubPr>
                          <m:e>
                            <m:r>
                              <a:rPr lang="en-US" altLang="zh-CN" b="0" i="1" smtClean="0">
                                <a:latin typeface="Cambria Math" panose="02040503050406030204" pitchFamily="18" charset="0"/>
                                <a:ea typeface="+mj-ea"/>
                                <a:cs typeface="Times New Roman" panose="02020603050405020304" pitchFamily="18" charset="0"/>
                              </a:rPr>
                              <m:t>𝐺</m:t>
                            </m:r>
                          </m:e>
                          <m:sub>
                            <m:r>
                              <a:rPr lang="en-US" altLang="zh-CN" b="0" i="1" smtClean="0">
                                <a:latin typeface="Cambria Math" panose="02040503050406030204" pitchFamily="18" charset="0"/>
                                <a:ea typeface="+mj-ea"/>
                                <a:cs typeface="Times New Roman" panose="02020603050405020304" pitchFamily="18" charset="0"/>
                              </a:rPr>
                              <m:t>𝑖</m:t>
                            </m:r>
                          </m:sub>
                        </m:sSub>
                      </m:sub>
                      <m:sup/>
                      <m:e>
                        <m:sSup>
                          <m:sSupPr>
                            <m:ctrlPr>
                              <a:rPr lang="en-US" altLang="zh-CN" i="1" smtClean="0">
                                <a:latin typeface="Cambria Math" panose="02040503050406030204" pitchFamily="18" charset="0"/>
                                <a:ea typeface="+mj-ea"/>
                                <a:cs typeface="Times New Roman" panose="02020603050405020304" pitchFamily="18" charset="0"/>
                              </a:rPr>
                            </m:ctrlPr>
                          </m:sSupPr>
                          <m:e>
                            <m:r>
                              <a:rPr lang="en-US" altLang="zh-CN" b="0" i="1" smtClean="0">
                                <a:latin typeface="Cambria Math" panose="02040503050406030204" pitchFamily="18" charset="0"/>
                                <a:ea typeface="+mj-ea"/>
                                <a:cs typeface="Times New Roman" panose="02020603050405020304" pitchFamily="18" charset="0"/>
                              </a:rPr>
                              <m:t>||</m:t>
                            </m:r>
                            <m:r>
                              <a:rPr lang="en-US" altLang="zh-CN" b="0" i="1" smtClean="0">
                                <a:latin typeface="Cambria Math" panose="02040503050406030204" pitchFamily="18" charset="0"/>
                                <a:ea typeface="+mj-ea"/>
                                <a:cs typeface="Times New Roman" panose="02020603050405020304" pitchFamily="18" charset="0"/>
                              </a:rPr>
                              <m:t>𝑥</m:t>
                            </m:r>
                            <m:r>
                              <a:rPr lang="en-US" altLang="zh-CN" b="0" i="1" smtClean="0">
                                <a:latin typeface="Cambria Math" panose="02040503050406030204" pitchFamily="18" charset="0"/>
                                <a:ea typeface="+mj-ea"/>
                                <a:cs typeface="Times New Roman" panose="02020603050405020304" pitchFamily="18" charset="0"/>
                              </a:rPr>
                              <m:t>−</m:t>
                            </m:r>
                            <m:sSub>
                              <m:sSubPr>
                                <m:ctrlPr>
                                  <a:rPr lang="en-US" altLang="zh-CN" b="0" i="1" smtClean="0">
                                    <a:latin typeface="Cambria Math" panose="02040503050406030204" pitchFamily="18" charset="0"/>
                                    <a:ea typeface="+mj-ea"/>
                                    <a:cs typeface="Times New Roman" panose="02020603050405020304" pitchFamily="18" charset="0"/>
                                  </a:rPr>
                                </m:ctrlPr>
                              </m:sSubPr>
                              <m:e>
                                <m:r>
                                  <a:rPr lang="en-US" altLang="zh-CN" b="0" i="1" smtClean="0">
                                    <a:latin typeface="Cambria Math" panose="02040503050406030204" pitchFamily="18" charset="0"/>
                                    <a:ea typeface="+mj-ea"/>
                                    <a:cs typeface="Times New Roman" panose="02020603050405020304" pitchFamily="18" charset="0"/>
                                  </a:rPr>
                                  <m:t>𝐺</m:t>
                                </m:r>
                              </m:e>
                              <m:sub>
                                <m:r>
                                  <a:rPr lang="en-US" altLang="zh-CN" b="0" i="1" smtClean="0">
                                    <a:latin typeface="Cambria Math" panose="02040503050406030204" pitchFamily="18" charset="0"/>
                                    <a:ea typeface="+mj-ea"/>
                                    <a:cs typeface="Times New Roman" panose="02020603050405020304" pitchFamily="18" charset="0"/>
                                  </a:rPr>
                                  <m:t>𝑖</m:t>
                                </m:r>
                              </m:sub>
                            </m:sSub>
                            <m:r>
                              <a:rPr lang="en-US" altLang="zh-CN" b="0" i="1" smtClean="0">
                                <a:latin typeface="Cambria Math" panose="02040503050406030204" pitchFamily="18" charset="0"/>
                                <a:ea typeface="+mj-ea"/>
                                <a:cs typeface="Times New Roman" panose="02020603050405020304" pitchFamily="18" charset="0"/>
                              </a:rPr>
                              <m:t>||</m:t>
                            </m:r>
                          </m:e>
                          <m:sup>
                            <m:r>
                              <a:rPr lang="en-US" altLang="zh-CN" b="0" i="1" smtClean="0">
                                <a:latin typeface="Cambria Math" panose="02040503050406030204" pitchFamily="18" charset="0"/>
                                <a:ea typeface="+mj-ea"/>
                                <a:cs typeface="Times New Roman" panose="02020603050405020304" pitchFamily="18" charset="0"/>
                              </a:rPr>
                              <m:t>2</m:t>
                            </m:r>
                          </m:sup>
                        </m:sSup>
                      </m:e>
                    </m:nary>
                  </m:oMath>
                </a14:m>
                <a:endParaRPr lang="en-US" altLang="zh-CN" dirty="0">
                  <a:latin typeface="+mj-ea"/>
                  <a:ea typeface="+mj-ea"/>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66F69DBA-2EA2-4B1F-866C-35AF2B5F0B34}"/>
                  </a:ext>
                </a:extLst>
              </p:cNvPr>
              <p:cNvSpPr>
                <a:spLocks noRot="1" noChangeAspect="1" noMove="1" noResize="1" noEditPoints="1" noAdjustHandles="1" noChangeArrowheads="1" noChangeShapeType="1" noTextEdit="1"/>
              </p:cNvSpPr>
              <p:nvPr/>
            </p:nvSpPr>
            <p:spPr>
              <a:xfrm>
                <a:off x="3542952" y="2873624"/>
                <a:ext cx="4902304" cy="526491"/>
              </a:xfrm>
              <a:prstGeom prst="rect">
                <a:avLst/>
              </a:prstGeom>
              <a:blipFill>
                <a:blip r:embed="rId4"/>
                <a:stretch>
                  <a:fillRect l="-995" t="-72414" b="-110345"/>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4FC95C3E-CCF2-4B6A-99FA-941B935C2AA7}"/>
              </a:ext>
            </a:extLst>
          </p:cNvPr>
          <p:cNvSpPr/>
          <p:nvPr/>
        </p:nvSpPr>
        <p:spPr>
          <a:xfrm>
            <a:off x="702372" y="3513769"/>
            <a:ext cx="10583463" cy="286232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400" dirty="0" smtClean="0">
                <a:latin typeface="+mj-ea"/>
                <a:ea typeface="+mj-ea"/>
                <a:cs typeface="Times New Roman" panose="02020603050405020304" pitchFamily="18" charset="0"/>
              </a:rPr>
              <a:t>聚类</a:t>
            </a:r>
            <a:r>
              <a:rPr lang="zh-CN" altLang="en-US" sz="2400" dirty="0">
                <a:latin typeface="+mj-ea"/>
                <a:ea typeface="+mj-ea"/>
                <a:cs typeface="Times New Roman" panose="02020603050405020304" pitchFamily="18" charset="0"/>
              </a:rPr>
              <a:t>算法的目标都是得到一个聚类结果，最小化类内距离（或最大化类内相似度），而最大化类间距离（或最小化类间相似度）。</a:t>
            </a:r>
            <a:endParaRPr lang="en-US" altLang="zh-CN" sz="2400"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en-US" altLang="zh-CN" sz="2400" dirty="0" smtClean="0">
                <a:latin typeface="+mj-ea"/>
                <a:ea typeface="+mj-ea"/>
                <a:cs typeface="Times New Roman" panose="02020603050405020304" pitchFamily="18" charset="0"/>
              </a:rPr>
              <a:t>K-means</a:t>
            </a:r>
            <a:r>
              <a:rPr lang="zh-CN" altLang="en-US" sz="2400" dirty="0">
                <a:latin typeface="+mj-ea"/>
                <a:ea typeface="+mj-ea"/>
                <a:cs typeface="Times New Roman" panose="02020603050405020304" pitchFamily="18" charset="0"/>
              </a:rPr>
              <a:t>聚类就是通过最小化聚簇内的数据方差来实现最大化类内相似度的，即最小化每个类簇方差，使得最终聚类结果中每个聚类集合所包含的数据呈现出的差异性最小。</a:t>
            </a:r>
            <a:endParaRPr lang="zh-CN" altLang="en-US" sz="2400" b="1" dirty="0">
              <a:latin typeface="+mj-ea"/>
              <a:ea typeface="+mj-ea"/>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4E1D51A3-7B21-4C50-9E2B-3746B6FD97F2}"/>
              </a:ext>
            </a:extLst>
          </p:cNvPr>
          <p:cNvCxnSpPr/>
          <p:nvPr/>
        </p:nvCxnSpPr>
        <p:spPr>
          <a:xfrm flipV="1">
            <a:off x="5828420" y="2600699"/>
            <a:ext cx="0" cy="37739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6943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28B459E1-816C-816E-2957-CF052CB7BE36}"/>
              </a:ext>
            </a:extLst>
          </p:cNvPr>
          <p:cNvSpPr txBox="1"/>
          <p:nvPr/>
        </p:nvSpPr>
        <p:spPr>
          <a:xfrm>
            <a:off x="5764309" y="746569"/>
            <a:ext cx="5463987" cy="6124754"/>
          </a:xfrm>
          <a:prstGeom prst="rect">
            <a:avLst/>
          </a:prstGeom>
          <a:noFill/>
        </p:spPr>
        <p:txBody>
          <a:bodyPr wrap="square" rtlCol="0">
            <a:spAutoFit/>
          </a:bodyPr>
          <a:lstStyle/>
          <a:p>
            <a:endParaRPr lang="en-US" altLang="zh-CN" sz="1400" dirty="0"/>
          </a:p>
          <a:p>
            <a:r>
              <a:rPr lang="en-US" altLang="zh-CN" sz="1400" dirty="0"/>
              <a:t>def </a:t>
            </a:r>
            <a:r>
              <a:rPr lang="en-US" altLang="zh-CN" sz="1400" dirty="0" err="1"/>
              <a:t>initialize_centers</a:t>
            </a:r>
            <a:r>
              <a:rPr lang="en-US" altLang="zh-CN" sz="1400" dirty="0"/>
              <a:t>(data, k)://</a:t>
            </a:r>
            <a:r>
              <a:rPr lang="zh-CN" altLang="en-US" sz="1400" dirty="0"/>
              <a:t>随机选择</a:t>
            </a:r>
            <a:r>
              <a:rPr lang="en-US" altLang="zh-CN" sz="1400" dirty="0"/>
              <a:t>k</a:t>
            </a:r>
            <a:r>
              <a:rPr lang="zh-CN" altLang="en-US" sz="1400" dirty="0"/>
              <a:t>个数据点作为初始簇中心</a:t>
            </a:r>
          </a:p>
          <a:p>
            <a:r>
              <a:rPr lang="en-US" altLang="zh-CN" sz="1400" dirty="0"/>
              <a:t>indices = </a:t>
            </a:r>
            <a:r>
              <a:rPr lang="en-US" altLang="zh-CN" sz="1400" dirty="0" err="1"/>
              <a:t>random.sample</a:t>
            </a:r>
            <a:r>
              <a:rPr lang="en-US" altLang="zh-CN" sz="1400" dirty="0"/>
              <a:t>(range(</a:t>
            </a:r>
            <a:r>
              <a:rPr lang="en-US" altLang="zh-CN" sz="1400" dirty="0" err="1"/>
              <a:t>len</a:t>
            </a:r>
            <a:r>
              <a:rPr lang="en-US" altLang="zh-CN" sz="1400" dirty="0"/>
              <a:t>(data)), k)</a:t>
            </a:r>
          </a:p>
          <a:p>
            <a:r>
              <a:rPr lang="en-US" altLang="zh-CN" sz="1400" dirty="0"/>
              <a:t>    centers = [data[</a:t>
            </a:r>
            <a:r>
              <a:rPr lang="en-US" altLang="zh-CN" sz="1400" dirty="0" err="1"/>
              <a:t>i</a:t>
            </a:r>
            <a:r>
              <a:rPr lang="en-US" altLang="zh-CN" sz="1400" dirty="0"/>
              <a:t>] for </a:t>
            </a:r>
            <a:r>
              <a:rPr lang="en-US" altLang="zh-CN" sz="1400" dirty="0" err="1"/>
              <a:t>i</a:t>
            </a:r>
            <a:r>
              <a:rPr lang="en-US" altLang="zh-CN" sz="1400" dirty="0"/>
              <a:t> in indices]</a:t>
            </a:r>
          </a:p>
          <a:p>
            <a:r>
              <a:rPr lang="en-US" altLang="zh-CN" sz="1400" dirty="0"/>
              <a:t>    return centers</a:t>
            </a:r>
          </a:p>
          <a:p>
            <a:endParaRPr lang="en-US" altLang="zh-CN" sz="1400" dirty="0"/>
          </a:p>
          <a:p>
            <a:r>
              <a:rPr lang="en-US" altLang="zh-CN" sz="1400" dirty="0"/>
              <a:t>def </a:t>
            </a:r>
            <a:r>
              <a:rPr lang="en-US" altLang="zh-CN" sz="1400" dirty="0" err="1"/>
              <a:t>assign_clusters</a:t>
            </a:r>
            <a:r>
              <a:rPr lang="en-US" altLang="zh-CN" sz="1400" dirty="0"/>
              <a:t>(data, centers): //</a:t>
            </a:r>
            <a:r>
              <a:rPr lang="zh-CN" altLang="en-US" sz="1400" dirty="0"/>
              <a:t>将每个数据点分配给最近的簇中心</a:t>
            </a:r>
            <a:endParaRPr lang="en-US" altLang="zh-CN" sz="1400" dirty="0"/>
          </a:p>
          <a:p>
            <a:r>
              <a:rPr lang="en-US" altLang="zh-CN" sz="1400" dirty="0"/>
              <a:t>labels = []</a:t>
            </a:r>
          </a:p>
          <a:p>
            <a:r>
              <a:rPr lang="en-US" altLang="zh-CN" sz="1400" dirty="0"/>
              <a:t>    for point in data:</a:t>
            </a:r>
          </a:p>
          <a:p>
            <a:r>
              <a:rPr lang="en-US" altLang="zh-CN" sz="1400" dirty="0"/>
              <a:t>        # </a:t>
            </a:r>
            <a:r>
              <a:rPr lang="zh-CN" altLang="en-US" sz="1400" dirty="0"/>
              <a:t>计算点到每个簇中心的距离</a:t>
            </a:r>
          </a:p>
          <a:p>
            <a:r>
              <a:rPr lang="zh-CN" altLang="en-US" sz="1400" dirty="0"/>
              <a:t>        </a:t>
            </a:r>
            <a:r>
              <a:rPr lang="en-US" altLang="zh-CN" sz="1400" dirty="0"/>
              <a:t>distances = [distance(point, center) for center in centers]</a:t>
            </a:r>
          </a:p>
          <a:p>
            <a:r>
              <a:rPr lang="en-US" altLang="zh-CN" sz="1400" dirty="0"/>
              <a:t>        # </a:t>
            </a:r>
            <a:r>
              <a:rPr lang="zh-CN" altLang="en-US" sz="1400" dirty="0"/>
              <a:t>找到最近的簇中心</a:t>
            </a:r>
          </a:p>
          <a:p>
            <a:r>
              <a:rPr lang="zh-CN" altLang="en-US" sz="1400" dirty="0"/>
              <a:t>        </a:t>
            </a:r>
            <a:r>
              <a:rPr lang="en-US" altLang="zh-CN" sz="1400" dirty="0" err="1"/>
              <a:t>closest_center_index</a:t>
            </a:r>
            <a:r>
              <a:rPr lang="en-US" altLang="zh-CN" sz="1400" dirty="0"/>
              <a:t> = </a:t>
            </a:r>
            <a:r>
              <a:rPr lang="en-US" altLang="zh-CN" sz="1400" dirty="0" err="1"/>
              <a:t>np.argmin</a:t>
            </a:r>
            <a:r>
              <a:rPr lang="en-US" altLang="zh-CN" sz="1400" dirty="0"/>
              <a:t>(distances)</a:t>
            </a:r>
          </a:p>
          <a:p>
            <a:r>
              <a:rPr lang="en-US" altLang="zh-CN" sz="1400" dirty="0"/>
              <a:t>        </a:t>
            </a:r>
            <a:r>
              <a:rPr lang="en-US" altLang="zh-CN" sz="1400" dirty="0" err="1"/>
              <a:t>labels.append</a:t>
            </a:r>
            <a:r>
              <a:rPr lang="en-US" altLang="zh-CN" sz="1400" dirty="0"/>
              <a:t>(</a:t>
            </a:r>
            <a:r>
              <a:rPr lang="en-US" altLang="zh-CN" sz="1400" dirty="0" err="1"/>
              <a:t>closest_center_index</a:t>
            </a:r>
            <a:r>
              <a:rPr lang="en-US" altLang="zh-CN" sz="1400" dirty="0"/>
              <a:t>)</a:t>
            </a:r>
          </a:p>
          <a:p>
            <a:r>
              <a:rPr lang="en-US" altLang="zh-CN" sz="1400" dirty="0"/>
              <a:t>    return labels</a:t>
            </a:r>
          </a:p>
          <a:p>
            <a:endParaRPr lang="en-US" altLang="zh-CN" sz="1400" dirty="0"/>
          </a:p>
          <a:p>
            <a:r>
              <a:rPr lang="en-US" altLang="zh-CN" sz="1400" dirty="0"/>
              <a:t>def </a:t>
            </a:r>
            <a:r>
              <a:rPr lang="en-US" altLang="zh-CN" sz="1400" dirty="0" err="1"/>
              <a:t>update_centers</a:t>
            </a:r>
            <a:r>
              <a:rPr lang="en-US" altLang="zh-CN" sz="1400" dirty="0"/>
              <a:t>(data, labels, k): //</a:t>
            </a:r>
            <a:r>
              <a:rPr lang="zh-CN" altLang="en-US" sz="1400" dirty="0"/>
              <a:t>重新计算每个簇的中心（簇内所有点的均值）</a:t>
            </a:r>
          </a:p>
          <a:p>
            <a:r>
              <a:rPr lang="en-US" altLang="zh-CN" sz="1400" dirty="0" err="1"/>
              <a:t>new_centers</a:t>
            </a:r>
            <a:r>
              <a:rPr lang="en-US" altLang="zh-CN" sz="1400" dirty="0"/>
              <a:t> = []</a:t>
            </a:r>
          </a:p>
          <a:p>
            <a:r>
              <a:rPr lang="en-US" altLang="zh-CN" sz="1400" dirty="0"/>
              <a:t>    for </a:t>
            </a:r>
            <a:r>
              <a:rPr lang="en-US" altLang="zh-CN" sz="1400" dirty="0" err="1"/>
              <a:t>i</a:t>
            </a:r>
            <a:r>
              <a:rPr lang="en-US" altLang="zh-CN" sz="1400" dirty="0"/>
              <a:t> in range(k):</a:t>
            </a:r>
          </a:p>
          <a:p>
            <a:r>
              <a:rPr lang="en-US" altLang="zh-CN" sz="1400" dirty="0"/>
              <a:t>        # </a:t>
            </a:r>
            <a:r>
              <a:rPr lang="zh-CN" altLang="en-US" sz="1400" dirty="0"/>
              <a:t>获取属于当前簇的所有点</a:t>
            </a:r>
          </a:p>
          <a:p>
            <a:r>
              <a:rPr lang="zh-CN" altLang="en-US" sz="1400" dirty="0"/>
              <a:t>        </a:t>
            </a:r>
            <a:r>
              <a:rPr lang="en-US" altLang="zh-CN" sz="1400" dirty="0" err="1"/>
              <a:t>cluster_points</a:t>
            </a:r>
            <a:r>
              <a:rPr lang="en-US" altLang="zh-CN" sz="1400" dirty="0"/>
              <a:t> = [point for point, label in zip(data, labels) if label == </a:t>
            </a:r>
            <a:r>
              <a:rPr lang="en-US" altLang="zh-CN" sz="1400" dirty="0" err="1"/>
              <a:t>i</a:t>
            </a:r>
            <a:r>
              <a:rPr lang="en-US" altLang="zh-CN" sz="1400" dirty="0"/>
              <a:t>]</a:t>
            </a:r>
          </a:p>
          <a:p>
            <a:r>
              <a:rPr lang="en-US" altLang="zh-CN" sz="1400" dirty="0"/>
              <a:t>        # </a:t>
            </a:r>
            <a:r>
              <a:rPr lang="zh-CN" altLang="en-US" sz="1400" dirty="0"/>
              <a:t>计算簇内点的均值作为新的簇中心</a:t>
            </a:r>
          </a:p>
          <a:p>
            <a:r>
              <a:rPr lang="zh-CN" altLang="en-US" sz="1400" dirty="0"/>
              <a:t>        </a:t>
            </a:r>
            <a:r>
              <a:rPr lang="en-US" altLang="zh-CN" sz="1400" dirty="0" err="1"/>
              <a:t>new_center</a:t>
            </a:r>
            <a:r>
              <a:rPr lang="en-US" altLang="zh-CN" sz="1400" dirty="0"/>
              <a:t> = </a:t>
            </a:r>
            <a:r>
              <a:rPr lang="en-US" altLang="zh-CN" sz="1400" dirty="0" err="1"/>
              <a:t>np.mean</a:t>
            </a:r>
            <a:r>
              <a:rPr lang="en-US" altLang="zh-CN" sz="1400" dirty="0"/>
              <a:t>(</a:t>
            </a:r>
            <a:r>
              <a:rPr lang="en-US" altLang="zh-CN" sz="1400" dirty="0" err="1"/>
              <a:t>cluster_points</a:t>
            </a:r>
            <a:r>
              <a:rPr lang="en-US" altLang="zh-CN" sz="1400" dirty="0"/>
              <a:t>, axis=0)</a:t>
            </a:r>
          </a:p>
          <a:p>
            <a:r>
              <a:rPr lang="en-US" altLang="zh-CN" sz="1400" dirty="0"/>
              <a:t>        </a:t>
            </a:r>
            <a:r>
              <a:rPr lang="en-US" altLang="zh-CN" sz="1400" dirty="0" err="1"/>
              <a:t>new_centers.append</a:t>
            </a:r>
            <a:r>
              <a:rPr lang="en-US" altLang="zh-CN" sz="1400" dirty="0"/>
              <a:t>(</a:t>
            </a:r>
            <a:r>
              <a:rPr lang="en-US" altLang="zh-CN" sz="1400" dirty="0" err="1"/>
              <a:t>new_center</a:t>
            </a:r>
            <a:r>
              <a:rPr lang="en-US" altLang="zh-CN" sz="1400" dirty="0"/>
              <a:t>)</a:t>
            </a:r>
          </a:p>
          <a:p>
            <a:r>
              <a:rPr lang="en-US" altLang="zh-CN" sz="1400" dirty="0"/>
              <a:t>    return </a:t>
            </a:r>
            <a:r>
              <a:rPr lang="en-US" altLang="zh-CN" sz="1400" dirty="0" err="1"/>
              <a:t>new_centers</a:t>
            </a:r>
            <a:endParaRPr lang="en-US" altLang="zh-CN" sz="1400" dirty="0"/>
          </a:p>
        </p:txBody>
      </p:sp>
      <p:sp>
        <p:nvSpPr>
          <p:cNvPr id="15" name="文本框 14">
            <a:extLst>
              <a:ext uri="{FF2B5EF4-FFF2-40B4-BE49-F238E27FC236}">
                <a16:creationId xmlns:a16="http://schemas.microsoft.com/office/drawing/2014/main" id="{FD75F90E-3758-1E2A-7BB6-6A3805985146}"/>
              </a:ext>
            </a:extLst>
          </p:cNvPr>
          <p:cNvSpPr txBox="1"/>
          <p:nvPr/>
        </p:nvSpPr>
        <p:spPr>
          <a:xfrm>
            <a:off x="685800" y="1448556"/>
            <a:ext cx="4733364" cy="4185761"/>
          </a:xfrm>
          <a:prstGeom prst="rect">
            <a:avLst/>
          </a:prstGeom>
          <a:noFill/>
        </p:spPr>
        <p:txBody>
          <a:bodyPr wrap="square">
            <a:spAutoFit/>
          </a:bodyPr>
          <a:lstStyle/>
          <a:p>
            <a:r>
              <a:rPr lang="en-US" altLang="zh-CN" sz="1400" dirty="0"/>
              <a:t>def </a:t>
            </a:r>
            <a:r>
              <a:rPr lang="en-US" altLang="zh-CN" sz="1400" dirty="0" err="1"/>
              <a:t>kmeans</a:t>
            </a:r>
            <a:r>
              <a:rPr lang="en-US" altLang="zh-CN" sz="1400" dirty="0"/>
              <a:t>(data, k, </a:t>
            </a:r>
            <a:r>
              <a:rPr lang="en-US" altLang="zh-CN" sz="1400" dirty="0" err="1"/>
              <a:t>max_iterations</a:t>
            </a:r>
            <a:r>
              <a:rPr lang="en-US" altLang="zh-CN" sz="1400" dirty="0"/>
              <a:t>=100):    </a:t>
            </a:r>
          </a:p>
          <a:p>
            <a:r>
              <a:rPr lang="en-US" altLang="zh-CN" sz="1400" dirty="0"/>
              <a:t>    # </a:t>
            </a:r>
            <a:r>
              <a:rPr lang="zh-CN" altLang="en-US" sz="1400" dirty="0"/>
              <a:t>步骤</a:t>
            </a:r>
            <a:r>
              <a:rPr lang="en-US" altLang="zh-CN" sz="1400" dirty="0"/>
              <a:t>1: </a:t>
            </a:r>
            <a:r>
              <a:rPr lang="zh-CN" altLang="en-US" sz="1400" dirty="0"/>
              <a:t>初始化 </a:t>
            </a:r>
            <a:r>
              <a:rPr lang="en-US" altLang="zh-CN" sz="1400" dirty="0"/>
              <a:t>- </a:t>
            </a:r>
            <a:r>
              <a:rPr lang="zh-CN" altLang="en-US" sz="1400" dirty="0"/>
              <a:t>随机选择</a:t>
            </a:r>
            <a:r>
              <a:rPr lang="en-US" altLang="zh-CN" sz="1400" dirty="0"/>
              <a:t>k</a:t>
            </a:r>
            <a:r>
              <a:rPr lang="zh-CN" altLang="en-US" sz="1400" dirty="0"/>
              <a:t>个数据点作为初始簇中心</a:t>
            </a:r>
          </a:p>
          <a:p>
            <a:r>
              <a:rPr lang="zh-CN" altLang="en-US" sz="1400" dirty="0"/>
              <a:t>    </a:t>
            </a:r>
            <a:r>
              <a:rPr lang="en-US" altLang="zh-CN" sz="1400" dirty="0"/>
              <a:t>centers = </a:t>
            </a:r>
            <a:r>
              <a:rPr lang="en-US" altLang="zh-CN" sz="1400" dirty="0" err="1"/>
              <a:t>initialize_centers</a:t>
            </a:r>
            <a:r>
              <a:rPr lang="en-US" altLang="zh-CN" sz="1400" dirty="0"/>
              <a:t>(data, k)</a:t>
            </a:r>
          </a:p>
          <a:p>
            <a:r>
              <a:rPr lang="en-US" altLang="zh-CN" sz="1400" dirty="0"/>
              <a:t>    </a:t>
            </a:r>
          </a:p>
          <a:p>
            <a:r>
              <a:rPr lang="en-US" altLang="zh-CN" sz="1400" dirty="0"/>
              <a:t>    for iteration in range(</a:t>
            </a:r>
            <a:r>
              <a:rPr lang="en-US" altLang="zh-CN" sz="1400" dirty="0" err="1"/>
              <a:t>max_iterations</a:t>
            </a:r>
            <a:r>
              <a:rPr lang="en-US" altLang="zh-CN" sz="1400" dirty="0"/>
              <a:t>):</a:t>
            </a:r>
          </a:p>
          <a:p>
            <a:r>
              <a:rPr lang="en-US" altLang="zh-CN" sz="1400" dirty="0"/>
              <a:t>        # </a:t>
            </a:r>
            <a:r>
              <a:rPr lang="zh-CN" altLang="en-US" sz="1400" dirty="0"/>
              <a:t>步骤</a:t>
            </a:r>
            <a:r>
              <a:rPr lang="en-US" altLang="zh-CN" sz="1400" dirty="0"/>
              <a:t>2: </a:t>
            </a:r>
            <a:r>
              <a:rPr lang="zh-CN" altLang="en-US" sz="1400" dirty="0"/>
              <a:t>分配 </a:t>
            </a:r>
            <a:r>
              <a:rPr lang="en-US" altLang="zh-CN" sz="1400" dirty="0"/>
              <a:t>- </a:t>
            </a:r>
            <a:r>
              <a:rPr lang="zh-CN" altLang="en-US" sz="1400" dirty="0"/>
              <a:t>将每个数据点分配给最近的簇中心</a:t>
            </a:r>
          </a:p>
          <a:p>
            <a:r>
              <a:rPr lang="zh-CN" altLang="en-US" sz="1400" dirty="0"/>
              <a:t>        </a:t>
            </a:r>
            <a:r>
              <a:rPr lang="en-US" altLang="zh-CN" sz="1400" dirty="0"/>
              <a:t>labels = </a:t>
            </a:r>
            <a:r>
              <a:rPr lang="en-US" altLang="zh-CN" sz="1400" dirty="0" err="1"/>
              <a:t>assign_clusters</a:t>
            </a:r>
            <a:r>
              <a:rPr lang="en-US" altLang="zh-CN" sz="1400" dirty="0"/>
              <a:t>(data, centers)</a:t>
            </a:r>
          </a:p>
          <a:p>
            <a:r>
              <a:rPr lang="en-US" altLang="zh-CN" sz="1400" dirty="0"/>
              <a:t>        </a:t>
            </a:r>
          </a:p>
          <a:p>
            <a:r>
              <a:rPr lang="en-US" altLang="zh-CN" sz="1400" dirty="0"/>
              <a:t>        # </a:t>
            </a:r>
            <a:r>
              <a:rPr lang="zh-CN" altLang="en-US" sz="1400" dirty="0"/>
              <a:t>步骤</a:t>
            </a:r>
            <a:r>
              <a:rPr lang="en-US" altLang="zh-CN" sz="1400" dirty="0"/>
              <a:t>3: </a:t>
            </a:r>
            <a:r>
              <a:rPr lang="zh-CN" altLang="en-US" sz="1400" dirty="0"/>
              <a:t>更新 </a:t>
            </a:r>
            <a:r>
              <a:rPr lang="en-US" altLang="zh-CN" sz="1400" dirty="0"/>
              <a:t>- </a:t>
            </a:r>
            <a:r>
              <a:rPr lang="zh-CN" altLang="en-US" sz="1400" dirty="0"/>
              <a:t>重新计算每个簇的中心</a:t>
            </a:r>
          </a:p>
          <a:p>
            <a:r>
              <a:rPr lang="zh-CN" altLang="en-US" sz="1400" dirty="0"/>
              <a:t>        </a:t>
            </a:r>
            <a:r>
              <a:rPr lang="en-US" altLang="zh-CN" sz="1400" dirty="0" err="1"/>
              <a:t>new_centers</a:t>
            </a:r>
            <a:r>
              <a:rPr lang="en-US" altLang="zh-CN" sz="1400" dirty="0"/>
              <a:t> = </a:t>
            </a:r>
            <a:r>
              <a:rPr lang="en-US" altLang="zh-CN" sz="1400" dirty="0" err="1"/>
              <a:t>update_centers</a:t>
            </a:r>
            <a:r>
              <a:rPr lang="en-US" altLang="zh-CN" sz="1400" dirty="0"/>
              <a:t>(data, labels, k)</a:t>
            </a:r>
          </a:p>
          <a:p>
            <a:r>
              <a:rPr lang="en-US" altLang="zh-CN" sz="1400" dirty="0"/>
              <a:t>        </a:t>
            </a:r>
          </a:p>
          <a:p>
            <a:r>
              <a:rPr lang="en-US" altLang="zh-CN" sz="1400" dirty="0"/>
              <a:t>        # </a:t>
            </a:r>
            <a:r>
              <a:rPr lang="zh-CN" altLang="en-US" sz="1400" dirty="0"/>
              <a:t>检查收敛条件：如果簇中心不再变化，则停止迭代</a:t>
            </a:r>
          </a:p>
          <a:p>
            <a:r>
              <a:rPr lang="zh-CN" altLang="en-US" sz="1400" dirty="0"/>
              <a:t>        </a:t>
            </a:r>
            <a:r>
              <a:rPr lang="en-US" altLang="zh-CN" sz="1400" dirty="0"/>
              <a:t>if </a:t>
            </a:r>
            <a:r>
              <a:rPr lang="en-US" altLang="zh-CN" sz="1400" dirty="0" err="1"/>
              <a:t>convergence_check</a:t>
            </a:r>
            <a:r>
              <a:rPr lang="en-US" altLang="zh-CN" sz="1400" dirty="0"/>
              <a:t>(centers, </a:t>
            </a:r>
            <a:r>
              <a:rPr lang="en-US" altLang="zh-CN" sz="1400" dirty="0" err="1"/>
              <a:t>new_centers</a:t>
            </a:r>
            <a:r>
              <a:rPr lang="en-US" altLang="zh-CN" sz="1400" dirty="0"/>
              <a:t>):</a:t>
            </a:r>
          </a:p>
          <a:p>
            <a:r>
              <a:rPr lang="en-US" altLang="zh-CN" sz="1400" dirty="0"/>
              <a:t>            break</a:t>
            </a:r>
          </a:p>
          <a:p>
            <a:r>
              <a:rPr lang="en-US" altLang="zh-CN" sz="1400" dirty="0"/>
              <a:t>         </a:t>
            </a:r>
          </a:p>
          <a:p>
            <a:r>
              <a:rPr lang="en-US" altLang="zh-CN" sz="1400" dirty="0"/>
              <a:t>        # </a:t>
            </a:r>
            <a:r>
              <a:rPr lang="zh-CN" altLang="en-US" sz="1400" dirty="0"/>
              <a:t>更新簇中心</a:t>
            </a:r>
          </a:p>
          <a:p>
            <a:r>
              <a:rPr lang="zh-CN" altLang="en-US" sz="1400" dirty="0"/>
              <a:t>        </a:t>
            </a:r>
            <a:r>
              <a:rPr lang="en-US" altLang="zh-CN" sz="1400" dirty="0"/>
              <a:t>centers = </a:t>
            </a:r>
            <a:r>
              <a:rPr lang="en-US" altLang="zh-CN" sz="1400" dirty="0" err="1"/>
              <a:t>new_centers</a:t>
            </a:r>
            <a:endParaRPr lang="en-US" altLang="zh-CN" sz="1400" dirty="0"/>
          </a:p>
          <a:p>
            <a:r>
              <a:rPr lang="en-US" altLang="zh-CN" sz="1400" dirty="0"/>
              <a:t>    </a:t>
            </a:r>
          </a:p>
          <a:p>
            <a:r>
              <a:rPr lang="en-US" altLang="zh-CN" sz="1400" dirty="0"/>
              <a:t>    return labels, centers</a:t>
            </a:r>
          </a:p>
        </p:txBody>
      </p:sp>
      <p:sp>
        <p:nvSpPr>
          <p:cNvPr id="16" name="文本框 15">
            <a:extLst>
              <a:ext uri="{FF2B5EF4-FFF2-40B4-BE49-F238E27FC236}">
                <a16:creationId xmlns:a16="http://schemas.microsoft.com/office/drawing/2014/main" id="{DC37D222-4938-0875-A96E-B20E4024A33A}"/>
              </a:ext>
            </a:extLst>
          </p:cNvPr>
          <p:cNvSpPr txBox="1"/>
          <p:nvPr/>
        </p:nvSpPr>
        <p:spPr>
          <a:xfrm>
            <a:off x="685800" y="746569"/>
            <a:ext cx="2675964" cy="46166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Python</a:t>
            </a:r>
            <a:r>
              <a:rPr lang="zh-CN" altLang="en-US" sz="2400" dirty="0">
                <a:latin typeface="微软雅黑" panose="020B0503020204020204" pitchFamily="34" charset="-122"/>
                <a:ea typeface="微软雅黑" panose="020B0503020204020204" pitchFamily="34" charset="-122"/>
              </a:rPr>
              <a:t>伪代码</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45774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D0601-0329-EBE3-FC5C-210B0FDB7555}"/>
            </a:ext>
          </a:extLst>
        </p:cNvPr>
        <p:cNvGrpSpPr/>
        <p:nvPr/>
      </p:nvGrpSpPr>
      <p:grpSpPr>
        <a:xfrm>
          <a:off x="0" y="0"/>
          <a:ext cx="0" cy="0"/>
          <a:chOff x="0" y="0"/>
          <a:chExt cx="0" cy="0"/>
        </a:xfrm>
      </p:grpSpPr>
      <p:grpSp>
        <p:nvGrpSpPr>
          <p:cNvPr id="38" name="组合 37">
            <a:extLst>
              <a:ext uri="{FF2B5EF4-FFF2-40B4-BE49-F238E27FC236}">
                <a16:creationId xmlns:a16="http://schemas.microsoft.com/office/drawing/2014/main" id="{4169D438-F587-7951-EC27-2BE88A355A62}"/>
              </a:ext>
            </a:extLst>
          </p:cNvPr>
          <p:cNvGrpSpPr/>
          <p:nvPr/>
        </p:nvGrpSpPr>
        <p:grpSpPr>
          <a:xfrm>
            <a:off x="3869989" y="1594509"/>
            <a:ext cx="4452022" cy="4487848"/>
            <a:chOff x="3872379" y="1383943"/>
            <a:chExt cx="4452022" cy="4487848"/>
          </a:xfrm>
        </p:grpSpPr>
        <p:sp>
          <p:nvSpPr>
            <p:cNvPr id="3" name="Freeform 5">
              <a:extLst>
                <a:ext uri="{FF2B5EF4-FFF2-40B4-BE49-F238E27FC236}">
                  <a16:creationId xmlns:a16="http://schemas.microsoft.com/office/drawing/2014/main" id="{C824F2EA-540F-2DC8-1A8C-B7B6BBB174AA}"/>
                </a:ext>
              </a:extLst>
            </p:cNvPr>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a:extLst>
                <a:ext uri="{FF2B5EF4-FFF2-40B4-BE49-F238E27FC236}">
                  <a16:creationId xmlns:a16="http://schemas.microsoft.com/office/drawing/2014/main" id="{E0EA9F42-F406-AAE1-8E5E-527AC9C73475}"/>
                </a:ext>
              </a:extLst>
            </p:cNvPr>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a:extLst>
                <a:ext uri="{FF2B5EF4-FFF2-40B4-BE49-F238E27FC236}">
                  <a16:creationId xmlns:a16="http://schemas.microsoft.com/office/drawing/2014/main" id="{BF8E88B0-0169-CF11-153D-6D53F630B816}"/>
                </a:ext>
              </a:extLst>
            </p:cNvPr>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a:extLst>
                <a:ext uri="{FF2B5EF4-FFF2-40B4-BE49-F238E27FC236}">
                  <a16:creationId xmlns:a16="http://schemas.microsoft.com/office/drawing/2014/main" id="{65417307-292D-D038-9F56-A426904118FF}"/>
                </a:ext>
              </a:extLst>
            </p:cNvPr>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a:extLst>
                <a:ext uri="{FF2B5EF4-FFF2-40B4-BE49-F238E27FC236}">
                  <a16:creationId xmlns:a16="http://schemas.microsoft.com/office/drawing/2014/main" id="{25D68FE6-3EAA-AD75-8408-B7BF5B3E2A7A}"/>
                </a:ext>
              </a:extLst>
            </p:cNvPr>
            <p:cNvGrpSpPr/>
            <p:nvPr/>
          </p:nvGrpSpPr>
          <p:grpSpPr>
            <a:xfrm>
              <a:off x="4569798" y="4627422"/>
              <a:ext cx="527842" cy="535007"/>
              <a:chOff x="3557588" y="3654425"/>
              <a:chExt cx="350838" cy="355600"/>
            </a:xfrm>
          </p:grpSpPr>
          <p:sp>
            <p:nvSpPr>
              <p:cNvPr id="20" name="Freeform 9">
                <a:extLst>
                  <a:ext uri="{FF2B5EF4-FFF2-40B4-BE49-F238E27FC236}">
                    <a16:creationId xmlns:a16="http://schemas.microsoft.com/office/drawing/2014/main" id="{48EEDA09-2F57-390B-3AB7-1D8B7B5FEA14}"/>
                  </a:ext>
                </a:extLst>
              </p:cNvPr>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a:extLst>
                  <a:ext uri="{FF2B5EF4-FFF2-40B4-BE49-F238E27FC236}">
                    <a16:creationId xmlns:a16="http://schemas.microsoft.com/office/drawing/2014/main" id="{1C39A278-3691-2E21-4E13-FE445BBC8970}"/>
                  </a:ext>
                </a:extLst>
              </p:cNvPr>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a:extLst>
                  <a:ext uri="{FF2B5EF4-FFF2-40B4-BE49-F238E27FC236}">
                    <a16:creationId xmlns:a16="http://schemas.microsoft.com/office/drawing/2014/main" id="{A285DDC0-3FD0-38EB-B9EE-0D0F675992A3}"/>
                  </a:ext>
                </a:extLst>
              </p:cNvPr>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a:extLst>
                <a:ext uri="{FF2B5EF4-FFF2-40B4-BE49-F238E27FC236}">
                  <a16:creationId xmlns:a16="http://schemas.microsoft.com/office/drawing/2014/main" id="{D0E76272-C891-EB06-782B-FBF3F841D603}"/>
                </a:ext>
              </a:extLst>
            </p:cNvPr>
            <p:cNvGrpSpPr/>
            <p:nvPr/>
          </p:nvGrpSpPr>
          <p:grpSpPr>
            <a:xfrm>
              <a:off x="7025097" y="2098082"/>
              <a:ext cx="606660" cy="539784"/>
              <a:chOff x="5189538" y="1973263"/>
              <a:chExt cx="403225" cy="358775"/>
            </a:xfrm>
          </p:grpSpPr>
          <p:sp>
            <p:nvSpPr>
              <p:cNvPr id="18" name="Freeform 12">
                <a:extLst>
                  <a:ext uri="{FF2B5EF4-FFF2-40B4-BE49-F238E27FC236}">
                    <a16:creationId xmlns:a16="http://schemas.microsoft.com/office/drawing/2014/main" id="{129C2F26-72D7-60DD-68FE-85762B1D70DE}"/>
                  </a:ext>
                </a:extLst>
              </p:cNvPr>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a:extLst>
                  <a:ext uri="{FF2B5EF4-FFF2-40B4-BE49-F238E27FC236}">
                    <a16:creationId xmlns:a16="http://schemas.microsoft.com/office/drawing/2014/main" id="{47C0F876-D196-E966-117C-615B51A6038B}"/>
                  </a:ext>
                </a:extLst>
              </p:cNvPr>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a:extLst>
                <a:ext uri="{FF2B5EF4-FFF2-40B4-BE49-F238E27FC236}">
                  <a16:creationId xmlns:a16="http://schemas.microsoft.com/office/drawing/2014/main" id="{A69DF463-3726-F784-6A63-38B84A430C10}"/>
                </a:ext>
              </a:extLst>
            </p:cNvPr>
            <p:cNvGrpSpPr/>
            <p:nvPr/>
          </p:nvGrpSpPr>
          <p:grpSpPr>
            <a:xfrm>
              <a:off x="6984495" y="4601150"/>
              <a:ext cx="599495" cy="587552"/>
              <a:chOff x="5162551" y="3636963"/>
              <a:chExt cx="398463" cy="390525"/>
            </a:xfrm>
          </p:grpSpPr>
          <p:sp>
            <p:nvSpPr>
              <p:cNvPr id="15" name="Freeform 14">
                <a:extLst>
                  <a:ext uri="{FF2B5EF4-FFF2-40B4-BE49-F238E27FC236}">
                    <a16:creationId xmlns:a16="http://schemas.microsoft.com/office/drawing/2014/main" id="{A8E250E4-8B97-265F-C0D7-D78FD77F4736}"/>
                  </a:ext>
                </a:extLst>
              </p:cNvPr>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a:extLst>
                  <a:ext uri="{FF2B5EF4-FFF2-40B4-BE49-F238E27FC236}">
                    <a16:creationId xmlns:a16="http://schemas.microsoft.com/office/drawing/2014/main" id="{036F4534-0C43-3066-BC8E-B7057DAE3BB2}"/>
                  </a:ext>
                </a:extLst>
              </p:cNvPr>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a:extLst>
                  <a:ext uri="{FF2B5EF4-FFF2-40B4-BE49-F238E27FC236}">
                    <a16:creationId xmlns:a16="http://schemas.microsoft.com/office/drawing/2014/main" id="{BF8A58B6-DB97-6CA2-65B9-19412D5A9717}"/>
                  </a:ext>
                </a:extLst>
              </p:cNvPr>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a:extLst>
                <a:ext uri="{FF2B5EF4-FFF2-40B4-BE49-F238E27FC236}">
                  <a16:creationId xmlns:a16="http://schemas.microsoft.com/office/drawing/2014/main" id="{8CB42BA8-A2AA-4495-09AE-42E7FC4C8647}"/>
                </a:ext>
              </a:extLst>
            </p:cNvPr>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a:extLst>
                <a:ext uri="{FF2B5EF4-FFF2-40B4-BE49-F238E27FC236}">
                  <a16:creationId xmlns:a16="http://schemas.microsoft.com/office/drawing/2014/main" id="{A38441B0-F9A6-BDBD-9675-AE5BDDD10A5D}"/>
                </a:ext>
              </a:extLst>
            </p:cNvPr>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a:extLst>
                <a:ext uri="{FF2B5EF4-FFF2-40B4-BE49-F238E27FC236}">
                  <a16:creationId xmlns:a16="http://schemas.microsoft.com/office/drawing/2014/main" id="{C4FEC0B5-0A17-345F-2E9F-8E06AC7A4B6A}"/>
                </a:ext>
              </a:extLst>
            </p:cNvPr>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a:extLst>
                <a:ext uri="{FF2B5EF4-FFF2-40B4-BE49-F238E27FC236}">
                  <a16:creationId xmlns:a16="http://schemas.microsoft.com/office/drawing/2014/main" id="{36621E06-1C8F-B86D-6FCB-49A9A3CD923D}"/>
                </a:ext>
              </a:extLst>
            </p:cNvPr>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a:extLst>
                <a:ext uri="{FF2B5EF4-FFF2-40B4-BE49-F238E27FC236}">
                  <a16:creationId xmlns:a16="http://schemas.microsoft.com/office/drawing/2014/main" id="{6A1BC98C-AA82-38C4-CF0B-8DEBE8855407}"/>
                </a:ext>
              </a:extLst>
            </p:cNvPr>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a:extLst>
              <a:ext uri="{FF2B5EF4-FFF2-40B4-BE49-F238E27FC236}">
                <a16:creationId xmlns:a16="http://schemas.microsoft.com/office/drawing/2014/main" id="{63016DEF-E3AB-10A0-CCB7-970C64E46EB9}"/>
              </a:ext>
            </a:extLst>
          </p:cNvPr>
          <p:cNvGrpSpPr/>
          <p:nvPr>
            <p:custDataLst>
              <p:tags r:id="rId1"/>
            </p:custDataLst>
          </p:nvPr>
        </p:nvGrpSpPr>
        <p:grpSpPr>
          <a:xfrm>
            <a:off x="1445407" y="2526644"/>
            <a:ext cx="2855980" cy="823738"/>
            <a:chOff x="656868" y="2381121"/>
            <a:chExt cx="2855980" cy="823738"/>
          </a:xfrm>
        </p:grpSpPr>
        <p:sp>
          <p:nvSpPr>
            <p:cNvPr id="24" name="文本框 23">
              <a:extLst>
                <a:ext uri="{FF2B5EF4-FFF2-40B4-BE49-F238E27FC236}">
                  <a16:creationId xmlns:a16="http://schemas.microsoft.com/office/drawing/2014/main" id="{9661243B-9F99-17FB-6268-300D32F13D14}"/>
                </a:ext>
              </a:extLst>
            </p:cNvPr>
            <p:cNvSpPr txBox="1"/>
            <p:nvPr/>
          </p:nvSpPr>
          <p:spPr>
            <a:xfrm>
              <a:off x="928440" y="2381121"/>
              <a:ext cx="1723549" cy="461665"/>
            </a:xfrm>
            <a:prstGeom prst="rect">
              <a:avLst/>
            </a:prstGeom>
            <a:noFill/>
          </p:spPr>
          <p:txBody>
            <a:bodyPr wrap="none" rtlCol="0">
              <a:spAutoFit/>
            </a:bodyPr>
            <a:lstStyle/>
            <a:p>
              <a:r>
                <a:rPr lang="zh-CN" altLang="en-US" sz="2400" b="1" dirty="0">
                  <a:solidFill>
                    <a:srgbClr val="24569D"/>
                  </a:solidFill>
                </a:rPr>
                <a:t>无监督学习</a:t>
              </a:r>
            </a:p>
          </p:txBody>
        </p:sp>
        <p:sp>
          <p:nvSpPr>
            <p:cNvPr id="25" name="文本框 24">
              <a:extLst>
                <a:ext uri="{FF2B5EF4-FFF2-40B4-BE49-F238E27FC236}">
                  <a16:creationId xmlns:a16="http://schemas.microsoft.com/office/drawing/2014/main" id="{BAA94A20-9CF7-1A10-3B76-4A04513CD9C6}"/>
                </a:ext>
              </a:extLst>
            </p:cNvPr>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a:extLst>
              <a:ext uri="{FF2B5EF4-FFF2-40B4-BE49-F238E27FC236}">
                <a16:creationId xmlns:a16="http://schemas.microsoft.com/office/drawing/2014/main" id="{4B8F5635-E9B8-00F5-1761-831A3143BE23}"/>
              </a:ext>
            </a:extLst>
          </p:cNvPr>
          <p:cNvSpPr txBox="1"/>
          <p:nvPr/>
        </p:nvSpPr>
        <p:spPr>
          <a:xfrm>
            <a:off x="8551048" y="4920321"/>
            <a:ext cx="1415772" cy="461665"/>
          </a:xfrm>
          <a:prstGeom prst="rect">
            <a:avLst/>
          </a:prstGeom>
          <a:noFill/>
        </p:spPr>
        <p:txBody>
          <a:bodyPr wrap="none" rtlCol="0">
            <a:spAutoFit/>
          </a:bodyPr>
          <a:lstStyle/>
          <a:p>
            <a:r>
              <a:rPr lang="zh-CN" altLang="en-US" sz="2400" b="1" dirty="0">
                <a:solidFill>
                  <a:srgbClr val="24569D"/>
                </a:solidFill>
              </a:rPr>
              <a:t>演化算法</a:t>
            </a:r>
          </a:p>
        </p:txBody>
      </p:sp>
      <p:sp>
        <p:nvSpPr>
          <p:cNvPr id="31" name="文本框 30">
            <a:extLst>
              <a:ext uri="{FF2B5EF4-FFF2-40B4-BE49-F238E27FC236}">
                <a16:creationId xmlns:a16="http://schemas.microsoft.com/office/drawing/2014/main" id="{85970662-1C2F-5202-AB79-201717B07399}"/>
              </a:ext>
            </a:extLst>
          </p:cNvPr>
          <p:cNvSpPr txBox="1"/>
          <p:nvPr/>
        </p:nvSpPr>
        <p:spPr>
          <a:xfrm>
            <a:off x="1743730" y="4865798"/>
            <a:ext cx="1415772" cy="461665"/>
          </a:xfrm>
          <a:prstGeom prst="rect">
            <a:avLst/>
          </a:prstGeom>
          <a:noFill/>
        </p:spPr>
        <p:txBody>
          <a:bodyPr wrap="none" rtlCol="0">
            <a:spAutoFit/>
          </a:bodyPr>
          <a:lstStyle/>
          <a:p>
            <a:r>
              <a:rPr lang="zh-CN" altLang="en-US" sz="2400" b="1" dirty="0">
                <a:solidFill>
                  <a:srgbClr val="FF0000"/>
                </a:solidFill>
              </a:rPr>
              <a:t>特征降维</a:t>
            </a:r>
          </a:p>
        </p:txBody>
      </p:sp>
      <p:sp>
        <p:nvSpPr>
          <p:cNvPr id="34" name="文本框 33">
            <a:extLst>
              <a:ext uri="{FF2B5EF4-FFF2-40B4-BE49-F238E27FC236}">
                <a16:creationId xmlns:a16="http://schemas.microsoft.com/office/drawing/2014/main" id="{A11EB824-19A5-7599-6564-80E7B9C9799C}"/>
              </a:ext>
            </a:extLst>
          </p:cNvPr>
          <p:cNvSpPr txBox="1"/>
          <p:nvPr/>
        </p:nvSpPr>
        <p:spPr>
          <a:xfrm>
            <a:off x="8551048" y="2586871"/>
            <a:ext cx="1415772" cy="461665"/>
          </a:xfrm>
          <a:prstGeom prst="rect">
            <a:avLst/>
          </a:prstGeom>
          <a:noFill/>
        </p:spPr>
        <p:txBody>
          <a:bodyPr wrap="none" rtlCol="0">
            <a:spAutoFit/>
          </a:bodyPr>
          <a:lstStyle/>
          <a:p>
            <a:r>
              <a:rPr lang="zh-CN" altLang="en-US" sz="2400" b="1" dirty="0">
                <a:solidFill>
                  <a:srgbClr val="24569D"/>
                </a:solidFill>
              </a:rPr>
              <a:t>聚类算法</a:t>
            </a:r>
          </a:p>
        </p:txBody>
      </p:sp>
      <p:sp>
        <p:nvSpPr>
          <p:cNvPr id="2" name="矩形 1">
            <a:extLst>
              <a:ext uri="{FF2B5EF4-FFF2-40B4-BE49-F238E27FC236}">
                <a16:creationId xmlns:a16="http://schemas.microsoft.com/office/drawing/2014/main" id="{8501E9D6-1F13-2B90-6726-B464AFBE6A1D}"/>
              </a:ext>
            </a:extLst>
          </p:cNvPr>
          <p:cNvSpPr/>
          <p:nvPr/>
        </p:nvSpPr>
        <p:spPr>
          <a:xfrm>
            <a:off x="745606" y="902626"/>
            <a:ext cx="902811" cy="523220"/>
          </a:xfrm>
          <a:prstGeom prst="rect">
            <a:avLst/>
          </a:prstGeom>
        </p:spPr>
        <p:txBody>
          <a:bodyPr wrap="none">
            <a:spAutoFit/>
          </a:bodyPr>
          <a:lstStyle/>
          <a:p>
            <a:r>
              <a:rPr lang="zh-CN" altLang="en-US" sz="2800" dirty="0"/>
              <a:t>目录</a:t>
            </a:r>
          </a:p>
        </p:txBody>
      </p:sp>
    </p:spTree>
    <p:extLst>
      <p:ext uri="{BB962C8B-B14F-4D97-AF65-F5344CB8AC3E}">
        <p14:creationId xmlns:p14="http://schemas.microsoft.com/office/powerpoint/2010/main" val="2941247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B309-2961-26BD-27E5-99C0AB6A3B93}"/>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A326DE5D-5FF0-7198-45B8-40C85B37EA2E}"/>
              </a:ext>
            </a:extLst>
          </p:cNvPr>
          <p:cNvGrpSpPr/>
          <p:nvPr/>
        </p:nvGrpSpPr>
        <p:grpSpPr>
          <a:xfrm>
            <a:off x="2071421" y="1276752"/>
            <a:ext cx="7464387" cy="497934"/>
            <a:chOff x="4099943" y="2819853"/>
            <a:chExt cx="2570275" cy="497934"/>
          </a:xfrm>
        </p:grpSpPr>
        <p:sp>
          <p:nvSpPr>
            <p:cNvPr id="4" name="平行四边形 3">
              <a:extLst>
                <a:ext uri="{FF2B5EF4-FFF2-40B4-BE49-F238E27FC236}">
                  <a16:creationId xmlns:a16="http://schemas.microsoft.com/office/drawing/2014/main" id="{987F3724-BA93-33B8-A777-44D89DE77BF2}"/>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3EDF0377-30C5-8D8C-7E15-CDFC8382374F}"/>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87A70ADE-3407-AD7D-D869-6B50F6FCA86A}"/>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线性判别分析的基本概念</a:t>
              </a:r>
            </a:p>
          </p:txBody>
        </p:sp>
      </p:grpSp>
      <p:grpSp>
        <p:nvGrpSpPr>
          <p:cNvPr id="8" name="组合 7">
            <a:extLst>
              <a:ext uri="{FF2B5EF4-FFF2-40B4-BE49-F238E27FC236}">
                <a16:creationId xmlns:a16="http://schemas.microsoft.com/office/drawing/2014/main" id="{E19FD112-FF60-8F18-1170-607626709130}"/>
              </a:ext>
            </a:extLst>
          </p:cNvPr>
          <p:cNvGrpSpPr/>
          <p:nvPr/>
        </p:nvGrpSpPr>
        <p:grpSpPr>
          <a:xfrm>
            <a:off x="530466" y="2018773"/>
            <a:ext cx="4754743" cy="4548282"/>
            <a:chOff x="1099312" y="1723345"/>
            <a:chExt cx="10062913" cy="3432863"/>
          </a:xfrm>
          <a:solidFill>
            <a:schemeClr val="accent5">
              <a:lumMod val="50000"/>
            </a:schemeClr>
          </a:solidFill>
        </p:grpSpPr>
        <p:sp>
          <p:nvSpPr>
            <p:cNvPr id="9" name="立方体 8">
              <a:extLst>
                <a:ext uri="{FF2B5EF4-FFF2-40B4-BE49-F238E27FC236}">
                  <a16:creationId xmlns:a16="http://schemas.microsoft.com/office/drawing/2014/main" id="{62C3D7F2-6510-3721-8E69-7EEDFB5F3B1B}"/>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0" name="直接连接符 9">
              <a:extLst>
                <a:ext uri="{FF2B5EF4-FFF2-40B4-BE49-F238E27FC236}">
                  <a16:creationId xmlns:a16="http://schemas.microsoft.com/office/drawing/2014/main" id="{65D67AB5-711A-FFAF-050C-46D3B24AAED4}"/>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B989BE16-D16E-F2DF-DC35-0B858CE3B318}"/>
                </a:ext>
              </a:extLst>
            </p:cNvPr>
            <p:cNvGrpSpPr/>
            <p:nvPr/>
          </p:nvGrpSpPr>
          <p:grpSpPr>
            <a:xfrm>
              <a:off x="1099312" y="1742007"/>
              <a:ext cx="3220132" cy="3220133"/>
              <a:chOff x="1099312" y="2369187"/>
              <a:chExt cx="3220132" cy="3220133"/>
            </a:xfrm>
            <a:grpFill/>
          </p:grpSpPr>
          <p:cxnSp>
            <p:nvCxnSpPr>
              <p:cNvPr id="13" name="直接连接符 12">
                <a:extLst>
                  <a:ext uri="{FF2B5EF4-FFF2-40B4-BE49-F238E27FC236}">
                    <a16:creationId xmlns:a16="http://schemas.microsoft.com/office/drawing/2014/main" id="{FC62F561-F77E-A5B6-A63B-E1609DF0FAC1}"/>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8FA6E8E-5F77-27A6-FB53-7349EA7C1802}"/>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2" name="直接连接符 11">
              <a:extLst>
                <a:ext uri="{FF2B5EF4-FFF2-40B4-BE49-F238E27FC236}">
                  <a16:creationId xmlns:a16="http://schemas.microsoft.com/office/drawing/2014/main" id="{6BC626B3-26E9-9C12-C18E-14DF0D9E98F8}"/>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5" name="矩形 14">
            <a:extLst>
              <a:ext uri="{FF2B5EF4-FFF2-40B4-BE49-F238E27FC236}">
                <a16:creationId xmlns:a16="http://schemas.microsoft.com/office/drawing/2014/main" id="{09FB0B37-A5EF-2C62-FAC0-92984FF9E3A0}"/>
              </a:ext>
            </a:extLst>
          </p:cNvPr>
          <p:cNvSpPr/>
          <p:nvPr/>
        </p:nvSpPr>
        <p:spPr>
          <a:xfrm>
            <a:off x="633490" y="2339311"/>
            <a:ext cx="4221143" cy="3785652"/>
          </a:xfrm>
          <a:prstGeom prst="rect">
            <a:avLst/>
          </a:prstGeom>
        </p:spPr>
        <p:txBody>
          <a:bodyPr wrap="square">
            <a:spAutoFit/>
          </a:bodyPr>
          <a:lstStyle/>
          <a:p>
            <a:pPr marL="342900" indent="-342900">
              <a:lnSpc>
                <a:spcPct val="150000"/>
              </a:lnSpc>
              <a:buSzPct val="80000"/>
              <a:buFont typeface="Wingdings" panose="05000000000000000000" pitchFamily="2" charset="2"/>
              <a:buChar char="u"/>
            </a:pPr>
            <a:r>
              <a:rPr lang="zh-CN" altLang="en-US" sz="16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(linear discriminant analysis</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是一种</a:t>
            </a:r>
            <a:r>
              <a:rPr lang="zh-CN" altLang="en-US" sz="16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基于监督学习的降维方法</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，也称为</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Fisher</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fisher's discriminant analysis</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FDA) [ Fisher 1936]</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。对于一组具有标签信息的高维数据样本，</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利用其类别信息，将其线性投影到一个低维空间上，在低维空间中同一类别样本尽可能靠近，不同类别样本尽可能彼此远离。</a:t>
            </a:r>
          </a:p>
          <a:p>
            <a:pPr marL="342900" indent="-342900">
              <a:lnSpc>
                <a:spcPct val="150000"/>
              </a:lnSpc>
              <a:buSzPct val="80000"/>
              <a:buFont typeface="Wingdings" panose="05000000000000000000" pitchFamily="2" charset="2"/>
              <a:buChar char="u"/>
            </a:pPr>
            <a:endPar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7" name="图片 16">
            <a:extLst>
              <a:ext uri="{FF2B5EF4-FFF2-40B4-BE49-F238E27FC236}">
                <a16:creationId xmlns:a16="http://schemas.microsoft.com/office/drawing/2014/main" id="{2BBC70F0-7B36-D7AB-7E07-D58E57A09DDA}"/>
              </a:ext>
            </a:extLst>
          </p:cNvPr>
          <p:cNvPicPr>
            <a:picLocks noChangeAspect="1"/>
          </p:cNvPicPr>
          <p:nvPr/>
        </p:nvPicPr>
        <p:blipFill>
          <a:blip r:embed="rId3"/>
          <a:stretch>
            <a:fillRect/>
          </a:stretch>
        </p:blipFill>
        <p:spPr>
          <a:xfrm>
            <a:off x="6713379" y="1885769"/>
            <a:ext cx="5353977" cy="4304848"/>
          </a:xfrm>
          <a:prstGeom prst="rect">
            <a:avLst/>
          </a:prstGeom>
        </p:spPr>
      </p:pic>
      <p:sp>
        <p:nvSpPr>
          <p:cNvPr id="7" name="矩形: 圆角 6">
            <a:extLst>
              <a:ext uri="{FF2B5EF4-FFF2-40B4-BE49-F238E27FC236}">
                <a16:creationId xmlns:a16="http://schemas.microsoft.com/office/drawing/2014/main" id="{DD04A275-2A77-C282-1238-9A2F723D2C4E}"/>
              </a:ext>
            </a:extLst>
          </p:cNvPr>
          <p:cNvSpPr/>
          <p:nvPr/>
        </p:nvSpPr>
        <p:spPr>
          <a:xfrm>
            <a:off x="5836416" y="2240588"/>
            <a:ext cx="2604100" cy="75792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mtClean="0">
                <a:solidFill>
                  <a:schemeClr val="dk1"/>
                </a:solidFill>
                <a:latin typeface="Times New Roman" panose="02020603050405020304" pitchFamily="18" charset="0"/>
                <a:ea typeface="楷体" panose="02010609060101010101" pitchFamily="49" charset="-122"/>
                <a:cs typeface="Times New Roman" panose="02020603050405020304" pitchFamily="18" charset="0"/>
              </a:rPr>
              <a:t>正方形表示患病个体、圆形表示不患病个体</a:t>
            </a:r>
            <a:endParaRPr lang="zh-CN" altLang="en-US" dirty="0">
              <a:solidFill>
                <a:schemeClr val="dk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矩形 15"/>
          <p:cNvSpPr/>
          <p:nvPr/>
        </p:nvSpPr>
        <p:spPr>
          <a:xfrm>
            <a:off x="5431755" y="3186071"/>
            <a:ext cx="2929007" cy="369332"/>
          </a:xfrm>
          <a:prstGeom prst="rect">
            <a:avLst/>
          </a:prstGeom>
        </p:spPr>
        <p:txBody>
          <a:bodyPr wrap="none">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类内方差小、类间间隔大</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4085029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B309-2961-26BD-27E5-99C0AB6A3B93}"/>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A326DE5D-5FF0-7198-45B8-40C85B37EA2E}"/>
              </a:ext>
            </a:extLst>
          </p:cNvPr>
          <p:cNvGrpSpPr/>
          <p:nvPr/>
        </p:nvGrpSpPr>
        <p:grpSpPr>
          <a:xfrm>
            <a:off x="993636" y="438814"/>
            <a:ext cx="7464387" cy="497934"/>
            <a:chOff x="4099943" y="2819853"/>
            <a:chExt cx="2570275" cy="497934"/>
          </a:xfrm>
        </p:grpSpPr>
        <p:sp>
          <p:nvSpPr>
            <p:cNvPr id="4" name="平行四边形 3">
              <a:extLst>
                <a:ext uri="{FF2B5EF4-FFF2-40B4-BE49-F238E27FC236}">
                  <a16:creationId xmlns:a16="http://schemas.microsoft.com/office/drawing/2014/main" id="{987F3724-BA93-33B8-A777-44D89DE77BF2}"/>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3EDF0377-30C5-8D8C-7E15-CDFC8382374F}"/>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87A70ADE-3407-AD7D-D869-6B50F6FCA86A}"/>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线性判别分析的基本概念</a:t>
              </a:r>
            </a:p>
          </p:txBody>
        </p:sp>
      </p:grpSp>
      <mc:AlternateContent xmlns:mc="http://schemas.openxmlformats.org/markup-compatibility/2006" xmlns:a14="http://schemas.microsoft.com/office/drawing/2010/main">
        <mc:Choice Requires="a14">
          <p:sp>
            <p:nvSpPr>
              <p:cNvPr id="2" name="矩形 1"/>
              <p:cNvSpPr/>
              <p:nvPr/>
            </p:nvSpPr>
            <p:spPr>
              <a:xfrm>
                <a:off x="918822" y="802460"/>
                <a:ext cx="9080269" cy="1789849"/>
              </a:xfrm>
              <a:prstGeom prst="rect">
                <a:avLst/>
              </a:prstGeom>
            </p:spPr>
            <p:txBody>
              <a:bodyPr wrap="square">
                <a:spAutoFit/>
              </a:bodyPr>
              <a:lstStyle/>
              <a:p>
                <a:pPr>
                  <a:lnSpc>
                    <a:spcPct val="150000"/>
                  </a:lnSpc>
                  <a:buFont typeface="Arial" panose="020B0604020202020204" pitchFamily="34" charset="0"/>
                  <a:buChar char="•"/>
                </a:pPr>
                <a:endParaRPr lang="en-US" altLang="zh-CN" b="1" dirty="0" smtClean="0">
                  <a:latin typeface="+mj-ea"/>
                  <a:ea typeface="+mj-ea"/>
                </a:endParaRPr>
              </a:p>
              <a:p>
                <a:pPr>
                  <a:lnSpc>
                    <a:spcPct val="150000"/>
                  </a:lnSpc>
                </a:pPr>
                <a:r>
                  <a:rPr lang="en-US" altLang="zh-CN" b="1" dirty="0" smtClean="0">
                    <a:latin typeface="+mj-ea"/>
                    <a:ea typeface="+mj-ea"/>
                  </a:rPr>
                  <a:t>LDA</a:t>
                </a:r>
                <a:r>
                  <a:rPr lang="zh-CN" altLang="en-US" b="1" dirty="0" smtClean="0">
                    <a:latin typeface="+mj-ea"/>
                    <a:ea typeface="+mj-ea"/>
                  </a:rPr>
                  <a:t>的核心目标：</a:t>
                </a:r>
                <a:endParaRPr lang="en-US" altLang="zh-CN" b="1" dirty="0" smtClean="0">
                  <a:latin typeface="+mj-ea"/>
                  <a:ea typeface="+mj-ea"/>
                </a:endParaRPr>
              </a:p>
              <a:p>
                <a:pPr lvl="1">
                  <a:lnSpc>
                    <a:spcPct val="150000"/>
                  </a:lnSpc>
                </a:pPr>
                <a:r>
                  <a:rPr lang="zh-CN" altLang="en-US" b="1" dirty="0" smtClean="0">
                    <a:latin typeface="+mj-ea"/>
                    <a:ea typeface="+mj-ea"/>
                  </a:rPr>
                  <a:t>最大化类间散度</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oMath>
                </a14:m>
                <a:r>
                  <a:rPr lang="zh-CN" altLang="en-US" dirty="0" smtClean="0">
                    <a:latin typeface="+mj-ea"/>
                    <a:ea typeface="+mj-ea"/>
                  </a:rPr>
                  <a:t>：不同类别均值在投影方向上的距离尽可能大。</a:t>
                </a:r>
              </a:p>
              <a:p>
                <a:pPr lvl="1">
                  <a:lnSpc>
                    <a:spcPct val="150000"/>
                  </a:lnSpc>
                </a:pPr>
                <a:r>
                  <a:rPr lang="zh-CN" altLang="en-US" b="1" dirty="0" smtClean="0">
                    <a:latin typeface="+mj-ea"/>
                    <a:ea typeface="+mj-ea"/>
                  </a:rPr>
                  <a:t>最小</a:t>
                </a:r>
                <a:r>
                  <a:rPr lang="zh-CN" altLang="en-US" b="1" dirty="0">
                    <a:latin typeface="+mj-ea"/>
                    <a:ea typeface="+mj-ea"/>
                  </a:rPr>
                  <a:t>化类内散度</a:t>
                </a:r>
                <a14:m>
                  <m:oMath xmlns:m="http://schemas.openxmlformats.org/officeDocument/2006/math">
                    <m:r>
                      <a:rPr lang="en-US" altLang="zh-CN" b="1" i="1" kern="100">
                        <a:latin typeface="Cambria Math" panose="02040503050406030204" pitchFamily="18" charset="0"/>
                        <a:ea typeface="Cambria Math" panose="02040503050406030204" pitchFamily="18" charset="0"/>
                        <a:cs typeface="Times New Roman" panose="02020603050405020304" pitchFamily="18" charset="0"/>
                      </a:rPr>
                      <m:t>𝑺</m:t>
                    </m:r>
                    <m:r>
                      <a:rPr lang="en-US" altLang="zh-CN" i="1" kern="100" baseline="-25000">
                        <a:latin typeface="Cambria Math" panose="02040503050406030204" pitchFamily="18" charset="0"/>
                        <a:ea typeface="Cambria Math" panose="02040503050406030204" pitchFamily="18" charset="0"/>
                        <a:cs typeface="Times New Roman" panose="02020603050405020304" pitchFamily="18" charset="0"/>
                      </a:rPr>
                      <m:t>𝑤</m:t>
                    </m:r>
                    <m:r>
                      <a:rPr lang="en-US" altLang="zh-CN" i="1" kern="100" baseline="-25000">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dirty="0">
                    <a:latin typeface="+mj-ea"/>
                    <a:ea typeface="+mj-ea"/>
                  </a:rPr>
                  <a:t>：同类数据在投影方向上的方差尽可能小。</a:t>
                </a:r>
                <a:endParaRPr lang="zh-CN" altLang="en-US" b="0" i="0" dirty="0">
                  <a:effectLst/>
                  <a:latin typeface="+mj-ea"/>
                  <a:ea typeface="+mj-ea"/>
                </a:endParaRPr>
              </a:p>
            </p:txBody>
          </p:sp>
        </mc:Choice>
        <mc:Fallback xmlns="">
          <p:sp>
            <p:nvSpPr>
              <p:cNvPr id="2" name="矩形 1"/>
              <p:cNvSpPr>
                <a:spLocks noRot="1" noChangeAspect="1" noMove="1" noResize="1" noEditPoints="1" noAdjustHandles="1" noChangeArrowheads="1" noChangeShapeType="1" noTextEdit="1"/>
              </p:cNvSpPr>
              <p:nvPr/>
            </p:nvSpPr>
            <p:spPr>
              <a:xfrm>
                <a:off x="918822" y="802460"/>
                <a:ext cx="9080269" cy="1789849"/>
              </a:xfrm>
              <a:prstGeom prst="rect">
                <a:avLst/>
              </a:prstGeom>
              <a:blipFill>
                <a:blip r:embed="rId3"/>
                <a:stretch>
                  <a:fillRect l="-604"/>
                </a:stretch>
              </a:blipFill>
            </p:spPr>
            <p:txBody>
              <a:bodyPr/>
              <a:lstStyle/>
              <a:p>
                <a:r>
                  <a:rPr lang="zh-CN" altLang="en-US">
                    <a:noFill/>
                  </a:rPr>
                  <a:t> </a:t>
                </a:r>
              </a:p>
            </p:txBody>
          </p:sp>
        </mc:Fallback>
      </mc:AlternateContent>
      <p:sp>
        <p:nvSpPr>
          <p:cNvPr id="18" name="矩形 17"/>
          <p:cNvSpPr/>
          <p:nvPr/>
        </p:nvSpPr>
        <p:spPr>
          <a:xfrm>
            <a:off x="1059240" y="2875002"/>
            <a:ext cx="4580100" cy="369332"/>
          </a:xfrm>
          <a:prstGeom prst="rect">
            <a:avLst/>
          </a:prstGeom>
        </p:spPr>
        <p:txBody>
          <a:bodyPr wrap="none">
            <a:spAutoFit/>
          </a:bodyPr>
          <a:lstStyle/>
          <a:p>
            <a:r>
              <a:rPr lang="zh-CN" altLang="en-US" b="1" dirty="0">
                <a:latin typeface="DeepSeek-CJK-patch"/>
              </a:rPr>
              <a:t>类内</a:t>
            </a:r>
            <a:r>
              <a:rPr lang="zh-CN" altLang="en-US" b="1" dirty="0" smtClean="0">
                <a:latin typeface="DeepSeek-CJK-patch"/>
              </a:rPr>
              <a:t>散度矩阵</a:t>
            </a:r>
            <a:r>
              <a:rPr lang="zh-CN" altLang="en-US" dirty="0" smtClean="0">
                <a:latin typeface="DeepSeek-CJK-patch"/>
              </a:rPr>
              <a:t>：</a:t>
            </a:r>
            <a:r>
              <a:rPr lang="zh-CN" altLang="en-US" dirty="0">
                <a:latin typeface="DeepSeek-CJK-patch"/>
              </a:rPr>
              <a:t>衡量同类数据的离散程度。</a:t>
            </a:r>
            <a:endParaRPr lang="zh-CN" altLang="en-US" dirty="0"/>
          </a:p>
        </p:txBody>
      </p:sp>
      <mc:AlternateContent xmlns:mc="http://schemas.openxmlformats.org/markup-compatibility/2006" xmlns:a14="http://schemas.microsoft.com/office/drawing/2010/main">
        <mc:Choice Requires="a14">
          <p:sp>
            <p:nvSpPr>
              <p:cNvPr id="19" name="矩形 18"/>
              <p:cNvSpPr/>
              <p:nvPr/>
            </p:nvSpPr>
            <p:spPr>
              <a:xfrm>
                <a:off x="1702428" y="3404243"/>
                <a:ext cx="3936912" cy="8770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kern="100" smtClean="0">
                          <a:latin typeface="Cambria Math" panose="02040503050406030204" pitchFamily="18" charset="0"/>
                          <a:ea typeface="Cambria Math" panose="02040503050406030204" pitchFamily="18" charset="0"/>
                          <a:cs typeface="Times New Roman" panose="02020603050405020304" pitchFamily="18" charset="0"/>
                        </a:rPr>
                        <m:t>𝑺</m:t>
                      </m:r>
                      <m:r>
                        <a:rPr lang="en-US" altLang="zh-CN" sz="2000" i="1" kern="100" baseline="-25000">
                          <a:latin typeface="Cambria Math" panose="02040503050406030204" pitchFamily="18" charset="0"/>
                          <a:ea typeface="Cambria Math" panose="02040503050406030204" pitchFamily="18" charset="0"/>
                          <a:cs typeface="Times New Roman" panose="02020603050405020304" pitchFamily="18" charset="0"/>
                        </a:rPr>
                        <m:t>𝑤</m:t>
                      </m:r>
                      <m:r>
                        <a:rPr lang="en-US" altLang="zh-CN" sz="2000"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b="1" i="1" kern="100" smtClean="0">
                              <a:latin typeface="Cambria Math" panose="02040503050406030204" pitchFamily="18" charset="0"/>
                              <a:ea typeface="楷体" panose="02010609060101010101" pitchFamily="49" charset="-122"/>
                              <a:cs typeface="Times New Roman" panose="02020603050405020304" pitchFamily="18" charset="0"/>
                            </a:rPr>
                            <m:t>𝒊</m:t>
                          </m:r>
                          <m:r>
                            <a:rPr lang="en-US" altLang="zh-CN" sz="2000" b="1" i="1" kern="10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1" kern="100" smtClean="0">
                              <a:latin typeface="Cambria Math" panose="02040503050406030204" pitchFamily="18" charset="0"/>
                              <a:ea typeface="楷体" panose="02010609060101010101" pitchFamily="49" charset="-122"/>
                              <a:cs typeface="Times New Roman" panose="02020603050405020304" pitchFamily="18" charset="0"/>
                            </a:rPr>
                            <m:t>𝟏</m:t>
                          </m:r>
                          <m:r>
                            <a:rPr lang="en-US" altLang="zh-CN" sz="2000" b="1" i="1" kern="10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1" kern="100" smtClean="0">
                              <a:latin typeface="Cambria Math" panose="02040503050406030204" pitchFamily="18" charset="0"/>
                              <a:ea typeface="楷体" panose="02010609060101010101" pitchFamily="49" charset="-122"/>
                              <a:cs typeface="Times New Roman" panose="02020603050405020304" pitchFamily="18" charset="0"/>
                            </a:rPr>
                            <m:t>𝑪</m:t>
                          </m:r>
                        </m:sub>
                        <m:sup/>
                        <m:e>
                          <m:nary>
                            <m:naryPr>
                              <m:chr m:val="∑"/>
                              <m:limLoc m:val="undOvr"/>
                              <m:supHide m:val="on"/>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𝑿</m:t>
                                  </m:r>
                                </m:e>
                                <m:sub>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𝒊</m:t>
                                  </m:r>
                                </m:sub>
                              </m:sSub>
                            </m:sub>
                            <m:sup/>
                            <m:e>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𝒙</m:t>
                                  </m:r>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sz="2000" i="1" kern="100">
                                      <a:latin typeface="Cambria Math" panose="02040503050406030204" pitchFamily="18" charset="0"/>
                                      <a:ea typeface="楷体" panose="02010609060101010101" pitchFamily="49" charset="-122"/>
                                      <a:cs typeface="Times New Roman" panose="02020603050405020304" pitchFamily="18" charset="0"/>
                                    </a:rPr>
                                    <m:t>𝑇</m:t>
                                  </m:r>
                                </m:sup>
                              </m:sSup>
                            </m:e>
                          </m:nary>
                        </m:e>
                      </m:nary>
                    </m:oMath>
                  </m:oMathPara>
                </a14:m>
                <a:endParaRPr lang="zh-CN" altLang="en-US" sz="2000" dirty="0"/>
              </a:p>
            </p:txBody>
          </p:sp>
        </mc:Choice>
        <mc:Fallback xmlns="">
          <p:sp>
            <p:nvSpPr>
              <p:cNvPr id="19" name="矩形 18"/>
              <p:cNvSpPr>
                <a:spLocks noRot="1" noChangeAspect="1" noMove="1" noResize="1" noEditPoints="1" noAdjustHandles="1" noChangeArrowheads="1" noChangeShapeType="1" noTextEdit="1"/>
              </p:cNvSpPr>
              <p:nvPr/>
            </p:nvSpPr>
            <p:spPr>
              <a:xfrm>
                <a:off x="1702428" y="3404243"/>
                <a:ext cx="3936912" cy="877035"/>
              </a:xfrm>
              <a:prstGeom prst="rect">
                <a:avLst/>
              </a:prstGeom>
              <a:blipFill>
                <a:blip r:embed="rId4"/>
                <a:stretch>
                  <a:fillRect/>
                </a:stretch>
              </a:blipFill>
            </p:spPr>
            <p:txBody>
              <a:bodyPr/>
              <a:lstStyle/>
              <a:p>
                <a:r>
                  <a:rPr lang="zh-CN" altLang="en-US">
                    <a:noFill/>
                  </a:rPr>
                  <a:t> </a:t>
                </a:r>
              </a:p>
            </p:txBody>
          </p:sp>
        </mc:Fallback>
      </mc:AlternateContent>
      <p:sp>
        <p:nvSpPr>
          <p:cNvPr id="20" name="矩形 19"/>
          <p:cNvSpPr/>
          <p:nvPr/>
        </p:nvSpPr>
        <p:spPr>
          <a:xfrm>
            <a:off x="993636" y="4825763"/>
            <a:ext cx="4580100" cy="369332"/>
          </a:xfrm>
          <a:prstGeom prst="rect">
            <a:avLst/>
          </a:prstGeom>
        </p:spPr>
        <p:txBody>
          <a:bodyPr wrap="none">
            <a:spAutoFit/>
          </a:bodyPr>
          <a:lstStyle/>
          <a:p>
            <a:r>
              <a:rPr lang="zh-CN" altLang="en-US" b="1" dirty="0"/>
              <a:t>类间散布</a:t>
            </a:r>
            <a:r>
              <a:rPr lang="zh-CN" altLang="en-US" b="1" dirty="0" smtClean="0"/>
              <a:t>矩阵</a:t>
            </a:r>
            <a:r>
              <a:rPr lang="zh-CN" altLang="en-US" dirty="0" smtClean="0"/>
              <a:t>：</a:t>
            </a:r>
            <a:r>
              <a:rPr lang="zh-CN" altLang="en-US" dirty="0"/>
              <a:t>衡量不同类别均值的差异。</a:t>
            </a:r>
          </a:p>
        </p:txBody>
      </p:sp>
      <mc:AlternateContent xmlns:mc="http://schemas.openxmlformats.org/markup-compatibility/2006" xmlns:a14="http://schemas.microsoft.com/office/drawing/2010/main">
        <mc:Choice Requires="a14">
          <p:sp>
            <p:nvSpPr>
              <p:cNvPr id="21" name="矩形 20"/>
              <p:cNvSpPr/>
              <p:nvPr/>
            </p:nvSpPr>
            <p:spPr>
              <a:xfrm>
                <a:off x="1702428" y="5315631"/>
                <a:ext cx="3547830" cy="764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𝒊</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𝟏</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𝑪</m:t>
                          </m:r>
                        </m:sub>
                        <m:sup/>
                        <m:e>
                          <m:r>
                            <a:rPr lang="en-US" altLang="zh-CN" i="1" kern="100" smtClean="0">
                              <a:latin typeface="Cambria Math" panose="02040503050406030204" pitchFamily="18" charset="0"/>
                              <a:ea typeface="楷体" panose="02010609060101010101" pitchFamily="49" charset="-122"/>
                              <a:cs typeface="Times New Roman" panose="02020603050405020304" pitchFamily="18" charset="0"/>
                            </a:rPr>
                            <m:t>𝑛</m:t>
                          </m:r>
                          <m:r>
                            <a:rPr lang="en-US" altLang="zh-CN" b="0" i="1" kern="100" baseline="-25000" smtClean="0">
                              <a:latin typeface="Cambria Math" panose="02040503050406030204" pitchFamily="18" charset="0"/>
                              <a:ea typeface="楷体" panose="02010609060101010101" pitchFamily="49" charset="-122"/>
                              <a:cs typeface="Times New Roman" panose="02020603050405020304" pitchFamily="18" charset="0"/>
                            </a:rPr>
                            <m:t>𝑖</m:t>
                          </m:r>
                        </m:e>
                      </m:nary>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b="0" i="1" kern="100" smtClean="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smtClean="0">
                          <a:latin typeface="Cambria Math" panose="02040503050406030204" pitchFamily="18" charset="0"/>
                          <a:ea typeface="Cambria Math" panose="02040503050406030204" pitchFamily="18" charset="0"/>
                          <a:cs typeface="Times New Roman" panose="02020603050405020304" pitchFamily="18" charset="0"/>
                        </a:rPr>
                        <m:t>𝑚</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latin typeface="Cambria Math" panose="02040503050406030204" pitchFamily="18" charset="0"/>
                                  <a:ea typeface="楷体" panose="02010609060101010101" pitchFamily="49" charset="-122"/>
                                  <a:cs typeface="Times New Roman" panose="02020603050405020304" pitchFamily="18" charset="0"/>
                                </a:rPr>
                                <m:t>𝒎</m:t>
                              </m:r>
                            </m:e>
                            <m:sub>
                              <m:r>
                                <a:rPr lang="en-US" altLang="zh-CN" b="0" i="1" kern="100">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𝑚</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e>
                        <m:sup>
                          <m:r>
                            <a:rPr lang="en-US" altLang="zh-CN" i="1" kern="100">
                              <a:latin typeface="Cambria Math" panose="02040503050406030204" pitchFamily="18" charset="0"/>
                              <a:ea typeface="楷体" panose="02010609060101010101" pitchFamily="49" charset="-122"/>
                              <a:cs typeface="Times New Roman" panose="02020603050405020304" pitchFamily="18" charset="0"/>
                            </a:rPr>
                            <m:t>𝑇</m:t>
                          </m:r>
                        </m:sup>
                      </m:sSup>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1702428" y="5315631"/>
                <a:ext cx="3547830" cy="76437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6472844" y="2920432"/>
                <a:ext cx="6096000" cy="1278363"/>
              </a:xfrm>
              <a:prstGeom prst="rect">
                <a:avLst/>
              </a:prstGeom>
            </p:spPr>
            <p:txBody>
              <a:bodyPr>
                <a:spAutoFit/>
              </a:bodyPr>
              <a:lstStyle/>
              <a:p>
                <a:pPr indent="266700" algn="just">
                  <a:lnSpc>
                    <a:spcPts val="2200"/>
                  </a:lnSpc>
                  <a:spcAft>
                    <a:spcPts val="0"/>
                  </a:spcAft>
                </a:pPr>
                <a:r>
                  <a:rPr lang="zh-CN" altLang="zh-CN" b="1" dirty="0">
                    <a:solidFill>
                      <a:srgbClr val="000000"/>
                    </a:solidFill>
                    <a:latin typeface="+mj-ea"/>
                    <a:ea typeface="+mj-ea"/>
                    <a:cs typeface="Times New Roman" panose="02020603050405020304" pitchFamily="18" charset="0"/>
                  </a:rPr>
                  <a:t>最大化的目标</a:t>
                </a:r>
                <a14:m>
                  <m:oMath xmlns:m="http://schemas.openxmlformats.org/officeDocument/2006/math">
                    <m:r>
                      <a:rPr lang="en-US" altLang="zh-CN" b="1" i="1">
                        <a:solidFill>
                          <a:srgbClr val="000000"/>
                        </a:solidFill>
                        <a:latin typeface="Cambria Math" panose="02040503050406030204" pitchFamily="18" charset="0"/>
                        <a:ea typeface="+mj-ea"/>
                        <a:cs typeface="Times New Roman" panose="02020603050405020304" pitchFamily="18" charset="0"/>
                      </a:rPr>
                      <m:t>𝑱</m:t>
                    </m:r>
                    <m:r>
                      <a:rPr lang="en-US" altLang="zh-CN" b="1" i="1">
                        <a:solidFill>
                          <a:srgbClr val="000000"/>
                        </a:solidFill>
                        <a:latin typeface="Cambria Math" panose="02040503050406030204" pitchFamily="18" charset="0"/>
                        <a:ea typeface="+mj-ea"/>
                        <a:cs typeface="Times New Roman" panose="02020603050405020304" pitchFamily="18" charset="0"/>
                      </a:rPr>
                      <m:t>(</m:t>
                    </m:r>
                    <m:r>
                      <a:rPr lang="en-US" altLang="zh-CN" b="1" i="1">
                        <a:solidFill>
                          <a:srgbClr val="000000"/>
                        </a:solidFill>
                        <a:latin typeface="Cambria Math" panose="02040503050406030204" pitchFamily="18" charset="0"/>
                        <a:ea typeface="+mj-ea"/>
                        <a:cs typeface="Times New Roman" panose="02020603050405020304" pitchFamily="18" charset="0"/>
                      </a:rPr>
                      <m:t>𝒘</m:t>
                    </m:r>
                    <m:r>
                      <a:rPr lang="en-US" altLang="zh-CN" b="1" i="1">
                        <a:solidFill>
                          <a:srgbClr val="000000"/>
                        </a:solidFill>
                        <a:latin typeface="Cambria Math" panose="02040503050406030204" pitchFamily="18" charset="0"/>
                        <a:ea typeface="+mj-ea"/>
                        <a:cs typeface="Times New Roman" panose="02020603050405020304" pitchFamily="18" charset="0"/>
                      </a:rPr>
                      <m:t>)</m:t>
                    </m:r>
                  </m:oMath>
                </a14:m>
                <a:endParaRPr lang="zh-CN" altLang="zh-CN" b="1" dirty="0">
                  <a:solidFill>
                    <a:srgbClr val="000000"/>
                  </a:solidFill>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𝐽</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b="1" i="1" kern="100">
                              <a:latin typeface="Cambria Math" panose="02040503050406030204" pitchFamily="18" charset="0"/>
                              <a:ea typeface="+mj-ea"/>
                              <a:cs typeface="Times New Roman" panose="02020603050405020304" pitchFamily="18" charset="0"/>
                            </a:rPr>
                            <m:t>𝒘</m:t>
                          </m:r>
                        </m:e>
                      </m:d>
                      <m:r>
                        <a:rPr lang="en-US" altLang="zh-CN" i="1" kern="100">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ea typeface="+mj-ea"/>
                              <a:cs typeface="Times New Roman" panose="02020603050405020304" pitchFamily="18" charset="0"/>
                            </a:rPr>
                          </m:ctrlPr>
                        </m:fPr>
                        <m:num>
                          <m:sSup>
                            <m:sSupPr>
                              <m:ctrlPr>
                                <a:rPr lang="zh-CN" altLang="zh-CN" i="1" kern="100">
                                  <a:latin typeface="Cambria Math" panose="02040503050406030204" pitchFamily="18" charset="0"/>
                                  <a:ea typeface="+mj-ea"/>
                                  <a:cs typeface="Times New Roman" panose="02020603050405020304" pitchFamily="18" charset="0"/>
                                </a:rPr>
                              </m:ctrlPr>
                            </m:sSupPr>
                            <m:e>
                              <m:r>
                                <a:rPr lang="en-US" altLang="zh-CN" b="1" i="1" kern="100">
                                  <a:latin typeface="Cambria Math" panose="02040503050406030204" pitchFamily="18" charset="0"/>
                                  <a:ea typeface="+mj-ea"/>
                                  <a:cs typeface="Times New Roman" panose="02020603050405020304" pitchFamily="18" charset="0"/>
                                </a:rPr>
                                <m:t>𝒘</m:t>
                              </m:r>
                            </m:e>
                            <m:sup>
                              <m:r>
                                <a:rPr lang="en-US" altLang="zh-CN" i="1" kern="100">
                                  <a:latin typeface="Cambria Math" panose="02040503050406030204" pitchFamily="18" charset="0"/>
                                  <a:ea typeface="+mj-ea"/>
                                  <a:cs typeface="Times New Roman" panose="02020603050405020304" pitchFamily="18" charset="0"/>
                                </a:rPr>
                                <m:t>𝑇</m:t>
                              </m:r>
                            </m:sup>
                          </m:sSup>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b="1" i="1" kern="100">
                                  <a:latin typeface="Cambria Math" panose="02040503050406030204" pitchFamily="18" charset="0"/>
                                  <a:ea typeface="+mj-ea"/>
                                  <a:cs typeface="Times New Roman" panose="02020603050405020304" pitchFamily="18" charset="0"/>
                                </a:rPr>
                                <m:t>𝑺</m:t>
                              </m:r>
                            </m:e>
                            <m:sub>
                              <m:r>
                                <a:rPr lang="en-US" altLang="zh-CN" i="1" kern="100">
                                  <a:latin typeface="Cambria Math" panose="02040503050406030204" pitchFamily="18" charset="0"/>
                                  <a:ea typeface="+mj-ea"/>
                                  <a:cs typeface="Times New Roman" panose="02020603050405020304" pitchFamily="18" charset="0"/>
                                </a:rPr>
                                <m:t>𝑏</m:t>
                              </m:r>
                            </m:sub>
                          </m:sSub>
                          <m:r>
                            <a:rPr lang="en-US" altLang="zh-CN" b="1" i="1" kern="100">
                              <a:latin typeface="Cambria Math" panose="02040503050406030204" pitchFamily="18" charset="0"/>
                              <a:ea typeface="+mj-ea"/>
                              <a:cs typeface="Times New Roman" panose="02020603050405020304" pitchFamily="18" charset="0"/>
                            </a:rPr>
                            <m:t>𝒘</m:t>
                          </m:r>
                        </m:num>
                        <m:den>
                          <m:sSup>
                            <m:sSupPr>
                              <m:ctrlPr>
                                <a:rPr lang="zh-CN" altLang="zh-CN" i="1" kern="100">
                                  <a:latin typeface="Cambria Math" panose="02040503050406030204" pitchFamily="18" charset="0"/>
                                  <a:ea typeface="+mj-ea"/>
                                  <a:cs typeface="Times New Roman" panose="02020603050405020304" pitchFamily="18" charset="0"/>
                                </a:rPr>
                              </m:ctrlPr>
                            </m:sSupPr>
                            <m:e>
                              <m:r>
                                <a:rPr lang="en-US" altLang="zh-CN" b="1" i="1" kern="100">
                                  <a:latin typeface="Cambria Math" panose="02040503050406030204" pitchFamily="18" charset="0"/>
                                  <a:ea typeface="+mj-ea"/>
                                  <a:cs typeface="Times New Roman" panose="02020603050405020304" pitchFamily="18" charset="0"/>
                                </a:rPr>
                                <m:t>𝒘</m:t>
                              </m:r>
                            </m:e>
                            <m:sup>
                              <m:r>
                                <a:rPr lang="en-US" altLang="zh-CN" i="1" kern="100">
                                  <a:latin typeface="Cambria Math" panose="02040503050406030204" pitchFamily="18" charset="0"/>
                                  <a:ea typeface="+mj-ea"/>
                                  <a:cs typeface="Times New Roman" panose="02020603050405020304" pitchFamily="18" charset="0"/>
                                </a:rPr>
                                <m:t>𝑇</m:t>
                              </m:r>
                            </m:sup>
                          </m:sSup>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b="1" i="1" kern="100">
                                  <a:latin typeface="Cambria Math" panose="02040503050406030204" pitchFamily="18" charset="0"/>
                                  <a:ea typeface="+mj-ea"/>
                                  <a:cs typeface="Times New Roman" panose="02020603050405020304" pitchFamily="18" charset="0"/>
                                </a:rPr>
                                <m:t>𝑺</m:t>
                              </m:r>
                            </m:e>
                            <m:sub>
                              <m:r>
                                <a:rPr lang="en-US" altLang="zh-CN" i="1" kern="100">
                                  <a:latin typeface="Cambria Math" panose="02040503050406030204" pitchFamily="18" charset="0"/>
                                  <a:ea typeface="+mj-ea"/>
                                  <a:cs typeface="Times New Roman" panose="02020603050405020304" pitchFamily="18" charset="0"/>
                                </a:rPr>
                                <m:t>𝑤</m:t>
                              </m:r>
                            </m:sub>
                          </m:sSub>
                          <m:r>
                            <a:rPr lang="en-US" altLang="zh-CN" b="1" i="1" kern="100">
                              <a:latin typeface="Cambria Math" panose="02040503050406030204" pitchFamily="18" charset="0"/>
                              <a:ea typeface="+mj-ea"/>
                              <a:cs typeface="Times New Roman" panose="02020603050405020304" pitchFamily="18" charset="0"/>
                            </a:rPr>
                            <m:t>𝒘</m:t>
                          </m:r>
                        </m:den>
                      </m:f>
                    </m:oMath>
                  </m:oMathPara>
                </a14:m>
                <a:endParaRPr lang="zh-CN" altLang="en-US" dirty="0">
                  <a:latin typeface="+mj-ea"/>
                  <a:ea typeface="+mj-ea"/>
                </a:endParaRPr>
              </a:p>
            </p:txBody>
          </p:sp>
        </mc:Choice>
        <mc:Fallback xmlns="">
          <p:sp>
            <p:nvSpPr>
              <p:cNvPr id="23" name="矩形 22"/>
              <p:cNvSpPr>
                <a:spLocks noRot="1" noChangeAspect="1" noMove="1" noResize="1" noEditPoints="1" noAdjustHandles="1" noChangeArrowheads="1" noChangeShapeType="1" noTextEdit="1"/>
              </p:cNvSpPr>
              <p:nvPr/>
            </p:nvSpPr>
            <p:spPr>
              <a:xfrm>
                <a:off x="6472844" y="2920432"/>
                <a:ext cx="6096000" cy="1278363"/>
              </a:xfrm>
              <a:prstGeom prst="rect">
                <a:avLst/>
              </a:prstGeom>
              <a:blipFill>
                <a:blip r:embed="rId6"/>
                <a:stretch>
                  <a:fillRect t="-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6472844" y="4891682"/>
                <a:ext cx="5239789" cy="923330"/>
              </a:xfrm>
              <a:prstGeom prst="rect">
                <a:avLst/>
              </a:prstGeom>
            </p:spPr>
            <p:txBody>
              <a:bodyPr wrap="square">
                <a:spAutoFit/>
              </a:bodyPr>
              <a:lstStyle/>
              <a:p>
                <a:pPr>
                  <a:lnSpc>
                    <a:spcPct val="150000"/>
                  </a:lnSpc>
                </a:pPr>
                <a:r>
                  <a:rPr lang="zh-CN" altLang="en-US" b="1" dirty="0" smtClean="0">
                    <a:solidFill>
                      <a:schemeClr val="tx1"/>
                    </a:solidFill>
                    <a:latin typeface="Times New Roman" panose="02020603050405020304" pitchFamily="18" charset="0"/>
                    <a:ea typeface="+mj-ea"/>
                    <a:cs typeface="Times New Roman" panose="02020603050405020304" pitchFamily="18" charset="0"/>
                  </a:rPr>
                  <a:t>求解</a:t>
                </a:r>
                <a:r>
                  <a:rPr lang="zh-CN" altLang="en-US" dirty="0">
                    <a:solidFill>
                      <a:schemeClr val="tx1"/>
                    </a:solidFill>
                    <a:latin typeface="Times New Roman" panose="02020603050405020304" pitchFamily="18" charset="0"/>
                    <a:ea typeface="+mj-ea"/>
                    <a:cs typeface="Times New Roman" panose="02020603050405020304" pitchFamily="18" charset="0"/>
                  </a:rPr>
                  <a:t>广义</a:t>
                </a:r>
                <a:r>
                  <a:rPr lang="zh-CN" altLang="en-US" dirty="0" smtClean="0">
                    <a:solidFill>
                      <a:schemeClr val="tx1"/>
                    </a:solidFill>
                    <a:latin typeface="Times New Roman" panose="02020603050405020304" pitchFamily="18" charset="0"/>
                    <a:ea typeface="+mj-ea"/>
                    <a:cs typeface="Times New Roman" panose="02020603050405020304" pitchFamily="18" charset="0"/>
                  </a:rPr>
                  <a:t>特征值问题</a:t>
                </a:r>
                <a:r>
                  <a:rPr lang="zh-CN" altLang="en-US" i="1" dirty="0" smtClean="0">
                    <a:solidFill>
                      <a:schemeClr val="tx1"/>
                    </a:solidFill>
                    <a:latin typeface="Times New Roman" panose="02020603050405020304" pitchFamily="18" charset="0"/>
                    <a:ea typeface="+mj-ea"/>
                    <a:cs typeface="Times New Roman" panose="02020603050405020304" pitchFamily="18" charset="0"/>
                  </a:rPr>
                  <a:t>S</a:t>
                </a:r>
                <a:r>
                  <a:rPr lang="zh-CN" altLang="en-US" i="1" baseline="-25000" dirty="0" smtClean="0">
                    <a:solidFill>
                      <a:schemeClr val="tx1"/>
                    </a:solidFill>
                    <a:latin typeface="Times New Roman" panose="02020603050405020304" pitchFamily="18" charset="0"/>
                    <a:ea typeface="+mj-ea"/>
                    <a:cs typeface="Times New Roman" panose="02020603050405020304" pitchFamily="18" charset="0"/>
                  </a:rPr>
                  <a:t>w</a:t>
                </a:r>
                <a:r>
                  <a:rPr lang="zh-CN" altLang="en-US" baseline="30000" dirty="0">
                    <a:solidFill>
                      <a:schemeClr val="tx1"/>
                    </a:solidFill>
                    <a:latin typeface="Times New Roman" panose="02020603050405020304" pitchFamily="18" charset="0"/>
                    <a:ea typeface="+mj-ea"/>
                    <a:cs typeface="Times New Roman" panose="02020603050405020304" pitchFamily="18" charset="0"/>
                  </a:rPr>
                  <a:t>-1</a:t>
                </a:r>
                <a:r>
                  <a:rPr lang="zh-CN" altLang="en-US" i="1" dirty="0">
                    <a:solidFill>
                      <a:schemeClr val="tx1"/>
                    </a:solidFill>
                    <a:latin typeface="Times New Roman" panose="02020603050405020304" pitchFamily="18" charset="0"/>
                    <a:ea typeface="+mj-ea"/>
                    <a:cs typeface="Times New Roman" panose="02020603050405020304" pitchFamily="18" charset="0"/>
                  </a:rPr>
                  <a:t>S</a:t>
                </a:r>
                <a:r>
                  <a:rPr lang="zh-CN" altLang="en-US" i="1" baseline="-25000" dirty="0">
                    <a:solidFill>
                      <a:schemeClr val="tx1"/>
                    </a:solidFill>
                    <a:latin typeface="Times New Roman" panose="02020603050405020304" pitchFamily="18" charset="0"/>
                    <a:ea typeface="+mj-ea"/>
                    <a:cs typeface="Times New Roman" panose="02020603050405020304" pitchFamily="18" charset="0"/>
                  </a:rPr>
                  <a:t>b</a:t>
                </a:r>
                <a14:m>
                  <m:oMath xmlns:m="http://schemas.openxmlformats.org/officeDocument/2006/math">
                    <m:r>
                      <a:rPr lang="en-US" altLang="zh-CN" b="1" i="1" kern="100">
                        <a:solidFill>
                          <a:schemeClr val="tx1"/>
                        </a:solidFill>
                        <a:latin typeface="Cambria Math" panose="02040503050406030204" pitchFamily="18" charset="0"/>
                        <a:ea typeface="+mj-ea"/>
                        <a:cs typeface="Times New Roman" panose="02020603050405020304" pitchFamily="18" charset="0"/>
                      </a:rPr>
                      <m:t>𝒘</m:t>
                    </m:r>
                  </m:oMath>
                </a14:m>
                <a:r>
                  <a:rPr lang="en-US" altLang="zh-CN" dirty="0" smtClean="0">
                    <a:solidFill>
                      <a:schemeClr val="tx1"/>
                    </a:solidFill>
                    <a:latin typeface="Times New Roman" panose="02020603050405020304" pitchFamily="18" charset="0"/>
                    <a:ea typeface="+mj-ea"/>
                    <a:cs typeface="Times New Roman" panose="02020603050405020304" pitchFamily="18" charset="0"/>
                  </a:rPr>
                  <a:t>=λ</a:t>
                </a:r>
                <a14:m>
                  <m:oMath xmlns:m="http://schemas.openxmlformats.org/officeDocument/2006/math">
                    <m:r>
                      <a:rPr lang="en-US" altLang="zh-CN" b="1" i="1" kern="100">
                        <a:solidFill>
                          <a:schemeClr val="tx1"/>
                        </a:solidFill>
                        <a:latin typeface="Cambria Math" panose="02040503050406030204" pitchFamily="18" charset="0"/>
                        <a:ea typeface="+mj-ea"/>
                        <a:cs typeface="Times New Roman" panose="02020603050405020304" pitchFamily="18" charset="0"/>
                      </a:rPr>
                      <m:t>𝒘</m:t>
                    </m:r>
                  </m:oMath>
                </a14:m>
                <a:r>
                  <a:rPr lang="zh-CN" altLang="en-US" dirty="0" smtClean="0">
                    <a:solidFill>
                      <a:schemeClr val="tx1"/>
                    </a:solidFill>
                    <a:latin typeface="Times New Roman" panose="02020603050405020304" pitchFamily="18" charset="0"/>
                    <a:ea typeface="+mj-ea"/>
                    <a:cs typeface="Times New Roman" panose="02020603050405020304" pitchFamily="18" charset="0"/>
                  </a:rPr>
                  <a:t>的</a:t>
                </a:r>
                <a:r>
                  <a:rPr lang="zh-CN" altLang="en-US" dirty="0">
                    <a:solidFill>
                      <a:schemeClr val="tx1"/>
                    </a:solidFill>
                    <a:latin typeface="Times New Roman" panose="02020603050405020304" pitchFamily="18" charset="0"/>
                    <a:ea typeface="+mj-ea"/>
                    <a:cs typeface="Times New Roman" panose="02020603050405020304" pitchFamily="18" charset="0"/>
                  </a:rPr>
                  <a:t>特征向量，选取</a:t>
                </a:r>
                <a:r>
                  <a:rPr lang="zh-CN" altLang="en-US" dirty="0" smtClean="0">
                    <a:solidFill>
                      <a:schemeClr val="tx1"/>
                    </a:solidFill>
                    <a:latin typeface="Times New Roman" panose="02020603050405020304" pitchFamily="18" charset="0"/>
                    <a:ea typeface="+mj-ea"/>
                    <a:cs typeface="Times New Roman" panose="02020603050405020304" pitchFamily="18" charset="0"/>
                  </a:rPr>
                  <a:t>前</a:t>
                </a:r>
                <a:r>
                  <a:rPr lang="en-US" altLang="zh-CN" i="1" dirty="0" smtClean="0">
                    <a:solidFill>
                      <a:schemeClr val="tx1"/>
                    </a:solidFill>
                    <a:latin typeface="Times New Roman" panose="02020603050405020304" pitchFamily="18" charset="0"/>
                    <a:ea typeface="+mj-ea"/>
                    <a:cs typeface="Times New Roman" panose="02020603050405020304" pitchFamily="18" charset="0"/>
                  </a:rPr>
                  <a:t>k</a:t>
                </a:r>
                <a:r>
                  <a:rPr lang="zh-CN" altLang="en-US" dirty="0" smtClean="0">
                    <a:solidFill>
                      <a:schemeClr val="tx1"/>
                    </a:solidFill>
                    <a:latin typeface="Times New Roman" panose="02020603050405020304" pitchFamily="18" charset="0"/>
                    <a:ea typeface="+mj-ea"/>
                    <a:cs typeface="Times New Roman" panose="02020603050405020304" pitchFamily="18" charset="0"/>
                  </a:rPr>
                  <a:t>个最大的特征值，构成投影向量。</a:t>
                </a:r>
                <a:endParaRPr lang="zh-CN" altLang="en-US" b="0" i="0" dirty="0">
                  <a:solidFill>
                    <a:schemeClr val="tx1"/>
                  </a:solidFill>
                  <a:effectLst/>
                  <a:latin typeface="Times New Roman" panose="02020603050405020304" pitchFamily="18" charset="0"/>
                  <a:ea typeface="+mj-ea"/>
                  <a:cs typeface="Times New Roman" panose="02020603050405020304" pitchFamily="18" charset="0"/>
                </a:endParaRPr>
              </a:p>
            </p:txBody>
          </p:sp>
        </mc:Choice>
        <mc:Fallback xmlns="">
          <p:sp>
            <p:nvSpPr>
              <p:cNvPr id="24" name="矩形 23"/>
              <p:cNvSpPr>
                <a:spLocks noRot="1" noChangeAspect="1" noMove="1" noResize="1" noEditPoints="1" noAdjustHandles="1" noChangeArrowheads="1" noChangeShapeType="1" noTextEdit="1"/>
              </p:cNvSpPr>
              <p:nvPr/>
            </p:nvSpPr>
            <p:spPr>
              <a:xfrm>
                <a:off x="6472844" y="4891682"/>
                <a:ext cx="5239789" cy="923330"/>
              </a:xfrm>
              <a:prstGeom prst="rect">
                <a:avLst/>
              </a:prstGeom>
              <a:blipFill>
                <a:blip r:embed="rId7"/>
                <a:stretch>
                  <a:fillRect l="-1048" r="-466" b="-3947"/>
                </a:stretch>
              </a:blipFill>
            </p:spPr>
            <p:txBody>
              <a:bodyPr/>
              <a:lstStyle/>
              <a:p>
                <a:r>
                  <a:rPr lang="zh-CN" altLang="en-US">
                    <a:noFill/>
                  </a:rPr>
                  <a:t> </a:t>
                </a:r>
              </a:p>
            </p:txBody>
          </p:sp>
        </mc:Fallback>
      </mc:AlternateContent>
      <p:sp>
        <p:nvSpPr>
          <p:cNvPr id="25" name="矩形 24"/>
          <p:cNvSpPr/>
          <p:nvPr/>
        </p:nvSpPr>
        <p:spPr>
          <a:xfrm>
            <a:off x="3119631" y="4328992"/>
            <a:ext cx="2032929" cy="307777"/>
          </a:xfrm>
          <a:prstGeom prst="rect">
            <a:avLst/>
          </a:prstGeom>
        </p:spPr>
        <p:txBody>
          <a:bodyPr wrap="none">
            <a:spAutoFit/>
          </a:bodyPr>
          <a:lstStyle/>
          <a:p>
            <a:r>
              <a:rPr lang="zh-CN" altLang="en-US" sz="1400" b="1" dirty="0" smtClean="0">
                <a:solidFill>
                  <a:srgbClr val="000000"/>
                </a:solidFill>
                <a:latin typeface="+mj-ea"/>
                <a:cs typeface="Times New Roman" panose="02020603050405020304" pitchFamily="18" charset="0"/>
              </a:rPr>
              <a:t>第</a:t>
            </a:r>
            <a:r>
              <a:rPr lang="en-US" altLang="zh-CN" sz="1400" b="1" dirty="0" err="1" smtClean="0">
                <a:solidFill>
                  <a:srgbClr val="000000"/>
                </a:solidFill>
                <a:latin typeface="+mj-ea"/>
                <a:cs typeface="Times New Roman" panose="02020603050405020304" pitchFamily="18" charset="0"/>
              </a:rPr>
              <a:t>i</a:t>
            </a:r>
            <a:r>
              <a:rPr lang="zh-CN" altLang="en-US" sz="1400" b="1" dirty="0" smtClean="0">
                <a:solidFill>
                  <a:srgbClr val="000000"/>
                </a:solidFill>
                <a:latin typeface="+mj-ea"/>
                <a:cs typeface="Times New Roman" panose="02020603050405020304" pitchFamily="18" charset="0"/>
              </a:rPr>
              <a:t>类样本的</a:t>
            </a:r>
            <a:r>
              <a:rPr lang="zh-CN" altLang="zh-CN" sz="1400" b="1" dirty="0" smtClean="0">
                <a:solidFill>
                  <a:srgbClr val="000000"/>
                </a:solidFill>
                <a:latin typeface="+mj-ea"/>
                <a:cs typeface="Times New Roman" panose="02020603050405020304" pitchFamily="18" charset="0"/>
              </a:rPr>
              <a:t>协方差</a:t>
            </a:r>
            <a:r>
              <a:rPr lang="zh-CN" altLang="en-US" sz="1400" b="1" dirty="0">
                <a:solidFill>
                  <a:srgbClr val="000000"/>
                </a:solidFill>
                <a:latin typeface="+mj-ea"/>
                <a:cs typeface="Times New Roman" panose="02020603050405020304" pitchFamily="18" charset="0"/>
              </a:rPr>
              <a:t>矩阵</a:t>
            </a:r>
            <a:endParaRPr lang="zh-CN" altLang="en-US" sz="1400" dirty="0"/>
          </a:p>
        </p:txBody>
      </p:sp>
      <p:cxnSp>
        <p:nvCxnSpPr>
          <p:cNvPr id="26" name="直接连接符 25">
            <a:extLst>
              <a:ext uri="{FF2B5EF4-FFF2-40B4-BE49-F238E27FC236}">
                <a16:creationId xmlns:a16="http://schemas.microsoft.com/office/drawing/2014/main" id="{1FF104C0-742C-4495-AA84-BBD276B39B1D}"/>
              </a:ext>
            </a:extLst>
          </p:cNvPr>
          <p:cNvCxnSpPr/>
          <p:nvPr/>
        </p:nvCxnSpPr>
        <p:spPr>
          <a:xfrm>
            <a:off x="3017354" y="4244487"/>
            <a:ext cx="2294479" cy="1788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5976876" y="6092400"/>
            <a:ext cx="6231723" cy="830997"/>
          </a:xfrm>
          <a:prstGeom prst="rect">
            <a:avLst/>
          </a:prstGeom>
        </p:spPr>
        <p:txBody>
          <a:bodyPr wrap="square">
            <a:spAutoFit/>
          </a:bodyPr>
          <a:lstStyle/>
          <a:p>
            <a:r>
              <a:rPr lang="zh-CN" altLang="en-US" sz="1600" dirty="0" smtClean="0">
                <a:latin typeface="+mj-ea"/>
                <a:ea typeface="+mj-ea"/>
              </a:rPr>
              <a:t>备注：线性代数中的拉格朗日乘子法可以</a:t>
            </a:r>
            <a:r>
              <a:rPr lang="zh-CN" altLang="en-US" sz="1600" dirty="0">
                <a:latin typeface="+mj-ea"/>
                <a:ea typeface="+mj-ea"/>
              </a:rPr>
              <a:t>用于求解特征值分解</a:t>
            </a:r>
            <a:r>
              <a:rPr lang="zh-CN" altLang="en-US" sz="1600" dirty="0" smtClean="0">
                <a:latin typeface="+mj-ea"/>
                <a:ea typeface="+mj-ea"/>
              </a:rPr>
              <a:t>问题，</a:t>
            </a:r>
            <a:r>
              <a:rPr lang="zh-CN" altLang="zh-CN" sz="1600" dirty="0">
                <a:latin typeface="+mj-ea"/>
                <a:ea typeface="+mj-ea"/>
              </a:rPr>
              <a:t>实际计算中，通常使用高效数值库</a:t>
            </a:r>
            <a:r>
              <a:rPr lang="zh-CN" altLang="zh-CN" sz="1600" dirty="0" smtClean="0">
                <a:latin typeface="+mj-ea"/>
                <a:ea typeface="+mj-ea"/>
              </a:rPr>
              <a:t>（NumPy</a:t>
            </a:r>
            <a:r>
              <a:rPr lang="zh-CN" altLang="zh-CN" sz="1600" dirty="0">
                <a:latin typeface="+mj-ea"/>
                <a:ea typeface="+mj-ea"/>
              </a:rPr>
              <a:t>的 np.linalg.eigh） </a:t>
            </a:r>
          </a:p>
          <a:p>
            <a:endParaRPr lang="zh-CN" altLang="en-US" sz="1600" dirty="0">
              <a:latin typeface="+mj-ea"/>
              <a:ea typeface="+mj-ea"/>
            </a:endParaRPr>
          </a:p>
        </p:txBody>
      </p:sp>
    </p:spTree>
    <p:extLst>
      <p:ext uri="{BB962C8B-B14F-4D97-AF65-F5344CB8AC3E}">
        <p14:creationId xmlns:p14="http://schemas.microsoft.com/office/powerpoint/2010/main" val="3912999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4" grpId="0"/>
      <p:bldP spid="25" grpId="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BBC70F0-7B36-D7AB-7E07-D58E57A09DDA}"/>
              </a:ext>
            </a:extLst>
          </p:cNvPr>
          <p:cNvPicPr>
            <a:picLocks noChangeAspect="1"/>
          </p:cNvPicPr>
          <p:nvPr/>
        </p:nvPicPr>
        <p:blipFill>
          <a:blip r:embed="rId2"/>
          <a:stretch>
            <a:fillRect/>
          </a:stretch>
        </p:blipFill>
        <p:spPr>
          <a:xfrm>
            <a:off x="6838023" y="1882204"/>
            <a:ext cx="5353977" cy="4304848"/>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EB89D6C-ACAD-C5EF-62F7-36D30CD37B03}"/>
                  </a:ext>
                </a:extLst>
              </p:cNvPr>
              <p:cNvSpPr txBox="1"/>
              <p:nvPr/>
            </p:nvSpPr>
            <p:spPr>
              <a:xfrm>
                <a:off x="743298" y="2002272"/>
                <a:ext cx="7571208" cy="3463640"/>
              </a:xfrm>
              <a:prstGeom prst="rect">
                <a:avLst/>
              </a:prstGeom>
              <a:noFill/>
            </p:spPr>
            <p:txBody>
              <a:bodyPr wrap="square">
                <a:spAutoFit/>
              </a:bodyPr>
              <a:lstStyle/>
              <a:p>
                <a:pPr>
                  <a:lnSpc>
                    <a:spcPct val="200000"/>
                  </a:lnSpc>
                </a:pPr>
                <a:r>
                  <a:rPr lang="zh-CN" altLang="en-US" b="1" dirty="0">
                    <a:latin typeface="+mj-ea"/>
                    <a:ea typeface="+mj-ea"/>
                  </a:rPr>
                  <a:t>算法流程：</a:t>
                </a:r>
                <a:endParaRPr lang="en-US" altLang="zh-CN" b="1" dirty="0">
                  <a:latin typeface="+mj-ea"/>
                  <a:ea typeface="+mj-ea"/>
                </a:endParaRPr>
              </a:p>
              <a:p>
                <a:pPr marL="285750" indent="-285750">
                  <a:lnSpc>
                    <a:spcPct val="200000"/>
                  </a:lnSpc>
                  <a:buFont typeface="Arial" panose="020B0604020202020204" pitchFamily="34" charset="0"/>
                  <a:buChar char="•"/>
                </a:pPr>
                <a:r>
                  <a:rPr lang="zh-CN" altLang="en-US" dirty="0" smtClean="0">
                    <a:latin typeface="+mj-ea"/>
                    <a:ea typeface="+mj-ea"/>
                  </a:rPr>
                  <a:t>根据输入数据 </a:t>
                </a:r>
                <a:r>
                  <a:rPr lang="zh-CN" altLang="en-US" dirty="0">
                    <a:latin typeface="+mj-ea"/>
                    <a:ea typeface="+mj-ea"/>
                  </a:rPr>
                  <a:t>X 和标签 </a:t>
                </a:r>
                <a:r>
                  <a:rPr lang="zh-CN" altLang="en-US" dirty="0" smtClean="0">
                    <a:latin typeface="+mj-ea"/>
                    <a:ea typeface="+mj-ea"/>
                  </a:rPr>
                  <a:t>y</a:t>
                </a:r>
                <a:r>
                  <a:rPr lang="zh-CN" altLang="en-US" dirty="0">
                    <a:latin typeface="+mj-ea"/>
                    <a:ea typeface="+mj-ea"/>
                  </a:rPr>
                  <a:t>，</a:t>
                </a:r>
                <a:r>
                  <a:rPr lang="zh-CN" altLang="en-US" dirty="0" smtClean="0">
                    <a:latin typeface="+mj-ea"/>
                    <a:ea typeface="+mj-ea"/>
                  </a:rPr>
                  <a:t>计算</a:t>
                </a:r>
                <a:r>
                  <a:rPr lang="zh-CN" altLang="en-US" dirty="0">
                    <a:latin typeface="+mj-ea"/>
                    <a:ea typeface="+mj-ea"/>
                  </a:rPr>
                  <a:t>每个类别的均值向量</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b="1" i="1" kern="100">
                            <a:latin typeface="Cambria Math" panose="02040503050406030204" pitchFamily="18" charset="0"/>
                            <a:ea typeface="+mj-ea"/>
                            <a:cs typeface="Times New Roman" panose="02020603050405020304" pitchFamily="18" charset="0"/>
                          </a:rPr>
                          <m:t>𝒎</m:t>
                        </m:r>
                      </m:e>
                      <m:sub>
                        <m:r>
                          <a:rPr lang="en-US" altLang="zh-CN" i="1" kern="100">
                            <a:latin typeface="Cambria Math" panose="02040503050406030204" pitchFamily="18" charset="0"/>
                            <a:ea typeface="+mj-ea"/>
                            <a:cs typeface="Times New Roman" panose="02020603050405020304" pitchFamily="18" charset="0"/>
                          </a:rPr>
                          <m:t>𝑖</m:t>
                        </m:r>
                      </m:sub>
                    </m:sSub>
                    <m:r>
                      <a:rPr lang="zh-CN" altLang="en-US" i="1" kern="100">
                        <a:latin typeface="Cambria Math" panose="02040503050406030204" pitchFamily="18" charset="0"/>
                        <a:ea typeface="+mj-ea"/>
                        <a:cs typeface="Times New Roman" panose="02020603050405020304" pitchFamily="18" charset="0"/>
                      </a:rPr>
                      <m:t>和</m:t>
                    </m:r>
                  </m:oMath>
                </a14:m>
                <a:r>
                  <a:rPr lang="zh-CN" altLang="en-US" dirty="0" smtClean="0">
                    <a:latin typeface="+mj-ea"/>
                    <a:ea typeface="+mj-ea"/>
                  </a:rPr>
                  <a:t>总均值</a:t>
                </a:r>
                <a14:m>
                  <m:oMath xmlns:m="http://schemas.openxmlformats.org/officeDocument/2006/math">
                    <m:r>
                      <a:rPr lang="en-US" altLang="zh-CN" b="1" i="1" kern="100" dirty="0">
                        <a:latin typeface="Cambria Math" panose="02040503050406030204" pitchFamily="18" charset="0"/>
                        <a:ea typeface="+mj-ea"/>
                        <a:cs typeface="Times New Roman" panose="02020603050405020304" pitchFamily="18" charset="0"/>
                      </a:rPr>
                      <m:t>𝒎</m:t>
                    </m:r>
                  </m:oMath>
                </a14:m>
                <a:r>
                  <a:rPr lang="zh-CN" altLang="en-US" dirty="0" smtClean="0">
                    <a:latin typeface="+mj-ea"/>
                    <a:ea typeface="+mj-ea"/>
                  </a:rPr>
                  <a:t>。</a:t>
                </a:r>
                <a:endParaRPr lang="zh-CN" altLang="en-US" dirty="0">
                  <a:latin typeface="+mj-ea"/>
                  <a:ea typeface="+mj-ea"/>
                </a:endParaRPr>
              </a:p>
              <a:p>
                <a:pPr marL="285750" indent="-285750">
                  <a:lnSpc>
                    <a:spcPct val="200000"/>
                  </a:lnSpc>
                  <a:buFont typeface="Arial" panose="020B0604020202020204" pitchFamily="34" charset="0"/>
                  <a:buChar char="•"/>
                </a:pPr>
                <a:r>
                  <a:rPr lang="zh-CN" altLang="en-US" dirty="0" smtClean="0">
                    <a:latin typeface="+mj-ea"/>
                    <a:ea typeface="+mj-ea"/>
                  </a:rPr>
                  <a:t>计算</a:t>
                </a:r>
                <a:r>
                  <a:rPr lang="zh-CN" altLang="en-US" dirty="0">
                    <a:latin typeface="+mj-ea"/>
                    <a:ea typeface="+mj-ea"/>
                  </a:rPr>
                  <a:t>类内散度矩阵 </a:t>
                </a:r>
                <a:r>
                  <a:rPr lang="zh-CN" altLang="en-US" dirty="0" smtClean="0">
                    <a:latin typeface="+mj-ea"/>
                    <a:ea typeface="+mj-ea"/>
                  </a:rPr>
                  <a:t>S</a:t>
                </a:r>
                <a:r>
                  <a:rPr lang="zh-CN" altLang="en-US" baseline="-25000" dirty="0" smtClean="0">
                    <a:latin typeface="+mj-ea"/>
                    <a:ea typeface="+mj-ea"/>
                  </a:rPr>
                  <a:t>w</a:t>
                </a:r>
              </a:p>
              <a:p>
                <a:pPr marL="285750" indent="-285750">
                  <a:lnSpc>
                    <a:spcPct val="200000"/>
                  </a:lnSpc>
                  <a:buFont typeface="Arial" panose="020B0604020202020204" pitchFamily="34" charset="0"/>
                  <a:buChar char="•"/>
                </a:pPr>
                <a:r>
                  <a:rPr lang="zh-CN" altLang="en-US" dirty="0" smtClean="0">
                    <a:latin typeface="+mj-ea"/>
                    <a:ea typeface="+mj-ea"/>
                  </a:rPr>
                  <a:t>计算类间散度矩阵 S</a:t>
                </a:r>
                <a:r>
                  <a:rPr lang="zh-CN" altLang="en-US" baseline="-25000" dirty="0" smtClean="0">
                    <a:latin typeface="+mj-ea"/>
                    <a:ea typeface="+mj-ea"/>
                  </a:rPr>
                  <a:t>b</a:t>
                </a:r>
              </a:p>
              <a:p>
                <a:pPr marL="285750" indent="-285750">
                  <a:lnSpc>
                    <a:spcPct val="200000"/>
                  </a:lnSpc>
                  <a:buFont typeface="Arial" panose="020B0604020202020204" pitchFamily="34" charset="0"/>
                  <a:buChar char="•"/>
                </a:pPr>
                <a:r>
                  <a:rPr lang="zh-CN" altLang="en-US" dirty="0" smtClean="0">
                    <a:latin typeface="+mj-ea"/>
                    <a:ea typeface="+mj-ea"/>
                  </a:rPr>
                  <a:t>求解 S</a:t>
                </a:r>
                <a:r>
                  <a:rPr lang="zh-CN" altLang="en-US" baseline="-25000" dirty="0" smtClean="0">
                    <a:latin typeface="+mj-ea"/>
                    <a:ea typeface="+mj-ea"/>
                  </a:rPr>
                  <a:t>w</a:t>
                </a:r>
                <a:r>
                  <a:rPr lang="zh-CN" altLang="en-US" baseline="30000" dirty="0" smtClean="0">
                    <a:latin typeface="+mj-ea"/>
                    <a:ea typeface="+mj-ea"/>
                  </a:rPr>
                  <a:t>-1</a:t>
                </a:r>
                <a:r>
                  <a:rPr lang="zh-CN" altLang="en-US" dirty="0" smtClean="0">
                    <a:latin typeface="+mj-ea"/>
                    <a:ea typeface="+mj-ea"/>
                  </a:rPr>
                  <a:t>S</a:t>
                </a:r>
                <a:r>
                  <a:rPr lang="zh-CN" altLang="en-US" baseline="-25000" dirty="0" smtClean="0">
                    <a:latin typeface="+mj-ea"/>
                    <a:ea typeface="+mj-ea"/>
                  </a:rPr>
                  <a:t>b</a:t>
                </a:r>
                <a:r>
                  <a:rPr lang="zh-CN" altLang="en-US" dirty="0" smtClean="0">
                    <a:latin typeface="+mj-ea"/>
                    <a:ea typeface="+mj-ea"/>
                  </a:rPr>
                  <a:t>的前</a:t>
                </a:r>
                <a:r>
                  <a:rPr lang="en-US" altLang="zh-CN" dirty="0" smtClean="0">
                    <a:latin typeface="+mj-ea"/>
                    <a:ea typeface="+mj-ea"/>
                  </a:rPr>
                  <a:t>r</a:t>
                </a:r>
                <a:r>
                  <a:rPr lang="zh-CN" altLang="en-US" dirty="0" smtClean="0">
                    <a:latin typeface="+mj-ea"/>
                    <a:ea typeface="+mj-ea"/>
                  </a:rPr>
                  <a:t>个最大特征值</a:t>
                </a:r>
                <a:r>
                  <a:rPr lang="zh-CN" altLang="en-US" dirty="0">
                    <a:latin typeface="+mj-ea"/>
                    <a:ea typeface="+mj-ea"/>
                  </a:rPr>
                  <a:t>和特征向量，获得投影矩阵W</a:t>
                </a:r>
              </a:p>
              <a:p>
                <a:pPr marL="285750" indent="-285750">
                  <a:lnSpc>
                    <a:spcPct val="200000"/>
                  </a:lnSpc>
                  <a:buFont typeface="Arial" panose="020B0604020202020204" pitchFamily="34" charset="0"/>
                  <a:buChar char="•"/>
                </a:pPr>
                <a:r>
                  <a:rPr lang="zh-CN" altLang="en-US" dirty="0" smtClean="0">
                    <a:latin typeface="+mj-ea"/>
                    <a:ea typeface="+mj-ea"/>
                  </a:rPr>
                  <a:t>通过</a:t>
                </a:r>
                <a:r>
                  <a:rPr lang="en-US" altLang="zh-CN" dirty="0" smtClean="0">
                    <a:latin typeface="+mj-ea"/>
                    <a:ea typeface="+mj-ea"/>
                  </a:rPr>
                  <a:t>W</a:t>
                </a:r>
                <a:r>
                  <a:rPr lang="zh-CN" altLang="en-US" dirty="0" smtClean="0">
                    <a:latin typeface="+mj-ea"/>
                    <a:ea typeface="+mj-ea"/>
                  </a:rPr>
                  <a:t>，将</a:t>
                </a:r>
                <a:r>
                  <a:rPr lang="zh-CN" altLang="en-US" dirty="0">
                    <a:latin typeface="+mj-ea"/>
                    <a:ea typeface="+mj-ea"/>
                  </a:rPr>
                  <a:t>数据 X 投影到低维</a:t>
                </a:r>
                <a:r>
                  <a:rPr lang="zh-CN" altLang="en-US" dirty="0" smtClean="0">
                    <a:latin typeface="+mj-ea"/>
                    <a:ea typeface="+mj-ea"/>
                  </a:rPr>
                  <a:t>空间，实现特征降维</a:t>
                </a:r>
                <a:endParaRPr lang="zh-CN" altLang="en-US" dirty="0">
                  <a:latin typeface="+mj-ea"/>
                  <a:ea typeface="+mj-ea"/>
                </a:endParaRPr>
              </a:p>
            </p:txBody>
          </p:sp>
        </mc:Choice>
        <mc:Fallback xmlns="">
          <p:sp>
            <p:nvSpPr>
              <p:cNvPr id="2" name="文本框 1">
                <a:extLst>
                  <a:ext uri="{FF2B5EF4-FFF2-40B4-BE49-F238E27FC236}">
                    <a16:creationId xmlns:a16="http://schemas.microsoft.com/office/drawing/2014/main" id="{6EB89D6C-ACAD-C5EF-62F7-36D30CD37B03}"/>
                  </a:ext>
                </a:extLst>
              </p:cNvPr>
              <p:cNvSpPr txBox="1">
                <a:spLocks noRot="1" noChangeAspect="1" noMove="1" noResize="1" noEditPoints="1" noAdjustHandles="1" noChangeArrowheads="1" noChangeShapeType="1" noTextEdit="1"/>
              </p:cNvSpPr>
              <p:nvPr/>
            </p:nvSpPr>
            <p:spPr>
              <a:xfrm>
                <a:off x="743298" y="2002272"/>
                <a:ext cx="7571208" cy="3463640"/>
              </a:xfrm>
              <a:prstGeom prst="rect">
                <a:avLst/>
              </a:prstGeom>
              <a:blipFill>
                <a:blip r:embed="rId3"/>
                <a:stretch>
                  <a:fillRect l="-725"/>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6A1656F5-05F2-AAD4-074B-E0D8A3A07F89}"/>
              </a:ext>
            </a:extLst>
          </p:cNvPr>
          <p:cNvGrpSpPr/>
          <p:nvPr/>
        </p:nvGrpSpPr>
        <p:grpSpPr>
          <a:xfrm>
            <a:off x="1586867" y="1151294"/>
            <a:ext cx="7464387" cy="497934"/>
            <a:chOff x="4099943" y="2819853"/>
            <a:chExt cx="2570275" cy="497934"/>
          </a:xfrm>
        </p:grpSpPr>
        <p:sp>
          <p:nvSpPr>
            <p:cNvPr id="4" name="平行四边形 3">
              <a:extLst>
                <a:ext uri="{FF2B5EF4-FFF2-40B4-BE49-F238E27FC236}">
                  <a16:creationId xmlns:a16="http://schemas.microsoft.com/office/drawing/2014/main" id="{54045EDB-73E7-C6DF-95C2-72559A7FE9ED}"/>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A301719B-D9F5-EECA-5678-31E3B661A168}"/>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471E20C8-60CC-F795-E8C5-0D39CA37D003}"/>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线性判别分析（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LDA</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）算法流程</a:t>
              </a:r>
            </a:p>
          </p:txBody>
        </p:sp>
      </p:grpSp>
    </p:spTree>
    <p:extLst>
      <p:ext uri="{BB962C8B-B14F-4D97-AF65-F5344CB8AC3E}">
        <p14:creationId xmlns:p14="http://schemas.microsoft.com/office/powerpoint/2010/main" val="513659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85626" y="535651"/>
            <a:ext cx="5482417" cy="2709408"/>
          </a:xfrm>
          <a:prstGeom prst="rect">
            <a:avLst/>
          </a:prstGeom>
        </p:spPr>
      </p:pic>
      <p:pic>
        <p:nvPicPr>
          <p:cNvPr id="9" name="图片 8"/>
          <p:cNvPicPr>
            <a:picLocks noChangeAspect="1"/>
          </p:cNvPicPr>
          <p:nvPr/>
        </p:nvPicPr>
        <p:blipFill>
          <a:blip r:embed="rId3"/>
          <a:stretch>
            <a:fillRect/>
          </a:stretch>
        </p:blipFill>
        <p:spPr>
          <a:xfrm>
            <a:off x="745417" y="3542847"/>
            <a:ext cx="5362834" cy="3102658"/>
          </a:xfrm>
          <a:prstGeom prst="rect">
            <a:avLst/>
          </a:prstGeom>
        </p:spPr>
      </p:pic>
      <p:pic>
        <p:nvPicPr>
          <p:cNvPr id="10" name="图片 9"/>
          <p:cNvPicPr>
            <a:picLocks noChangeAspect="1"/>
          </p:cNvPicPr>
          <p:nvPr/>
        </p:nvPicPr>
        <p:blipFill>
          <a:blip r:embed="rId4"/>
          <a:stretch>
            <a:fillRect/>
          </a:stretch>
        </p:blipFill>
        <p:spPr>
          <a:xfrm>
            <a:off x="6328904" y="1046451"/>
            <a:ext cx="5638651" cy="5599054"/>
          </a:xfrm>
          <a:prstGeom prst="rect">
            <a:avLst/>
          </a:prstGeom>
        </p:spPr>
      </p:pic>
    </p:spTree>
    <p:extLst>
      <p:ext uri="{BB962C8B-B14F-4D97-AF65-F5344CB8AC3E}">
        <p14:creationId xmlns:p14="http://schemas.microsoft.com/office/powerpoint/2010/main" val="4068759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85626" y="535651"/>
            <a:ext cx="5482417" cy="2709408"/>
          </a:xfrm>
          <a:prstGeom prst="rect">
            <a:avLst/>
          </a:prstGeom>
        </p:spPr>
      </p:pic>
      <p:pic>
        <p:nvPicPr>
          <p:cNvPr id="9" name="图片 8"/>
          <p:cNvPicPr>
            <a:picLocks noChangeAspect="1"/>
          </p:cNvPicPr>
          <p:nvPr/>
        </p:nvPicPr>
        <p:blipFill>
          <a:blip r:embed="rId3"/>
          <a:stretch>
            <a:fillRect/>
          </a:stretch>
        </p:blipFill>
        <p:spPr>
          <a:xfrm>
            <a:off x="745417" y="3542847"/>
            <a:ext cx="5362834" cy="3102658"/>
          </a:xfrm>
          <a:prstGeom prst="rect">
            <a:avLst/>
          </a:prstGeom>
        </p:spPr>
      </p:pic>
      <p:pic>
        <p:nvPicPr>
          <p:cNvPr id="2" name="图片 1"/>
          <p:cNvPicPr>
            <a:picLocks noChangeAspect="1"/>
          </p:cNvPicPr>
          <p:nvPr/>
        </p:nvPicPr>
        <p:blipFill>
          <a:blip r:embed="rId4"/>
          <a:stretch>
            <a:fillRect/>
          </a:stretch>
        </p:blipFill>
        <p:spPr>
          <a:xfrm>
            <a:off x="6108251" y="1289771"/>
            <a:ext cx="5905500" cy="4943475"/>
          </a:xfrm>
          <a:prstGeom prst="rect">
            <a:avLst/>
          </a:prstGeom>
        </p:spPr>
      </p:pic>
    </p:spTree>
    <p:extLst>
      <p:ext uri="{BB962C8B-B14F-4D97-AF65-F5344CB8AC3E}">
        <p14:creationId xmlns:p14="http://schemas.microsoft.com/office/powerpoint/2010/main" val="3195785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56953" y="908614"/>
            <a:ext cx="6300354" cy="5231028"/>
          </a:xfrm>
          <a:prstGeom prst="rect">
            <a:avLst/>
          </a:prstGeom>
        </p:spPr>
      </p:pic>
      <p:pic>
        <p:nvPicPr>
          <p:cNvPr id="4" name="图片 3"/>
          <p:cNvPicPr>
            <a:picLocks noChangeAspect="1"/>
          </p:cNvPicPr>
          <p:nvPr/>
        </p:nvPicPr>
        <p:blipFill>
          <a:blip r:embed="rId3"/>
          <a:stretch>
            <a:fillRect/>
          </a:stretch>
        </p:blipFill>
        <p:spPr>
          <a:xfrm>
            <a:off x="7365508" y="1202055"/>
            <a:ext cx="4543425" cy="4819650"/>
          </a:xfrm>
          <a:prstGeom prst="rect">
            <a:avLst/>
          </a:prstGeom>
        </p:spPr>
      </p:pic>
    </p:spTree>
    <p:extLst>
      <p:ext uri="{BB962C8B-B14F-4D97-AF65-F5344CB8AC3E}">
        <p14:creationId xmlns:p14="http://schemas.microsoft.com/office/powerpoint/2010/main" val="5925958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35AFD71-CEE1-CC13-5A07-1158198AD0EF}"/>
              </a:ext>
            </a:extLst>
          </p:cNvPr>
          <p:cNvSpPr txBox="1"/>
          <p:nvPr/>
        </p:nvSpPr>
        <p:spPr>
          <a:xfrm>
            <a:off x="600636" y="1549841"/>
            <a:ext cx="4800600" cy="4401205"/>
          </a:xfrm>
          <a:prstGeom prst="rect">
            <a:avLst/>
          </a:prstGeom>
          <a:noFill/>
        </p:spPr>
        <p:txBody>
          <a:bodyPr wrap="square" rtlCol="0">
            <a:spAutoFit/>
          </a:bodyPr>
          <a:lstStyle/>
          <a:p>
            <a:r>
              <a:rPr lang="en-US" altLang="zh-CN" sz="1400" dirty="0"/>
              <a:t>def </a:t>
            </a:r>
            <a:r>
              <a:rPr lang="en-US" altLang="zh-CN" sz="1400" dirty="0" err="1"/>
              <a:t>linear_discriminant_analysis</a:t>
            </a:r>
            <a:r>
              <a:rPr lang="en-US" altLang="zh-CN" sz="1400" dirty="0"/>
              <a:t>(X, y, </a:t>
            </a:r>
            <a:r>
              <a:rPr lang="en-US" altLang="zh-CN" sz="1400" dirty="0" err="1"/>
              <a:t>n_components</a:t>
            </a:r>
            <a:r>
              <a:rPr lang="en-US" altLang="zh-CN" sz="1400" dirty="0"/>
              <a:t>):</a:t>
            </a:r>
          </a:p>
          <a:p>
            <a:endParaRPr lang="en-US" altLang="zh-CN" sz="1400" dirty="0"/>
          </a:p>
          <a:p>
            <a:r>
              <a:rPr lang="en-US" altLang="zh-CN" sz="1400" dirty="0"/>
              <a:t># </a:t>
            </a:r>
            <a:r>
              <a:rPr lang="zh-CN" altLang="en-US" sz="1400" dirty="0"/>
              <a:t>步骤</a:t>
            </a:r>
            <a:r>
              <a:rPr lang="en-US" altLang="zh-CN" sz="1400" dirty="0"/>
              <a:t>1: </a:t>
            </a:r>
            <a:r>
              <a:rPr lang="zh-CN" altLang="en-US" sz="1400" dirty="0"/>
              <a:t>计算类内散度矩阵 </a:t>
            </a:r>
            <a:r>
              <a:rPr lang="en-US" altLang="zh-CN" sz="1400" dirty="0"/>
              <a:t>(</a:t>
            </a:r>
            <a:r>
              <a:rPr lang="en-US" altLang="zh-CN" sz="1400" dirty="0" err="1"/>
              <a:t>Sw</a:t>
            </a:r>
            <a:r>
              <a:rPr lang="en-US" altLang="zh-CN" sz="1400" dirty="0"/>
              <a:t>) </a:t>
            </a:r>
            <a:r>
              <a:rPr lang="zh-CN" altLang="en-US" sz="1400" dirty="0"/>
              <a:t>和类间散度矩阵 </a:t>
            </a:r>
            <a:r>
              <a:rPr lang="en-US" altLang="zh-CN" sz="1400" dirty="0"/>
              <a:t>(Sb)</a:t>
            </a:r>
          </a:p>
          <a:p>
            <a:r>
              <a:rPr lang="en-US" altLang="zh-CN" sz="1400" dirty="0"/>
              <a:t>    </a:t>
            </a:r>
            <a:r>
              <a:rPr lang="en-US" altLang="zh-CN" sz="1400" dirty="0" err="1"/>
              <a:t>Sw</a:t>
            </a:r>
            <a:r>
              <a:rPr lang="en-US" altLang="zh-CN" sz="1400" dirty="0"/>
              <a:t> = </a:t>
            </a:r>
            <a:r>
              <a:rPr lang="en-US" altLang="zh-CN" sz="1400" dirty="0" err="1"/>
              <a:t>compute_within_class_scatter</a:t>
            </a:r>
            <a:r>
              <a:rPr lang="en-US" altLang="zh-CN" sz="1400" dirty="0"/>
              <a:t>(X, y)</a:t>
            </a:r>
          </a:p>
          <a:p>
            <a:r>
              <a:rPr lang="en-US" altLang="zh-CN" sz="1400" dirty="0"/>
              <a:t>    Sb = </a:t>
            </a:r>
            <a:r>
              <a:rPr lang="en-US" altLang="zh-CN" sz="1400" dirty="0" err="1"/>
              <a:t>compute_between_class_scatter</a:t>
            </a:r>
            <a:r>
              <a:rPr lang="en-US" altLang="zh-CN" sz="1400" dirty="0"/>
              <a:t>(X, y)</a:t>
            </a:r>
          </a:p>
          <a:p>
            <a:r>
              <a:rPr lang="en-US" altLang="zh-CN" sz="1400" dirty="0"/>
              <a:t>    </a:t>
            </a:r>
          </a:p>
          <a:p>
            <a:r>
              <a:rPr lang="en-US" altLang="zh-CN" sz="1400" dirty="0"/>
              <a:t>    # </a:t>
            </a:r>
            <a:r>
              <a:rPr lang="zh-CN" altLang="en-US" sz="1400" dirty="0"/>
              <a:t>步骤</a:t>
            </a:r>
            <a:r>
              <a:rPr lang="en-US" altLang="zh-CN" sz="1400" dirty="0"/>
              <a:t>2: </a:t>
            </a:r>
            <a:r>
              <a:rPr lang="zh-CN" altLang="en-US" sz="1400" dirty="0"/>
              <a:t>计算 </a:t>
            </a:r>
            <a:r>
              <a:rPr lang="en-US" altLang="zh-CN" sz="1400" dirty="0" err="1"/>
              <a:t>Sw</a:t>
            </a:r>
            <a:r>
              <a:rPr lang="en-US" altLang="zh-CN" sz="1400" dirty="0"/>
              <a:t>^{-1} * Sb </a:t>
            </a:r>
            <a:r>
              <a:rPr lang="zh-CN" altLang="en-US" sz="1400" dirty="0"/>
              <a:t>的特征值和特征向量</a:t>
            </a:r>
          </a:p>
          <a:p>
            <a:r>
              <a:rPr lang="zh-CN" altLang="en-US" sz="1400" dirty="0"/>
              <a:t>    </a:t>
            </a:r>
            <a:r>
              <a:rPr lang="en-US" altLang="zh-CN" sz="1400" dirty="0"/>
              <a:t>eigenvalues, eigenvectors = </a:t>
            </a:r>
            <a:r>
              <a:rPr lang="en-US" altLang="zh-CN" sz="1400" dirty="0" err="1"/>
              <a:t>np.linalg.eig</a:t>
            </a:r>
            <a:r>
              <a:rPr lang="en-US" altLang="zh-CN" sz="1400" dirty="0"/>
              <a:t>(</a:t>
            </a:r>
            <a:r>
              <a:rPr lang="en-US" altLang="zh-CN" sz="1400" dirty="0" err="1"/>
              <a:t>np.linalg.inv</a:t>
            </a:r>
            <a:r>
              <a:rPr lang="en-US" altLang="zh-CN" sz="1400" dirty="0"/>
              <a:t>(</a:t>
            </a:r>
            <a:r>
              <a:rPr lang="en-US" altLang="zh-CN" sz="1400" dirty="0" err="1"/>
              <a:t>Sw</a:t>
            </a:r>
            <a:r>
              <a:rPr lang="en-US" altLang="zh-CN" sz="1400" dirty="0"/>
              <a:t>) @ Sb)</a:t>
            </a:r>
          </a:p>
          <a:p>
            <a:r>
              <a:rPr lang="en-US" altLang="zh-CN" sz="1400" dirty="0"/>
              <a:t>    </a:t>
            </a:r>
          </a:p>
          <a:p>
            <a:r>
              <a:rPr lang="en-US" altLang="zh-CN" sz="1400" dirty="0"/>
              <a:t>    # </a:t>
            </a:r>
            <a:r>
              <a:rPr lang="zh-CN" altLang="en-US" sz="1400" dirty="0"/>
              <a:t>步骤</a:t>
            </a:r>
            <a:r>
              <a:rPr lang="en-US" altLang="zh-CN" sz="1400" dirty="0"/>
              <a:t>3: </a:t>
            </a:r>
            <a:r>
              <a:rPr lang="zh-CN" altLang="en-US" sz="1400" dirty="0"/>
              <a:t>按特征值从大到小排序，选择前 </a:t>
            </a:r>
            <a:r>
              <a:rPr lang="en-US" altLang="zh-CN" sz="1400" dirty="0" err="1"/>
              <a:t>n_components</a:t>
            </a:r>
            <a:r>
              <a:rPr lang="en-US" altLang="zh-CN" sz="1400" dirty="0"/>
              <a:t> </a:t>
            </a:r>
            <a:r>
              <a:rPr lang="zh-CN" altLang="en-US" sz="1400" dirty="0"/>
              <a:t>个特征向量</a:t>
            </a:r>
          </a:p>
          <a:p>
            <a:r>
              <a:rPr lang="zh-CN" altLang="en-US" sz="1400" dirty="0"/>
              <a:t>    </a:t>
            </a:r>
            <a:r>
              <a:rPr lang="en-US" altLang="zh-CN" sz="1400" dirty="0" err="1"/>
              <a:t>sorted_indices</a:t>
            </a:r>
            <a:r>
              <a:rPr lang="en-US" altLang="zh-CN" sz="1400" dirty="0"/>
              <a:t> = </a:t>
            </a:r>
            <a:r>
              <a:rPr lang="en-US" altLang="zh-CN" sz="1400" dirty="0" err="1"/>
              <a:t>np.argsort</a:t>
            </a:r>
            <a:r>
              <a:rPr lang="en-US" altLang="zh-CN" sz="1400" dirty="0"/>
              <a:t>(eigenvalues)[::-1]</a:t>
            </a:r>
          </a:p>
          <a:p>
            <a:r>
              <a:rPr lang="en-US" altLang="zh-CN" sz="1400" dirty="0"/>
              <a:t>    W = eigenvectors[:, </a:t>
            </a:r>
            <a:r>
              <a:rPr lang="en-US" altLang="zh-CN" sz="1400" dirty="0" err="1"/>
              <a:t>sorted_indices</a:t>
            </a:r>
            <a:r>
              <a:rPr lang="en-US" altLang="zh-CN" sz="1400" dirty="0"/>
              <a:t>[:</a:t>
            </a:r>
            <a:r>
              <a:rPr lang="en-US" altLang="zh-CN" sz="1400" dirty="0" err="1"/>
              <a:t>n_components</a:t>
            </a:r>
            <a:r>
              <a:rPr lang="en-US" altLang="zh-CN" sz="1400" dirty="0"/>
              <a:t>]]</a:t>
            </a:r>
          </a:p>
          <a:p>
            <a:r>
              <a:rPr lang="en-US" altLang="zh-CN" sz="1400" dirty="0"/>
              <a:t>    </a:t>
            </a:r>
          </a:p>
          <a:p>
            <a:r>
              <a:rPr lang="en-US" altLang="zh-CN" sz="1400" dirty="0"/>
              <a:t>    # </a:t>
            </a:r>
            <a:r>
              <a:rPr lang="zh-CN" altLang="en-US" sz="1400" dirty="0"/>
              <a:t>步骤</a:t>
            </a:r>
            <a:r>
              <a:rPr lang="en-US" altLang="zh-CN" sz="1400" dirty="0"/>
              <a:t>4: </a:t>
            </a:r>
            <a:r>
              <a:rPr lang="zh-CN" altLang="en-US" sz="1400" dirty="0"/>
              <a:t>将数据投影到低维空间</a:t>
            </a:r>
          </a:p>
          <a:p>
            <a:r>
              <a:rPr lang="zh-CN" altLang="en-US" sz="1400" dirty="0"/>
              <a:t>    </a:t>
            </a:r>
            <a:r>
              <a:rPr lang="en-US" altLang="zh-CN" sz="1400" dirty="0" err="1"/>
              <a:t>X_lda</a:t>
            </a:r>
            <a:r>
              <a:rPr lang="en-US" altLang="zh-CN" sz="1400" dirty="0"/>
              <a:t> = X @ W</a:t>
            </a:r>
          </a:p>
          <a:p>
            <a:r>
              <a:rPr lang="en-US" altLang="zh-CN" sz="1400" dirty="0"/>
              <a:t>    </a:t>
            </a:r>
          </a:p>
          <a:p>
            <a:r>
              <a:rPr lang="en-US" altLang="zh-CN" sz="1400" dirty="0"/>
              <a:t>    return W, </a:t>
            </a:r>
            <a:r>
              <a:rPr lang="en-US" altLang="zh-CN" sz="1400" dirty="0" err="1"/>
              <a:t>X_lda</a:t>
            </a:r>
            <a:endParaRPr lang="en-US" altLang="zh-CN" sz="1400" dirty="0"/>
          </a:p>
          <a:p>
            <a:endParaRPr lang="en-US" altLang="zh-CN" sz="1400" dirty="0"/>
          </a:p>
        </p:txBody>
      </p:sp>
      <p:sp>
        <p:nvSpPr>
          <p:cNvPr id="5" name="文本框 4">
            <a:extLst>
              <a:ext uri="{FF2B5EF4-FFF2-40B4-BE49-F238E27FC236}">
                <a16:creationId xmlns:a16="http://schemas.microsoft.com/office/drawing/2014/main" id="{59F58820-9EA3-6AEF-2D42-932498A3F78A}"/>
              </a:ext>
            </a:extLst>
          </p:cNvPr>
          <p:cNvSpPr txBox="1"/>
          <p:nvPr/>
        </p:nvSpPr>
        <p:spPr>
          <a:xfrm>
            <a:off x="5459507" y="280138"/>
            <a:ext cx="6163235" cy="6370975"/>
          </a:xfrm>
          <a:prstGeom prst="rect">
            <a:avLst/>
          </a:prstGeom>
          <a:noFill/>
        </p:spPr>
        <p:txBody>
          <a:bodyPr wrap="square">
            <a:spAutoFit/>
          </a:bodyPr>
          <a:lstStyle/>
          <a:p>
            <a:r>
              <a:rPr lang="en-US" altLang="zh-CN" sz="1200" dirty="0"/>
              <a:t>def </a:t>
            </a:r>
            <a:r>
              <a:rPr lang="en-US" altLang="zh-CN" sz="1200" dirty="0" err="1"/>
              <a:t>compute_within_class_scatter</a:t>
            </a:r>
            <a:r>
              <a:rPr lang="en-US" altLang="zh-CN" sz="1200" dirty="0"/>
              <a:t>(X, y):</a:t>
            </a:r>
          </a:p>
          <a:p>
            <a:r>
              <a:rPr lang="en-US" altLang="zh-CN" sz="1200" dirty="0"/>
              <a:t>    """</a:t>
            </a:r>
          </a:p>
          <a:p>
            <a:r>
              <a:rPr lang="en-US" altLang="zh-CN" sz="1200" dirty="0"/>
              <a:t>    </a:t>
            </a:r>
            <a:r>
              <a:rPr lang="zh-CN" altLang="en-US" sz="1200" dirty="0"/>
              <a:t>计算类内散度矩阵 </a:t>
            </a:r>
            <a:r>
              <a:rPr lang="en-US" altLang="zh-CN" sz="1200" dirty="0" err="1"/>
              <a:t>Sw</a:t>
            </a:r>
            <a:endParaRPr lang="en-US" altLang="zh-CN" sz="1200" dirty="0"/>
          </a:p>
          <a:p>
            <a:r>
              <a:rPr lang="en-US" altLang="zh-CN" sz="1200" dirty="0"/>
              <a:t>    </a:t>
            </a:r>
            <a:r>
              <a:rPr lang="en-US" altLang="zh-CN" sz="1200" dirty="0" err="1"/>
              <a:t>Sw</a:t>
            </a:r>
            <a:r>
              <a:rPr lang="en-US" altLang="zh-CN" sz="1200" dirty="0"/>
              <a:t> = </a:t>
            </a:r>
            <a:r>
              <a:rPr lang="el-GR" altLang="zh-CN" sz="1200" dirty="0"/>
              <a:t>Σ (Σ (</a:t>
            </a:r>
            <a:r>
              <a:rPr lang="en-US" altLang="zh-CN" sz="1200" dirty="0"/>
              <a:t>x - </a:t>
            </a:r>
            <a:r>
              <a:rPr lang="el-GR" altLang="zh-CN" sz="1200" dirty="0"/>
              <a:t>μ_</a:t>
            </a:r>
            <a:r>
              <a:rPr lang="en-US" altLang="zh-CN" sz="1200" dirty="0" err="1"/>
              <a:t>i</a:t>
            </a:r>
            <a:r>
              <a:rPr lang="en-US" altLang="zh-CN" sz="1200" dirty="0"/>
              <a:t>)(x - </a:t>
            </a:r>
            <a:r>
              <a:rPr lang="el-GR" altLang="zh-CN" sz="1200" dirty="0"/>
              <a:t>μ_</a:t>
            </a:r>
            <a:r>
              <a:rPr lang="en-US" altLang="zh-CN" sz="1200" dirty="0" err="1"/>
              <a:t>i</a:t>
            </a:r>
            <a:r>
              <a:rPr lang="en-US" altLang="zh-CN" sz="1200" dirty="0"/>
              <a:t>)^T) for each class </a:t>
            </a:r>
            <a:r>
              <a:rPr lang="en-US" altLang="zh-CN" sz="1200" dirty="0" err="1"/>
              <a:t>i</a:t>
            </a:r>
            <a:endParaRPr lang="en-US" altLang="zh-CN" sz="1200" dirty="0"/>
          </a:p>
          <a:p>
            <a:r>
              <a:rPr lang="en-US" altLang="zh-CN" sz="1200" dirty="0"/>
              <a:t>    """</a:t>
            </a:r>
          </a:p>
          <a:p>
            <a:r>
              <a:rPr lang="en-US" altLang="zh-CN" sz="1200" dirty="0"/>
              <a:t>    </a:t>
            </a:r>
            <a:r>
              <a:rPr lang="en-US" altLang="zh-CN" sz="1200" dirty="0" err="1"/>
              <a:t>n_features</a:t>
            </a:r>
            <a:r>
              <a:rPr lang="en-US" altLang="zh-CN" sz="1200" dirty="0"/>
              <a:t> = </a:t>
            </a:r>
            <a:r>
              <a:rPr lang="en-US" altLang="zh-CN" sz="1200" dirty="0" err="1"/>
              <a:t>X.shape</a:t>
            </a:r>
            <a:r>
              <a:rPr lang="en-US" altLang="zh-CN" sz="1200" dirty="0"/>
              <a:t>[1]</a:t>
            </a:r>
          </a:p>
          <a:p>
            <a:r>
              <a:rPr lang="en-US" altLang="zh-CN" sz="1200" dirty="0"/>
              <a:t>    </a:t>
            </a:r>
            <a:r>
              <a:rPr lang="en-US" altLang="zh-CN" sz="1200" dirty="0" err="1"/>
              <a:t>Sw</a:t>
            </a:r>
            <a:r>
              <a:rPr lang="en-US" altLang="zh-CN" sz="1200" dirty="0"/>
              <a:t> = </a:t>
            </a:r>
            <a:r>
              <a:rPr lang="en-US" altLang="zh-CN" sz="1200" dirty="0" err="1"/>
              <a:t>np.zeros</a:t>
            </a:r>
            <a:r>
              <a:rPr lang="en-US" altLang="zh-CN" sz="1200" dirty="0"/>
              <a:t>((</a:t>
            </a:r>
            <a:r>
              <a:rPr lang="en-US" altLang="zh-CN" sz="1200" dirty="0" err="1"/>
              <a:t>n_features</a:t>
            </a:r>
            <a:r>
              <a:rPr lang="en-US" altLang="zh-CN" sz="1200" dirty="0"/>
              <a:t>, </a:t>
            </a:r>
            <a:r>
              <a:rPr lang="en-US" altLang="zh-CN" sz="1200" dirty="0" err="1"/>
              <a:t>n_features</a:t>
            </a:r>
            <a:r>
              <a:rPr lang="en-US" altLang="zh-CN" sz="1200" dirty="0"/>
              <a:t>))</a:t>
            </a:r>
          </a:p>
          <a:p>
            <a:r>
              <a:rPr lang="en-US" altLang="zh-CN" sz="1200" dirty="0"/>
              <a:t>    classes = </a:t>
            </a:r>
            <a:r>
              <a:rPr lang="en-US" altLang="zh-CN" sz="1200" dirty="0" err="1"/>
              <a:t>np.unique</a:t>
            </a:r>
            <a:r>
              <a:rPr lang="en-US" altLang="zh-CN" sz="1200" dirty="0"/>
              <a:t>(y)</a:t>
            </a:r>
          </a:p>
          <a:p>
            <a:r>
              <a:rPr lang="en-US" altLang="zh-CN" sz="1200" dirty="0"/>
              <a:t>    </a:t>
            </a:r>
          </a:p>
          <a:p>
            <a:r>
              <a:rPr lang="en-US" altLang="zh-CN" sz="1200" dirty="0"/>
              <a:t>    for c in classes:</a:t>
            </a:r>
          </a:p>
          <a:p>
            <a:r>
              <a:rPr lang="en-US" altLang="zh-CN" sz="1200" dirty="0"/>
              <a:t>        </a:t>
            </a:r>
            <a:r>
              <a:rPr lang="en-US" altLang="zh-CN" sz="1200" dirty="0" err="1"/>
              <a:t>X_c</a:t>
            </a:r>
            <a:r>
              <a:rPr lang="en-US" altLang="zh-CN" sz="1200" dirty="0"/>
              <a:t> = X[y == c]</a:t>
            </a:r>
          </a:p>
          <a:p>
            <a:r>
              <a:rPr lang="en-US" altLang="zh-CN" sz="1200" dirty="0"/>
              <a:t>        </a:t>
            </a:r>
            <a:r>
              <a:rPr lang="en-US" altLang="zh-CN" sz="1200" dirty="0" err="1"/>
              <a:t>mean_c</a:t>
            </a:r>
            <a:r>
              <a:rPr lang="en-US" altLang="zh-CN" sz="1200" dirty="0"/>
              <a:t> = </a:t>
            </a:r>
            <a:r>
              <a:rPr lang="en-US" altLang="zh-CN" sz="1200" dirty="0" err="1"/>
              <a:t>np.mean</a:t>
            </a:r>
            <a:r>
              <a:rPr lang="en-US" altLang="zh-CN" sz="1200" dirty="0"/>
              <a:t>(</a:t>
            </a:r>
            <a:r>
              <a:rPr lang="en-US" altLang="zh-CN" sz="1200" dirty="0" err="1"/>
              <a:t>X_c</a:t>
            </a:r>
            <a:r>
              <a:rPr lang="en-US" altLang="zh-CN" sz="1200" dirty="0"/>
              <a:t>, axis=0)</a:t>
            </a:r>
          </a:p>
          <a:p>
            <a:r>
              <a:rPr lang="en-US" altLang="zh-CN" sz="1200" dirty="0"/>
              <a:t>        </a:t>
            </a:r>
            <a:r>
              <a:rPr lang="en-US" altLang="zh-CN" sz="1200" dirty="0" err="1"/>
              <a:t>Sw</a:t>
            </a:r>
            <a:r>
              <a:rPr lang="en-US" altLang="zh-CN" sz="1200" dirty="0"/>
              <a:t> += (</a:t>
            </a:r>
            <a:r>
              <a:rPr lang="en-US" altLang="zh-CN" sz="1200" dirty="0" err="1"/>
              <a:t>X_c</a:t>
            </a:r>
            <a:r>
              <a:rPr lang="en-US" altLang="zh-CN" sz="1200" dirty="0"/>
              <a:t> - </a:t>
            </a:r>
            <a:r>
              <a:rPr lang="en-US" altLang="zh-CN" sz="1200" dirty="0" err="1"/>
              <a:t>mean_c</a:t>
            </a:r>
            <a:r>
              <a:rPr lang="en-US" altLang="zh-CN" sz="1200" dirty="0"/>
              <a:t>).T @ (</a:t>
            </a:r>
            <a:r>
              <a:rPr lang="en-US" altLang="zh-CN" sz="1200" dirty="0" err="1"/>
              <a:t>X_c</a:t>
            </a:r>
            <a:r>
              <a:rPr lang="en-US" altLang="zh-CN" sz="1200" dirty="0"/>
              <a:t> - </a:t>
            </a:r>
            <a:r>
              <a:rPr lang="en-US" altLang="zh-CN" sz="1200" dirty="0" err="1"/>
              <a:t>mean_c</a:t>
            </a:r>
            <a:r>
              <a:rPr lang="en-US" altLang="zh-CN" sz="1200" dirty="0"/>
              <a:t>)</a:t>
            </a:r>
          </a:p>
          <a:p>
            <a:r>
              <a:rPr lang="en-US" altLang="zh-CN" sz="1200" dirty="0"/>
              <a:t>    </a:t>
            </a:r>
          </a:p>
          <a:p>
            <a:r>
              <a:rPr lang="en-US" altLang="zh-CN" sz="1200" dirty="0"/>
              <a:t>    return </a:t>
            </a:r>
            <a:r>
              <a:rPr lang="en-US" altLang="zh-CN" sz="1200" dirty="0" err="1"/>
              <a:t>Sw</a:t>
            </a:r>
            <a:endParaRPr lang="en-US" altLang="zh-CN" sz="1200" dirty="0"/>
          </a:p>
          <a:p>
            <a:endParaRPr lang="en-US" altLang="zh-CN" sz="1200" dirty="0"/>
          </a:p>
          <a:p>
            <a:r>
              <a:rPr lang="en-US" altLang="zh-CN" sz="1200" dirty="0"/>
              <a:t>def </a:t>
            </a:r>
            <a:r>
              <a:rPr lang="en-US" altLang="zh-CN" sz="1200" dirty="0" err="1"/>
              <a:t>compute_between_class_scatter</a:t>
            </a:r>
            <a:r>
              <a:rPr lang="en-US" altLang="zh-CN" sz="1200" dirty="0"/>
              <a:t>(X, y):</a:t>
            </a:r>
          </a:p>
          <a:p>
            <a:r>
              <a:rPr lang="en-US" altLang="zh-CN" sz="1200" dirty="0"/>
              <a:t>    """</a:t>
            </a:r>
          </a:p>
          <a:p>
            <a:r>
              <a:rPr lang="en-US" altLang="zh-CN" sz="1200" dirty="0"/>
              <a:t>    </a:t>
            </a:r>
            <a:r>
              <a:rPr lang="zh-CN" altLang="en-US" sz="1200" dirty="0"/>
              <a:t>计算类间散度矩阵 </a:t>
            </a:r>
            <a:r>
              <a:rPr lang="en-US" altLang="zh-CN" sz="1200" dirty="0"/>
              <a:t>Sb</a:t>
            </a:r>
          </a:p>
          <a:p>
            <a:r>
              <a:rPr lang="en-US" altLang="zh-CN" sz="1200" dirty="0"/>
              <a:t>    Sb = </a:t>
            </a:r>
            <a:r>
              <a:rPr lang="el-GR" altLang="zh-CN" sz="1200" dirty="0"/>
              <a:t>Σ </a:t>
            </a:r>
            <a:r>
              <a:rPr lang="en-US" altLang="zh-CN" sz="1200" dirty="0" err="1"/>
              <a:t>n_i</a:t>
            </a:r>
            <a:r>
              <a:rPr lang="en-US" altLang="zh-CN" sz="1200" dirty="0"/>
              <a:t> * (</a:t>
            </a:r>
            <a:r>
              <a:rPr lang="el-GR" altLang="zh-CN" sz="1200" dirty="0"/>
              <a:t>μ_</a:t>
            </a:r>
            <a:r>
              <a:rPr lang="en-US" altLang="zh-CN" sz="1200" dirty="0" err="1"/>
              <a:t>i</a:t>
            </a:r>
            <a:r>
              <a:rPr lang="en-US" altLang="zh-CN" sz="1200" dirty="0"/>
              <a:t> - </a:t>
            </a:r>
            <a:r>
              <a:rPr lang="el-GR" altLang="zh-CN" sz="1200" dirty="0"/>
              <a:t>μ)(μ_</a:t>
            </a:r>
            <a:r>
              <a:rPr lang="en-US" altLang="zh-CN" sz="1200" dirty="0" err="1"/>
              <a:t>i</a:t>
            </a:r>
            <a:r>
              <a:rPr lang="en-US" altLang="zh-CN" sz="1200" dirty="0"/>
              <a:t> - </a:t>
            </a:r>
            <a:r>
              <a:rPr lang="el-GR" altLang="zh-CN" sz="1200" dirty="0"/>
              <a:t>μ)^</a:t>
            </a:r>
            <a:r>
              <a:rPr lang="en-US" altLang="zh-CN" sz="1200" dirty="0"/>
              <a:t>T for each class </a:t>
            </a:r>
            <a:r>
              <a:rPr lang="en-US" altLang="zh-CN" sz="1200" dirty="0" err="1"/>
              <a:t>i</a:t>
            </a:r>
            <a:endParaRPr lang="en-US" altLang="zh-CN" sz="1200" dirty="0"/>
          </a:p>
          <a:p>
            <a:r>
              <a:rPr lang="en-US" altLang="zh-CN" sz="1200" dirty="0"/>
              <a:t>    """</a:t>
            </a:r>
          </a:p>
          <a:p>
            <a:r>
              <a:rPr lang="en-US" altLang="zh-CN" sz="1200" dirty="0"/>
              <a:t>    </a:t>
            </a:r>
            <a:r>
              <a:rPr lang="en-US" altLang="zh-CN" sz="1200" dirty="0" err="1"/>
              <a:t>n_features</a:t>
            </a:r>
            <a:r>
              <a:rPr lang="en-US" altLang="zh-CN" sz="1200" dirty="0"/>
              <a:t> = </a:t>
            </a:r>
            <a:r>
              <a:rPr lang="en-US" altLang="zh-CN" sz="1200" dirty="0" err="1"/>
              <a:t>X.shape</a:t>
            </a:r>
            <a:r>
              <a:rPr lang="en-US" altLang="zh-CN" sz="1200" dirty="0"/>
              <a:t>[1]</a:t>
            </a:r>
          </a:p>
          <a:p>
            <a:r>
              <a:rPr lang="en-US" altLang="zh-CN" sz="1200" dirty="0"/>
              <a:t>    Sb = </a:t>
            </a:r>
            <a:r>
              <a:rPr lang="en-US" altLang="zh-CN" sz="1200" dirty="0" err="1"/>
              <a:t>np.zeros</a:t>
            </a:r>
            <a:r>
              <a:rPr lang="en-US" altLang="zh-CN" sz="1200" dirty="0"/>
              <a:t>((</a:t>
            </a:r>
            <a:r>
              <a:rPr lang="en-US" altLang="zh-CN" sz="1200" dirty="0" err="1"/>
              <a:t>n_features</a:t>
            </a:r>
            <a:r>
              <a:rPr lang="en-US" altLang="zh-CN" sz="1200" dirty="0"/>
              <a:t>, </a:t>
            </a:r>
            <a:r>
              <a:rPr lang="en-US" altLang="zh-CN" sz="1200" dirty="0" err="1"/>
              <a:t>n_features</a:t>
            </a:r>
            <a:r>
              <a:rPr lang="en-US" altLang="zh-CN" sz="1200" dirty="0"/>
              <a:t>))</a:t>
            </a:r>
          </a:p>
          <a:p>
            <a:r>
              <a:rPr lang="en-US" altLang="zh-CN" sz="1200" dirty="0"/>
              <a:t>    </a:t>
            </a:r>
            <a:r>
              <a:rPr lang="en-US" altLang="zh-CN" sz="1200" dirty="0" err="1"/>
              <a:t>mean_total</a:t>
            </a:r>
            <a:r>
              <a:rPr lang="en-US" altLang="zh-CN" sz="1200" dirty="0"/>
              <a:t> = </a:t>
            </a:r>
            <a:r>
              <a:rPr lang="en-US" altLang="zh-CN" sz="1200" dirty="0" err="1"/>
              <a:t>np.mean</a:t>
            </a:r>
            <a:r>
              <a:rPr lang="en-US" altLang="zh-CN" sz="1200" dirty="0"/>
              <a:t>(X, axis=0)</a:t>
            </a:r>
          </a:p>
          <a:p>
            <a:r>
              <a:rPr lang="en-US" altLang="zh-CN" sz="1200" dirty="0"/>
              <a:t>    classes = </a:t>
            </a:r>
            <a:r>
              <a:rPr lang="en-US" altLang="zh-CN" sz="1200" dirty="0" err="1"/>
              <a:t>np.unique</a:t>
            </a:r>
            <a:r>
              <a:rPr lang="en-US" altLang="zh-CN" sz="1200" dirty="0"/>
              <a:t>(y)</a:t>
            </a:r>
          </a:p>
          <a:p>
            <a:r>
              <a:rPr lang="en-US" altLang="zh-CN" sz="1200" dirty="0"/>
              <a:t>    </a:t>
            </a:r>
          </a:p>
          <a:p>
            <a:r>
              <a:rPr lang="en-US" altLang="zh-CN" sz="1200" dirty="0"/>
              <a:t>    for c in classes:</a:t>
            </a:r>
          </a:p>
          <a:p>
            <a:r>
              <a:rPr lang="en-US" altLang="zh-CN" sz="1200" dirty="0"/>
              <a:t>        </a:t>
            </a:r>
            <a:r>
              <a:rPr lang="en-US" altLang="zh-CN" sz="1200" dirty="0" err="1"/>
              <a:t>X_c</a:t>
            </a:r>
            <a:r>
              <a:rPr lang="en-US" altLang="zh-CN" sz="1200" dirty="0"/>
              <a:t> = X[y == c]</a:t>
            </a:r>
          </a:p>
          <a:p>
            <a:r>
              <a:rPr lang="en-US" altLang="zh-CN" sz="1200" dirty="0"/>
              <a:t>        </a:t>
            </a:r>
            <a:r>
              <a:rPr lang="en-US" altLang="zh-CN" sz="1200" dirty="0" err="1"/>
              <a:t>n_c</a:t>
            </a:r>
            <a:r>
              <a:rPr lang="en-US" altLang="zh-CN" sz="1200" dirty="0"/>
              <a:t> = </a:t>
            </a:r>
            <a:r>
              <a:rPr lang="en-US" altLang="zh-CN" sz="1200" dirty="0" err="1"/>
              <a:t>X_c.shape</a:t>
            </a:r>
            <a:r>
              <a:rPr lang="en-US" altLang="zh-CN" sz="1200" dirty="0"/>
              <a:t>[0]</a:t>
            </a:r>
          </a:p>
          <a:p>
            <a:r>
              <a:rPr lang="en-US" altLang="zh-CN" sz="1200" dirty="0"/>
              <a:t>        </a:t>
            </a:r>
            <a:r>
              <a:rPr lang="en-US" altLang="zh-CN" sz="1200" dirty="0" err="1"/>
              <a:t>mean_c</a:t>
            </a:r>
            <a:r>
              <a:rPr lang="en-US" altLang="zh-CN" sz="1200" dirty="0"/>
              <a:t> = </a:t>
            </a:r>
            <a:r>
              <a:rPr lang="en-US" altLang="zh-CN" sz="1200" dirty="0" err="1"/>
              <a:t>np.mean</a:t>
            </a:r>
            <a:r>
              <a:rPr lang="en-US" altLang="zh-CN" sz="1200" dirty="0"/>
              <a:t>(</a:t>
            </a:r>
            <a:r>
              <a:rPr lang="en-US" altLang="zh-CN" sz="1200" dirty="0" err="1"/>
              <a:t>X_c</a:t>
            </a:r>
            <a:r>
              <a:rPr lang="en-US" altLang="zh-CN" sz="1200" dirty="0"/>
              <a:t>, axis=0)</a:t>
            </a:r>
          </a:p>
          <a:p>
            <a:r>
              <a:rPr lang="en-US" altLang="zh-CN" sz="1200" dirty="0"/>
              <a:t>        Sb += </a:t>
            </a:r>
            <a:r>
              <a:rPr lang="en-US" altLang="zh-CN" sz="1200" dirty="0" err="1"/>
              <a:t>n_c</a:t>
            </a:r>
            <a:r>
              <a:rPr lang="en-US" altLang="zh-CN" sz="1200" dirty="0"/>
              <a:t> * (</a:t>
            </a:r>
            <a:r>
              <a:rPr lang="en-US" altLang="zh-CN" sz="1200" dirty="0" err="1"/>
              <a:t>mean_c</a:t>
            </a:r>
            <a:r>
              <a:rPr lang="en-US" altLang="zh-CN" sz="1200" dirty="0"/>
              <a:t> - </a:t>
            </a:r>
            <a:r>
              <a:rPr lang="en-US" altLang="zh-CN" sz="1200" dirty="0" err="1"/>
              <a:t>mean_total</a:t>
            </a:r>
            <a:r>
              <a:rPr lang="en-US" altLang="zh-CN" sz="1200" dirty="0"/>
              <a:t>).reshape(-1, 1) @ (</a:t>
            </a:r>
            <a:r>
              <a:rPr lang="en-US" altLang="zh-CN" sz="1200" dirty="0" err="1"/>
              <a:t>mean_c</a:t>
            </a:r>
            <a:r>
              <a:rPr lang="en-US" altLang="zh-CN" sz="1200" dirty="0"/>
              <a:t> - </a:t>
            </a:r>
            <a:r>
              <a:rPr lang="en-US" altLang="zh-CN" sz="1200" dirty="0" err="1"/>
              <a:t>mean_total</a:t>
            </a:r>
            <a:r>
              <a:rPr lang="en-US" altLang="zh-CN" sz="1200" dirty="0"/>
              <a:t>).reshape(1, -1)</a:t>
            </a:r>
          </a:p>
          <a:p>
            <a:r>
              <a:rPr lang="en-US" altLang="zh-CN" sz="1200" dirty="0"/>
              <a:t>    </a:t>
            </a:r>
          </a:p>
          <a:p>
            <a:r>
              <a:rPr lang="en-US" altLang="zh-CN" sz="1200" dirty="0"/>
              <a:t>    return Sb</a:t>
            </a:r>
            <a:endParaRPr lang="zh-CN" altLang="en-US" sz="1200" dirty="0"/>
          </a:p>
        </p:txBody>
      </p:sp>
      <p:sp>
        <p:nvSpPr>
          <p:cNvPr id="6" name="文本框 5">
            <a:extLst>
              <a:ext uri="{FF2B5EF4-FFF2-40B4-BE49-F238E27FC236}">
                <a16:creationId xmlns:a16="http://schemas.microsoft.com/office/drawing/2014/main" id="{21092C0C-1278-0A5E-5547-D1BABA2C69F7}"/>
              </a:ext>
            </a:extLst>
          </p:cNvPr>
          <p:cNvSpPr txBox="1"/>
          <p:nvPr/>
        </p:nvSpPr>
        <p:spPr>
          <a:xfrm>
            <a:off x="569258" y="552381"/>
            <a:ext cx="3841377" cy="400110"/>
          </a:xfrm>
          <a:prstGeom prst="rect">
            <a:avLst/>
          </a:prstGeom>
          <a:no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Python</a:t>
            </a:r>
            <a:r>
              <a:rPr lang="zh-CN" altLang="en-US" sz="2000" b="1" dirty="0">
                <a:latin typeface="微软雅黑" panose="020B0503020204020204" pitchFamily="34" charset="-122"/>
                <a:ea typeface="微软雅黑" panose="020B0503020204020204" pitchFamily="34" charset="-122"/>
              </a:rPr>
              <a:t>伪代码：</a:t>
            </a:r>
          </a:p>
        </p:txBody>
      </p:sp>
    </p:spTree>
    <p:extLst>
      <p:ext uri="{BB962C8B-B14F-4D97-AF65-F5344CB8AC3E}">
        <p14:creationId xmlns:p14="http://schemas.microsoft.com/office/powerpoint/2010/main" val="390890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4C569-6CD2-6CD8-9902-9859D1F2941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1C447288-3868-C550-D570-AA2F62630F20}"/>
              </a:ext>
            </a:extLst>
          </p:cNvPr>
          <p:cNvGrpSpPr/>
          <p:nvPr/>
        </p:nvGrpSpPr>
        <p:grpSpPr>
          <a:xfrm>
            <a:off x="1951780" y="892191"/>
            <a:ext cx="7464387" cy="497934"/>
            <a:chOff x="4099943" y="2819853"/>
            <a:chExt cx="2570275" cy="497934"/>
          </a:xfrm>
        </p:grpSpPr>
        <p:sp>
          <p:nvSpPr>
            <p:cNvPr id="4" name="平行四边形 3">
              <a:extLst>
                <a:ext uri="{FF2B5EF4-FFF2-40B4-BE49-F238E27FC236}">
                  <a16:creationId xmlns:a16="http://schemas.microsoft.com/office/drawing/2014/main" id="{ACA1E982-2B1B-D44A-8429-99E3A2826D35}"/>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5" name="平行四边形 4">
              <a:extLst>
                <a:ext uri="{FF2B5EF4-FFF2-40B4-BE49-F238E27FC236}">
                  <a16:creationId xmlns:a16="http://schemas.microsoft.com/office/drawing/2014/main" id="{64E0DC7C-9A33-F111-6AAA-6863064AEA60}"/>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6" name="矩形 5">
              <a:extLst>
                <a:ext uri="{FF2B5EF4-FFF2-40B4-BE49-F238E27FC236}">
                  <a16:creationId xmlns:a16="http://schemas.microsoft.com/office/drawing/2014/main" id="{1E088F24-E70F-FB0D-F59E-CAA9FBEE353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fr-FR" altLang="zh-CN" sz="2000" b="1" dirty="0">
                  <a:solidFill>
                    <a:schemeClr val="tx1">
                      <a:lumMod val="95000"/>
                      <a:lumOff val="5000"/>
                    </a:schemeClr>
                  </a:solidFill>
                  <a:latin typeface="+mj-ea"/>
                  <a:ea typeface="+mj-ea"/>
                  <a:cs typeface="Times New Roman" panose="02020603050405020304" pitchFamily="18" charset="0"/>
                </a:rPr>
                <a:t>principal component analysis</a:t>
              </a:r>
              <a:r>
                <a:rPr lang="zh-CN" altLang="fr-FR" sz="2000" b="1" dirty="0">
                  <a:solidFill>
                    <a:schemeClr val="tx1">
                      <a:lumMod val="95000"/>
                      <a:lumOff val="5000"/>
                    </a:schemeClr>
                  </a:solidFill>
                  <a:latin typeface="+mj-ea"/>
                  <a:ea typeface="+mj-ea"/>
                  <a:cs typeface="Times New Roman" panose="02020603050405020304" pitchFamily="18" charset="0"/>
                </a:rPr>
                <a:t>）</a:t>
              </a:r>
              <a:endParaRPr lang="zh-CN" altLang="en-US" sz="2000" b="1" dirty="0">
                <a:solidFill>
                  <a:schemeClr val="tx1">
                    <a:lumMod val="95000"/>
                    <a:lumOff val="5000"/>
                  </a:schemeClr>
                </a:solidFill>
                <a:latin typeface="+mj-ea"/>
                <a:ea typeface="+mj-ea"/>
              </a:endParaRPr>
            </a:p>
          </p:txBody>
        </p:sp>
      </p:grpSp>
      <p:grpSp>
        <p:nvGrpSpPr>
          <p:cNvPr id="8" name="组合 7">
            <a:extLst>
              <a:ext uri="{FF2B5EF4-FFF2-40B4-BE49-F238E27FC236}">
                <a16:creationId xmlns:a16="http://schemas.microsoft.com/office/drawing/2014/main" id="{082B25F6-4181-79BB-2247-8938BBCBA320}"/>
              </a:ext>
            </a:extLst>
          </p:cNvPr>
          <p:cNvGrpSpPr/>
          <p:nvPr/>
        </p:nvGrpSpPr>
        <p:grpSpPr>
          <a:xfrm>
            <a:off x="264459" y="1985522"/>
            <a:ext cx="11663082" cy="4706631"/>
            <a:chOff x="1099312" y="1723345"/>
            <a:chExt cx="10062913" cy="3432863"/>
          </a:xfrm>
          <a:solidFill>
            <a:schemeClr val="accent5">
              <a:lumMod val="50000"/>
            </a:schemeClr>
          </a:solidFill>
        </p:grpSpPr>
        <p:sp>
          <p:nvSpPr>
            <p:cNvPr id="9" name="立方体 8">
              <a:extLst>
                <a:ext uri="{FF2B5EF4-FFF2-40B4-BE49-F238E27FC236}">
                  <a16:creationId xmlns:a16="http://schemas.microsoft.com/office/drawing/2014/main" id="{E32F1DD3-3AA3-07F2-B6C5-A2604FEBDC5D}"/>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mj-ea"/>
                <a:ea typeface="+mj-ea"/>
              </a:endParaRPr>
            </a:p>
          </p:txBody>
        </p:sp>
        <p:cxnSp>
          <p:nvCxnSpPr>
            <p:cNvPr id="10" name="直接连接符 9">
              <a:extLst>
                <a:ext uri="{FF2B5EF4-FFF2-40B4-BE49-F238E27FC236}">
                  <a16:creationId xmlns:a16="http://schemas.microsoft.com/office/drawing/2014/main" id="{2FA2AC21-21C5-6414-1DF6-EE5282005309}"/>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01EE15FE-B08E-5E6F-382E-78A047B0C231}"/>
                </a:ext>
              </a:extLst>
            </p:cNvPr>
            <p:cNvGrpSpPr/>
            <p:nvPr/>
          </p:nvGrpSpPr>
          <p:grpSpPr>
            <a:xfrm>
              <a:off x="1099312" y="1742007"/>
              <a:ext cx="3220132" cy="3220133"/>
              <a:chOff x="1099312" y="2369187"/>
              <a:chExt cx="3220132" cy="3220133"/>
            </a:xfrm>
            <a:grpFill/>
          </p:grpSpPr>
          <p:cxnSp>
            <p:nvCxnSpPr>
              <p:cNvPr id="13" name="直接连接符 12">
                <a:extLst>
                  <a:ext uri="{FF2B5EF4-FFF2-40B4-BE49-F238E27FC236}">
                    <a16:creationId xmlns:a16="http://schemas.microsoft.com/office/drawing/2014/main" id="{65966172-85FA-F5F7-34EB-81B6EF9DA7C7}"/>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648B28C-FFFA-23FC-8039-0DB499B652BB}"/>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2" name="直接连接符 11">
              <a:extLst>
                <a:ext uri="{FF2B5EF4-FFF2-40B4-BE49-F238E27FC236}">
                  <a16:creationId xmlns:a16="http://schemas.microsoft.com/office/drawing/2014/main" id="{B36EAFF2-C010-AE8E-8168-E66633ECC182}"/>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5" name="矩形 14">
            <a:extLst>
              <a:ext uri="{FF2B5EF4-FFF2-40B4-BE49-F238E27FC236}">
                <a16:creationId xmlns:a16="http://schemas.microsoft.com/office/drawing/2014/main" id="{4EF77C46-1611-3120-AFCB-A9ACB6FEE841}"/>
              </a:ext>
            </a:extLst>
          </p:cNvPr>
          <p:cNvSpPr/>
          <p:nvPr/>
        </p:nvSpPr>
        <p:spPr>
          <a:xfrm>
            <a:off x="633490" y="2339311"/>
            <a:ext cx="10867609" cy="4154984"/>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sz="1600" dirty="0">
                <a:solidFill>
                  <a:schemeClr val="bg1"/>
                </a:solidFill>
                <a:latin typeface="+mj-ea"/>
                <a:ea typeface="+mj-ea"/>
                <a:cs typeface="Times New Roman" panose="02020603050405020304" pitchFamily="18" charset="0"/>
              </a:rPr>
              <a:t>主成分分析（</a:t>
            </a:r>
            <a:r>
              <a:rPr lang="en-US" altLang="zh-CN" sz="1600" dirty="0">
                <a:solidFill>
                  <a:schemeClr val="bg1"/>
                </a:solidFill>
                <a:latin typeface="+mj-ea"/>
                <a:ea typeface="+mj-ea"/>
                <a:cs typeface="Times New Roman" panose="02020603050405020304" pitchFamily="18" charset="0"/>
              </a:rPr>
              <a:t>principal component analysis</a:t>
            </a:r>
            <a:r>
              <a:rPr lang="zh-CN" altLang="en-US" sz="1600" dirty="0">
                <a:solidFill>
                  <a:schemeClr val="bg1"/>
                </a:solidFill>
                <a:latin typeface="+mj-ea"/>
                <a:ea typeface="+mj-ea"/>
                <a:cs typeface="Times New Roman" panose="02020603050405020304" pitchFamily="18" charset="0"/>
              </a:rPr>
              <a:t>）是一种特征降维方法，在消除数据噪声、冗余等方面具有广泛应用。主成分分析也被称为</a:t>
            </a:r>
            <a:r>
              <a:rPr lang="en-US" altLang="zh-CN" sz="1600" dirty="0">
                <a:solidFill>
                  <a:schemeClr val="bg1"/>
                </a:solidFill>
                <a:latin typeface="+mj-ea"/>
                <a:ea typeface="+mj-ea"/>
                <a:cs typeface="Times New Roman" panose="02020603050405020304" pitchFamily="18" charset="0"/>
              </a:rPr>
              <a:t>KL</a:t>
            </a:r>
            <a:r>
              <a:rPr lang="zh-CN" altLang="en-US" sz="1600" dirty="0">
                <a:solidFill>
                  <a:schemeClr val="bg1"/>
                </a:solidFill>
                <a:latin typeface="+mj-ea"/>
                <a:ea typeface="+mj-ea"/>
                <a:cs typeface="Times New Roman" panose="02020603050405020304" pitchFamily="18" charset="0"/>
              </a:rPr>
              <a:t>变换（</a:t>
            </a:r>
            <a:r>
              <a:rPr lang="en-US" altLang="zh-CN" sz="1600" dirty="0" err="1">
                <a:solidFill>
                  <a:schemeClr val="bg1"/>
                </a:solidFill>
                <a:latin typeface="+mj-ea"/>
                <a:ea typeface="+mj-ea"/>
                <a:cs typeface="Times New Roman" panose="02020603050405020304" pitchFamily="18" charset="0"/>
              </a:rPr>
              <a:t>Karhunen</a:t>
            </a:r>
            <a:r>
              <a:rPr lang="en-US" altLang="zh-CN" sz="1600" dirty="0">
                <a:solidFill>
                  <a:schemeClr val="bg1"/>
                </a:solidFill>
                <a:latin typeface="+mj-ea"/>
                <a:ea typeface="+mj-ea"/>
                <a:cs typeface="Times New Roman" panose="02020603050405020304" pitchFamily="18" charset="0"/>
              </a:rPr>
              <a:t>–</a:t>
            </a:r>
            <a:r>
              <a:rPr lang="en-US" altLang="zh-CN" sz="1600" dirty="0" err="1">
                <a:solidFill>
                  <a:schemeClr val="bg1"/>
                </a:solidFill>
                <a:latin typeface="+mj-ea"/>
                <a:ea typeface="+mj-ea"/>
                <a:cs typeface="Times New Roman" panose="02020603050405020304" pitchFamily="18" charset="0"/>
              </a:rPr>
              <a:t>Loève</a:t>
            </a:r>
            <a:r>
              <a:rPr lang="en-US" altLang="zh-CN" sz="1600" dirty="0">
                <a:solidFill>
                  <a:schemeClr val="bg1"/>
                </a:solidFill>
                <a:latin typeface="+mj-ea"/>
                <a:ea typeface="+mj-ea"/>
                <a:cs typeface="Times New Roman" panose="02020603050405020304" pitchFamily="18" charset="0"/>
              </a:rPr>
              <a:t> transform, KLT</a:t>
            </a:r>
            <a:r>
              <a:rPr lang="zh-CN" altLang="en-US" sz="1600" dirty="0">
                <a:solidFill>
                  <a:schemeClr val="bg1"/>
                </a:solidFill>
                <a:latin typeface="+mj-ea"/>
                <a:ea typeface="+mj-ea"/>
                <a:cs typeface="Times New Roman" panose="02020603050405020304" pitchFamily="18" charset="0"/>
              </a:rPr>
              <a:t>）、霍林特变换（</a:t>
            </a:r>
            <a:r>
              <a:rPr lang="en-US" altLang="zh-CN" sz="1600" dirty="0" err="1">
                <a:solidFill>
                  <a:schemeClr val="bg1"/>
                </a:solidFill>
                <a:latin typeface="+mj-ea"/>
                <a:ea typeface="+mj-ea"/>
                <a:cs typeface="Times New Roman" panose="02020603050405020304" pitchFamily="18" charset="0"/>
              </a:rPr>
              <a:t>Hotelling</a:t>
            </a:r>
            <a:r>
              <a:rPr lang="en-US" altLang="zh-CN" sz="1600" dirty="0">
                <a:solidFill>
                  <a:schemeClr val="bg1"/>
                </a:solidFill>
                <a:latin typeface="+mj-ea"/>
                <a:ea typeface="+mj-ea"/>
                <a:cs typeface="Times New Roman" panose="02020603050405020304" pitchFamily="18" charset="0"/>
              </a:rPr>
              <a:t> transform</a:t>
            </a:r>
            <a:r>
              <a:rPr lang="zh-CN" altLang="en-US" sz="1600" dirty="0">
                <a:solidFill>
                  <a:schemeClr val="bg1"/>
                </a:solidFill>
                <a:latin typeface="+mj-ea"/>
                <a:ea typeface="+mj-ea"/>
                <a:cs typeface="Times New Roman" panose="02020603050405020304" pitchFamily="18" charset="0"/>
              </a:rPr>
              <a:t>）或者本征正交分解（</a:t>
            </a:r>
            <a:r>
              <a:rPr lang="en-US" altLang="zh-CN" sz="1600" dirty="0">
                <a:solidFill>
                  <a:schemeClr val="bg1"/>
                </a:solidFill>
                <a:latin typeface="+mj-ea"/>
                <a:ea typeface="+mj-ea"/>
                <a:cs typeface="Times New Roman" panose="02020603050405020304" pitchFamily="18" charset="0"/>
              </a:rPr>
              <a:t>proper orthogonal decomposition, POD</a:t>
            </a:r>
            <a:r>
              <a:rPr lang="zh-CN" altLang="en-US" sz="1600" dirty="0">
                <a:solidFill>
                  <a:schemeClr val="bg1"/>
                </a:solidFill>
                <a:latin typeface="+mj-ea"/>
                <a:ea typeface="+mj-ea"/>
                <a:cs typeface="Times New Roman" panose="02020603050405020304" pitchFamily="18" charset="0"/>
              </a:rPr>
              <a:t>）等。</a:t>
            </a:r>
          </a:p>
          <a:p>
            <a:pPr marL="285750" indent="-285750" algn="just">
              <a:lnSpc>
                <a:spcPct val="150000"/>
              </a:lnSpc>
              <a:buFont typeface="Wingdings" panose="05000000000000000000" pitchFamily="2" charset="2"/>
              <a:buChar char="l"/>
            </a:pPr>
            <a:r>
              <a:rPr lang="zh-CN" altLang="en-US" sz="1600" dirty="0">
                <a:solidFill>
                  <a:schemeClr val="bg1"/>
                </a:solidFill>
                <a:latin typeface="+mj-ea"/>
                <a:ea typeface="+mj-ea"/>
                <a:cs typeface="Times New Roman" panose="02020603050405020304" pitchFamily="18" charset="0"/>
              </a:rPr>
              <a:t>顾名思义，</a:t>
            </a:r>
            <a:r>
              <a:rPr lang="zh-CN" altLang="en-US" sz="1600" b="1" dirty="0">
                <a:solidFill>
                  <a:srgbClr val="FFFF00"/>
                </a:solidFill>
                <a:latin typeface="+mj-ea"/>
                <a:ea typeface="+mj-ea"/>
                <a:cs typeface="Times New Roman" panose="02020603050405020304" pitchFamily="18" charset="0"/>
              </a:rPr>
              <a:t>主成分分析即通过分析找到数据特征的主要成分，使用这些主要成分来代替原始数据</a:t>
            </a:r>
            <a:r>
              <a:rPr lang="zh-CN" altLang="en-US" sz="1600" dirty="0">
                <a:solidFill>
                  <a:schemeClr val="bg1"/>
                </a:solidFill>
                <a:latin typeface="+mj-ea"/>
                <a:ea typeface="+mj-ea"/>
                <a:cs typeface="Times New Roman" panose="02020603050405020304" pitchFamily="18" charset="0"/>
              </a:rPr>
              <a:t>。这样一方面可以加深对数据本身的理解（认识到数据的主要成分）；另一方面，简化后的数据（主要成分）在用于下游的其他任务时，有着噪声少、易于处理计算的特点。 这种使用主要成分而不是全部数据的思想也与“如无必要，勿增实体”的奥卡姆剃刀原则相符，体现了“简单有效原理”。</a:t>
            </a:r>
          </a:p>
          <a:p>
            <a:pPr marL="285750" indent="-285750" algn="just">
              <a:lnSpc>
                <a:spcPct val="150000"/>
              </a:lnSpc>
              <a:buFont typeface="Wingdings" panose="05000000000000000000" pitchFamily="2" charset="2"/>
              <a:buChar char="l"/>
            </a:pPr>
            <a:r>
              <a:rPr lang="zh-CN" altLang="en-US" sz="1600" dirty="0">
                <a:solidFill>
                  <a:schemeClr val="bg1"/>
                </a:solidFill>
                <a:latin typeface="+mj-ea"/>
                <a:ea typeface="+mj-ea"/>
                <a:cs typeface="Times New Roman" panose="02020603050405020304" pitchFamily="18" charset="0"/>
              </a:rPr>
              <a:t>主成分分析要求“</a:t>
            </a:r>
            <a:r>
              <a:rPr lang="zh-CN" altLang="en-US" sz="1600" dirty="0">
                <a:solidFill>
                  <a:srgbClr val="FFFF00"/>
                </a:solidFill>
                <a:latin typeface="+mj-ea"/>
                <a:ea typeface="+mj-ea"/>
                <a:cs typeface="Times New Roman" panose="02020603050405020304" pitchFamily="18" charset="0"/>
              </a:rPr>
              <a:t>降维后的结果要保持原始数据的原有结构</a:t>
            </a:r>
            <a:r>
              <a:rPr lang="zh-CN" altLang="en-US" sz="1600" dirty="0">
                <a:solidFill>
                  <a:schemeClr val="bg1"/>
                </a:solidFill>
                <a:latin typeface="+mj-ea"/>
                <a:ea typeface="+mj-ea"/>
                <a:cs typeface="Times New Roman" panose="02020603050405020304" pitchFamily="18" charset="0"/>
              </a:rPr>
              <a:t>”，例如，对于图像数据，要求保持视觉对象区域构成的空间分布；对于文本数据，要求保持单词之间的（共现）相似或不相似的特性。更准确地说，主成分分析要求最大限度保持原始高维数据的总体方差结构。</a:t>
            </a:r>
          </a:p>
          <a:p>
            <a:pPr marL="342900" indent="-342900">
              <a:lnSpc>
                <a:spcPct val="150000"/>
              </a:lnSpc>
              <a:buSzPct val="80000"/>
              <a:buFont typeface="Wingdings" panose="05000000000000000000" pitchFamily="2" charset="2"/>
              <a:buChar char="u"/>
            </a:pPr>
            <a:endParaRPr lang="zh-CN" altLang="en-US" sz="1600" dirty="0">
              <a:solidFill>
                <a:schemeClr val="bg1"/>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Tree>
    <p:extLst>
      <p:ext uri="{BB962C8B-B14F-4D97-AF65-F5344CB8AC3E}">
        <p14:creationId xmlns:p14="http://schemas.microsoft.com/office/powerpoint/2010/main" val="7554206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4217F-8666-DB2A-8D50-0B340061033E}"/>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BC1C059-31E8-9C7B-F04B-6BB3DEFFE1FC}"/>
              </a:ext>
            </a:extLst>
          </p:cNvPr>
          <p:cNvGrpSpPr/>
          <p:nvPr/>
        </p:nvGrpSpPr>
        <p:grpSpPr>
          <a:xfrm>
            <a:off x="336176" y="1738993"/>
            <a:ext cx="11663082" cy="2707502"/>
            <a:chOff x="1099312" y="1723345"/>
            <a:chExt cx="10062913" cy="3432863"/>
          </a:xfrm>
          <a:solidFill>
            <a:schemeClr val="accent5">
              <a:lumMod val="50000"/>
            </a:schemeClr>
          </a:solidFill>
        </p:grpSpPr>
        <p:sp>
          <p:nvSpPr>
            <p:cNvPr id="12" name="立方体 11">
              <a:extLst>
                <a:ext uri="{FF2B5EF4-FFF2-40B4-BE49-F238E27FC236}">
                  <a16:creationId xmlns:a16="http://schemas.microsoft.com/office/drawing/2014/main" id="{6F5B5C5E-2046-BF75-413F-A18F0C8410C7}"/>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3" name="直接连接符 12">
              <a:extLst>
                <a:ext uri="{FF2B5EF4-FFF2-40B4-BE49-F238E27FC236}">
                  <a16:creationId xmlns:a16="http://schemas.microsoft.com/office/drawing/2014/main" id="{F916C964-DD76-76DB-67DB-0F27AB2A2F3D}"/>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D33F11D8-A71E-2C7F-71CE-2C645441B7DE}"/>
                </a:ext>
              </a:extLst>
            </p:cNvPr>
            <p:cNvGrpSpPr/>
            <p:nvPr/>
          </p:nvGrpSpPr>
          <p:grpSpPr>
            <a:xfrm>
              <a:off x="1099312" y="1742007"/>
              <a:ext cx="3220132" cy="3220133"/>
              <a:chOff x="1099312" y="2369187"/>
              <a:chExt cx="3220132" cy="3220133"/>
            </a:xfrm>
            <a:grpFill/>
          </p:grpSpPr>
          <p:cxnSp>
            <p:nvCxnSpPr>
              <p:cNvPr id="16" name="直接连接符 15">
                <a:extLst>
                  <a:ext uri="{FF2B5EF4-FFF2-40B4-BE49-F238E27FC236}">
                    <a16:creationId xmlns:a16="http://schemas.microsoft.com/office/drawing/2014/main" id="{3CEA0222-3D2A-EEBF-69DA-06C0C0A8D383}"/>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7EB613C-7D30-54A1-E398-4A15E5C23CF6}"/>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A3B6D5E5-C387-BA22-0F06-2C045027609B}"/>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6" name="图片 5">
            <a:extLst>
              <a:ext uri="{FF2B5EF4-FFF2-40B4-BE49-F238E27FC236}">
                <a16:creationId xmlns:a16="http://schemas.microsoft.com/office/drawing/2014/main" id="{BD651F32-54EF-E219-E648-565D0F75DA31}"/>
              </a:ext>
            </a:extLst>
          </p:cNvPr>
          <p:cNvPicPr>
            <a:picLocks noChangeAspect="1"/>
          </p:cNvPicPr>
          <p:nvPr/>
        </p:nvPicPr>
        <p:blipFill>
          <a:blip r:embed="rId3"/>
          <a:srcRect b="14886"/>
          <a:stretch/>
        </p:blipFill>
        <p:spPr>
          <a:xfrm>
            <a:off x="6887390" y="4341352"/>
            <a:ext cx="4914644" cy="2394102"/>
          </a:xfrm>
          <a:prstGeom prst="rect">
            <a:avLst/>
          </a:prstGeom>
        </p:spPr>
      </p:pic>
      <p:sp>
        <p:nvSpPr>
          <p:cNvPr id="7" name="矩形 6">
            <a:extLst>
              <a:ext uri="{FF2B5EF4-FFF2-40B4-BE49-F238E27FC236}">
                <a16:creationId xmlns:a16="http://schemas.microsoft.com/office/drawing/2014/main" id="{73DA22E1-6EC8-674B-CD1F-DA608C6D4843}"/>
              </a:ext>
            </a:extLst>
          </p:cNvPr>
          <p:cNvSpPr/>
          <p:nvPr/>
        </p:nvSpPr>
        <p:spPr>
          <a:xfrm>
            <a:off x="459765" y="4533370"/>
            <a:ext cx="6450603" cy="1705403"/>
          </a:xfrm>
          <a:prstGeom prst="rect">
            <a:avLst/>
          </a:prstGeom>
        </p:spPr>
        <p:txBody>
          <a:bodyPr wrap="square">
            <a:spAutoFit/>
          </a:bodyPr>
          <a:lstStyle/>
          <a:p>
            <a:pPr>
              <a:lnSpc>
                <a:spcPct val="150000"/>
              </a:lnSpc>
            </a:pPr>
            <a:r>
              <a:rPr lang="zh-CN" altLang="zh-CN" dirty="0" smtClean="0">
                <a:latin typeface="微软雅黑" panose="020B0503020204020204" pitchFamily="34" charset="-122"/>
                <a:ea typeface="微软雅黑" panose="020B0503020204020204" pitchFamily="34" charset="-122"/>
                <a:cs typeface="Times New Roman" panose="02020603050405020304" pitchFamily="18" charset="0"/>
              </a:rPr>
              <a:t>如</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左图所示，向</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𝑦</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方向投影（使得二维数据映射为一维）就比向</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𝑥</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方向投影结果在降维这个意义上而言要好；右图则是黄线方向投影要好。这样的投影结果更好的保留了未降维前数据的离散程度。</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B4BF473-BBB6-A9F2-9DF5-576889B18564}"/>
                  </a:ext>
                </a:extLst>
              </p:cNvPr>
              <p:cNvSpPr txBox="1"/>
              <p:nvPr/>
            </p:nvSpPr>
            <p:spPr>
              <a:xfrm>
                <a:off x="760098" y="1793064"/>
                <a:ext cx="10734642" cy="2308324"/>
              </a:xfrm>
              <a:prstGeom prst="rect">
                <a:avLst/>
              </a:prstGeom>
              <a:noFill/>
            </p:spPr>
            <p:txBody>
              <a:bodyPr wrap="square">
                <a:spAutoFit/>
              </a:bodyPr>
              <a:lstStyle/>
              <a:p>
                <a:pPr>
                  <a:lnSpc>
                    <a:spcPct val="200000"/>
                  </a:lnSpc>
                </a:pPr>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主成分分析（</a:t>
                </a:r>
                <a:r>
                  <a:rPr lang="en-US"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Principle Component Analysis</a:t>
                </a:r>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）的思想是将</a:t>
                </a:r>
                <a14:m>
                  <m:oMath xmlns:m="http://schemas.openxmlformats.org/officeDocument/2006/math">
                    <m:r>
                      <a:rPr lang="en-US" altLang="zh-CN" i="1">
                        <a:solidFill>
                          <a:schemeClr val="bg1"/>
                        </a:solidFill>
                        <a:latin typeface="Cambria Math" panose="02040503050406030204" pitchFamily="18" charset="0"/>
                        <a:ea typeface="等线" panose="02010600030101010101" pitchFamily="2" charset="-122"/>
                        <a:cs typeface="Times New Roman" panose="02020603050405020304" pitchFamily="18" charset="0"/>
                      </a:rPr>
                      <m:t>𝑑</m:t>
                    </m:r>
                  </m:oMath>
                </a14:m>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维特征数据映射到</a:t>
                </a:r>
                <a:r>
                  <a:rPr lang="en-US"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𝑙</a:t>
                </a:r>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维空间（一般</a:t>
                </a:r>
                <a14:m>
                  <m:oMath xmlns:m="http://schemas.openxmlformats.org/officeDocument/2006/math">
                    <m:r>
                      <a:rPr lang="en-US" altLang="zh-CN" i="1">
                        <a:solidFill>
                          <a:schemeClr val="bg1"/>
                        </a:solidFill>
                        <a:latin typeface="Cambria Math" panose="02040503050406030204" pitchFamily="18" charset="0"/>
                        <a:ea typeface="等线" panose="02010600030101010101" pitchFamily="2" charset="-122"/>
                        <a:cs typeface="Times New Roman" panose="02020603050405020304" pitchFamily="18" charset="0"/>
                      </a:rPr>
                      <m:t>𝑑</m:t>
                    </m:r>
                    <m:r>
                      <a:rPr lang="en-US" altLang="zh-CN" i="1">
                        <a:solidFill>
                          <a:schemeClr val="bg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a:solidFill>
                          <a:schemeClr val="bg1"/>
                        </a:solidFill>
                        <a:latin typeface="Cambria Math" panose="02040503050406030204" pitchFamily="18" charset="0"/>
                        <a:ea typeface="等线" panose="02010600030101010101" pitchFamily="2" charset="-122"/>
                        <a:cs typeface="Times New Roman" panose="02020603050405020304" pitchFamily="18" charset="0"/>
                      </a:rPr>
                      <m:t>𝑙</m:t>
                    </m:r>
                  </m:oMath>
                </a14:m>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），去除原始数据之间的冗余性（通过去除相关性手段达到这一目的）。</a:t>
                </a:r>
                <a:r>
                  <a:rPr lang="zh-CN" altLang="zh-CN"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将原始数据向这些数据方差最大的方向进行投影。</a:t>
                </a:r>
                <a:r>
                  <a:rPr lang="zh-CN" altLang="zh-CN"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一旦发现了方差最大的投影方向，则继续寻找保持方差第二的方向且进行投影。其目标是使得数据每一维的方差都尽可能大。</a:t>
                </a:r>
                <a:endPar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6B4BF473-BBB6-A9F2-9DF5-576889B18564}"/>
                  </a:ext>
                </a:extLst>
              </p:cNvPr>
              <p:cNvSpPr txBox="1">
                <a:spLocks noRot="1" noChangeAspect="1" noMove="1" noResize="1" noEditPoints="1" noAdjustHandles="1" noChangeArrowheads="1" noChangeShapeType="1" noTextEdit="1"/>
              </p:cNvSpPr>
              <p:nvPr/>
            </p:nvSpPr>
            <p:spPr>
              <a:xfrm>
                <a:off x="760098" y="1793064"/>
                <a:ext cx="10734642" cy="2308324"/>
              </a:xfrm>
              <a:prstGeom prst="rect">
                <a:avLst/>
              </a:prstGeom>
              <a:blipFill>
                <a:blip r:embed="rId4"/>
                <a:stretch>
                  <a:fillRect l="-511" r="-284"/>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88608126-7205-31CA-958D-B4DD9FA669E3}"/>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1E9B27D0-CF5F-B3B2-6AEE-3AA8AA0C016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平行四边形 19">
              <a:extLst>
                <a:ext uri="{FF2B5EF4-FFF2-40B4-BE49-F238E27FC236}">
                  <a16:creationId xmlns:a16="http://schemas.microsoft.com/office/drawing/2014/main" id="{1E6A1531-26B5-6EDF-C80A-3E51E48DC56B}"/>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1" name="矩形 20">
              <a:extLst>
                <a:ext uri="{FF2B5EF4-FFF2-40B4-BE49-F238E27FC236}">
                  <a16:creationId xmlns:a16="http://schemas.microsoft.com/office/drawing/2014/main" id="{416B6C06-820D-4334-05B5-750F80466FBA}"/>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773966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FB04668-50A1-4FF3-B463-119349B90DE6}"/>
                  </a:ext>
                </a:extLst>
              </p:cNvPr>
              <p:cNvSpPr/>
              <p:nvPr/>
            </p:nvSpPr>
            <p:spPr>
              <a:xfrm>
                <a:off x="369068" y="1018305"/>
                <a:ext cx="11536148" cy="6790833"/>
              </a:xfrm>
              <a:prstGeom prst="rect">
                <a:avLst/>
              </a:prstGeom>
            </p:spPr>
            <p:txBody>
              <a:bodyPr wrap="square">
                <a:spAutoFit/>
              </a:bodyPr>
              <a:lstStyle/>
              <a:p>
                <a:pPr indent="267970" algn="just">
                  <a:lnSpc>
                    <a:spcPct val="150000"/>
                  </a:lnSpc>
                  <a:spcAft>
                    <a:spcPts val="0"/>
                  </a:spcAft>
                </a:pPr>
                <a:r>
                  <a:rPr lang="zh-CN" altLang="zh-CN" sz="2000" b="1" dirty="0">
                    <a:solidFill>
                      <a:srgbClr val="000000"/>
                    </a:solidFill>
                    <a:latin typeface="+mj-ea"/>
                    <a:ea typeface="+mj-ea"/>
                    <a:cs typeface="Times New Roman" panose="02020603050405020304" pitchFamily="18" charset="0"/>
                  </a:rPr>
                  <a:t>方差 </a:t>
                </a:r>
                <a:r>
                  <a:rPr lang="zh-CN" altLang="zh-CN" sz="2000" dirty="0">
                    <a:solidFill>
                      <a:srgbClr val="000000"/>
                    </a:solidFill>
                    <a:latin typeface="+mj-ea"/>
                    <a:ea typeface="+mj-ea"/>
                    <a:cs typeface="Times New Roman" panose="02020603050405020304" pitchFamily="18" charset="0"/>
                  </a:rPr>
                  <a:t> 方差描述了样本数据的波动程度，数值上等于各个数据与样本均值之差的平方和之平均数，假设有</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𝑛</m:t>
                    </m:r>
                  </m:oMath>
                </a14:m>
                <a:r>
                  <a:rPr lang="zh-CN" altLang="zh-CN" sz="2000" dirty="0">
                    <a:solidFill>
                      <a:srgbClr val="000000"/>
                    </a:solidFill>
                    <a:latin typeface="+mj-ea"/>
                    <a:ea typeface="+mj-ea"/>
                    <a:cs typeface="Times New Roman" panose="02020603050405020304" pitchFamily="18" charset="0"/>
                  </a:rPr>
                  <a:t>个数据，记为</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𝑋</m:t>
                    </m:r>
                    <m:r>
                      <a:rPr lang="en-US" altLang="zh-CN" sz="2000">
                        <a:solidFill>
                          <a:srgbClr val="000000"/>
                        </a:solidFill>
                        <a:latin typeface="Cambria Math" panose="02040503050406030204" pitchFamily="18" charset="0"/>
                        <a:ea typeface="+mj-ea"/>
                        <a:cs typeface="Times New Roman" panose="02020603050405020304" pitchFamily="18" charset="0"/>
                      </a:rPr>
                      <m:t>=</m:t>
                    </m:r>
                    <m:d>
                      <m:dPr>
                        <m:begChr m:val="{"/>
                        <m:endChr m:val="}"/>
                        <m:ctrlPr>
                          <a:rPr lang="zh-CN" altLang="zh-CN" sz="2000" i="1">
                            <a:solidFill>
                              <a:srgbClr val="000000"/>
                            </a:solidFill>
                            <a:latin typeface="Cambria Math" panose="02040503050406030204" pitchFamily="18" charset="0"/>
                            <a:ea typeface="+mj-ea"/>
                            <a:cs typeface="Times New Roman" panose="02020603050405020304" pitchFamily="18" charset="0"/>
                          </a:rPr>
                        </m:ctrlPr>
                      </m:dPr>
                      <m:e>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𝑥</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e>
                    </m:d>
                    <m:r>
                      <a:rPr lang="en-US" altLang="zh-CN" sz="2000" i="1">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𝑖</m:t>
                    </m:r>
                    <m:r>
                      <a:rPr lang="en-US" altLang="zh-CN" sz="2000" i="1">
                        <a:solidFill>
                          <a:srgbClr val="000000"/>
                        </a:solidFill>
                        <a:latin typeface="Cambria Math" panose="02040503050406030204" pitchFamily="18" charset="0"/>
                        <a:ea typeface="+mj-ea"/>
                        <a:cs typeface="Times New Roman" panose="02020603050405020304" pitchFamily="18" charset="0"/>
                      </a:rPr>
                      <m:t>=1,…,</m:t>
                    </m:r>
                    <m:r>
                      <a:rPr lang="en-US" altLang="zh-CN" sz="2000" i="1">
                        <a:solidFill>
                          <a:srgbClr val="000000"/>
                        </a:solidFill>
                        <a:latin typeface="Cambria Math" panose="02040503050406030204" pitchFamily="18" charset="0"/>
                        <a:ea typeface="+mj-ea"/>
                        <a:cs typeface="Times New Roman" panose="02020603050405020304" pitchFamily="18" charset="0"/>
                      </a:rPr>
                      <m:t>𝑛</m:t>
                    </m:r>
                    <m:r>
                      <a:rPr lang="en-US" altLang="zh-CN" sz="2000" i="1">
                        <a:solidFill>
                          <a:srgbClr val="000000"/>
                        </a:solidFill>
                        <a:latin typeface="Cambria Math" panose="02040503050406030204" pitchFamily="18" charset="0"/>
                        <a:ea typeface="+mj-ea"/>
                        <a:cs typeface="Times New Roman" panose="02020603050405020304" pitchFamily="18" charset="0"/>
                      </a:rPr>
                      <m:t>)</m:t>
                    </m:r>
                  </m:oMath>
                </a14:m>
                <a:r>
                  <a:rPr lang="zh-CN" altLang="zh-CN" sz="2000" dirty="0">
                    <a:solidFill>
                      <a:srgbClr val="000000"/>
                    </a:solidFill>
                    <a:latin typeface="+mj-ea"/>
                    <a:ea typeface="+mj-ea"/>
                    <a:cs typeface="Times New Roman" panose="02020603050405020304" pitchFamily="18" charset="0"/>
                  </a:rPr>
                  <a:t>，那么样本方差（</a:t>
                </a:r>
                <a:r>
                  <a:rPr lang="en-US" altLang="zh-CN" sz="2000" dirty="0">
                    <a:solidFill>
                      <a:srgbClr val="000000"/>
                    </a:solidFill>
                    <a:latin typeface="+mj-ea"/>
                    <a:ea typeface="+mj-ea"/>
                    <a:cs typeface="Times New Roman" panose="02020603050405020304" pitchFamily="18" charset="0"/>
                  </a:rPr>
                  <a:t>sample variance</a:t>
                </a:r>
                <a:r>
                  <a:rPr lang="zh-CN" altLang="zh-CN" sz="2000" dirty="0">
                    <a:solidFill>
                      <a:srgbClr val="000000"/>
                    </a:solidFill>
                    <a:latin typeface="+mj-ea"/>
                    <a:ea typeface="+mj-ea"/>
                    <a:cs typeface="Times New Roman" panose="02020603050405020304" pitchFamily="18" charset="0"/>
                  </a:rPr>
                  <a:t>）即为</a:t>
                </a:r>
              </a:p>
              <a:p>
                <a:pPr algn="just">
                  <a:spcAft>
                    <a:spcPts val="0"/>
                  </a:spcAft>
                </a:pPr>
                <a14:m>
                  <m:oMathPara xmlns:m="http://schemas.openxmlformats.org/officeDocument/2006/math">
                    <m:oMathParaPr>
                      <m:jc m:val="centerGroup"/>
                    </m:oMathParaPr>
                    <m:oMath xmlns:m="http://schemas.openxmlformats.org/officeDocument/2006/math">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var</m:t>
                      </m:r>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e>
                      </m:d>
                      <m:r>
                        <a:rPr lang="en-US" altLang="zh-CN" sz="2000" kern="1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fPr>
                        <m:num>
                          <m:r>
                            <a:rPr lang="en-US" altLang="zh-CN" sz="2000" i="1" kern="100">
                              <a:solidFill>
                                <a:srgbClr val="000000"/>
                              </a:solidFill>
                              <a:latin typeface="Cambria Math" panose="02040503050406030204" pitchFamily="18" charset="0"/>
                              <a:ea typeface="+mj-ea"/>
                              <a:cs typeface="Times New Roman" panose="02020603050405020304" pitchFamily="18" charset="0"/>
                            </a:rPr>
                            <m:t>1</m:t>
                          </m:r>
                        </m:num>
                        <m:den>
                          <m:r>
                            <a:rPr lang="en-US" altLang="zh-CN" sz="2000" i="1" kern="100">
                              <a:solidFill>
                                <a:srgbClr val="000000"/>
                              </a:solidFill>
                              <a:latin typeface="Cambria Math" panose="02040503050406030204" pitchFamily="18" charset="0"/>
                              <a:ea typeface="+mj-ea"/>
                              <a:cs typeface="Times New Roman" panose="02020603050405020304" pitchFamily="18" charset="0"/>
                            </a:rPr>
                            <m:t>𝑛</m:t>
                          </m:r>
                          <m:r>
                            <a:rPr lang="en-US" altLang="zh-CN" sz="2000" i="1" kern="100">
                              <a:solidFill>
                                <a:srgbClr val="000000"/>
                              </a:solidFill>
                              <a:latin typeface="Cambria Math" panose="02040503050406030204" pitchFamily="18" charset="0"/>
                              <a:ea typeface="+mj-ea"/>
                              <a:cs typeface="Times New Roman" panose="02020603050405020304" pitchFamily="18" charset="0"/>
                            </a:rPr>
                            <m:t>−1</m:t>
                          </m:r>
                        </m:den>
                      </m:f>
                      <m:nary>
                        <m:naryPr>
                          <m:chr m:val="∑"/>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naryPr>
                        <m:sub>
                          <m:r>
                            <a:rPr lang="en-US" altLang="zh-CN" sz="2000" i="1" kern="100">
                              <a:solidFill>
                                <a:srgbClr val="000000"/>
                              </a:solidFill>
                              <a:latin typeface="Cambria Math" panose="02040503050406030204" pitchFamily="18" charset="0"/>
                              <a:ea typeface="+mj-ea"/>
                              <a:cs typeface="Times New Roman" panose="02020603050405020304" pitchFamily="18" charset="0"/>
                            </a:rPr>
                            <m:t>𝑖</m:t>
                          </m:r>
                          <m:r>
                            <a:rPr lang="en-US" altLang="zh-CN" sz="2000" i="1" kern="100">
                              <a:solidFill>
                                <a:srgbClr val="000000"/>
                              </a:solidFill>
                              <a:latin typeface="Cambria Math" panose="02040503050406030204" pitchFamily="18" charset="0"/>
                              <a:ea typeface="+mj-ea"/>
                              <a:cs typeface="Times New Roman" panose="02020603050405020304" pitchFamily="18" charset="0"/>
                            </a:rPr>
                            <m:t>=1</m:t>
                          </m:r>
                        </m:sub>
                        <m:sup>
                          <m:r>
                            <a:rPr lang="en-US" altLang="zh-CN" sz="2000" i="1" kern="100">
                              <a:solidFill>
                                <a:srgbClr val="000000"/>
                              </a:solidFill>
                              <a:latin typeface="Cambria Math" panose="02040503050406030204" pitchFamily="18" charset="0"/>
                              <a:ea typeface="+mj-ea"/>
                              <a:cs typeface="Times New Roman" panose="02020603050405020304" pitchFamily="18" charset="0"/>
                            </a:rPr>
                            <m:t>𝑛</m:t>
                          </m:r>
                        </m:sup>
                        <m:e>
                          <m:sSup>
                            <m:sSupPr>
                              <m:ctrlPr>
                                <a:rPr lang="zh-CN" altLang="zh-CN" sz="2000" b="1" i="1" kern="100">
                                  <a:solidFill>
                                    <a:srgbClr val="000000"/>
                                  </a:solidFill>
                                  <a:latin typeface="Cambria Math" panose="02040503050406030204" pitchFamily="18" charset="0"/>
                                  <a:ea typeface="+mj-ea"/>
                                  <a:cs typeface="Times New Roman" panose="02020603050405020304" pitchFamily="18" charset="0"/>
                                </a:rPr>
                              </m:ctrlPr>
                            </m:sSupPr>
                            <m:e>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sSub>
                                    <m:sSub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mj-ea"/>
                                          <a:cs typeface="Times New Roman" panose="02020603050405020304" pitchFamily="18" charset="0"/>
                                        </a:rPr>
                                        <m:t>𝑥</m:t>
                                      </m:r>
                                    </m:e>
                                    <m:sub>
                                      <m:r>
                                        <a:rPr lang="en-US" altLang="zh-CN" sz="2000" i="1" kern="100">
                                          <a:solidFill>
                                            <a:srgbClr val="000000"/>
                                          </a:solidFill>
                                          <a:latin typeface="Cambria Math" panose="02040503050406030204" pitchFamily="18" charset="0"/>
                                          <a:ea typeface="+mj-ea"/>
                                          <a:cs typeface="Times New Roman" panose="02020603050405020304" pitchFamily="18" charset="0"/>
                                        </a:rPr>
                                        <m:t>𝑖</m:t>
                                      </m:r>
                                    </m:sub>
                                  </m:sSub>
                                  <m:r>
                                    <a:rPr lang="en-US" altLang="zh-CN" sz="2000" i="1" kern="100">
                                      <a:solidFill>
                                        <a:srgbClr val="000000"/>
                                      </a:solidFill>
                                      <a:latin typeface="Cambria Math" panose="02040503050406030204" pitchFamily="18" charset="0"/>
                                      <a:ea typeface="+mj-ea"/>
                                      <a:cs typeface="Times New Roman" panose="02020603050405020304" pitchFamily="18" charset="0"/>
                                    </a:rPr>
                                    <m:t> −</m:t>
                                  </m:r>
                                  <m:r>
                                    <a:rPr lang="en-US" altLang="zh-CN" sz="2000" i="1" kern="100">
                                      <a:solidFill>
                                        <a:srgbClr val="000000"/>
                                      </a:solidFill>
                                      <a:latin typeface="Cambria Math" panose="02040503050406030204" pitchFamily="18" charset="0"/>
                                      <a:ea typeface="+mj-ea"/>
                                      <a:cs typeface="Times New Roman" panose="02020603050405020304" pitchFamily="18" charset="0"/>
                                    </a:rPr>
                                    <m:t>𝑢</m:t>
                                  </m:r>
                                </m:e>
                              </m:d>
                            </m:e>
                            <m:sup>
                              <m:r>
                                <a:rPr lang="en-US" altLang="zh-CN" sz="2000" i="1" kern="100">
                                  <a:solidFill>
                                    <a:srgbClr val="000000"/>
                                  </a:solidFill>
                                  <a:latin typeface="Cambria Math" panose="02040503050406030204" pitchFamily="18" charset="0"/>
                                  <a:ea typeface="+mj-ea"/>
                                  <a:cs typeface="Times New Roman" panose="02020603050405020304" pitchFamily="18" charset="0"/>
                                </a:rPr>
                                <m:t>2</m:t>
                              </m:r>
                            </m:sup>
                          </m:sSup>
                          <m:r>
                            <a:rPr lang="en-US" altLang="zh-CN" sz="2000" i="1" kern="100">
                              <a:solidFill>
                                <a:srgbClr val="000000"/>
                              </a:solidFill>
                              <a:latin typeface="Cambria Math" panose="02040503050406030204" pitchFamily="18" charset="0"/>
                              <a:ea typeface="+mj-ea"/>
                              <a:cs typeface="Times New Roman" panose="02020603050405020304" pitchFamily="18" charset="0"/>
                            </a:rPr>
                            <m:t> </m:t>
                          </m:r>
                        </m:e>
                      </m:nary>
                      <m:r>
                        <a:rPr lang="en-US" altLang="zh-CN" sz="2000" i="1" kern="100">
                          <a:solidFill>
                            <a:srgbClr val="000000"/>
                          </a:solidFill>
                          <a:latin typeface="Cambria Math" panose="02040503050406030204" pitchFamily="18" charset="0"/>
                          <a:ea typeface="+mj-ea"/>
                          <a:cs typeface="Times New Roman" panose="02020603050405020304" pitchFamily="18" charset="0"/>
                        </a:rPr>
                        <m:t> </m:t>
                      </m:r>
                      <m:r>
                        <a:rPr lang="en-US" altLang="zh-CN" sz="2000" kern="100">
                          <a:solidFill>
                            <a:srgbClr val="000000"/>
                          </a:solidFill>
                          <a:latin typeface="Cambria Math" panose="02040503050406030204" pitchFamily="18" charset="0"/>
                          <a:ea typeface="+mj-ea"/>
                          <a:cs typeface="Times New Roman" panose="02020603050405020304" pitchFamily="18" charset="0"/>
                        </a:rPr>
                        <m:t> </m:t>
                      </m:r>
                    </m:oMath>
                  </m:oMathPara>
                </a14:m>
                <a:endParaRPr lang="zh-CN" altLang="zh-CN" sz="2000" kern="100" dirty="0">
                  <a:latin typeface="+mj-ea"/>
                  <a:ea typeface="+mj-ea"/>
                  <a:cs typeface="Times New Roman" panose="02020603050405020304" pitchFamily="18" charset="0"/>
                </a:endParaRPr>
              </a:p>
              <a:p>
                <a:pPr indent="266700" algn="just">
                  <a:lnSpc>
                    <a:spcPct val="150000"/>
                  </a:lnSpc>
                  <a:spcAft>
                    <a:spcPts val="0"/>
                  </a:spcAft>
                </a:pPr>
                <a:r>
                  <a:rPr lang="zh-CN" altLang="zh-CN" sz="2000" dirty="0">
                    <a:solidFill>
                      <a:srgbClr val="000000"/>
                    </a:solidFill>
                    <a:latin typeface="+mj-ea"/>
                    <a:ea typeface="+mj-ea"/>
                    <a:cs typeface="Times New Roman" panose="02020603050405020304" pitchFamily="18" charset="0"/>
                  </a:rPr>
                  <a:t>其中</a:t>
                </a:r>
                <a:r>
                  <a:rPr lang="en-US" altLang="zh-CN" sz="2000" dirty="0">
                    <a:solidFill>
                      <a:srgbClr val="000000"/>
                    </a:solidFill>
                    <a:latin typeface="+mj-ea"/>
                    <a:ea typeface="+mj-ea"/>
                    <a:cs typeface="Times New Roman" panose="02020603050405020304" pitchFamily="18" charset="0"/>
                  </a:rPr>
                  <a:t>𝑢</a:t>
                </a:r>
                <a:r>
                  <a:rPr lang="zh-CN" altLang="zh-CN" sz="2000" dirty="0">
                    <a:solidFill>
                      <a:srgbClr val="000000"/>
                    </a:solidFill>
                    <a:latin typeface="+mj-ea"/>
                    <a:ea typeface="+mj-ea"/>
                    <a:cs typeface="Times New Roman" panose="02020603050405020304" pitchFamily="18" charset="0"/>
                  </a:rPr>
                  <a:t>是样本均值，</a:t>
                </a:r>
                <a14:m>
                  <m:oMath xmlns:m="http://schemas.openxmlformats.org/officeDocument/2006/math">
                    <m:r>
                      <a:rPr lang="zh-CN" altLang="zh-CN" sz="2000" i="1">
                        <a:solidFill>
                          <a:srgbClr val="000000"/>
                        </a:solidFill>
                        <a:latin typeface="Cambria Math" panose="02040503050406030204" pitchFamily="18" charset="0"/>
                        <a:ea typeface="+mj-ea"/>
                        <a:cs typeface="Times New Roman" panose="02020603050405020304" pitchFamily="18" charset="0"/>
                      </a:rPr>
                      <m:t> </m:t>
                    </m:r>
                    <m:r>
                      <a:rPr lang="en-US" altLang="zh-CN" sz="2000" i="1">
                        <a:solidFill>
                          <a:srgbClr val="000000"/>
                        </a:solidFill>
                        <a:latin typeface="Cambria Math" panose="02040503050406030204" pitchFamily="18" charset="0"/>
                        <a:ea typeface="+mj-ea"/>
                        <a:cs typeface="Times New Roman" panose="02020603050405020304" pitchFamily="18" charset="0"/>
                      </a:rPr>
                      <m:t>𝑢</m:t>
                    </m:r>
                    <m:r>
                      <a:rPr lang="en-US" altLang="zh-CN" sz="2000" i="1">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a:solidFill>
                              <a:srgbClr val="000000"/>
                            </a:solidFill>
                            <a:latin typeface="Cambria Math" panose="02040503050406030204" pitchFamily="18" charset="0"/>
                            <a:ea typeface="+mj-ea"/>
                            <a:cs typeface="Times New Roman" panose="02020603050405020304" pitchFamily="18" charset="0"/>
                          </a:rPr>
                        </m:ctrlPr>
                      </m:fPr>
                      <m:num>
                        <m:r>
                          <a:rPr lang="en-US" altLang="zh-CN" sz="2000" i="1">
                            <a:solidFill>
                              <a:srgbClr val="000000"/>
                            </a:solidFill>
                            <a:latin typeface="Cambria Math" panose="02040503050406030204" pitchFamily="18" charset="0"/>
                            <a:ea typeface="+mj-ea"/>
                            <a:cs typeface="Times New Roman" panose="02020603050405020304" pitchFamily="18" charset="0"/>
                          </a:rPr>
                          <m:t>1</m:t>
                        </m:r>
                      </m:num>
                      <m:den>
                        <m:r>
                          <a:rPr lang="en-US" altLang="zh-CN" sz="2000" i="1">
                            <a:solidFill>
                              <a:srgbClr val="000000"/>
                            </a:solidFill>
                            <a:latin typeface="Cambria Math" panose="02040503050406030204" pitchFamily="18" charset="0"/>
                            <a:ea typeface="+mj-ea"/>
                            <a:cs typeface="Times New Roman" panose="02020603050405020304" pitchFamily="18" charset="0"/>
                          </a:rPr>
                          <m:t>𝑛</m:t>
                        </m:r>
                      </m:den>
                    </m:f>
                    <m:nary>
                      <m:naryPr>
                        <m:chr m:val="∑"/>
                        <m:ctrlPr>
                          <a:rPr lang="zh-CN" altLang="zh-CN" sz="2000" i="1">
                            <a:solidFill>
                              <a:srgbClr val="000000"/>
                            </a:solidFill>
                            <a:latin typeface="Cambria Math" panose="02040503050406030204" pitchFamily="18" charset="0"/>
                            <a:ea typeface="+mj-ea"/>
                            <a:cs typeface="Times New Roman" panose="02020603050405020304" pitchFamily="18" charset="0"/>
                          </a:rPr>
                        </m:ctrlPr>
                      </m:naryPr>
                      <m:sub>
                        <m:r>
                          <a:rPr lang="en-US" altLang="zh-CN" sz="2000" i="1">
                            <a:solidFill>
                              <a:srgbClr val="000000"/>
                            </a:solidFill>
                            <a:latin typeface="Cambria Math" panose="02040503050406030204" pitchFamily="18" charset="0"/>
                            <a:ea typeface="+mj-ea"/>
                            <a:cs typeface="Times New Roman" panose="02020603050405020304" pitchFamily="18" charset="0"/>
                          </a:rPr>
                          <m:t>𝑖</m:t>
                        </m:r>
                        <m:r>
                          <a:rPr lang="en-US" altLang="zh-CN" sz="2000" i="1">
                            <a:solidFill>
                              <a:srgbClr val="000000"/>
                            </a:solidFill>
                            <a:latin typeface="Cambria Math" panose="02040503050406030204" pitchFamily="18" charset="0"/>
                            <a:ea typeface="+mj-ea"/>
                            <a:cs typeface="Times New Roman" panose="02020603050405020304" pitchFamily="18" charset="0"/>
                          </a:rPr>
                          <m:t>=1</m:t>
                        </m:r>
                      </m:sub>
                      <m:sup>
                        <m:r>
                          <a:rPr lang="en-US" altLang="zh-CN" sz="2000" i="1">
                            <a:solidFill>
                              <a:srgbClr val="000000"/>
                            </a:solidFill>
                            <a:latin typeface="Cambria Math" panose="02040503050406030204" pitchFamily="18" charset="0"/>
                            <a:ea typeface="+mj-ea"/>
                            <a:cs typeface="Times New Roman" panose="02020603050405020304" pitchFamily="18" charset="0"/>
                          </a:rPr>
                          <m:t>𝑛</m:t>
                        </m:r>
                      </m:sup>
                      <m:e>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𝑥</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e>
                    </m:nary>
                  </m:oMath>
                </a14:m>
                <a:r>
                  <a:rPr lang="zh-CN" altLang="zh-CN" sz="2000" dirty="0">
                    <a:solidFill>
                      <a:srgbClr val="000000"/>
                    </a:solidFill>
                    <a:latin typeface="+mj-ea"/>
                    <a:ea typeface="+mj-ea"/>
                    <a:cs typeface="Times New Roman" panose="02020603050405020304" pitchFamily="18" charset="0"/>
                  </a:rPr>
                  <a:t>。上述样本方差公式里分母为</a:t>
                </a:r>
                <a14:m>
                  <m:oMath xmlns:m="http://schemas.openxmlformats.org/officeDocument/2006/math">
                    <m:r>
                      <m:rPr>
                        <m:sty m:val="p"/>
                      </m:rPr>
                      <a:rPr lang="en-US" altLang="zh-CN" sz="2000">
                        <a:solidFill>
                          <a:srgbClr val="000000"/>
                        </a:solidFill>
                        <a:latin typeface="Cambria Math" panose="02040503050406030204" pitchFamily="18" charset="0"/>
                        <a:ea typeface="+mj-ea"/>
                        <a:cs typeface="Times New Roman" panose="02020603050405020304" pitchFamily="18" charset="0"/>
                      </a:rPr>
                      <m:t>n</m:t>
                    </m:r>
                    <m:r>
                      <a:rPr lang="en-US" altLang="zh-CN" sz="2000" i="1">
                        <a:solidFill>
                          <a:srgbClr val="000000"/>
                        </a:solidFill>
                        <a:latin typeface="Cambria Math" panose="02040503050406030204" pitchFamily="18" charset="0"/>
                        <a:ea typeface="+mj-ea"/>
                        <a:cs typeface="Times New Roman" panose="02020603050405020304" pitchFamily="18" charset="0"/>
                      </a:rPr>
                      <m:t>−</m:t>
                    </m:r>
                    <m:r>
                      <a:rPr lang="en-US" altLang="zh-CN" sz="2000">
                        <a:solidFill>
                          <a:srgbClr val="000000"/>
                        </a:solidFill>
                        <a:latin typeface="Cambria Math" panose="02040503050406030204" pitchFamily="18" charset="0"/>
                        <a:ea typeface="+mj-ea"/>
                        <a:cs typeface="Times New Roman" panose="02020603050405020304" pitchFamily="18" charset="0"/>
                      </a:rPr>
                      <m:t>1</m:t>
                    </m:r>
                  </m:oMath>
                </a14:m>
                <a:r>
                  <a:rPr lang="zh-CN" altLang="zh-CN" sz="2000" dirty="0">
                    <a:solidFill>
                      <a:srgbClr val="000000"/>
                    </a:solidFill>
                    <a:latin typeface="+mj-ea"/>
                    <a:ea typeface="+mj-ea"/>
                    <a:cs typeface="Times New Roman" panose="02020603050405020304" pitchFamily="18" charset="0"/>
                  </a:rPr>
                  <a:t>的目的是为了让对方差的估计是无偏估计</a:t>
                </a:r>
                <a:r>
                  <a:rPr lang="en-US" altLang="zh-CN" sz="2000" dirty="0">
                    <a:solidFill>
                      <a:srgbClr val="000000"/>
                    </a:solidFill>
                    <a:latin typeface="+mj-ea"/>
                    <a:ea typeface="+mj-ea"/>
                    <a:cs typeface="Times New Roman" panose="02020603050405020304" pitchFamily="18" charset="0"/>
                  </a:rPr>
                  <a:t> (unbiased estimator)</a:t>
                </a:r>
                <a:r>
                  <a:rPr lang="zh-CN" altLang="zh-CN" sz="2000" dirty="0">
                    <a:solidFill>
                      <a:srgbClr val="000000"/>
                    </a:solidFill>
                    <a:latin typeface="+mj-ea"/>
                    <a:ea typeface="+mj-ea"/>
                    <a:cs typeface="Times New Roman" panose="02020603050405020304" pitchFamily="18" charset="0"/>
                  </a:rPr>
                  <a:t>。</a:t>
                </a:r>
                <a:endParaRPr lang="en-US" altLang="zh-CN" sz="2000" dirty="0">
                  <a:solidFill>
                    <a:srgbClr val="000000"/>
                  </a:solidFill>
                  <a:latin typeface="+mj-ea"/>
                  <a:ea typeface="+mj-ea"/>
                  <a:cs typeface="Times New Roman" panose="02020603050405020304" pitchFamily="18" charset="0"/>
                </a:endParaRPr>
              </a:p>
              <a:p>
                <a:pPr indent="266700" algn="just">
                  <a:lnSpc>
                    <a:spcPct val="150000"/>
                  </a:lnSpc>
                  <a:spcAft>
                    <a:spcPts val="0"/>
                  </a:spcAft>
                </a:pPr>
                <a:endParaRPr lang="zh-CN" altLang="zh-CN" sz="2000" dirty="0">
                  <a:solidFill>
                    <a:srgbClr val="000000"/>
                  </a:solidFill>
                  <a:latin typeface="+mj-ea"/>
                  <a:ea typeface="+mj-ea"/>
                  <a:cs typeface="Times New Roman" panose="02020603050405020304" pitchFamily="18" charset="0"/>
                </a:endParaRPr>
              </a:p>
              <a:p>
                <a:pPr indent="267970" algn="just">
                  <a:lnSpc>
                    <a:spcPct val="150000"/>
                  </a:lnSpc>
                  <a:spcAft>
                    <a:spcPts val="0"/>
                  </a:spcAft>
                </a:pPr>
                <a:r>
                  <a:rPr lang="zh-CN" altLang="zh-CN" sz="2000" b="1" dirty="0">
                    <a:solidFill>
                      <a:srgbClr val="000000"/>
                    </a:solidFill>
                    <a:latin typeface="+mj-ea"/>
                    <a:ea typeface="+mj-ea"/>
                    <a:cs typeface="Times New Roman" panose="02020603050405020304" pitchFamily="18" charset="0"/>
                  </a:rPr>
                  <a:t>协方差</a:t>
                </a:r>
                <a:r>
                  <a:rPr lang="en-US" altLang="zh-CN" sz="2000" dirty="0">
                    <a:solidFill>
                      <a:srgbClr val="000000"/>
                    </a:solidFill>
                    <a:latin typeface="+mj-ea"/>
                    <a:ea typeface="+mj-ea"/>
                    <a:cs typeface="Times New Roman" panose="02020603050405020304" pitchFamily="18" charset="0"/>
                  </a:rPr>
                  <a:t>  </a:t>
                </a:r>
                <a:r>
                  <a:rPr lang="zh-CN" altLang="zh-CN" sz="2000" dirty="0">
                    <a:solidFill>
                      <a:srgbClr val="000000"/>
                    </a:solidFill>
                    <a:latin typeface="+mj-ea"/>
                    <a:ea typeface="+mj-ea"/>
                    <a:cs typeface="Times New Roman" panose="02020603050405020304" pitchFamily="18" charset="0"/>
                  </a:rPr>
                  <a:t>协方差衡量了两个变量之间的相关度，假设有两个变量，观察到不同时刻两个变量的取值，记为</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𝑋</m:t>
                    </m:r>
                    <m:r>
                      <a:rPr lang="en-US" altLang="zh-CN" sz="2000" i="1">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𝑌</m:t>
                    </m:r>
                    <m:r>
                      <a:rPr lang="en-US" altLang="zh-CN" sz="2000" i="1">
                        <a:solidFill>
                          <a:srgbClr val="000000"/>
                        </a:solidFill>
                        <a:latin typeface="Cambria Math" panose="02040503050406030204" pitchFamily="18" charset="0"/>
                        <a:ea typeface="+mj-ea"/>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𝑥</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r>
                      <a:rPr lang="en-US" altLang="zh-CN" sz="2000" i="1">
                        <a:solidFill>
                          <a:srgbClr val="000000"/>
                        </a:solidFill>
                        <a:latin typeface="Cambria Math" panose="02040503050406030204" pitchFamily="18" charset="0"/>
                        <a:ea typeface="+mj-ea"/>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𝑦</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r>
                      <a:rPr lang="en-US" altLang="zh-CN" sz="2000" i="1">
                        <a:solidFill>
                          <a:srgbClr val="000000"/>
                        </a:solidFill>
                        <a:latin typeface="Cambria Math" panose="02040503050406030204" pitchFamily="18" charset="0"/>
                        <a:ea typeface="+mj-ea"/>
                        <a:cs typeface="Times New Roman" panose="02020603050405020304" pitchFamily="18" charset="0"/>
                      </a:rPr>
                      <m:t>}  (</m:t>
                    </m:r>
                    <m:r>
                      <a:rPr lang="en-US" altLang="zh-CN" sz="2000" i="1">
                        <a:solidFill>
                          <a:srgbClr val="000000"/>
                        </a:solidFill>
                        <a:latin typeface="Cambria Math" panose="02040503050406030204" pitchFamily="18" charset="0"/>
                        <a:ea typeface="+mj-ea"/>
                        <a:cs typeface="Times New Roman" panose="02020603050405020304" pitchFamily="18" charset="0"/>
                      </a:rPr>
                      <m:t>𝑖</m:t>
                    </m:r>
                    <m:r>
                      <a:rPr lang="en-US" altLang="zh-CN" sz="2000" i="1">
                        <a:solidFill>
                          <a:srgbClr val="000000"/>
                        </a:solidFill>
                        <a:latin typeface="Cambria Math" panose="02040503050406030204" pitchFamily="18" charset="0"/>
                        <a:ea typeface="+mj-ea"/>
                        <a:cs typeface="Times New Roman" panose="02020603050405020304" pitchFamily="18" charset="0"/>
                      </a:rPr>
                      <m:t>=1,…,</m:t>
                    </m:r>
                    <m:r>
                      <a:rPr lang="en-US" altLang="zh-CN" sz="2000" i="1">
                        <a:solidFill>
                          <a:srgbClr val="000000"/>
                        </a:solidFill>
                        <a:latin typeface="Cambria Math" panose="02040503050406030204" pitchFamily="18" charset="0"/>
                        <a:ea typeface="+mj-ea"/>
                        <a:cs typeface="Times New Roman" panose="02020603050405020304" pitchFamily="18" charset="0"/>
                      </a:rPr>
                      <m:t>𝑛</m:t>
                    </m:r>
                    <m:r>
                      <a:rPr lang="en-US" altLang="zh-CN" sz="2000" i="1">
                        <a:solidFill>
                          <a:srgbClr val="000000"/>
                        </a:solidFill>
                        <a:latin typeface="Cambria Math" panose="02040503050406030204" pitchFamily="18" charset="0"/>
                        <a:ea typeface="+mj-ea"/>
                        <a:cs typeface="Times New Roman" panose="02020603050405020304" pitchFamily="18" charset="0"/>
                      </a:rPr>
                      <m:t>)</m:t>
                    </m:r>
                  </m:oMath>
                </a14:m>
                <a:r>
                  <a:rPr lang="zh-CN" altLang="zh-CN" sz="2000" dirty="0">
                    <a:solidFill>
                      <a:srgbClr val="000000"/>
                    </a:solidFill>
                    <a:latin typeface="+mj-ea"/>
                    <a:ea typeface="+mj-ea"/>
                    <a:cs typeface="Times New Roman" panose="02020603050405020304" pitchFamily="18" charset="0"/>
                  </a:rPr>
                  <a:t>，那么两个变量的协方差为：</a:t>
                </a:r>
              </a:p>
              <a:p>
                <a:pPr algn="just">
                  <a:spcAft>
                    <a:spcPts val="0"/>
                  </a:spcAft>
                </a:pPr>
                <a14:m>
                  <m:oMathPara xmlns:m="http://schemas.openxmlformats.org/officeDocument/2006/math">
                    <m:oMathParaPr>
                      <m:jc m:val="centerGroup"/>
                    </m:oMathParaPr>
                    <m:oMath xmlns:m="http://schemas.openxmlformats.org/officeDocument/2006/math">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cov</m:t>
                      </m:r>
                      <m:r>
                        <a:rPr lang="en-US" altLang="zh-CN" sz="2000"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r>
                        <a:rPr lang="en-US" altLang="zh-CN" sz="2000" kern="1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fPr>
                        <m:num>
                          <m:r>
                            <a:rPr lang="en-US" altLang="zh-CN" sz="2000" i="1" kern="100">
                              <a:solidFill>
                                <a:srgbClr val="000000"/>
                              </a:solidFill>
                              <a:latin typeface="Cambria Math" panose="02040503050406030204" pitchFamily="18" charset="0"/>
                              <a:ea typeface="+mj-ea"/>
                              <a:cs typeface="Times New Roman" panose="02020603050405020304" pitchFamily="18" charset="0"/>
                            </a:rPr>
                            <m:t>1</m:t>
                          </m:r>
                        </m:num>
                        <m:den>
                          <m:r>
                            <a:rPr lang="en-US" altLang="zh-CN" sz="2000" i="1" kern="100">
                              <a:solidFill>
                                <a:srgbClr val="000000"/>
                              </a:solidFill>
                              <a:latin typeface="Cambria Math" panose="02040503050406030204" pitchFamily="18" charset="0"/>
                              <a:ea typeface="+mj-ea"/>
                              <a:cs typeface="Times New Roman" panose="02020603050405020304" pitchFamily="18" charset="0"/>
                            </a:rPr>
                            <m:t>𝑛</m:t>
                          </m:r>
                          <m:r>
                            <a:rPr lang="en-US" altLang="zh-CN" sz="2000" i="1" kern="100">
                              <a:solidFill>
                                <a:srgbClr val="000000"/>
                              </a:solidFill>
                              <a:latin typeface="Cambria Math" panose="02040503050406030204" pitchFamily="18" charset="0"/>
                              <a:ea typeface="+mj-ea"/>
                              <a:cs typeface="Times New Roman" panose="02020603050405020304" pitchFamily="18" charset="0"/>
                            </a:rPr>
                            <m:t>−1</m:t>
                          </m:r>
                        </m:den>
                      </m:f>
                      <m:r>
                        <a:rPr lang="en-US" altLang="zh-CN" sz="2000" i="1" kern="100">
                          <a:solidFill>
                            <a:srgbClr val="000000"/>
                          </a:solidFill>
                          <a:latin typeface="Cambria Math" panose="02040503050406030204" pitchFamily="18" charset="0"/>
                          <a:ea typeface="+mj-ea"/>
                          <a:cs typeface="Times New Roman" panose="02020603050405020304" pitchFamily="18" charset="0"/>
                        </a:rPr>
                        <m:t> </m:t>
                      </m:r>
                      <m:nary>
                        <m:naryPr>
                          <m:chr m:val="∑"/>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naryPr>
                        <m:sub>
                          <m:r>
                            <a:rPr lang="en-US" altLang="zh-CN" sz="2000" i="1" kern="100">
                              <a:solidFill>
                                <a:srgbClr val="000000"/>
                              </a:solidFill>
                              <a:latin typeface="Cambria Math" panose="02040503050406030204" pitchFamily="18" charset="0"/>
                              <a:ea typeface="+mj-ea"/>
                              <a:cs typeface="Times New Roman" panose="02020603050405020304" pitchFamily="18" charset="0"/>
                            </a:rPr>
                            <m:t>𝑖</m:t>
                          </m:r>
                          <m:r>
                            <a:rPr lang="en-US" altLang="zh-CN" sz="2000" i="1" kern="100">
                              <a:solidFill>
                                <a:srgbClr val="000000"/>
                              </a:solidFill>
                              <a:latin typeface="Cambria Math" panose="02040503050406030204" pitchFamily="18" charset="0"/>
                              <a:ea typeface="+mj-ea"/>
                              <a:cs typeface="Times New Roman" panose="02020603050405020304" pitchFamily="18" charset="0"/>
                            </a:rPr>
                            <m:t>=1</m:t>
                          </m:r>
                        </m:sub>
                        <m:sup>
                          <m:r>
                            <a:rPr lang="en-US" altLang="zh-CN" sz="2000" i="1" kern="100">
                              <a:solidFill>
                                <a:srgbClr val="000000"/>
                              </a:solidFill>
                              <a:latin typeface="Cambria Math" panose="02040503050406030204" pitchFamily="18" charset="0"/>
                              <a:ea typeface="+mj-ea"/>
                              <a:cs typeface="Times New Roman" panose="02020603050405020304" pitchFamily="18" charset="0"/>
                            </a:rPr>
                            <m:t>𝑛</m:t>
                          </m:r>
                        </m:sup>
                        <m:e>
                          <m:r>
                            <a:rPr lang="en-US" altLang="zh-CN" sz="2000" i="1" kern="100">
                              <a:solidFill>
                                <a:srgbClr val="000000"/>
                              </a:solidFill>
                              <a:latin typeface="Cambria Math" panose="02040503050406030204" pitchFamily="18" charset="0"/>
                              <a:ea typeface="+mj-ea"/>
                              <a:cs typeface="Times New Roman" panose="02020603050405020304" pitchFamily="18" charset="0"/>
                            </a:rPr>
                            <m:t>(</m:t>
                          </m:r>
                          <m:sSub>
                            <m:sSub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mj-ea"/>
                                  <a:cs typeface="Times New Roman" panose="02020603050405020304" pitchFamily="18" charset="0"/>
                                </a:rPr>
                                <m:t>𝑥</m:t>
                              </m:r>
                            </m:e>
                            <m:sub>
                              <m:r>
                                <a:rPr lang="en-US" altLang="zh-CN" sz="2000" i="1" kern="100">
                                  <a:solidFill>
                                    <a:srgbClr val="000000"/>
                                  </a:solidFill>
                                  <a:latin typeface="Cambria Math" panose="02040503050406030204" pitchFamily="18" charset="0"/>
                                  <a:ea typeface="+mj-ea"/>
                                  <a:cs typeface="Times New Roman" panose="02020603050405020304" pitchFamily="18" charset="0"/>
                                </a:rPr>
                                <m:t>𝑖</m:t>
                              </m:r>
                            </m:sub>
                          </m:sSub>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𝐸</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sSub>
                            <m:sSub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mj-ea"/>
                                  <a:cs typeface="Times New Roman" panose="02020603050405020304" pitchFamily="18" charset="0"/>
                                </a:rPr>
                                <m:t>𝑦</m:t>
                              </m:r>
                            </m:e>
                            <m:sub>
                              <m:r>
                                <a:rPr lang="en-US" altLang="zh-CN" sz="2000" i="1" kern="100">
                                  <a:solidFill>
                                    <a:srgbClr val="000000"/>
                                  </a:solidFill>
                                  <a:latin typeface="Cambria Math" panose="02040503050406030204" pitchFamily="18" charset="0"/>
                                  <a:ea typeface="+mj-ea"/>
                                  <a:cs typeface="Times New Roman" panose="02020603050405020304" pitchFamily="18" charset="0"/>
                                </a:rPr>
                                <m:t>𝑖</m:t>
                              </m:r>
                            </m:sub>
                          </m:sSub>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𝐸</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e>
                      </m:nary>
                    </m:oMath>
                  </m:oMathPara>
                </a14:m>
                <a:endParaRPr lang="zh-CN" altLang="zh-CN" sz="2000" kern="100" dirty="0">
                  <a:latin typeface="+mj-ea"/>
                  <a:ea typeface="+mj-ea"/>
                  <a:cs typeface="Times New Roman" panose="02020603050405020304" pitchFamily="18" charset="0"/>
                </a:endParaRPr>
              </a:p>
              <a:p>
                <a:pPr indent="266700" algn="just">
                  <a:lnSpc>
                    <a:spcPct val="150000"/>
                  </a:lnSpc>
                  <a:spcAft>
                    <a:spcPts val="0"/>
                  </a:spcAft>
                </a:pPr>
                <a:r>
                  <a:rPr lang="zh-CN" altLang="zh-CN" sz="2000" dirty="0">
                    <a:solidFill>
                      <a:srgbClr val="000000"/>
                    </a:solidFill>
                    <a:latin typeface="+mj-ea"/>
                    <a:ea typeface="+mj-ea"/>
                    <a:cs typeface="Times New Roman" panose="02020603050405020304" pitchFamily="18" charset="0"/>
                  </a:rPr>
                  <a:t>其中</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𝐸</m:t>
                    </m:r>
                    <m:r>
                      <a:rPr lang="en-US" altLang="zh-CN" sz="2000">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𝑋</m:t>
                    </m:r>
                    <m:r>
                      <a:rPr lang="en-US" altLang="zh-CN" sz="2000">
                        <a:solidFill>
                          <a:srgbClr val="000000"/>
                        </a:solidFill>
                        <a:latin typeface="Cambria Math" panose="02040503050406030204" pitchFamily="18" charset="0"/>
                        <a:ea typeface="+mj-ea"/>
                        <a:cs typeface="Times New Roman" panose="02020603050405020304" pitchFamily="18" charset="0"/>
                      </a:rPr>
                      <m:t>)</m:t>
                    </m:r>
                  </m:oMath>
                </a14:m>
                <a:r>
                  <a:rPr lang="zh-CN" altLang="zh-CN" sz="2000" dirty="0">
                    <a:solidFill>
                      <a:srgbClr val="000000"/>
                    </a:solidFill>
                    <a:latin typeface="+mj-ea"/>
                    <a:ea typeface="+mj-ea"/>
                    <a:cs typeface="Times New Roman" panose="02020603050405020304" pitchFamily="18" charset="0"/>
                  </a:rPr>
                  <a:t>和</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𝐸</m:t>
                    </m:r>
                    <m:r>
                      <a:rPr lang="en-US" altLang="zh-CN" sz="2000">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𝑌</m:t>
                    </m:r>
                    <m:r>
                      <a:rPr lang="en-US" altLang="zh-CN" sz="2000">
                        <a:solidFill>
                          <a:srgbClr val="000000"/>
                        </a:solidFill>
                        <a:latin typeface="Cambria Math" panose="02040503050406030204" pitchFamily="18" charset="0"/>
                        <a:ea typeface="+mj-ea"/>
                        <a:cs typeface="Times New Roman" panose="02020603050405020304" pitchFamily="18" charset="0"/>
                      </a:rPr>
                      <m:t>)</m:t>
                    </m:r>
                  </m:oMath>
                </a14:m>
                <a:r>
                  <a:rPr lang="zh-CN" altLang="zh-CN" sz="2000" dirty="0">
                    <a:solidFill>
                      <a:srgbClr val="000000"/>
                    </a:solidFill>
                    <a:latin typeface="+mj-ea"/>
                    <a:ea typeface="+mj-ea"/>
                    <a:cs typeface="Times New Roman" panose="02020603050405020304" pitchFamily="18" charset="0"/>
                  </a:rPr>
                  <a:t>分别是</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𝑋</m:t>
                    </m:r>
                  </m:oMath>
                </a14:m>
                <a:r>
                  <a:rPr lang="zh-CN" altLang="zh-CN" sz="2000" dirty="0">
                    <a:solidFill>
                      <a:srgbClr val="000000"/>
                    </a:solidFill>
                    <a:latin typeface="+mj-ea"/>
                    <a:ea typeface="+mj-ea"/>
                    <a:cs typeface="Times New Roman" panose="02020603050405020304" pitchFamily="18" charset="0"/>
                  </a:rPr>
                  <a:t>和</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𝑌</m:t>
                    </m:r>
                  </m:oMath>
                </a14:m>
                <a:r>
                  <a:rPr lang="zh-CN" altLang="zh-CN" sz="2000" dirty="0">
                    <a:solidFill>
                      <a:srgbClr val="000000"/>
                    </a:solidFill>
                    <a:latin typeface="+mj-ea"/>
                    <a:ea typeface="+mj-ea"/>
                    <a:cs typeface="Times New Roman" panose="02020603050405020304" pitchFamily="18" charset="0"/>
                  </a:rPr>
                  <a:t>的样本均值</a:t>
                </a:r>
                <a:r>
                  <a:rPr lang="en-US" altLang="zh-CN" sz="2000" dirty="0">
                    <a:solidFill>
                      <a:srgbClr val="000000"/>
                    </a:solidFill>
                    <a:latin typeface="+mj-ea"/>
                    <a:ea typeface="+mj-ea"/>
                    <a:cs typeface="Times New Roman" panose="02020603050405020304" pitchFamily="18" charset="0"/>
                  </a:rPr>
                  <a:t>, </a:t>
                </a:r>
                <a:r>
                  <a:rPr lang="zh-CN" altLang="zh-CN" sz="2000" dirty="0">
                    <a:solidFill>
                      <a:srgbClr val="000000"/>
                    </a:solidFill>
                    <a:latin typeface="+mj-ea"/>
                    <a:ea typeface="+mj-ea"/>
                    <a:cs typeface="Times New Roman" panose="02020603050405020304" pitchFamily="18" charset="0"/>
                  </a:rPr>
                  <a:t>分别定义如下</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𝐸</m:t>
                    </m:r>
                    <m:r>
                      <a:rPr lang="en-US" altLang="zh-CN" sz="2000">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𝑋</m:t>
                    </m:r>
                    <m:r>
                      <a:rPr lang="en-US" altLang="zh-CN" sz="20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a:solidFill>
                              <a:srgbClr val="000000"/>
                            </a:solidFill>
                            <a:latin typeface="Cambria Math" panose="02040503050406030204" pitchFamily="18" charset="0"/>
                            <a:ea typeface="+mj-ea"/>
                            <a:cs typeface="Times New Roman" panose="02020603050405020304" pitchFamily="18" charset="0"/>
                          </a:rPr>
                        </m:ctrlPr>
                      </m:fPr>
                      <m:num>
                        <m:r>
                          <a:rPr lang="en-US" altLang="zh-CN" sz="2000">
                            <a:solidFill>
                              <a:srgbClr val="000000"/>
                            </a:solidFill>
                            <a:latin typeface="Cambria Math" panose="02040503050406030204" pitchFamily="18" charset="0"/>
                            <a:ea typeface="+mj-ea"/>
                            <a:cs typeface="Times New Roman" panose="02020603050405020304" pitchFamily="18" charset="0"/>
                          </a:rPr>
                          <m:t>1</m:t>
                        </m:r>
                      </m:num>
                      <m:den>
                        <m:r>
                          <a:rPr lang="en-US" altLang="zh-CN" sz="2000" i="1">
                            <a:solidFill>
                              <a:srgbClr val="000000"/>
                            </a:solidFill>
                            <a:latin typeface="Cambria Math" panose="02040503050406030204" pitchFamily="18" charset="0"/>
                            <a:ea typeface="+mj-ea"/>
                            <a:cs typeface="Times New Roman" panose="02020603050405020304" pitchFamily="18" charset="0"/>
                          </a:rPr>
                          <m:t>𝑛</m:t>
                        </m:r>
                      </m:den>
                    </m:f>
                    <m:r>
                      <a:rPr lang="en-US" altLang="zh-CN" sz="2000">
                        <a:solidFill>
                          <a:srgbClr val="000000"/>
                        </a:solidFill>
                        <a:latin typeface="Cambria Math" panose="02040503050406030204" pitchFamily="18" charset="0"/>
                        <a:ea typeface="+mj-ea"/>
                        <a:cs typeface="Times New Roman" panose="02020603050405020304" pitchFamily="18" charset="0"/>
                      </a:rPr>
                      <m:t> </m:t>
                    </m:r>
                    <m:nary>
                      <m:naryPr>
                        <m:chr m:val="∑"/>
                        <m:ctrlPr>
                          <a:rPr lang="zh-CN" altLang="zh-CN" sz="2000" i="1">
                            <a:solidFill>
                              <a:srgbClr val="000000"/>
                            </a:solidFill>
                            <a:latin typeface="Cambria Math" panose="02040503050406030204" pitchFamily="18" charset="0"/>
                            <a:ea typeface="+mj-ea"/>
                            <a:cs typeface="Times New Roman" panose="02020603050405020304" pitchFamily="18" charset="0"/>
                          </a:rPr>
                        </m:ctrlPr>
                      </m:naryPr>
                      <m:sub>
                        <m:r>
                          <a:rPr lang="en-US" altLang="zh-CN" sz="2000" i="1">
                            <a:solidFill>
                              <a:srgbClr val="000000"/>
                            </a:solidFill>
                            <a:latin typeface="Cambria Math" panose="02040503050406030204" pitchFamily="18" charset="0"/>
                            <a:ea typeface="+mj-ea"/>
                            <a:cs typeface="Times New Roman" panose="02020603050405020304" pitchFamily="18" charset="0"/>
                          </a:rPr>
                          <m:t>𝑖</m:t>
                        </m:r>
                        <m:r>
                          <a:rPr lang="en-US" altLang="zh-CN" sz="2000">
                            <a:solidFill>
                              <a:srgbClr val="000000"/>
                            </a:solidFill>
                            <a:latin typeface="Cambria Math" panose="02040503050406030204" pitchFamily="18" charset="0"/>
                            <a:ea typeface="+mj-ea"/>
                            <a:cs typeface="Times New Roman" panose="02020603050405020304" pitchFamily="18" charset="0"/>
                          </a:rPr>
                          <m:t>=1</m:t>
                        </m:r>
                      </m:sub>
                      <m:sup>
                        <m:r>
                          <a:rPr lang="en-US" altLang="zh-CN" sz="2000" i="1">
                            <a:solidFill>
                              <a:srgbClr val="000000"/>
                            </a:solidFill>
                            <a:latin typeface="Cambria Math" panose="02040503050406030204" pitchFamily="18" charset="0"/>
                            <a:ea typeface="+mj-ea"/>
                            <a:cs typeface="Times New Roman" panose="02020603050405020304" pitchFamily="18" charset="0"/>
                          </a:rPr>
                          <m:t>𝑛</m:t>
                        </m:r>
                      </m:sup>
                      <m:e>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𝑥</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e>
                    </m:nary>
                    <m:r>
                      <a:rPr lang="en-US" altLang="zh-CN" sz="2000">
                        <a:solidFill>
                          <a:srgbClr val="000000"/>
                        </a:solidFill>
                        <a:latin typeface="Cambria Math" panose="02040503050406030204" pitchFamily="18" charset="0"/>
                        <a:ea typeface="+mj-ea"/>
                        <a:cs typeface="Times New Roman" panose="02020603050405020304" pitchFamily="18" charset="0"/>
                      </a:rPr>
                      <m:t>, </m:t>
                    </m:r>
                    <m:r>
                      <a:rPr lang="en-US" altLang="zh-CN" sz="2000" i="1">
                        <a:solidFill>
                          <a:srgbClr val="000000"/>
                        </a:solidFill>
                        <a:latin typeface="Cambria Math" panose="02040503050406030204" pitchFamily="18" charset="0"/>
                        <a:ea typeface="+mj-ea"/>
                        <a:cs typeface="Times New Roman" panose="02020603050405020304" pitchFamily="18" charset="0"/>
                      </a:rPr>
                      <m:t>𝐸</m:t>
                    </m:r>
                    <m:r>
                      <a:rPr lang="en-US" altLang="zh-CN" sz="2000">
                        <a:solidFill>
                          <a:srgbClr val="000000"/>
                        </a:solidFill>
                        <a:latin typeface="Cambria Math" panose="02040503050406030204" pitchFamily="18" charset="0"/>
                        <a:ea typeface="+mj-ea"/>
                        <a:cs typeface="Times New Roman" panose="02020603050405020304" pitchFamily="18" charset="0"/>
                      </a:rPr>
                      <m:t>(</m:t>
                    </m:r>
                    <m:r>
                      <a:rPr lang="en-US" altLang="zh-CN" sz="2000" i="1">
                        <a:solidFill>
                          <a:srgbClr val="000000"/>
                        </a:solidFill>
                        <a:latin typeface="Cambria Math" panose="02040503050406030204" pitchFamily="18" charset="0"/>
                        <a:ea typeface="+mj-ea"/>
                        <a:cs typeface="Times New Roman" panose="02020603050405020304" pitchFamily="18" charset="0"/>
                      </a:rPr>
                      <m:t>𝑌</m:t>
                    </m:r>
                    <m:r>
                      <a:rPr lang="en-US" altLang="zh-CN" sz="20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a:solidFill>
                              <a:srgbClr val="000000"/>
                            </a:solidFill>
                            <a:latin typeface="Cambria Math" panose="02040503050406030204" pitchFamily="18" charset="0"/>
                            <a:ea typeface="+mj-ea"/>
                            <a:cs typeface="Times New Roman" panose="02020603050405020304" pitchFamily="18" charset="0"/>
                          </a:rPr>
                        </m:ctrlPr>
                      </m:fPr>
                      <m:num>
                        <m:r>
                          <a:rPr lang="en-US" altLang="zh-CN" sz="2000">
                            <a:solidFill>
                              <a:srgbClr val="000000"/>
                            </a:solidFill>
                            <a:latin typeface="Cambria Math" panose="02040503050406030204" pitchFamily="18" charset="0"/>
                            <a:ea typeface="+mj-ea"/>
                            <a:cs typeface="Times New Roman" panose="02020603050405020304" pitchFamily="18" charset="0"/>
                          </a:rPr>
                          <m:t>1</m:t>
                        </m:r>
                      </m:num>
                      <m:den>
                        <m:r>
                          <a:rPr lang="en-US" altLang="zh-CN" sz="2000" i="1">
                            <a:solidFill>
                              <a:srgbClr val="000000"/>
                            </a:solidFill>
                            <a:latin typeface="Cambria Math" panose="02040503050406030204" pitchFamily="18" charset="0"/>
                            <a:ea typeface="+mj-ea"/>
                            <a:cs typeface="Times New Roman" panose="02020603050405020304" pitchFamily="18" charset="0"/>
                          </a:rPr>
                          <m:t>𝑛</m:t>
                        </m:r>
                      </m:den>
                    </m:f>
                    <m:r>
                      <a:rPr lang="en-US" altLang="zh-CN" sz="2000">
                        <a:solidFill>
                          <a:srgbClr val="000000"/>
                        </a:solidFill>
                        <a:latin typeface="Cambria Math" panose="02040503050406030204" pitchFamily="18" charset="0"/>
                        <a:ea typeface="+mj-ea"/>
                        <a:cs typeface="Times New Roman" panose="02020603050405020304" pitchFamily="18" charset="0"/>
                      </a:rPr>
                      <m:t> </m:t>
                    </m:r>
                    <m:nary>
                      <m:naryPr>
                        <m:chr m:val="∑"/>
                        <m:ctrlPr>
                          <a:rPr lang="zh-CN" altLang="zh-CN" sz="2000" i="1">
                            <a:solidFill>
                              <a:srgbClr val="000000"/>
                            </a:solidFill>
                            <a:latin typeface="Cambria Math" panose="02040503050406030204" pitchFamily="18" charset="0"/>
                            <a:ea typeface="+mj-ea"/>
                            <a:cs typeface="Times New Roman" panose="02020603050405020304" pitchFamily="18" charset="0"/>
                          </a:rPr>
                        </m:ctrlPr>
                      </m:naryPr>
                      <m:sub>
                        <m:r>
                          <a:rPr lang="en-US" altLang="zh-CN" sz="2000" i="1">
                            <a:solidFill>
                              <a:srgbClr val="000000"/>
                            </a:solidFill>
                            <a:latin typeface="Cambria Math" panose="02040503050406030204" pitchFamily="18" charset="0"/>
                            <a:ea typeface="+mj-ea"/>
                            <a:cs typeface="Times New Roman" panose="02020603050405020304" pitchFamily="18" charset="0"/>
                          </a:rPr>
                          <m:t>𝑖</m:t>
                        </m:r>
                        <m:r>
                          <a:rPr lang="en-US" altLang="zh-CN" sz="2000">
                            <a:solidFill>
                              <a:srgbClr val="000000"/>
                            </a:solidFill>
                            <a:latin typeface="Cambria Math" panose="02040503050406030204" pitchFamily="18" charset="0"/>
                            <a:ea typeface="+mj-ea"/>
                            <a:cs typeface="Times New Roman" panose="02020603050405020304" pitchFamily="18" charset="0"/>
                          </a:rPr>
                          <m:t>=1</m:t>
                        </m:r>
                      </m:sub>
                      <m:sup>
                        <m:r>
                          <a:rPr lang="en-US" altLang="zh-CN" sz="2000" i="1">
                            <a:solidFill>
                              <a:srgbClr val="000000"/>
                            </a:solidFill>
                            <a:latin typeface="Cambria Math" panose="02040503050406030204" pitchFamily="18" charset="0"/>
                            <a:ea typeface="+mj-ea"/>
                            <a:cs typeface="Times New Roman" panose="02020603050405020304" pitchFamily="18" charset="0"/>
                          </a:rPr>
                          <m:t>𝑛</m:t>
                        </m:r>
                      </m:sup>
                      <m:e>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𝑦</m:t>
                            </m:r>
                          </m:e>
                          <m:sub>
                            <m:r>
                              <a:rPr lang="en-US" altLang="zh-CN" sz="2000" i="1">
                                <a:solidFill>
                                  <a:srgbClr val="000000"/>
                                </a:solidFill>
                                <a:latin typeface="Cambria Math" panose="02040503050406030204" pitchFamily="18" charset="0"/>
                                <a:ea typeface="+mj-ea"/>
                                <a:cs typeface="Times New Roman" panose="02020603050405020304" pitchFamily="18" charset="0"/>
                              </a:rPr>
                              <m:t>𝑖</m:t>
                            </m:r>
                          </m:sub>
                        </m:sSub>
                      </m:e>
                    </m:nary>
                  </m:oMath>
                </a14:m>
                <a:r>
                  <a:rPr lang="zh-CN" altLang="zh-CN" sz="2000" dirty="0">
                    <a:solidFill>
                      <a:srgbClr val="000000"/>
                    </a:solidFill>
                    <a:latin typeface="+mj-ea"/>
                    <a:ea typeface="+mj-ea"/>
                    <a:cs typeface="Times New Roman" panose="02020603050405020304" pitchFamily="18" charset="0"/>
                  </a:rPr>
                  <a:t>。</a:t>
                </a:r>
                <a:endParaRPr lang="en-US" altLang="zh-CN" sz="2000" dirty="0">
                  <a:solidFill>
                    <a:srgbClr val="000000"/>
                  </a:solidFill>
                  <a:latin typeface="+mj-ea"/>
                  <a:ea typeface="+mj-ea"/>
                  <a:cs typeface="Times New Roman" panose="02020603050405020304" pitchFamily="18" charset="0"/>
                </a:endParaRPr>
              </a:p>
              <a:p>
                <a:pPr indent="266700" algn="just">
                  <a:lnSpc>
                    <a:spcPct val="150000"/>
                  </a:lnSpc>
                  <a:spcAft>
                    <a:spcPts val="0"/>
                  </a:spcAft>
                </a:pPr>
                <a:endParaRPr lang="en-US" altLang="zh-CN" sz="2000" dirty="0">
                  <a:solidFill>
                    <a:srgbClr val="000000"/>
                  </a:solidFill>
                  <a:latin typeface="+mj-ea"/>
                  <a:ea typeface="+mj-ea"/>
                  <a:cs typeface="Times New Roman" panose="02020603050405020304" pitchFamily="18" charset="0"/>
                </a:endParaRPr>
              </a:p>
              <a:p>
                <a:pPr indent="266700" algn="just">
                  <a:lnSpc>
                    <a:spcPct val="150000"/>
                  </a:lnSpc>
                  <a:spcAft>
                    <a:spcPts val="0"/>
                  </a:spcAft>
                </a:pPr>
                <a:endParaRPr lang="zh-CN" altLang="zh-CN" sz="2000" dirty="0">
                  <a:solidFill>
                    <a:srgbClr val="000000"/>
                  </a:solidFill>
                  <a:latin typeface="+mj-ea"/>
                  <a:ea typeface="+mj-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2FB04668-50A1-4FF3-B463-119349B90DE6}"/>
                  </a:ext>
                </a:extLst>
              </p:cNvPr>
              <p:cNvSpPr>
                <a:spLocks noRot="1" noChangeAspect="1" noMove="1" noResize="1" noEditPoints="1" noAdjustHandles="1" noChangeArrowheads="1" noChangeShapeType="1" noTextEdit="1"/>
              </p:cNvSpPr>
              <p:nvPr/>
            </p:nvSpPr>
            <p:spPr>
              <a:xfrm>
                <a:off x="369068" y="1018305"/>
                <a:ext cx="11536148" cy="6790833"/>
              </a:xfrm>
              <a:prstGeom prst="rect">
                <a:avLst/>
              </a:prstGeom>
              <a:blipFill>
                <a:blip r:embed="rId3"/>
                <a:stretch>
                  <a:fillRect l="-581" r="-529"/>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B487A2E-6649-81A2-15A0-C606C719748C}"/>
              </a:ext>
            </a:extLst>
          </p:cNvPr>
          <p:cNvGrpSpPr/>
          <p:nvPr/>
        </p:nvGrpSpPr>
        <p:grpSpPr>
          <a:xfrm>
            <a:off x="623621" y="335458"/>
            <a:ext cx="7464387" cy="497934"/>
            <a:chOff x="4099943" y="2819853"/>
            <a:chExt cx="2570275" cy="497934"/>
          </a:xfrm>
        </p:grpSpPr>
        <p:sp>
          <p:nvSpPr>
            <p:cNvPr id="9" name="平行四边形 8">
              <a:extLst>
                <a:ext uri="{FF2B5EF4-FFF2-40B4-BE49-F238E27FC236}">
                  <a16:creationId xmlns:a16="http://schemas.microsoft.com/office/drawing/2014/main" id="{B2C08F8C-409C-0CB8-22A2-CFB263F5C472}"/>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0" name="平行四边形 9">
              <a:extLst>
                <a:ext uri="{FF2B5EF4-FFF2-40B4-BE49-F238E27FC236}">
                  <a16:creationId xmlns:a16="http://schemas.microsoft.com/office/drawing/2014/main" id="{9A40BFEA-558E-CAA0-74C9-3E89A97C564B}"/>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1" name="矩形 10">
              <a:extLst>
                <a:ext uri="{FF2B5EF4-FFF2-40B4-BE49-F238E27FC236}">
                  <a16:creationId xmlns:a16="http://schemas.microsoft.com/office/drawing/2014/main" id="{EDCC9649-856F-6DD0-E97C-9A6411829939}"/>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fr-FR" altLang="zh-CN" sz="2000" b="1" dirty="0">
                  <a:solidFill>
                    <a:schemeClr val="tx1">
                      <a:lumMod val="95000"/>
                      <a:lumOff val="5000"/>
                    </a:schemeClr>
                  </a:solidFill>
                  <a:latin typeface="+mj-ea"/>
                  <a:ea typeface="+mj-ea"/>
                  <a:cs typeface="Times New Roman" panose="02020603050405020304" pitchFamily="18" charset="0"/>
                </a:rPr>
                <a:t>principal component analysis</a:t>
              </a:r>
              <a:r>
                <a:rPr lang="zh-CN" altLang="fr-FR" sz="2000" b="1" dirty="0">
                  <a:solidFill>
                    <a:schemeClr val="tx1">
                      <a:lumMod val="95000"/>
                      <a:lumOff val="5000"/>
                    </a:schemeClr>
                  </a:solidFill>
                  <a:latin typeface="+mj-ea"/>
                  <a:ea typeface="+mj-ea"/>
                  <a:cs typeface="Times New Roman" panose="02020603050405020304" pitchFamily="18" charset="0"/>
                </a:rPr>
                <a:t>）</a:t>
              </a:r>
              <a:endParaRPr lang="zh-CN" altLang="en-US" sz="2000" b="1" dirty="0">
                <a:solidFill>
                  <a:schemeClr val="tx1">
                    <a:lumMod val="95000"/>
                    <a:lumOff val="5000"/>
                  </a:schemeClr>
                </a:solidFill>
                <a:latin typeface="+mj-ea"/>
                <a:ea typeface="+mj-ea"/>
              </a:endParaRPr>
            </a:p>
          </p:txBody>
        </p:sp>
      </p:grpSp>
    </p:spTree>
    <p:extLst>
      <p:ext uri="{BB962C8B-B14F-4D97-AF65-F5344CB8AC3E}">
        <p14:creationId xmlns:p14="http://schemas.microsoft.com/office/powerpoint/2010/main" val="5543646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7DB7A5-EA88-4E0C-3B3D-52CA488784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03A42E1-94D8-C061-1CAF-375FEECFEF8B}"/>
                  </a:ext>
                </a:extLst>
              </p:cNvPr>
              <p:cNvSpPr/>
              <p:nvPr/>
            </p:nvSpPr>
            <p:spPr>
              <a:xfrm>
                <a:off x="745177" y="2128624"/>
                <a:ext cx="10786917" cy="4374596"/>
              </a:xfrm>
              <a:prstGeom prst="rect">
                <a:avLst/>
              </a:prstGeom>
            </p:spPr>
            <p:txBody>
              <a:bodyPr wrap="square">
                <a:spAutoFit/>
              </a:bodyPr>
              <a:lstStyle/>
              <a:p>
                <a:pPr indent="266700" algn="just">
                  <a:lnSpc>
                    <a:spcPct val="150000"/>
                  </a:lnSpc>
                  <a:spcAft>
                    <a:spcPts val="0"/>
                  </a:spcAft>
                </a:pPr>
                <a:r>
                  <a:rPr lang="zh-CN" altLang="en-US" sz="2000" b="1" dirty="0">
                    <a:solidFill>
                      <a:srgbClr val="000000"/>
                    </a:solidFill>
                    <a:latin typeface="+mj-ea"/>
                    <a:ea typeface="+mj-ea"/>
                    <a:cs typeface="Times New Roman" panose="02020603050405020304" pitchFamily="18" charset="0"/>
                  </a:rPr>
                  <a:t>皮尔逊相关系数</a:t>
                </a:r>
                <a:r>
                  <a:rPr lang="en-US" altLang="zh-CN" sz="2000" b="1" dirty="0">
                    <a:solidFill>
                      <a:srgbClr val="000000"/>
                    </a:solidFill>
                    <a:latin typeface="+mj-ea"/>
                    <a:ea typeface="+mj-ea"/>
                    <a:cs typeface="Times New Roman" panose="02020603050405020304" pitchFamily="18" charset="0"/>
                  </a:rPr>
                  <a:t>  </a:t>
                </a:r>
                <a:r>
                  <a:rPr lang="zh-CN" altLang="zh-CN" sz="2000" dirty="0" smtClean="0">
                    <a:solidFill>
                      <a:srgbClr val="000000"/>
                    </a:solidFill>
                    <a:latin typeface="+mj-ea"/>
                    <a:ea typeface="+mj-ea"/>
                    <a:cs typeface="Times New Roman" panose="02020603050405020304" pitchFamily="18" charset="0"/>
                  </a:rPr>
                  <a:t>由于</a:t>
                </a:r>
                <a:r>
                  <a:rPr lang="zh-CN" altLang="zh-CN" sz="2000" dirty="0">
                    <a:solidFill>
                      <a:srgbClr val="000000"/>
                    </a:solidFill>
                    <a:latin typeface="+mj-ea"/>
                    <a:ea typeface="+mj-ea"/>
                    <a:cs typeface="Times New Roman" panose="02020603050405020304" pitchFamily="18" charset="0"/>
                  </a:rPr>
                  <a:t>协方差会受到变量取值尺度的影响，可以通过皮尔逊相关系数（</a:t>
                </a:r>
                <a:r>
                  <a:rPr lang="en-US" altLang="zh-CN" sz="2000" dirty="0">
                    <a:solidFill>
                      <a:srgbClr val="000000"/>
                    </a:solidFill>
                    <a:latin typeface="+mj-ea"/>
                    <a:ea typeface="+mj-ea"/>
                    <a:cs typeface="Times New Roman" panose="02020603050405020304" pitchFamily="18" charset="0"/>
                  </a:rPr>
                  <a:t>Pearson Correlation coefficient</a:t>
                </a:r>
                <a:r>
                  <a:rPr lang="zh-CN" altLang="zh-CN" sz="2000" dirty="0">
                    <a:solidFill>
                      <a:srgbClr val="000000"/>
                    </a:solidFill>
                    <a:latin typeface="+mj-ea"/>
                    <a:ea typeface="+mj-ea"/>
                    <a:cs typeface="Times New Roman" panose="02020603050405020304" pitchFamily="18" charset="0"/>
                  </a:rPr>
                  <a:t>）将两组变量之间的关联度规整到一定的取值范围内。皮尔逊相关系数定义如下：</a:t>
                </a:r>
              </a:p>
              <a:p>
                <a:pPr algn="just">
                  <a:lnSpc>
                    <a:spcPct val="150000"/>
                  </a:lnSpc>
                  <a:spcAft>
                    <a:spcPts val="0"/>
                  </a:spcAft>
                </a:pPr>
                <a14:m>
                  <m:oMathPara xmlns:m="http://schemas.openxmlformats.org/officeDocument/2006/math">
                    <m:oMathParaPr>
                      <m:jc m:val="centerGroup"/>
                    </m:oMathParaPr>
                    <m:oMath xmlns:m="http://schemas.openxmlformats.org/officeDocument/2006/math">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corr</m:t>
                      </m:r>
                      <m:r>
                        <a:rPr lang="en-US" altLang="zh-CN" sz="2000"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r>
                        <a:rPr lang="en-US" altLang="zh-CN" sz="2000" kern="1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fPr>
                        <m:num>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Cov</m:t>
                          </m:r>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e>
                          </m:d>
                        </m:num>
                        <m:den>
                          <m:rad>
                            <m:radPr>
                              <m:degHide m:val="on"/>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radPr>
                            <m:deg/>
                            <m:e>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Var</m:t>
                                  </m:r>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e>
                                  </m:d>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Var</m:t>
                                  </m:r>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e>
                                  </m:d>
                                </m:e>
                              </m:d>
                            </m:e>
                          </m:rad>
                        </m:den>
                      </m:f>
                      <m:r>
                        <a:rPr lang="en-US" altLang="zh-CN" sz="2000" kern="100">
                          <a:solidFill>
                            <a:srgbClr val="000000"/>
                          </a:solidFill>
                          <a:latin typeface="Cambria Math" panose="02040503050406030204" pitchFamily="18" charset="0"/>
                          <a:ea typeface="+mj-ea"/>
                          <a:cs typeface="Times New Roman" panose="02020603050405020304" pitchFamily="18" charset="0"/>
                        </a:rPr>
                        <m:t>=</m:t>
                      </m:r>
                      <m:f>
                        <m:f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fPr>
                        <m:num>
                          <m:r>
                            <m:rPr>
                              <m:sty m:val="p"/>
                            </m:rPr>
                            <a:rPr lang="en-US" altLang="zh-CN" sz="2000" kern="100">
                              <a:solidFill>
                                <a:srgbClr val="000000"/>
                              </a:solidFill>
                              <a:latin typeface="Cambria Math" panose="02040503050406030204" pitchFamily="18" charset="0"/>
                              <a:ea typeface="+mj-ea"/>
                              <a:cs typeface="Times New Roman" panose="02020603050405020304" pitchFamily="18" charset="0"/>
                            </a:rPr>
                            <m:t>Cov</m:t>
                          </m:r>
                          <m:d>
                            <m:d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000" i="1" kern="100">
                                  <a:solidFill>
                                    <a:srgbClr val="000000"/>
                                  </a:solidFill>
                                  <a:latin typeface="Cambria Math" panose="02040503050406030204" pitchFamily="18" charset="0"/>
                                  <a:ea typeface="+mj-ea"/>
                                  <a:cs typeface="Times New Roman" panose="02020603050405020304" pitchFamily="18" charset="0"/>
                                </a:rPr>
                                <m:t>𝑋</m:t>
                              </m:r>
                              <m:r>
                                <a:rPr lang="en-US" altLang="zh-CN" sz="2000" i="1" kern="100">
                                  <a:solidFill>
                                    <a:srgbClr val="000000"/>
                                  </a:solidFill>
                                  <a:latin typeface="Cambria Math" panose="02040503050406030204" pitchFamily="18" charset="0"/>
                                  <a:ea typeface="+mj-ea"/>
                                  <a:cs typeface="Times New Roman" panose="02020603050405020304" pitchFamily="18" charset="0"/>
                                </a:rPr>
                                <m:t>,</m:t>
                              </m:r>
                              <m:r>
                                <a:rPr lang="en-US" altLang="zh-CN" sz="2000" i="1" kern="100">
                                  <a:solidFill>
                                    <a:srgbClr val="000000"/>
                                  </a:solidFill>
                                  <a:latin typeface="Cambria Math" panose="02040503050406030204" pitchFamily="18" charset="0"/>
                                  <a:ea typeface="+mj-ea"/>
                                  <a:cs typeface="Times New Roman" panose="02020603050405020304" pitchFamily="18" charset="0"/>
                                </a:rPr>
                                <m:t>𝑌</m:t>
                              </m:r>
                            </m:e>
                          </m:d>
                        </m:num>
                        <m:den>
                          <m:sSub>
                            <m:sSub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mj-ea"/>
                                  <a:cs typeface="Times New Roman" panose="02020603050405020304" pitchFamily="18" charset="0"/>
                                </a:rPr>
                                <m:t>𝜎</m:t>
                              </m:r>
                            </m:e>
                            <m:sub>
                              <m:r>
                                <a:rPr lang="en-US" altLang="zh-CN" sz="2000" i="1" kern="100">
                                  <a:solidFill>
                                    <a:srgbClr val="000000"/>
                                  </a:solidFill>
                                  <a:latin typeface="Cambria Math" panose="02040503050406030204" pitchFamily="18" charset="0"/>
                                  <a:ea typeface="+mj-ea"/>
                                  <a:cs typeface="Times New Roman" panose="02020603050405020304" pitchFamily="18" charset="0"/>
                                </a:rPr>
                                <m:t>𝑥</m:t>
                              </m:r>
                            </m:sub>
                          </m:sSub>
                          <m:sSub>
                            <m:sSubPr>
                              <m:ctrlPr>
                                <a:rPr lang="zh-CN" altLang="zh-CN" sz="20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mj-ea"/>
                                  <a:cs typeface="Times New Roman" panose="02020603050405020304" pitchFamily="18" charset="0"/>
                                </a:rPr>
                                <m:t>𝜎</m:t>
                              </m:r>
                            </m:e>
                            <m:sub>
                              <m:r>
                                <a:rPr lang="en-US" altLang="zh-CN" sz="2000" i="1" kern="100">
                                  <a:solidFill>
                                    <a:srgbClr val="000000"/>
                                  </a:solidFill>
                                  <a:latin typeface="Cambria Math" panose="02040503050406030204" pitchFamily="18" charset="0"/>
                                  <a:ea typeface="+mj-ea"/>
                                  <a:cs typeface="Times New Roman" panose="02020603050405020304" pitchFamily="18" charset="0"/>
                                </a:rPr>
                                <m:t>𝑦</m:t>
                              </m:r>
                            </m:sub>
                          </m:sSub>
                        </m:den>
                      </m:f>
                      <m:r>
                        <a:rPr lang="en-US" altLang="zh-CN" sz="2000" kern="100">
                          <a:solidFill>
                            <a:srgbClr val="000000"/>
                          </a:solidFill>
                          <a:latin typeface="Cambria Math" panose="02040503050406030204" pitchFamily="18" charset="0"/>
                          <a:ea typeface="+mj-ea"/>
                          <a:cs typeface="Times New Roman" panose="02020603050405020304" pitchFamily="18" charset="0"/>
                        </a:rPr>
                        <m:t> </m:t>
                      </m:r>
                    </m:oMath>
                  </m:oMathPara>
                </a14:m>
                <a:endParaRPr lang="zh-CN" altLang="zh-CN" sz="2000" kern="100" dirty="0">
                  <a:latin typeface="+mj-ea"/>
                  <a:ea typeface="+mj-ea"/>
                  <a:cs typeface="Times New Roman" panose="02020603050405020304" pitchFamily="18" charset="0"/>
                </a:endParaRPr>
              </a:p>
              <a:p>
                <a:pPr indent="266700" algn="just">
                  <a:lnSpc>
                    <a:spcPct val="150000"/>
                  </a:lnSpc>
                  <a:spcAft>
                    <a:spcPts val="0"/>
                  </a:spcAft>
                </a:pPr>
                <a:r>
                  <a:rPr lang="zh-CN" altLang="zh-CN" sz="2000" dirty="0">
                    <a:solidFill>
                      <a:srgbClr val="000000"/>
                    </a:solidFill>
                    <a:latin typeface="+mj-ea"/>
                    <a:ea typeface="+mj-ea"/>
                    <a:cs typeface="Times New Roman" panose="02020603050405020304" pitchFamily="18" charset="0"/>
                  </a:rPr>
                  <a:t>其中</a:t>
                </a:r>
                <a14:m>
                  <m:oMath xmlns:m="http://schemas.openxmlformats.org/officeDocument/2006/math">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𝜎</m:t>
                        </m:r>
                      </m:e>
                      <m:sub>
                        <m:r>
                          <a:rPr lang="en-US" altLang="zh-CN" sz="2000" i="1">
                            <a:solidFill>
                              <a:srgbClr val="000000"/>
                            </a:solidFill>
                            <a:latin typeface="Cambria Math" panose="02040503050406030204" pitchFamily="18" charset="0"/>
                            <a:ea typeface="+mj-ea"/>
                            <a:cs typeface="Times New Roman" panose="02020603050405020304" pitchFamily="18" charset="0"/>
                          </a:rPr>
                          <m:t>𝑥</m:t>
                        </m:r>
                      </m:sub>
                    </m:sSub>
                    <m:sSub>
                      <m:sSubPr>
                        <m:ctrlPr>
                          <a:rPr lang="zh-CN" altLang="zh-CN" sz="2000" i="1">
                            <a:solidFill>
                              <a:srgbClr val="000000"/>
                            </a:solidFill>
                            <a:latin typeface="Cambria Math" panose="02040503050406030204" pitchFamily="18" charset="0"/>
                            <a:ea typeface="+mj-ea"/>
                            <a:cs typeface="Times New Roman" panose="02020603050405020304" pitchFamily="18" charset="0"/>
                          </a:rPr>
                        </m:ctrlPr>
                      </m:sSubPr>
                      <m:e>
                        <m:r>
                          <a:rPr lang="en-US" altLang="zh-CN" sz="2000" i="1">
                            <a:solidFill>
                              <a:srgbClr val="000000"/>
                            </a:solidFill>
                            <a:latin typeface="Cambria Math" panose="02040503050406030204" pitchFamily="18" charset="0"/>
                            <a:ea typeface="+mj-ea"/>
                            <a:cs typeface="Times New Roman" panose="02020603050405020304" pitchFamily="18" charset="0"/>
                          </a:rPr>
                          <m:t>𝜎</m:t>
                        </m:r>
                      </m:e>
                      <m:sub>
                        <m:r>
                          <a:rPr lang="en-US" altLang="zh-CN" sz="2000" i="1">
                            <a:solidFill>
                              <a:srgbClr val="000000"/>
                            </a:solidFill>
                            <a:latin typeface="Cambria Math" panose="02040503050406030204" pitchFamily="18" charset="0"/>
                            <a:ea typeface="+mj-ea"/>
                            <a:cs typeface="Times New Roman" panose="02020603050405020304" pitchFamily="18" charset="0"/>
                          </a:rPr>
                          <m:t>𝑦</m:t>
                        </m:r>
                      </m:sub>
                    </m:sSub>
                  </m:oMath>
                </a14:m>
                <a:r>
                  <a:rPr lang="zh-CN" altLang="zh-CN" sz="2000" dirty="0">
                    <a:solidFill>
                      <a:srgbClr val="000000"/>
                    </a:solidFill>
                    <a:latin typeface="+mj-ea"/>
                    <a:ea typeface="+mj-ea"/>
                    <a:cs typeface="Times New Roman" panose="02020603050405020304" pitchFamily="18" charset="0"/>
                  </a:rPr>
                  <a:t>分别为</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𝑋</m:t>
                    </m:r>
                  </m:oMath>
                </a14:m>
                <a:r>
                  <a:rPr lang="zh-CN" altLang="zh-CN" sz="2000" dirty="0">
                    <a:solidFill>
                      <a:srgbClr val="000000"/>
                    </a:solidFill>
                    <a:latin typeface="+mj-ea"/>
                    <a:ea typeface="+mj-ea"/>
                    <a:cs typeface="Times New Roman" panose="02020603050405020304" pitchFamily="18" charset="0"/>
                  </a:rPr>
                  <a:t>和</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𝑌</m:t>
                    </m:r>
                  </m:oMath>
                </a14:m>
                <a:r>
                  <a:rPr lang="zh-CN" altLang="zh-CN" sz="2000" dirty="0">
                    <a:solidFill>
                      <a:srgbClr val="000000"/>
                    </a:solidFill>
                    <a:latin typeface="+mj-ea"/>
                    <a:ea typeface="+mj-ea"/>
                    <a:cs typeface="Times New Roman" panose="02020603050405020304" pitchFamily="18" charset="0"/>
                  </a:rPr>
                  <a:t>的标准差。皮尔逊相关系数所具有的性质如下：</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corr</m:t>
                      </m:r>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𝑋</m:t>
                      </m:r>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𝑌</m:t>
                      </m:r>
                      <m:r>
                        <a:rPr lang="en-US" altLang="zh-CN" sz="2000" kern="100">
                          <a:latin typeface="Cambria Math" panose="02040503050406030204" pitchFamily="18" charset="0"/>
                          <a:ea typeface="+mj-ea"/>
                          <a:cs typeface="Times New Roman" panose="02020603050405020304" pitchFamily="18" charset="0"/>
                        </a:rPr>
                        <m:t>)|≤1</m:t>
                      </m:r>
                    </m:oMath>
                  </m:oMathPara>
                </a14:m>
                <a:endParaRPr lang="zh-CN" altLang="zh-CN" sz="2000" kern="100" dirty="0">
                  <a:latin typeface="+mj-ea"/>
                  <a:ea typeface="+mj-ea"/>
                  <a:cs typeface="Times New Roman" panose="02020603050405020304" pitchFamily="18" charset="0"/>
                </a:endParaRPr>
              </a:p>
              <a:p>
                <a:pPr indent="266700" algn="just">
                  <a:lnSpc>
                    <a:spcPct val="150000"/>
                  </a:lnSpc>
                  <a:spcAft>
                    <a:spcPts val="0"/>
                  </a:spcAft>
                </a:pPr>
                <a:endParaRPr lang="zh-CN" altLang="zh-CN" sz="2000" dirty="0">
                  <a:solidFill>
                    <a:srgbClr val="000000"/>
                  </a:solidFill>
                  <a:latin typeface="+mj-ea"/>
                  <a:ea typeface="+mj-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303A42E1-94D8-C061-1CAF-375FEECFEF8B}"/>
                  </a:ext>
                </a:extLst>
              </p:cNvPr>
              <p:cNvSpPr>
                <a:spLocks noRot="1" noChangeAspect="1" noMove="1" noResize="1" noEditPoints="1" noAdjustHandles="1" noChangeArrowheads="1" noChangeShapeType="1" noTextEdit="1"/>
              </p:cNvSpPr>
              <p:nvPr/>
            </p:nvSpPr>
            <p:spPr>
              <a:xfrm>
                <a:off x="745177" y="2128624"/>
                <a:ext cx="10786917" cy="4374596"/>
              </a:xfrm>
              <a:prstGeom prst="rect">
                <a:avLst/>
              </a:prstGeom>
              <a:blipFill>
                <a:blip r:embed="rId3"/>
                <a:stretch>
                  <a:fillRect l="-565" r="-565"/>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1A6A9819-9C1B-76E0-E4E2-CA47F113CC4C}"/>
              </a:ext>
            </a:extLst>
          </p:cNvPr>
          <p:cNvGrpSpPr/>
          <p:nvPr/>
        </p:nvGrpSpPr>
        <p:grpSpPr>
          <a:xfrm>
            <a:off x="1905574" y="1205034"/>
            <a:ext cx="7464387" cy="497934"/>
            <a:chOff x="4099943" y="2819853"/>
            <a:chExt cx="2570275" cy="497934"/>
          </a:xfrm>
        </p:grpSpPr>
        <p:sp>
          <p:nvSpPr>
            <p:cNvPr id="9" name="平行四边形 8">
              <a:extLst>
                <a:ext uri="{FF2B5EF4-FFF2-40B4-BE49-F238E27FC236}">
                  <a16:creationId xmlns:a16="http://schemas.microsoft.com/office/drawing/2014/main" id="{2F125835-A052-E9EF-A363-32D1DF55FBBB}"/>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0" name="平行四边形 9">
              <a:extLst>
                <a:ext uri="{FF2B5EF4-FFF2-40B4-BE49-F238E27FC236}">
                  <a16:creationId xmlns:a16="http://schemas.microsoft.com/office/drawing/2014/main" id="{330C83B2-32B4-2AEC-0455-1B94F7991976}"/>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1" name="矩形 10">
              <a:extLst>
                <a:ext uri="{FF2B5EF4-FFF2-40B4-BE49-F238E27FC236}">
                  <a16:creationId xmlns:a16="http://schemas.microsoft.com/office/drawing/2014/main" id="{708AE3B7-6453-3E0A-1CC6-C96A8BC23904}"/>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fr-FR" altLang="zh-CN" sz="2000" b="1" dirty="0">
                  <a:solidFill>
                    <a:schemeClr val="tx1">
                      <a:lumMod val="95000"/>
                      <a:lumOff val="5000"/>
                    </a:schemeClr>
                  </a:solidFill>
                  <a:latin typeface="+mj-ea"/>
                  <a:ea typeface="+mj-ea"/>
                  <a:cs typeface="Times New Roman" panose="02020603050405020304" pitchFamily="18" charset="0"/>
                </a:rPr>
                <a:t>principal component analysis</a:t>
              </a:r>
              <a:r>
                <a:rPr lang="zh-CN" altLang="fr-FR" sz="2000" b="1" dirty="0">
                  <a:solidFill>
                    <a:schemeClr val="tx1">
                      <a:lumMod val="95000"/>
                      <a:lumOff val="5000"/>
                    </a:schemeClr>
                  </a:solidFill>
                  <a:latin typeface="+mj-ea"/>
                  <a:ea typeface="+mj-ea"/>
                  <a:cs typeface="Times New Roman" panose="02020603050405020304" pitchFamily="18" charset="0"/>
                </a:rPr>
                <a:t>）</a:t>
              </a:r>
              <a:endParaRPr lang="zh-CN" altLang="en-US" sz="2000" b="1" dirty="0">
                <a:solidFill>
                  <a:schemeClr val="tx1">
                    <a:lumMod val="95000"/>
                    <a:lumOff val="5000"/>
                  </a:schemeClr>
                </a:solidFill>
                <a:latin typeface="+mj-ea"/>
                <a:ea typeface="+mj-ea"/>
              </a:endParaRPr>
            </a:p>
          </p:txBody>
        </p:sp>
      </p:grpSp>
    </p:spTree>
    <p:extLst>
      <p:ext uri="{BB962C8B-B14F-4D97-AF65-F5344CB8AC3E}">
        <p14:creationId xmlns:p14="http://schemas.microsoft.com/office/powerpoint/2010/main" val="1033400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9340BE9-E109-2D59-00B8-5676FD137698}"/>
              </a:ext>
            </a:extLst>
          </p:cNvPr>
          <p:cNvPicPr>
            <a:picLocks noChangeAspect="1"/>
          </p:cNvPicPr>
          <p:nvPr/>
        </p:nvPicPr>
        <p:blipFill>
          <a:blip r:embed="rId2"/>
          <a:stretch>
            <a:fillRect/>
          </a:stretch>
        </p:blipFill>
        <p:spPr>
          <a:xfrm>
            <a:off x="-87548" y="1453183"/>
            <a:ext cx="12437365" cy="5045271"/>
          </a:xfrm>
          <a:prstGeom prst="rect">
            <a:avLst/>
          </a:prstGeom>
        </p:spPr>
      </p:pic>
      <p:grpSp>
        <p:nvGrpSpPr>
          <p:cNvPr id="6" name="组合 5">
            <a:extLst>
              <a:ext uri="{FF2B5EF4-FFF2-40B4-BE49-F238E27FC236}">
                <a16:creationId xmlns:a16="http://schemas.microsoft.com/office/drawing/2014/main" id="{88608126-7205-31CA-958D-B4DD9FA669E3}"/>
              </a:ext>
            </a:extLst>
          </p:cNvPr>
          <p:cNvGrpSpPr/>
          <p:nvPr/>
        </p:nvGrpSpPr>
        <p:grpSpPr>
          <a:xfrm>
            <a:off x="1914538" y="1019128"/>
            <a:ext cx="7464387" cy="497934"/>
            <a:chOff x="4099943" y="2819853"/>
            <a:chExt cx="2570275" cy="497934"/>
          </a:xfrm>
        </p:grpSpPr>
        <p:sp>
          <p:nvSpPr>
            <p:cNvPr id="7" name="平行四边形 6">
              <a:extLst>
                <a:ext uri="{FF2B5EF4-FFF2-40B4-BE49-F238E27FC236}">
                  <a16:creationId xmlns:a16="http://schemas.microsoft.com/office/drawing/2014/main" id="{1E9B27D0-CF5F-B3B2-6AEE-3AA8AA0C016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a:extLst>
                <a:ext uri="{FF2B5EF4-FFF2-40B4-BE49-F238E27FC236}">
                  <a16:creationId xmlns:a16="http://schemas.microsoft.com/office/drawing/2014/main" id="{1E6A1531-26B5-6EDF-C80A-3E51E48DC56B}"/>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a:extLst>
                <a:ext uri="{FF2B5EF4-FFF2-40B4-BE49-F238E27FC236}">
                  <a16:creationId xmlns:a16="http://schemas.microsoft.com/office/drawing/2014/main" id="{416B6C06-820D-4334-05B5-750F80466FBA}"/>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fr-FR"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principal component analysis</a:t>
              </a:r>
              <a:r>
                <a:rPr lang="zh-CN" altLang="fr-FR"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EB89D6C-ACAD-C5EF-62F7-36D30CD37B03}"/>
                  </a:ext>
                </a:extLst>
              </p:cNvPr>
              <p:cNvSpPr txBox="1"/>
              <p:nvPr/>
            </p:nvSpPr>
            <p:spPr>
              <a:xfrm>
                <a:off x="4620792" y="0"/>
                <a:ext cx="7571208" cy="2862322"/>
              </a:xfrm>
              <a:prstGeom prst="rect">
                <a:avLst/>
              </a:prstGeom>
              <a:solidFill>
                <a:schemeClr val="bg1"/>
              </a:solidFill>
            </p:spPr>
            <p:txBody>
              <a:bodyPr wrap="square">
                <a:spAutoFit/>
              </a:bodyPr>
              <a:lstStyle/>
              <a:p>
                <a:pPr>
                  <a:lnSpc>
                    <a:spcPct val="200000"/>
                  </a:lnSpc>
                </a:pPr>
                <a:r>
                  <a:rPr lang="en-US" altLang="zh-CN" b="1" dirty="0" smtClean="0">
                    <a:latin typeface="+mj-ea"/>
                    <a:ea typeface="+mj-ea"/>
                  </a:rPr>
                  <a:t>LDA</a:t>
                </a:r>
                <a:r>
                  <a:rPr lang="zh-CN" altLang="en-US" b="1" dirty="0" smtClean="0">
                    <a:latin typeface="+mj-ea"/>
                    <a:ea typeface="+mj-ea"/>
                  </a:rPr>
                  <a:t>算法</a:t>
                </a:r>
                <a:r>
                  <a:rPr lang="zh-CN" altLang="en-US" b="1" dirty="0">
                    <a:latin typeface="+mj-ea"/>
                    <a:ea typeface="+mj-ea"/>
                  </a:rPr>
                  <a:t>流程：</a:t>
                </a:r>
                <a:endParaRPr lang="en-US" altLang="zh-CN" b="1" dirty="0">
                  <a:latin typeface="+mj-ea"/>
                  <a:ea typeface="+mj-ea"/>
                </a:endParaRPr>
              </a:p>
              <a:p>
                <a:pPr marL="285750" indent="-285750">
                  <a:lnSpc>
                    <a:spcPct val="200000"/>
                  </a:lnSpc>
                  <a:buFont typeface="Arial" panose="020B0604020202020204" pitchFamily="34" charset="0"/>
                  <a:buChar char="•"/>
                </a:pPr>
                <a:r>
                  <a:rPr lang="zh-CN" altLang="en-US" dirty="0" smtClean="0">
                    <a:latin typeface="+mj-ea"/>
                    <a:ea typeface="+mj-ea"/>
                  </a:rPr>
                  <a:t>根据输入数据 </a:t>
                </a:r>
                <a:r>
                  <a:rPr lang="zh-CN" altLang="en-US" dirty="0">
                    <a:latin typeface="+mj-ea"/>
                    <a:ea typeface="+mj-ea"/>
                  </a:rPr>
                  <a:t>X 和标签 </a:t>
                </a:r>
                <a:r>
                  <a:rPr lang="zh-CN" altLang="en-US" dirty="0" smtClean="0">
                    <a:latin typeface="+mj-ea"/>
                    <a:ea typeface="+mj-ea"/>
                  </a:rPr>
                  <a:t>y</a:t>
                </a:r>
                <a:r>
                  <a:rPr lang="zh-CN" altLang="en-US" dirty="0">
                    <a:latin typeface="+mj-ea"/>
                    <a:ea typeface="+mj-ea"/>
                  </a:rPr>
                  <a:t>，</a:t>
                </a:r>
                <a:r>
                  <a:rPr lang="zh-CN" altLang="en-US" dirty="0" smtClean="0">
                    <a:latin typeface="+mj-ea"/>
                    <a:ea typeface="+mj-ea"/>
                  </a:rPr>
                  <a:t>计算</a:t>
                </a:r>
                <a:r>
                  <a:rPr lang="zh-CN" altLang="en-US" dirty="0">
                    <a:latin typeface="+mj-ea"/>
                    <a:ea typeface="+mj-ea"/>
                  </a:rPr>
                  <a:t>每个类别的均值向量</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b="1" i="1" kern="100">
                            <a:latin typeface="Cambria Math" panose="02040503050406030204" pitchFamily="18" charset="0"/>
                            <a:ea typeface="+mj-ea"/>
                            <a:cs typeface="Times New Roman" panose="02020603050405020304" pitchFamily="18" charset="0"/>
                          </a:rPr>
                          <m:t>𝒎</m:t>
                        </m:r>
                      </m:e>
                      <m:sub>
                        <m:r>
                          <a:rPr lang="en-US" altLang="zh-CN" i="1" kern="100">
                            <a:latin typeface="Cambria Math" panose="02040503050406030204" pitchFamily="18" charset="0"/>
                            <a:ea typeface="+mj-ea"/>
                            <a:cs typeface="Times New Roman" panose="02020603050405020304" pitchFamily="18" charset="0"/>
                          </a:rPr>
                          <m:t>𝑖</m:t>
                        </m:r>
                      </m:sub>
                    </m:sSub>
                    <m:r>
                      <a:rPr lang="zh-CN" altLang="en-US" i="1" kern="100">
                        <a:latin typeface="Cambria Math" panose="02040503050406030204" pitchFamily="18" charset="0"/>
                        <a:ea typeface="+mj-ea"/>
                        <a:cs typeface="Times New Roman" panose="02020603050405020304" pitchFamily="18" charset="0"/>
                      </a:rPr>
                      <m:t>和</m:t>
                    </m:r>
                  </m:oMath>
                </a14:m>
                <a:r>
                  <a:rPr lang="zh-CN" altLang="en-US" dirty="0" smtClean="0">
                    <a:latin typeface="+mj-ea"/>
                    <a:ea typeface="+mj-ea"/>
                  </a:rPr>
                  <a:t>总均值</a:t>
                </a:r>
                <a14:m>
                  <m:oMath xmlns:m="http://schemas.openxmlformats.org/officeDocument/2006/math">
                    <m:r>
                      <a:rPr lang="en-US" altLang="zh-CN" b="1" i="1" kern="100" dirty="0">
                        <a:latin typeface="Cambria Math" panose="02040503050406030204" pitchFamily="18" charset="0"/>
                        <a:ea typeface="+mj-ea"/>
                        <a:cs typeface="Times New Roman" panose="02020603050405020304" pitchFamily="18" charset="0"/>
                      </a:rPr>
                      <m:t>𝒎</m:t>
                    </m:r>
                  </m:oMath>
                </a14:m>
                <a:r>
                  <a:rPr lang="zh-CN" altLang="en-US" dirty="0" smtClean="0">
                    <a:latin typeface="+mj-ea"/>
                    <a:ea typeface="+mj-ea"/>
                  </a:rPr>
                  <a:t>。</a:t>
                </a:r>
                <a:endParaRPr lang="zh-CN" altLang="en-US" dirty="0">
                  <a:latin typeface="+mj-ea"/>
                  <a:ea typeface="+mj-ea"/>
                </a:endParaRPr>
              </a:p>
              <a:p>
                <a:pPr marL="285750" indent="-285750">
                  <a:lnSpc>
                    <a:spcPct val="200000"/>
                  </a:lnSpc>
                  <a:buFont typeface="Arial" panose="020B0604020202020204" pitchFamily="34" charset="0"/>
                  <a:buChar char="•"/>
                </a:pPr>
                <a:r>
                  <a:rPr lang="zh-CN" altLang="en-US" dirty="0" smtClean="0">
                    <a:latin typeface="+mj-ea"/>
                    <a:ea typeface="+mj-ea"/>
                  </a:rPr>
                  <a:t>计算</a:t>
                </a:r>
                <a:r>
                  <a:rPr lang="zh-CN" altLang="en-US" dirty="0">
                    <a:latin typeface="+mj-ea"/>
                    <a:ea typeface="+mj-ea"/>
                  </a:rPr>
                  <a:t>类内散度矩阵 </a:t>
                </a:r>
                <a:r>
                  <a:rPr lang="zh-CN" altLang="en-US" dirty="0" smtClean="0">
                    <a:latin typeface="+mj-ea"/>
                    <a:ea typeface="+mj-ea"/>
                  </a:rPr>
                  <a:t>S</a:t>
                </a:r>
                <a:r>
                  <a:rPr lang="zh-CN" altLang="en-US" baseline="-25000" dirty="0" smtClean="0">
                    <a:latin typeface="+mj-ea"/>
                    <a:ea typeface="+mj-ea"/>
                  </a:rPr>
                  <a:t>w</a:t>
                </a:r>
                <a:r>
                  <a:rPr lang="zh-CN" altLang="en-US" dirty="0" smtClean="0">
                    <a:latin typeface="+mj-ea"/>
                    <a:ea typeface="+mj-ea"/>
                  </a:rPr>
                  <a:t>、算类间散度矩阵 S</a:t>
                </a:r>
                <a:r>
                  <a:rPr lang="zh-CN" altLang="en-US" baseline="-25000" dirty="0" smtClean="0">
                    <a:latin typeface="+mj-ea"/>
                    <a:ea typeface="+mj-ea"/>
                  </a:rPr>
                  <a:t>b</a:t>
                </a:r>
              </a:p>
              <a:p>
                <a:pPr marL="285750" indent="-285750">
                  <a:lnSpc>
                    <a:spcPct val="200000"/>
                  </a:lnSpc>
                  <a:buFont typeface="Arial" panose="020B0604020202020204" pitchFamily="34" charset="0"/>
                  <a:buChar char="•"/>
                </a:pPr>
                <a:r>
                  <a:rPr lang="zh-CN" altLang="en-US" dirty="0" smtClean="0">
                    <a:latin typeface="+mj-ea"/>
                    <a:ea typeface="+mj-ea"/>
                  </a:rPr>
                  <a:t>求解 S</a:t>
                </a:r>
                <a:r>
                  <a:rPr lang="zh-CN" altLang="en-US" baseline="-25000" dirty="0" smtClean="0">
                    <a:latin typeface="+mj-ea"/>
                    <a:ea typeface="+mj-ea"/>
                  </a:rPr>
                  <a:t>w</a:t>
                </a:r>
                <a:r>
                  <a:rPr lang="zh-CN" altLang="en-US" baseline="30000" dirty="0" smtClean="0">
                    <a:latin typeface="+mj-ea"/>
                    <a:ea typeface="+mj-ea"/>
                  </a:rPr>
                  <a:t>-1</a:t>
                </a:r>
                <a:r>
                  <a:rPr lang="zh-CN" altLang="en-US" dirty="0" smtClean="0">
                    <a:latin typeface="+mj-ea"/>
                    <a:ea typeface="+mj-ea"/>
                  </a:rPr>
                  <a:t>S</a:t>
                </a:r>
                <a:r>
                  <a:rPr lang="zh-CN" altLang="en-US" baseline="-25000" dirty="0" smtClean="0">
                    <a:latin typeface="+mj-ea"/>
                    <a:ea typeface="+mj-ea"/>
                  </a:rPr>
                  <a:t>b</a:t>
                </a:r>
                <a:r>
                  <a:rPr lang="zh-CN" altLang="en-US" dirty="0" smtClean="0">
                    <a:latin typeface="+mj-ea"/>
                    <a:ea typeface="+mj-ea"/>
                  </a:rPr>
                  <a:t>的前</a:t>
                </a:r>
                <a:r>
                  <a:rPr lang="en-US" altLang="zh-CN" dirty="0" smtClean="0">
                    <a:latin typeface="+mj-ea"/>
                    <a:ea typeface="+mj-ea"/>
                  </a:rPr>
                  <a:t>r</a:t>
                </a:r>
                <a:r>
                  <a:rPr lang="zh-CN" altLang="en-US" dirty="0" smtClean="0">
                    <a:latin typeface="+mj-ea"/>
                    <a:ea typeface="+mj-ea"/>
                  </a:rPr>
                  <a:t>个最大特征值</a:t>
                </a:r>
                <a:r>
                  <a:rPr lang="zh-CN" altLang="en-US" dirty="0">
                    <a:latin typeface="+mj-ea"/>
                    <a:ea typeface="+mj-ea"/>
                  </a:rPr>
                  <a:t>和特征向量，获得投影矩阵W</a:t>
                </a:r>
              </a:p>
              <a:p>
                <a:pPr marL="285750" indent="-285750">
                  <a:lnSpc>
                    <a:spcPct val="200000"/>
                  </a:lnSpc>
                  <a:buFont typeface="Arial" panose="020B0604020202020204" pitchFamily="34" charset="0"/>
                  <a:buChar char="•"/>
                </a:pPr>
                <a:r>
                  <a:rPr lang="zh-CN" altLang="en-US" dirty="0" smtClean="0">
                    <a:latin typeface="+mj-ea"/>
                    <a:ea typeface="+mj-ea"/>
                  </a:rPr>
                  <a:t>通过</a:t>
                </a:r>
                <a:r>
                  <a:rPr lang="en-US" altLang="zh-CN" dirty="0" smtClean="0">
                    <a:latin typeface="+mj-ea"/>
                    <a:ea typeface="+mj-ea"/>
                  </a:rPr>
                  <a:t>W</a:t>
                </a:r>
                <a:r>
                  <a:rPr lang="zh-CN" altLang="en-US" dirty="0" smtClean="0">
                    <a:latin typeface="+mj-ea"/>
                    <a:ea typeface="+mj-ea"/>
                  </a:rPr>
                  <a:t>，将</a:t>
                </a:r>
                <a:r>
                  <a:rPr lang="zh-CN" altLang="en-US" dirty="0">
                    <a:latin typeface="+mj-ea"/>
                    <a:ea typeface="+mj-ea"/>
                  </a:rPr>
                  <a:t>数据 X 投影到低维</a:t>
                </a:r>
                <a:r>
                  <a:rPr lang="zh-CN" altLang="en-US" dirty="0" smtClean="0">
                    <a:latin typeface="+mj-ea"/>
                    <a:ea typeface="+mj-ea"/>
                  </a:rPr>
                  <a:t>空间，实现特征降维</a:t>
                </a:r>
                <a:endParaRPr lang="zh-CN" altLang="en-US" dirty="0">
                  <a:latin typeface="+mj-ea"/>
                  <a:ea typeface="+mj-ea"/>
                </a:endParaRPr>
              </a:p>
            </p:txBody>
          </p:sp>
        </mc:Choice>
        <mc:Fallback xmlns="">
          <p:sp>
            <p:nvSpPr>
              <p:cNvPr id="10" name="文本框 9">
                <a:extLst>
                  <a:ext uri="{FF2B5EF4-FFF2-40B4-BE49-F238E27FC236}">
                    <a16:creationId xmlns:a16="http://schemas.microsoft.com/office/drawing/2014/main" id="{6EB89D6C-ACAD-C5EF-62F7-36D30CD37B03}"/>
                  </a:ext>
                </a:extLst>
              </p:cNvPr>
              <p:cNvSpPr txBox="1">
                <a:spLocks noRot="1" noChangeAspect="1" noMove="1" noResize="1" noEditPoints="1" noAdjustHandles="1" noChangeArrowheads="1" noChangeShapeType="1" noTextEdit="1"/>
              </p:cNvSpPr>
              <p:nvPr/>
            </p:nvSpPr>
            <p:spPr>
              <a:xfrm>
                <a:off x="4620792" y="0"/>
                <a:ext cx="7571208" cy="2862322"/>
              </a:xfrm>
              <a:prstGeom prst="rect">
                <a:avLst/>
              </a:prstGeom>
              <a:blipFill>
                <a:blip r:embed="rId3"/>
                <a:stretch>
                  <a:fillRect l="-6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826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3432534151"/>
              </p:ext>
            </p:extLst>
          </p:nvPr>
        </p:nvGraphicFramePr>
        <p:xfrm>
          <a:off x="177552" y="1811045"/>
          <a:ext cx="11701930" cy="4456591"/>
        </p:xfrm>
        <a:graphic>
          <a:graphicData uri="http://schemas.openxmlformats.org/drawingml/2006/table">
            <a:tbl>
              <a:tblPr firstRow="1" bandRow="1">
                <a:tableStyleId>{5C22544A-7EE6-4342-B048-85BDC9FD1C3A}</a:tableStyleId>
              </a:tblPr>
              <a:tblGrid>
                <a:gridCol w="1526961">
                  <a:extLst>
                    <a:ext uri="{9D8B030D-6E8A-4147-A177-3AD203B41FA5}">
                      <a16:colId xmlns:a16="http://schemas.microsoft.com/office/drawing/2014/main" val="20000"/>
                    </a:ext>
                  </a:extLst>
                </a:gridCol>
                <a:gridCol w="3169328">
                  <a:extLst>
                    <a:ext uri="{9D8B030D-6E8A-4147-A177-3AD203B41FA5}">
                      <a16:colId xmlns:a16="http://schemas.microsoft.com/office/drawing/2014/main" val="20001"/>
                    </a:ext>
                  </a:extLst>
                </a:gridCol>
                <a:gridCol w="3586578">
                  <a:extLst>
                    <a:ext uri="{9D8B030D-6E8A-4147-A177-3AD203B41FA5}">
                      <a16:colId xmlns:a16="http://schemas.microsoft.com/office/drawing/2014/main" val="20002"/>
                    </a:ext>
                  </a:extLst>
                </a:gridCol>
                <a:gridCol w="3419063">
                  <a:extLst>
                    <a:ext uri="{9D8B030D-6E8A-4147-A177-3AD203B41FA5}">
                      <a16:colId xmlns:a16="http://schemas.microsoft.com/office/drawing/2014/main" val="1021459990"/>
                    </a:ext>
                  </a:extLst>
                </a:gridCol>
              </a:tblGrid>
              <a:tr h="660956">
                <a:tc>
                  <a:txBody>
                    <a:bodyPr/>
                    <a:lstStyle/>
                    <a:p>
                      <a:pPr algn="l">
                        <a:lnSpc>
                          <a:spcPct val="100000"/>
                        </a:lnSpc>
                        <a:spcAft>
                          <a:spcPts val="0"/>
                        </a:spcAft>
                      </a:pPr>
                      <a:r>
                        <a:rPr lang="zh-CN" sz="2200" kern="100" dirty="0">
                          <a:solidFill>
                            <a:schemeClr val="tx1"/>
                          </a:solidFill>
                          <a:effectLst/>
                        </a:rPr>
                        <a:t>  对比维度 </a:t>
                      </a:r>
                      <a:r>
                        <a:rPr lang="en-US" sz="2200" kern="100" dirty="0">
                          <a:solidFill>
                            <a:schemeClr val="tx1"/>
                          </a:solidFill>
                          <a:effectLst/>
                        </a:rPr>
                        <a:t>       </a:t>
                      </a:r>
                      <a:endParaRPr lang="zh-CN" sz="2200" kern="100" dirty="0">
                        <a:solidFill>
                          <a:schemeClr val="tx1"/>
                        </a:solidFill>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00000"/>
                        </a:lnSpc>
                        <a:spcAft>
                          <a:spcPts val="0"/>
                        </a:spcAft>
                      </a:pPr>
                      <a:r>
                        <a:rPr lang="en-US" sz="2200" kern="100" dirty="0" smtClean="0">
                          <a:solidFill>
                            <a:schemeClr val="tx1"/>
                          </a:solidFill>
                          <a:effectLst/>
                        </a:rPr>
                        <a:t> PCA</a:t>
                      </a:r>
                      <a:r>
                        <a:rPr lang="en-US" altLang="zh-CN" sz="2200" kern="100" dirty="0" smtClean="0">
                          <a:solidFill>
                            <a:schemeClr val="tx1"/>
                          </a:solidFill>
                          <a:effectLst/>
                        </a:rPr>
                        <a:t> </a:t>
                      </a:r>
                      <a:r>
                        <a:rPr lang="zh-CN" sz="2200" kern="100" dirty="0" smtClean="0">
                          <a:solidFill>
                            <a:schemeClr val="tx1"/>
                          </a:solidFill>
                          <a:effectLst/>
                        </a:rPr>
                        <a:t> </a:t>
                      </a:r>
                      <a:r>
                        <a:rPr lang="en-US" sz="2200" kern="100" dirty="0" smtClean="0">
                          <a:solidFill>
                            <a:schemeClr val="tx1"/>
                          </a:solidFill>
                          <a:effectLst/>
                        </a:rPr>
                        <a:t>                          </a:t>
                      </a:r>
                      <a:endParaRPr lang="zh-CN" sz="2200" kern="100" dirty="0">
                        <a:solidFill>
                          <a:schemeClr val="tx1"/>
                        </a:solidFill>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00000"/>
                        </a:lnSpc>
                        <a:spcAft>
                          <a:spcPts val="0"/>
                        </a:spcAft>
                      </a:pPr>
                      <a:r>
                        <a:rPr lang="en-US" sz="2200" kern="100" dirty="0">
                          <a:solidFill>
                            <a:schemeClr val="tx1"/>
                          </a:solidFill>
                          <a:effectLst/>
                        </a:rPr>
                        <a:t>  </a:t>
                      </a:r>
                      <a:r>
                        <a:rPr lang="en-US" sz="2200" kern="100" dirty="0" smtClean="0">
                          <a:solidFill>
                            <a:schemeClr val="tx1"/>
                          </a:solidFill>
                          <a:effectLst/>
                        </a:rPr>
                        <a:t>LDA</a:t>
                      </a:r>
                      <a:endParaRPr lang="zh-CN" sz="2200" kern="100" dirty="0">
                        <a:solidFill>
                          <a:schemeClr val="tx1"/>
                        </a:solidFill>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lnSpc>
                          <a:spcPct val="100000"/>
                        </a:lnSpc>
                        <a:spcAft>
                          <a:spcPts val="0"/>
                        </a:spcAft>
                      </a:pPr>
                      <a:r>
                        <a:rPr lang="en-US" sz="2200" kern="100" dirty="0">
                          <a:solidFill>
                            <a:schemeClr val="tx1"/>
                          </a:solidFill>
                          <a:effectLst/>
                        </a:rPr>
                        <a:t>  </a:t>
                      </a:r>
                      <a:r>
                        <a:rPr lang="zh-CN" sz="2200" kern="100" dirty="0" smtClean="0">
                          <a:solidFill>
                            <a:schemeClr val="tx1"/>
                          </a:solidFill>
                          <a:effectLst/>
                        </a:rPr>
                        <a:t>相似性 </a:t>
                      </a:r>
                      <a:r>
                        <a:rPr lang="en-US" sz="2200" kern="100" dirty="0" smtClean="0">
                          <a:solidFill>
                            <a:schemeClr val="tx1"/>
                          </a:solidFill>
                          <a:effectLst/>
                        </a:rPr>
                        <a:t>                              </a:t>
                      </a:r>
                      <a:endParaRPr lang="zh-CN" sz="2200" kern="100" dirty="0">
                        <a:solidFill>
                          <a:schemeClr val="tx1"/>
                        </a:solidFill>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594527">
                <a:tc>
                  <a:txBody>
                    <a:bodyPr/>
                    <a:lstStyle/>
                    <a:p>
                      <a:pPr algn="l">
                        <a:lnSpc>
                          <a:spcPct val="100000"/>
                        </a:lnSpc>
                        <a:spcAft>
                          <a:spcPts val="0"/>
                        </a:spcAft>
                      </a:pPr>
                      <a:r>
                        <a:rPr lang="en-US" sz="1800" b="1" kern="100" dirty="0">
                          <a:effectLst/>
                        </a:rPr>
                        <a:t>  </a:t>
                      </a:r>
                      <a:r>
                        <a:rPr lang="zh-CN" sz="1800" b="1" kern="100" dirty="0">
                          <a:effectLst/>
                        </a:rPr>
                        <a:t>监督性 </a:t>
                      </a:r>
                      <a:r>
                        <a:rPr lang="en-US" sz="1800" b="1" kern="100" dirty="0">
                          <a:effectLst/>
                        </a:rPr>
                        <a:t>         </a:t>
                      </a:r>
                      <a:endParaRPr lang="zh-CN" sz="1800" b="1"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无监督（无标签）</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a:effectLst/>
                        </a:rPr>
                        <a:t> </a:t>
                      </a:r>
                      <a:r>
                        <a:rPr lang="zh-CN" sz="1800" b="0" kern="100">
                          <a:effectLst/>
                        </a:rPr>
                        <a:t>有监督（依赖标签）</a:t>
                      </a:r>
                      <a:r>
                        <a:rPr lang="en-US" sz="1800" b="0" kern="100">
                          <a:effectLst/>
                        </a:rPr>
                        <a:t>                            </a:t>
                      </a:r>
                      <a:endParaRPr lang="zh-CN" sz="1800" b="0" kern="10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a:effectLst/>
                        </a:rPr>
                        <a:t> </a:t>
                      </a:r>
                      <a:r>
                        <a:rPr lang="zh-CN" sz="1800" b="0" kern="100">
                          <a:effectLst/>
                        </a:rPr>
                        <a:t>无</a:t>
                      </a:r>
                      <a:r>
                        <a:rPr lang="en-US" sz="1800" b="0" kern="100">
                          <a:effectLst/>
                        </a:rPr>
                        <a:t>                                         </a:t>
                      </a:r>
                      <a:endParaRPr lang="zh-CN" sz="1800" b="0" kern="10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36989">
                <a:tc>
                  <a:txBody>
                    <a:bodyPr/>
                    <a:lstStyle/>
                    <a:p>
                      <a:pPr algn="l">
                        <a:lnSpc>
                          <a:spcPct val="100000"/>
                        </a:lnSpc>
                        <a:spcAft>
                          <a:spcPts val="0"/>
                        </a:spcAft>
                      </a:pPr>
                      <a:r>
                        <a:rPr lang="en-US" sz="1800" b="1" kern="100" dirty="0">
                          <a:effectLst/>
                        </a:rPr>
                        <a:t>  </a:t>
                      </a:r>
                      <a:r>
                        <a:rPr lang="zh-CN" sz="1800" b="1" kern="100" dirty="0">
                          <a:effectLst/>
                        </a:rPr>
                        <a:t>核心目标 </a:t>
                      </a:r>
                      <a:r>
                        <a:rPr lang="en-US" sz="1800" b="1" kern="100" dirty="0">
                          <a:effectLst/>
                        </a:rPr>
                        <a:t>       </a:t>
                      </a:r>
                      <a:endParaRPr lang="zh-CN" sz="1800" b="1"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最大化投影方向上的数据方差</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最大化类间散度与类内散度的比值</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均通过线性投影优化目标函数</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714472"/>
                  </a:ext>
                </a:extLst>
              </a:tr>
              <a:tr h="957709">
                <a:tc>
                  <a:txBody>
                    <a:bodyPr/>
                    <a:lstStyle/>
                    <a:p>
                      <a:pPr algn="l">
                        <a:lnSpc>
                          <a:spcPct val="100000"/>
                        </a:lnSpc>
                        <a:spcAft>
                          <a:spcPts val="0"/>
                        </a:spcAft>
                      </a:pPr>
                      <a:r>
                        <a:rPr lang="en-US" sz="1800" b="1" kern="100" dirty="0">
                          <a:effectLst/>
                        </a:rPr>
                        <a:t>  </a:t>
                      </a:r>
                      <a:r>
                        <a:rPr lang="zh-CN" sz="1800" b="1" kern="100" dirty="0">
                          <a:effectLst/>
                        </a:rPr>
                        <a:t>数学方法 </a:t>
                      </a:r>
                      <a:r>
                        <a:rPr lang="en-US" sz="1800" b="1" kern="100" dirty="0">
                          <a:effectLst/>
                        </a:rPr>
                        <a:t>       </a:t>
                      </a:r>
                      <a:endParaRPr lang="zh-CN" sz="1800" b="1"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协方差矩阵特征分解</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J(W)</a:t>
                      </a:r>
                      <a:r>
                        <a:rPr lang="zh-CN" sz="1800" b="0" kern="100" dirty="0">
                          <a:effectLst/>
                        </a:rPr>
                        <a:t>特征分解</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zh-CN" sz="1800" b="0" kern="100" dirty="0">
                          <a:effectLst/>
                        </a:rPr>
                        <a:t>均依赖特征值分解或广义特征值分解</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406410">
                <a:tc>
                  <a:txBody>
                    <a:bodyPr/>
                    <a:lstStyle/>
                    <a:p>
                      <a:pPr algn="l">
                        <a:lnSpc>
                          <a:spcPct val="100000"/>
                        </a:lnSpc>
                        <a:spcAft>
                          <a:spcPts val="0"/>
                        </a:spcAft>
                      </a:pPr>
                      <a:r>
                        <a:rPr lang="en-US" sz="1800" b="1" kern="100" dirty="0">
                          <a:effectLst/>
                        </a:rPr>
                        <a:t>  </a:t>
                      </a:r>
                      <a:r>
                        <a:rPr lang="zh-CN" sz="1800" b="1" kern="100" dirty="0">
                          <a:effectLst/>
                        </a:rPr>
                        <a:t>适用场景 </a:t>
                      </a:r>
                      <a:r>
                        <a:rPr lang="en-US" sz="1800" b="1" kern="100" dirty="0">
                          <a:effectLst/>
                        </a:rPr>
                        <a:t>       </a:t>
                      </a:r>
                      <a:endParaRPr lang="zh-CN" sz="1800" b="1"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a:effectLst/>
                        </a:rPr>
                        <a:t> </a:t>
                      </a:r>
                      <a:r>
                        <a:rPr lang="zh-CN" sz="1800" b="0" kern="100">
                          <a:effectLst/>
                        </a:rPr>
                        <a:t>通用降维、去噪、数据可视化</a:t>
                      </a:r>
                      <a:r>
                        <a:rPr lang="en-US" sz="1800" b="0" kern="100">
                          <a:effectLst/>
                        </a:rPr>
                        <a:t>                    </a:t>
                      </a:r>
                      <a:endParaRPr lang="zh-CN" sz="1800" b="0" kern="10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a:effectLst/>
                        </a:rPr>
                        <a:t> </a:t>
                      </a:r>
                      <a:r>
                        <a:rPr lang="zh-CN" sz="1800" b="0" kern="100">
                          <a:effectLst/>
                        </a:rPr>
                        <a:t>分类任务的特征提取、监督降维</a:t>
                      </a:r>
                      <a:r>
                        <a:rPr lang="en-US" sz="1800" b="0" kern="100">
                          <a:effectLst/>
                        </a:rPr>
                        <a:t>                  </a:t>
                      </a:r>
                      <a:endParaRPr lang="zh-CN" sz="1800" b="0" kern="10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Aft>
                          <a:spcPts val="0"/>
                        </a:spcAft>
                      </a:pPr>
                      <a:r>
                        <a:rPr lang="en-US" sz="1800" b="0" kern="100" dirty="0">
                          <a:effectLst/>
                        </a:rPr>
                        <a:t> </a:t>
                      </a:r>
                      <a:r>
                        <a:rPr lang="zh-CN" sz="1800" b="0" kern="100" dirty="0">
                          <a:effectLst/>
                        </a:rPr>
                        <a:t>均适用于高维数据的低维表示</a:t>
                      </a:r>
                      <a:r>
                        <a:rPr lang="en-US" sz="1800" b="0" kern="100" dirty="0">
                          <a:effectLst/>
                        </a:rPr>
                        <a:t>                  </a:t>
                      </a:r>
                      <a:endParaRPr lang="zh-CN" sz="1800" b="0" kern="100" dirty="0">
                        <a:effectLst/>
                        <a:latin typeface="+mj-ea"/>
                        <a:ea typeface="+mj-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242876"/>
                  </a:ext>
                </a:extLst>
              </a:tr>
            </a:tbl>
          </a:graphicData>
        </a:graphic>
      </p:graphicFrame>
      <p:grpSp>
        <p:nvGrpSpPr>
          <p:cNvPr id="4" name="组合 3">
            <a:extLst>
              <a:ext uri="{FF2B5EF4-FFF2-40B4-BE49-F238E27FC236}">
                <a16:creationId xmlns:a16="http://schemas.microsoft.com/office/drawing/2014/main" id="{88608126-7205-31CA-958D-B4DD9FA669E3}"/>
              </a:ext>
            </a:extLst>
          </p:cNvPr>
          <p:cNvGrpSpPr/>
          <p:nvPr/>
        </p:nvGrpSpPr>
        <p:grpSpPr>
          <a:xfrm>
            <a:off x="1053404" y="681777"/>
            <a:ext cx="7464387" cy="497934"/>
            <a:chOff x="4099943" y="2819853"/>
            <a:chExt cx="2570275" cy="497934"/>
          </a:xfrm>
        </p:grpSpPr>
        <p:sp>
          <p:nvSpPr>
            <p:cNvPr id="5" name="平行四边形 4">
              <a:extLst>
                <a:ext uri="{FF2B5EF4-FFF2-40B4-BE49-F238E27FC236}">
                  <a16:creationId xmlns:a16="http://schemas.microsoft.com/office/drawing/2014/main" id="{1E9B27D0-CF5F-B3B2-6AEE-3AA8AA0C016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1E6A1531-26B5-6EDF-C80A-3E51E48DC56B}"/>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416B6C06-820D-4334-05B5-750F80466FBA}"/>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对比两种降维算法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217197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F07E740-89CB-443A-988F-F99EF48C4B3B}"/>
              </a:ext>
            </a:extLst>
          </p:cNvPr>
          <p:cNvSpPr/>
          <p:nvPr/>
        </p:nvSpPr>
        <p:spPr>
          <a:xfrm>
            <a:off x="856506" y="1847266"/>
            <a:ext cx="10265923" cy="3970318"/>
          </a:xfrm>
          <a:prstGeom prst="rect">
            <a:avLst/>
          </a:prstGeom>
        </p:spPr>
        <p:txBody>
          <a:bodyPr wrap="square">
            <a:spAutoFit/>
          </a:bodyPr>
          <a:lstStyle/>
          <a:p>
            <a:pPr>
              <a:lnSpc>
                <a:spcPct val="200000"/>
              </a:lnSpc>
            </a:pPr>
            <a:endParaRPr lang="zh-CN" altLang="en-US" b="1" dirty="0">
              <a:latin typeface="+mj-ea"/>
              <a:ea typeface="+mj-ea"/>
              <a:cs typeface="Times New Roman" panose="02020603050405020304" pitchFamily="18" charset="0"/>
            </a:endParaRPr>
          </a:p>
          <a:p>
            <a:pPr marL="285750" indent="-285750" algn="just">
              <a:lnSpc>
                <a:spcPct val="200000"/>
              </a:lnSpc>
              <a:buFont typeface="Wingdings" panose="05000000000000000000" pitchFamily="2" charset="2"/>
              <a:buChar char="l"/>
            </a:pPr>
            <a:r>
              <a:rPr lang="zh-CN" altLang="en-US" dirty="0">
                <a:latin typeface="+mj-ea"/>
                <a:ea typeface="+mj-ea"/>
                <a:cs typeface="Times New Roman" panose="02020603050405020304" pitchFamily="18" charset="0"/>
              </a:rPr>
              <a:t>特征人脸是基于外观的人脸识别方法，其目的是捕捉人脸图像集合中的特征信息，并使用该信息</a:t>
            </a:r>
            <a:r>
              <a:rPr lang="zh-CN" altLang="en-US" dirty="0">
                <a:solidFill>
                  <a:srgbClr val="FF0000"/>
                </a:solidFill>
                <a:latin typeface="+mj-ea"/>
                <a:ea typeface="+mj-ea"/>
                <a:cs typeface="Times New Roman" panose="02020603050405020304" pitchFamily="18" charset="0"/>
              </a:rPr>
              <a:t>对各个人脸图像进行编码和比较</a:t>
            </a:r>
            <a:r>
              <a:rPr lang="zh-CN" altLang="en-US" dirty="0">
                <a:latin typeface="+mj-ea"/>
                <a:ea typeface="+mj-ea"/>
                <a:cs typeface="Times New Roman" panose="02020603050405020304" pitchFamily="18" charset="0"/>
              </a:rPr>
              <a:t>。换句话说，特征人脸提取了人脸图像的面部信息，这些信息可能与人的直觉相符，如眼睛、鼻子和嘴唇的大小、形状特征。这样，特征人脸就可以有效地表现原始面部图像，减少计算和空间复杂度。</a:t>
            </a:r>
          </a:p>
          <a:p>
            <a:pPr marL="285750" indent="-285750" algn="just">
              <a:lnSpc>
                <a:spcPct val="200000"/>
              </a:lnSpc>
              <a:buFont typeface="Wingdings" panose="05000000000000000000" pitchFamily="2" charset="2"/>
              <a:buChar char="l"/>
            </a:pPr>
            <a:r>
              <a:rPr lang="zh-CN" altLang="en-US" dirty="0">
                <a:latin typeface="+mj-ea"/>
                <a:ea typeface="+mj-ea"/>
                <a:cs typeface="Times New Roman" panose="02020603050405020304" pitchFamily="18" charset="0"/>
              </a:rPr>
              <a:t>使用主成分分析的手段表示特征人脸的思想最先由</a:t>
            </a:r>
            <a:r>
              <a:rPr lang="en-US" altLang="zh-CN" dirty="0" err="1">
                <a:latin typeface="+mj-ea"/>
                <a:ea typeface="+mj-ea"/>
                <a:cs typeface="Times New Roman" panose="02020603050405020304" pitchFamily="18" charset="0"/>
              </a:rPr>
              <a:t>Sirovich</a:t>
            </a:r>
            <a:r>
              <a:rPr lang="zh-CN" altLang="en-US"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Kirby </a:t>
            </a:r>
            <a:r>
              <a:rPr lang="zh-CN" altLang="en-US" dirty="0">
                <a:latin typeface="+mj-ea"/>
                <a:ea typeface="+mj-ea"/>
                <a:cs typeface="Times New Roman" panose="02020603050405020304" pitchFamily="18" charset="0"/>
              </a:rPr>
              <a:t>提出</a:t>
            </a:r>
            <a:r>
              <a:rPr lang="zh-CN" altLang="en-US" dirty="0" smtClean="0">
                <a:latin typeface="+mj-ea"/>
                <a:ea typeface="+mj-ea"/>
                <a:cs typeface="Times New Roman" panose="02020603050405020304" pitchFamily="18" charset="0"/>
              </a:rPr>
              <a:t>，其本质是</a:t>
            </a:r>
            <a:r>
              <a:rPr lang="zh-CN" altLang="en-US" dirty="0" smtClean="0">
                <a:solidFill>
                  <a:srgbClr val="FF0000"/>
                </a:solidFill>
                <a:latin typeface="+mj-ea"/>
                <a:ea typeface="+mj-ea"/>
                <a:cs typeface="Times New Roman" panose="02020603050405020304" pitchFamily="18" charset="0"/>
              </a:rPr>
              <a:t>使用一组特征向量的</a:t>
            </a:r>
            <a:r>
              <a:rPr lang="zh-CN" altLang="en-US" b="1" dirty="0" smtClean="0">
                <a:solidFill>
                  <a:srgbClr val="FF0000"/>
                </a:solidFill>
                <a:latin typeface="+mj-ea"/>
                <a:ea typeface="+mj-ea"/>
                <a:cs typeface="Times New Roman" panose="02020603050405020304" pitchFamily="18" charset="0"/>
              </a:rPr>
              <a:t>线性组合</a:t>
            </a:r>
            <a:r>
              <a:rPr lang="zh-CN" altLang="en-US" dirty="0" smtClean="0">
                <a:solidFill>
                  <a:srgbClr val="FF0000"/>
                </a:solidFill>
                <a:latin typeface="+mj-ea"/>
                <a:ea typeface="+mj-ea"/>
                <a:cs typeface="Times New Roman" panose="02020603050405020304" pitchFamily="18" charset="0"/>
              </a:rPr>
              <a:t>来表示原始人脸，进而实现人脸识别</a:t>
            </a:r>
            <a:r>
              <a:rPr lang="zh-CN" altLang="en-US" dirty="0" smtClean="0">
                <a:latin typeface="+mj-ea"/>
                <a:ea typeface="+mj-ea"/>
              </a:rPr>
              <a:t>。</a:t>
            </a:r>
            <a:endParaRPr lang="en-US" altLang="zh-CN" dirty="0" smtClean="0">
              <a:latin typeface="+mj-ea"/>
              <a:ea typeface="+mj-ea"/>
            </a:endParaRPr>
          </a:p>
        </p:txBody>
      </p:sp>
      <p:grpSp>
        <p:nvGrpSpPr>
          <p:cNvPr id="6" name="组合 5">
            <a:extLst>
              <a:ext uri="{FF2B5EF4-FFF2-40B4-BE49-F238E27FC236}">
                <a16:creationId xmlns:a16="http://schemas.microsoft.com/office/drawing/2014/main" id="{AEFD1F1F-17E2-51E9-2D0D-25274866E616}"/>
              </a:ext>
            </a:extLst>
          </p:cNvPr>
          <p:cNvGrpSpPr/>
          <p:nvPr/>
        </p:nvGrpSpPr>
        <p:grpSpPr>
          <a:xfrm>
            <a:off x="1914538" y="1218681"/>
            <a:ext cx="7464387" cy="497934"/>
            <a:chOff x="4099943" y="2819853"/>
            <a:chExt cx="2570275" cy="497934"/>
          </a:xfrm>
        </p:grpSpPr>
        <p:sp>
          <p:nvSpPr>
            <p:cNvPr id="8" name="平行四边形 7">
              <a:extLst>
                <a:ext uri="{FF2B5EF4-FFF2-40B4-BE49-F238E27FC236}">
                  <a16:creationId xmlns:a16="http://schemas.microsoft.com/office/drawing/2014/main" id="{18F60DF2-7970-E12C-510E-B8A2C7319769}"/>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9" name="平行四边形 8">
              <a:extLst>
                <a:ext uri="{FF2B5EF4-FFF2-40B4-BE49-F238E27FC236}">
                  <a16:creationId xmlns:a16="http://schemas.microsoft.com/office/drawing/2014/main" id="{8A722A26-C355-AAC5-2AAE-5DB9E991C1B4}"/>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0" name="矩形 9">
              <a:extLst>
                <a:ext uri="{FF2B5EF4-FFF2-40B4-BE49-F238E27FC236}">
                  <a16:creationId xmlns:a16="http://schemas.microsoft.com/office/drawing/2014/main" id="{D47BD1E7-763C-8547-92F7-BA39238F1D2D}"/>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zh-CN" altLang="en-US" sz="2000" b="1" dirty="0">
                  <a:solidFill>
                    <a:schemeClr val="tx1">
                      <a:lumMod val="95000"/>
                      <a:lumOff val="5000"/>
                    </a:schemeClr>
                  </a:solidFill>
                  <a:latin typeface="+mj-ea"/>
                  <a:ea typeface="+mj-ea"/>
                  <a:cs typeface="Times New Roman" panose="02020603050405020304" pitchFamily="18" charset="0"/>
                </a:rPr>
                <a:t>与人脸识别</a:t>
              </a:r>
              <a:endParaRPr lang="zh-CN" altLang="en-US" sz="2000" b="1" dirty="0">
                <a:solidFill>
                  <a:schemeClr val="tx1">
                    <a:lumMod val="95000"/>
                    <a:lumOff val="5000"/>
                  </a:schemeClr>
                </a:solidFill>
                <a:latin typeface="+mj-ea"/>
                <a:ea typeface="+mj-ea"/>
              </a:endParaRPr>
            </a:p>
          </p:txBody>
        </p:sp>
      </p:grpSp>
    </p:spTree>
    <p:extLst>
      <p:ext uri="{BB962C8B-B14F-4D97-AF65-F5344CB8AC3E}">
        <p14:creationId xmlns:p14="http://schemas.microsoft.com/office/powerpoint/2010/main" val="3078763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563EF59-BADC-4843-BFC3-C2712CABB573}"/>
                  </a:ext>
                </a:extLst>
              </p:cNvPr>
              <p:cNvSpPr/>
              <p:nvPr/>
            </p:nvSpPr>
            <p:spPr>
              <a:xfrm>
                <a:off x="1155986" y="1750078"/>
                <a:ext cx="3877654" cy="3886770"/>
              </a:xfrm>
              <a:prstGeom prst="rect">
                <a:avLst/>
              </a:prstGeom>
            </p:spPr>
            <p:txBody>
              <a:bodyPr wrap="square">
                <a:spAutoFit/>
              </a:bodyPr>
              <a:lstStyle/>
              <a:p>
                <a:pPr>
                  <a:lnSpc>
                    <a:spcPct val="200000"/>
                  </a:lnSpc>
                </a:pPr>
                <a:r>
                  <a:rPr lang="zh-CN" altLang="zh-CN" dirty="0">
                    <a:latin typeface="+mj-ea"/>
                    <a:ea typeface="+mj-ea"/>
                    <a:cs typeface="Times New Roman" panose="02020603050405020304" pitchFamily="18" charset="0"/>
                  </a:rPr>
                  <a:t>假设总共有</a:t>
                </a:r>
                <a14:m>
                  <m:oMath xmlns:m="http://schemas.openxmlformats.org/officeDocument/2006/math">
                    <m:r>
                      <m:rPr>
                        <m:sty m:val="p"/>
                      </m:rPr>
                      <a:rPr lang="en-US" altLang="zh-CN">
                        <a:latin typeface="Cambria Math" panose="02040503050406030204" pitchFamily="18" charset="0"/>
                        <a:ea typeface="+mj-ea"/>
                        <a:cs typeface="Times New Roman" panose="02020603050405020304" pitchFamily="18" charset="0"/>
                      </a:rPr>
                      <m:t>n</m:t>
                    </m:r>
                  </m:oMath>
                </a14:m>
                <a:r>
                  <a:rPr lang="zh-CN" altLang="zh-CN" dirty="0">
                    <a:latin typeface="+mj-ea"/>
                    <a:ea typeface="+mj-ea"/>
                    <a:cs typeface="Times New Roman" panose="02020603050405020304" pitchFamily="18" charset="0"/>
                  </a:rPr>
                  <a:t>张灰度人脸图像，每张人脸图像</a:t>
                </a:r>
                <a14:m>
                  <m:oMath xmlns:m="http://schemas.openxmlformats.org/officeDocument/2006/math">
                    <m:sSub>
                      <m:sSubPr>
                        <m:ctrlPr>
                          <a:rPr lang="zh-CN" altLang="zh-CN" i="1">
                            <a:effectLst/>
                            <a:latin typeface="Cambria Math" panose="02040503050406030204" pitchFamily="18" charset="0"/>
                            <a:ea typeface="+mj-ea"/>
                            <a:cs typeface="Times New Roman" panose="02020603050405020304" pitchFamily="18" charset="0"/>
                          </a:rPr>
                        </m:ctrlPr>
                      </m:sSubPr>
                      <m:e>
                        <m:r>
                          <a:rPr lang="en-US" altLang="zh-CN" i="1">
                            <a:latin typeface="Cambria Math" panose="02040503050406030204" pitchFamily="18" charset="0"/>
                            <a:ea typeface="+mj-ea"/>
                            <a:cs typeface="Times New Roman" panose="02020603050405020304" pitchFamily="18" charset="0"/>
                          </a:rPr>
                          <m:t>𝛤</m:t>
                        </m:r>
                      </m:e>
                      <m:sub>
                        <m:r>
                          <a:rPr lang="en-US" altLang="zh-CN" i="1">
                            <a:latin typeface="Cambria Math" panose="02040503050406030204" pitchFamily="18" charset="0"/>
                            <a:ea typeface="+mj-ea"/>
                            <a:cs typeface="Times New Roman" panose="02020603050405020304" pitchFamily="18" charset="0"/>
                          </a:rPr>
                          <m:t>𝑖</m:t>
                        </m:r>
                      </m:sub>
                    </m:sSub>
                  </m:oMath>
                </a14:m>
                <a:r>
                  <a:rPr lang="zh-CN" altLang="zh-CN" dirty="0">
                    <a:latin typeface="+mj-ea"/>
                    <a:ea typeface="+mj-ea"/>
                    <a:cs typeface="Times New Roman" panose="02020603050405020304" pitchFamily="18" charset="0"/>
                  </a:rPr>
                  <a:t>的分辨率为</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𝑑</m:t>
                    </m:r>
                    <m:r>
                      <a:rPr lang="en-US" altLang="zh-CN" i="1">
                        <a:latin typeface="Cambria Math" panose="02040503050406030204" pitchFamily="18" charset="0"/>
                        <a:ea typeface="+mj-ea"/>
                        <a:cs typeface="Times New Roman" panose="02020603050405020304" pitchFamily="18" charset="0"/>
                      </a:rPr>
                      <m:t>×</m:t>
                    </m:r>
                    <m:r>
                      <a:rPr lang="en-US" altLang="zh-CN" i="1">
                        <a:latin typeface="Cambria Math" panose="02040503050406030204" pitchFamily="18" charset="0"/>
                        <a:ea typeface="+mj-ea"/>
                        <a:cs typeface="Times New Roman" panose="02020603050405020304" pitchFamily="18" charset="0"/>
                      </a:rPr>
                      <m:t>𝑑</m:t>
                    </m:r>
                  </m:oMath>
                </a14:m>
                <a:r>
                  <a:rPr lang="zh-CN" altLang="zh-CN" dirty="0">
                    <a:latin typeface="+mj-ea"/>
                    <a:ea typeface="+mj-ea"/>
                    <a:cs typeface="Times New Roman" panose="02020603050405020304" pitchFamily="18" charset="0"/>
                  </a:rPr>
                  <a:t>。如果</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𝑑</m:t>
                    </m:r>
                    <m:r>
                      <a:rPr lang="en-US" altLang="zh-CN" i="1">
                        <a:latin typeface="Cambria Math" panose="02040503050406030204" pitchFamily="18" charset="0"/>
                        <a:ea typeface="+mj-ea"/>
                        <a:cs typeface="Times New Roman" panose="02020603050405020304" pitchFamily="18" charset="0"/>
                      </a:rPr>
                      <m:t>=32</m:t>
                    </m:r>
                  </m:oMath>
                </a14:m>
                <a:r>
                  <a:rPr lang="zh-CN" altLang="zh-CN" dirty="0">
                    <a:latin typeface="+mj-ea"/>
                    <a:ea typeface="+mj-ea"/>
                    <a:cs typeface="Times New Roman" panose="02020603050405020304" pitchFamily="18" charset="0"/>
                  </a:rPr>
                  <a:t>，即人脸图像的分辨率为</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32×32</m:t>
                    </m:r>
                  </m:oMath>
                </a14:m>
                <a:r>
                  <a:rPr lang="zh-CN" altLang="zh-CN" dirty="0">
                    <a:latin typeface="+mj-ea"/>
                    <a:ea typeface="+mj-ea"/>
                    <a:cs typeface="Times New Roman" panose="02020603050405020304" pitchFamily="18" charset="0"/>
                  </a:rPr>
                  <a:t>，人脸图像在计算机中可以表示为一个</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32×32</m:t>
                    </m:r>
                  </m:oMath>
                </a14:m>
                <a:r>
                  <a:rPr lang="zh-CN" altLang="zh-CN" dirty="0">
                    <a:latin typeface="+mj-ea"/>
                    <a:ea typeface="+mj-ea"/>
                    <a:cs typeface="Times New Roman" panose="02020603050405020304" pitchFamily="18" charset="0"/>
                  </a:rPr>
                  <a:t>的像素矩阵，如果将该矩阵铺平，可以转换为一个</a:t>
                </a:r>
                <a14:m>
                  <m:oMath xmlns:m="http://schemas.openxmlformats.org/officeDocument/2006/math">
                    <m:r>
                      <a:rPr lang="en-US" altLang="zh-CN">
                        <a:latin typeface="Cambria Math" panose="02040503050406030204" pitchFamily="18" charset="0"/>
                        <a:ea typeface="+mj-ea"/>
                        <a:cs typeface="Times New Roman" panose="02020603050405020304" pitchFamily="18" charset="0"/>
                      </a:rPr>
                      <m:t>1024</m:t>
                    </m:r>
                  </m:oMath>
                </a14:m>
                <a:r>
                  <a:rPr lang="zh-CN" altLang="zh-CN" dirty="0">
                    <a:latin typeface="+mj-ea"/>
                    <a:ea typeface="+mj-ea"/>
                    <a:cs typeface="Times New Roman" panose="02020603050405020304" pitchFamily="18" charset="0"/>
                  </a:rPr>
                  <a:t>维的列向量，如图</a:t>
                </a:r>
                <a:r>
                  <a:rPr lang="en-US" altLang="zh-CN" dirty="0">
                    <a:latin typeface="+mj-ea"/>
                    <a:ea typeface="+mj-ea"/>
                    <a:cs typeface="Times New Roman" panose="02020603050405020304" pitchFamily="18" charset="0"/>
                  </a:rPr>
                  <a:t>4.6</a:t>
                </a:r>
                <a:r>
                  <a:rPr lang="zh-CN" altLang="zh-CN" dirty="0">
                    <a:latin typeface="+mj-ea"/>
                    <a:ea typeface="+mj-ea"/>
                    <a:cs typeface="Times New Roman" panose="02020603050405020304" pitchFamily="18" charset="0"/>
                  </a:rPr>
                  <a:t>所示</a:t>
                </a:r>
                <a:endParaRPr lang="zh-CN" altLang="en-US" dirty="0">
                  <a:latin typeface="+mj-ea"/>
                  <a:ea typeface="+mj-ea"/>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C563EF59-BADC-4843-BFC3-C2712CABB573}"/>
                  </a:ext>
                </a:extLst>
              </p:cNvPr>
              <p:cNvSpPr>
                <a:spLocks noRot="1" noChangeAspect="1" noMove="1" noResize="1" noEditPoints="1" noAdjustHandles="1" noChangeArrowheads="1" noChangeShapeType="1" noTextEdit="1"/>
              </p:cNvSpPr>
              <p:nvPr/>
            </p:nvSpPr>
            <p:spPr>
              <a:xfrm>
                <a:off x="1155986" y="1750078"/>
                <a:ext cx="3877654" cy="3886770"/>
              </a:xfrm>
              <a:prstGeom prst="rect">
                <a:avLst/>
              </a:prstGeom>
              <a:blipFill>
                <a:blip r:embed="rId3"/>
                <a:stretch>
                  <a:fillRect l="-1415" r="-1258" b="-1567"/>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C4575EC-FF5E-4435-B94B-19203DB92B05}"/>
              </a:ext>
            </a:extLst>
          </p:cNvPr>
          <p:cNvPicPr>
            <a:picLocks noChangeAspect="1"/>
          </p:cNvPicPr>
          <p:nvPr/>
        </p:nvPicPr>
        <p:blipFill>
          <a:blip r:embed="rId4"/>
          <a:stretch>
            <a:fillRect/>
          </a:stretch>
        </p:blipFill>
        <p:spPr>
          <a:xfrm>
            <a:off x="5264459" y="2299914"/>
            <a:ext cx="6834728" cy="3811898"/>
          </a:xfrm>
          <a:prstGeom prst="rect">
            <a:avLst/>
          </a:prstGeom>
        </p:spPr>
      </p:pic>
      <p:grpSp>
        <p:nvGrpSpPr>
          <p:cNvPr id="13" name="组合 12">
            <a:extLst>
              <a:ext uri="{FF2B5EF4-FFF2-40B4-BE49-F238E27FC236}">
                <a16:creationId xmlns:a16="http://schemas.microsoft.com/office/drawing/2014/main" id="{D2D43DE7-3068-8D62-272E-89691D0CCF35}"/>
              </a:ext>
            </a:extLst>
          </p:cNvPr>
          <p:cNvGrpSpPr/>
          <p:nvPr/>
        </p:nvGrpSpPr>
        <p:grpSpPr>
          <a:xfrm>
            <a:off x="2201409" y="1096776"/>
            <a:ext cx="7464387" cy="497934"/>
            <a:chOff x="4099943" y="2819853"/>
            <a:chExt cx="2570275" cy="497934"/>
          </a:xfrm>
        </p:grpSpPr>
        <p:sp>
          <p:nvSpPr>
            <p:cNvPr id="14" name="平行四边形 13">
              <a:extLst>
                <a:ext uri="{FF2B5EF4-FFF2-40B4-BE49-F238E27FC236}">
                  <a16:creationId xmlns:a16="http://schemas.microsoft.com/office/drawing/2014/main" id="{70143F1B-6FCF-61DB-836F-E522EBA92AC5}"/>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5" name="平行四边形 14">
              <a:extLst>
                <a:ext uri="{FF2B5EF4-FFF2-40B4-BE49-F238E27FC236}">
                  <a16:creationId xmlns:a16="http://schemas.microsoft.com/office/drawing/2014/main" id="{4AB62CEC-3F9E-ED4E-EB19-0A7282369B8C}"/>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6" name="矩形 15">
              <a:extLst>
                <a:ext uri="{FF2B5EF4-FFF2-40B4-BE49-F238E27FC236}">
                  <a16:creationId xmlns:a16="http://schemas.microsoft.com/office/drawing/2014/main" id="{C96C71A1-1CA4-BCFC-75B7-5F4E34FC580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zh-CN" altLang="en-US" sz="2000" b="1" dirty="0">
                  <a:solidFill>
                    <a:schemeClr val="tx1">
                      <a:lumMod val="95000"/>
                      <a:lumOff val="5000"/>
                    </a:schemeClr>
                  </a:solidFill>
                  <a:latin typeface="+mj-ea"/>
                  <a:ea typeface="+mj-ea"/>
                  <a:cs typeface="Times New Roman" panose="02020603050405020304" pitchFamily="18" charset="0"/>
                </a:rPr>
                <a:t>与人脸识别</a:t>
              </a:r>
              <a:endParaRPr lang="zh-CN" altLang="en-US" sz="2000" b="1" dirty="0">
                <a:solidFill>
                  <a:schemeClr val="tx1">
                    <a:lumMod val="95000"/>
                    <a:lumOff val="5000"/>
                  </a:schemeClr>
                </a:solidFill>
                <a:latin typeface="+mj-ea"/>
                <a:ea typeface="+mj-ea"/>
              </a:endParaRPr>
            </a:p>
          </p:txBody>
        </p:sp>
      </p:grpSp>
    </p:spTree>
    <p:extLst>
      <p:ext uri="{BB962C8B-B14F-4D97-AF65-F5344CB8AC3E}">
        <p14:creationId xmlns:p14="http://schemas.microsoft.com/office/powerpoint/2010/main" val="6946680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C4575EC-FF5E-4435-B94B-19203DB92B05}"/>
              </a:ext>
            </a:extLst>
          </p:cNvPr>
          <p:cNvPicPr>
            <a:picLocks noChangeAspect="1"/>
          </p:cNvPicPr>
          <p:nvPr/>
        </p:nvPicPr>
        <p:blipFill>
          <a:blip r:embed="rId3"/>
          <a:stretch>
            <a:fillRect/>
          </a:stretch>
        </p:blipFill>
        <p:spPr>
          <a:xfrm>
            <a:off x="7611491" y="2985001"/>
            <a:ext cx="4580509" cy="2554664"/>
          </a:xfrm>
          <a:prstGeom prst="rect">
            <a:avLst/>
          </a:prstGeom>
        </p:spPr>
      </p:pic>
      <p:sp>
        <p:nvSpPr>
          <p:cNvPr id="9" name="矩形 8">
            <a:extLst>
              <a:ext uri="{FF2B5EF4-FFF2-40B4-BE49-F238E27FC236}">
                <a16:creationId xmlns:a16="http://schemas.microsoft.com/office/drawing/2014/main" id="{CC63AE30-1810-4BE6-9E4B-D30D10BA48BB}"/>
              </a:ext>
            </a:extLst>
          </p:cNvPr>
          <p:cNvSpPr/>
          <p:nvPr/>
        </p:nvSpPr>
        <p:spPr>
          <a:xfrm>
            <a:off x="363695" y="1813744"/>
            <a:ext cx="7016976" cy="4524315"/>
          </a:xfrm>
          <a:prstGeom prst="rect">
            <a:avLst/>
          </a:prstGeom>
        </p:spPr>
        <p:txBody>
          <a:bodyPr wrap="square">
            <a:spAutoFit/>
          </a:bodyPr>
          <a:lstStyle/>
          <a:p>
            <a:pPr algn="just">
              <a:lnSpc>
                <a:spcPct val="200000"/>
              </a:lnSpc>
            </a:pPr>
            <a:r>
              <a:rPr lang="en-US" altLang="zh-CN" dirty="0" smtClean="0">
                <a:latin typeface="+mj-ea"/>
                <a:ea typeface="+mj-ea"/>
                <a:cs typeface="Times New Roman" panose="02020603050405020304" pitchFamily="18" charset="0"/>
              </a:rPr>
              <a:t>1024</a:t>
            </a:r>
            <a:r>
              <a:rPr lang="zh-CN" altLang="en-US" dirty="0">
                <a:latin typeface="+mj-ea"/>
                <a:ea typeface="+mj-ea"/>
                <a:cs typeface="Times New Roman" panose="02020603050405020304" pitchFamily="18" charset="0"/>
              </a:rPr>
              <a:t>维的列向量是原始灰度图像的表达。但是直觉表明，人脸具有一定的拓扑结构，像素点之间有较强的空间位置关系，也就是说，可以</a:t>
            </a:r>
            <a:r>
              <a:rPr lang="zh-CN" altLang="en-US" dirty="0">
                <a:solidFill>
                  <a:srgbClr val="FF0000"/>
                </a:solidFill>
                <a:latin typeface="+mj-ea"/>
                <a:ea typeface="+mj-ea"/>
                <a:cs typeface="Times New Roman" panose="02020603050405020304" pitchFamily="18" charset="0"/>
              </a:rPr>
              <a:t>使用一个低维向量来表达原始图像大部分的信息</a:t>
            </a:r>
            <a:r>
              <a:rPr lang="zh-CN" altLang="en-US" dirty="0">
                <a:latin typeface="+mj-ea"/>
                <a:ea typeface="+mj-ea"/>
                <a:cs typeface="Times New Roman" panose="02020603050405020304" pitchFamily="18" charset="0"/>
              </a:rPr>
              <a:t>。这样就可以</a:t>
            </a:r>
            <a:r>
              <a:rPr lang="zh-CN" altLang="en-US" dirty="0" smtClean="0">
                <a:latin typeface="+mj-ea"/>
                <a:ea typeface="+mj-ea"/>
                <a:cs typeface="Times New Roman" panose="02020603050405020304" pitchFamily="18" charset="0"/>
              </a:rPr>
              <a:t>使用主成分分析</a:t>
            </a:r>
            <a:r>
              <a:rPr lang="zh-CN" altLang="en-US" dirty="0">
                <a:latin typeface="+mj-ea"/>
                <a:ea typeface="+mj-ea"/>
                <a:cs typeface="Times New Roman" panose="02020603050405020304" pitchFamily="18" charset="0"/>
              </a:rPr>
              <a:t>算法来实现降维</a:t>
            </a:r>
            <a:r>
              <a:rPr lang="zh-CN" altLang="en-US" dirty="0" smtClean="0">
                <a:latin typeface="+mj-ea"/>
                <a:ea typeface="+mj-ea"/>
                <a:cs typeface="Times New Roman" panose="02020603050405020304" pitchFamily="18" charset="0"/>
              </a:rPr>
              <a:t>。</a:t>
            </a:r>
            <a:endParaRPr lang="en-US" altLang="zh-CN" dirty="0" smtClean="0">
              <a:latin typeface="+mj-ea"/>
              <a:ea typeface="+mj-ea"/>
              <a:cs typeface="Times New Roman" panose="02020603050405020304" pitchFamily="18" charset="0"/>
            </a:endParaRPr>
          </a:p>
          <a:p>
            <a:pPr algn="just">
              <a:lnSpc>
                <a:spcPct val="200000"/>
              </a:lnSpc>
            </a:pPr>
            <a:r>
              <a:rPr lang="zh-CN" altLang="en-US" dirty="0" smtClean="0">
                <a:latin typeface="+mj-ea"/>
                <a:ea typeface="+mj-ea"/>
                <a:cs typeface="Times New Roman" panose="02020603050405020304" pitchFamily="18" charset="0"/>
              </a:rPr>
              <a:t>但在</a:t>
            </a:r>
            <a:r>
              <a:rPr lang="zh-CN" altLang="en-US" dirty="0">
                <a:latin typeface="+mj-ea"/>
                <a:ea typeface="+mj-ea"/>
                <a:cs typeface="Times New Roman" panose="02020603050405020304" pitchFamily="18" charset="0"/>
              </a:rPr>
              <a:t>特征维度较高的情况下，主成分分析算法暴力求解特征向量是一个耗时操作</a:t>
            </a:r>
            <a:r>
              <a:rPr lang="zh-CN" altLang="en-US" dirty="0" smtClean="0">
                <a:latin typeface="+mj-ea"/>
                <a:ea typeface="+mj-ea"/>
                <a:cs typeface="Times New Roman" panose="02020603050405020304" pitchFamily="18" charset="0"/>
              </a:rPr>
              <a:t>。</a:t>
            </a:r>
            <a:endParaRPr lang="en-US" altLang="zh-CN" dirty="0" smtClean="0">
              <a:latin typeface="+mj-ea"/>
              <a:ea typeface="+mj-ea"/>
              <a:cs typeface="Times New Roman" panose="02020603050405020304" pitchFamily="18" charset="0"/>
            </a:endParaRPr>
          </a:p>
          <a:p>
            <a:pPr algn="just">
              <a:lnSpc>
                <a:spcPct val="200000"/>
              </a:lnSpc>
            </a:pPr>
            <a:r>
              <a:rPr lang="zh-CN" altLang="en-US" dirty="0"/>
              <a:t>更</a:t>
            </a:r>
            <a:r>
              <a:rPr lang="zh-CN" altLang="en-US" dirty="0" smtClean="0"/>
              <a:t>常用</a:t>
            </a:r>
            <a:r>
              <a:rPr lang="zh-CN" altLang="en-US" dirty="0">
                <a:latin typeface="+mj-ea"/>
                <a:ea typeface="+mj-ea"/>
                <a:cs typeface="Times New Roman" panose="02020603050405020304" pitchFamily="18" charset="0"/>
              </a:rPr>
              <a:t>奇异值分解（</a:t>
            </a:r>
            <a:r>
              <a:rPr lang="en-US" altLang="zh-CN" dirty="0">
                <a:latin typeface="+mj-ea"/>
                <a:ea typeface="+mj-ea"/>
                <a:cs typeface="Times New Roman" panose="02020603050405020304" pitchFamily="18" charset="0"/>
              </a:rPr>
              <a:t>singular value decomposition</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SVD</a:t>
            </a:r>
            <a:r>
              <a:rPr lang="zh-CN" altLang="en-US" dirty="0">
                <a:latin typeface="+mj-ea"/>
                <a:ea typeface="+mj-ea"/>
                <a:cs typeface="Times New Roman" panose="02020603050405020304" pitchFamily="18" charset="0"/>
              </a:rPr>
              <a:t>）来实现主成分分析，代替显式计算协方差矩阵，对原始数据进行降维。</a:t>
            </a:r>
          </a:p>
        </p:txBody>
      </p:sp>
      <p:grpSp>
        <p:nvGrpSpPr>
          <p:cNvPr id="13" name="组合 12">
            <a:extLst>
              <a:ext uri="{FF2B5EF4-FFF2-40B4-BE49-F238E27FC236}">
                <a16:creationId xmlns:a16="http://schemas.microsoft.com/office/drawing/2014/main" id="{D2D43DE7-3068-8D62-272E-89691D0CCF35}"/>
              </a:ext>
            </a:extLst>
          </p:cNvPr>
          <p:cNvGrpSpPr/>
          <p:nvPr/>
        </p:nvGrpSpPr>
        <p:grpSpPr>
          <a:xfrm>
            <a:off x="2201409" y="1096776"/>
            <a:ext cx="7464387" cy="497934"/>
            <a:chOff x="4099943" y="2819853"/>
            <a:chExt cx="2570275" cy="497934"/>
          </a:xfrm>
        </p:grpSpPr>
        <p:sp>
          <p:nvSpPr>
            <p:cNvPr id="14" name="平行四边形 13">
              <a:extLst>
                <a:ext uri="{FF2B5EF4-FFF2-40B4-BE49-F238E27FC236}">
                  <a16:creationId xmlns:a16="http://schemas.microsoft.com/office/drawing/2014/main" id="{70143F1B-6FCF-61DB-836F-E522EBA92AC5}"/>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5" name="平行四边形 14">
              <a:extLst>
                <a:ext uri="{FF2B5EF4-FFF2-40B4-BE49-F238E27FC236}">
                  <a16:creationId xmlns:a16="http://schemas.microsoft.com/office/drawing/2014/main" id="{4AB62CEC-3F9E-ED4E-EB19-0A7282369B8C}"/>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6" name="矩形 15">
              <a:extLst>
                <a:ext uri="{FF2B5EF4-FFF2-40B4-BE49-F238E27FC236}">
                  <a16:creationId xmlns:a16="http://schemas.microsoft.com/office/drawing/2014/main" id="{C96C71A1-1CA4-BCFC-75B7-5F4E34FC580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mj-ea"/>
                  <a:ea typeface="+mj-ea"/>
                  <a:cs typeface="Times New Roman" panose="02020603050405020304" pitchFamily="18" charset="0"/>
                </a:rPr>
                <a:t>主成分分析</a:t>
              </a:r>
              <a:r>
                <a:rPr lang="zh-CN" altLang="en-US" sz="2000" b="1" dirty="0">
                  <a:solidFill>
                    <a:schemeClr val="tx1">
                      <a:lumMod val="95000"/>
                      <a:lumOff val="5000"/>
                    </a:schemeClr>
                  </a:solidFill>
                  <a:latin typeface="+mj-ea"/>
                  <a:ea typeface="+mj-ea"/>
                  <a:cs typeface="Times New Roman" panose="02020603050405020304" pitchFamily="18" charset="0"/>
                </a:rPr>
                <a:t>与人脸识别</a:t>
              </a:r>
              <a:endParaRPr lang="zh-CN" altLang="en-US" sz="2000" b="1" dirty="0">
                <a:solidFill>
                  <a:schemeClr val="tx1">
                    <a:lumMod val="95000"/>
                    <a:lumOff val="5000"/>
                  </a:schemeClr>
                </a:solidFill>
                <a:latin typeface="+mj-ea"/>
                <a:ea typeface="+mj-ea"/>
              </a:endParaRPr>
            </a:p>
          </p:txBody>
        </p:sp>
      </p:grpSp>
    </p:spTree>
    <p:extLst>
      <p:ext uri="{BB962C8B-B14F-4D97-AF65-F5344CB8AC3E}">
        <p14:creationId xmlns:p14="http://schemas.microsoft.com/office/powerpoint/2010/main" val="3956802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3053183-7233-4B85-9677-D99348619CF5}"/>
              </a:ext>
            </a:extLst>
          </p:cNvPr>
          <p:cNvPicPr>
            <a:picLocks noChangeAspect="1"/>
          </p:cNvPicPr>
          <p:nvPr/>
        </p:nvPicPr>
        <p:blipFill rotWithShape="1">
          <a:blip r:embed="rId3"/>
          <a:srcRect b="37589"/>
          <a:stretch/>
        </p:blipFill>
        <p:spPr>
          <a:xfrm>
            <a:off x="978624" y="1426617"/>
            <a:ext cx="10216118" cy="5142859"/>
          </a:xfrm>
          <a:prstGeom prst="rect">
            <a:avLst/>
          </a:prstGeom>
        </p:spPr>
      </p:pic>
      <p:grpSp>
        <p:nvGrpSpPr>
          <p:cNvPr id="6" name="组合 5">
            <a:extLst>
              <a:ext uri="{FF2B5EF4-FFF2-40B4-BE49-F238E27FC236}">
                <a16:creationId xmlns:a16="http://schemas.microsoft.com/office/drawing/2014/main" id="{A99780F5-3D8B-F6B9-EA60-6B34434C1789}"/>
              </a:ext>
            </a:extLst>
          </p:cNvPr>
          <p:cNvGrpSpPr/>
          <p:nvPr/>
        </p:nvGrpSpPr>
        <p:grpSpPr>
          <a:xfrm>
            <a:off x="1134434" y="505471"/>
            <a:ext cx="7464387" cy="497934"/>
            <a:chOff x="4099943" y="2819853"/>
            <a:chExt cx="2570275" cy="497934"/>
          </a:xfrm>
        </p:grpSpPr>
        <p:sp>
          <p:nvSpPr>
            <p:cNvPr id="8" name="平行四边形 7">
              <a:extLst>
                <a:ext uri="{FF2B5EF4-FFF2-40B4-BE49-F238E27FC236}">
                  <a16:creationId xmlns:a16="http://schemas.microsoft.com/office/drawing/2014/main" id="{BB2CEF60-1A46-F644-B0CF-C49BC5CA105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a:extLst>
                <a:ext uri="{FF2B5EF4-FFF2-40B4-BE49-F238E27FC236}">
                  <a16:creationId xmlns:a16="http://schemas.microsoft.com/office/drawing/2014/main" id="{78D211FE-11AC-94E5-E0CA-5521177F4E6A}"/>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a:extLst>
                <a:ext uri="{FF2B5EF4-FFF2-40B4-BE49-F238E27FC236}">
                  <a16:creationId xmlns:a16="http://schemas.microsoft.com/office/drawing/2014/main" id="{B3DFB264-DB0B-6954-287F-EB5B7B88B4D3}"/>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奇异值分解（</a:t>
              </a:r>
              <a:r>
                <a:rPr lang="en-US" altLang="zh-CN"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SVD</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3029187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3053183-7233-4B85-9677-D99348619CF5}"/>
              </a:ext>
            </a:extLst>
          </p:cNvPr>
          <p:cNvPicPr>
            <a:picLocks noChangeAspect="1"/>
          </p:cNvPicPr>
          <p:nvPr/>
        </p:nvPicPr>
        <p:blipFill rotWithShape="1">
          <a:blip r:embed="rId3"/>
          <a:srcRect t="28504"/>
          <a:stretch/>
        </p:blipFill>
        <p:spPr>
          <a:xfrm>
            <a:off x="1134434" y="1189608"/>
            <a:ext cx="9021072" cy="5202315"/>
          </a:xfrm>
          <a:prstGeom prst="rect">
            <a:avLst/>
          </a:prstGeom>
        </p:spPr>
      </p:pic>
      <p:grpSp>
        <p:nvGrpSpPr>
          <p:cNvPr id="6" name="组合 5">
            <a:extLst>
              <a:ext uri="{FF2B5EF4-FFF2-40B4-BE49-F238E27FC236}">
                <a16:creationId xmlns:a16="http://schemas.microsoft.com/office/drawing/2014/main" id="{A99780F5-3D8B-F6B9-EA60-6B34434C1789}"/>
              </a:ext>
            </a:extLst>
          </p:cNvPr>
          <p:cNvGrpSpPr/>
          <p:nvPr/>
        </p:nvGrpSpPr>
        <p:grpSpPr>
          <a:xfrm>
            <a:off x="1134434" y="505471"/>
            <a:ext cx="7464387" cy="497934"/>
            <a:chOff x="4099943" y="2819853"/>
            <a:chExt cx="2570275" cy="497934"/>
          </a:xfrm>
        </p:grpSpPr>
        <p:sp>
          <p:nvSpPr>
            <p:cNvPr id="8" name="平行四边形 7">
              <a:extLst>
                <a:ext uri="{FF2B5EF4-FFF2-40B4-BE49-F238E27FC236}">
                  <a16:creationId xmlns:a16="http://schemas.microsoft.com/office/drawing/2014/main" id="{BB2CEF60-1A46-F644-B0CF-C49BC5CA105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a:extLst>
                <a:ext uri="{FF2B5EF4-FFF2-40B4-BE49-F238E27FC236}">
                  <a16:creationId xmlns:a16="http://schemas.microsoft.com/office/drawing/2014/main" id="{78D211FE-11AC-94E5-E0CA-5521177F4E6A}"/>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a:extLst>
                <a:ext uri="{FF2B5EF4-FFF2-40B4-BE49-F238E27FC236}">
                  <a16:creationId xmlns:a16="http://schemas.microsoft.com/office/drawing/2014/main" id="{B3DFB264-DB0B-6954-287F-EB5B7B88B4D3}"/>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奇异值分解（</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SVD</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1662717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52450" y="457200"/>
            <a:ext cx="6248400" cy="5695950"/>
          </a:xfrm>
          <a:prstGeom prst="rect">
            <a:avLst/>
          </a:prstGeom>
        </p:spPr>
      </p:pic>
      <p:pic>
        <p:nvPicPr>
          <p:cNvPr id="3" name="图片 2"/>
          <p:cNvPicPr>
            <a:picLocks noChangeAspect="1"/>
          </p:cNvPicPr>
          <p:nvPr/>
        </p:nvPicPr>
        <p:blipFill>
          <a:blip r:embed="rId3"/>
          <a:stretch>
            <a:fillRect/>
          </a:stretch>
        </p:blipFill>
        <p:spPr>
          <a:xfrm>
            <a:off x="6800850" y="1647825"/>
            <a:ext cx="5383398" cy="4100512"/>
          </a:xfrm>
          <a:prstGeom prst="rect">
            <a:avLst/>
          </a:prstGeom>
        </p:spPr>
      </p:pic>
    </p:spTree>
    <p:extLst>
      <p:ext uri="{BB962C8B-B14F-4D97-AF65-F5344CB8AC3E}">
        <p14:creationId xmlns:p14="http://schemas.microsoft.com/office/powerpoint/2010/main" val="27095940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D0C23CDE-580E-9467-BE00-6813FEDD3048}"/>
              </a:ext>
            </a:extLst>
          </p:cNvPr>
          <p:cNvGrpSpPr/>
          <p:nvPr/>
        </p:nvGrpSpPr>
        <p:grpSpPr>
          <a:xfrm>
            <a:off x="2143138" y="1062417"/>
            <a:ext cx="7464387" cy="497934"/>
            <a:chOff x="4099943" y="2819853"/>
            <a:chExt cx="2570275" cy="497934"/>
          </a:xfrm>
        </p:grpSpPr>
        <p:sp>
          <p:nvSpPr>
            <p:cNvPr id="11" name="平行四边形 10">
              <a:extLst>
                <a:ext uri="{FF2B5EF4-FFF2-40B4-BE49-F238E27FC236}">
                  <a16:creationId xmlns:a16="http://schemas.microsoft.com/office/drawing/2014/main" id="{AB9F1143-4B3A-64FB-95F9-781417B6809F}"/>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FB4A24D2-50C5-8580-256E-7B75C8FDED08}"/>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06F6FA64-7E21-35FF-D9D6-67EA4768B725}"/>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fr-FR"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主成分分析</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与人脸识别</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 name="矩形 1"/>
          <p:cNvSpPr/>
          <p:nvPr/>
        </p:nvSpPr>
        <p:spPr>
          <a:xfrm>
            <a:off x="807867" y="1723927"/>
            <a:ext cx="10543713" cy="2169825"/>
          </a:xfrm>
          <a:prstGeom prst="rect">
            <a:avLst/>
          </a:prstGeom>
        </p:spPr>
        <p:txBody>
          <a:bodyPr wrap="square">
            <a:spAutoFit/>
          </a:bodyPr>
          <a:lstStyle/>
          <a:p>
            <a:pPr>
              <a:lnSpc>
                <a:spcPct val="150000"/>
              </a:lnSpc>
            </a:pPr>
            <a:r>
              <a:rPr lang="en-US" altLang="zh-CN" b="1" dirty="0">
                <a:latin typeface="+mj-ea"/>
                <a:ea typeface="+mj-ea"/>
              </a:rPr>
              <a:t>ORL</a:t>
            </a:r>
            <a:r>
              <a:rPr lang="zh-CN" altLang="en-US" b="1" dirty="0">
                <a:latin typeface="+mj-ea"/>
                <a:ea typeface="+mj-ea"/>
              </a:rPr>
              <a:t>人脸库</a:t>
            </a:r>
            <a:r>
              <a:rPr lang="zh-CN" altLang="en-US" dirty="0">
                <a:latin typeface="+mj-ea"/>
                <a:ea typeface="+mj-ea"/>
              </a:rPr>
              <a:t>‌（</a:t>
            </a:r>
            <a:r>
              <a:rPr lang="en-US" altLang="zh-CN" dirty="0">
                <a:latin typeface="+mj-ea"/>
                <a:ea typeface="+mj-ea"/>
              </a:rPr>
              <a:t>Olivetti Research Laboratory Face Database</a:t>
            </a:r>
            <a:r>
              <a:rPr lang="zh-CN" altLang="en-US" dirty="0">
                <a:latin typeface="+mj-ea"/>
                <a:ea typeface="+mj-ea"/>
              </a:rPr>
              <a:t>）是计算机视觉和模式识别领域的经典标准数据集，主要用于人脸识别算法研究</a:t>
            </a:r>
            <a:r>
              <a:rPr lang="zh-CN" altLang="en-US" dirty="0" smtClean="0">
                <a:latin typeface="+mj-ea"/>
                <a:ea typeface="+mj-ea"/>
              </a:rPr>
              <a:t>。</a:t>
            </a:r>
            <a:r>
              <a:rPr lang="zh-CN" altLang="en-US" dirty="0"/>
              <a:t>‌</a:t>
            </a:r>
            <a:r>
              <a:rPr lang="zh-CN" altLang="en-US" b="1" dirty="0"/>
              <a:t>数据规模</a:t>
            </a:r>
            <a:r>
              <a:rPr lang="zh-CN" altLang="en-US" dirty="0"/>
              <a:t>‌：包含</a:t>
            </a:r>
            <a:r>
              <a:rPr lang="en-US" altLang="zh-CN" dirty="0"/>
              <a:t>40</a:t>
            </a:r>
            <a:r>
              <a:rPr lang="zh-CN" altLang="en-US" dirty="0"/>
              <a:t>名不同个体（涵盖年龄、性别、种族差异），每人</a:t>
            </a:r>
            <a:r>
              <a:rPr lang="en-US" altLang="zh-CN" dirty="0"/>
              <a:t>10</a:t>
            </a:r>
            <a:r>
              <a:rPr lang="zh-CN" altLang="en-US" dirty="0"/>
              <a:t>张图像，共</a:t>
            </a:r>
            <a:r>
              <a:rPr lang="en-US" altLang="zh-CN" dirty="0"/>
              <a:t>400</a:t>
            </a:r>
            <a:r>
              <a:rPr lang="zh-CN" altLang="en-US" dirty="0"/>
              <a:t>张灰度</a:t>
            </a:r>
            <a:r>
              <a:rPr lang="zh-CN" altLang="en-US" smtClean="0"/>
              <a:t>图像。提取的</a:t>
            </a:r>
            <a:r>
              <a:rPr lang="zh-CN" altLang="en-US" smtClean="0">
                <a:solidFill>
                  <a:srgbClr val="333333"/>
                </a:solidFill>
                <a:latin typeface="PingFang SC"/>
              </a:rPr>
              <a:t>特征向量</a:t>
            </a:r>
            <a:r>
              <a:rPr lang="zh-CN" altLang="en-US" dirty="0">
                <a:solidFill>
                  <a:srgbClr val="333333"/>
                </a:solidFill>
                <a:latin typeface="PingFang SC"/>
              </a:rPr>
              <a:t>可以理解为</a:t>
            </a:r>
            <a:r>
              <a:rPr lang="zh-CN" altLang="en-US" b="1" dirty="0">
                <a:solidFill>
                  <a:srgbClr val="333333"/>
                </a:solidFill>
                <a:latin typeface="PingFang SC"/>
              </a:rPr>
              <a:t>不同人脸的特征模式，通过组合这些特征向量，可以表示出各种人脸的特征</a:t>
            </a:r>
            <a:r>
              <a:rPr lang="zh-CN" altLang="en-US" dirty="0">
                <a:solidFill>
                  <a:srgbClr val="333333"/>
                </a:solidFill>
                <a:latin typeface="PingFang SC"/>
              </a:rPr>
              <a:t>。</a:t>
            </a:r>
            <a:endParaRPr lang="zh-CN" altLang="en-US" dirty="0"/>
          </a:p>
          <a:p>
            <a:pPr>
              <a:lnSpc>
                <a:spcPct val="150000"/>
              </a:lnSpc>
            </a:pPr>
            <a:endParaRPr lang="zh-CN" altLang="en-US" dirty="0">
              <a:latin typeface="+mj-ea"/>
              <a:ea typeface="+mj-ea"/>
            </a:endParaRPr>
          </a:p>
        </p:txBody>
      </p:sp>
      <p:pic>
        <p:nvPicPr>
          <p:cNvPr id="9" name="图片 8">
            <a:extLst>
              <a:ext uri="{FF2B5EF4-FFF2-40B4-BE49-F238E27FC236}">
                <a16:creationId xmlns:a16="http://schemas.microsoft.com/office/drawing/2014/main" id="{62258001-2898-472B-9C79-CEA046E0F441}"/>
              </a:ext>
            </a:extLst>
          </p:cNvPr>
          <p:cNvPicPr>
            <a:picLocks noChangeAspect="1"/>
          </p:cNvPicPr>
          <p:nvPr/>
        </p:nvPicPr>
        <p:blipFill>
          <a:blip r:embed="rId3"/>
          <a:stretch>
            <a:fillRect/>
          </a:stretch>
        </p:blipFill>
        <p:spPr>
          <a:xfrm>
            <a:off x="6585111" y="3512917"/>
            <a:ext cx="5021154" cy="3138800"/>
          </a:xfrm>
          <a:prstGeom prst="rect">
            <a:avLst/>
          </a:prstGeom>
        </p:spPr>
      </p:pic>
      <p:pic>
        <p:nvPicPr>
          <p:cNvPr id="14" name="图片 13">
            <a:extLst>
              <a:ext uri="{FF2B5EF4-FFF2-40B4-BE49-F238E27FC236}">
                <a16:creationId xmlns:a16="http://schemas.microsoft.com/office/drawing/2014/main" id="{BC4575EC-FF5E-4435-B94B-19203DB92B05}"/>
              </a:ext>
            </a:extLst>
          </p:cNvPr>
          <p:cNvPicPr>
            <a:picLocks noChangeAspect="1"/>
          </p:cNvPicPr>
          <p:nvPr/>
        </p:nvPicPr>
        <p:blipFill>
          <a:blip r:embed="rId4"/>
          <a:stretch>
            <a:fillRect/>
          </a:stretch>
        </p:blipFill>
        <p:spPr>
          <a:xfrm>
            <a:off x="553182" y="3823830"/>
            <a:ext cx="5052205" cy="2817741"/>
          </a:xfrm>
          <a:prstGeom prst="rect">
            <a:avLst/>
          </a:prstGeom>
        </p:spPr>
      </p:pic>
      <p:sp>
        <p:nvSpPr>
          <p:cNvPr id="3" name="右箭头 2"/>
          <p:cNvSpPr/>
          <p:nvPr/>
        </p:nvSpPr>
        <p:spPr>
          <a:xfrm rot="20166753">
            <a:off x="4976960" y="4111345"/>
            <a:ext cx="1493267" cy="3462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932017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ED962-4BCD-9A4F-4C40-4ADF7A0BC318}"/>
            </a:ext>
          </a:extLst>
        </p:cNvPr>
        <p:cNvGrpSpPr/>
        <p:nvPr/>
      </p:nvGrpSpPr>
      <p:grpSpPr>
        <a:xfrm>
          <a:off x="0" y="0"/>
          <a:ext cx="0" cy="0"/>
          <a:chOff x="0" y="0"/>
          <a:chExt cx="0" cy="0"/>
        </a:xfrm>
      </p:grpSpPr>
      <p:grpSp>
        <p:nvGrpSpPr>
          <p:cNvPr id="38" name="组合 37">
            <a:extLst>
              <a:ext uri="{FF2B5EF4-FFF2-40B4-BE49-F238E27FC236}">
                <a16:creationId xmlns:a16="http://schemas.microsoft.com/office/drawing/2014/main" id="{4A0A50AF-2148-E84A-089D-8C52195AA970}"/>
              </a:ext>
            </a:extLst>
          </p:cNvPr>
          <p:cNvGrpSpPr/>
          <p:nvPr/>
        </p:nvGrpSpPr>
        <p:grpSpPr>
          <a:xfrm>
            <a:off x="3869989" y="1594509"/>
            <a:ext cx="4452022" cy="4487848"/>
            <a:chOff x="3872379" y="1383943"/>
            <a:chExt cx="4452022" cy="4487848"/>
          </a:xfrm>
        </p:grpSpPr>
        <p:sp>
          <p:nvSpPr>
            <p:cNvPr id="3" name="Freeform 5">
              <a:extLst>
                <a:ext uri="{FF2B5EF4-FFF2-40B4-BE49-F238E27FC236}">
                  <a16:creationId xmlns:a16="http://schemas.microsoft.com/office/drawing/2014/main" id="{5C4319D1-5D6A-AB08-B749-2B6BF8EA80AC}"/>
                </a:ext>
              </a:extLst>
            </p:cNvPr>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a:extLst>
                <a:ext uri="{FF2B5EF4-FFF2-40B4-BE49-F238E27FC236}">
                  <a16:creationId xmlns:a16="http://schemas.microsoft.com/office/drawing/2014/main" id="{237404C6-4DAF-121A-D17C-5E15580E5976}"/>
                </a:ext>
              </a:extLst>
            </p:cNvPr>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a:extLst>
                <a:ext uri="{FF2B5EF4-FFF2-40B4-BE49-F238E27FC236}">
                  <a16:creationId xmlns:a16="http://schemas.microsoft.com/office/drawing/2014/main" id="{0622786A-8BCC-0ABA-5B83-6ED1B5F96DEC}"/>
                </a:ext>
              </a:extLst>
            </p:cNvPr>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a:extLst>
                <a:ext uri="{FF2B5EF4-FFF2-40B4-BE49-F238E27FC236}">
                  <a16:creationId xmlns:a16="http://schemas.microsoft.com/office/drawing/2014/main" id="{F3DADADE-2E8D-6B67-20B4-492C52CA54A6}"/>
                </a:ext>
              </a:extLst>
            </p:cNvPr>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a:extLst>
                <a:ext uri="{FF2B5EF4-FFF2-40B4-BE49-F238E27FC236}">
                  <a16:creationId xmlns:a16="http://schemas.microsoft.com/office/drawing/2014/main" id="{3BBD8363-0313-B228-1FEE-91E95B99B3A0}"/>
                </a:ext>
              </a:extLst>
            </p:cNvPr>
            <p:cNvGrpSpPr/>
            <p:nvPr/>
          </p:nvGrpSpPr>
          <p:grpSpPr>
            <a:xfrm>
              <a:off x="4569798" y="4627422"/>
              <a:ext cx="527842" cy="535007"/>
              <a:chOff x="3557588" y="3654425"/>
              <a:chExt cx="350838" cy="355600"/>
            </a:xfrm>
          </p:grpSpPr>
          <p:sp>
            <p:nvSpPr>
              <p:cNvPr id="20" name="Freeform 9">
                <a:extLst>
                  <a:ext uri="{FF2B5EF4-FFF2-40B4-BE49-F238E27FC236}">
                    <a16:creationId xmlns:a16="http://schemas.microsoft.com/office/drawing/2014/main" id="{9C9B3851-E53E-91D8-B140-74E06F88F257}"/>
                  </a:ext>
                </a:extLst>
              </p:cNvPr>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a:extLst>
                  <a:ext uri="{FF2B5EF4-FFF2-40B4-BE49-F238E27FC236}">
                    <a16:creationId xmlns:a16="http://schemas.microsoft.com/office/drawing/2014/main" id="{B81D65D2-CE60-3528-D511-811789B06B87}"/>
                  </a:ext>
                </a:extLst>
              </p:cNvPr>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a:extLst>
                  <a:ext uri="{FF2B5EF4-FFF2-40B4-BE49-F238E27FC236}">
                    <a16:creationId xmlns:a16="http://schemas.microsoft.com/office/drawing/2014/main" id="{5C22750A-7E4D-2DD2-74F2-940251810374}"/>
                  </a:ext>
                </a:extLst>
              </p:cNvPr>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a:extLst>
                <a:ext uri="{FF2B5EF4-FFF2-40B4-BE49-F238E27FC236}">
                  <a16:creationId xmlns:a16="http://schemas.microsoft.com/office/drawing/2014/main" id="{3FB46440-E7DC-7934-FE9D-A2CBB76F3D8E}"/>
                </a:ext>
              </a:extLst>
            </p:cNvPr>
            <p:cNvGrpSpPr/>
            <p:nvPr/>
          </p:nvGrpSpPr>
          <p:grpSpPr>
            <a:xfrm>
              <a:off x="7025097" y="2098082"/>
              <a:ext cx="606660" cy="539784"/>
              <a:chOff x="5189538" y="1973263"/>
              <a:chExt cx="403225" cy="358775"/>
            </a:xfrm>
          </p:grpSpPr>
          <p:sp>
            <p:nvSpPr>
              <p:cNvPr id="18" name="Freeform 12">
                <a:extLst>
                  <a:ext uri="{FF2B5EF4-FFF2-40B4-BE49-F238E27FC236}">
                    <a16:creationId xmlns:a16="http://schemas.microsoft.com/office/drawing/2014/main" id="{1F8D4470-3011-8F18-DEA5-1EC65EDE8AAD}"/>
                  </a:ext>
                </a:extLst>
              </p:cNvPr>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a:extLst>
                  <a:ext uri="{FF2B5EF4-FFF2-40B4-BE49-F238E27FC236}">
                    <a16:creationId xmlns:a16="http://schemas.microsoft.com/office/drawing/2014/main" id="{F4D24F25-1344-45AE-3645-6E5731AAAE38}"/>
                  </a:ext>
                </a:extLst>
              </p:cNvPr>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a:extLst>
                <a:ext uri="{FF2B5EF4-FFF2-40B4-BE49-F238E27FC236}">
                  <a16:creationId xmlns:a16="http://schemas.microsoft.com/office/drawing/2014/main" id="{DC890B42-438A-5E2F-9128-97F6B9BB4781}"/>
                </a:ext>
              </a:extLst>
            </p:cNvPr>
            <p:cNvGrpSpPr/>
            <p:nvPr/>
          </p:nvGrpSpPr>
          <p:grpSpPr>
            <a:xfrm>
              <a:off x="6984495" y="4601150"/>
              <a:ext cx="599495" cy="587552"/>
              <a:chOff x="5162551" y="3636963"/>
              <a:chExt cx="398463" cy="390525"/>
            </a:xfrm>
          </p:grpSpPr>
          <p:sp>
            <p:nvSpPr>
              <p:cNvPr id="15" name="Freeform 14">
                <a:extLst>
                  <a:ext uri="{FF2B5EF4-FFF2-40B4-BE49-F238E27FC236}">
                    <a16:creationId xmlns:a16="http://schemas.microsoft.com/office/drawing/2014/main" id="{6D076031-E30C-C73A-9BAE-3BDB01822EF2}"/>
                  </a:ext>
                </a:extLst>
              </p:cNvPr>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a:extLst>
                  <a:ext uri="{FF2B5EF4-FFF2-40B4-BE49-F238E27FC236}">
                    <a16:creationId xmlns:a16="http://schemas.microsoft.com/office/drawing/2014/main" id="{D934DD58-2C65-B525-2710-998799332282}"/>
                  </a:ext>
                </a:extLst>
              </p:cNvPr>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a:extLst>
                  <a:ext uri="{FF2B5EF4-FFF2-40B4-BE49-F238E27FC236}">
                    <a16:creationId xmlns:a16="http://schemas.microsoft.com/office/drawing/2014/main" id="{5BC79CB5-1BAF-F442-A824-41D0F4B74884}"/>
                  </a:ext>
                </a:extLst>
              </p:cNvPr>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a:extLst>
                <a:ext uri="{FF2B5EF4-FFF2-40B4-BE49-F238E27FC236}">
                  <a16:creationId xmlns:a16="http://schemas.microsoft.com/office/drawing/2014/main" id="{D6047E06-331F-B93F-836A-72E1B92C3EE4}"/>
                </a:ext>
              </a:extLst>
            </p:cNvPr>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a:extLst>
                <a:ext uri="{FF2B5EF4-FFF2-40B4-BE49-F238E27FC236}">
                  <a16:creationId xmlns:a16="http://schemas.microsoft.com/office/drawing/2014/main" id="{4B445B0C-404D-9CD4-A20A-D4E85DEAB540}"/>
                </a:ext>
              </a:extLst>
            </p:cNvPr>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a:extLst>
                <a:ext uri="{FF2B5EF4-FFF2-40B4-BE49-F238E27FC236}">
                  <a16:creationId xmlns:a16="http://schemas.microsoft.com/office/drawing/2014/main" id="{42805491-A409-20D1-BB2E-A8AE85339213}"/>
                </a:ext>
              </a:extLst>
            </p:cNvPr>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a:extLst>
                <a:ext uri="{FF2B5EF4-FFF2-40B4-BE49-F238E27FC236}">
                  <a16:creationId xmlns:a16="http://schemas.microsoft.com/office/drawing/2014/main" id="{6950A077-A5BB-3BAA-77C1-409C2D5B174C}"/>
                </a:ext>
              </a:extLst>
            </p:cNvPr>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a:extLst>
                <a:ext uri="{FF2B5EF4-FFF2-40B4-BE49-F238E27FC236}">
                  <a16:creationId xmlns:a16="http://schemas.microsoft.com/office/drawing/2014/main" id="{6B9D2911-F418-6663-075A-6249DF98F865}"/>
                </a:ext>
              </a:extLst>
            </p:cNvPr>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a:extLst>
              <a:ext uri="{FF2B5EF4-FFF2-40B4-BE49-F238E27FC236}">
                <a16:creationId xmlns:a16="http://schemas.microsoft.com/office/drawing/2014/main" id="{096D319B-7143-46D8-BD4E-105C31C56D17}"/>
              </a:ext>
            </a:extLst>
          </p:cNvPr>
          <p:cNvGrpSpPr/>
          <p:nvPr>
            <p:custDataLst>
              <p:tags r:id="rId1"/>
            </p:custDataLst>
          </p:nvPr>
        </p:nvGrpSpPr>
        <p:grpSpPr>
          <a:xfrm>
            <a:off x="1445407" y="2526644"/>
            <a:ext cx="2855980" cy="823738"/>
            <a:chOff x="656868" y="2381121"/>
            <a:chExt cx="2855980" cy="823738"/>
          </a:xfrm>
        </p:grpSpPr>
        <p:sp>
          <p:nvSpPr>
            <p:cNvPr id="24" name="文本框 23">
              <a:extLst>
                <a:ext uri="{FF2B5EF4-FFF2-40B4-BE49-F238E27FC236}">
                  <a16:creationId xmlns:a16="http://schemas.microsoft.com/office/drawing/2014/main" id="{A9AD0C28-35B1-B391-47E6-B3FD20D98BC5}"/>
                </a:ext>
              </a:extLst>
            </p:cNvPr>
            <p:cNvSpPr txBox="1"/>
            <p:nvPr/>
          </p:nvSpPr>
          <p:spPr>
            <a:xfrm>
              <a:off x="928440" y="2381121"/>
              <a:ext cx="1723549" cy="461665"/>
            </a:xfrm>
            <a:prstGeom prst="rect">
              <a:avLst/>
            </a:prstGeom>
            <a:noFill/>
          </p:spPr>
          <p:txBody>
            <a:bodyPr wrap="none" rtlCol="0">
              <a:spAutoFit/>
            </a:bodyPr>
            <a:lstStyle/>
            <a:p>
              <a:r>
                <a:rPr lang="zh-CN" altLang="en-US" sz="2400" b="1" dirty="0">
                  <a:solidFill>
                    <a:srgbClr val="24569D"/>
                  </a:solidFill>
                </a:rPr>
                <a:t>无监督学习</a:t>
              </a:r>
            </a:p>
          </p:txBody>
        </p:sp>
        <p:sp>
          <p:nvSpPr>
            <p:cNvPr id="25" name="文本框 24">
              <a:extLst>
                <a:ext uri="{FF2B5EF4-FFF2-40B4-BE49-F238E27FC236}">
                  <a16:creationId xmlns:a16="http://schemas.microsoft.com/office/drawing/2014/main" id="{EB40F9B7-6125-A291-4298-451D0C2281A0}"/>
                </a:ext>
              </a:extLst>
            </p:cNvPr>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a:extLst>
              <a:ext uri="{FF2B5EF4-FFF2-40B4-BE49-F238E27FC236}">
                <a16:creationId xmlns:a16="http://schemas.microsoft.com/office/drawing/2014/main" id="{E208E2EE-8D41-6045-1E97-0C3F4745EFA2}"/>
              </a:ext>
            </a:extLst>
          </p:cNvPr>
          <p:cNvSpPr txBox="1"/>
          <p:nvPr/>
        </p:nvSpPr>
        <p:spPr>
          <a:xfrm>
            <a:off x="8551048" y="4920321"/>
            <a:ext cx="1415772" cy="461665"/>
          </a:xfrm>
          <a:prstGeom prst="rect">
            <a:avLst/>
          </a:prstGeom>
          <a:noFill/>
        </p:spPr>
        <p:txBody>
          <a:bodyPr wrap="none" rtlCol="0">
            <a:spAutoFit/>
          </a:bodyPr>
          <a:lstStyle/>
          <a:p>
            <a:r>
              <a:rPr lang="zh-CN" altLang="en-US" sz="2400" b="1" dirty="0">
                <a:solidFill>
                  <a:srgbClr val="FF0000"/>
                </a:solidFill>
              </a:rPr>
              <a:t>演化算法</a:t>
            </a:r>
          </a:p>
        </p:txBody>
      </p:sp>
      <p:sp>
        <p:nvSpPr>
          <p:cNvPr id="31" name="文本框 30">
            <a:extLst>
              <a:ext uri="{FF2B5EF4-FFF2-40B4-BE49-F238E27FC236}">
                <a16:creationId xmlns:a16="http://schemas.microsoft.com/office/drawing/2014/main" id="{7A2110E0-A28F-E0D2-D554-955ADE6BE9EF}"/>
              </a:ext>
            </a:extLst>
          </p:cNvPr>
          <p:cNvSpPr txBox="1"/>
          <p:nvPr/>
        </p:nvSpPr>
        <p:spPr>
          <a:xfrm>
            <a:off x="1743730" y="4865798"/>
            <a:ext cx="1415772" cy="461665"/>
          </a:xfrm>
          <a:prstGeom prst="rect">
            <a:avLst/>
          </a:prstGeom>
          <a:noFill/>
        </p:spPr>
        <p:txBody>
          <a:bodyPr wrap="none" rtlCol="0">
            <a:spAutoFit/>
          </a:bodyPr>
          <a:lstStyle/>
          <a:p>
            <a:r>
              <a:rPr lang="zh-CN" altLang="en-US" sz="2400" b="1" dirty="0">
                <a:solidFill>
                  <a:srgbClr val="24569D"/>
                </a:solidFill>
              </a:rPr>
              <a:t>特征降维</a:t>
            </a:r>
          </a:p>
        </p:txBody>
      </p:sp>
      <p:sp>
        <p:nvSpPr>
          <p:cNvPr id="34" name="文本框 33">
            <a:extLst>
              <a:ext uri="{FF2B5EF4-FFF2-40B4-BE49-F238E27FC236}">
                <a16:creationId xmlns:a16="http://schemas.microsoft.com/office/drawing/2014/main" id="{9D8CA1A4-C6F6-FFB5-03CD-EA28D064A9A3}"/>
              </a:ext>
            </a:extLst>
          </p:cNvPr>
          <p:cNvSpPr txBox="1"/>
          <p:nvPr/>
        </p:nvSpPr>
        <p:spPr>
          <a:xfrm>
            <a:off x="8551048" y="2586871"/>
            <a:ext cx="1415772" cy="461665"/>
          </a:xfrm>
          <a:prstGeom prst="rect">
            <a:avLst/>
          </a:prstGeom>
          <a:noFill/>
        </p:spPr>
        <p:txBody>
          <a:bodyPr wrap="none" rtlCol="0">
            <a:spAutoFit/>
          </a:bodyPr>
          <a:lstStyle/>
          <a:p>
            <a:r>
              <a:rPr lang="zh-CN" altLang="en-US" sz="2400" b="1" dirty="0">
                <a:solidFill>
                  <a:srgbClr val="24569D"/>
                </a:solidFill>
              </a:rPr>
              <a:t>聚类算法</a:t>
            </a:r>
          </a:p>
        </p:txBody>
      </p:sp>
      <p:sp>
        <p:nvSpPr>
          <p:cNvPr id="2" name="矩形 1">
            <a:extLst>
              <a:ext uri="{FF2B5EF4-FFF2-40B4-BE49-F238E27FC236}">
                <a16:creationId xmlns:a16="http://schemas.microsoft.com/office/drawing/2014/main" id="{AB3F03D1-0992-7950-E363-303D04922D80}"/>
              </a:ext>
            </a:extLst>
          </p:cNvPr>
          <p:cNvSpPr/>
          <p:nvPr/>
        </p:nvSpPr>
        <p:spPr>
          <a:xfrm>
            <a:off x="745606" y="902626"/>
            <a:ext cx="902811" cy="523220"/>
          </a:xfrm>
          <a:prstGeom prst="rect">
            <a:avLst/>
          </a:prstGeom>
        </p:spPr>
        <p:txBody>
          <a:bodyPr wrap="none">
            <a:spAutoFit/>
          </a:bodyPr>
          <a:lstStyle/>
          <a:p>
            <a:r>
              <a:rPr lang="zh-CN" altLang="en-US" sz="2800" dirty="0"/>
              <a:t>目录</a:t>
            </a:r>
          </a:p>
        </p:txBody>
      </p:sp>
    </p:spTree>
    <p:extLst>
      <p:ext uri="{BB962C8B-B14F-4D97-AF65-F5344CB8AC3E}">
        <p14:creationId xmlns:p14="http://schemas.microsoft.com/office/powerpoint/2010/main" val="2620542669"/>
      </p:ext>
    </p:extLst>
  </p:cSld>
  <p:clrMapOvr>
    <a:masterClrMapping/>
  </p:clrMapOvr>
  <p:transition spd="slow">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77A38-583B-E145-8A8C-3797C06AABDC}"/>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6D6D7080-5D34-E498-EF89-95ACF0D92C24}"/>
              </a:ext>
            </a:extLst>
          </p:cNvPr>
          <p:cNvGrpSpPr/>
          <p:nvPr/>
        </p:nvGrpSpPr>
        <p:grpSpPr>
          <a:xfrm>
            <a:off x="336176" y="1763500"/>
            <a:ext cx="11663082" cy="5172795"/>
            <a:chOff x="1099312" y="1723345"/>
            <a:chExt cx="10062913" cy="3432863"/>
          </a:xfrm>
          <a:solidFill>
            <a:schemeClr val="accent5">
              <a:lumMod val="50000"/>
            </a:schemeClr>
          </a:solidFill>
        </p:grpSpPr>
        <p:sp>
          <p:nvSpPr>
            <p:cNvPr id="12" name="立方体 11">
              <a:extLst>
                <a:ext uri="{FF2B5EF4-FFF2-40B4-BE49-F238E27FC236}">
                  <a16:creationId xmlns:a16="http://schemas.microsoft.com/office/drawing/2014/main" id="{ADBF5B92-1BFB-EDEA-DBAD-340319ACDE9E}"/>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mj-ea"/>
                <a:ea typeface="+mj-ea"/>
              </a:endParaRPr>
            </a:p>
          </p:txBody>
        </p:sp>
        <p:cxnSp>
          <p:nvCxnSpPr>
            <p:cNvPr id="13" name="直接连接符 12">
              <a:extLst>
                <a:ext uri="{FF2B5EF4-FFF2-40B4-BE49-F238E27FC236}">
                  <a16:creationId xmlns:a16="http://schemas.microsoft.com/office/drawing/2014/main" id="{C4A3D911-F91A-67AF-8E19-41D4C59B686E}"/>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E63BD06A-DA9F-74AE-3716-0653E9290A12}"/>
                </a:ext>
              </a:extLst>
            </p:cNvPr>
            <p:cNvGrpSpPr/>
            <p:nvPr/>
          </p:nvGrpSpPr>
          <p:grpSpPr>
            <a:xfrm>
              <a:off x="1099312" y="1742007"/>
              <a:ext cx="3220132" cy="3220133"/>
              <a:chOff x="1099312" y="2369187"/>
              <a:chExt cx="3220132" cy="3220133"/>
            </a:xfrm>
            <a:grpFill/>
          </p:grpSpPr>
          <p:cxnSp>
            <p:nvCxnSpPr>
              <p:cNvPr id="16" name="直接连接符 15">
                <a:extLst>
                  <a:ext uri="{FF2B5EF4-FFF2-40B4-BE49-F238E27FC236}">
                    <a16:creationId xmlns:a16="http://schemas.microsoft.com/office/drawing/2014/main" id="{B51F07D5-49FE-97EE-BD0C-5172A6091890}"/>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8F75C12B-5C43-D989-4019-34A3B7AF410A}"/>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C7BCD4BB-D028-3E26-6B81-88A5FF191F53}"/>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23CB5B03-DB9C-9496-DEC1-8B8DF298F932}"/>
              </a:ext>
            </a:extLst>
          </p:cNvPr>
          <p:cNvSpPr txBox="1"/>
          <p:nvPr/>
        </p:nvSpPr>
        <p:spPr>
          <a:xfrm>
            <a:off x="760098" y="1793064"/>
            <a:ext cx="10734642" cy="4662815"/>
          </a:xfrm>
          <a:prstGeom prst="rect">
            <a:avLst/>
          </a:prstGeom>
          <a:noFill/>
        </p:spPr>
        <p:txBody>
          <a:bodyPr wrap="square">
            <a:spAutoFit/>
          </a:bodyPr>
          <a:lstStyle/>
          <a:p>
            <a:pPr marL="285750" indent="-285750" algn="just">
              <a:lnSpc>
                <a:spcPct val="150000"/>
              </a:lnSpc>
              <a:spcAft>
                <a:spcPts val="0"/>
              </a:spcAft>
              <a:buFont typeface="Wingdings" panose="05000000000000000000" pitchFamily="2" charset="2"/>
              <a:buChar char="u"/>
            </a:pPr>
            <a:r>
              <a:rPr lang="zh-CN" altLang="zh-CN" b="1" dirty="0">
                <a:solidFill>
                  <a:srgbClr val="FFFF00"/>
                </a:solidFill>
                <a:latin typeface="+mj-ea"/>
                <a:ea typeface="+mj-ea"/>
                <a:cs typeface="Times New Roman" panose="02020603050405020304" pitchFamily="18" charset="0"/>
              </a:rPr>
              <a:t>演化算法（</a:t>
            </a:r>
            <a:r>
              <a:rPr lang="en-US" altLang="zh-CN" b="1" dirty="0">
                <a:solidFill>
                  <a:srgbClr val="FFFF00"/>
                </a:solidFill>
                <a:latin typeface="+mj-ea"/>
                <a:ea typeface="+mj-ea"/>
                <a:cs typeface="Times New Roman" panose="02020603050405020304" pitchFamily="18" charset="0"/>
              </a:rPr>
              <a:t>Evolutionary Algorithms</a:t>
            </a:r>
            <a:r>
              <a:rPr lang="zh-CN" altLang="zh-CN" b="1" dirty="0">
                <a:solidFill>
                  <a:srgbClr val="FFFF00"/>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是指一大类受自然演化启发的启发式</a:t>
            </a:r>
            <a:r>
              <a:rPr lang="zh-CN" altLang="zh-CN" dirty="0">
                <a:solidFill>
                  <a:srgbClr val="FFFF00"/>
                </a:solidFill>
                <a:latin typeface="+mj-ea"/>
                <a:ea typeface="+mj-ea"/>
                <a:cs typeface="Times New Roman" panose="02020603050405020304" pitchFamily="18" charset="0"/>
              </a:rPr>
              <a:t>随机优化算法</a:t>
            </a:r>
            <a:r>
              <a:rPr lang="zh-CN" altLang="zh-CN" dirty="0">
                <a:solidFill>
                  <a:schemeClr val="bg1"/>
                </a:solidFill>
                <a:latin typeface="+mj-ea"/>
                <a:ea typeface="+mj-ea"/>
                <a:cs typeface="Times New Roman" panose="02020603050405020304" pitchFamily="18" charset="0"/>
              </a:rPr>
              <a:t>，通过</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突变重组</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和</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自然选择</a:t>
            </a:r>
            <a:r>
              <a:rPr lang="en-US" altLang="zh-CN" dirty="0">
                <a:solidFill>
                  <a:schemeClr val="bg1"/>
                </a:solidFill>
                <a:latin typeface="+mj-ea"/>
                <a:ea typeface="+mj-ea"/>
                <a:cs typeface="Times New Roman" panose="02020603050405020304" pitchFamily="18" charset="0"/>
              </a:rPr>
              <a:t>” </a:t>
            </a:r>
            <a:r>
              <a:rPr lang="zh-CN" altLang="zh-CN" dirty="0">
                <a:solidFill>
                  <a:schemeClr val="bg1"/>
                </a:solidFill>
                <a:latin typeface="+mj-ea"/>
                <a:ea typeface="+mj-ea"/>
                <a:cs typeface="Times New Roman" panose="02020603050405020304" pitchFamily="18" charset="0"/>
              </a:rPr>
              <a:t>这两种机制来模拟自然演化过程。演化算法有很多种实现方法，如</a:t>
            </a:r>
            <a:r>
              <a:rPr lang="zh-CN" altLang="zh-CN" dirty="0">
                <a:solidFill>
                  <a:srgbClr val="FF0000"/>
                </a:solidFill>
                <a:latin typeface="+mj-ea"/>
                <a:ea typeface="+mj-ea"/>
                <a:cs typeface="Times New Roman" panose="02020603050405020304" pitchFamily="18" charset="0"/>
              </a:rPr>
              <a:t>遗传</a:t>
            </a:r>
            <a:r>
              <a:rPr lang="zh-CN" altLang="zh-CN" dirty="0" smtClean="0">
                <a:solidFill>
                  <a:srgbClr val="FF0000"/>
                </a:solidFill>
                <a:latin typeface="+mj-ea"/>
                <a:ea typeface="+mj-ea"/>
                <a:cs typeface="Times New Roman" panose="02020603050405020304" pitchFamily="18" charset="0"/>
              </a:rPr>
              <a:t>算法</a:t>
            </a:r>
            <a:r>
              <a:rPr lang="en-US" altLang="zh-CN" dirty="0" smtClean="0">
                <a:solidFill>
                  <a:srgbClr val="FF0000"/>
                </a:solidFill>
                <a:latin typeface="+mj-ea"/>
                <a:ea typeface="+mj-ea"/>
                <a:cs typeface="Times New Roman" panose="02020603050405020304" pitchFamily="18" charset="0"/>
              </a:rPr>
              <a:t>(genetic algorithm)</a:t>
            </a:r>
            <a:r>
              <a:rPr lang="zh-CN" altLang="zh-CN" dirty="0" smtClean="0">
                <a:solidFill>
                  <a:srgbClr val="FF0000"/>
                </a:solidFill>
                <a:latin typeface="+mj-ea"/>
                <a:ea typeface="+mj-ea"/>
                <a:cs typeface="Times New Roman" panose="02020603050405020304" pitchFamily="18" charset="0"/>
              </a:rPr>
              <a:t>、</a:t>
            </a:r>
            <a:r>
              <a:rPr lang="zh-CN" altLang="zh-CN" dirty="0">
                <a:solidFill>
                  <a:srgbClr val="FF0000"/>
                </a:solidFill>
                <a:latin typeface="+mj-ea"/>
                <a:ea typeface="+mj-ea"/>
                <a:cs typeface="Times New Roman" panose="02020603050405020304" pitchFamily="18" charset="0"/>
              </a:rPr>
              <a:t>遗传规划</a:t>
            </a:r>
            <a:r>
              <a:rPr lang="en-US" altLang="zh-CN" dirty="0">
                <a:solidFill>
                  <a:srgbClr val="FF0000"/>
                </a:solidFill>
                <a:latin typeface="+mj-ea"/>
                <a:ea typeface="+mj-ea"/>
                <a:cs typeface="Times New Roman" panose="02020603050405020304" pitchFamily="18" charset="0"/>
              </a:rPr>
              <a:t>(genetic </a:t>
            </a:r>
            <a:r>
              <a:rPr lang="en-US" altLang="zh-CN" dirty="0" smtClean="0">
                <a:solidFill>
                  <a:srgbClr val="FF0000"/>
                </a:solidFill>
                <a:latin typeface="+mj-ea"/>
                <a:ea typeface="+mj-ea"/>
                <a:cs typeface="Times New Roman" panose="02020603050405020304" pitchFamily="18" charset="0"/>
              </a:rPr>
              <a:t>programming)</a:t>
            </a:r>
            <a:r>
              <a:rPr lang="zh-CN" altLang="zh-CN" dirty="0">
                <a:solidFill>
                  <a:srgbClr val="FF0000"/>
                </a:solidFill>
                <a:latin typeface="+mj-ea"/>
                <a:ea typeface="+mj-ea"/>
                <a:cs typeface="Times New Roman" panose="02020603050405020304" pitchFamily="18" charset="0"/>
              </a:rPr>
              <a:t>、演化策略</a:t>
            </a:r>
            <a:r>
              <a:rPr lang="en-US" altLang="zh-CN" dirty="0">
                <a:solidFill>
                  <a:srgbClr val="FF0000"/>
                </a:solidFill>
                <a:latin typeface="+mj-ea"/>
                <a:ea typeface="+mj-ea"/>
                <a:cs typeface="Times New Roman" panose="02020603050405020304" pitchFamily="18" charset="0"/>
              </a:rPr>
              <a:t>(evolutionary strategy)</a:t>
            </a:r>
            <a:r>
              <a:rPr lang="zh-CN" altLang="zh-CN" dirty="0">
                <a:solidFill>
                  <a:schemeClr val="bg1"/>
                </a:solidFill>
                <a:latin typeface="+mj-ea"/>
                <a:ea typeface="+mj-ea"/>
                <a:cs typeface="Times New Roman" panose="02020603050405020304" pitchFamily="18" charset="0"/>
              </a:rPr>
              <a:t>等。</a:t>
            </a:r>
          </a:p>
          <a:p>
            <a:pPr marL="285750" indent="-285750" algn="just">
              <a:lnSpc>
                <a:spcPct val="150000"/>
              </a:lnSpc>
              <a:spcAft>
                <a:spcPts val="0"/>
              </a:spcAft>
              <a:buFont typeface="Wingdings" panose="05000000000000000000" pitchFamily="2" charset="2"/>
              <a:buChar char="u"/>
            </a:pPr>
            <a:r>
              <a:rPr lang="zh-CN" altLang="zh-CN" b="1" dirty="0">
                <a:solidFill>
                  <a:schemeClr val="bg1"/>
                </a:solidFill>
                <a:latin typeface="+mj-ea"/>
                <a:ea typeface="+mj-ea"/>
                <a:cs typeface="Times New Roman" panose="02020603050405020304" pitchFamily="18" charset="0"/>
              </a:rPr>
              <a:t>遗传算法（</a:t>
            </a:r>
            <a:r>
              <a:rPr lang="en-US" altLang="zh-CN" b="1" dirty="0">
                <a:solidFill>
                  <a:schemeClr val="bg1"/>
                </a:solidFill>
                <a:latin typeface="+mj-ea"/>
                <a:ea typeface="+mj-ea"/>
                <a:cs typeface="Times New Roman" panose="02020603050405020304" pitchFamily="18" charset="0"/>
              </a:rPr>
              <a:t>Genetic Algorithm, GA</a:t>
            </a:r>
            <a:r>
              <a:rPr lang="zh-CN" altLang="zh-CN" b="1"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是演化学习的代表性算法之一，其受到达尔文</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物竞天择、适者生存</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进化论思想启示，引入</a:t>
            </a:r>
            <a:r>
              <a:rPr lang="zh-CN" altLang="zh-CN" dirty="0">
                <a:solidFill>
                  <a:srgbClr val="FFFF00"/>
                </a:solidFill>
                <a:latin typeface="+mj-ea"/>
                <a:ea typeface="+mj-ea"/>
                <a:cs typeface="Times New Roman" panose="02020603050405020304" pitchFamily="18" charset="0"/>
              </a:rPr>
              <a:t>选择</a:t>
            </a:r>
            <a:r>
              <a:rPr lang="en-US" altLang="zh-CN" dirty="0">
                <a:solidFill>
                  <a:srgbClr val="FFFF00"/>
                </a:solidFill>
                <a:latin typeface="+mj-ea"/>
                <a:ea typeface="+mj-ea"/>
                <a:cs typeface="Times New Roman" panose="02020603050405020304" pitchFamily="18" charset="0"/>
              </a:rPr>
              <a:t>(selection)</a:t>
            </a:r>
            <a:r>
              <a:rPr lang="zh-CN" altLang="zh-CN" dirty="0">
                <a:solidFill>
                  <a:srgbClr val="FFFF00"/>
                </a:solidFill>
                <a:latin typeface="+mj-ea"/>
                <a:ea typeface="+mj-ea"/>
                <a:cs typeface="Times New Roman" panose="02020603050405020304" pitchFamily="18" charset="0"/>
              </a:rPr>
              <a:t>、交叉</a:t>
            </a:r>
            <a:r>
              <a:rPr lang="en-US" altLang="zh-CN" dirty="0">
                <a:solidFill>
                  <a:srgbClr val="FFFF00"/>
                </a:solidFill>
                <a:latin typeface="+mj-ea"/>
                <a:ea typeface="+mj-ea"/>
                <a:cs typeface="Times New Roman" panose="02020603050405020304" pitchFamily="18" charset="0"/>
              </a:rPr>
              <a:t>(crossover)</a:t>
            </a:r>
            <a:r>
              <a:rPr lang="zh-CN" altLang="zh-CN" dirty="0">
                <a:solidFill>
                  <a:srgbClr val="FFFF00"/>
                </a:solidFill>
                <a:latin typeface="+mj-ea"/>
                <a:ea typeface="+mj-ea"/>
                <a:cs typeface="Times New Roman" panose="02020603050405020304" pitchFamily="18" charset="0"/>
              </a:rPr>
              <a:t>和变异</a:t>
            </a:r>
            <a:r>
              <a:rPr lang="en-US" altLang="zh-CN" dirty="0">
                <a:solidFill>
                  <a:srgbClr val="FFFF00"/>
                </a:solidFill>
                <a:latin typeface="+mj-ea"/>
                <a:ea typeface="+mj-ea"/>
                <a:cs typeface="Times New Roman" panose="02020603050405020304" pitchFamily="18" charset="0"/>
              </a:rPr>
              <a:t>(mutation)</a:t>
            </a:r>
            <a:r>
              <a:rPr lang="zh-CN" altLang="zh-CN" dirty="0">
                <a:solidFill>
                  <a:schemeClr val="bg1"/>
                </a:solidFill>
                <a:latin typeface="+mj-ea"/>
                <a:ea typeface="+mj-ea"/>
                <a:cs typeface="Times New Roman" panose="02020603050405020304" pitchFamily="18" charset="0"/>
              </a:rPr>
              <a:t>等操作以搜索方式来进行优化求解。遗传算法由密歇根大学的约翰</a:t>
            </a:r>
            <a:r>
              <a:rPr lang="en-US" altLang="zh-CN" dirty="0">
                <a:solidFill>
                  <a:schemeClr val="bg1"/>
                </a:solidFill>
                <a:latin typeface="+mj-ea"/>
                <a:ea typeface="+mj-ea"/>
                <a:cs typeface="Times New Roman" panose="02020603050405020304" pitchFamily="18" charset="0"/>
              </a:rPr>
              <a:t>·</a:t>
            </a:r>
            <a:r>
              <a:rPr lang="zh-CN" altLang="zh-CN" dirty="0">
                <a:solidFill>
                  <a:schemeClr val="bg1"/>
                </a:solidFill>
                <a:latin typeface="+mj-ea"/>
                <a:ea typeface="+mj-ea"/>
                <a:cs typeface="Times New Roman" panose="02020603050405020304" pitchFamily="18" charset="0"/>
              </a:rPr>
              <a:t>霍兰德（</a:t>
            </a:r>
            <a:r>
              <a:rPr lang="en-US" altLang="zh-CN" dirty="0">
                <a:solidFill>
                  <a:schemeClr val="bg1"/>
                </a:solidFill>
                <a:latin typeface="+mj-ea"/>
                <a:ea typeface="+mj-ea"/>
                <a:cs typeface="Times New Roman" panose="02020603050405020304" pitchFamily="18" charset="0"/>
              </a:rPr>
              <a:t>John H. Holland</a:t>
            </a:r>
            <a:r>
              <a:rPr lang="zh-CN" altLang="zh-CN" dirty="0">
                <a:solidFill>
                  <a:schemeClr val="bg1"/>
                </a:solidFill>
                <a:latin typeface="+mj-ea"/>
                <a:ea typeface="+mj-ea"/>
                <a:cs typeface="Times New Roman" panose="02020603050405020304" pitchFamily="18" charset="0"/>
              </a:rPr>
              <a:t>）和他的同事于二十世纪六十年代在对细胞自动机（</a:t>
            </a:r>
            <a:r>
              <a:rPr lang="en-US" altLang="zh-CN" dirty="0">
                <a:solidFill>
                  <a:schemeClr val="bg1"/>
                </a:solidFill>
                <a:latin typeface="+mj-ea"/>
                <a:ea typeface="+mj-ea"/>
                <a:cs typeface="Times New Roman" panose="02020603050405020304" pitchFamily="18" charset="0"/>
              </a:rPr>
              <a:t>cellular automata</a:t>
            </a:r>
            <a:r>
              <a:rPr lang="zh-CN" altLang="zh-CN" dirty="0">
                <a:solidFill>
                  <a:schemeClr val="bg1"/>
                </a:solidFill>
                <a:latin typeface="+mj-ea"/>
                <a:ea typeface="+mj-ea"/>
                <a:cs typeface="Times New Roman" panose="02020603050405020304" pitchFamily="18" charset="0"/>
              </a:rPr>
              <a:t>）进行研究时率先提出。</a:t>
            </a:r>
          </a:p>
          <a:p>
            <a:pPr marL="285750" indent="-285750" algn="just">
              <a:lnSpc>
                <a:spcPct val="150000"/>
              </a:lnSpc>
              <a:spcAft>
                <a:spcPts val="0"/>
              </a:spcAft>
              <a:buFont typeface="Wingdings" panose="05000000000000000000" pitchFamily="2" charset="2"/>
              <a:buChar char="u"/>
            </a:pPr>
            <a:r>
              <a:rPr lang="zh-CN" altLang="zh-CN" b="1" dirty="0">
                <a:solidFill>
                  <a:schemeClr val="bg1"/>
                </a:solidFill>
                <a:latin typeface="+mj-ea"/>
                <a:ea typeface="+mj-ea"/>
                <a:cs typeface="Times New Roman" panose="02020603050405020304" pitchFamily="18" charset="0"/>
              </a:rPr>
              <a:t>在遗传算法中，</a:t>
            </a:r>
            <a:r>
              <a:rPr lang="zh-CN" altLang="zh-CN" b="1" dirty="0">
                <a:solidFill>
                  <a:srgbClr val="FFFF00"/>
                </a:solidFill>
                <a:latin typeface="+mj-ea"/>
                <a:ea typeface="+mj-ea"/>
                <a:cs typeface="Times New Roman" panose="02020603050405020304" pitchFamily="18" charset="0"/>
              </a:rPr>
              <a:t>对于一个待求解的最优化问题</a:t>
            </a:r>
            <a:r>
              <a:rPr lang="zh-CN" altLang="zh-CN" b="1" dirty="0">
                <a:solidFill>
                  <a:schemeClr val="bg1"/>
                </a:solidFill>
                <a:latin typeface="+mj-ea"/>
                <a:ea typeface="+mj-ea"/>
                <a:cs typeface="Times New Roman" panose="02020603050405020304" pitchFamily="18" charset="0"/>
              </a:rPr>
              <a:t>，先给定一定数量</a:t>
            </a:r>
            <a:r>
              <a:rPr lang="zh-CN" altLang="zh-CN" b="1" dirty="0">
                <a:solidFill>
                  <a:srgbClr val="FFFF00"/>
                </a:solidFill>
                <a:latin typeface="+mj-ea"/>
                <a:ea typeface="+mj-ea"/>
                <a:cs typeface="Times New Roman" panose="02020603050405020304" pitchFamily="18" charset="0"/>
              </a:rPr>
              <a:t>候选解</a:t>
            </a:r>
            <a:r>
              <a:rPr lang="zh-CN" altLang="zh-CN" b="1" dirty="0">
                <a:solidFill>
                  <a:schemeClr val="bg1"/>
                </a:solidFill>
                <a:latin typeface="+mj-ea"/>
                <a:ea typeface="+mj-ea"/>
                <a:cs typeface="Times New Roman" panose="02020603050405020304" pitchFamily="18" charset="0"/>
              </a:rPr>
              <a:t>（称为个体或染色体），然后让这些染色体所构成</a:t>
            </a:r>
            <a:r>
              <a:rPr lang="zh-CN" altLang="zh-CN" b="1" dirty="0">
                <a:solidFill>
                  <a:srgbClr val="FFFF00"/>
                </a:solidFill>
                <a:latin typeface="+mj-ea"/>
                <a:ea typeface="+mj-ea"/>
                <a:cs typeface="Times New Roman" panose="02020603050405020304" pitchFamily="18" charset="0"/>
              </a:rPr>
              <a:t>种群</a:t>
            </a:r>
            <a:r>
              <a:rPr lang="zh-CN" altLang="zh-CN" b="1" dirty="0">
                <a:solidFill>
                  <a:schemeClr val="bg1"/>
                </a:solidFill>
                <a:latin typeface="+mj-ea"/>
                <a:ea typeface="+mj-ea"/>
                <a:cs typeface="Times New Roman" panose="02020603050405020304" pitchFamily="18" charset="0"/>
              </a:rPr>
              <a:t>向最优解进化。在每一次进化过程中，计算每个染色体（即候选解）的</a:t>
            </a:r>
            <a:r>
              <a:rPr lang="zh-CN" altLang="zh-CN" b="1" dirty="0">
                <a:solidFill>
                  <a:srgbClr val="FFFF00"/>
                </a:solidFill>
                <a:latin typeface="+mj-ea"/>
                <a:ea typeface="+mj-ea"/>
                <a:cs typeface="Times New Roman" panose="02020603050405020304" pitchFamily="18" charset="0"/>
              </a:rPr>
              <a:t>适应度（</a:t>
            </a:r>
            <a:r>
              <a:rPr lang="en-US" altLang="zh-CN" b="1" dirty="0">
                <a:solidFill>
                  <a:srgbClr val="FFFF00"/>
                </a:solidFill>
                <a:latin typeface="+mj-ea"/>
                <a:ea typeface="+mj-ea"/>
                <a:cs typeface="Times New Roman" panose="02020603050405020304" pitchFamily="18" charset="0"/>
              </a:rPr>
              <a:t>fitness</a:t>
            </a:r>
            <a:r>
              <a:rPr lang="zh-CN" altLang="zh-CN" b="1" dirty="0">
                <a:solidFill>
                  <a:srgbClr val="FFFF00"/>
                </a:solidFill>
                <a:latin typeface="+mj-ea"/>
                <a:ea typeface="+mj-ea"/>
                <a:cs typeface="Times New Roman" panose="02020603050405020304" pitchFamily="18" charset="0"/>
              </a:rPr>
              <a:t>）</a:t>
            </a:r>
            <a:r>
              <a:rPr lang="zh-CN" altLang="zh-CN" b="1" dirty="0">
                <a:solidFill>
                  <a:schemeClr val="bg1"/>
                </a:solidFill>
                <a:latin typeface="+mj-ea"/>
                <a:ea typeface="+mj-ea"/>
                <a:cs typeface="Times New Roman" panose="02020603050405020304" pitchFamily="18" charset="0"/>
              </a:rPr>
              <a:t>，根据适应度选择合适染色体，</a:t>
            </a:r>
            <a:r>
              <a:rPr lang="zh-CN" altLang="en-US" b="1" dirty="0">
                <a:solidFill>
                  <a:schemeClr val="bg1"/>
                </a:solidFill>
                <a:latin typeface="+mj-ea"/>
                <a:ea typeface="+mj-ea"/>
                <a:cs typeface="Times New Roman" panose="02020603050405020304" pitchFamily="18" charset="0"/>
              </a:rPr>
              <a:t>随后</a:t>
            </a:r>
            <a:r>
              <a:rPr lang="zh-CN" altLang="zh-CN" b="1" dirty="0">
                <a:solidFill>
                  <a:schemeClr val="bg1"/>
                </a:solidFill>
                <a:latin typeface="+mj-ea"/>
                <a:ea typeface="+mj-ea"/>
                <a:cs typeface="Times New Roman" panose="02020603050405020304" pitchFamily="18" charset="0"/>
              </a:rPr>
              <a:t>施以</a:t>
            </a:r>
            <a:r>
              <a:rPr lang="zh-CN" altLang="zh-CN" b="1" dirty="0">
                <a:solidFill>
                  <a:srgbClr val="FFFF00"/>
                </a:solidFill>
                <a:latin typeface="+mj-ea"/>
                <a:ea typeface="+mj-ea"/>
                <a:cs typeface="Times New Roman" panose="02020603050405020304" pitchFamily="18" charset="0"/>
              </a:rPr>
              <a:t>选择和变异</a:t>
            </a:r>
            <a:r>
              <a:rPr lang="zh-CN" altLang="zh-CN" b="1" dirty="0">
                <a:solidFill>
                  <a:schemeClr val="bg1"/>
                </a:solidFill>
                <a:latin typeface="+mj-ea"/>
                <a:ea typeface="+mj-ea"/>
                <a:cs typeface="Times New Roman" panose="02020603050405020304" pitchFamily="18" charset="0"/>
              </a:rPr>
              <a:t>来产生新的生命种群，该种群在算法下一次迭代中被作为当前种群。</a:t>
            </a:r>
          </a:p>
        </p:txBody>
      </p:sp>
      <p:grpSp>
        <p:nvGrpSpPr>
          <p:cNvPr id="18" name="组合 17">
            <a:extLst>
              <a:ext uri="{FF2B5EF4-FFF2-40B4-BE49-F238E27FC236}">
                <a16:creationId xmlns:a16="http://schemas.microsoft.com/office/drawing/2014/main" id="{FBDBFC7B-631F-A196-0F20-36E3801D6209}"/>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E8481649-0F75-96D3-75E4-5DF81F908C75}"/>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25E77E8A-1E2F-48CB-BD5D-737C46D23385}"/>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F14910DB-D991-C5C4-F128-7672C3F33FB3}"/>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演化算法（</a:t>
              </a:r>
              <a:r>
                <a:rPr lang="en-US" altLang="zh-CN" sz="2000" b="1" dirty="0">
                  <a:solidFill>
                    <a:schemeClr val="tx1">
                      <a:lumMod val="95000"/>
                      <a:lumOff val="5000"/>
                    </a:schemeClr>
                  </a:solidFill>
                  <a:latin typeface="+mj-ea"/>
                  <a:ea typeface="+mj-ea"/>
                  <a:cs typeface="Times New Roman" panose="02020603050405020304" pitchFamily="18" charset="0"/>
                </a:rPr>
                <a:t>evolutionary algorithm</a:t>
              </a:r>
              <a:r>
                <a:rPr lang="zh-CN" altLang="en-US" sz="2000" b="1" dirty="0">
                  <a:solidFill>
                    <a:schemeClr val="tx1">
                      <a:lumMod val="95000"/>
                      <a:lumOff val="5000"/>
                    </a:schemeClr>
                  </a:solidFill>
                  <a:latin typeface="+mj-ea"/>
                  <a:ea typeface="+mj-ea"/>
                  <a:cs typeface="Times New Roman" panose="02020603050405020304" pitchFamily="18" charset="0"/>
                </a:rPr>
                <a:t>）</a:t>
              </a:r>
            </a:p>
          </p:txBody>
        </p:sp>
      </p:grpSp>
    </p:spTree>
    <p:extLst>
      <p:ext uri="{BB962C8B-B14F-4D97-AF65-F5344CB8AC3E}">
        <p14:creationId xmlns:p14="http://schemas.microsoft.com/office/powerpoint/2010/main" val="18637680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67D19-5775-F24D-8E40-F8956513003E}"/>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5AB660A0-5AED-C525-9515-B3CEB49D37C3}"/>
              </a:ext>
            </a:extLst>
          </p:cNvPr>
          <p:cNvGrpSpPr/>
          <p:nvPr/>
        </p:nvGrpSpPr>
        <p:grpSpPr>
          <a:xfrm>
            <a:off x="336176" y="1738991"/>
            <a:ext cx="11663082" cy="5185591"/>
            <a:chOff x="1099312" y="1723345"/>
            <a:chExt cx="10062913" cy="3432863"/>
          </a:xfrm>
          <a:solidFill>
            <a:schemeClr val="accent5">
              <a:lumMod val="50000"/>
            </a:schemeClr>
          </a:solidFill>
        </p:grpSpPr>
        <p:sp>
          <p:nvSpPr>
            <p:cNvPr id="12" name="立方体 11">
              <a:extLst>
                <a:ext uri="{FF2B5EF4-FFF2-40B4-BE49-F238E27FC236}">
                  <a16:creationId xmlns:a16="http://schemas.microsoft.com/office/drawing/2014/main" id="{DE285AFD-D72C-BA1E-2B2E-FBB9986C51CC}"/>
                </a:ext>
              </a:extLst>
            </p:cNvPr>
            <p:cNvSpPr/>
            <p:nvPr/>
          </p:nvSpPr>
          <p:spPr>
            <a:xfrm>
              <a:off x="1099312" y="1723345"/>
              <a:ext cx="10062913" cy="3238795"/>
            </a:xfrm>
            <a:prstGeom prst="cube">
              <a:avLst>
                <a:gd name="adj" fmla="val 1445"/>
              </a:avLst>
            </a:prstGeom>
            <a:grp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mj-ea"/>
                <a:ea typeface="+mj-ea"/>
              </a:endParaRPr>
            </a:p>
          </p:txBody>
        </p:sp>
        <p:cxnSp>
          <p:nvCxnSpPr>
            <p:cNvPr id="13" name="直接连接符 12">
              <a:extLst>
                <a:ext uri="{FF2B5EF4-FFF2-40B4-BE49-F238E27FC236}">
                  <a16:creationId xmlns:a16="http://schemas.microsoft.com/office/drawing/2014/main" id="{977D5D41-E925-48A2-FD50-C09E79928155}"/>
                </a:ext>
              </a:extLst>
            </p:cNvPr>
            <p:cNvCxnSpPr/>
            <p:nvPr/>
          </p:nvCxnSpPr>
          <p:spPr>
            <a:xfrm rot="5400000" flipH="1">
              <a:off x="9209650" y="3470155"/>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71997B9A-8149-6FED-0B34-B9F77B6CD464}"/>
                </a:ext>
              </a:extLst>
            </p:cNvPr>
            <p:cNvGrpSpPr/>
            <p:nvPr/>
          </p:nvGrpSpPr>
          <p:grpSpPr>
            <a:xfrm>
              <a:off x="1099312" y="1742007"/>
              <a:ext cx="3220132" cy="3220133"/>
              <a:chOff x="1099312" y="2369187"/>
              <a:chExt cx="3220132" cy="3220133"/>
            </a:xfrm>
            <a:grpFill/>
          </p:grpSpPr>
          <p:cxnSp>
            <p:nvCxnSpPr>
              <p:cNvPr id="16" name="直接连接符 15">
                <a:extLst>
                  <a:ext uri="{FF2B5EF4-FFF2-40B4-BE49-F238E27FC236}">
                    <a16:creationId xmlns:a16="http://schemas.microsoft.com/office/drawing/2014/main" id="{24BBD3D9-8955-B4CC-0409-9914D6D1D749}"/>
                  </a:ext>
                </a:extLst>
              </p:cNvPr>
              <p:cNvCxnSpPr/>
              <p:nvPr/>
            </p:nvCxnSpPr>
            <p:spPr>
              <a:xfrm flipH="1">
                <a:off x="1099312" y="5408718"/>
                <a:ext cx="3220132"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A6A85D1-3F9E-380F-C774-692EF46D91BD}"/>
                  </a:ext>
                </a:extLst>
              </p:cNvPr>
              <p:cNvCxnSpPr/>
              <p:nvPr/>
            </p:nvCxnSpPr>
            <p:spPr>
              <a:xfrm rot="16200000" flipH="1">
                <a:off x="-313770" y="3979254"/>
                <a:ext cx="3220133"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114C6802-D36F-F377-F5E5-F5FD353BB491}"/>
                </a:ext>
              </a:extLst>
            </p:cNvPr>
            <p:cNvCxnSpPr/>
            <p:nvPr/>
          </p:nvCxnSpPr>
          <p:spPr>
            <a:xfrm rot="10800000" flipH="1">
              <a:off x="7731987" y="1979513"/>
              <a:ext cx="3372106" cy="0"/>
            </a:xfrm>
            <a:prstGeom prst="line">
              <a:avLst/>
            </a:prstGeom>
            <a:grpFill/>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4935B54E-1618-CD9B-9A9A-C4BC556BCD55}"/>
              </a:ext>
            </a:extLst>
          </p:cNvPr>
          <p:cNvSpPr txBox="1"/>
          <p:nvPr/>
        </p:nvSpPr>
        <p:spPr>
          <a:xfrm>
            <a:off x="386663" y="1850725"/>
            <a:ext cx="11562108" cy="4662815"/>
          </a:xfrm>
          <a:prstGeom prst="rect">
            <a:avLst/>
          </a:prstGeom>
          <a:noFill/>
        </p:spPr>
        <p:txBody>
          <a:bodyPr wrap="square">
            <a:spAutoFit/>
          </a:bodyPr>
          <a:lstStyle/>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1</a:t>
            </a:r>
            <a:r>
              <a:rPr lang="zh-CN" altLang="zh-CN" dirty="0">
                <a:solidFill>
                  <a:schemeClr val="bg1"/>
                </a:solidFill>
                <a:latin typeface="+mj-ea"/>
                <a:ea typeface="+mj-ea"/>
                <a:cs typeface="Times New Roman" panose="02020603050405020304" pitchFamily="18" charset="0"/>
              </a:rPr>
              <a:t>：</a:t>
            </a:r>
            <a:r>
              <a:rPr lang="zh-CN" altLang="zh-CN" dirty="0">
                <a:solidFill>
                  <a:srgbClr val="FFFF00"/>
                </a:solidFill>
                <a:latin typeface="+mj-ea"/>
                <a:ea typeface="+mj-ea"/>
                <a:cs typeface="Times New Roman" panose="02020603050405020304" pitchFamily="18" charset="0"/>
              </a:rPr>
              <a:t>初始化</a:t>
            </a:r>
            <a:r>
              <a:rPr lang="zh-CN" altLang="zh-CN" dirty="0">
                <a:solidFill>
                  <a:schemeClr val="bg1"/>
                </a:solidFill>
                <a:latin typeface="+mj-ea"/>
                <a:ea typeface="+mj-ea"/>
                <a:cs typeface="Times New Roman" panose="02020603050405020304" pitchFamily="18" charset="0"/>
              </a:rPr>
              <a:t>具有若干规模数目的群体。当前进化代数</a:t>
            </a:r>
            <a:r>
              <a:rPr lang="en-US" altLang="zh-CN" dirty="0">
                <a:solidFill>
                  <a:schemeClr val="bg1"/>
                </a:solidFill>
                <a:latin typeface="+mj-ea"/>
                <a:ea typeface="+mj-ea"/>
                <a:cs typeface="Times New Roman" panose="02020603050405020304" pitchFamily="18" charset="0"/>
              </a:rPr>
              <a:t>Generation=0</a:t>
            </a:r>
            <a:endParaRPr lang="zh-CN" altLang="zh-CN" dirty="0">
              <a:solidFill>
                <a:schemeClr val="bg1"/>
              </a:solidFill>
              <a:latin typeface="+mj-ea"/>
              <a:ea typeface="+mj-ea"/>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2</a:t>
            </a:r>
            <a:r>
              <a:rPr lang="zh-CN" altLang="zh-CN" dirty="0">
                <a:solidFill>
                  <a:schemeClr val="bg1"/>
                </a:solidFill>
                <a:latin typeface="+mj-ea"/>
                <a:ea typeface="+mj-ea"/>
                <a:cs typeface="Times New Roman" panose="02020603050405020304" pitchFamily="18" charset="0"/>
              </a:rPr>
              <a:t>：采用评估函数</a:t>
            </a:r>
            <a:r>
              <a:rPr lang="zh-CN" altLang="zh-CN" dirty="0">
                <a:solidFill>
                  <a:srgbClr val="FFFF00"/>
                </a:solidFill>
                <a:latin typeface="+mj-ea"/>
                <a:ea typeface="+mj-ea"/>
                <a:cs typeface="Times New Roman" panose="02020603050405020304" pitchFamily="18" charset="0"/>
              </a:rPr>
              <a:t>计算群体中每个染色体的适应值</a:t>
            </a:r>
            <a:r>
              <a:rPr lang="zh-CN" altLang="zh-CN" dirty="0">
                <a:solidFill>
                  <a:schemeClr val="bg1"/>
                </a:solidFill>
                <a:latin typeface="+mj-ea"/>
                <a:ea typeface="+mj-ea"/>
                <a:cs typeface="Times New Roman" panose="02020603050405020304" pitchFamily="18" charset="0"/>
              </a:rPr>
              <a:t>，保存适应值最大的染色体</a:t>
            </a:r>
            <a:r>
              <a:rPr lang="en-US" altLang="zh-CN" dirty="0">
                <a:solidFill>
                  <a:schemeClr val="bg1"/>
                </a:solidFill>
                <a:latin typeface="+mj-ea"/>
                <a:ea typeface="+mj-ea"/>
                <a:cs typeface="Times New Roman" panose="02020603050405020304" pitchFamily="18" charset="0"/>
              </a:rPr>
              <a:t>Best</a:t>
            </a:r>
            <a:r>
              <a:rPr lang="zh-CN" altLang="zh-CN" dirty="0">
                <a:solidFill>
                  <a:schemeClr val="bg1"/>
                </a:solidFill>
                <a:latin typeface="+mj-ea"/>
                <a:ea typeface="+mj-ea"/>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3</a:t>
            </a:r>
            <a:r>
              <a:rPr lang="zh-CN" altLang="zh-CN" dirty="0">
                <a:solidFill>
                  <a:schemeClr val="bg1"/>
                </a:solidFill>
                <a:latin typeface="+mj-ea"/>
                <a:ea typeface="+mj-ea"/>
                <a:cs typeface="Times New Roman" panose="02020603050405020304" pitchFamily="18" charset="0"/>
              </a:rPr>
              <a:t>：采用</a:t>
            </a:r>
            <a:r>
              <a:rPr lang="zh-CN" altLang="zh-CN" dirty="0">
                <a:solidFill>
                  <a:schemeClr val="accent4"/>
                </a:solidFill>
                <a:latin typeface="+mj-ea"/>
                <a:ea typeface="+mj-ea"/>
                <a:cs typeface="Times New Roman" panose="02020603050405020304" pitchFamily="18" charset="0"/>
              </a:rPr>
              <a:t>轮盘赌选择算法</a:t>
            </a:r>
            <a:r>
              <a:rPr lang="zh-CN" altLang="zh-CN" dirty="0">
                <a:solidFill>
                  <a:schemeClr val="bg1"/>
                </a:solidFill>
                <a:latin typeface="+mj-ea"/>
                <a:ea typeface="+mj-ea"/>
                <a:cs typeface="Times New Roman" panose="02020603050405020304" pitchFamily="18" charset="0"/>
              </a:rPr>
              <a:t>对群体中染色体进行</a:t>
            </a:r>
            <a:r>
              <a:rPr lang="zh-CN" altLang="zh-CN" dirty="0">
                <a:solidFill>
                  <a:srgbClr val="FFFF00"/>
                </a:solidFill>
                <a:latin typeface="+mj-ea"/>
                <a:ea typeface="+mj-ea"/>
                <a:cs typeface="Times New Roman" panose="02020603050405020304" pitchFamily="18" charset="0"/>
              </a:rPr>
              <a:t>选择</a:t>
            </a:r>
            <a:r>
              <a:rPr lang="zh-CN" altLang="zh-CN" dirty="0">
                <a:solidFill>
                  <a:schemeClr val="bg1"/>
                </a:solidFill>
                <a:latin typeface="+mj-ea"/>
                <a:ea typeface="+mj-ea"/>
                <a:cs typeface="Times New Roman" panose="02020603050405020304" pitchFamily="18" charset="0"/>
              </a:rPr>
              <a:t>，产生同样规模的种群。</a:t>
            </a: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4</a:t>
            </a:r>
            <a:r>
              <a:rPr lang="zh-CN" altLang="zh-CN" dirty="0">
                <a:solidFill>
                  <a:schemeClr val="bg1"/>
                </a:solidFill>
                <a:latin typeface="+mj-ea"/>
                <a:ea typeface="+mj-ea"/>
                <a:cs typeface="Times New Roman" panose="02020603050405020304" pitchFamily="18" charset="0"/>
              </a:rPr>
              <a:t>：按照概率从种群中选择两对染色体进行</a:t>
            </a:r>
            <a:r>
              <a:rPr lang="zh-CN" altLang="zh-CN" dirty="0">
                <a:solidFill>
                  <a:srgbClr val="FFFF00"/>
                </a:solidFill>
                <a:latin typeface="+mj-ea"/>
                <a:ea typeface="+mj-ea"/>
                <a:cs typeface="Times New Roman" panose="02020603050405020304" pitchFamily="18" charset="0"/>
              </a:rPr>
              <a:t>交叉操作</a:t>
            </a:r>
            <a:r>
              <a:rPr lang="zh-CN" altLang="zh-CN" dirty="0">
                <a:solidFill>
                  <a:schemeClr val="bg1"/>
                </a:solidFill>
                <a:latin typeface="+mj-ea"/>
                <a:ea typeface="+mj-ea"/>
                <a:cs typeface="Times New Roman" panose="02020603050405020304" pitchFamily="18" charset="0"/>
              </a:rPr>
              <a:t>，即对所选中两对染色体中相应基因片段信息进行交换。交叉所得染色体进入新种群，未交叉操作染色体被复制进入新种群。</a:t>
            </a: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5</a:t>
            </a:r>
            <a:r>
              <a:rPr lang="zh-CN" altLang="zh-CN" dirty="0">
                <a:solidFill>
                  <a:schemeClr val="bg1"/>
                </a:solidFill>
                <a:latin typeface="+mj-ea"/>
                <a:ea typeface="+mj-ea"/>
                <a:cs typeface="Times New Roman" panose="02020603050405020304" pitchFamily="18" charset="0"/>
              </a:rPr>
              <a:t>：按照概率对新种群中被选中染色体的若干基因片段进行</a:t>
            </a:r>
            <a:r>
              <a:rPr lang="zh-CN" altLang="zh-CN" dirty="0">
                <a:solidFill>
                  <a:srgbClr val="FFFF00"/>
                </a:solidFill>
                <a:latin typeface="+mj-ea"/>
                <a:ea typeface="+mj-ea"/>
                <a:cs typeface="Times New Roman" panose="02020603050405020304" pitchFamily="18" charset="0"/>
              </a:rPr>
              <a:t>变异操作</a:t>
            </a:r>
            <a:r>
              <a:rPr lang="zh-CN" altLang="zh-CN" dirty="0">
                <a:solidFill>
                  <a:schemeClr val="bg1"/>
                </a:solidFill>
                <a:latin typeface="+mj-ea"/>
                <a:ea typeface="+mj-ea"/>
                <a:cs typeface="Times New Roman" panose="02020603050405020304" pitchFamily="18" charset="0"/>
              </a:rPr>
              <a:t>。变异后染色体取代原有染色体进入新种群，未发生变异染色体直接进入新群体。</a:t>
            </a: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6</a:t>
            </a:r>
            <a:r>
              <a:rPr lang="zh-CN" altLang="zh-CN" dirty="0">
                <a:solidFill>
                  <a:schemeClr val="bg1"/>
                </a:solidFill>
                <a:latin typeface="+mj-ea"/>
                <a:ea typeface="+mj-ea"/>
                <a:cs typeface="Times New Roman" panose="02020603050405020304" pitchFamily="18" charset="0"/>
              </a:rPr>
              <a:t>：</a:t>
            </a:r>
            <a:r>
              <a:rPr lang="zh-CN" altLang="zh-CN" dirty="0">
                <a:solidFill>
                  <a:srgbClr val="FFFF00"/>
                </a:solidFill>
                <a:latin typeface="+mj-ea"/>
                <a:ea typeface="+mj-ea"/>
                <a:cs typeface="Times New Roman" panose="02020603050405020304" pitchFamily="18" charset="0"/>
              </a:rPr>
              <a:t>计算种群中各个染色体的适应值</a:t>
            </a:r>
            <a:r>
              <a:rPr lang="zh-CN" altLang="zh-CN" dirty="0">
                <a:solidFill>
                  <a:schemeClr val="bg1"/>
                </a:solidFill>
                <a:latin typeface="+mj-ea"/>
                <a:ea typeface="+mj-ea"/>
                <a:cs typeface="Times New Roman" panose="02020603050405020304" pitchFamily="18" charset="0"/>
              </a:rPr>
              <a:t>。倘若种群中染色体最大适应值大于已知</a:t>
            </a:r>
            <a:r>
              <a:rPr lang="en-US" altLang="zh-CN" dirty="0">
                <a:solidFill>
                  <a:schemeClr val="bg1"/>
                </a:solidFill>
                <a:latin typeface="+mj-ea"/>
                <a:ea typeface="+mj-ea"/>
                <a:cs typeface="Times New Roman" panose="02020603050405020304" pitchFamily="18" charset="0"/>
              </a:rPr>
              <a:t>Best</a:t>
            </a:r>
            <a:r>
              <a:rPr lang="zh-CN" altLang="zh-CN" dirty="0">
                <a:solidFill>
                  <a:schemeClr val="bg1"/>
                </a:solidFill>
                <a:latin typeface="+mj-ea"/>
                <a:ea typeface="+mj-ea"/>
                <a:cs typeface="Times New Roman" panose="02020603050405020304" pitchFamily="18" charset="0"/>
              </a:rPr>
              <a:t>适应值，则取代原有</a:t>
            </a:r>
            <a:r>
              <a:rPr lang="en-US" altLang="zh-CN" dirty="0">
                <a:solidFill>
                  <a:schemeClr val="bg1"/>
                </a:solidFill>
                <a:latin typeface="+mj-ea"/>
                <a:ea typeface="+mj-ea"/>
                <a:cs typeface="Times New Roman" panose="02020603050405020304" pitchFamily="18" charset="0"/>
              </a:rPr>
              <a:t>Best</a:t>
            </a:r>
            <a:r>
              <a:rPr lang="zh-CN" altLang="zh-CN" dirty="0">
                <a:solidFill>
                  <a:schemeClr val="bg1"/>
                </a:solidFill>
                <a:latin typeface="+mj-ea"/>
                <a:ea typeface="+mj-ea"/>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Ø"/>
            </a:pPr>
            <a:r>
              <a:rPr lang="zh-CN" altLang="zh-CN" dirty="0">
                <a:solidFill>
                  <a:schemeClr val="bg1"/>
                </a:solidFill>
                <a:latin typeface="+mj-ea"/>
                <a:ea typeface="+mj-ea"/>
                <a:cs typeface="Times New Roman" panose="02020603050405020304" pitchFamily="18" charset="0"/>
              </a:rPr>
              <a:t>步骤</a:t>
            </a:r>
            <a:r>
              <a:rPr lang="en-US" altLang="zh-CN" dirty="0">
                <a:solidFill>
                  <a:schemeClr val="bg1"/>
                </a:solidFill>
                <a:latin typeface="+mj-ea"/>
                <a:ea typeface="+mj-ea"/>
                <a:cs typeface="Times New Roman" panose="02020603050405020304" pitchFamily="18" charset="0"/>
              </a:rPr>
              <a:t>7</a:t>
            </a:r>
            <a:r>
              <a:rPr lang="zh-CN" altLang="zh-CN" dirty="0">
                <a:solidFill>
                  <a:schemeClr val="bg1"/>
                </a:solidFill>
                <a:latin typeface="+mj-ea"/>
                <a:ea typeface="+mj-ea"/>
                <a:cs typeface="Times New Roman" panose="02020603050405020304" pitchFamily="18" charset="0"/>
              </a:rPr>
              <a:t>：当前进化代数</a:t>
            </a:r>
            <a:r>
              <a:rPr lang="en-US" altLang="zh-CN" dirty="0">
                <a:solidFill>
                  <a:schemeClr val="bg1"/>
                </a:solidFill>
                <a:latin typeface="+mj-ea"/>
                <a:ea typeface="+mj-ea"/>
                <a:cs typeface="Times New Roman" panose="02020603050405020304" pitchFamily="18" charset="0"/>
              </a:rPr>
              <a:t>Generation</a:t>
            </a:r>
            <a:r>
              <a:rPr lang="zh-CN" altLang="zh-CN" dirty="0">
                <a:solidFill>
                  <a:schemeClr val="bg1"/>
                </a:solidFill>
                <a:latin typeface="+mj-ea"/>
                <a:ea typeface="+mj-ea"/>
                <a:cs typeface="Times New Roman" panose="02020603050405020304" pitchFamily="18" charset="0"/>
              </a:rPr>
              <a:t>加</a:t>
            </a:r>
            <a:r>
              <a:rPr lang="en-US" altLang="zh-CN" dirty="0">
                <a:solidFill>
                  <a:schemeClr val="bg1"/>
                </a:solidFill>
                <a:latin typeface="+mj-ea"/>
                <a:ea typeface="+mj-ea"/>
                <a:cs typeface="Times New Roman" panose="02020603050405020304" pitchFamily="18" charset="0"/>
              </a:rPr>
              <a:t>1</a:t>
            </a:r>
            <a:r>
              <a:rPr lang="zh-CN" altLang="zh-CN" dirty="0">
                <a:solidFill>
                  <a:schemeClr val="bg1"/>
                </a:solidFill>
                <a:latin typeface="+mj-ea"/>
                <a:ea typeface="+mj-ea"/>
                <a:cs typeface="Times New Roman" panose="02020603050405020304" pitchFamily="18" charset="0"/>
              </a:rPr>
              <a:t>。如果</a:t>
            </a:r>
            <a:r>
              <a:rPr lang="en-US" altLang="zh-CN" dirty="0">
                <a:solidFill>
                  <a:schemeClr val="bg1"/>
                </a:solidFill>
                <a:latin typeface="+mj-ea"/>
                <a:ea typeface="+mj-ea"/>
                <a:cs typeface="Times New Roman" panose="02020603050405020304" pitchFamily="18" charset="0"/>
              </a:rPr>
              <a:t>Generation</a:t>
            </a:r>
            <a:r>
              <a:rPr lang="zh-CN" altLang="zh-CN" dirty="0">
                <a:solidFill>
                  <a:schemeClr val="bg1"/>
                </a:solidFill>
                <a:latin typeface="+mj-ea"/>
                <a:ea typeface="+mj-ea"/>
                <a:cs typeface="Times New Roman" panose="02020603050405020304" pitchFamily="18" charset="0"/>
              </a:rPr>
              <a:t>超过规定的最大进化代数或</a:t>
            </a:r>
            <a:r>
              <a:rPr lang="en-US" altLang="zh-CN" dirty="0">
                <a:solidFill>
                  <a:schemeClr val="bg1"/>
                </a:solidFill>
                <a:latin typeface="+mj-ea"/>
                <a:ea typeface="+mj-ea"/>
                <a:cs typeface="Times New Roman" panose="02020603050405020304" pitchFamily="18" charset="0"/>
              </a:rPr>
              <a:t>Best</a:t>
            </a:r>
            <a:r>
              <a:rPr lang="zh-CN" altLang="zh-CN" dirty="0">
                <a:solidFill>
                  <a:schemeClr val="bg1"/>
                </a:solidFill>
                <a:latin typeface="+mj-ea"/>
                <a:ea typeface="+mj-ea"/>
                <a:cs typeface="Times New Roman" panose="02020603050405020304" pitchFamily="18" charset="0"/>
              </a:rPr>
              <a:t>达到规定的误差要求，算法</a:t>
            </a:r>
            <a:r>
              <a:rPr lang="zh-CN" altLang="zh-CN" dirty="0">
                <a:solidFill>
                  <a:srgbClr val="FFFF00"/>
                </a:solidFill>
                <a:latin typeface="+mj-ea"/>
                <a:ea typeface="+mj-ea"/>
                <a:cs typeface="Times New Roman" panose="02020603050405020304" pitchFamily="18" charset="0"/>
              </a:rPr>
              <a:t>结束</a:t>
            </a:r>
            <a:r>
              <a:rPr lang="zh-CN" altLang="zh-CN" dirty="0">
                <a:solidFill>
                  <a:schemeClr val="bg1"/>
                </a:solidFill>
                <a:latin typeface="+mj-ea"/>
                <a:ea typeface="+mj-ea"/>
                <a:cs typeface="Times New Roman" panose="02020603050405020304" pitchFamily="18" charset="0"/>
              </a:rPr>
              <a:t>；否则</a:t>
            </a:r>
            <a:r>
              <a:rPr lang="zh-CN" altLang="zh-CN" dirty="0">
                <a:solidFill>
                  <a:srgbClr val="FFFF00"/>
                </a:solidFill>
                <a:latin typeface="+mj-ea"/>
                <a:ea typeface="+mj-ea"/>
                <a:cs typeface="Times New Roman" panose="02020603050405020304" pitchFamily="18" charset="0"/>
              </a:rPr>
              <a:t>返回步骤</a:t>
            </a:r>
            <a:r>
              <a:rPr lang="en-US" altLang="zh-CN" dirty="0">
                <a:solidFill>
                  <a:srgbClr val="FFFF00"/>
                </a:solidFill>
                <a:latin typeface="+mj-ea"/>
                <a:ea typeface="+mj-ea"/>
                <a:cs typeface="Times New Roman" panose="02020603050405020304" pitchFamily="18" charset="0"/>
              </a:rPr>
              <a:t>3</a:t>
            </a:r>
            <a:r>
              <a:rPr lang="zh-CN" altLang="zh-CN" dirty="0">
                <a:solidFill>
                  <a:schemeClr val="bg1"/>
                </a:solidFill>
                <a:latin typeface="+mj-ea"/>
                <a:ea typeface="+mj-ea"/>
                <a:cs typeface="Times New Roman" panose="02020603050405020304" pitchFamily="18" charset="0"/>
              </a:rPr>
              <a:t>。</a:t>
            </a:r>
          </a:p>
        </p:txBody>
      </p:sp>
      <p:grpSp>
        <p:nvGrpSpPr>
          <p:cNvPr id="18" name="组合 17">
            <a:extLst>
              <a:ext uri="{FF2B5EF4-FFF2-40B4-BE49-F238E27FC236}">
                <a16:creationId xmlns:a16="http://schemas.microsoft.com/office/drawing/2014/main" id="{FF7F179D-CCBD-E24D-25E6-03D9821B387F}"/>
              </a:ext>
            </a:extLst>
          </p:cNvPr>
          <p:cNvGrpSpPr/>
          <p:nvPr/>
        </p:nvGrpSpPr>
        <p:grpSpPr>
          <a:xfrm>
            <a:off x="1905660" y="1019128"/>
            <a:ext cx="7464387" cy="497934"/>
            <a:chOff x="4099943" y="2819853"/>
            <a:chExt cx="2570275" cy="497934"/>
          </a:xfrm>
        </p:grpSpPr>
        <p:sp>
          <p:nvSpPr>
            <p:cNvPr id="19" name="平行四边形 18">
              <a:extLst>
                <a:ext uri="{FF2B5EF4-FFF2-40B4-BE49-F238E27FC236}">
                  <a16:creationId xmlns:a16="http://schemas.microsoft.com/office/drawing/2014/main" id="{A76FDB53-9ACF-5FD7-3071-0463157C9B9B}"/>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50AF6AB9-8C34-AD5C-D9F0-E73DC1E3129B}"/>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80C31A26-D827-85C0-0C1E-F94A35F388D0}"/>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a:t>
              </a:r>
              <a:r>
                <a:rPr lang="en-US" altLang="zh-CN" sz="2000" b="1" dirty="0">
                  <a:solidFill>
                    <a:schemeClr val="tx1">
                      <a:lumMod val="95000"/>
                      <a:lumOff val="5000"/>
                    </a:schemeClr>
                  </a:solidFill>
                  <a:latin typeface="+mj-ea"/>
                  <a:ea typeface="+mj-ea"/>
                  <a:cs typeface="Times New Roman" panose="02020603050405020304" pitchFamily="18" charset="0"/>
                </a:rPr>
                <a:t>Genetic Algorithm, GA</a:t>
              </a:r>
              <a:r>
                <a:rPr lang="zh-CN" altLang="en-US" sz="2000" b="1" dirty="0">
                  <a:solidFill>
                    <a:schemeClr val="tx1">
                      <a:lumMod val="95000"/>
                      <a:lumOff val="5000"/>
                    </a:schemeClr>
                  </a:solidFill>
                  <a:latin typeface="+mj-ea"/>
                  <a:ea typeface="+mj-ea"/>
                  <a:cs typeface="Times New Roman" panose="02020603050405020304" pitchFamily="18" charset="0"/>
                </a:rPr>
                <a:t>）</a:t>
              </a:r>
            </a:p>
          </p:txBody>
        </p:sp>
      </p:grpSp>
    </p:spTree>
    <p:extLst>
      <p:ext uri="{BB962C8B-B14F-4D97-AF65-F5344CB8AC3E}">
        <p14:creationId xmlns:p14="http://schemas.microsoft.com/office/powerpoint/2010/main" val="34690929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F4823-4C8A-38D4-E21F-18183793B9B5}"/>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60A97908-1C1A-2ACD-901C-56A4F42E5F8A}"/>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8C535D60-EE66-5026-4446-CFCE4CE32CBE}"/>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CD1DA204-3F83-31A9-79D3-2A53D0E163A1}"/>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2C6DF86B-231F-6D33-B5D0-DF405B2CFDF9}"/>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遗传算法举例</a:t>
              </a:r>
            </a:p>
          </p:txBody>
        </p:sp>
      </p:gr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8CC95D-B743-D9A5-BC4A-66320CFFC61C}"/>
                  </a:ext>
                </a:extLst>
              </p:cNvPr>
              <p:cNvSpPr/>
              <p:nvPr/>
            </p:nvSpPr>
            <p:spPr>
              <a:xfrm>
                <a:off x="578939" y="1763699"/>
                <a:ext cx="11259565" cy="1136530"/>
              </a:xfrm>
              <a:prstGeom prst="rect">
                <a:avLst/>
              </a:prstGeom>
            </p:spPr>
            <p:txBody>
              <a:bodyPr wrap="square">
                <a:spAutoFit/>
              </a:bodyPr>
              <a:lstStyle/>
              <a:p>
                <a:pPr algn="just">
                  <a:lnSpc>
                    <a:spcPct val="150000"/>
                  </a:lnSpc>
                  <a:spcAft>
                    <a:spcPts val="0"/>
                  </a:spcAft>
                </a:pPr>
                <a:r>
                  <a:rPr lang="zh-CN" altLang="zh-CN" kern="100" dirty="0">
                    <a:latin typeface="+mj-ea"/>
                    <a:ea typeface="+mj-ea"/>
                    <a:cs typeface="Times New Roman" panose="02020603050405020304" pitchFamily="18" charset="0"/>
                  </a:rPr>
                  <a:t>已知函数</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𝑦</m:t>
                    </m:r>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Sub>
                      </m:e>
                    </m:d>
                    <m:r>
                      <a:rPr lang="en-US" altLang="zh-CN" i="1" kern="100">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ea typeface="+mj-ea"/>
                            <a:cs typeface="Times New Roman" panose="02020603050405020304" pitchFamily="18" charset="0"/>
                          </a:rPr>
                        </m:ctrlPr>
                      </m:fPr>
                      <m:num>
                        <m:r>
                          <a:rPr lang="en-US" altLang="zh-CN" i="1" kern="100">
                            <a:latin typeface="Cambria Math" panose="02040503050406030204" pitchFamily="18" charset="0"/>
                            <a:ea typeface="+mj-ea"/>
                            <a:cs typeface="Times New Roman" panose="02020603050405020304" pitchFamily="18" charset="0"/>
                          </a:rPr>
                          <m:t>1</m:t>
                        </m:r>
                      </m:num>
                      <m:den>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+8</m:t>
                        </m:r>
                      </m:den>
                    </m:f>
                  </m:oMath>
                </a14:m>
                <a:r>
                  <a:rPr lang="en-US" altLang="zh-CN"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其中</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−5≤</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Sub>
                    <m:r>
                      <a:rPr lang="en-US" altLang="zh-CN" i="1" kern="100">
                        <a:latin typeface="Cambria Math" panose="02040503050406030204" pitchFamily="18" charset="0"/>
                        <a:ea typeface="+mj-ea"/>
                        <a:cs typeface="Times New Roman" panose="02020603050405020304" pitchFamily="18" charset="0"/>
                      </a:rPr>
                      <m:t>≤5</m:t>
                    </m:r>
                  </m:oMath>
                </a14:m>
                <a:r>
                  <a:rPr lang="zh-CN" altLang="zh-CN" kern="100" dirty="0">
                    <a:latin typeface="+mj-ea"/>
                    <a:ea typeface="+mj-ea"/>
                    <a:cs typeface="Times New Roman" panose="02020603050405020304" pitchFamily="18" charset="0"/>
                  </a:rPr>
                  <a:t>，用遗传算法求解函数</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𝑦</m:t>
                    </m:r>
                  </m:oMath>
                </a14:m>
                <a:r>
                  <a:rPr lang="zh-CN" altLang="zh-CN" kern="100" dirty="0">
                    <a:latin typeface="+mj-ea"/>
                    <a:ea typeface="+mj-ea"/>
                    <a:cs typeface="Times New Roman" panose="02020603050405020304" pitchFamily="18" charset="0"/>
                  </a:rPr>
                  <a:t>的最大值及对应变量</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Sub>
                  </m:oMath>
                </a14:m>
                <a:r>
                  <a:rPr lang="zh-CN" altLang="zh-CN" kern="100" dirty="0">
                    <a:latin typeface="+mj-ea"/>
                    <a:ea typeface="+mj-ea"/>
                    <a:cs typeface="Times New Roman" panose="02020603050405020304" pitchFamily="18" charset="0"/>
                  </a:rPr>
                  <a:t>、</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Sub>
                  </m:oMath>
                </a14:m>
                <a:r>
                  <a:rPr lang="zh-CN" altLang="zh-CN" kern="100" dirty="0">
                    <a:latin typeface="+mj-ea"/>
                    <a:ea typeface="+mj-ea"/>
                    <a:cs typeface="Times New Roman" panose="02020603050405020304" pitchFamily="18" charset="0"/>
                  </a:rPr>
                  <a:t>、</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Sub>
                  </m:oMath>
                </a14:m>
                <a:r>
                  <a:rPr lang="zh-CN" altLang="zh-CN" kern="100" dirty="0">
                    <a:latin typeface="+mj-ea"/>
                    <a:ea typeface="+mj-ea"/>
                    <a:cs typeface="Times New Roman" panose="02020603050405020304" pitchFamily="18" charset="0"/>
                  </a:rPr>
                  <a:t>和</a:t>
                </a: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Sub>
                  </m:oMath>
                </a14:m>
                <a:r>
                  <a:rPr lang="zh-CN" altLang="zh-CN" kern="100" dirty="0">
                    <a:latin typeface="+mj-ea"/>
                    <a:ea typeface="+mj-ea"/>
                    <a:cs typeface="Times New Roman" panose="02020603050405020304" pitchFamily="18" charset="0"/>
                  </a:rPr>
                  <a:t>的取值。</a:t>
                </a:r>
              </a:p>
            </p:txBody>
          </p:sp>
        </mc:Choice>
        <mc:Fallback xmlns="">
          <p:sp>
            <p:nvSpPr>
              <p:cNvPr id="2" name="矩形 1">
                <a:extLst>
                  <a:ext uri="{FF2B5EF4-FFF2-40B4-BE49-F238E27FC236}">
                    <a16:creationId xmlns:a16="http://schemas.microsoft.com/office/drawing/2014/main" id="{658CC95D-B743-D9A5-BC4A-66320CFFC61C}"/>
                  </a:ext>
                </a:extLst>
              </p:cNvPr>
              <p:cNvSpPr>
                <a:spLocks noRot="1" noChangeAspect="1" noMove="1" noResize="1" noEditPoints="1" noAdjustHandles="1" noChangeArrowheads="1" noChangeShapeType="1" noTextEdit="1"/>
              </p:cNvSpPr>
              <p:nvPr/>
            </p:nvSpPr>
            <p:spPr>
              <a:xfrm>
                <a:off x="578939" y="1763699"/>
                <a:ext cx="11259565" cy="1136530"/>
              </a:xfrm>
              <a:prstGeom prst="rect">
                <a:avLst/>
              </a:prstGeom>
              <a:blipFill>
                <a:blip r:embed="rId3"/>
                <a:stretch>
                  <a:fillRect l="-487" r="-433" b="-74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CB18B4B-31D9-5048-83B2-4D3DB97376A1}"/>
                  </a:ext>
                </a:extLst>
              </p:cNvPr>
              <p:cNvSpPr/>
              <p:nvPr/>
            </p:nvSpPr>
            <p:spPr>
              <a:xfrm>
                <a:off x="952494" y="3140034"/>
                <a:ext cx="10774907" cy="3565079"/>
              </a:xfrm>
              <a:prstGeom prst="rect">
                <a:avLst/>
              </a:prstGeom>
            </p:spPr>
            <p:txBody>
              <a:bodyPr wrap="square">
                <a:spAutoFit/>
              </a:bodyPr>
              <a:lstStyle/>
              <a:p>
                <a:pPr indent="127000" algn="just">
                  <a:lnSpc>
                    <a:spcPts val="2200"/>
                  </a:lnSpc>
                  <a:spcAft>
                    <a:spcPts val="0"/>
                  </a:spcAft>
                </a:pPr>
                <a:r>
                  <a:rPr lang="zh-CN" altLang="zh-CN" b="1" dirty="0">
                    <a:solidFill>
                      <a:srgbClr val="000000"/>
                    </a:solidFill>
                    <a:latin typeface="+mj-ea"/>
                    <a:ea typeface="+mj-ea"/>
                    <a:cs typeface="Times New Roman" panose="02020603050405020304" pitchFamily="18" charset="0"/>
                  </a:rPr>
                  <a:t>步骤</a:t>
                </a:r>
                <a:r>
                  <a:rPr lang="en-US" altLang="zh-CN" b="1" dirty="0">
                    <a:solidFill>
                      <a:srgbClr val="000000"/>
                    </a:solidFill>
                    <a:latin typeface="+mj-ea"/>
                    <a:ea typeface="+mj-ea"/>
                    <a:cs typeface="Times New Roman" panose="02020603050405020304" pitchFamily="18" charset="0"/>
                  </a:rPr>
                  <a:t>1</a:t>
                </a:r>
                <a:r>
                  <a:rPr lang="zh-CN" altLang="zh-CN" b="1" dirty="0">
                    <a:solidFill>
                      <a:srgbClr val="000000"/>
                    </a:solidFill>
                    <a:latin typeface="+mj-ea"/>
                    <a:ea typeface="+mj-ea"/>
                    <a:cs typeface="Times New Roman" panose="02020603050405020304" pitchFamily="18" charset="0"/>
                  </a:rPr>
                  <a:t>：初始化</a:t>
                </a:r>
                <a:endParaRPr lang="zh-CN" altLang="zh-CN" dirty="0">
                  <a:solidFill>
                    <a:srgbClr val="000000"/>
                  </a:solidFill>
                  <a:latin typeface="+mj-ea"/>
                  <a:ea typeface="+mj-ea"/>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mj-ea"/>
                    <a:ea typeface="+mj-ea"/>
                    <a:cs typeface="Times New Roman" panose="02020603050405020304" pitchFamily="18" charset="0"/>
                  </a:rPr>
                  <a:t>假设种群规模数目为</a:t>
                </a:r>
                <a:r>
                  <a:rPr lang="en-US" altLang="zh-CN" dirty="0">
                    <a:solidFill>
                      <a:srgbClr val="000000"/>
                    </a:solidFill>
                    <a:latin typeface="+mj-ea"/>
                    <a:ea typeface="+mj-ea"/>
                    <a:cs typeface="Times New Roman" panose="02020603050405020304" pitchFamily="18" charset="0"/>
                  </a:rPr>
                  <a:t>5</a:t>
                </a:r>
                <a:r>
                  <a:rPr lang="zh-CN" altLang="zh-CN" dirty="0">
                    <a:solidFill>
                      <a:srgbClr val="000000"/>
                    </a:solidFill>
                    <a:latin typeface="+mj-ea"/>
                    <a:ea typeface="+mj-ea"/>
                    <a:cs typeface="Times New Roman" panose="02020603050405020304" pitchFamily="18" charset="0"/>
                  </a:rPr>
                  <a:t>，使用浮点数编码方式构造染色体（即候选解）。每个染色体以四维向量形式表示，对应函数</a:t>
                </a:r>
                <a14:m>
                  <m:oMath xmlns:m="http://schemas.openxmlformats.org/officeDocument/2006/math">
                    <m:r>
                      <a:rPr lang="en-US" altLang="zh-CN" i="1">
                        <a:solidFill>
                          <a:srgbClr val="000000"/>
                        </a:solidFill>
                        <a:latin typeface="Cambria Math" panose="02040503050406030204" pitchFamily="18" charset="0"/>
                        <a:ea typeface="+mj-ea"/>
                        <a:cs typeface="Times New Roman" panose="02020603050405020304" pitchFamily="18" charset="0"/>
                      </a:rPr>
                      <m:t>𝑓</m:t>
                    </m:r>
                    <m:d>
                      <m:dPr>
                        <m:ctrlPr>
                          <a:rPr lang="zh-CN" altLang="zh-CN" i="1">
                            <a:solidFill>
                              <a:srgbClr val="000000"/>
                            </a:solidFill>
                            <a:latin typeface="Cambria Math" panose="02040503050406030204" pitchFamily="18" charset="0"/>
                            <a:ea typeface="+mj-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𝑥</m:t>
                            </m:r>
                          </m:e>
                          <m:sub>
                            <m:r>
                              <a:rPr lang="en-US" altLang="zh-CN" i="1">
                                <a:solidFill>
                                  <a:srgbClr val="000000"/>
                                </a:solidFill>
                                <a:latin typeface="Cambria Math" panose="02040503050406030204" pitchFamily="18" charset="0"/>
                                <a:ea typeface="+mj-ea"/>
                                <a:cs typeface="Times New Roman" panose="02020603050405020304" pitchFamily="18" charset="0"/>
                              </a:rPr>
                              <m:t>1</m:t>
                            </m:r>
                          </m:sub>
                        </m:sSub>
                        <m:r>
                          <a:rPr lang="en-US" altLang="zh-CN" i="1">
                            <a:solidFill>
                              <a:srgbClr val="000000"/>
                            </a:solidFill>
                            <a:latin typeface="Cambria Math" panose="02040503050406030204" pitchFamily="18" charset="0"/>
                            <a:ea typeface="+mj-ea"/>
                            <a:cs typeface="Times New Roman" panose="02020603050405020304" pitchFamily="18" charset="0"/>
                          </a:rPr>
                          <m:t>,</m:t>
                        </m:r>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𝑥</m:t>
                            </m:r>
                          </m:e>
                          <m:sub>
                            <m:r>
                              <a:rPr lang="en-US" altLang="zh-CN" i="1">
                                <a:solidFill>
                                  <a:srgbClr val="000000"/>
                                </a:solidFill>
                                <a:latin typeface="Cambria Math" panose="02040503050406030204" pitchFamily="18" charset="0"/>
                                <a:ea typeface="+mj-ea"/>
                                <a:cs typeface="Times New Roman" panose="02020603050405020304" pitchFamily="18" charset="0"/>
                              </a:rPr>
                              <m:t>2</m:t>
                            </m:r>
                          </m:sub>
                        </m:sSub>
                        <m:r>
                          <a:rPr lang="en-US" altLang="zh-CN" i="1">
                            <a:solidFill>
                              <a:srgbClr val="000000"/>
                            </a:solidFill>
                            <a:latin typeface="Cambria Math" panose="02040503050406030204" pitchFamily="18" charset="0"/>
                            <a:ea typeface="+mj-ea"/>
                            <a:cs typeface="Times New Roman" panose="02020603050405020304" pitchFamily="18" charset="0"/>
                          </a:rPr>
                          <m:t>,</m:t>
                        </m:r>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𝑥</m:t>
                            </m:r>
                          </m:e>
                          <m:sub>
                            <m:r>
                              <a:rPr lang="en-US" altLang="zh-CN" i="1">
                                <a:solidFill>
                                  <a:srgbClr val="000000"/>
                                </a:solidFill>
                                <a:latin typeface="Cambria Math" panose="02040503050406030204" pitchFamily="18" charset="0"/>
                                <a:ea typeface="+mj-ea"/>
                                <a:cs typeface="Times New Roman" panose="02020603050405020304" pitchFamily="18" charset="0"/>
                              </a:rPr>
                              <m:t>3</m:t>
                            </m:r>
                          </m:sub>
                        </m:sSub>
                        <m:r>
                          <a:rPr lang="en-US" altLang="zh-CN" i="1">
                            <a:solidFill>
                              <a:srgbClr val="000000"/>
                            </a:solidFill>
                            <a:latin typeface="Cambria Math" panose="02040503050406030204" pitchFamily="18" charset="0"/>
                            <a:ea typeface="+mj-ea"/>
                            <a:cs typeface="Times New Roman" panose="02020603050405020304" pitchFamily="18" charset="0"/>
                          </a:rPr>
                          <m:t>,</m:t>
                        </m:r>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𝑥</m:t>
                            </m:r>
                          </m:e>
                          <m:sub>
                            <m:r>
                              <a:rPr lang="en-US" altLang="zh-CN" i="1">
                                <a:solidFill>
                                  <a:srgbClr val="000000"/>
                                </a:solidFill>
                                <a:latin typeface="Cambria Math" panose="02040503050406030204" pitchFamily="18" charset="0"/>
                                <a:ea typeface="+mj-ea"/>
                                <a:cs typeface="Times New Roman" panose="02020603050405020304" pitchFamily="18" charset="0"/>
                              </a:rPr>
                              <m:t>4</m:t>
                            </m:r>
                          </m:sub>
                        </m:sSub>
                      </m:e>
                    </m:d>
                  </m:oMath>
                </a14:m>
                <a:r>
                  <a:rPr lang="zh-CN" altLang="zh-CN" dirty="0">
                    <a:solidFill>
                      <a:srgbClr val="000000"/>
                    </a:solidFill>
                    <a:latin typeface="+mj-ea"/>
                    <a:ea typeface="+mj-ea"/>
                    <a:cs typeface="Times New Roman" panose="02020603050405020304" pitchFamily="18" charset="0"/>
                  </a:rPr>
                  <a:t>中四个变量取值。初始化后得到如下五个染色体</a:t>
                </a:r>
                <a:r>
                  <a:rPr lang="zh-CN" altLang="zh-CN" dirty="0" smtClean="0">
                    <a:solidFill>
                      <a:srgbClr val="000000"/>
                    </a:solidFill>
                    <a:latin typeface="+mj-ea"/>
                    <a:ea typeface="+mj-ea"/>
                    <a:cs typeface="Times New Roman" panose="02020603050405020304" pitchFamily="18" charset="0"/>
                  </a:rPr>
                  <a:t>：</a:t>
                </a:r>
                <a:endParaRPr lang="en-US" altLang="zh-CN" dirty="0" smtClean="0">
                  <a:solidFill>
                    <a:srgbClr val="000000"/>
                  </a:solidFill>
                  <a:latin typeface="+mj-ea"/>
                  <a:ea typeface="+mj-ea"/>
                  <a:cs typeface="Times New Roman" panose="02020603050405020304" pitchFamily="18" charset="0"/>
                </a:endParaRPr>
              </a:p>
              <a:p>
                <a:pPr indent="266700" algn="just">
                  <a:lnSpc>
                    <a:spcPts val="2200"/>
                  </a:lnSpc>
                  <a:spcAft>
                    <a:spcPts val="0"/>
                  </a:spcAft>
                </a:pPr>
                <a:endParaRPr lang="zh-CN" altLang="zh-CN" dirty="0">
                  <a:solidFill>
                    <a:srgbClr val="000000"/>
                  </a:solidFill>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−2.1351, 2.0917, −0.1327, −4.1006</m:t>
                          </m:r>
                        </m:e>
                      </m:d>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2</m:t>
                          </m:r>
                        </m:sub>
                      </m:sSub>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Sub>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4.0589, 2.1904, −0.1503, 0.0023</m:t>
                          </m:r>
                        </m:e>
                      </m:d>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4</m:t>
                          </m:r>
                        </m:sub>
                      </m:sSub>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−3.4098, −3.0714, −0.9008, −4.3712</m:t>
                          </m:r>
                        </m:e>
                      </m:d>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5</m:t>
                          </m:r>
                        </m:sub>
                      </m:sSub>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0.2073, 2.9932, −4.0802, 1.8794</m:t>
                          </m:r>
                        </m:e>
                      </m:d>
                    </m:oMath>
                  </m:oMathPara>
                </a14:m>
                <a:endParaRPr lang="zh-CN" altLang="zh-CN"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1CB18B4B-31D9-5048-83B2-4D3DB97376A1}"/>
                  </a:ext>
                </a:extLst>
              </p:cNvPr>
              <p:cNvSpPr>
                <a:spLocks noRot="1" noChangeAspect="1" noMove="1" noResize="1" noEditPoints="1" noAdjustHandles="1" noChangeArrowheads="1" noChangeShapeType="1" noTextEdit="1"/>
              </p:cNvSpPr>
              <p:nvPr/>
            </p:nvSpPr>
            <p:spPr>
              <a:xfrm>
                <a:off x="952494" y="3140034"/>
                <a:ext cx="10774907" cy="3565079"/>
              </a:xfrm>
              <a:prstGeom prst="rect">
                <a:avLst/>
              </a:prstGeom>
              <a:blipFill>
                <a:blip r:embed="rId4"/>
                <a:stretch>
                  <a:fillRect l="-452" t="-1197" r="-5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60754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BBDEF-797F-D140-4019-4EFF362EC76C}"/>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A1A1AF49-4621-1704-6DF4-DDD3F7FDAA80}"/>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C38C9AA7-920C-6598-B801-B54CD505694C}"/>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E826736C-9073-EB2C-064C-3637DB4F5B80}"/>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4B11F214-5890-BB74-8CA1-C55A449E78F7}"/>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遗传算法举例</a:t>
              </a:r>
            </a:p>
          </p:txBody>
        </p:sp>
      </p:gr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426EC22-586F-87EF-DF34-059BFDCA541D}"/>
                  </a:ext>
                </a:extLst>
              </p:cNvPr>
              <p:cNvSpPr/>
              <p:nvPr/>
            </p:nvSpPr>
            <p:spPr>
              <a:xfrm>
                <a:off x="990274" y="2056010"/>
                <a:ext cx="10447841" cy="3611758"/>
              </a:xfrm>
              <a:prstGeom prst="rect">
                <a:avLst/>
              </a:prstGeom>
            </p:spPr>
            <p:txBody>
              <a:bodyPr wrap="square">
                <a:spAutoFit/>
              </a:bodyPr>
              <a:lstStyle/>
              <a:p>
                <a:pPr algn="just">
                  <a:lnSpc>
                    <a:spcPct val="150000"/>
                  </a:lnSpc>
                  <a:spcAft>
                    <a:spcPts val="0"/>
                  </a:spcAft>
                </a:pPr>
                <a:r>
                  <a:rPr lang="zh-CN" altLang="zh-CN" b="1" kern="100" dirty="0">
                    <a:latin typeface="+mj-ea"/>
                    <a:ea typeface="+mj-ea"/>
                    <a:cs typeface="Times New Roman" panose="02020603050405020304" pitchFamily="18" charset="0"/>
                  </a:rPr>
                  <a:t>步骤</a:t>
                </a:r>
                <a:r>
                  <a:rPr lang="en-US" altLang="zh-CN" b="1" kern="100" dirty="0">
                    <a:latin typeface="+mj-ea"/>
                    <a:ea typeface="+mj-ea"/>
                    <a:cs typeface="Times New Roman" panose="02020603050405020304" pitchFamily="18" charset="0"/>
                  </a:rPr>
                  <a:t>2</a:t>
                </a:r>
                <a:r>
                  <a:rPr lang="zh-CN" altLang="zh-CN" b="1" kern="100" dirty="0">
                    <a:latin typeface="+mj-ea"/>
                    <a:ea typeface="+mj-ea"/>
                    <a:cs typeface="Times New Roman" panose="02020603050405020304" pitchFamily="18" charset="0"/>
                  </a:rPr>
                  <a:t>：计算适应值</a:t>
                </a:r>
                <a:endParaRPr lang="zh-CN" altLang="zh-CN" kern="100" dirty="0">
                  <a:latin typeface="+mj-ea"/>
                  <a:ea typeface="+mj-ea"/>
                  <a:cs typeface="Times New Roman" panose="02020603050405020304" pitchFamily="18" charset="0"/>
                </a:endParaRPr>
              </a:p>
              <a:p>
                <a:pPr indent="266700" algn="just">
                  <a:lnSpc>
                    <a:spcPct val="150000"/>
                  </a:lnSpc>
                  <a:spcAft>
                    <a:spcPts val="0"/>
                  </a:spcAft>
                </a:pPr>
                <a:r>
                  <a:rPr lang="zh-CN" altLang="zh-CN" kern="100" dirty="0">
                    <a:latin typeface="+mj-ea"/>
                    <a:ea typeface="+mj-ea"/>
                    <a:cs typeface="Times New Roman" panose="02020603050405020304" pitchFamily="18" charset="0"/>
                  </a:rPr>
                  <a:t>如下计算每个染色体适应值 </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𝐶</m:t>
                        </m:r>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Sub>
                      </m:e>
                    </m:d>
                    <m:r>
                      <a:rPr lang="en-US" altLang="zh-CN" i="1" kern="100">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ea typeface="+mj-ea"/>
                            <a:cs typeface="Times New Roman" panose="02020603050405020304" pitchFamily="18" charset="0"/>
                          </a:rPr>
                        </m:ctrlPr>
                      </m:fPr>
                      <m:num>
                        <m:r>
                          <a:rPr lang="en-US" altLang="zh-CN" i="1" kern="100">
                            <a:latin typeface="Cambria Math" panose="02040503050406030204" pitchFamily="18" charset="0"/>
                            <a:ea typeface="+mj-ea"/>
                            <a:cs typeface="Times New Roman" panose="02020603050405020304" pitchFamily="18" charset="0"/>
                          </a:rPr>
                          <m:t>1</m:t>
                        </m:r>
                      </m:num>
                      <m:den>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1</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2</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3</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m:t>
                        </m:r>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𝑥</m:t>
                            </m:r>
                          </m:e>
                          <m:sub>
                            <m:r>
                              <a:rPr lang="en-US" altLang="zh-CN" i="1" kern="100">
                                <a:latin typeface="Cambria Math" panose="02040503050406030204" pitchFamily="18" charset="0"/>
                                <a:ea typeface="+mj-ea"/>
                                <a:cs typeface="Times New Roman" panose="02020603050405020304" pitchFamily="18" charset="0"/>
                              </a:rPr>
                              <m:t>4</m:t>
                            </m:r>
                          </m:sub>
                          <m:sup>
                            <m:r>
                              <a:rPr lang="en-US" altLang="zh-CN" i="1" kern="100">
                                <a:latin typeface="Cambria Math" panose="02040503050406030204" pitchFamily="18" charset="0"/>
                                <a:ea typeface="+mj-ea"/>
                                <a:cs typeface="Times New Roman" panose="02020603050405020304" pitchFamily="18" charset="0"/>
                              </a:rPr>
                              <m:t>2</m:t>
                            </m:r>
                          </m:sup>
                        </m:sSubSup>
                        <m:r>
                          <a:rPr lang="en-US" altLang="zh-CN" i="1" kern="100">
                            <a:latin typeface="Cambria Math" panose="02040503050406030204" pitchFamily="18" charset="0"/>
                            <a:ea typeface="+mj-ea"/>
                            <a:cs typeface="Times New Roman" panose="02020603050405020304" pitchFamily="18" charset="0"/>
                          </a:rPr>
                          <m:t>+8</m:t>
                        </m:r>
                      </m:den>
                    </m:f>
                  </m:oMath>
                </a14:m>
                <a:r>
                  <a:rPr lang="zh-CN" altLang="zh-CN" kern="100" dirty="0">
                    <a:latin typeface="+mj-ea"/>
                    <a:ea typeface="+mj-ea"/>
                    <a:cs typeface="Times New Roman" panose="02020603050405020304" pitchFamily="18" charset="0"/>
                  </a:rPr>
                  <a:t>：</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−2.1351, 2.0917, −0.1327, −4.1006</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0.0296152</m:t>
                      </m:r>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0.0217087</m:t>
                      </m:r>
                    </m:oMath>
                  </m:oMathPara>
                </a14:m>
                <a:endParaRPr lang="zh-CN" altLang="zh-CN" kern="100" dirty="0">
                  <a:latin typeface="+mj-ea"/>
                  <a:ea typeface="+mj-ea"/>
                  <a:cs typeface="Times New Roman" panose="02020603050405020304" pitchFamily="18" charset="0"/>
                </a:endParaRPr>
              </a:p>
              <a:p>
                <a:pPr indent="266700">
                  <a:lnSpc>
                    <a:spcPct val="150000"/>
                  </a:lnSpc>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Sub>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4.0589, 2.1904, −0.1503, 0.0023</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0.0341354</m:t>
                      </m:r>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4</m:t>
                              </m:r>
                            </m:sub>
                          </m:sSub>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−3.4098, −3.0714, −0.9008, −4.3712</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0.0204169</m:t>
                      </m:r>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5</m:t>
                              </m:r>
                            </m:sub>
                          </m:sSub>
                        </m:e>
                      </m:d>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𝑓</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0.2073, 2.9932, −4.0802, 1.8794</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0.0268944</m:t>
                      </m:r>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r>
                  <a:rPr lang="zh-CN" altLang="zh-CN" kern="100" dirty="0">
                    <a:latin typeface="+mj-ea"/>
                    <a:ea typeface="+mj-ea"/>
                    <a:cs typeface="Times New Roman" panose="02020603050405020304" pitchFamily="18" charset="0"/>
                  </a:rPr>
                  <a:t>因此</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𝐵𝑒𝑠𝑡</m:t>
                    </m:r>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Sub>
                    <m:r>
                      <a:rPr lang="en-US" altLang="zh-CN" i="1" kern="100">
                        <a:latin typeface="Cambria Math" panose="02040503050406030204" pitchFamily="18" charset="0"/>
                        <a:ea typeface="+mj-ea"/>
                        <a:cs typeface="Times New Roman" panose="02020603050405020304" pitchFamily="18" charset="0"/>
                      </a:rPr>
                      <m:t>, </m:t>
                    </m:r>
                    <m:r>
                      <a:rPr lang="en-US" altLang="zh-CN" i="1" kern="100">
                        <a:latin typeface="Cambria Math" panose="02040503050406030204" pitchFamily="18" charset="0"/>
                        <a:ea typeface="+mj-ea"/>
                        <a:cs typeface="Times New Roman" panose="02020603050405020304" pitchFamily="18" charset="0"/>
                      </a:rPr>
                      <m:t>𝐸𝑣𝑎𝑙</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𝐵𝑒𝑠𝑡</m:t>
                        </m:r>
                      </m:e>
                    </m:d>
                    <m:r>
                      <a:rPr lang="en-US" altLang="zh-CN" i="1" kern="100">
                        <a:latin typeface="Cambria Math" panose="02040503050406030204" pitchFamily="18" charset="0"/>
                        <a:ea typeface="+mj-ea"/>
                        <a:cs typeface="Times New Roman" panose="02020603050405020304" pitchFamily="18" charset="0"/>
                      </a:rPr>
                      <m:t>=</m:t>
                    </m:r>
                    <m:r>
                      <a:rPr lang="en-US" altLang="zh-CN" kern="100">
                        <a:latin typeface="Cambria Math" panose="02040503050406030204" pitchFamily="18" charset="0"/>
                        <a:ea typeface="+mj-ea"/>
                        <a:cs typeface="Times New Roman" panose="02020603050405020304" pitchFamily="18" charset="0"/>
                      </a:rPr>
                      <m:t>0.0341354</m:t>
                    </m:r>
                  </m:oMath>
                </a14:m>
                <a:endParaRPr lang="zh-CN" altLang="zh-CN" kern="100" dirty="0">
                  <a:latin typeface="+mj-ea"/>
                  <a:ea typeface="+mj-ea"/>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0426EC22-586F-87EF-DF34-059BFDCA541D}"/>
                  </a:ext>
                </a:extLst>
              </p:cNvPr>
              <p:cNvSpPr>
                <a:spLocks noRot="1" noChangeAspect="1" noMove="1" noResize="1" noEditPoints="1" noAdjustHandles="1" noChangeArrowheads="1" noChangeShapeType="1" noTextEdit="1"/>
              </p:cNvSpPr>
              <p:nvPr/>
            </p:nvSpPr>
            <p:spPr>
              <a:xfrm>
                <a:off x="990274" y="2056010"/>
                <a:ext cx="10447841" cy="3611758"/>
              </a:xfrm>
              <a:prstGeom prst="rect">
                <a:avLst/>
              </a:prstGeom>
              <a:blipFill>
                <a:blip r:embed="rId3"/>
                <a:stretch>
                  <a:fillRect l="-467" b="-21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16636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6FEA0-8C03-3B9A-6005-77D32656BA9D}"/>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47AF3493-6679-C025-169E-3CE836B094C5}"/>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28AA4F8A-6DA7-1023-D3C3-CC72B1D447A0}"/>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9291D6EC-8E35-E322-1348-798EC0CC541C}"/>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A1436C32-ADE8-E7A5-8847-B0EEDA53F0F0}"/>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遗传算法举例</a:t>
              </a:r>
            </a:p>
          </p:txBody>
        </p:sp>
      </p:gr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7823453-9A75-1432-0A59-40BA3554A448}"/>
                  </a:ext>
                </a:extLst>
              </p:cNvPr>
              <p:cNvSpPr/>
              <p:nvPr/>
            </p:nvSpPr>
            <p:spPr>
              <a:xfrm>
                <a:off x="493253" y="3483851"/>
                <a:ext cx="10978211" cy="3259162"/>
              </a:xfrm>
              <a:prstGeom prst="rect">
                <a:avLst/>
              </a:prstGeom>
            </p:spPr>
            <p:txBody>
              <a:bodyPr wrap="square">
                <a:spAutoFit/>
              </a:bodyPr>
              <a:lstStyle/>
              <a:p>
                <a:pPr algn="just">
                  <a:lnSpc>
                    <a:spcPct val="150000"/>
                  </a:lnSpc>
                  <a:spcAft>
                    <a:spcPts val="0"/>
                  </a:spcAft>
                </a:pPr>
                <a:r>
                  <a:rPr lang="zh-CN" altLang="zh-CN" b="1" kern="100" dirty="0">
                    <a:latin typeface="+mj-ea"/>
                    <a:ea typeface="+mj-ea"/>
                    <a:cs typeface="Times New Roman" panose="02020603050405020304" pitchFamily="18" charset="0"/>
                  </a:rPr>
                  <a:t>步骤</a:t>
                </a:r>
                <a:r>
                  <a:rPr lang="en-US" altLang="zh-CN" b="1" kern="100" dirty="0">
                    <a:latin typeface="+mj-ea"/>
                    <a:ea typeface="+mj-ea"/>
                    <a:cs typeface="Times New Roman" panose="02020603050405020304" pitchFamily="18" charset="0"/>
                  </a:rPr>
                  <a:t>3</a:t>
                </a:r>
                <a:r>
                  <a:rPr lang="zh-CN" altLang="zh-CN" b="1" kern="100" dirty="0">
                    <a:latin typeface="+mj-ea"/>
                    <a:ea typeface="+mj-ea"/>
                    <a:cs typeface="Times New Roman" panose="02020603050405020304" pitchFamily="18" charset="0"/>
                  </a:rPr>
                  <a:t>：选择</a:t>
                </a:r>
                <a:endParaRPr lang="zh-CN" altLang="zh-CN" kern="100" dirty="0">
                  <a:latin typeface="+mj-ea"/>
                  <a:ea typeface="+mj-ea"/>
                  <a:cs typeface="Times New Roman" panose="02020603050405020304" pitchFamily="18" charset="0"/>
                </a:endParaRPr>
              </a:p>
              <a:p>
                <a:pPr indent="266700" algn="just">
                  <a:lnSpc>
                    <a:spcPct val="150000"/>
                  </a:lnSpc>
                  <a:spcAft>
                    <a:spcPts val="0"/>
                  </a:spcAft>
                </a:pPr>
                <a:r>
                  <a:rPr lang="zh-CN" altLang="zh-CN" kern="100" dirty="0">
                    <a:latin typeface="+mj-ea"/>
                    <a:ea typeface="+mj-ea"/>
                    <a:cs typeface="Times New Roman" panose="02020603050405020304" pitchFamily="18" charset="0"/>
                  </a:rPr>
                  <a:t>采用轮盘赌选择算法</a:t>
                </a:r>
                <a:r>
                  <a:rPr lang="zh-CN" altLang="en-US" kern="100" dirty="0">
                    <a:latin typeface="+mj-ea"/>
                    <a:ea typeface="+mj-ea"/>
                    <a:cs typeface="Times New Roman" panose="02020603050405020304" pitchFamily="18" charset="0"/>
                  </a:rPr>
                  <a:t>对染色体进行选择</a:t>
                </a:r>
                <a:r>
                  <a:rPr lang="zh-CN" altLang="zh-CN" kern="100" dirty="0">
                    <a:latin typeface="+mj-ea"/>
                    <a:ea typeface="+mj-ea"/>
                    <a:cs typeface="Times New Roman" panose="02020603050405020304" pitchFamily="18" charset="0"/>
                  </a:rPr>
                  <a:t>，得到新种群为：</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1</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2</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4.0589, 2.1904, −0.1503, 0.0023</m:t>
                          </m:r>
                        </m:e>
                      </m:d>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4</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5</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0.2073, 2.9932, −4.0802, 1.8794</m:t>
                          </m:r>
                        </m:e>
                      </m:d>
                    </m:oMath>
                  </m:oMathPara>
                </a14:m>
                <a:endParaRPr lang="zh-CN" altLang="zh-CN" kern="100" dirty="0">
                  <a:latin typeface="+mj-ea"/>
                  <a:ea typeface="+mj-ea"/>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57823453-9A75-1432-0A59-40BA3554A448}"/>
                  </a:ext>
                </a:extLst>
              </p:cNvPr>
              <p:cNvSpPr>
                <a:spLocks noRot="1" noChangeAspect="1" noMove="1" noResize="1" noEditPoints="1" noAdjustHandles="1" noChangeArrowheads="1" noChangeShapeType="1" noTextEdit="1"/>
              </p:cNvSpPr>
              <p:nvPr/>
            </p:nvSpPr>
            <p:spPr>
              <a:xfrm>
                <a:off x="493253" y="3483851"/>
                <a:ext cx="10978211" cy="3259162"/>
              </a:xfrm>
              <a:prstGeom prst="rect">
                <a:avLst/>
              </a:prstGeom>
              <a:blipFill>
                <a:blip r:embed="rId3"/>
                <a:stretch>
                  <a:fillRect l="-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916615" y="1712447"/>
                <a:ext cx="6096000" cy="2031325"/>
              </a:xfrm>
              <a:prstGeom prst="rect">
                <a:avLst/>
              </a:prstGeom>
            </p:spPr>
            <p:txBody>
              <a:bodyPr>
                <a:spAutoFit/>
              </a:bodyPr>
              <a:lstStyle/>
              <a:p>
                <a:pPr indent="266700" algn="just">
                  <a:lnSpc>
                    <a:spcPct val="150000"/>
                  </a:lnSpc>
                  <a:spcAft>
                    <a:spcPts val="0"/>
                  </a:spcAft>
                </a:pPr>
                <a:r>
                  <a:rPr lang="zh-CN" altLang="en-US" sz="1400" kern="100" dirty="0" smtClean="0">
                    <a:cs typeface="Times New Roman" panose="02020603050405020304" pitchFamily="18" charset="0"/>
                  </a:rPr>
                  <a:t>原始</a:t>
                </a:r>
                <a14:m>
                  <m:oMath xmlns:m="http://schemas.openxmlformats.org/officeDocument/2006/math">
                    <m:r>
                      <a:rPr lang="zh-CN" altLang="en-US" sz="1400" i="1" kern="100">
                        <a:latin typeface="Cambria Math" panose="02040503050406030204" pitchFamily="18" charset="0"/>
                        <a:cs typeface="Times New Roman" panose="02020603050405020304" pitchFamily="18" charset="0"/>
                      </a:rPr>
                      <m:t>种群</m:t>
                    </m:r>
                    <m:r>
                      <a:rPr lang="zh-CN" altLang="en-US" sz="1400" i="1" kern="100" smtClean="0">
                        <a:latin typeface="Cambria Math" panose="02040503050406030204" pitchFamily="18" charset="0"/>
                        <a:cs typeface="Times New Roman" panose="02020603050405020304" pitchFamily="18" charset="0"/>
                      </a:rPr>
                      <m:t>：</m:t>
                    </m:r>
                  </m:oMath>
                </a14:m>
                <a:endParaRPr lang="en-US" altLang="zh-CN" sz="1400" i="1" kern="100" dirty="0" smtClean="0">
                  <a:latin typeface="Cambria Math" panose="02040503050406030204" pitchFamily="18" charset="0"/>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smtClean="0">
                              <a:latin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1</m:t>
                          </m:r>
                        </m:sub>
                      </m:sSub>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−2.1351, 2.0917, −0.1327, −4.1006</m:t>
                          </m:r>
                        </m:e>
                      </m:d>
                    </m:oMath>
                  </m:oMathPara>
                </a14:m>
                <a:endParaRPr lang="zh-CN" altLang="zh-CN" sz="1400" kern="100" dirty="0">
                  <a:latin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latin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2</m:t>
                          </m:r>
                        </m:sub>
                      </m:sSub>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1.0152, −3.9811, −2.6638, 3.7535</m:t>
                          </m:r>
                        </m:e>
                      </m:d>
                    </m:oMath>
                  </m:oMathPara>
                </a14:m>
                <a:endParaRPr lang="zh-CN" altLang="zh-CN" sz="1400" kern="100" dirty="0">
                  <a:latin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latin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3</m:t>
                          </m:r>
                        </m:sub>
                      </m:sSub>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4.0589, 2.1904, −0.1503, 0.0023</m:t>
                          </m:r>
                        </m:e>
                      </m:d>
                    </m:oMath>
                  </m:oMathPara>
                </a14:m>
                <a:endParaRPr lang="zh-CN" altLang="zh-CN" sz="1400" kern="100" dirty="0">
                  <a:latin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latin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4</m:t>
                          </m:r>
                        </m:sub>
                      </m:sSub>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−3.4098, −3.0714, −0.9008, −4.3712</m:t>
                          </m:r>
                        </m:e>
                      </m:d>
                    </m:oMath>
                  </m:oMathPara>
                </a14:m>
                <a:endParaRPr lang="zh-CN" altLang="zh-CN" sz="1400" kern="100" dirty="0">
                  <a:latin typeface="+mj-ea"/>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latin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5</m:t>
                          </m:r>
                        </m:sub>
                      </m:sSub>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0.2073, 2.9932, −4.0802, 1.8794</m:t>
                          </m:r>
                        </m:e>
                      </m:d>
                    </m:oMath>
                  </m:oMathPara>
                </a14:m>
                <a:endParaRPr lang="zh-CN" altLang="en-US" sz="1400" dirty="0"/>
              </a:p>
            </p:txBody>
          </p:sp>
        </mc:Choice>
        <mc:Fallback xmlns="">
          <p:sp>
            <p:nvSpPr>
              <p:cNvPr id="2" name="矩形 1"/>
              <p:cNvSpPr>
                <a:spLocks noRot="1" noChangeAspect="1" noMove="1" noResize="1" noEditPoints="1" noAdjustHandles="1" noChangeArrowheads="1" noChangeShapeType="1" noTextEdit="1"/>
              </p:cNvSpPr>
              <p:nvPr/>
            </p:nvSpPr>
            <p:spPr>
              <a:xfrm>
                <a:off x="6916615" y="1712447"/>
                <a:ext cx="6096000" cy="203132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90975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4A2A-6385-AD75-B821-48857BF8AB50}"/>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34038B74-17E5-83CF-DE01-2D02E2EDF3E4}"/>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91C0F036-1F26-16E3-09E7-F2D7CBA9ACD8}"/>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680F24DE-0B99-39B0-BEFE-519B29D2FDAA}"/>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D07C4CEB-CCE8-E410-0599-6F597EE6140B}"/>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遗传算法举例</a:t>
              </a:r>
            </a:p>
          </p:txBody>
        </p:sp>
      </p:gr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4044783-C444-2699-8973-B34AF92CAC74}"/>
                  </a:ext>
                </a:extLst>
              </p:cNvPr>
              <p:cNvSpPr/>
              <p:nvPr/>
            </p:nvSpPr>
            <p:spPr>
              <a:xfrm>
                <a:off x="634233" y="3142743"/>
                <a:ext cx="10918692" cy="4301434"/>
              </a:xfrm>
              <a:prstGeom prst="rect">
                <a:avLst/>
              </a:prstGeom>
            </p:spPr>
            <p:txBody>
              <a:bodyPr wrap="square">
                <a:spAutoFit/>
              </a:bodyPr>
              <a:lstStyle/>
              <a:p>
                <a:pPr indent="127000" algn="just">
                  <a:lnSpc>
                    <a:spcPts val="2200"/>
                  </a:lnSpc>
                  <a:spcAft>
                    <a:spcPts val="0"/>
                  </a:spcAft>
                </a:pPr>
                <a:r>
                  <a:rPr lang="zh-CN" altLang="zh-CN" b="1" dirty="0">
                    <a:solidFill>
                      <a:srgbClr val="000000"/>
                    </a:solidFill>
                    <a:latin typeface="+mj-ea"/>
                    <a:ea typeface="+mj-ea"/>
                    <a:cs typeface="Times New Roman" panose="02020603050405020304" pitchFamily="18" charset="0"/>
                  </a:rPr>
                  <a:t>步骤</a:t>
                </a:r>
                <a:r>
                  <a:rPr lang="en-US" altLang="zh-CN" b="1" dirty="0">
                    <a:solidFill>
                      <a:srgbClr val="000000"/>
                    </a:solidFill>
                    <a:latin typeface="+mj-ea"/>
                    <a:ea typeface="+mj-ea"/>
                    <a:cs typeface="Times New Roman" panose="02020603050405020304" pitchFamily="18" charset="0"/>
                  </a:rPr>
                  <a:t>4</a:t>
                </a:r>
                <a:r>
                  <a:rPr lang="zh-CN" altLang="zh-CN" b="1" dirty="0">
                    <a:solidFill>
                      <a:srgbClr val="000000"/>
                    </a:solidFill>
                    <a:latin typeface="+mj-ea"/>
                    <a:ea typeface="+mj-ea"/>
                    <a:cs typeface="Times New Roman" panose="02020603050405020304" pitchFamily="18" charset="0"/>
                  </a:rPr>
                  <a:t>：交叉</a:t>
                </a:r>
                <a:endParaRPr lang="zh-CN" altLang="zh-CN" dirty="0">
                  <a:solidFill>
                    <a:srgbClr val="000000"/>
                  </a:solidFill>
                  <a:latin typeface="+mj-ea"/>
                  <a:ea typeface="+mj-ea"/>
                  <a:cs typeface="Times New Roman" panose="02020603050405020304" pitchFamily="18" charset="0"/>
                </a:endParaRPr>
              </a:p>
              <a:p>
                <a:pPr indent="266700" algn="just">
                  <a:lnSpc>
                    <a:spcPts val="2200"/>
                  </a:lnSpc>
                  <a:spcAft>
                    <a:spcPts val="0"/>
                  </a:spcAft>
                </a:pPr>
                <a:r>
                  <a:rPr lang="zh-CN" altLang="zh-CN" kern="100" dirty="0">
                    <a:latin typeface="+mj-ea"/>
                    <a:ea typeface="+mj-ea"/>
                    <a:cs typeface="Times New Roman" panose="02020603050405020304" pitchFamily="18" charset="0"/>
                  </a:rPr>
                  <a:t>具体而言，随机生成</a:t>
                </a:r>
                <a:r>
                  <a:rPr lang="en-US" altLang="zh-CN" kern="100" dirty="0">
                    <a:latin typeface="+mj-ea"/>
                    <a:ea typeface="+mj-ea"/>
                    <a:cs typeface="Times New Roman" panose="02020603050405020304" pitchFamily="18" charset="0"/>
                  </a:rPr>
                  <a:t>1</a:t>
                </a:r>
                <a:r>
                  <a:rPr lang="zh-CN" altLang="zh-CN" kern="100" dirty="0">
                    <a:latin typeface="+mj-ea"/>
                    <a:ea typeface="+mj-ea"/>
                    <a:cs typeface="Times New Roman" panose="02020603050405020304" pitchFamily="18" charset="0"/>
                  </a:rPr>
                  <a:t>至</a:t>
                </a:r>
                <a:r>
                  <a:rPr lang="en-US" altLang="zh-CN" kern="100" dirty="0">
                    <a:latin typeface="+mj-ea"/>
                    <a:ea typeface="+mj-ea"/>
                    <a:cs typeface="Times New Roman" panose="02020603050405020304" pitchFamily="18" charset="0"/>
                  </a:rPr>
                  <a:t>4</a:t>
                </a:r>
                <a:r>
                  <a:rPr lang="zh-CN" altLang="zh-CN" kern="100" dirty="0">
                    <a:latin typeface="+mj-ea"/>
                    <a:ea typeface="+mj-ea"/>
                    <a:cs typeface="Times New Roman" panose="02020603050405020304" pitchFamily="18" charset="0"/>
                  </a:rPr>
                  <a:t>之间一个自然数作为交叉位，每对染色体交换交叉位及之后基因信息（例如交叉位为</a:t>
                </a:r>
                <a:r>
                  <a:rPr lang="en-US" altLang="zh-CN" kern="100" dirty="0">
                    <a:latin typeface="+mj-ea"/>
                    <a:ea typeface="+mj-ea"/>
                    <a:cs typeface="Times New Roman" panose="02020603050405020304" pitchFamily="18" charset="0"/>
                  </a:rPr>
                  <a:t>3</a:t>
                </a:r>
                <a:r>
                  <a:rPr lang="zh-CN" altLang="zh-CN" kern="100" dirty="0">
                    <a:latin typeface="+mj-ea"/>
                    <a:ea typeface="+mj-ea"/>
                    <a:cs typeface="Times New Roman" panose="02020603050405020304" pitchFamily="18" charset="0"/>
                  </a:rPr>
                  <a:t>，则交换这对染色体</a:t>
                </a:r>
                <a:r>
                  <a:rPr lang="en-US" altLang="zh-CN" kern="100" dirty="0">
                    <a:latin typeface="+mj-ea"/>
                    <a:ea typeface="+mj-ea"/>
                    <a:cs typeface="Times New Roman" panose="02020603050405020304" pitchFamily="18" charset="0"/>
                  </a:rPr>
                  <a:t>3</a:t>
                </a:r>
                <a:r>
                  <a:rPr lang="zh-CN" altLang="zh-CN" kern="100" dirty="0">
                    <a:latin typeface="+mj-ea"/>
                    <a:ea typeface="+mj-ea"/>
                    <a:cs typeface="Times New Roman" panose="02020603050405020304" pitchFamily="18" charset="0"/>
                  </a:rPr>
                  <a:t>号位以及之后的基因信息）：</a:t>
                </a:r>
                <a:endParaRPr lang="en-US" altLang="zh-CN" kern="100" dirty="0">
                  <a:latin typeface="+mj-ea"/>
                  <a:ea typeface="+mj-ea"/>
                  <a:cs typeface="Times New Roman" panose="02020603050405020304" pitchFamily="18" charset="0"/>
                </a:endParaRPr>
              </a:p>
              <a:p>
                <a:pPr indent="266700" algn="just">
                  <a:lnSpc>
                    <a:spcPts val="2200"/>
                  </a:lnSpc>
                  <a:spcAft>
                    <a:spcPts val="0"/>
                  </a:spcAft>
                </a:pPr>
                <a:endParaRPr lang="en-US" altLang="zh-CN" kern="100" dirty="0">
                  <a:latin typeface="+mj-ea"/>
                  <a:ea typeface="+mj-ea"/>
                  <a:cs typeface="Times New Roman" panose="02020603050405020304" pitchFamily="18" charset="0"/>
                </a:endParaRPr>
              </a:p>
              <a:p>
                <a:pPr lvl="0">
                  <a:lnSpc>
                    <a:spcPct val="150000"/>
                  </a:lnSpc>
                </a:pPr>
                <a14:m>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1</m:t>
                        </m:r>
                      </m:sub>
                      <m:sup>
                        <m:r>
                          <a:rPr lang="en-US" altLang="zh-CN" i="1">
                            <a:latin typeface="Cambria Math" panose="02040503050406030204" pitchFamily="18" charset="0"/>
                            <a:ea typeface="+mj-ea"/>
                          </a:rPr>
                          <m:t>′</m:t>
                        </m:r>
                      </m:sup>
                    </m:sSubSup>
                  </m:oMath>
                </a14:m>
                <a:r>
                  <a:rPr lang="zh-CN" altLang="zh-CN" dirty="0">
                    <a:latin typeface="+mj-ea"/>
                    <a:ea typeface="+mj-ea"/>
                    <a:cs typeface="Times New Roman" panose="02020603050405020304" pitchFamily="18" charset="0"/>
                  </a:rPr>
                  <a:t>和</a:t>
                </a:r>
                <a14:m>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2</m:t>
                        </m:r>
                      </m:sub>
                      <m:sup>
                        <m:r>
                          <a:rPr lang="en-US" altLang="zh-CN" i="1">
                            <a:latin typeface="Cambria Math" panose="02040503050406030204" pitchFamily="18" charset="0"/>
                            <a:ea typeface="+mj-ea"/>
                          </a:rPr>
                          <m:t>′</m:t>
                        </m:r>
                      </m:sup>
                    </m:sSubSup>
                  </m:oMath>
                </a14:m>
                <a:r>
                  <a:rPr lang="zh-CN" altLang="zh-CN" dirty="0">
                    <a:latin typeface="+mj-ea"/>
                    <a:ea typeface="+mj-ea"/>
                    <a:cs typeface="Times New Roman" panose="02020603050405020304" pitchFamily="18" charset="0"/>
                  </a:rPr>
                  <a:t>交叉位为</a:t>
                </a:r>
                <a:r>
                  <a:rPr lang="en-US" altLang="zh-CN" dirty="0">
                    <a:latin typeface="+mj-ea"/>
                    <a:ea typeface="+mj-ea"/>
                    <a:cs typeface="Times New Roman" panose="02020603050405020304" pitchFamily="18" charset="0"/>
                  </a:rPr>
                  <a:t>3</a:t>
                </a:r>
                <a:r>
                  <a:rPr lang="zh-CN" altLang="zh-CN" dirty="0">
                    <a:latin typeface="+mj-ea"/>
                    <a:ea typeface="+mj-ea"/>
                    <a:cs typeface="Times New Roman" panose="02020603050405020304" pitchFamily="18" charset="0"/>
                  </a:rPr>
                  <a:t>，交换这对染色体</a:t>
                </a:r>
                <a:r>
                  <a:rPr lang="en-US" altLang="zh-CN" dirty="0">
                    <a:latin typeface="+mj-ea"/>
                    <a:ea typeface="+mj-ea"/>
                    <a:cs typeface="Times New Roman" panose="02020603050405020304" pitchFamily="18" charset="0"/>
                  </a:rPr>
                  <a:t>3</a:t>
                </a:r>
                <a:r>
                  <a:rPr lang="zh-CN" altLang="zh-CN" dirty="0">
                    <a:latin typeface="+mj-ea"/>
                    <a:ea typeface="+mj-ea"/>
                    <a:cs typeface="Times New Roman" panose="02020603050405020304" pitchFamily="18" charset="0"/>
                  </a:rPr>
                  <a:t>号位以及之后基因信息，得到新的染色体：</a:t>
                </a:r>
                <a:endParaRPr lang="zh-CN" altLang="zh-CN" dirty="0">
                  <a:effectLst/>
                  <a:latin typeface="+mj-ea"/>
                  <a:ea typeface="+mj-ea"/>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1</m:t>
                          </m:r>
                        </m:sub>
                        <m:sup>
                          <m:r>
                            <a:rPr lang="en-US" altLang="zh-CN" i="1">
                              <a:latin typeface="Cambria Math" panose="02040503050406030204" pitchFamily="18" charset="0"/>
                              <a:ea typeface="+mj-ea"/>
                            </a:rPr>
                            <m:t>′′</m:t>
                          </m:r>
                        </m:sup>
                      </m:sSubSup>
                      <m:r>
                        <a:rPr lang="en-US" altLang="zh-CN" i="1">
                          <a:latin typeface="Cambria Math" panose="02040503050406030204" pitchFamily="18" charset="0"/>
                          <a:ea typeface="+mj-ea"/>
                        </a:rPr>
                        <m:t>=</m:t>
                      </m:r>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1.0152, −3.9811, −0.1503, 0.0023</m:t>
                          </m:r>
                        </m:e>
                      </m:d>
                    </m:oMath>
                  </m:oMathPara>
                </a14:m>
                <a:endParaRPr lang="zh-CN" altLang="zh-CN" dirty="0">
                  <a:latin typeface="+mj-ea"/>
                  <a:ea typeface="+mj-ea"/>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2</m:t>
                          </m:r>
                        </m:sub>
                        <m:sup>
                          <m:r>
                            <a:rPr lang="en-US" altLang="zh-CN" i="1">
                              <a:latin typeface="Cambria Math" panose="02040503050406030204" pitchFamily="18" charset="0"/>
                              <a:ea typeface="+mj-ea"/>
                            </a:rPr>
                            <m:t>′′</m:t>
                          </m:r>
                        </m:sup>
                      </m:sSubSup>
                      <m:r>
                        <a:rPr lang="en-US" altLang="zh-CN" i="1">
                          <a:latin typeface="Cambria Math" panose="02040503050406030204" pitchFamily="18" charset="0"/>
                          <a:ea typeface="+mj-ea"/>
                        </a:rPr>
                        <m:t>=</m:t>
                      </m:r>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4.0589, 2.1904, −2.6638, 3.7535</m:t>
                          </m:r>
                        </m:e>
                      </m:d>
                    </m:oMath>
                  </m:oMathPara>
                </a14:m>
                <a:endParaRPr lang="zh-CN" altLang="zh-CN" dirty="0">
                  <a:latin typeface="+mj-ea"/>
                  <a:ea typeface="+mj-ea"/>
                  <a:cs typeface="Times New Roman" panose="02020603050405020304" pitchFamily="18" charset="0"/>
                </a:endParaRPr>
              </a:p>
              <a:p>
                <a:pPr lvl="0">
                  <a:lnSpc>
                    <a:spcPct val="150000"/>
                  </a:lnSpc>
                </a:pPr>
                <a14:m>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4</m:t>
                        </m:r>
                      </m:sub>
                      <m:sup>
                        <m:r>
                          <a:rPr lang="en-US" altLang="zh-CN" i="1">
                            <a:latin typeface="Cambria Math" panose="02040503050406030204" pitchFamily="18" charset="0"/>
                            <a:ea typeface="+mj-ea"/>
                          </a:rPr>
                          <m:t>′</m:t>
                        </m:r>
                      </m:sup>
                    </m:sSubSup>
                  </m:oMath>
                </a14:m>
                <a:r>
                  <a:rPr lang="zh-CN" altLang="zh-CN" dirty="0">
                    <a:latin typeface="+mj-ea"/>
                    <a:ea typeface="+mj-ea"/>
                    <a:cs typeface="Times New Roman" panose="02020603050405020304" pitchFamily="18" charset="0"/>
                  </a:rPr>
                  <a:t>和</a:t>
                </a:r>
                <a14:m>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5</m:t>
                        </m:r>
                      </m:sub>
                      <m:sup>
                        <m:r>
                          <a:rPr lang="en-US" altLang="zh-CN" i="1">
                            <a:latin typeface="Cambria Math" panose="02040503050406030204" pitchFamily="18" charset="0"/>
                            <a:ea typeface="+mj-ea"/>
                          </a:rPr>
                          <m:t>′</m:t>
                        </m:r>
                      </m:sup>
                    </m:sSubSup>
                  </m:oMath>
                </a14:m>
                <a:r>
                  <a:rPr lang="zh-CN" altLang="zh-CN" dirty="0">
                    <a:latin typeface="+mj-ea"/>
                    <a:ea typeface="+mj-ea"/>
                    <a:cs typeface="Times New Roman" panose="02020603050405020304" pitchFamily="18" charset="0"/>
                  </a:rPr>
                  <a:t>交叉位为</a:t>
                </a:r>
                <a:r>
                  <a:rPr lang="en-US" altLang="zh-CN" dirty="0">
                    <a:latin typeface="+mj-ea"/>
                    <a:ea typeface="+mj-ea"/>
                    <a:cs typeface="Times New Roman" panose="02020603050405020304" pitchFamily="18" charset="0"/>
                  </a:rPr>
                  <a:t>4</a:t>
                </a:r>
                <a:r>
                  <a:rPr lang="zh-CN" altLang="zh-CN" dirty="0">
                    <a:latin typeface="+mj-ea"/>
                    <a:ea typeface="+mj-ea"/>
                    <a:cs typeface="Times New Roman" panose="02020603050405020304" pitchFamily="18" charset="0"/>
                  </a:rPr>
                  <a:t>，交换这对染色体</a:t>
                </a:r>
                <a:r>
                  <a:rPr lang="en-US" altLang="zh-CN" dirty="0">
                    <a:latin typeface="+mj-ea"/>
                    <a:ea typeface="+mj-ea"/>
                    <a:cs typeface="Times New Roman" panose="02020603050405020304" pitchFamily="18" charset="0"/>
                  </a:rPr>
                  <a:t>4</a:t>
                </a:r>
                <a:r>
                  <a:rPr lang="zh-CN" altLang="zh-CN" dirty="0">
                    <a:latin typeface="+mj-ea"/>
                    <a:ea typeface="+mj-ea"/>
                    <a:cs typeface="Times New Roman" panose="02020603050405020304" pitchFamily="18" charset="0"/>
                  </a:rPr>
                  <a:t>号位以及之后基因信息，得到新的染色体：</a:t>
                </a:r>
                <a:endParaRPr lang="zh-CN" altLang="zh-CN" dirty="0">
                  <a:effectLst/>
                  <a:latin typeface="+mj-ea"/>
                  <a:ea typeface="+mj-ea"/>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4</m:t>
                          </m:r>
                        </m:sub>
                        <m:sup>
                          <m:r>
                            <a:rPr lang="en-US" altLang="zh-CN" i="1">
                              <a:latin typeface="Cambria Math" panose="02040503050406030204" pitchFamily="18" charset="0"/>
                              <a:ea typeface="+mj-ea"/>
                            </a:rPr>
                            <m:t>′′</m:t>
                          </m:r>
                        </m:sup>
                      </m:sSubSup>
                      <m:r>
                        <a:rPr lang="en-US" altLang="zh-CN" i="1">
                          <a:latin typeface="Cambria Math" panose="02040503050406030204" pitchFamily="18" charset="0"/>
                          <a:ea typeface="+mj-ea"/>
                        </a:rPr>
                        <m:t>=</m:t>
                      </m:r>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1.0152, −3.9811, −2.6638, 1.8794</m:t>
                          </m:r>
                        </m:e>
                      </m:d>
                    </m:oMath>
                  </m:oMathPara>
                </a14:m>
                <a:endParaRPr lang="zh-CN" altLang="zh-CN" dirty="0">
                  <a:latin typeface="+mj-ea"/>
                  <a:ea typeface="+mj-ea"/>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zh-CN" altLang="zh-CN" i="1">
                              <a:latin typeface="Cambria Math" panose="02040503050406030204" pitchFamily="18" charset="0"/>
                              <a:ea typeface="+mj-ea"/>
                            </a:rPr>
                          </m:ctrlPr>
                        </m:sSubSupPr>
                        <m:e>
                          <m:r>
                            <a:rPr lang="en-US" altLang="zh-CN" i="1">
                              <a:latin typeface="Cambria Math" panose="02040503050406030204" pitchFamily="18" charset="0"/>
                              <a:ea typeface="+mj-ea"/>
                            </a:rPr>
                            <m:t>𝐶</m:t>
                          </m:r>
                        </m:e>
                        <m:sub>
                          <m:r>
                            <a:rPr lang="en-US" altLang="zh-CN" i="1">
                              <a:latin typeface="Cambria Math" panose="02040503050406030204" pitchFamily="18" charset="0"/>
                              <a:ea typeface="+mj-ea"/>
                            </a:rPr>
                            <m:t>5</m:t>
                          </m:r>
                        </m:sub>
                        <m:sup>
                          <m:r>
                            <a:rPr lang="en-US" altLang="zh-CN" i="1">
                              <a:latin typeface="Cambria Math" panose="02040503050406030204" pitchFamily="18" charset="0"/>
                              <a:ea typeface="+mj-ea"/>
                            </a:rPr>
                            <m:t>′′</m:t>
                          </m:r>
                        </m:sup>
                      </m:sSubSup>
                      <m:r>
                        <a:rPr lang="en-US" altLang="zh-CN" i="1">
                          <a:latin typeface="Cambria Math" panose="02040503050406030204" pitchFamily="18" charset="0"/>
                          <a:ea typeface="+mj-ea"/>
                        </a:rPr>
                        <m:t>=</m:t>
                      </m:r>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0.2073, 2.9932, −4.0802, 3.7535</m:t>
                          </m:r>
                        </m:e>
                      </m:d>
                    </m:oMath>
                  </m:oMathPara>
                </a14:m>
                <a:endParaRPr lang="zh-CN" altLang="zh-CN" dirty="0">
                  <a:latin typeface="+mj-ea"/>
                  <a:ea typeface="+mj-ea"/>
                  <a:cs typeface="Times New Roman" panose="02020603050405020304" pitchFamily="18" charset="0"/>
                </a:endParaRPr>
              </a:p>
              <a:p>
                <a:pPr indent="266700" algn="just">
                  <a:lnSpc>
                    <a:spcPts val="2200"/>
                  </a:lnSpc>
                  <a:spcAft>
                    <a:spcPts val="0"/>
                  </a:spcAft>
                </a:pPr>
                <a:endParaRPr lang="zh-CN" altLang="zh-CN" kern="100" dirty="0">
                  <a:latin typeface="+mj-ea"/>
                  <a:ea typeface="+mj-ea"/>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84044783-C444-2699-8973-B34AF92CAC74}"/>
                  </a:ext>
                </a:extLst>
              </p:cNvPr>
              <p:cNvSpPr>
                <a:spLocks noRot="1" noChangeAspect="1" noMove="1" noResize="1" noEditPoints="1" noAdjustHandles="1" noChangeArrowheads="1" noChangeShapeType="1" noTextEdit="1"/>
              </p:cNvSpPr>
              <p:nvPr/>
            </p:nvSpPr>
            <p:spPr>
              <a:xfrm>
                <a:off x="634233" y="3142743"/>
                <a:ext cx="10918692" cy="4301434"/>
              </a:xfrm>
              <a:prstGeom prst="rect">
                <a:avLst/>
              </a:prstGeom>
              <a:blipFill>
                <a:blip r:embed="rId3"/>
                <a:stretch>
                  <a:fillRect l="-447" t="-1135" r="-5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634233" y="1283062"/>
                <a:ext cx="6096000" cy="2031325"/>
              </a:xfrm>
              <a:prstGeom prst="rect">
                <a:avLst/>
              </a:prstGeom>
            </p:spPr>
            <p:txBody>
              <a:bodyPr>
                <a:spAutoFit/>
              </a:bodyPr>
              <a:lstStyle/>
              <a:p>
                <a:pPr indent="266700" algn="just">
                  <a:lnSpc>
                    <a:spcPct val="150000"/>
                  </a:lnSpc>
                  <a:spcAft>
                    <a:spcPts val="0"/>
                  </a:spcAft>
                </a:pPr>
                <a:r>
                  <a:rPr lang="zh-CN" altLang="zh-CN" sz="1400" kern="100" dirty="0">
                    <a:latin typeface="+mj-ea"/>
                    <a:cs typeface="Times New Roman" panose="02020603050405020304" pitchFamily="18" charset="0"/>
                  </a:rPr>
                  <a:t>新种群为：</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400" i="1" kern="100">
                              <a:latin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1</m:t>
                          </m:r>
                        </m:sub>
                        <m:sup>
                          <m:r>
                            <a:rPr lang="en-US" altLang="zh-CN" sz="1400" i="1" kern="100">
                              <a:latin typeface="Cambria Math" panose="02040503050406030204" pitchFamily="18" charset="0"/>
                              <a:cs typeface="Times New Roman" panose="02020603050405020304" pitchFamily="18" charset="0"/>
                            </a:rPr>
                            <m:t>′</m:t>
                          </m:r>
                        </m:sup>
                      </m:sSubSup>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1.0152, −3.9811, −2.6638, 3.7535</m:t>
                          </m:r>
                        </m:e>
                      </m:d>
                    </m:oMath>
                  </m:oMathPara>
                </a14:m>
                <a:endParaRPr lang="zh-CN" altLang="zh-CN" sz="1400" kern="100" dirty="0">
                  <a:latin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400" i="1" kern="100">
                              <a:latin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2</m:t>
                          </m:r>
                        </m:sub>
                        <m:sup>
                          <m:r>
                            <a:rPr lang="en-US" altLang="zh-CN" sz="1400" i="1" kern="100">
                              <a:latin typeface="Cambria Math" panose="02040503050406030204" pitchFamily="18" charset="0"/>
                              <a:cs typeface="Times New Roman" panose="02020603050405020304" pitchFamily="18" charset="0"/>
                            </a:rPr>
                            <m:t>′</m:t>
                          </m:r>
                        </m:sup>
                      </m:sSubSup>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4.0589, 2.1904, −0.1503, 0.0023</m:t>
                          </m:r>
                        </m:e>
                      </m:d>
                    </m:oMath>
                  </m:oMathPara>
                </a14:m>
                <a:endParaRPr lang="zh-CN" altLang="zh-CN" sz="1400" kern="100" dirty="0">
                  <a:latin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400" i="1" kern="100">
                              <a:latin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3</m:t>
                          </m:r>
                        </m:sub>
                        <m:sup>
                          <m:r>
                            <a:rPr lang="en-US" altLang="zh-CN" sz="1400" i="1" kern="100">
                              <a:latin typeface="Cambria Math" panose="02040503050406030204" pitchFamily="18" charset="0"/>
                              <a:cs typeface="Times New Roman" panose="02020603050405020304" pitchFamily="18" charset="0"/>
                            </a:rPr>
                            <m:t>′</m:t>
                          </m:r>
                        </m:sup>
                      </m:sSubSup>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1.0152, −3.9811, −2.6638, 3.7535</m:t>
                          </m:r>
                        </m:e>
                      </m:d>
                    </m:oMath>
                  </m:oMathPara>
                </a14:m>
                <a:endParaRPr lang="zh-CN" altLang="zh-CN" sz="1400" kern="100" dirty="0">
                  <a:latin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400" i="1" kern="100">
                              <a:latin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4</m:t>
                          </m:r>
                        </m:sub>
                        <m:sup>
                          <m:r>
                            <a:rPr lang="en-US" altLang="zh-CN" sz="1400" i="1" kern="100">
                              <a:latin typeface="Cambria Math" panose="02040503050406030204" pitchFamily="18" charset="0"/>
                              <a:cs typeface="Times New Roman" panose="02020603050405020304" pitchFamily="18" charset="0"/>
                            </a:rPr>
                            <m:t>′</m:t>
                          </m:r>
                        </m:sup>
                      </m:sSubSup>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1.0152, −3.9811, −2.6638, 3.7535</m:t>
                          </m:r>
                        </m:e>
                      </m:d>
                    </m:oMath>
                  </m:oMathPara>
                </a14:m>
                <a:endParaRPr lang="zh-CN" altLang="zh-CN" sz="1400" kern="100" dirty="0">
                  <a:latin typeface="+mj-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400" i="1" kern="100">
                              <a:latin typeface="Cambria Math" panose="02040503050406030204" pitchFamily="18" charset="0"/>
                              <a:cs typeface="Times New Roman" panose="02020603050405020304" pitchFamily="18" charset="0"/>
                            </a:rPr>
                          </m:ctrlPr>
                        </m:sSubSupPr>
                        <m:e>
                          <m:r>
                            <a:rPr lang="en-US" altLang="zh-CN" sz="1400" i="1" kern="100">
                              <a:latin typeface="Cambria Math" panose="02040503050406030204" pitchFamily="18" charset="0"/>
                              <a:cs typeface="Times New Roman" panose="02020603050405020304" pitchFamily="18" charset="0"/>
                            </a:rPr>
                            <m:t>𝐶</m:t>
                          </m:r>
                        </m:e>
                        <m:sub>
                          <m:r>
                            <a:rPr lang="en-US" altLang="zh-CN" sz="1400" i="1" kern="100">
                              <a:latin typeface="Cambria Math" panose="02040503050406030204" pitchFamily="18" charset="0"/>
                              <a:cs typeface="Times New Roman" panose="02020603050405020304" pitchFamily="18" charset="0"/>
                            </a:rPr>
                            <m:t>5</m:t>
                          </m:r>
                        </m:sub>
                        <m:sup>
                          <m:r>
                            <a:rPr lang="en-US" altLang="zh-CN" sz="1400" i="1" kern="100">
                              <a:latin typeface="Cambria Math" panose="02040503050406030204" pitchFamily="18" charset="0"/>
                              <a:cs typeface="Times New Roman" panose="02020603050405020304" pitchFamily="18" charset="0"/>
                            </a:rPr>
                            <m:t>′</m:t>
                          </m:r>
                        </m:sup>
                      </m:sSubSup>
                      <m:r>
                        <a:rPr lang="en-US" altLang="zh-CN" sz="1400" i="1" kern="100">
                          <a:latin typeface="Cambria Math" panose="02040503050406030204" pitchFamily="18" charset="0"/>
                          <a:cs typeface="Times New Roman" panose="02020603050405020304" pitchFamily="18" charset="0"/>
                        </a:rPr>
                        <m:t>=</m:t>
                      </m:r>
                      <m:d>
                        <m:dPr>
                          <m:ctrlPr>
                            <a:rPr lang="zh-CN" altLang="zh-CN" sz="1400" i="1" kern="100">
                              <a:latin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cs typeface="Times New Roman" panose="02020603050405020304" pitchFamily="18" charset="0"/>
                            </a:rPr>
                            <m:t>0.2073, 2.9932, −4.0802, 1.8794</m:t>
                          </m:r>
                        </m:e>
                      </m:d>
                    </m:oMath>
                  </m:oMathPara>
                </a14:m>
                <a:endParaRPr lang="zh-CN" altLang="en-US" sz="1400" dirty="0"/>
              </a:p>
            </p:txBody>
          </p:sp>
        </mc:Choice>
        <mc:Fallback xmlns="">
          <p:sp>
            <p:nvSpPr>
              <p:cNvPr id="3" name="矩形 2"/>
              <p:cNvSpPr>
                <a:spLocks noRot="1" noChangeAspect="1" noMove="1" noResize="1" noEditPoints="1" noAdjustHandles="1" noChangeArrowheads="1" noChangeShapeType="1" noTextEdit="1"/>
              </p:cNvSpPr>
              <p:nvPr/>
            </p:nvSpPr>
            <p:spPr>
              <a:xfrm>
                <a:off x="634233" y="1283062"/>
                <a:ext cx="6096000" cy="203132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86752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3EE7-2826-2B1F-D865-AC58FC992B16}"/>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1B335777-4106-F614-BF0F-46D9B0B8E95D}"/>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6A1A4407-7F38-412C-3C70-8158DC686998}"/>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0" name="平行四边形 19">
              <a:extLst>
                <a:ext uri="{FF2B5EF4-FFF2-40B4-BE49-F238E27FC236}">
                  <a16:creationId xmlns:a16="http://schemas.microsoft.com/office/drawing/2014/main" id="{6732BDF8-04AB-572C-814C-0DAE5C22D867}"/>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1" name="矩形 20">
              <a:extLst>
                <a:ext uri="{FF2B5EF4-FFF2-40B4-BE49-F238E27FC236}">
                  <a16:creationId xmlns:a16="http://schemas.microsoft.com/office/drawing/2014/main" id="{473E695A-553B-55D3-A45C-80B5AB779052}"/>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mj-ea"/>
                  <a:ea typeface="+mj-ea"/>
                  <a:cs typeface="Times New Roman" panose="02020603050405020304" pitchFamily="18" charset="0"/>
                </a:rPr>
                <a:t>遗传算法举例</a:t>
              </a:r>
            </a:p>
          </p:txBody>
        </p:sp>
      </p:gr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3032BF1-0AE6-555E-02C7-96607FBF0EEE}"/>
                  </a:ext>
                </a:extLst>
              </p:cNvPr>
              <p:cNvSpPr/>
              <p:nvPr/>
            </p:nvSpPr>
            <p:spPr>
              <a:xfrm>
                <a:off x="1070852" y="1546996"/>
                <a:ext cx="9482161" cy="3000821"/>
              </a:xfrm>
              <a:prstGeom prst="rect">
                <a:avLst/>
              </a:prstGeom>
            </p:spPr>
            <p:txBody>
              <a:bodyPr wrap="square">
                <a:spAutoFit/>
              </a:bodyPr>
              <a:lstStyle/>
              <a:p>
                <a:pPr algn="just">
                  <a:lnSpc>
                    <a:spcPct val="150000"/>
                  </a:lnSpc>
                  <a:spcAft>
                    <a:spcPts val="0"/>
                  </a:spcAft>
                </a:pPr>
                <a:r>
                  <a:rPr lang="zh-CN" altLang="zh-CN" b="1" kern="100" dirty="0">
                    <a:latin typeface="+mj-ea"/>
                    <a:ea typeface="+mj-ea"/>
                    <a:cs typeface="Times New Roman" panose="02020603050405020304" pitchFamily="18" charset="0"/>
                  </a:rPr>
                  <a:t>步骤</a:t>
                </a:r>
                <a:r>
                  <a:rPr lang="en-US" altLang="zh-CN" b="1" kern="100" dirty="0">
                    <a:latin typeface="+mj-ea"/>
                    <a:ea typeface="+mj-ea"/>
                    <a:cs typeface="Times New Roman" panose="02020603050405020304" pitchFamily="18" charset="0"/>
                  </a:rPr>
                  <a:t>5</a:t>
                </a:r>
                <a:r>
                  <a:rPr lang="zh-CN" altLang="zh-CN" b="1" kern="100" dirty="0">
                    <a:latin typeface="+mj-ea"/>
                    <a:ea typeface="+mj-ea"/>
                    <a:cs typeface="Times New Roman" panose="02020603050405020304" pitchFamily="18" charset="0"/>
                  </a:rPr>
                  <a:t>：变异</a:t>
                </a:r>
                <a:endParaRPr lang="zh-CN" altLang="zh-CN" kern="100" dirty="0">
                  <a:latin typeface="+mj-ea"/>
                  <a:ea typeface="+mj-ea"/>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mj-ea"/>
                    <a:ea typeface="+mj-ea"/>
                    <a:cs typeface="Times New Roman" panose="02020603050405020304" pitchFamily="18" charset="0"/>
                  </a:rPr>
                  <a:t>假设变异概率为</a:t>
                </a:r>
                <a:r>
                  <a:rPr lang="en-US" altLang="zh-CN" dirty="0">
                    <a:solidFill>
                      <a:srgbClr val="000000"/>
                    </a:solidFill>
                    <a:latin typeface="+mj-ea"/>
                    <a:ea typeface="+mj-ea"/>
                    <a:cs typeface="Times New Roman" panose="02020603050405020304" pitchFamily="18" charset="0"/>
                  </a:rPr>
                  <a:t>0.1</a:t>
                </a:r>
                <a:r>
                  <a:rPr lang="zh-CN" altLang="zh-CN" dirty="0">
                    <a:solidFill>
                      <a:srgbClr val="000000"/>
                    </a:solidFill>
                    <a:latin typeface="+mj-ea"/>
                    <a:ea typeface="+mj-ea"/>
                    <a:cs typeface="Times New Roman" panose="02020603050405020304" pitchFamily="18" charset="0"/>
                  </a:rPr>
                  <a:t>。对于每个染色体中若干基因随机生成</a:t>
                </a:r>
                <a:r>
                  <a:rPr lang="en-US" altLang="zh-CN" dirty="0">
                    <a:solidFill>
                      <a:srgbClr val="000000"/>
                    </a:solidFill>
                    <a:latin typeface="+mj-ea"/>
                    <a:ea typeface="+mj-ea"/>
                    <a:cs typeface="Times New Roman" panose="02020603050405020304" pitchFamily="18" charset="0"/>
                  </a:rPr>
                  <a:t>[0,1]</a:t>
                </a:r>
                <a:r>
                  <a:rPr lang="zh-CN" altLang="zh-CN" dirty="0">
                    <a:solidFill>
                      <a:srgbClr val="000000"/>
                    </a:solidFill>
                    <a:latin typeface="+mj-ea"/>
                    <a:ea typeface="+mj-ea"/>
                    <a:cs typeface="Times New Roman" panose="02020603050405020304" pitchFamily="18" charset="0"/>
                  </a:rPr>
                  <a:t>的随机数，若该随机数小于</a:t>
                </a:r>
                <a:r>
                  <a:rPr lang="en-US" altLang="zh-CN" dirty="0">
                    <a:solidFill>
                      <a:srgbClr val="000000"/>
                    </a:solidFill>
                    <a:latin typeface="+mj-ea"/>
                    <a:ea typeface="+mj-ea"/>
                    <a:cs typeface="Times New Roman" panose="02020603050405020304" pitchFamily="18" charset="0"/>
                  </a:rPr>
                  <a:t>0.1</a:t>
                </a:r>
                <a:r>
                  <a:rPr lang="zh-CN" altLang="zh-CN" dirty="0">
                    <a:solidFill>
                      <a:srgbClr val="000000"/>
                    </a:solidFill>
                    <a:latin typeface="+mj-ea"/>
                    <a:ea typeface="+mj-ea"/>
                    <a:cs typeface="Times New Roman" panose="02020603050405020304" pitchFamily="18" charset="0"/>
                  </a:rPr>
                  <a:t>，则改变该基因信息取值，否则不改变该基因信息取值：</a:t>
                </a:r>
              </a:p>
              <a:p>
                <a:pPr algn="just">
                  <a:lnSpc>
                    <a:spcPct val="150000"/>
                  </a:lnSpc>
                  <a:spcAft>
                    <a:spcPts val="0"/>
                  </a:spcAft>
                </a:pPr>
                <a14:m>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up>
                        <m:r>
                          <a:rPr lang="en-US" altLang="zh-CN" i="1" kern="100">
                            <a:latin typeface="Cambria Math" panose="02040503050406030204" pitchFamily="18" charset="0"/>
                            <a:ea typeface="+mj-ea"/>
                            <a:cs typeface="Times New Roman" panose="02020603050405020304" pitchFamily="18" charset="0"/>
                          </a:rPr>
                          <m:t>′′</m:t>
                        </m:r>
                      </m:sup>
                    </m:sSubSup>
                  </m:oMath>
                </a14:m>
                <a:r>
                  <a:rPr lang="zh-CN" altLang="zh-CN" kern="100" dirty="0">
                    <a:latin typeface="+mj-ea"/>
                    <a:ea typeface="+mj-ea"/>
                    <a:cs typeface="Times New Roman" panose="02020603050405020304" pitchFamily="18" charset="0"/>
                  </a:rPr>
                  <a:t>的一号位基因采样所得随机数小于</a:t>
                </a:r>
                <a:r>
                  <a:rPr lang="en-US" altLang="zh-CN" kern="100" dirty="0">
                    <a:latin typeface="+mj-ea"/>
                    <a:ea typeface="+mj-ea"/>
                    <a:cs typeface="Times New Roman" panose="02020603050405020304" pitchFamily="18" charset="0"/>
                  </a:rPr>
                  <a:t>0.1</a:t>
                </a:r>
                <a:r>
                  <a:rPr lang="zh-CN" altLang="zh-CN" kern="100" dirty="0">
                    <a:latin typeface="+mj-ea"/>
                    <a:ea typeface="+mj-ea"/>
                    <a:cs typeface="Times New Roman" panose="02020603050405020304" pitchFamily="18" charset="0"/>
                  </a:rPr>
                  <a:t>，该基因发生随机变异，其它基因信息保持不变：</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3</m:t>
                          </m:r>
                        </m:sub>
                        <m:sup>
                          <m:r>
                            <a:rPr lang="en-US" altLang="zh-CN" i="1" kern="100">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3.7535</m:t>
                          </m:r>
                        </m:e>
                      </m:d>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smtClean="0">
                              <a:solidFill>
                                <a:srgbClr val="FF0000"/>
                              </a:solidFill>
                              <a:latin typeface="Cambria Math" panose="02040503050406030204" pitchFamily="18" charset="0"/>
                              <a:ea typeface="+mj-ea"/>
                              <a:cs typeface="Times New Roman" panose="02020603050405020304" pitchFamily="18" charset="0"/>
                            </a:rPr>
                            <m:t>3.0953, </m:t>
                          </m:r>
                          <m:r>
                            <a:rPr lang="en-US" altLang="zh-CN" i="1" kern="100">
                              <a:latin typeface="Cambria Math" panose="02040503050406030204" pitchFamily="18" charset="0"/>
                              <a:ea typeface="+mj-ea"/>
                              <a:cs typeface="Times New Roman" panose="02020603050405020304" pitchFamily="18" charset="0"/>
                            </a:rPr>
                            <m:t>−3.9811, −2.6638, 3.7535</m:t>
                          </m:r>
                        </m:e>
                      </m:d>
                    </m:oMath>
                  </m:oMathPara>
                </a14:m>
                <a:endParaRPr lang="zh-CN" altLang="zh-CN" kern="100" dirty="0">
                  <a:latin typeface="+mj-ea"/>
                  <a:ea typeface="+mj-ea"/>
                  <a:cs typeface="Times New Roman" panose="02020603050405020304" pitchFamily="18" charset="0"/>
                </a:endParaRPr>
              </a:p>
              <a:p>
                <a:pPr algn="just">
                  <a:lnSpc>
                    <a:spcPct val="150000"/>
                  </a:lnSpc>
                  <a:spcAft>
                    <a:spcPts val="0"/>
                  </a:spcAft>
                </a:pPr>
                <a14:m>
                  <m:oMath xmlns:m="http://schemas.openxmlformats.org/officeDocument/2006/math">
                    <m:sSubSup>
                      <m:sSubSupPr>
                        <m:ctrlPr>
                          <a:rPr lang="zh-CN" altLang="zh-CN" i="1" kern="100">
                            <a:latin typeface="Cambria Math" panose="02040503050406030204" pitchFamily="18" charset="0"/>
                            <a:ea typeface="+mj-ea"/>
                            <a:cs typeface="Times New Roman" panose="02020603050405020304" pitchFamily="18" charset="0"/>
                          </a:rPr>
                        </m:ctrlPr>
                      </m:sSubSupPr>
                      <m:e>
                        <m:r>
                          <a:rPr lang="en-US" altLang="zh-CN" i="1" kern="100">
                            <a:latin typeface="Cambria Math" panose="02040503050406030204" pitchFamily="18" charset="0"/>
                            <a:ea typeface="+mj-ea"/>
                            <a:cs typeface="Times New Roman" panose="02020603050405020304" pitchFamily="18" charset="0"/>
                          </a:rPr>
                          <m:t>𝐶</m:t>
                        </m:r>
                      </m:e>
                      <m:sub>
                        <m:r>
                          <a:rPr lang="en-US" altLang="zh-CN" i="1" kern="100">
                            <a:latin typeface="Cambria Math" panose="02040503050406030204" pitchFamily="18" charset="0"/>
                            <a:ea typeface="+mj-ea"/>
                            <a:cs typeface="Times New Roman" panose="02020603050405020304" pitchFamily="18" charset="0"/>
                          </a:rPr>
                          <m:t>4</m:t>
                        </m:r>
                      </m:sub>
                      <m:sup>
                        <m:r>
                          <a:rPr lang="en-US" altLang="zh-CN" i="1" kern="100">
                            <a:latin typeface="Cambria Math" panose="02040503050406030204" pitchFamily="18" charset="0"/>
                            <a:ea typeface="+mj-ea"/>
                            <a:cs typeface="Times New Roman" panose="02020603050405020304" pitchFamily="18" charset="0"/>
                          </a:rPr>
                          <m:t>′′</m:t>
                        </m:r>
                      </m:sup>
                    </m:sSubSup>
                  </m:oMath>
                </a14:m>
                <a:r>
                  <a:rPr lang="zh-CN" altLang="zh-CN" kern="100" dirty="0">
                    <a:latin typeface="+mj-ea"/>
                    <a:ea typeface="+mj-ea"/>
                    <a:cs typeface="Times New Roman" panose="02020603050405020304" pitchFamily="18" charset="0"/>
                  </a:rPr>
                  <a:t>的二号位基因采样所得随机数小于</a:t>
                </a:r>
                <a:r>
                  <a:rPr lang="en-US" altLang="zh-CN" kern="100" dirty="0">
                    <a:latin typeface="+mj-ea"/>
                    <a:ea typeface="+mj-ea"/>
                    <a:cs typeface="Times New Roman" panose="02020603050405020304" pitchFamily="18" charset="0"/>
                  </a:rPr>
                  <a:t>0.1</a:t>
                </a:r>
                <a:r>
                  <a:rPr lang="zh-CN" altLang="zh-CN" kern="100" dirty="0">
                    <a:latin typeface="+mj-ea"/>
                    <a:ea typeface="+mj-ea"/>
                    <a:cs typeface="Times New Roman" panose="02020603050405020304" pitchFamily="18" charset="0"/>
                  </a:rPr>
                  <a:t>，该基因发生随机变异，其它基因信息保持不变：</a:t>
                </a:r>
                <a14:m>
                  <m:oMath xmlns:m="http://schemas.openxmlformats.org/officeDocument/2006/math">
                    <m:sSubSup>
                      <m:sSubSupPr>
                        <m:ctrlPr>
                          <a:rPr lang="zh-CN" altLang="zh-CN" i="1" kern="0">
                            <a:solidFill>
                              <a:srgbClr val="000000"/>
                            </a:solidFill>
                            <a:latin typeface="Cambria Math" panose="02040503050406030204" pitchFamily="18" charset="0"/>
                            <a:ea typeface="+mj-ea"/>
                            <a:cs typeface="Times New Roman" panose="02020603050405020304" pitchFamily="18" charset="0"/>
                          </a:rPr>
                        </m:ctrlPr>
                      </m:sSubSupPr>
                      <m:e>
                        <m:r>
                          <a:rPr lang="en-US" altLang="zh-CN" i="1" kern="0">
                            <a:solidFill>
                              <a:srgbClr val="000000"/>
                            </a:solidFill>
                            <a:latin typeface="Cambria Math" panose="02040503050406030204" pitchFamily="18" charset="0"/>
                            <a:ea typeface="+mj-ea"/>
                            <a:cs typeface="Times New Roman" panose="02020603050405020304" pitchFamily="18" charset="0"/>
                          </a:rPr>
                          <m:t>𝐶</m:t>
                        </m:r>
                      </m:e>
                      <m:sub>
                        <m:r>
                          <a:rPr lang="en-US" altLang="zh-CN" kern="0">
                            <a:solidFill>
                              <a:srgbClr val="000000"/>
                            </a:solidFill>
                            <a:latin typeface="Cambria Math" panose="02040503050406030204" pitchFamily="18" charset="0"/>
                            <a:ea typeface="+mj-ea"/>
                            <a:cs typeface="Times New Roman" panose="02020603050405020304" pitchFamily="18" charset="0"/>
                          </a:rPr>
                          <m:t>4</m:t>
                        </m:r>
                      </m:sub>
                      <m:sup>
                        <m:r>
                          <a:rPr lang="en-US" altLang="zh-CN" i="1" kern="0">
                            <a:solidFill>
                              <a:srgbClr val="000000"/>
                            </a:solidFill>
                            <a:latin typeface="Cambria Math" panose="02040503050406030204" pitchFamily="18" charset="0"/>
                            <a:ea typeface="+mj-ea"/>
                            <a:cs typeface="Times New Roman" panose="02020603050405020304" pitchFamily="18" charset="0"/>
                          </a:rPr>
                          <m:t>′′</m:t>
                        </m:r>
                      </m:sup>
                    </m:sSubSup>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−3.9811, −2.6638, 1.8794</m:t>
                        </m:r>
                      </m:e>
                    </m:d>
                    <m:r>
                      <a:rPr lang="en-US" altLang="zh-CN" i="1" kern="100">
                        <a:latin typeface="Cambria Math" panose="02040503050406030204" pitchFamily="18" charset="0"/>
                        <a:ea typeface="+mj-ea"/>
                        <a:cs typeface="Times New Roman" panose="02020603050405020304" pitchFamily="18" charset="0"/>
                      </a:rPr>
                      <m:t>→</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1.0152, </m:t>
                        </m:r>
                        <m:r>
                          <a:rPr lang="en-US" altLang="zh-CN" i="1" kern="100" smtClean="0">
                            <a:solidFill>
                              <a:srgbClr val="FF0000"/>
                            </a:solidFill>
                            <a:latin typeface="Cambria Math" panose="02040503050406030204" pitchFamily="18" charset="0"/>
                            <a:ea typeface="+mj-ea"/>
                            <a:cs typeface="Times New Roman" panose="02020603050405020304" pitchFamily="18" charset="0"/>
                          </a:rPr>
                          <m:t>0.0153, </m:t>
                        </m:r>
                        <m:r>
                          <a:rPr lang="en-US" altLang="zh-CN" i="1" kern="100">
                            <a:latin typeface="Cambria Math" panose="02040503050406030204" pitchFamily="18" charset="0"/>
                            <a:ea typeface="+mj-ea"/>
                            <a:cs typeface="Times New Roman" panose="02020603050405020304" pitchFamily="18" charset="0"/>
                          </a:rPr>
                          <m:t>−2.6638, 1.8794</m:t>
                        </m:r>
                      </m:e>
                    </m:d>
                  </m:oMath>
                </a14:m>
                <a:endParaRPr lang="zh-CN" altLang="zh-CN" kern="100" dirty="0">
                  <a:latin typeface="+mj-ea"/>
                  <a:ea typeface="+mj-ea"/>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53032BF1-0AE6-555E-02C7-96607FBF0EEE}"/>
                  </a:ext>
                </a:extLst>
              </p:cNvPr>
              <p:cNvSpPr>
                <a:spLocks noRot="1" noChangeAspect="1" noMove="1" noResize="1" noEditPoints="1" noAdjustHandles="1" noChangeArrowheads="1" noChangeShapeType="1" noTextEdit="1"/>
              </p:cNvSpPr>
              <p:nvPr/>
            </p:nvSpPr>
            <p:spPr>
              <a:xfrm>
                <a:off x="1070852" y="1546996"/>
                <a:ext cx="9482161" cy="3000821"/>
              </a:xfrm>
              <a:prstGeom prst="rect">
                <a:avLst/>
              </a:prstGeom>
              <a:blipFill>
                <a:blip r:embed="rId3"/>
                <a:stretch>
                  <a:fillRect l="-579" r="-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5722642-4500-33AA-197E-73C5D8FC6439}"/>
                  </a:ext>
                </a:extLst>
              </p:cNvPr>
              <p:cNvSpPr/>
              <p:nvPr/>
            </p:nvSpPr>
            <p:spPr>
              <a:xfrm>
                <a:off x="889154" y="4747852"/>
                <a:ext cx="10750962" cy="1754326"/>
              </a:xfrm>
              <a:prstGeom prst="rect">
                <a:avLst/>
              </a:prstGeom>
            </p:spPr>
            <p:txBody>
              <a:bodyPr wrap="square">
                <a:spAutoFit/>
              </a:bodyPr>
              <a:lstStyle/>
              <a:p>
                <a:pPr algn="just">
                  <a:lnSpc>
                    <a:spcPct val="200000"/>
                  </a:lnSpc>
                  <a:spcAft>
                    <a:spcPts val="0"/>
                  </a:spcAft>
                </a:pPr>
                <a:r>
                  <a:rPr lang="zh-CN" altLang="zh-CN" b="1" kern="100" dirty="0">
                    <a:latin typeface="+mj-ea"/>
                    <a:ea typeface="+mj-ea"/>
                    <a:cs typeface="Times New Roman" panose="02020603050405020304" pitchFamily="18" charset="0"/>
                  </a:rPr>
                  <a:t>步骤</a:t>
                </a:r>
                <a:r>
                  <a:rPr lang="en-US" altLang="zh-CN" b="1" kern="100" dirty="0">
                    <a:latin typeface="+mj-ea"/>
                    <a:ea typeface="+mj-ea"/>
                    <a:cs typeface="Times New Roman" panose="02020603050405020304" pitchFamily="18" charset="0"/>
                  </a:rPr>
                  <a:t>6</a:t>
                </a:r>
                <a:r>
                  <a:rPr lang="zh-CN" altLang="zh-CN" b="1" kern="100" dirty="0">
                    <a:latin typeface="+mj-ea"/>
                    <a:ea typeface="+mj-ea"/>
                    <a:cs typeface="Times New Roman" panose="02020603050405020304" pitchFamily="18" charset="0"/>
                  </a:rPr>
                  <a:t>：重新评价染色体适应值，更新</a:t>
                </a:r>
                <a14:m>
                  <m:oMath xmlns:m="http://schemas.openxmlformats.org/officeDocument/2006/math">
                    <m:r>
                      <a:rPr lang="en-US" altLang="zh-CN" b="1" i="1" kern="100">
                        <a:latin typeface="Cambria Math" panose="02040503050406030204" pitchFamily="18" charset="0"/>
                        <a:ea typeface="+mj-ea"/>
                        <a:cs typeface="Times New Roman" panose="02020603050405020304" pitchFamily="18" charset="0"/>
                      </a:rPr>
                      <m:t>𝑩𝒆𝒔𝒕</m:t>
                    </m:r>
                  </m:oMath>
                </a14:m>
                <a:endParaRPr lang="en-US" altLang="zh-CN" b="1" kern="100" dirty="0">
                  <a:latin typeface="+mj-ea"/>
                  <a:ea typeface="+mj-ea"/>
                  <a:cs typeface="Times New Roman" panose="02020603050405020304" pitchFamily="18" charset="0"/>
                </a:endParaRPr>
              </a:p>
              <a:p>
                <a:pPr algn="just">
                  <a:lnSpc>
                    <a:spcPct val="200000"/>
                  </a:lnSpc>
                  <a:spcAft>
                    <a:spcPts val="0"/>
                  </a:spcAft>
                </a:pPr>
                <a:r>
                  <a:rPr lang="zh-CN" altLang="zh-CN" b="1" kern="100" dirty="0">
                    <a:latin typeface="+mj-ea"/>
                    <a:ea typeface="+mj-ea"/>
                    <a:cs typeface="Times New Roman" panose="02020603050405020304" pitchFamily="18" charset="0"/>
                  </a:rPr>
                  <a:t>步骤</a:t>
                </a:r>
                <a:r>
                  <a:rPr lang="en-US" altLang="zh-CN" b="1" kern="100" dirty="0">
                    <a:latin typeface="+mj-ea"/>
                    <a:ea typeface="+mj-ea"/>
                    <a:cs typeface="Times New Roman" panose="02020603050405020304" pitchFamily="18" charset="0"/>
                  </a:rPr>
                  <a:t>7</a:t>
                </a:r>
                <a:r>
                  <a:rPr lang="zh-CN" altLang="zh-CN" b="1" kern="100" dirty="0">
                    <a:latin typeface="+mj-ea"/>
                    <a:ea typeface="+mj-ea"/>
                    <a:cs typeface="Times New Roman" panose="02020603050405020304" pitchFamily="18" charset="0"/>
                  </a:rPr>
                  <a:t>：判断结束</a:t>
                </a:r>
                <a:endParaRPr lang="zh-CN" altLang="zh-CN" kern="100" dirty="0">
                  <a:latin typeface="+mj-ea"/>
                  <a:ea typeface="+mj-ea"/>
                  <a:cs typeface="Times New Roman" panose="02020603050405020304" pitchFamily="18" charset="0"/>
                </a:endParaRPr>
              </a:p>
              <a:p>
                <a:pPr indent="266700" algn="just">
                  <a:lnSpc>
                    <a:spcPct val="200000"/>
                  </a:lnSpc>
                  <a:spcAft>
                    <a:spcPts val="0"/>
                  </a:spcAft>
                </a:pPr>
                <a:r>
                  <a:rPr lang="zh-CN" altLang="zh-CN" kern="100" dirty="0">
                    <a:latin typeface="+mj-ea"/>
                    <a:ea typeface="+mj-ea"/>
                    <a:cs typeface="Times New Roman" panose="02020603050405020304" pitchFamily="18" charset="0"/>
                  </a:rPr>
                  <a:t>如果符合算法终止条件，则输出所找到最优解</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𝐵𝑒𝑠𝑡</m:t>
                    </m:r>
                  </m:oMath>
                </a14:m>
                <a:r>
                  <a:rPr lang="zh-CN" altLang="zh-CN" kern="100" dirty="0">
                    <a:latin typeface="+mj-ea"/>
                    <a:ea typeface="+mj-ea"/>
                    <a:cs typeface="Times New Roman" panose="02020603050405020304" pitchFamily="18" charset="0"/>
                  </a:rPr>
                  <a:t>，退出程序，否则</a:t>
                </a:r>
                <a:r>
                  <a:rPr lang="zh-CN" altLang="zh-CN" kern="100" dirty="0">
                    <a:solidFill>
                      <a:srgbClr val="FF0000"/>
                    </a:solidFill>
                    <a:latin typeface="+mj-ea"/>
                    <a:ea typeface="+mj-ea"/>
                    <a:cs typeface="Times New Roman" panose="02020603050405020304" pitchFamily="18" charset="0"/>
                  </a:rPr>
                  <a:t>返回步骤</a:t>
                </a:r>
                <a:r>
                  <a:rPr lang="en-US" altLang="zh-CN" kern="100" dirty="0">
                    <a:solidFill>
                      <a:srgbClr val="FF0000"/>
                    </a:solidFill>
                    <a:latin typeface="+mj-ea"/>
                    <a:ea typeface="+mj-ea"/>
                    <a:cs typeface="Times New Roman" panose="02020603050405020304" pitchFamily="18" charset="0"/>
                  </a:rPr>
                  <a:t>3</a:t>
                </a:r>
                <a:r>
                  <a:rPr lang="zh-CN" altLang="zh-CN" kern="100" dirty="0">
                    <a:solidFill>
                      <a:srgbClr val="FF0000"/>
                    </a:solidFill>
                    <a:latin typeface="+mj-ea"/>
                    <a:ea typeface="+mj-ea"/>
                    <a:cs typeface="Times New Roman" panose="02020603050405020304" pitchFamily="18" charset="0"/>
                  </a:rPr>
                  <a:t>继续执行</a:t>
                </a:r>
                <a:r>
                  <a:rPr lang="zh-CN" altLang="zh-CN" kern="100" dirty="0">
                    <a:latin typeface="+mj-ea"/>
                    <a:ea typeface="+mj-ea"/>
                    <a:cs typeface="Times New Roman" panose="02020603050405020304" pitchFamily="18" charset="0"/>
                  </a:rPr>
                  <a:t>。</a:t>
                </a:r>
              </a:p>
            </p:txBody>
          </p:sp>
        </mc:Choice>
        <mc:Fallback xmlns="">
          <p:sp>
            <p:nvSpPr>
              <p:cNvPr id="7" name="矩形 6">
                <a:extLst>
                  <a:ext uri="{FF2B5EF4-FFF2-40B4-BE49-F238E27FC236}">
                    <a16:creationId xmlns:a16="http://schemas.microsoft.com/office/drawing/2014/main" id="{55722642-4500-33AA-197E-73C5D8FC6439}"/>
                  </a:ext>
                </a:extLst>
              </p:cNvPr>
              <p:cNvSpPr>
                <a:spLocks noRot="1" noChangeAspect="1" noMove="1" noResize="1" noEditPoints="1" noAdjustHandles="1" noChangeArrowheads="1" noChangeShapeType="1" noTextEdit="1"/>
              </p:cNvSpPr>
              <p:nvPr/>
            </p:nvSpPr>
            <p:spPr>
              <a:xfrm>
                <a:off x="889154" y="4747852"/>
                <a:ext cx="10750962" cy="1754326"/>
              </a:xfrm>
              <a:prstGeom prst="rect">
                <a:avLst/>
              </a:prstGeom>
              <a:blipFill>
                <a:blip r:embed="rId4"/>
                <a:stretch>
                  <a:fillRect l="-5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306111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79F09A-5F6E-54F1-5605-12A0C0778993}"/>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0DAE4F9A-E510-DDF7-34EF-972CA0A8916E}"/>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B19BFA7D-4E55-65D1-2314-F3C37A534CC4}"/>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平行四边形 19">
              <a:extLst>
                <a:ext uri="{FF2B5EF4-FFF2-40B4-BE49-F238E27FC236}">
                  <a16:creationId xmlns:a16="http://schemas.microsoft.com/office/drawing/2014/main" id="{0BD0F61A-63FD-3569-FC1D-6DCCF959D4E1}"/>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1" name="矩形 20">
              <a:extLst>
                <a:ext uri="{FF2B5EF4-FFF2-40B4-BE49-F238E27FC236}">
                  <a16:creationId xmlns:a16="http://schemas.microsoft.com/office/drawing/2014/main" id="{3D4A15F7-E869-A5D3-406A-F1DF9E2AD33F}"/>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演化算法应用案例</a:t>
              </a:r>
            </a:p>
          </p:txBody>
        </p:sp>
      </p:grpSp>
      <p:sp>
        <p:nvSpPr>
          <p:cNvPr id="3" name="内容占位符 4">
            <a:extLst>
              <a:ext uri="{FF2B5EF4-FFF2-40B4-BE49-F238E27FC236}">
                <a16:creationId xmlns:a16="http://schemas.microsoft.com/office/drawing/2014/main" id="{B9CF3305-36BA-E056-3512-45AB16933493}"/>
              </a:ext>
            </a:extLst>
          </p:cNvPr>
          <p:cNvSpPr txBox="1">
            <a:spLocks/>
          </p:cNvSpPr>
          <p:nvPr/>
        </p:nvSpPr>
        <p:spPr>
          <a:xfrm>
            <a:off x="762000" y="1828240"/>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zh-CN" altLang="zh-CN" sz="1600" kern="100">
                <a:latin typeface="+mn-ea"/>
                <a:cs typeface="Times New Roman" panose="02020603050405020304" pitchFamily="18" charset="0"/>
              </a:rPr>
              <a:t>已知</a:t>
            </a:r>
            <a:r>
              <a:rPr lang="en-US" altLang="zh-CN" sz="1600" kern="100">
                <a:latin typeface="+mn-ea"/>
                <a:cs typeface="Times New Roman" panose="02020603050405020304" pitchFamily="18" charset="0"/>
              </a:rPr>
              <a:t>100</a:t>
            </a:r>
            <a:r>
              <a:rPr lang="zh-CN" altLang="zh-CN" sz="1600" kern="100">
                <a:latin typeface="+mn-ea"/>
                <a:cs typeface="Times New Roman" panose="02020603050405020304" pitchFamily="18" charset="0"/>
              </a:rPr>
              <a:t>个目标的经度、纬度如表所示。</a:t>
            </a:r>
            <a:endParaRPr lang="en-US" altLang="zh-CN" sz="1600" kern="100">
              <a:latin typeface="+mn-ea"/>
              <a:cs typeface="Times New Roman" panose="02020603050405020304" pitchFamily="18" charset="0"/>
            </a:endParaRPr>
          </a:p>
          <a:p>
            <a:pPr algn="just">
              <a:lnSpc>
                <a:spcPct val="100000"/>
              </a:lnSpc>
            </a:pPr>
            <a:r>
              <a:rPr lang="zh-CN" altLang="zh-CN" sz="1600" kern="100">
                <a:latin typeface="+mn-ea"/>
                <a:cs typeface="Times New Roman" panose="02020603050405020304" pitchFamily="18" charset="0"/>
              </a:rPr>
              <a:t>我方有一个基地，经度和纬度为（</a:t>
            </a:r>
            <a:r>
              <a:rPr lang="en-US" altLang="zh-CN" sz="1600" kern="100">
                <a:latin typeface="+mn-ea"/>
                <a:cs typeface="Times New Roman" panose="02020603050405020304" pitchFamily="18" charset="0"/>
              </a:rPr>
              <a:t>70,40</a:t>
            </a:r>
            <a:r>
              <a:rPr lang="zh-CN" altLang="zh-CN" sz="1600" kern="100">
                <a:latin typeface="+mn-ea"/>
                <a:cs typeface="Times New Roman" panose="02020603050405020304" pitchFamily="18" charset="0"/>
              </a:rPr>
              <a:t>）。假设我方飞机的速度为</a:t>
            </a:r>
            <a:r>
              <a:rPr lang="en-US" altLang="zh-CN" sz="1600" kern="100">
                <a:latin typeface="+mn-ea"/>
                <a:cs typeface="Times New Roman" panose="02020603050405020304" pitchFamily="18" charset="0"/>
              </a:rPr>
              <a:t> 1000 </a:t>
            </a:r>
            <a:r>
              <a:rPr lang="zh-CN" altLang="en-US" sz="1600" kern="100">
                <a:latin typeface="+mn-ea"/>
                <a:cs typeface="Times New Roman" panose="02020603050405020304" pitchFamily="18" charset="0"/>
              </a:rPr>
              <a:t>公里</a:t>
            </a:r>
            <a:r>
              <a:rPr lang="en-US" altLang="zh-CN" sz="1600" kern="100">
                <a:latin typeface="+mn-ea"/>
                <a:cs typeface="Times New Roman" panose="02020603050405020304" pitchFamily="18" charset="0"/>
              </a:rPr>
              <a:t>/</a:t>
            </a:r>
            <a:r>
              <a:rPr lang="zh-CN" altLang="en-US" sz="1600" kern="100">
                <a:latin typeface="+mn-ea"/>
                <a:cs typeface="Times New Roman" panose="02020603050405020304" pitchFamily="18" charset="0"/>
              </a:rPr>
              <a:t>小时。</a:t>
            </a:r>
            <a:r>
              <a:rPr lang="zh-CN" altLang="zh-CN" sz="1600" kern="100">
                <a:latin typeface="+mn-ea"/>
                <a:cs typeface="Times New Roman" panose="02020603050405020304" pitchFamily="18" charset="0"/>
              </a:rPr>
              <a:t>我方派一架飞机从基地出发，侦察完所有目标，再返回原来的基地。在每一目标点的侦察时间不计，求该架飞机所花费的时间（假设我方飞机巡航时间可以充分长）。</a:t>
            </a:r>
            <a:endParaRPr lang="en-US" altLang="zh-CN" sz="1600">
              <a:latin typeface="+mn-ea"/>
            </a:endParaRPr>
          </a:p>
          <a:p>
            <a:pPr>
              <a:lnSpc>
                <a:spcPct val="100000"/>
              </a:lnSpc>
            </a:pPr>
            <a:r>
              <a:rPr lang="zh-CN" altLang="en-US" sz="1600">
                <a:latin typeface="+mn-ea"/>
              </a:rPr>
              <a:t>用遗传算法研究上述问题</a:t>
            </a:r>
            <a:endParaRPr lang="en-US" altLang="zh-CN" sz="1600">
              <a:latin typeface="+mn-ea"/>
            </a:endParaRPr>
          </a:p>
          <a:p>
            <a:pPr marL="0" indent="0">
              <a:lnSpc>
                <a:spcPct val="100000"/>
              </a:lnSpc>
              <a:buFont typeface="Arial" panose="020B0604020202020204" pitchFamily="34" charset="0"/>
              <a:buNone/>
            </a:pPr>
            <a:endParaRPr lang="zh-CN" altLang="zh-CN" sz="1600" kern="100" dirty="0">
              <a:latin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内容占位符 5">
                <a:extLst>
                  <a:ext uri="{FF2B5EF4-FFF2-40B4-BE49-F238E27FC236}">
                    <a16:creationId xmlns:a16="http://schemas.microsoft.com/office/drawing/2014/main" id="{D382CF61-2ED5-E72F-1BFF-4A66AF7E9BA1}"/>
                  </a:ext>
                </a:extLst>
              </p:cNvPr>
              <p:cNvSpPr txBox="1">
                <a:spLocks/>
              </p:cNvSpPr>
              <p:nvPr/>
            </p:nvSpPr>
            <p:spPr>
              <a:xfrm>
                <a:off x="6096000" y="1828240"/>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zh-CN" sz="1600" kern="100" dirty="0">
                    <a:latin typeface="+mn-ea"/>
                    <a:cs typeface="Times New Roman" panose="02020603050405020304" pitchFamily="18" charset="0"/>
                  </a:rPr>
                  <a:t>求解的遗传算法的参数设定如下种群大小</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𝑀</m:t>
                    </m:r>
                    <m:r>
                      <a:rPr lang="en-US" altLang="zh-CN" sz="1600" i="1" kern="100">
                        <a:latin typeface="Cambria Math" panose="02040503050406030204" pitchFamily="18" charset="0"/>
                        <a:cs typeface="Times New Roman" panose="02020603050405020304" pitchFamily="18" charset="0"/>
                      </a:rPr>
                      <m:t>=50</m:t>
                    </m:r>
                  </m:oMath>
                </a14:m>
                <a:r>
                  <a:rPr lang="zh-CN" altLang="zh-CN" sz="1600" kern="100" dirty="0">
                    <a:latin typeface="+mn-ea"/>
                    <a:cs typeface="Times New Roman" panose="02020603050405020304" pitchFamily="18" charset="0"/>
                  </a:rPr>
                  <a:t>；最大代数</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𝐺</m:t>
                    </m:r>
                    <m:r>
                      <a:rPr lang="en-US" altLang="zh-CN" sz="1600" i="1" kern="100">
                        <a:latin typeface="Cambria Math" panose="02040503050406030204" pitchFamily="18" charset="0"/>
                        <a:cs typeface="Times New Roman" panose="02020603050405020304" pitchFamily="18" charset="0"/>
                      </a:rPr>
                      <m:t>=1000</m:t>
                    </m:r>
                  </m:oMath>
                </a14:m>
                <a:r>
                  <a:rPr lang="zh-CN" altLang="zh-CN" sz="1600" kern="100" dirty="0">
                    <a:latin typeface="+mn-ea"/>
                    <a:cs typeface="Times New Roman" panose="02020603050405020304" pitchFamily="18" charset="0"/>
                  </a:rPr>
                  <a:t>；交叉率</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𝑝</m:t>
                        </m:r>
                      </m:e>
                      <m:sub>
                        <m:r>
                          <a:rPr lang="en-US" altLang="zh-CN" sz="1600" i="1" kern="100">
                            <a:latin typeface="Cambria Math" panose="02040503050406030204" pitchFamily="18" charset="0"/>
                            <a:cs typeface="Times New Roman" panose="02020603050405020304" pitchFamily="18" charset="0"/>
                          </a:rPr>
                          <m:t>𝑐</m:t>
                        </m:r>
                      </m:sub>
                    </m:sSub>
                    <m:r>
                      <a:rPr lang="en-US" altLang="zh-CN" sz="1600" i="1" kern="100">
                        <a:latin typeface="Cambria Math" panose="02040503050406030204" pitchFamily="18" charset="0"/>
                        <a:cs typeface="Times New Roman" panose="02020603050405020304" pitchFamily="18" charset="0"/>
                      </a:rPr>
                      <m:t>=1</m:t>
                    </m:r>
                  </m:oMath>
                </a14:m>
                <a:r>
                  <a:rPr lang="zh-CN" altLang="zh-CN" sz="1600" kern="100" dirty="0">
                    <a:latin typeface="+mn-ea"/>
                    <a:cs typeface="Times New Roman" panose="02020603050405020304" pitchFamily="18" charset="0"/>
                  </a:rPr>
                  <a:t>，交叉概率为</a:t>
                </a:r>
                <a:r>
                  <a:rPr lang="en-US" altLang="zh-CN" sz="1600" kern="100" dirty="0">
                    <a:latin typeface="+mn-ea"/>
                    <a:cs typeface="Times New Roman" panose="02020603050405020304" pitchFamily="18" charset="0"/>
                  </a:rPr>
                  <a:t>1</a:t>
                </a:r>
                <a:r>
                  <a:rPr lang="zh-CN" altLang="zh-CN" sz="1600" kern="100" dirty="0">
                    <a:latin typeface="+mn-ea"/>
                    <a:cs typeface="Times New Roman" panose="02020603050405020304" pitchFamily="18" charset="0"/>
                  </a:rPr>
                  <a:t>能保证种群的充分进化；变异率</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𝑝</m:t>
                        </m:r>
                      </m:e>
                      <m:sub>
                        <m:r>
                          <a:rPr lang="en-US" altLang="zh-CN" sz="1600" i="1" kern="100">
                            <a:latin typeface="Cambria Math" panose="02040503050406030204" pitchFamily="18" charset="0"/>
                            <a:cs typeface="Times New Roman" panose="02020603050405020304" pitchFamily="18" charset="0"/>
                          </a:rPr>
                          <m:t>𝑚</m:t>
                        </m:r>
                      </m:sub>
                    </m:sSub>
                    <m:r>
                      <a:rPr lang="en-US" altLang="zh-CN" sz="1600" i="1" kern="100">
                        <a:latin typeface="Cambria Math" panose="02040503050406030204" pitchFamily="18" charset="0"/>
                        <a:cs typeface="Times New Roman" panose="02020603050405020304" pitchFamily="18" charset="0"/>
                      </a:rPr>
                      <m:t>=0.1</m:t>
                    </m:r>
                  </m:oMath>
                </a14:m>
                <a:r>
                  <a:rPr lang="zh-CN" altLang="zh-CN" sz="1600" kern="100" dirty="0">
                    <a:latin typeface="+mn-ea"/>
                    <a:cs typeface="Times New Roman" panose="02020603050405020304" pitchFamily="18" charset="0"/>
                  </a:rPr>
                  <a:t>， 一般而言，变异发生的可能性较小</a:t>
                </a:r>
                <a:r>
                  <a:rPr lang="zh-CN" altLang="en-US" sz="1600" kern="100" dirty="0">
                    <a:latin typeface="+mn-ea"/>
                    <a:cs typeface="Times New Roman" panose="02020603050405020304" pitchFamily="18" charset="0"/>
                  </a:rPr>
                  <a:t>。</a:t>
                </a:r>
                <a:endParaRPr lang="en-US" altLang="zh-CN" sz="1600" kern="100" dirty="0">
                  <a:latin typeface="+mn-ea"/>
                  <a:cs typeface="Times New Roman" panose="02020603050405020304" pitchFamily="18" charset="0"/>
                </a:endParaRPr>
              </a:p>
              <a:p>
                <a:pPr marL="0" indent="0">
                  <a:lnSpc>
                    <a:spcPct val="100000"/>
                  </a:lnSpc>
                  <a:buFont typeface="Arial" panose="020B0604020202020204" pitchFamily="34" charset="0"/>
                  <a:buNone/>
                </a:pPr>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1</a:t>
                </a:r>
                <a:r>
                  <a:rPr lang="zh-CN" altLang="zh-CN" sz="1600" b="1" kern="100" dirty="0">
                    <a:solidFill>
                      <a:srgbClr val="FF0000"/>
                    </a:solidFill>
                    <a:latin typeface="+mn-ea"/>
                    <a:cs typeface="Times New Roman" panose="02020603050405020304" pitchFamily="18" charset="0"/>
                  </a:rPr>
                  <a:t>）编码策略</a:t>
                </a:r>
                <a:endParaRPr lang="en-US" altLang="zh-CN" sz="1600" b="1"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采用十进制编码，用随机数列</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2</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102</m:t>
                        </m:r>
                      </m:sub>
                    </m:sSub>
                  </m:oMath>
                </a14:m>
                <a:r>
                  <a:rPr lang="zh-CN" altLang="zh-CN" sz="1600" kern="100" dirty="0">
                    <a:latin typeface="+mn-ea"/>
                    <a:cs typeface="Times New Roman" panose="02020603050405020304" pitchFamily="18" charset="0"/>
                  </a:rPr>
                  <a:t>作为染色体，其中</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0≤</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𝑖</m:t>
                        </m:r>
                      </m:sub>
                    </m:sSub>
                    <m:r>
                      <a:rPr lang="en-US" altLang="zh-CN" sz="1600" i="1" kern="100">
                        <a:latin typeface="Cambria Math" panose="02040503050406030204" pitchFamily="18" charset="0"/>
                        <a:cs typeface="Times New Roman" panose="02020603050405020304" pitchFamily="18" charset="0"/>
                      </a:rPr>
                      <m:t>≤1</m:t>
                    </m:r>
                  </m:oMath>
                </a14:m>
                <a:r>
                  <a:rPr lang="zh-CN" altLang="zh-CN" sz="1600" kern="100" dirty="0">
                    <a:latin typeface="+mn-ea"/>
                    <a:cs typeface="Times New Roman" panose="02020603050405020304" pitchFamily="18" charset="0"/>
                  </a:rPr>
                  <a:t>（</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𝑖</m:t>
                    </m:r>
                    <m:r>
                      <a:rPr lang="en-US" altLang="zh-CN" sz="1600" i="1" kern="100">
                        <a:latin typeface="Cambria Math" panose="02040503050406030204" pitchFamily="18" charset="0"/>
                        <a:cs typeface="Times New Roman" panose="02020603050405020304" pitchFamily="18" charset="0"/>
                      </a:rPr>
                      <m:t>=2,3,⋯,101</m:t>
                    </m:r>
                  </m:oMath>
                </a14:m>
                <a:r>
                  <a:rPr lang="zh-CN" altLang="zh-CN" sz="1600" kern="100" dirty="0">
                    <a:latin typeface="+mn-ea"/>
                    <a:cs typeface="Times New Roman" panose="02020603050405020304" pitchFamily="18" charset="0"/>
                  </a:rPr>
                  <a:t>），</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m:t>
                        </m:r>
                      </m:sub>
                    </m:sSub>
                    <m:r>
                      <a:rPr lang="en-US" altLang="zh-CN" sz="1600" i="1" kern="100">
                        <a:latin typeface="Cambria Math" panose="02040503050406030204" pitchFamily="18" charset="0"/>
                        <a:cs typeface="Times New Roman" panose="02020603050405020304" pitchFamily="18" charset="0"/>
                      </a:rPr>
                      <m:t>=0</m:t>
                    </m:r>
                  </m:oMath>
                </a14:m>
                <a:r>
                  <a:rPr lang="zh-CN" altLang="zh-CN" sz="1600" kern="100" dirty="0">
                    <a:latin typeface="+mn-ea"/>
                    <a:cs typeface="Times New Roman" panose="02020603050405020304" pitchFamily="18" charset="0"/>
                  </a:rPr>
                  <a:t>，</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102</m:t>
                        </m:r>
                      </m:sub>
                    </m:sSub>
                    <m:r>
                      <a:rPr lang="en-US" altLang="zh-CN" sz="1600" i="1" kern="100">
                        <a:latin typeface="Cambria Math" panose="02040503050406030204" pitchFamily="18" charset="0"/>
                        <a:cs typeface="Times New Roman" panose="02020603050405020304" pitchFamily="18" charset="0"/>
                      </a:rPr>
                      <m:t>=1</m:t>
                    </m:r>
                  </m:oMath>
                </a14:m>
                <a:r>
                  <a:rPr lang="zh-CN" altLang="zh-CN" sz="1600" kern="100" dirty="0">
                    <a:latin typeface="+mn-ea"/>
                    <a:cs typeface="Times New Roman" panose="02020603050405020304" pitchFamily="18" charset="0"/>
                  </a:rPr>
                  <a:t>；每一个随机序列都和种群中的一个个体相对应，例如</a:t>
                </a:r>
                <a:r>
                  <a:rPr lang="en-US" altLang="zh-CN" sz="1600" kern="100" dirty="0">
                    <a:latin typeface="+mn-ea"/>
                    <a:cs typeface="Times New Roman" panose="02020603050405020304" pitchFamily="18" charset="0"/>
                  </a:rPr>
                  <a:t>9</a:t>
                </a:r>
                <a:r>
                  <a:rPr lang="zh-CN" altLang="zh-CN" sz="1600" kern="100" dirty="0">
                    <a:latin typeface="+mn-ea"/>
                    <a:cs typeface="Times New Roman" panose="02020603050405020304" pitchFamily="18" charset="0"/>
                  </a:rPr>
                  <a:t>目标问题的一个染色体为</a:t>
                </a:r>
                <a:endParaRPr lang="en-US" altLang="zh-CN" sz="1600" kern="100" dirty="0">
                  <a:latin typeface="+mn-ea"/>
                  <a:cs typeface="Times New Roman" panose="02020603050405020304" pitchFamily="18" charset="0"/>
                </a:endParaRPr>
              </a:p>
              <a:p>
                <a:pPr marL="0" indent="0" algn="ctr">
                  <a:lnSpc>
                    <a:spcPct val="100000"/>
                  </a:lnSpc>
                  <a:buFont typeface="Arial" panose="020B0604020202020204" pitchFamily="34" charset="0"/>
                  <a:buNone/>
                </a:pPr>
                <a:r>
                  <a:rPr lang="en-US" altLang="zh-CN" sz="1400" kern="100" dirty="0">
                    <a:latin typeface="+mn-ea"/>
                    <a:cs typeface="Times New Roman" panose="02020603050405020304" pitchFamily="18" charset="0"/>
                  </a:rPr>
                  <a:t>[0.23</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0.82</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0.45</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0.74</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0.87</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0.11</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0.56</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0.69</a:t>
                </a:r>
                <a:r>
                  <a:rPr lang="zh-CN" altLang="zh-CN" sz="1400" kern="100" dirty="0">
                    <a:latin typeface="+mn-ea"/>
                    <a:cs typeface="Times New Roman" panose="02020603050405020304" pitchFamily="18" charset="0"/>
                  </a:rPr>
                  <a:t>，</a:t>
                </a:r>
                <a:r>
                  <a:rPr lang="en-US" altLang="zh-CN" sz="1400" kern="100" dirty="0">
                    <a:latin typeface="+mn-ea"/>
                    <a:cs typeface="Times New Roman" panose="02020603050405020304" pitchFamily="18" charset="0"/>
                  </a:rPr>
                  <a:t>0.78]</a:t>
                </a:r>
                <a:endParaRPr lang="zh-CN"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其中编码位置</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𝑖</m:t>
                    </m:r>
                  </m:oMath>
                </a14:m>
                <a:r>
                  <a:rPr lang="zh-CN" altLang="zh-CN" sz="1600" kern="100" dirty="0">
                    <a:latin typeface="+mn-ea"/>
                    <a:cs typeface="Times New Roman" panose="02020603050405020304" pitchFamily="18" charset="0"/>
                  </a:rPr>
                  <a:t>代表目标</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𝑖</m:t>
                    </m:r>
                  </m:oMath>
                </a14:m>
                <a:r>
                  <a:rPr lang="zh-CN" altLang="zh-CN" sz="1600" kern="100" dirty="0">
                    <a:latin typeface="+mn-ea"/>
                    <a:cs typeface="Times New Roman" panose="02020603050405020304" pitchFamily="18" charset="0"/>
                  </a:rPr>
                  <a:t>，位置</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𝑖</m:t>
                    </m:r>
                  </m:oMath>
                </a14:m>
                <a:r>
                  <a:rPr lang="zh-CN" altLang="zh-CN" sz="1600" kern="100" dirty="0">
                    <a:latin typeface="+mn-ea"/>
                    <a:cs typeface="Times New Roman" panose="02020603050405020304" pitchFamily="18" charset="0"/>
                  </a:rPr>
                  <a:t>的随机数表示目标</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𝑖</m:t>
                    </m:r>
                  </m:oMath>
                </a14:m>
                <a:r>
                  <a:rPr lang="zh-CN" altLang="zh-CN" sz="1600" kern="100" dirty="0">
                    <a:latin typeface="+mn-ea"/>
                    <a:cs typeface="Times New Roman" panose="02020603050405020304" pitchFamily="18" charset="0"/>
                  </a:rPr>
                  <a:t>在巡回中的顺序，将这些随机数按升序排列得到如下巡回</a:t>
                </a:r>
              </a:p>
              <a:p>
                <a:pPr marL="0" indent="0" algn="ctr">
                  <a:lnSpc>
                    <a:spcPct val="100000"/>
                  </a:lnSpc>
                  <a:buFont typeface="Arial" panose="020B0604020202020204" pitchFamily="34" charset="0"/>
                  <a:buNone/>
                </a:pPr>
                <a:r>
                  <a:rPr lang="en-US" altLang="zh-CN" sz="1600" kern="100" dirty="0">
                    <a:latin typeface="+mn-ea"/>
                    <a:cs typeface="Times New Roman" panose="02020603050405020304" pitchFamily="18" charset="0"/>
                  </a:rPr>
                  <a:t>6</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1</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3</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7</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8</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4</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9</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2</a:t>
                </a:r>
                <a:r>
                  <a:rPr lang="zh-CN" altLang="zh-CN"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5.</a:t>
                </a:r>
                <a:endParaRPr lang="zh-CN" altLang="en-US" sz="1600" dirty="0"/>
              </a:p>
            </p:txBody>
          </p:sp>
        </mc:Choice>
        <mc:Fallback xmlns="">
          <p:sp>
            <p:nvSpPr>
              <p:cNvPr id="4" name="内容占位符 5">
                <a:extLst>
                  <a:ext uri="{FF2B5EF4-FFF2-40B4-BE49-F238E27FC236}">
                    <a16:creationId xmlns:a16="http://schemas.microsoft.com/office/drawing/2014/main" id="{D382CF61-2ED5-E72F-1BFF-4A66AF7E9BA1}"/>
                  </a:ext>
                </a:extLst>
              </p:cNvPr>
              <p:cNvSpPr txBox="1">
                <a:spLocks noRot="1" noChangeAspect="1" noMove="1" noResize="1" noEditPoints="1" noAdjustHandles="1" noChangeArrowheads="1" noChangeShapeType="1" noTextEdit="1"/>
              </p:cNvSpPr>
              <p:nvPr/>
            </p:nvSpPr>
            <p:spPr>
              <a:xfrm>
                <a:off x="6096000" y="1828240"/>
                <a:ext cx="5181600" cy="4814888"/>
              </a:xfrm>
              <a:prstGeom prst="rect">
                <a:avLst/>
              </a:prstGeom>
              <a:blipFill>
                <a:blip r:embed="rId3"/>
                <a:stretch>
                  <a:fillRect l="-588" t="-380" r="-4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2292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6DAC04-C161-D7A9-C6A1-124E52A69FAD}"/>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E39E04C5-9EFB-6712-5BA2-E8C98F69B5DA}"/>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0B1D6EA5-8A2B-4EC0-B02B-050AF1EC5C7F}"/>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平行四边形 19">
              <a:extLst>
                <a:ext uri="{FF2B5EF4-FFF2-40B4-BE49-F238E27FC236}">
                  <a16:creationId xmlns:a16="http://schemas.microsoft.com/office/drawing/2014/main" id="{5320E638-166D-38F6-7B34-EC7268229AAE}"/>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1" name="矩形 20">
              <a:extLst>
                <a:ext uri="{FF2B5EF4-FFF2-40B4-BE49-F238E27FC236}">
                  <a16:creationId xmlns:a16="http://schemas.microsoft.com/office/drawing/2014/main" id="{80A38127-8197-2D4B-2942-A02569AE7130}"/>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演化算法应用案例</a:t>
              </a:r>
            </a:p>
          </p:txBody>
        </p:sp>
      </p:grpSp>
      <mc:AlternateContent xmlns:mc="http://schemas.openxmlformats.org/markup-compatibility/2006" xmlns:a14="http://schemas.microsoft.com/office/drawing/2010/main">
        <mc:Choice Requires="a14">
          <p:sp>
            <p:nvSpPr>
              <p:cNvPr id="2" name="内容占位符 4">
                <a:extLst>
                  <a:ext uri="{FF2B5EF4-FFF2-40B4-BE49-F238E27FC236}">
                    <a16:creationId xmlns:a16="http://schemas.microsoft.com/office/drawing/2014/main" id="{C772A627-898F-0AB2-9B88-88C4E635DBE6}"/>
                  </a:ext>
                </a:extLst>
              </p:cNvPr>
              <p:cNvSpPr txBox="1">
                <a:spLocks/>
              </p:cNvSpPr>
              <p:nvPr/>
            </p:nvSpPr>
            <p:spPr>
              <a:xfrm>
                <a:off x="851647" y="1814793"/>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2</a:t>
                </a:r>
                <a:r>
                  <a:rPr lang="zh-CN" altLang="zh-CN" sz="1600" b="1" kern="100" dirty="0">
                    <a:solidFill>
                      <a:srgbClr val="FF0000"/>
                    </a:solidFill>
                    <a:latin typeface="+mn-ea"/>
                    <a:cs typeface="Times New Roman" panose="02020603050405020304" pitchFamily="18" charset="0"/>
                  </a:rPr>
                  <a:t>）初始种群</a:t>
                </a:r>
                <a:endParaRPr lang="en-US" altLang="zh-CN" sz="1600" b="1" kern="100" dirty="0">
                  <a:solidFill>
                    <a:srgbClr val="FF0000"/>
                  </a:solidFill>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先利用经典的近似算法</a:t>
                </a:r>
                <a:r>
                  <a:rPr lang="en-US" altLang="zh-CN" sz="1600" kern="100" dirty="0">
                    <a:latin typeface="+mn-ea"/>
                    <a:cs typeface="Times New Roman" panose="02020603050405020304" pitchFamily="18" charset="0"/>
                  </a:rPr>
                  <a:t>—</a:t>
                </a:r>
                <a:r>
                  <a:rPr lang="zh-CN" altLang="zh-CN" sz="1600" kern="100" dirty="0">
                    <a:latin typeface="+mn-ea"/>
                    <a:cs typeface="Times New Roman" panose="02020603050405020304" pitchFamily="18" charset="0"/>
                  </a:rPr>
                  <a:t>改良圈算法求得一个较好的初始种群。</a:t>
                </a:r>
                <a:endParaRPr lang="en-US" altLang="zh-CN" sz="11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对于随机产生的初始圈</a:t>
                </a:r>
              </a:p>
              <a:p>
                <a:pPr indent="0" algn="ctr">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cs typeface="Times New Roman" panose="02020603050405020304" pitchFamily="18" charset="0"/>
                        </a:rPr>
                        <m:t>𝐶</m:t>
                      </m:r>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102</m:t>
                          </m:r>
                        </m:sub>
                      </m:sSub>
                    </m:oMath>
                  </m:oMathPara>
                </a14:m>
                <a:endParaRPr lang="en-US" altLang="zh-CN" sz="1600" i="1" kern="100" dirty="0">
                  <a:latin typeface="Cambria Math" panose="02040503050406030204" pitchFamily="18" charset="0"/>
                  <a:cs typeface="Times New Roman" panose="02020603050405020304" pitchFamily="18" charset="0"/>
                </a:endParaRPr>
              </a:p>
              <a:p>
                <a:pPr indent="0" algn="ctr">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cs typeface="Times New Roman" panose="02020603050405020304" pitchFamily="18" charset="0"/>
                        </a:rPr>
                        <m:t>2≤</m:t>
                      </m:r>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&lt;</m:t>
                      </m:r>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≤101,  2≤</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sub>
                      </m:sSub>
                      <m:r>
                        <a:rPr lang="en-US" altLang="zh-CN" sz="1600" i="1" kern="100">
                          <a:latin typeface="Cambria Math" panose="02040503050406030204" pitchFamily="18" charset="0"/>
                          <a:cs typeface="Times New Roman" panose="02020603050405020304" pitchFamily="18" charset="0"/>
                        </a:rPr>
                        <m:t>&lt;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sub>
                      </m:sSub>
                      <m:r>
                        <a:rPr lang="en-US" altLang="zh-CN" sz="1600" i="1" kern="100">
                          <a:latin typeface="Cambria Math" panose="02040503050406030204" pitchFamily="18" charset="0"/>
                          <a:cs typeface="Times New Roman" panose="02020603050405020304" pitchFamily="18" charset="0"/>
                        </a:rPr>
                        <m:t>≤101</m:t>
                      </m:r>
                    </m:oMath>
                  </m:oMathPara>
                </a14:m>
                <a:endParaRPr lang="zh-CN"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交换</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𝑢</m:t>
                    </m:r>
                  </m:oMath>
                </a14:m>
                <a:r>
                  <a:rPr lang="zh-CN" altLang="zh-CN" sz="1600" kern="100" dirty="0">
                    <a:latin typeface="+mn-ea"/>
                    <a:cs typeface="Times New Roman" panose="02020603050405020304" pitchFamily="18" charset="0"/>
                  </a:rPr>
                  <a:t>与</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𝑣</m:t>
                    </m:r>
                  </m:oMath>
                </a14:m>
                <a:r>
                  <a:rPr lang="zh-CN" altLang="zh-CN" sz="1600" kern="100" dirty="0">
                    <a:latin typeface="+mn-ea"/>
                    <a:cs typeface="Times New Roman" panose="02020603050405020304" pitchFamily="18" charset="0"/>
                  </a:rPr>
                  <a:t>之间的顺序，此时的新路径为</a:t>
                </a:r>
              </a:p>
              <a:p>
                <a:pPr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r>
                        <a:rPr lang="zh-CN" altLang="zh-CN" sz="1600" i="1" kern="100">
                          <a:latin typeface="Cambria Math" panose="02040503050406030204" pitchFamily="18" charset="0"/>
                          <a:cs typeface="MS Gothic" panose="020B0609070205080204" pitchFamily="49" charset="-128"/>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102</m:t>
                          </m:r>
                        </m:sub>
                      </m:sSub>
                    </m:oMath>
                  </m:oMathPara>
                </a14:m>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en-US" sz="1600" kern="100" dirty="0">
                    <a:latin typeface="+mn-ea"/>
                    <a:cs typeface="Times New Roman" panose="02020603050405020304" pitchFamily="18" charset="0"/>
                  </a:rPr>
                  <a:t>记</a:t>
                </a:r>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cs typeface="Times New Roman" panose="02020603050405020304" pitchFamily="18" charset="0"/>
                        </a:rPr>
                        <m:t>𝛥</m:t>
                      </m:r>
                      <m:r>
                        <a:rPr lang="en-US" altLang="zh-CN" sz="1600" i="1" kern="100">
                          <a:latin typeface="Cambria Math" panose="02040503050406030204" pitchFamily="18" charset="0"/>
                          <a:cs typeface="Times New Roman" panose="02020603050405020304" pitchFamily="18" charset="0"/>
                        </a:rPr>
                        <m:t>𝑓</m:t>
                      </m:r>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𝑑</m:t>
                          </m:r>
                        </m:e>
                        <m: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sub>
                          </m:sSub>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𝑑</m:t>
                          </m:r>
                        </m:e>
                        <m: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𝑑</m:t>
                          </m:r>
                        </m:e>
                        <m: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𝑢</m:t>
                              </m:r>
                            </m:sub>
                          </m:sSub>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𝑑</m:t>
                          </m:r>
                        </m:e>
                        <m: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+1</m:t>
                              </m:r>
                            </m:sub>
                          </m:sSub>
                        </m:sub>
                      </m:sSub>
                      <m:r>
                        <a:rPr lang="en-US" altLang="zh-CN" sz="1600" i="1" kern="100">
                          <a:latin typeface="Cambria Math" panose="02040503050406030204" pitchFamily="18" charset="0"/>
                          <a:cs typeface="Times New Roman" panose="02020603050405020304" pitchFamily="18" charset="0"/>
                        </a:rPr>
                        <m:t>)</m:t>
                      </m:r>
                    </m:oMath>
                  </m:oMathPara>
                </a14:m>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若</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𝛥</m:t>
                    </m:r>
                    <m:r>
                      <a:rPr lang="en-US" altLang="zh-CN" sz="1600" i="1" kern="100">
                        <a:latin typeface="Cambria Math" panose="02040503050406030204" pitchFamily="18" charset="0"/>
                        <a:cs typeface="Times New Roman" panose="02020603050405020304" pitchFamily="18" charset="0"/>
                      </a:rPr>
                      <m:t>𝑓</m:t>
                    </m:r>
                    <m:r>
                      <a:rPr lang="en-US" altLang="zh-CN" sz="1600" i="1" kern="100">
                        <a:latin typeface="Cambria Math" panose="02040503050406030204" pitchFamily="18" charset="0"/>
                        <a:cs typeface="Times New Roman" panose="02020603050405020304" pitchFamily="18" charset="0"/>
                      </a:rPr>
                      <m:t>&lt;0</m:t>
                    </m:r>
                  </m:oMath>
                </a14:m>
                <a:r>
                  <a:rPr lang="zh-CN" altLang="zh-CN" sz="1600" kern="100" dirty="0">
                    <a:latin typeface="+mn-ea"/>
                    <a:cs typeface="Times New Roman" panose="02020603050405020304" pitchFamily="18" charset="0"/>
                  </a:rPr>
                  <a:t>，则以新路经修改旧路经，直到不能修改为止，就得到一个比较好的可行解。</a:t>
                </a:r>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直到产生</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𝑀</m:t>
                    </m:r>
                  </m:oMath>
                </a14:m>
                <a:r>
                  <a:rPr lang="zh-CN" altLang="zh-CN" sz="1600" kern="100" dirty="0">
                    <a:latin typeface="+mn-ea"/>
                    <a:cs typeface="Times New Roman" panose="02020603050405020304" pitchFamily="18" charset="0"/>
                  </a:rPr>
                  <a:t>个可行解，并把这</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𝑀</m:t>
                    </m:r>
                  </m:oMath>
                </a14:m>
                <a:r>
                  <a:rPr lang="zh-CN" altLang="zh-CN" sz="1600" kern="100" dirty="0">
                    <a:latin typeface="+mn-ea"/>
                    <a:cs typeface="Times New Roman" panose="02020603050405020304" pitchFamily="18" charset="0"/>
                  </a:rPr>
                  <a:t>个可行解转换成染色体编码。</a:t>
                </a:r>
              </a:p>
            </p:txBody>
          </p:sp>
        </mc:Choice>
        <mc:Fallback xmlns="">
          <p:sp>
            <p:nvSpPr>
              <p:cNvPr id="2" name="内容占位符 4">
                <a:extLst>
                  <a:ext uri="{FF2B5EF4-FFF2-40B4-BE49-F238E27FC236}">
                    <a16:creationId xmlns:a16="http://schemas.microsoft.com/office/drawing/2014/main" id="{C772A627-898F-0AB2-9B88-88C4E635DBE6}"/>
                  </a:ext>
                </a:extLst>
              </p:cNvPr>
              <p:cNvSpPr txBox="1">
                <a:spLocks noRot="1" noChangeAspect="1" noMove="1" noResize="1" noEditPoints="1" noAdjustHandles="1" noChangeArrowheads="1" noChangeShapeType="1" noTextEdit="1"/>
              </p:cNvSpPr>
              <p:nvPr/>
            </p:nvSpPr>
            <p:spPr>
              <a:xfrm>
                <a:off x="851647" y="1814793"/>
                <a:ext cx="5181600" cy="4814888"/>
              </a:xfrm>
              <a:prstGeom prst="rect">
                <a:avLst/>
              </a:prstGeom>
              <a:blipFill>
                <a:blip r:embed="rId3"/>
                <a:stretch>
                  <a:fillRect l="-706" t="-380" r="-45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5">
                <a:extLst>
                  <a:ext uri="{FF2B5EF4-FFF2-40B4-BE49-F238E27FC236}">
                    <a16:creationId xmlns:a16="http://schemas.microsoft.com/office/drawing/2014/main" id="{7749FDAD-4C54-F869-B431-91301BF838C5}"/>
                  </a:ext>
                </a:extLst>
              </p:cNvPr>
              <p:cNvSpPr txBox="1">
                <a:spLocks/>
              </p:cNvSpPr>
              <p:nvPr/>
            </p:nvSpPr>
            <p:spPr>
              <a:xfrm>
                <a:off x="6185647" y="1814793"/>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3</a:t>
                </a:r>
                <a:r>
                  <a:rPr lang="zh-CN" altLang="zh-CN" sz="1600" b="1" kern="100" dirty="0">
                    <a:solidFill>
                      <a:srgbClr val="FF0000"/>
                    </a:solidFill>
                    <a:latin typeface="+mn-ea"/>
                    <a:cs typeface="Times New Roman" panose="02020603050405020304" pitchFamily="18" charset="0"/>
                  </a:rPr>
                  <a:t>）目标函数</a:t>
                </a:r>
                <a:endParaRPr lang="en-US" altLang="zh-CN" sz="1600" b="1" kern="100" dirty="0">
                  <a:solidFill>
                    <a:srgbClr val="FF0000"/>
                  </a:solidFill>
                  <a:latin typeface="+mn-ea"/>
                  <a:cs typeface="Times New Roman" panose="02020603050405020304" pitchFamily="18" charset="0"/>
                </a:endParaRPr>
              </a:p>
              <a:p>
                <a:pPr marL="0" indent="0" algn="just">
                  <a:buFont typeface="Arial" panose="020B0604020202020204" pitchFamily="34" charset="0"/>
                  <a:buNone/>
                </a:pPr>
                <a:r>
                  <a:rPr lang="zh-CN" altLang="zh-CN" sz="1600" kern="100" dirty="0">
                    <a:latin typeface="+mn-ea"/>
                    <a:cs typeface="Times New Roman" panose="02020603050405020304" pitchFamily="18" charset="0"/>
                  </a:rPr>
                  <a:t>目标函数为侦察所有目标的路径长度，适应度函数就取为目标函数。我们要求</a:t>
                </a:r>
              </a:p>
              <a:p>
                <a:pPr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zh-CN" altLang="zh-CN" sz="1600" i="1" kern="100">
                              <a:latin typeface="Cambria Math" panose="02040503050406030204" pitchFamily="18" charset="0"/>
                              <a:cs typeface="Times New Roman" panose="02020603050405020304" pitchFamily="18" charset="0"/>
                            </a:rPr>
                          </m:ctrlPr>
                        </m:funcPr>
                        <m:fName>
                          <m:r>
                            <a:rPr lang="en-US" altLang="zh-CN" sz="1600" i="1" kern="100">
                              <a:latin typeface="Cambria Math" panose="02040503050406030204" pitchFamily="18" charset="0"/>
                              <a:cs typeface="Times New Roman" panose="02020603050405020304" pitchFamily="18" charset="0"/>
                            </a:rPr>
                            <m:t>𝑚𝑖𝑛</m:t>
                          </m:r>
                        </m:fName>
                        <m:e>
                          <m:r>
                            <a:rPr lang="en-US" altLang="zh-CN" sz="1600" i="1" kern="100">
                              <a:latin typeface="Cambria Math" panose="02040503050406030204" pitchFamily="18" charset="0"/>
                              <a:cs typeface="Times New Roman" panose="02020603050405020304" pitchFamily="18" charset="0"/>
                            </a:rPr>
                            <m:t>𝑓</m:t>
                          </m:r>
                        </m:e>
                      </m:func>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2</m:t>
                          </m:r>
                        </m:sub>
                      </m:sSub>
                      <m:r>
                        <a:rPr lang="en-US" altLang="zh-CN" sz="1600" i="1" kern="100">
                          <a:latin typeface="Cambria Math" panose="02040503050406030204" pitchFamily="18" charset="0"/>
                          <a:cs typeface="Times New Roman" panose="02020603050405020304" pitchFamily="18" charset="0"/>
                        </a:rPr>
                        <m:t>,</m:t>
                      </m:r>
                      <m:r>
                        <a:rPr lang="zh-CN" altLang="zh-CN" sz="1600" i="1" kern="100">
                          <a:latin typeface="Cambria Math" panose="02040503050406030204" pitchFamily="18" charset="0"/>
                          <a:cs typeface="MS Gothic" panose="020B0609070205080204" pitchFamily="49" charset="-128"/>
                        </a:rPr>
                        <m:t>⋯</m:t>
                      </m:r>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102</m:t>
                          </m:r>
                        </m:sub>
                      </m:sSub>
                      <m:r>
                        <a:rPr lang="en-US" altLang="zh-CN" sz="1600" i="1" kern="100">
                          <a:latin typeface="Cambria Math" panose="02040503050406030204" pitchFamily="18" charset="0"/>
                          <a:cs typeface="Times New Roman" panose="02020603050405020304" pitchFamily="18" charset="0"/>
                        </a:rPr>
                        <m:t>)=</m:t>
                      </m:r>
                      <m:nary>
                        <m:naryPr>
                          <m:chr m:val="∑"/>
                          <m:ctrlPr>
                            <a:rPr lang="zh-CN" altLang="zh-CN" sz="1600" i="1" kern="100">
                              <a:latin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cs typeface="Times New Roman" panose="02020603050405020304" pitchFamily="18" charset="0"/>
                            </a:rPr>
                            <m:t>𝑖</m:t>
                          </m:r>
                          <m:r>
                            <a:rPr lang="en-US" altLang="zh-CN" sz="1600" i="1" kern="100">
                              <a:latin typeface="Cambria Math" panose="02040503050406030204" pitchFamily="18" charset="0"/>
                              <a:cs typeface="Times New Roman" panose="02020603050405020304" pitchFamily="18" charset="0"/>
                            </a:rPr>
                            <m:t>=1</m:t>
                          </m:r>
                        </m:sub>
                        <m:sup>
                          <m:r>
                            <a:rPr lang="en-US" altLang="zh-CN" sz="1600" i="1" kern="100">
                              <a:latin typeface="Cambria Math" panose="02040503050406030204" pitchFamily="18" charset="0"/>
                              <a:cs typeface="Times New Roman" panose="02020603050405020304" pitchFamily="18" charset="0"/>
                            </a:rPr>
                            <m:t>101</m:t>
                          </m:r>
                        </m:sup>
                        <m:e>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𝑑</m:t>
                              </m:r>
                            </m:e>
                            <m: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𝑖</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𝜋</m:t>
                                  </m:r>
                                </m:e>
                                <m:sub>
                                  <m:r>
                                    <a:rPr lang="en-US" altLang="zh-CN" sz="1600" i="1" kern="100">
                                      <a:latin typeface="Cambria Math" panose="02040503050406030204" pitchFamily="18" charset="0"/>
                                      <a:cs typeface="Times New Roman" panose="02020603050405020304" pitchFamily="18" charset="0"/>
                                    </a:rPr>
                                    <m:t>𝑖</m:t>
                                  </m:r>
                                  <m:r>
                                    <a:rPr lang="en-US" altLang="zh-CN" sz="1600" i="1" kern="100">
                                      <a:latin typeface="Cambria Math" panose="02040503050406030204" pitchFamily="18" charset="0"/>
                                      <a:cs typeface="Times New Roman" panose="02020603050405020304" pitchFamily="18" charset="0"/>
                                    </a:rPr>
                                    <m:t>+1</m:t>
                                  </m:r>
                                </m:sub>
                              </m:sSub>
                            </m:sub>
                          </m:sSub>
                        </m:e>
                      </m:nary>
                    </m:oMath>
                  </m:oMathPara>
                </a14:m>
                <a:endParaRPr lang="zh-CN" altLang="zh-CN" sz="1600" kern="100" dirty="0">
                  <a:latin typeface="+mn-ea"/>
                  <a:cs typeface="Times New Roman" panose="02020603050405020304" pitchFamily="18" charset="0"/>
                </a:endParaRPr>
              </a:p>
            </p:txBody>
          </p:sp>
        </mc:Choice>
        <mc:Fallback xmlns="">
          <p:sp>
            <p:nvSpPr>
              <p:cNvPr id="3" name="内容占位符 5">
                <a:extLst>
                  <a:ext uri="{FF2B5EF4-FFF2-40B4-BE49-F238E27FC236}">
                    <a16:creationId xmlns:a16="http://schemas.microsoft.com/office/drawing/2014/main" id="{7749FDAD-4C54-F869-B431-91301BF838C5}"/>
                  </a:ext>
                </a:extLst>
              </p:cNvPr>
              <p:cNvSpPr txBox="1">
                <a:spLocks noRot="1" noChangeAspect="1" noMove="1" noResize="1" noEditPoints="1" noAdjustHandles="1" noChangeArrowheads="1" noChangeShapeType="1" noTextEdit="1"/>
              </p:cNvSpPr>
              <p:nvPr/>
            </p:nvSpPr>
            <p:spPr>
              <a:xfrm>
                <a:off x="6185647" y="1814793"/>
                <a:ext cx="5181600" cy="4814888"/>
              </a:xfrm>
              <a:prstGeom prst="rect">
                <a:avLst/>
              </a:prstGeom>
              <a:blipFill>
                <a:blip r:embed="rId4"/>
                <a:stretch>
                  <a:fillRect l="-706" t="-886" r="-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894930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B96D93-A1FC-1ED9-6F57-31F933D16DCD}"/>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04C0C9AE-1883-58D7-4C64-F7DD17105652}"/>
              </a:ext>
            </a:extLst>
          </p:cNvPr>
          <p:cNvGrpSpPr/>
          <p:nvPr/>
        </p:nvGrpSpPr>
        <p:grpSpPr>
          <a:xfrm>
            <a:off x="1914538" y="1019128"/>
            <a:ext cx="7464387" cy="497934"/>
            <a:chOff x="4099943" y="2819853"/>
            <a:chExt cx="2570275" cy="497934"/>
          </a:xfrm>
        </p:grpSpPr>
        <p:sp>
          <p:nvSpPr>
            <p:cNvPr id="19" name="平行四边形 18">
              <a:extLst>
                <a:ext uri="{FF2B5EF4-FFF2-40B4-BE49-F238E27FC236}">
                  <a16:creationId xmlns:a16="http://schemas.microsoft.com/office/drawing/2014/main" id="{C009FA59-0BF7-33FD-73BD-023556ED101E}"/>
                </a:ext>
              </a:extLst>
            </p:cNvPr>
            <p:cNvSpPr/>
            <p:nvPr/>
          </p:nvSpPr>
          <p:spPr bwMode="auto">
            <a:xfrm>
              <a:off x="4099943" y="2849787"/>
              <a:ext cx="2547685" cy="468000"/>
            </a:xfrm>
            <a:prstGeom prst="parallelogram">
              <a:avLst/>
            </a:prstGeom>
            <a:solidFill>
              <a:schemeClr val="accent5">
                <a:lumMod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平行四边形 19">
              <a:extLst>
                <a:ext uri="{FF2B5EF4-FFF2-40B4-BE49-F238E27FC236}">
                  <a16:creationId xmlns:a16="http://schemas.microsoft.com/office/drawing/2014/main" id="{D3669360-2458-122F-4603-47BF9F4B69BD}"/>
                </a:ext>
              </a:extLst>
            </p:cNvPr>
            <p:cNvSpPr/>
            <p:nvPr/>
          </p:nvSpPr>
          <p:spPr bwMode="auto">
            <a:xfrm>
              <a:off x="4122533" y="2819853"/>
              <a:ext cx="2547685" cy="468000"/>
            </a:xfrm>
            <a:prstGeom prst="parallelogram">
              <a:avLst/>
            </a:prstGeom>
            <a:solidFill>
              <a:srgbClr val="FAFAFA"/>
            </a:solidFill>
            <a:ln w="19050">
              <a:solidFill>
                <a:schemeClr val="accent5">
                  <a:lumMod val="75000"/>
                </a:schemeClr>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1" name="矩形 20">
              <a:extLst>
                <a:ext uri="{FF2B5EF4-FFF2-40B4-BE49-F238E27FC236}">
                  <a16:creationId xmlns:a16="http://schemas.microsoft.com/office/drawing/2014/main" id="{6FC46391-BA3D-AA34-38A8-B5223D12CEF1}"/>
                </a:ext>
              </a:extLst>
            </p:cNvPr>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演化算法应用案例</a:t>
              </a:r>
            </a:p>
          </p:txBody>
        </p:sp>
      </p:grpSp>
      <mc:AlternateContent xmlns:mc="http://schemas.openxmlformats.org/markup-compatibility/2006" xmlns:a14="http://schemas.microsoft.com/office/drawing/2010/main">
        <mc:Choice Requires="a14">
          <p:sp>
            <p:nvSpPr>
              <p:cNvPr id="2" name="内容占位符 4">
                <a:extLst>
                  <a:ext uri="{FF2B5EF4-FFF2-40B4-BE49-F238E27FC236}">
                    <a16:creationId xmlns:a16="http://schemas.microsoft.com/office/drawing/2014/main" id="{DEC313F5-A107-52E8-2FC6-2A5EA3F2EC55}"/>
                  </a:ext>
                </a:extLst>
              </p:cNvPr>
              <p:cNvSpPr txBox="1">
                <a:spLocks/>
              </p:cNvSpPr>
              <p:nvPr/>
            </p:nvSpPr>
            <p:spPr>
              <a:xfrm>
                <a:off x="851647" y="1756522"/>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4</a:t>
                </a:r>
                <a:r>
                  <a:rPr lang="zh-CN" altLang="zh-CN" sz="1600" b="1" kern="100" dirty="0">
                    <a:solidFill>
                      <a:srgbClr val="FF0000"/>
                    </a:solidFill>
                    <a:latin typeface="+mn-ea"/>
                    <a:cs typeface="Times New Roman" panose="02020603050405020304" pitchFamily="18" charset="0"/>
                  </a:rPr>
                  <a:t>）交叉操作</a:t>
                </a:r>
                <a:endParaRPr lang="en-US" altLang="zh-CN" sz="1600" b="1"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交叉操作采用单点交叉。设计如下，对于选定的两个父代个体</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1</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2</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𝜔</m:t>
                        </m:r>
                      </m:e>
                      <m:sub>
                        <m:r>
                          <a:rPr lang="en-US" altLang="zh-CN" sz="1600" i="1" kern="100">
                            <a:latin typeface="Cambria Math" panose="02040503050406030204" pitchFamily="18" charset="0"/>
                            <a:cs typeface="Times New Roman" panose="02020603050405020304" pitchFamily="18" charset="0"/>
                          </a:rPr>
                          <m:t>102</m:t>
                        </m:r>
                      </m:sub>
                    </m:sSub>
                  </m:oMath>
                </a14:m>
                <a:r>
                  <a:rPr lang="zh-CN" altLang="zh-CN" sz="1600" kern="100" dirty="0">
                    <a:latin typeface="+mn-ea"/>
                    <a:cs typeface="Times New Roman" panose="02020603050405020304" pitchFamily="18" charset="0"/>
                  </a:rPr>
                  <a:t>，</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2</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sSup>
                          <m:sSupPr>
                            <m:ctrlPr>
                              <a:rPr lang="zh-CN" altLang="zh-CN" sz="1600" i="1" kern="100">
                                <a:latin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cs typeface="Times New Roman" panose="02020603050405020304" pitchFamily="18" charset="0"/>
                              </a:rPr>
                              <m:t>𝜔</m:t>
                            </m:r>
                          </m:e>
                          <m:sup>
                            <m:r>
                              <a:rPr lang="en-US" altLang="zh-CN" sz="1600" i="1" kern="100">
                                <a:latin typeface="Cambria Math" panose="02040503050406030204" pitchFamily="18" charset="0"/>
                                <a:cs typeface="Times New Roman" panose="02020603050405020304" pitchFamily="18" charset="0"/>
                              </a:rPr>
                              <m:t>′</m:t>
                            </m:r>
                          </m:sup>
                        </m:sSup>
                      </m:e>
                      <m:sub>
                        <m:r>
                          <a:rPr lang="en-US" altLang="zh-CN" sz="1600" i="1" kern="100">
                            <a:latin typeface="Cambria Math" panose="02040503050406030204" pitchFamily="18" charset="0"/>
                            <a:cs typeface="Times New Roman" panose="02020603050405020304" pitchFamily="18" charset="0"/>
                          </a:rPr>
                          <m:t>1</m:t>
                        </m:r>
                      </m:sub>
                    </m:sSub>
                    <m:sSub>
                      <m:sSubPr>
                        <m:ctrlPr>
                          <a:rPr lang="zh-CN" altLang="zh-CN" sz="1600" i="1" kern="100">
                            <a:latin typeface="Cambria Math" panose="02040503050406030204" pitchFamily="18" charset="0"/>
                            <a:cs typeface="Times New Roman" panose="02020603050405020304" pitchFamily="18" charset="0"/>
                          </a:rPr>
                        </m:ctrlPr>
                      </m:sSubPr>
                      <m:e>
                        <m:sSup>
                          <m:sSupPr>
                            <m:ctrlPr>
                              <a:rPr lang="zh-CN" altLang="zh-CN" sz="1600" i="1" kern="100">
                                <a:latin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cs typeface="Times New Roman" panose="02020603050405020304" pitchFamily="18" charset="0"/>
                              </a:rPr>
                              <m:t>𝜔</m:t>
                            </m:r>
                          </m:e>
                          <m:sup>
                            <m:r>
                              <a:rPr lang="en-US" altLang="zh-CN" sz="1600" i="1" kern="100">
                                <a:latin typeface="Cambria Math" panose="02040503050406030204" pitchFamily="18" charset="0"/>
                                <a:cs typeface="Times New Roman" panose="02020603050405020304" pitchFamily="18" charset="0"/>
                              </a:rPr>
                              <m:t>′</m:t>
                            </m:r>
                          </m:sup>
                        </m:sSup>
                      </m:e>
                      <m:sub>
                        <m:r>
                          <a:rPr lang="en-US" altLang="zh-CN" sz="1600" i="1" kern="100">
                            <a:latin typeface="Cambria Math" panose="02040503050406030204" pitchFamily="18" charset="0"/>
                            <a:cs typeface="Times New Roman" panose="02020603050405020304" pitchFamily="18" charset="0"/>
                          </a:rPr>
                          <m:t>2</m:t>
                        </m:r>
                      </m:sub>
                    </m:sSub>
                    <m:r>
                      <a:rPr lang="en-US" altLang="zh-CN" sz="1600" i="1" kern="100">
                        <a:latin typeface="Cambria Math" panose="02040503050406030204" pitchFamily="18" charset="0"/>
                        <a:cs typeface="Times New Roman" panose="02020603050405020304" pitchFamily="18" charset="0"/>
                      </a:rPr>
                      <m:t>…</m:t>
                    </m:r>
                    <m:sSub>
                      <m:sSubPr>
                        <m:ctrlPr>
                          <a:rPr lang="zh-CN" altLang="zh-CN" sz="1600" i="1" kern="100">
                            <a:latin typeface="Cambria Math" panose="02040503050406030204" pitchFamily="18" charset="0"/>
                            <a:cs typeface="Times New Roman" panose="02020603050405020304" pitchFamily="18" charset="0"/>
                          </a:rPr>
                        </m:ctrlPr>
                      </m:sSubPr>
                      <m:e>
                        <m:sSup>
                          <m:sSupPr>
                            <m:ctrlPr>
                              <a:rPr lang="zh-CN" altLang="zh-CN" sz="1600" i="1" kern="100">
                                <a:latin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cs typeface="Times New Roman" panose="02020603050405020304" pitchFamily="18" charset="0"/>
                              </a:rPr>
                              <m:t>𝜔</m:t>
                            </m:r>
                          </m:e>
                          <m:sup>
                            <m:r>
                              <a:rPr lang="en-US" altLang="zh-CN" sz="1600" i="1" kern="100">
                                <a:latin typeface="Cambria Math" panose="02040503050406030204" pitchFamily="18" charset="0"/>
                                <a:cs typeface="Times New Roman" panose="02020603050405020304" pitchFamily="18" charset="0"/>
                              </a:rPr>
                              <m:t>′</m:t>
                            </m:r>
                          </m:sup>
                        </m:sSup>
                      </m:e>
                      <m:sub>
                        <m:r>
                          <a:rPr lang="en-US" altLang="zh-CN" sz="1600" i="1" kern="100">
                            <a:latin typeface="Cambria Math" panose="02040503050406030204" pitchFamily="18" charset="0"/>
                            <a:cs typeface="Times New Roman" panose="02020603050405020304" pitchFamily="18" charset="0"/>
                          </a:rPr>
                          <m:t>102</m:t>
                        </m:r>
                      </m:sub>
                    </m:sSub>
                  </m:oMath>
                </a14:m>
                <a:r>
                  <a:rPr lang="zh-CN" altLang="zh-CN" sz="1600" kern="100" dirty="0">
                    <a:latin typeface="+mn-ea"/>
                    <a:cs typeface="Times New Roman" panose="02020603050405020304" pitchFamily="18" charset="0"/>
                  </a:rPr>
                  <a:t>，我们随机地选取第</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𝑡</m:t>
                    </m:r>
                  </m:oMath>
                </a14:m>
                <a:r>
                  <a:rPr lang="zh-CN" altLang="zh-CN" sz="1600" kern="100" dirty="0">
                    <a:latin typeface="+mn-ea"/>
                    <a:cs typeface="Times New Roman" panose="02020603050405020304" pitchFamily="18" charset="0"/>
                  </a:rPr>
                  <a:t>个基因处为交叉点，则经过交叉运算后得到的子代个体为</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𝑠</m:t>
                        </m:r>
                      </m:e>
                      <m:sub>
                        <m:r>
                          <a:rPr lang="en-US" altLang="zh-CN" sz="1600" i="1" kern="100">
                            <a:latin typeface="Cambria Math" panose="02040503050406030204" pitchFamily="18" charset="0"/>
                            <a:cs typeface="Times New Roman" panose="02020603050405020304" pitchFamily="18" charset="0"/>
                          </a:rPr>
                          <m:t>1</m:t>
                        </m:r>
                      </m:sub>
                    </m:sSub>
                  </m:oMath>
                </a14:m>
                <a:r>
                  <a:rPr lang="zh-CN" altLang="zh-CN" sz="1600" kern="100" dirty="0">
                    <a:latin typeface="+mn-ea"/>
                    <a:cs typeface="Times New Roman" panose="02020603050405020304" pitchFamily="18" charset="0"/>
                  </a:rPr>
                  <a:t>和</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𝑠</m:t>
                        </m:r>
                      </m:e>
                      <m:sub>
                        <m:r>
                          <a:rPr lang="en-US" altLang="zh-CN" sz="1600" i="1" kern="100">
                            <a:latin typeface="Cambria Math" panose="02040503050406030204" pitchFamily="18" charset="0"/>
                            <a:cs typeface="Times New Roman" panose="02020603050405020304" pitchFamily="18" charset="0"/>
                          </a:rPr>
                          <m:t>2</m:t>
                        </m:r>
                      </m:sub>
                    </m:sSub>
                  </m:oMath>
                </a14:m>
                <a:r>
                  <a:rPr lang="zh-CN" altLang="zh-CN" sz="1600" kern="100" dirty="0">
                    <a:latin typeface="+mn-ea"/>
                    <a:cs typeface="Times New Roman" panose="02020603050405020304" pitchFamily="18" charset="0"/>
                  </a:rPr>
                  <a:t>，</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𝑠</m:t>
                        </m:r>
                      </m:e>
                      <m:sub>
                        <m:r>
                          <a:rPr lang="en-US" altLang="zh-CN" sz="1600" i="1" kern="100">
                            <a:latin typeface="Cambria Math" panose="02040503050406030204" pitchFamily="18" charset="0"/>
                            <a:cs typeface="Times New Roman" panose="02020603050405020304" pitchFamily="18" charset="0"/>
                          </a:rPr>
                          <m:t>1</m:t>
                        </m:r>
                      </m:sub>
                    </m:sSub>
                  </m:oMath>
                </a14:m>
                <a:r>
                  <a:rPr lang="zh-CN" altLang="zh-CN" sz="1600" kern="100" dirty="0">
                    <a:latin typeface="+mn-ea"/>
                    <a:cs typeface="Times New Roman" panose="02020603050405020304" pitchFamily="18" charset="0"/>
                  </a:rPr>
                  <a:t>的基因由</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1</m:t>
                        </m:r>
                      </m:sub>
                    </m:sSub>
                  </m:oMath>
                </a14:m>
                <a:r>
                  <a:rPr lang="zh-CN" altLang="zh-CN" sz="1600" kern="100" dirty="0">
                    <a:latin typeface="+mn-ea"/>
                    <a:cs typeface="Times New Roman" panose="02020603050405020304" pitchFamily="18" charset="0"/>
                  </a:rPr>
                  <a:t>的前</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𝑡</m:t>
                    </m:r>
                  </m:oMath>
                </a14:m>
                <a:r>
                  <a:rPr lang="zh-CN" altLang="zh-CN" sz="1600" kern="100" dirty="0">
                    <a:latin typeface="+mn-ea"/>
                    <a:cs typeface="Times New Roman" panose="02020603050405020304" pitchFamily="18" charset="0"/>
                  </a:rPr>
                  <a:t>个基因和</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2</m:t>
                        </m:r>
                      </m:sub>
                    </m:sSub>
                  </m:oMath>
                </a14:m>
                <a:r>
                  <a:rPr lang="zh-CN" altLang="zh-CN" sz="1600" kern="100" dirty="0">
                    <a:latin typeface="+mn-ea"/>
                    <a:cs typeface="Times New Roman" panose="02020603050405020304" pitchFamily="18" charset="0"/>
                  </a:rPr>
                  <a:t>的后</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102−</m:t>
                    </m:r>
                    <m:r>
                      <a:rPr lang="en-US" altLang="zh-CN" sz="1600" i="1" kern="100">
                        <a:latin typeface="Cambria Math" panose="02040503050406030204" pitchFamily="18" charset="0"/>
                        <a:cs typeface="Times New Roman" panose="02020603050405020304" pitchFamily="18" charset="0"/>
                      </a:rPr>
                      <m:t>𝑡</m:t>
                    </m:r>
                  </m:oMath>
                </a14:m>
                <a:r>
                  <a:rPr lang="zh-CN" altLang="zh-CN" sz="1600" kern="100" dirty="0">
                    <a:latin typeface="+mn-ea"/>
                    <a:cs typeface="Times New Roman" panose="02020603050405020304" pitchFamily="18" charset="0"/>
                  </a:rPr>
                  <a:t>个基因构成，</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𝑠</m:t>
                        </m:r>
                      </m:e>
                      <m:sub>
                        <m:r>
                          <a:rPr lang="en-US" altLang="zh-CN" sz="1600" i="1" kern="100">
                            <a:latin typeface="Cambria Math" panose="02040503050406030204" pitchFamily="18" charset="0"/>
                            <a:cs typeface="Times New Roman" panose="02020603050405020304" pitchFamily="18" charset="0"/>
                          </a:rPr>
                          <m:t>2</m:t>
                        </m:r>
                      </m:sub>
                    </m:sSub>
                  </m:oMath>
                </a14:m>
                <a:r>
                  <a:rPr lang="zh-CN" altLang="zh-CN" sz="1600" kern="100" dirty="0">
                    <a:latin typeface="+mn-ea"/>
                    <a:cs typeface="Times New Roman" panose="02020603050405020304" pitchFamily="18" charset="0"/>
                  </a:rPr>
                  <a:t>的基因由</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2</m:t>
                        </m:r>
                      </m:sub>
                    </m:sSub>
                  </m:oMath>
                </a14:m>
                <a:r>
                  <a:rPr lang="zh-CN" altLang="zh-CN" sz="1600" kern="100" dirty="0">
                    <a:latin typeface="+mn-ea"/>
                    <a:cs typeface="Times New Roman" panose="02020603050405020304" pitchFamily="18" charset="0"/>
                  </a:rPr>
                  <a:t>的前</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𝑡</m:t>
                    </m:r>
                  </m:oMath>
                </a14:m>
                <a:r>
                  <a:rPr lang="zh-CN" altLang="zh-CN" sz="1600" kern="100" dirty="0">
                    <a:latin typeface="+mn-ea"/>
                    <a:cs typeface="Times New Roman" panose="02020603050405020304" pitchFamily="18" charset="0"/>
                  </a:rPr>
                  <a:t>个基因和</a:t>
                </a:r>
                <a14:m>
                  <m:oMath xmlns:m="http://schemas.openxmlformats.org/officeDocument/2006/math">
                    <m:sSub>
                      <m:sSubPr>
                        <m:ctrlPr>
                          <a:rPr lang="zh-CN" altLang="zh-CN" sz="1600" i="1" kern="100">
                            <a:latin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cs typeface="Times New Roman" panose="02020603050405020304" pitchFamily="18" charset="0"/>
                          </a:rPr>
                          <m:t>1</m:t>
                        </m:r>
                      </m:sub>
                    </m:sSub>
                  </m:oMath>
                </a14:m>
                <a:r>
                  <a:rPr lang="zh-CN" altLang="zh-CN" sz="1600" kern="100" dirty="0">
                    <a:latin typeface="+mn-ea"/>
                    <a:cs typeface="Times New Roman" panose="02020603050405020304" pitchFamily="18" charset="0"/>
                  </a:rPr>
                  <a:t>的后</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102−</m:t>
                    </m:r>
                    <m:r>
                      <a:rPr lang="en-US" altLang="zh-CN" sz="1600" i="1" kern="100">
                        <a:latin typeface="Cambria Math" panose="02040503050406030204" pitchFamily="18" charset="0"/>
                        <a:cs typeface="Times New Roman" panose="02020603050405020304" pitchFamily="18" charset="0"/>
                      </a:rPr>
                      <m:t>𝑡</m:t>
                    </m:r>
                  </m:oMath>
                </a14:m>
                <a:r>
                  <a:rPr lang="zh-CN" altLang="zh-CN" sz="1600" kern="100" dirty="0">
                    <a:latin typeface="+mn-ea"/>
                    <a:cs typeface="Times New Roman" panose="02020603050405020304" pitchFamily="18" charset="0"/>
                  </a:rPr>
                  <a:t>个基因构成，</a:t>
                </a:r>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例如</a:t>
                </a:r>
                <a:r>
                  <a:rPr lang="zh-CN" altLang="en-US" sz="1600" kern="100" dirty="0">
                    <a:latin typeface="+mn-ea"/>
                    <a:cs typeface="Times New Roman" panose="02020603050405020304" pitchFamily="18" charset="0"/>
                  </a:rPr>
                  <a:t>：</a:t>
                </a:r>
                <a:endParaRPr lang="zh-CN"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0.14,</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0.25,</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0.27, </m:t>
                          </m:r>
                        </m:e>
                        <m:e>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0.29,</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0.54,</m:t>
                          </m:r>
                          <m:r>
                            <a:rPr lang="zh-CN" altLang="zh-CN" sz="1600" kern="1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,0.19,</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 1</m:t>
                          </m:r>
                        </m:e>
                      </m:d>
                    </m:oMath>
                  </m:oMathPara>
                </a14:m>
                <a:endParaRPr lang="en-US" altLang="zh-CN" sz="1600" kern="100"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𝑓</m:t>
                          </m:r>
                        </m:e>
                        <m:sub>
                          <m: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0.23,</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0.44,</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0.56,</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0.74,</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0.21,</m:t>
                      </m:r>
                      <m:r>
                        <a:rPr lang="zh-CN" altLang="zh-CN" sz="1600" kern="1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,0.24,</m:t>
                      </m:r>
                      <m:r>
                        <a:rPr lang="en-US" altLang="zh-CN" sz="1600" kern="100">
                          <a:latin typeface="Cambria Math" panose="02040503050406030204" pitchFamily="18" charset="0"/>
                          <a:ea typeface="Cambria Math" panose="02040503050406030204" pitchFamily="18" charset="0"/>
                          <a:cs typeface="Times New Roman" panose="02020603050405020304" pitchFamily="18" charset="0"/>
                        </a:rPr>
                        <m:t> 1]</m:t>
                      </m:r>
                    </m:oMath>
                  </m:oMathPara>
                </a14:m>
                <a:endParaRPr lang="zh-CN" altLang="zh-CN" sz="1600" kern="100"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设交叉点为第四个基因处，则</a:t>
                </a:r>
              </a:p>
              <a:p>
                <a:pPr marL="0"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𝑠</m:t>
                          </m:r>
                        </m:e>
                        <m:sub>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1</m:t>
                          </m:r>
                        </m:sub>
                      </m:sSub>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m:t>
                      </m:r>
                      <m:d>
                        <m:dPr>
                          <m:begChr m:val="["/>
                          <m:endChr m:val="|"/>
                          <m:ctrlP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ctrlPr>
                        </m:dPr>
                        <m:e>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0.14,</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0.25,</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0.27,</m:t>
                          </m:r>
                          <m:r>
                            <m:rPr>
                              <m:nor/>
                            </m:rPr>
                            <a:rPr lang="en-US" altLang="zh-CN" sz="1600" kern="100" smtClean="0">
                              <a:latin typeface="Cambria Math" panose="02040503050406030204" pitchFamily="18" charset="0"/>
                              <a:ea typeface="华文中宋" panose="02010600040101010101" pitchFamily="2" charset="-122"/>
                              <a:cs typeface="Times New Roman" panose="02020603050405020304" pitchFamily="18" charset="0"/>
                            </a:rPr>
                            <m:t> </m:t>
                          </m:r>
                        </m:e>
                      </m:d>
                      <m:r>
                        <a:rPr lang="en-US" altLang="zh-CN" sz="1600" i="1" kern="100" smtClean="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0.74,</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0.21,</m:t>
                      </m:r>
                      <m:r>
                        <a:rPr lang="zh-CN" altLang="zh-CN" sz="1600" kern="100">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,0.24,</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1]</m:t>
                      </m:r>
                    </m:oMath>
                  </m:oMathPara>
                </a14:m>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lnSpc>
                    <a:spcPct val="10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𝑠</m:t>
                          </m:r>
                        </m:e>
                        <m:sub>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2</m:t>
                          </m:r>
                        </m:sub>
                      </m:sSub>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m:t>
                      </m:r>
                      <m:d>
                        <m:dPr>
                          <m:begChr m:val="["/>
                          <m:endChr m:val="|"/>
                          <m:ctrlP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ctrlPr>
                        </m:dPr>
                        <m:e>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0.23,</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0.44,</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0.56,</m:t>
                          </m:r>
                          <m:r>
                            <a:rPr lang="en-US" altLang="zh-CN" sz="1600" kern="100" smtClean="0">
                              <a:latin typeface="Cambria Math" panose="02040503050406030204" pitchFamily="18" charset="0"/>
                              <a:ea typeface="华文中宋" panose="02010600040101010101" pitchFamily="2" charset="-122"/>
                              <a:cs typeface="Times New Roman" panose="02020603050405020304" pitchFamily="18" charset="0"/>
                            </a:rPr>
                            <m:t>   </m:t>
                          </m:r>
                        </m:e>
                      </m:d>
                      <m:r>
                        <a:rPr lang="en-US" altLang="zh-CN" sz="1600" i="1" kern="100" smtClean="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0.29,</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0.54,</m:t>
                      </m:r>
                      <m:r>
                        <a:rPr lang="zh-CN" altLang="zh-CN" sz="1600" kern="100">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,0.19,</m:t>
                      </m:r>
                      <m:r>
                        <a:rPr lang="en-US" altLang="zh-CN" sz="1600" kern="100">
                          <a:latin typeface="Cambria Math" panose="02040503050406030204" pitchFamily="18" charset="0"/>
                          <a:ea typeface="华文中宋" panose="02010600040101010101" pitchFamily="2" charset="-122"/>
                          <a:cs typeface="Times New Roman" panose="02020603050405020304" pitchFamily="18" charset="0"/>
                        </a:rPr>
                        <m:t> </m:t>
                      </m:r>
                      <m:r>
                        <a:rPr lang="en-US" altLang="zh-CN" sz="1600" i="1" kern="100">
                          <a:latin typeface="Cambria Math" panose="02040503050406030204" pitchFamily="18" charset="0"/>
                          <a:ea typeface="华文中宋" panose="02010600040101010101" pitchFamily="2" charset="-122"/>
                          <a:cs typeface="Times New Roman" panose="02020603050405020304" pitchFamily="18" charset="0"/>
                        </a:rPr>
                        <m:t>1]</m:t>
                      </m:r>
                    </m:oMath>
                  </m:oMathPara>
                </a14:m>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交叉操作的方式有很多种选择，应该尽可能选取好的交叉方式，保证子代能继承父代的优良特性。同时这里的交叉操作也蕴含了变异操作</a:t>
                </a:r>
                <a:r>
                  <a:rPr lang="zh-CN" altLang="en-US" sz="1600" kern="100" dirty="0">
                    <a:latin typeface="+mn-ea"/>
                    <a:cs typeface="Times New Roman" panose="02020603050405020304" pitchFamily="18" charset="0"/>
                  </a:rPr>
                  <a:t>。</a:t>
                </a:r>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0" indent="0" algn="just">
                  <a:lnSpc>
                    <a:spcPct val="100000"/>
                  </a:lnSpc>
                  <a:buFont typeface="Arial" panose="020B0604020202020204" pitchFamily="34" charset="0"/>
                  <a:buNone/>
                </a:pPr>
                <a:endParaRPr lang="zh-CN" altLang="en-US" sz="1600" dirty="0"/>
              </a:p>
            </p:txBody>
          </p:sp>
        </mc:Choice>
        <mc:Fallback xmlns="">
          <p:sp>
            <p:nvSpPr>
              <p:cNvPr id="2" name="内容占位符 4">
                <a:extLst>
                  <a:ext uri="{FF2B5EF4-FFF2-40B4-BE49-F238E27FC236}">
                    <a16:creationId xmlns:a16="http://schemas.microsoft.com/office/drawing/2014/main" id="{DEC313F5-A107-52E8-2FC6-2A5EA3F2EC55}"/>
                  </a:ext>
                </a:extLst>
              </p:cNvPr>
              <p:cNvSpPr txBox="1">
                <a:spLocks noRot="1" noChangeAspect="1" noMove="1" noResize="1" noEditPoints="1" noAdjustHandles="1" noChangeArrowheads="1" noChangeShapeType="1" noTextEdit="1"/>
              </p:cNvSpPr>
              <p:nvPr/>
            </p:nvSpPr>
            <p:spPr>
              <a:xfrm>
                <a:off x="851647" y="1756522"/>
                <a:ext cx="5181600" cy="4814888"/>
              </a:xfrm>
              <a:prstGeom prst="rect">
                <a:avLst/>
              </a:prstGeom>
              <a:blipFill>
                <a:blip r:embed="rId3"/>
                <a:stretch>
                  <a:fillRect l="-706" t="-380" r="-5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5">
                <a:extLst>
                  <a:ext uri="{FF2B5EF4-FFF2-40B4-BE49-F238E27FC236}">
                    <a16:creationId xmlns:a16="http://schemas.microsoft.com/office/drawing/2014/main" id="{2CFD8A75-E71B-04B2-FB80-667D2B345EBE}"/>
                  </a:ext>
                </a:extLst>
              </p:cNvPr>
              <p:cNvSpPr txBox="1">
                <a:spLocks/>
              </p:cNvSpPr>
              <p:nvPr/>
            </p:nvSpPr>
            <p:spPr>
              <a:xfrm>
                <a:off x="6185647" y="1756522"/>
                <a:ext cx="5181600" cy="48148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5</a:t>
                </a:r>
                <a:r>
                  <a:rPr lang="zh-CN" altLang="zh-CN" sz="1600" b="1" kern="100" dirty="0">
                    <a:solidFill>
                      <a:srgbClr val="FF0000"/>
                    </a:solidFill>
                    <a:latin typeface="+mn-ea"/>
                    <a:cs typeface="Times New Roman" panose="02020603050405020304" pitchFamily="18" charset="0"/>
                  </a:rPr>
                  <a:t>）变异操作</a:t>
                </a:r>
                <a:endParaRPr lang="en-US" altLang="zh-CN" sz="1100" b="1"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变异也是实现群体多样性的一种手段，同时也是全局寻优的保证。具体设计如下，按照给定的变异率，对选定变异的个体，随机地取三个整数，满足</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1&lt;</m:t>
                    </m:r>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&lt;</m:t>
                    </m:r>
                    <m:r>
                      <a:rPr lang="en-US" altLang="zh-CN" sz="1600" i="1" kern="100">
                        <a:latin typeface="Cambria Math" panose="02040503050406030204" pitchFamily="18" charset="0"/>
                        <a:cs typeface="Times New Roman" panose="02020603050405020304" pitchFamily="18" charset="0"/>
                      </a:rPr>
                      <m:t>𝑣</m:t>
                    </m:r>
                    <m:r>
                      <a:rPr lang="en-US" altLang="zh-CN" sz="1600" i="1" kern="100">
                        <a:latin typeface="Cambria Math" panose="02040503050406030204" pitchFamily="18" charset="0"/>
                        <a:cs typeface="Times New Roman" panose="02020603050405020304" pitchFamily="18" charset="0"/>
                      </a:rPr>
                      <m:t>&lt;</m:t>
                    </m:r>
                    <m:r>
                      <a:rPr lang="en-US" altLang="zh-CN" sz="1600" i="1" kern="100">
                        <a:latin typeface="Cambria Math" panose="02040503050406030204" pitchFamily="18" charset="0"/>
                        <a:cs typeface="Times New Roman" panose="02020603050405020304" pitchFamily="18" charset="0"/>
                      </a:rPr>
                      <m:t>𝑤</m:t>
                    </m:r>
                    <m:r>
                      <a:rPr lang="en-US" altLang="zh-CN" sz="1600" i="1" kern="100">
                        <a:latin typeface="Cambria Math" panose="02040503050406030204" pitchFamily="18" charset="0"/>
                        <a:cs typeface="Times New Roman" panose="02020603050405020304" pitchFamily="18" charset="0"/>
                      </a:rPr>
                      <m:t>&lt;102</m:t>
                    </m:r>
                  </m:oMath>
                </a14:m>
                <a:r>
                  <a:rPr lang="zh-CN" altLang="zh-CN" sz="1600" kern="100" dirty="0">
                    <a:latin typeface="+mn-ea"/>
                    <a:cs typeface="Times New Roman" panose="02020603050405020304" pitchFamily="18" charset="0"/>
                  </a:rPr>
                  <a:t>，把</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𝑢</m:t>
                    </m:r>
                    <m:r>
                      <a:rPr lang="en-US" altLang="zh-CN" sz="1600" i="1" kern="100">
                        <a:latin typeface="Cambria Math" panose="02040503050406030204" pitchFamily="18" charset="0"/>
                        <a:cs typeface="Times New Roman" panose="02020603050405020304" pitchFamily="18" charset="0"/>
                      </a:rPr>
                      <m:t>,</m:t>
                    </m:r>
                    <m:r>
                      <a:rPr lang="en-US" altLang="zh-CN" sz="1600" i="1" kern="100">
                        <a:latin typeface="Cambria Math" panose="02040503050406030204" pitchFamily="18" charset="0"/>
                        <a:cs typeface="Times New Roman" panose="02020603050405020304" pitchFamily="18" charset="0"/>
                      </a:rPr>
                      <m:t>𝑣</m:t>
                    </m:r>
                  </m:oMath>
                </a14:m>
                <a:r>
                  <a:rPr lang="zh-CN" altLang="zh-CN" sz="1600" kern="100" dirty="0">
                    <a:latin typeface="+mn-ea"/>
                    <a:cs typeface="Times New Roman" panose="02020603050405020304" pitchFamily="18" charset="0"/>
                  </a:rPr>
                  <a:t>之间（包括</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𝑢</m:t>
                    </m:r>
                  </m:oMath>
                </a14:m>
                <a:r>
                  <a:rPr lang="zh-CN" altLang="zh-CN" sz="1600" kern="100" dirty="0">
                    <a:latin typeface="+mn-ea"/>
                    <a:cs typeface="Times New Roman" panose="02020603050405020304" pitchFamily="18" charset="0"/>
                  </a:rPr>
                  <a:t>和</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𝑣</m:t>
                    </m:r>
                  </m:oMath>
                </a14:m>
                <a:r>
                  <a:rPr lang="zh-CN" altLang="zh-CN" sz="1600" kern="100" dirty="0">
                    <a:latin typeface="+mn-ea"/>
                    <a:cs typeface="Times New Roman" panose="02020603050405020304" pitchFamily="18" charset="0"/>
                  </a:rPr>
                  <a:t>）的基因段插到</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𝑤</m:t>
                    </m:r>
                  </m:oMath>
                </a14:m>
                <a:r>
                  <a:rPr lang="zh-CN" altLang="zh-CN" sz="1600" kern="100" dirty="0">
                    <a:latin typeface="+mn-ea"/>
                    <a:cs typeface="Times New Roman" panose="02020603050405020304" pitchFamily="18" charset="0"/>
                  </a:rPr>
                  <a:t>后面。</a:t>
                </a:r>
                <a:endParaRPr lang="en-US" altLang="zh-CN" sz="16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endParaRPr lang="en-US" altLang="zh-CN" sz="1100"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b="1" kern="100" dirty="0">
                    <a:solidFill>
                      <a:srgbClr val="FF0000"/>
                    </a:solidFill>
                    <a:latin typeface="+mn-ea"/>
                    <a:cs typeface="Times New Roman" panose="02020603050405020304" pitchFamily="18" charset="0"/>
                  </a:rPr>
                  <a:t>（</a:t>
                </a:r>
                <a:r>
                  <a:rPr lang="en-US" altLang="zh-CN" sz="1600" b="1" kern="100" dirty="0">
                    <a:solidFill>
                      <a:srgbClr val="FF0000"/>
                    </a:solidFill>
                    <a:latin typeface="+mn-ea"/>
                    <a:cs typeface="Times New Roman" panose="02020603050405020304" pitchFamily="18" charset="0"/>
                  </a:rPr>
                  <a:t>6</a:t>
                </a:r>
                <a:r>
                  <a:rPr lang="zh-CN" altLang="zh-CN" sz="1600" b="1" kern="100" dirty="0">
                    <a:solidFill>
                      <a:srgbClr val="FF0000"/>
                    </a:solidFill>
                    <a:latin typeface="+mn-ea"/>
                    <a:cs typeface="Times New Roman" panose="02020603050405020304" pitchFamily="18" charset="0"/>
                  </a:rPr>
                  <a:t>）选择</a:t>
                </a:r>
                <a:endParaRPr lang="en-US" altLang="zh-CN" sz="1100" b="1" kern="100" dirty="0">
                  <a:latin typeface="+mn-ea"/>
                  <a:cs typeface="Times New Roman" panose="02020603050405020304" pitchFamily="18" charset="0"/>
                </a:endParaRPr>
              </a:p>
              <a:p>
                <a:pPr marL="0" indent="0" algn="just">
                  <a:lnSpc>
                    <a:spcPct val="100000"/>
                  </a:lnSpc>
                  <a:buFont typeface="Arial" panose="020B0604020202020204" pitchFamily="34" charset="0"/>
                  <a:buNone/>
                </a:pPr>
                <a:r>
                  <a:rPr lang="zh-CN" altLang="zh-CN" sz="1600" kern="100" dirty="0">
                    <a:latin typeface="+mn-ea"/>
                    <a:cs typeface="Times New Roman" panose="02020603050405020304" pitchFamily="18" charset="0"/>
                  </a:rPr>
                  <a:t>采用确定性的选择策略，也就是说在父代种群和子代种群中选择目标函数值最小的</a:t>
                </a:r>
                <a14:m>
                  <m:oMath xmlns:m="http://schemas.openxmlformats.org/officeDocument/2006/math">
                    <m:r>
                      <a:rPr lang="en-US" altLang="zh-CN" sz="1600" i="1" kern="100">
                        <a:latin typeface="Cambria Math" panose="02040503050406030204" pitchFamily="18" charset="0"/>
                        <a:cs typeface="Times New Roman" panose="02020603050405020304" pitchFamily="18" charset="0"/>
                      </a:rPr>
                      <m:t>𝑀</m:t>
                    </m:r>
                  </m:oMath>
                </a14:m>
                <a:r>
                  <a:rPr lang="zh-CN" altLang="zh-CN" sz="1600" kern="100" dirty="0">
                    <a:latin typeface="+mn-ea"/>
                    <a:cs typeface="Times New Roman" panose="02020603050405020304" pitchFamily="18" charset="0"/>
                  </a:rPr>
                  <a:t>个个体进化到下一代，这样可以保证父代的优良特性被保存下来。</a:t>
                </a:r>
              </a:p>
            </p:txBody>
          </p:sp>
        </mc:Choice>
        <mc:Fallback xmlns="">
          <p:sp>
            <p:nvSpPr>
              <p:cNvPr id="3" name="内容占位符 5">
                <a:extLst>
                  <a:ext uri="{FF2B5EF4-FFF2-40B4-BE49-F238E27FC236}">
                    <a16:creationId xmlns:a16="http://schemas.microsoft.com/office/drawing/2014/main" id="{2CFD8A75-E71B-04B2-FB80-667D2B345EBE}"/>
                  </a:ext>
                </a:extLst>
              </p:cNvPr>
              <p:cNvSpPr txBox="1">
                <a:spLocks noRot="1" noChangeAspect="1" noMove="1" noResize="1" noEditPoints="1" noAdjustHandles="1" noChangeArrowheads="1" noChangeShapeType="1" noTextEdit="1"/>
              </p:cNvSpPr>
              <p:nvPr/>
            </p:nvSpPr>
            <p:spPr>
              <a:xfrm>
                <a:off x="6185647" y="1756522"/>
                <a:ext cx="5181600" cy="4814888"/>
              </a:xfrm>
              <a:prstGeom prst="rect">
                <a:avLst/>
              </a:prstGeom>
              <a:blipFill>
                <a:blip r:embed="rId4"/>
                <a:stretch>
                  <a:fillRect l="-706" t="-380" r="-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11630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E0F3B59-2894-CEB3-2F9A-0A9C006C8EA7}"/>
              </a:ext>
            </a:extLst>
          </p:cNvPr>
          <p:cNvSpPr txBox="1"/>
          <p:nvPr/>
        </p:nvSpPr>
        <p:spPr>
          <a:xfrm>
            <a:off x="-425823" y="205261"/>
            <a:ext cx="4083424" cy="369332"/>
          </a:xfrm>
          <a:prstGeom prst="rect">
            <a:avLst/>
          </a:prstGeom>
          <a:noFill/>
        </p:spPr>
        <p:txBody>
          <a:bodyPr wrap="square" rtlCol="0">
            <a:spAutoFit/>
          </a:bodyPr>
          <a:lstStyle/>
          <a:p>
            <a:r>
              <a:rPr lang="en-US" altLang="zh-CN" dirty="0"/>
              <a:t>	</a:t>
            </a:r>
            <a:r>
              <a:rPr lang="en-US" altLang="zh-CN" b="1" dirty="0">
                <a:latin typeface="微软雅黑" panose="020B0503020204020204" pitchFamily="34" charset="-122"/>
                <a:ea typeface="微软雅黑" panose="020B0503020204020204" pitchFamily="34" charset="-122"/>
              </a:rPr>
              <a:t>Python</a:t>
            </a:r>
            <a:r>
              <a:rPr lang="zh-CN" altLang="en-US" b="1" dirty="0">
                <a:latin typeface="微软雅黑" panose="020B0503020204020204" pitchFamily="34" charset="-122"/>
                <a:ea typeface="微软雅黑" panose="020B0503020204020204" pitchFamily="34" charset="-122"/>
              </a:rPr>
              <a:t>伪代码</a:t>
            </a:r>
          </a:p>
        </p:txBody>
      </p:sp>
      <p:sp>
        <p:nvSpPr>
          <p:cNvPr id="4" name="文本框 3">
            <a:extLst>
              <a:ext uri="{FF2B5EF4-FFF2-40B4-BE49-F238E27FC236}">
                <a16:creationId xmlns:a16="http://schemas.microsoft.com/office/drawing/2014/main" id="{7D614957-B8AB-7341-5C74-0DEB18DF009E}"/>
              </a:ext>
            </a:extLst>
          </p:cNvPr>
          <p:cNvSpPr txBox="1"/>
          <p:nvPr/>
        </p:nvSpPr>
        <p:spPr>
          <a:xfrm>
            <a:off x="295837" y="1152448"/>
            <a:ext cx="6261846" cy="5016758"/>
          </a:xfrm>
          <a:prstGeom prst="rect">
            <a:avLst/>
          </a:prstGeom>
          <a:noFill/>
        </p:spPr>
        <p:txBody>
          <a:bodyPr wrap="square" rtlCol="0">
            <a:spAutoFit/>
          </a:bodyPr>
          <a:lstStyle/>
          <a:p>
            <a:r>
              <a:rPr lang="en-US" altLang="zh-CN" sz="1000" dirty="0"/>
              <a:t>Generation = 0</a:t>
            </a:r>
          </a:p>
          <a:p>
            <a:r>
              <a:rPr lang="en-US" altLang="zh-CN" sz="1000" dirty="0"/>
              <a:t># </a:t>
            </a:r>
            <a:r>
              <a:rPr lang="zh-CN" altLang="en-US" sz="1000" dirty="0"/>
              <a:t>步骤</a:t>
            </a:r>
            <a:r>
              <a:rPr lang="en-US" altLang="zh-CN" sz="1000" dirty="0"/>
              <a:t>1</a:t>
            </a:r>
            <a:r>
              <a:rPr lang="zh-CN" altLang="en-US" sz="1000" dirty="0"/>
              <a:t>：初始化具有若干规模数目的群体。当前进化代数</a:t>
            </a:r>
            <a:r>
              <a:rPr lang="en-US" altLang="zh-CN" sz="1000" dirty="0"/>
              <a:t>Generation=0</a:t>
            </a:r>
          </a:p>
          <a:p>
            <a:r>
              <a:rPr lang="en-US" altLang="zh-CN" sz="1000" dirty="0"/>
              <a:t>population = </a:t>
            </a:r>
            <a:r>
              <a:rPr lang="en-US" altLang="zh-CN" sz="1000" dirty="0" err="1"/>
              <a:t>initialize_population</a:t>
            </a:r>
            <a:r>
              <a:rPr lang="en-US" altLang="zh-CN" sz="1000" dirty="0"/>
              <a:t>(</a:t>
            </a:r>
            <a:r>
              <a:rPr lang="en-US" altLang="zh-CN" sz="1000" dirty="0" err="1"/>
              <a:t>population_size</a:t>
            </a:r>
            <a:r>
              <a:rPr lang="en-US" altLang="zh-CN" sz="1000" dirty="0"/>
              <a:t>, </a:t>
            </a:r>
            <a:r>
              <a:rPr lang="en-US" altLang="zh-CN" sz="1000" dirty="0" err="1"/>
              <a:t>chromosome_length</a:t>
            </a:r>
            <a:r>
              <a:rPr lang="en-US" altLang="zh-CN" sz="1000" dirty="0"/>
              <a:t>)</a:t>
            </a:r>
          </a:p>
          <a:p>
            <a:r>
              <a:rPr lang="en-US" altLang="zh-CN" sz="1000" dirty="0"/>
              <a:t>Best = None  # </a:t>
            </a:r>
            <a:r>
              <a:rPr lang="zh-CN" altLang="en-US" sz="1000" dirty="0"/>
              <a:t>保存适应值最大的染色体</a:t>
            </a:r>
          </a:p>
          <a:p>
            <a:endParaRPr lang="zh-CN" altLang="en-US" sz="1000" dirty="0"/>
          </a:p>
          <a:p>
            <a:r>
              <a:rPr lang="en-US" altLang="zh-CN" sz="1000" dirty="0"/>
              <a:t># </a:t>
            </a:r>
            <a:r>
              <a:rPr lang="zh-CN" altLang="en-US" sz="1000" dirty="0"/>
              <a:t>步骤</a:t>
            </a:r>
            <a:r>
              <a:rPr lang="en-US" altLang="zh-CN" sz="1000" dirty="0"/>
              <a:t>2</a:t>
            </a:r>
            <a:r>
              <a:rPr lang="zh-CN" altLang="en-US" sz="1000" dirty="0"/>
              <a:t>：采用评估函数计算群体中每个染色体的适应值，保存适应值最大的染色体</a:t>
            </a:r>
            <a:r>
              <a:rPr lang="en-US" altLang="zh-CN" sz="1000" dirty="0"/>
              <a:t>Best</a:t>
            </a:r>
            <a:r>
              <a:rPr lang="zh-CN" altLang="en-US" sz="1000" dirty="0"/>
              <a:t>。</a:t>
            </a:r>
            <a:endParaRPr lang="en-US" altLang="zh-CN" sz="1000" dirty="0"/>
          </a:p>
          <a:p>
            <a:r>
              <a:rPr lang="en-US" altLang="zh-CN" sz="1000" dirty="0" err="1"/>
              <a:t>fitness_scores</a:t>
            </a:r>
            <a:r>
              <a:rPr lang="en-US" altLang="zh-CN" sz="1000" dirty="0"/>
              <a:t> = </a:t>
            </a:r>
            <a:r>
              <a:rPr lang="en-US" altLang="zh-CN" sz="1000" dirty="0" err="1"/>
              <a:t>evaluate_population</a:t>
            </a:r>
            <a:r>
              <a:rPr lang="en-US" altLang="zh-CN" sz="1000" dirty="0"/>
              <a:t>(population)</a:t>
            </a:r>
          </a:p>
          <a:p>
            <a:r>
              <a:rPr lang="en-US" altLang="zh-CN" sz="1000" dirty="0"/>
              <a:t>Best = population[</a:t>
            </a:r>
            <a:r>
              <a:rPr lang="en-US" altLang="zh-CN" sz="1000" dirty="0" err="1"/>
              <a:t>np.argmax</a:t>
            </a:r>
            <a:r>
              <a:rPr lang="en-US" altLang="zh-CN" sz="1000" dirty="0"/>
              <a:t>(</a:t>
            </a:r>
            <a:r>
              <a:rPr lang="en-US" altLang="zh-CN" sz="1000" dirty="0" err="1"/>
              <a:t>fitness_scores</a:t>
            </a:r>
            <a:r>
              <a:rPr lang="en-US" altLang="zh-CN" sz="1000" dirty="0"/>
              <a:t>)]  # </a:t>
            </a:r>
            <a:r>
              <a:rPr lang="zh-CN" altLang="en-US" sz="1000" dirty="0"/>
              <a:t>保存适应值最大的染色体</a:t>
            </a:r>
          </a:p>
          <a:p>
            <a:endParaRPr lang="zh-CN" altLang="en-US" sz="1000" dirty="0"/>
          </a:p>
          <a:p>
            <a:r>
              <a:rPr lang="en-US" altLang="zh-CN" sz="1000" dirty="0"/>
              <a:t>while Generation &lt; </a:t>
            </a:r>
            <a:r>
              <a:rPr lang="en-US" altLang="zh-CN" sz="1000" dirty="0" err="1"/>
              <a:t>max_generations</a:t>
            </a:r>
            <a:r>
              <a:rPr lang="en-US" altLang="zh-CN" sz="1000" dirty="0"/>
              <a:t> and not </a:t>
            </a:r>
            <a:r>
              <a:rPr lang="en-US" altLang="zh-CN" sz="1000" dirty="0" err="1"/>
              <a:t>convergence_criteria</a:t>
            </a:r>
            <a:r>
              <a:rPr lang="en-US" altLang="zh-CN" sz="1000" dirty="0"/>
              <a:t>(Best):</a:t>
            </a:r>
          </a:p>
          <a:p>
            <a:r>
              <a:rPr lang="en-US" altLang="zh-CN" sz="1000" dirty="0"/>
              <a:t>    </a:t>
            </a:r>
          </a:p>
          <a:p>
            <a:r>
              <a:rPr lang="en-US" altLang="zh-CN" sz="1000" dirty="0"/>
              <a:t>    # </a:t>
            </a:r>
            <a:r>
              <a:rPr lang="zh-CN" altLang="en-US" sz="1000" dirty="0"/>
              <a:t>步骤</a:t>
            </a:r>
            <a:r>
              <a:rPr lang="en-US" altLang="zh-CN" sz="1000" dirty="0"/>
              <a:t>3</a:t>
            </a:r>
            <a:r>
              <a:rPr lang="zh-CN" altLang="en-US" sz="1000" dirty="0"/>
              <a:t>：采用轮盘赌选择算法对群体中染色体进行选择，产生同样规模的种群。</a:t>
            </a:r>
          </a:p>
          <a:p>
            <a:r>
              <a:rPr lang="zh-CN" altLang="en-US" sz="1000" dirty="0"/>
              <a:t>    </a:t>
            </a:r>
            <a:r>
              <a:rPr lang="en-US" altLang="zh-CN" sz="1000" dirty="0"/>
              <a:t>def </a:t>
            </a:r>
            <a:r>
              <a:rPr lang="en-US" altLang="zh-CN" sz="1000" dirty="0" err="1"/>
              <a:t>roulette_wheel_selection</a:t>
            </a:r>
            <a:r>
              <a:rPr lang="en-US" altLang="zh-CN" sz="1000" dirty="0"/>
              <a:t>(population, </a:t>
            </a:r>
            <a:r>
              <a:rPr lang="en-US" altLang="zh-CN" sz="1000" dirty="0" err="1"/>
              <a:t>fitness_scores</a:t>
            </a:r>
            <a:r>
              <a:rPr lang="en-US" altLang="zh-CN" sz="1000" dirty="0"/>
              <a:t>):</a:t>
            </a:r>
          </a:p>
          <a:p>
            <a:r>
              <a:rPr lang="en-US" altLang="zh-CN" sz="1000" dirty="0"/>
              <a:t>        </a:t>
            </a:r>
            <a:r>
              <a:rPr lang="en-US" altLang="zh-CN" sz="1000" dirty="0" err="1"/>
              <a:t>total_fitness</a:t>
            </a:r>
            <a:r>
              <a:rPr lang="en-US" altLang="zh-CN" sz="1000" dirty="0"/>
              <a:t> = sum(</a:t>
            </a:r>
            <a:r>
              <a:rPr lang="en-US" altLang="zh-CN" sz="1000" dirty="0" err="1"/>
              <a:t>fitness_scores</a:t>
            </a:r>
            <a:r>
              <a:rPr lang="en-US" altLang="zh-CN" sz="1000" dirty="0"/>
              <a:t>)</a:t>
            </a:r>
          </a:p>
          <a:p>
            <a:r>
              <a:rPr lang="en-US" altLang="zh-CN" sz="1000" dirty="0"/>
              <a:t>        probabilities = [fitness / </a:t>
            </a:r>
            <a:r>
              <a:rPr lang="en-US" altLang="zh-CN" sz="1000" dirty="0" err="1"/>
              <a:t>total_fitness</a:t>
            </a:r>
            <a:r>
              <a:rPr lang="en-US" altLang="zh-CN" sz="1000" dirty="0"/>
              <a:t> for fitness in </a:t>
            </a:r>
            <a:r>
              <a:rPr lang="en-US" altLang="zh-CN" sz="1000" dirty="0" err="1"/>
              <a:t>fitness_scores</a:t>
            </a:r>
            <a:r>
              <a:rPr lang="en-US" altLang="zh-CN" sz="1000" dirty="0"/>
              <a:t>]</a:t>
            </a:r>
          </a:p>
          <a:p>
            <a:r>
              <a:rPr lang="en-US" altLang="zh-CN" sz="1000" dirty="0"/>
              <a:t>        </a:t>
            </a:r>
            <a:r>
              <a:rPr lang="en-US" altLang="zh-CN" sz="1000" dirty="0" err="1"/>
              <a:t>selected_indices</a:t>
            </a:r>
            <a:r>
              <a:rPr lang="en-US" altLang="zh-CN" sz="1000" dirty="0"/>
              <a:t> = </a:t>
            </a:r>
            <a:r>
              <a:rPr lang="en-US" altLang="zh-CN" sz="1000" dirty="0" err="1"/>
              <a:t>np.random.choice</a:t>
            </a:r>
            <a:r>
              <a:rPr lang="en-US" altLang="zh-CN" sz="1000" dirty="0"/>
              <a:t>(</a:t>
            </a:r>
            <a:r>
              <a:rPr lang="en-US" altLang="zh-CN" sz="1000" dirty="0" err="1"/>
              <a:t>len</a:t>
            </a:r>
            <a:r>
              <a:rPr lang="en-US" altLang="zh-CN" sz="1000" dirty="0"/>
              <a:t>(population), size=</a:t>
            </a:r>
            <a:r>
              <a:rPr lang="en-US" altLang="zh-CN" sz="1000" dirty="0" err="1"/>
              <a:t>len</a:t>
            </a:r>
            <a:r>
              <a:rPr lang="en-US" altLang="zh-CN" sz="1000" dirty="0"/>
              <a:t>(population), p=probabilities)</a:t>
            </a:r>
          </a:p>
          <a:p>
            <a:r>
              <a:rPr lang="en-US" altLang="zh-CN" sz="1000" dirty="0"/>
              <a:t>        </a:t>
            </a:r>
            <a:r>
              <a:rPr lang="en-US" altLang="zh-CN" sz="1000" dirty="0" err="1"/>
              <a:t>selected_population</a:t>
            </a:r>
            <a:r>
              <a:rPr lang="en-US" altLang="zh-CN" sz="1000" dirty="0"/>
              <a:t> = [population[</a:t>
            </a:r>
            <a:r>
              <a:rPr lang="en-US" altLang="zh-CN" sz="1000" dirty="0" err="1"/>
              <a:t>i</a:t>
            </a:r>
            <a:r>
              <a:rPr lang="en-US" altLang="zh-CN" sz="1000" dirty="0"/>
              <a:t>] for </a:t>
            </a:r>
            <a:r>
              <a:rPr lang="en-US" altLang="zh-CN" sz="1000" dirty="0" err="1"/>
              <a:t>i</a:t>
            </a:r>
            <a:r>
              <a:rPr lang="en-US" altLang="zh-CN" sz="1000" dirty="0"/>
              <a:t> in </a:t>
            </a:r>
            <a:r>
              <a:rPr lang="en-US" altLang="zh-CN" sz="1000" dirty="0" err="1"/>
              <a:t>selected_indices</a:t>
            </a:r>
            <a:r>
              <a:rPr lang="en-US" altLang="zh-CN" sz="1000" dirty="0"/>
              <a:t>]</a:t>
            </a:r>
          </a:p>
          <a:p>
            <a:r>
              <a:rPr lang="en-US" altLang="zh-CN" sz="1000" dirty="0"/>
              <a:t>        return </a:t>
            </a:r>
            <a:r>
              <a:rPr lang="en-US" altLang="zh-CN" sz="1000" dirty="0" err="1"/>
              <a:t>selected_population</a:t>
            </a:r>
            <a:endParaRPr lang="en-US" altLang="zh-CN" sz="1000" dirty="0"/>
          </a:p>
          <a:p>
            <a:endParaRPr lang="en-US" altLang="zh-CN" sz="1000" dirty="0"/>
          </a:p>
          <a:p>
            <a:r>
              <a:rPr lang="en-US" altLang="zh-CN" sz="1000" dirty="0"/>
              <a:t>    </a:t>
            </a:r>
            <a:r>
              <a:rPr lang="en-US" altLang="zh-CN" sz="1000" dirty="0" err="1"/>
              <a:t>selected_population</a:t>
            </a:r>
            <a:r>
              <a:rPr lang="en-US" altLang="zh-CN" sz="1000" dirty="0"/>
              <a:t> = </a:t>
            </a:r>
            <a:r>
              <a:rPr lang="en-US" altLang="zh-CN" sz="1000" dirty="0" err="1"/>
              <a:t>roulette_wheel_selection</a:t>
            </a:r>
            <a:r>
              <a:rPr lang="en-US" altLang="zh-CN" sz="1000" dirty="0"/>
              <a:t>(population, </a:t>
            </a:r>
            <a:r>
              <a:rPr lang="en-US" altLang="zh-CN" sz="1000" dirty="0" err="1"/>
              <a:t>fitness_scores</a:t>
            </a:r>
            <a:r>
              <a:rPr lang="en-US" altLang="zh-CN" sz="1000" dirty="0"/>
              <a:t>)</a:t>
            </a:r>
          </a:p>
          <a:p>
            <a:endParaRPr lang="en-US" altLang="zh-CN" sz="1000" dirty="0"/>
          </a:p>
          <a:p>
            <a:endParaRPr lang="en-US" altLang="zh-CN" sz="1000" dirty="0"/>
          </a:p>
          <a:p>
            <a:r>
              <a:rPr lang="en-US" altLang="zh-CN" sz="1000" dirty="0"/>
              <a:t>     # </a:t>
            </a:r>
            <a:r>
              <a:rPr lang="zh-CN" altLang="en-US" sz="1000" dirty="0"/>
              <a:t>步骤</a:t>
            </a:r>
            <a:r>
              <a:rPr lang="en-US" altLang="zh-CN" sz="1000" dirty="0"/>
              <a:t>4</a:t>
            </a:r>
            <a:r>
              <a:rPr lang="zh-CN" altLang="en-US" sz="1000" dirty="0"/>
              <a:t>：按照概率从种群中选择两对染色体进行交叉操作，定义交叉操作函数</a:t>
            </a:r>
          </a:p>
          <a:p>
            <a:r>
              <a:rPr lang="zh-CN" altLang="en-US" sz="1000" dirty="0"/>
              <a:t>    </a:t>
            </a:r>
            <a:r>
              <a:rPr lang="en-US" altLang="zh-CN" sz="1000" dirty="0"/>
              <a:t>def crossover(parent1, parent2, </a:t>
            </a:r>
            <a:r>
              <a:rPr lang="en-US" altLang="zh-CN" sz="1000" dirty="0" err="1"/>
              <a:t>crossover_rate</a:t>
            </a:r>
            <a:r>
              <a:rPr lang="en-US" altLang="zh-CN" sz="1000" dirty="0"/>
              <a:t>):</a:t>
            </a:r>
          </a:p>
          <a:p>
            <a:r>
              <a:rPr lang="en-US" altLang="zh-CN" sz="1000" dirty="0"/>
              <a:t>        if </a:t>
            </a:r>
            <a:r>
              <a:rPr lang="en-US" altLang="zh-CN" sz="1000" dirty="0" err="1"/>
              <a:t>random.random</a:t>
            </a:r>
            <a:r>
              <a:rPr lang="en-US" altLang="zh-CN" sz="1000" dirty="0"/>
              <a:t>() &lt; </a:t>
            </a:r>
            <a:r>
              <a:rPr lang="en-US" altLang="zh-CN" sz="1000" dirty="0" err="1"/>
              <a:t>crossover_rate</a:t>
            </a:r>
            <a:r>
              <a:rPr lang="en-US" altLang="zh-CN" sz="1000" dirty="0"/>
              <a:t>:</a:t>
            </a:r>
          </a:p>
          <a:p>
            <a:r>
              <a:rPr lang="en-US" altLang="zh-CN" sz="1000" dirty="0"/>
              <a:t>            </a:t>
            </a:r>
            <a:r>
              <a:rPr lang="en-US" altLang="zh-CN" sz="1000" dirty="0" err="1"/>
              <a:t>crossover_point</a:t>
            </a:r>
            <a:r>
              <a:rPr lang="en-US" altLang="zh-CN" sz="1000" dirty="0"/>
              <a:t> = </a:t>
            </a:r>
            <a:r>
              <a:rPr lang="en-US" altLang="zh-CN" sz="1000" dirty="0" err="1"/>
              <a:t>random.randint</a:t>
            </a:r>
            <a:r>
              <a:rPr lang="en-US" altLang="zh-CN" sz="1000" dirty="0"/>
              <a:t>(1, </a:t>
            </a:r>
            <a:r>
              <a:rPr lang="en-US" altLang="zh-CN" sz="1000" dirty="0" err="1"/>
              <a:t>len</a:t>
            </a:r>
            <a:r>
              <a:rPr lang="en-US" altLang="zh-CN" sz="1000" dirty="0"/>
              <a:t>(parent1) - 1)</a:t>
            </a:r>
          </a:p>
          <a:p>
            <a:r>
              <a:rPr lang="en-US" altLang="zh-CN" sz="1000" dirty="0"/>
              <a:t>            child1 = parent1[:</a:t>
            </a:r>
            <a:r>
              <a:rPr lang="en-US" altLang="zh-CN" sz="1000" dirty="0" err="1"/>
              <a:t>crossover_point</a:t>
            </a:r>
            <a:r>
              <a:rPr lang="en-US" altLang="zh-CN" sz="1000" dirty="0"/>
              <a:t>] + parent2[</a:t>
            </a:r>
            <a:r>
              <a:rPr lang="en-US" altLang="zh-CN" sz="1000" dirty="0" err="1"/>
              <a:t>crossover_point</a:t>
            </a:r>
            <a:r>
              <a:rPr lang="en-US" altLang="zh-CN" sz="1000" dirty="0"/>
              <a:t>:]</a:t>
            </a:r>
          </a:p>
          <a:p>
            <a:r>
              <a:rPr lang="en-US" altLang="zh-CN" sz="1000" dirty="0"/>
              <a:t>            child2 = parent2[:</a:t>
            </a:r>
            <a:r>
              <a:rPr lang="en-US" altLang="zh-CN" sz="1000" dirty="0" err="1"/>
              <a:t>crossover_point</a:t>
            </a:r>
            <a:r>
              <a:rPr lang="en-US" altLang="zh-CN" sz="1000" dirty="0"/>
              <a:t>] + parent1[</a:t>
            </a:r>
            <a:r>
              <a:rPr lang="en-US" altLang="zh-CN" sz="1000" dirty="0" err="1"/>
              <a:t>crossover_point</a:t>
            </a:r>
            <a:r>
              <a:rPr lang="en-US" altLang="zh-CN" sz="1000" dirty="0"/>
              <a:t>:]</a:t>
            </a:r>
          </a:p>
          <a:p>
            <a:r>
              <a:rPr lang="en-US" altLang="zh-CN" sz="1000" dirty="0"/>
              <a:t>            return child1, child2</a:t>
            </a:r>
          </a:p>
          <a:p>
            <a:r>
              <a:rPr lang="en-US" altLang="zh-CN" sz="1000" dirty="0"/>
              <a:t>        else:</a:t>
            </a:r>
          </a:p>
          <a:p>
            <a:r>
              <a:rPr lang="en-US" altLang="zh-CN" sz="1000" dirty="0"/>
              <a:t>            return parent1, parent2</a:t>
            </a:r>
          </a:p>
          <a:p>
            <a:endParaRPr lang="en-US" altLang="zh-CN" sz="1000" dirty="0"/>
          </a:p>
        </p:txBody>
      </p:sp>
      <p:sp>
        <p:nvSpPr>
          <p:cNvPr id="6" name="文本框 5">
            <a:extLst>
              <a:ext uri="{FF2B5EF4-FFF2-40B4-BE49-F238E27FC236}">
                <a16:creationId xmlns:a16="http://schemas.microsoft.com/office/drawing/2014/main" id="{1AB60AE7-A7C5-CA88-1811-7713A5EF5EA1}"/>
              </a:ext>
            </a:extLst>
          </p:cNvPr>
          <p:cNvSpPr txBox="1"/>
          <p:nvPr/>
        </p:nvSpPr>
        <p:spPr>
          <a:xfrm>
            <a:off x="5393392" y="1152448"/>
            <a:ext cx="6834467" cy="4939814"/>
          </a:xfrm>
          <a:prstGeom prst="rect">
            <a:avLst/>
          </a:prstGeom>
          <a:noFill/>
        </p:spPr>
        <p:txBody>
          <a:bodyPr wrap="square">
            <a:spAutoFit/>
          </a:bodyPr>
          <a:lstStyle/>
          <a:p>
            <a:r>
              <a:rPr lang="en-US" altLang="zh-CN" sz="1050" dirty="0"/>
              <a:t>    </a:t>
            </a:r>
            <a:r>
              <a:rPr lang="en-US" altLang="zh-CN" sz="1050" dirty="0" err="1"/>
              <a:t>new_population</a:t>
            </a:r>
            <a:r>
              <a:rPr lang="en-US" altLang="zh-CN" sz="1050" dirty="0"/>
              <a:t> = []</a:t>
            </a:r>
          </a:p>
          <a:p>
            <a:r>
              <a:rPr lang="en-US" altLang="zh-CN" sz="1050" dirty="0"/>
              <a:t>    for </a:t>
            </a:r>
            <a:r>
              <a:rPr lang="en-US" altLang="zh-CN" sz="1050" dirty="0" err="1"/>
              <a:t>i</a:t>
            </a:r>
            <a:r>
              <a:rPr lang="en-US" altLang="zh-CN" sz="1050" dirty="0"/>
              <a:t> in range(0, </a:t>
            </a:r>
            <a:r>
              <a:rPr lang="en-US" altLang="zh-CN" sz="1050" dirty="0" err="1"/>
              <a:t>len</a:t>
            </a:r>
            <a:r>
              <a:rPr lang="en-US" altLang="zh-CN" sz="1050" dirty="0"/>
              <a:t>(</a:t>
            </a:r>
            <a:r>
              <a:rPr lang="en-US" altLang="zh-CN" sz="1050" dirty="0" err="1"/>
              <a:t>selected_population</a:t>
            </a:r>
            <a:r>
              <a:rPr lang="en-US" altLang="zh-CN" sz="1050" dirty="0"/>
              <a:t>), 2):</a:t>
            </a:r>
          </a:p>
          <a:p>
            <a:r>
              <a:rPr lang="en-US" altLang="zh-CN" sz="1050" dirty="0"/>
              <a:t>        parent1 = </a:t>
            </a:r>
            <a:r>
              <a:rPr lang="en-US" altLang="zh-CN" sz="1050" dirty="0" err="1"/>
              <a:t>selected_population</a:t>
            </a:r>
            <a:r>
              <a:rPr lang="en-US" altLang="zh-CN" sz="1050" dirty="0"/>
              <a:t>[</a:t>
            </a:r>
            <a:r>
              <a:rPr lang="en-US" altLang="zh-CN" sz="1050" dirty="0" err="1"/>
              <a:t>i</a:t>
            </a:r>
            <a:r>
              <a:rPr lang="en-US" altLang="zh-CN" sz="1050" dirty="0"/>
              <a:t>]</a:t>
            </a:r>
          </a:p>
          <a:p>
            <a:r>
              <a:rPr lang="en-US" altLang="zh-CN" sz="1050" dirty="0"/>
              <a:t>        parent2 = </a:t>
            </a:r>
            <a:r>
              <a:rPr lang="en-US" altLang="zh-CN" sz="1050" dirty="0" err="1"/>
              <a:t>selected_population</a:t>
            </a:r>
            <a:r>
              <a:rPr lang="en-US" altLang="zh-CN" sz="1050" dirty="0"/>
              <a:t>[i+1]</a:t>
            </a:r>
          </a:p>
          <a:p>
            <a:r>
              <a:rPr lang="en-US" altLang="zh-CN" sz="1050" dirty="0"/>
              <a:t>        child1, child2 = crossover(parent1, parent2, </a:t>
            </a:r>
            <a:r>
              <a:rPr lang="en-US" altLang="zh-CN" sz="1050" dirty="0" err="1"/>
              <a:t>crossover_rate</a:t>
            </a:r>
            <a:r>
              <a:rPr lang="en-US" altLang="zh-CN" sz="1050" dirty="0"/>
              <a:t>)</a:t>
            </a:r>
          </a:p>
          <a:p>
            <a:r>
              <a:rPr lang="en-US" altLang="zh-CN" sz="1050" dirty="0"/>
              <a:t>        </a:t>
            </a:r>
            <a:r>
              <a:rPr lang="en-US" altLang="zh-CN" sz="1050" dirty="0" err="1"/>
              <a:t>new_population.extend</a:t>
            </a:r>
            <a:r>
              <a:rPr lang="en-US" altLang="zh-CN" sz="1050" dirty="0"/>
              <a:t>([child1, child2])</a:t>
            </a:r>
          </a:p>
          <a:p>
            <a:endParaRPr lang="en-US" altLang="zh-CN" sz="1050" dirty="0"/>
          </a:p>
          <a:p>
            <a:r>
              <a:rPr lang="en-US" altLang="zh-CN" sz="1050" dirty="0"/>
              <a:t>    # </a:t>
            </a:r>
            <a:r>
              <a:rPr lang="zh-CN" altLang="en-US" sz="1050" dirty="0"/>
              <a:t>步骤</a:t>
            </a:r>
            <a:r>
              <a:rPr lang="en-US" altLang="zh-CN" sz="1050" dirty="0"/>
              <a:t>5</a:t>
            </a:r>
            <a:r>
              <a:rPr lang="zh-CN" altLang="en-US" sz="1050" dirty="0"/>
              <a:t>：按照概率对新种群中被选中染色体的若干基因片段进行变异操作</a:t>
            </a:r>
          </a:p>
          <a:p>
            <a:r>
              <a:rPr lang="zh-CN" altLang="en-US" sz="1050" dirty="0"/>
              <a:t>    </a:t>
            </a:r>
            <a:r>
              <a:rPr lang="en-US" altLang="zh-CN" sz="1050" dirty="0"/>
              <a:t>def mutate(chromosome, </a:t>
            </a:r>
            <a:r>
              <a:rPr lang="en-US" altLang="zh-CN" sz="1050" dirty="0" err="1"/>
              <a:t>mutation_rate</a:t>
            </a:r>
            <a:r>
              <a:rPr lang="en-US" altLang="zh-CN" sz="1050" dirty="0"/>
              <a:t>):</a:t>
            </a:r>
          </a:p>
          <a:p>
            <a:r>
              <a:rPr lang="en-US" altLang="zh-CN" sz="1050" dirty="0"/>
              <a:t>        </a:t>
            </a:r>
            <a:r>
              <a:rPr lang="en-US" altLang="zh-CN" sz="1050" dirty="0" err="1"/>
              <a:t>mutated_chromosome</a:t>
            </a:r>
            <a:r>
              <a:rPr lang="en-US" altLang="zh-CN" sz="1050" dirty="0"/>
              <a:t> = []</a:t>
            </a:r>
          </a:p>
          <a:p>
            <a:r>
              <a:rPr lang="en-US" altLang="zh-CN" sz="1050" dirty="0"/>
              <a:t>        for gene in chromosome:</a:t>
            </a:r>
          </a:p>
          <a:p>
            <a:r>
              <a:rPr lang="en-US" altLang="zh-CN" sz="1050" dirty="0"/>
              <a:t>            if </a:t>
            </a:r>
            <a:r>
              <a:rPr lang="en-US" altLang="zh-CN" sz="1050" dirty="0" err="1"/>
              <a:t>random.random</a:t>
            </a:r>
            <a:r>
              <a:rPr lang="en-US" altLang="zh-CN" sz="1050" dirty="0"/>
              <a:t>() &lt; </a:t>
            </a:r>
            <a:r>
              <a:rPr lang="en-US" altLang="zh-CN" sz="1050" dirty="0" err="1"/>
              <a:t>mutation_rate</a:t>
            </a:r>
            <a:r>
              <a:rPr lang="en-US" altLang="zh-CN" sz="1050" dirty="0"/>
              <a:t>:</a:t>
            </a:r>
          </a:p>
          <a:p>
            <a:r>
              <a:rPr lang="en-US" altLang="zh-CN" sz="1050" dirty="0"/>
              <a:t>                </a:t>
            </a:r>
            <a:r>
              <a:rPr lang="en-US" altLang="zh-CN" sz="1050" dirty="0" err="1"/>
              <a:t>mutated_chromosome.append</a:t>
            </a:r>
            <a:r>
              <a:rPr lang="en-US" altLang="zh-CN" sz="1050" dirty="0"/>
              <a:t>(</a:t>
            </a:r>
            <a:r>
              <a:rPr lang="en-US" altLang="zh-CN" sz="1050" dirty="0" err="1"/>
              <a:t>flip_gene</a:t>
            </a:r>
            <a:r>
              <a:rPr lang="en-US" altLang="zh-CN" sz="1050" dirty="0"/>
              <a:t>(gene))  # </a:t>
            </a:r>
            <a:r>
              <a:rPr lang="zh-CN" altLang="en-US" sz="1050" dirty="0"/>
              <a:t>基因变异</a:t>
            </a:r>
          </a:p>
          <a:p>
            <a:r>
              <a:rPr lang="zh-CN" altLang="en-US" sz="1050" dirty="0"/>
              <a:t>            </a:t>
            </a:r>
            <a:r>
              <a:rPr lang="en-US" altLang="zh-CN" sz="1050" dirty="0"/>
              <a:t>else:</a:t>
            </a:r>
          </a:p>
          <a:p>
            <a:r>
              <a:rPr lang="en-US" altLang="zh-CN" sz="1050" dirty="0"/>
              <a:t>                </a:t>
            </a:r>
            <a:r>
              <a:rPr lang="en-US" altLang="zh-CN" sz="1050" dirty="0" err="1"/>
              <a:t>mutated_chromosome.append</a:t>
            </a:r>
            <a:r>
              <a:rPr lang="en-US" altLang="zh-CN" sz="1050" dirty="0"/>
              <a:t>(gene)</a:t>
            </a:r>
          </a:p>
          <a:p>
            <a:r>
              <a:rPr lang="en-US" altLang="zh-CN" sz="1050" dirty="0"/>
              <a:t>        return </a:t>
            </a:r>
            <a:r>
              <a:rPr lang="en-US" altLang="zh-CN" sz="1050" dirty="0" err="1"/>
              <a:t>mutated_chromosome</a:t>
            </a:r>
            <a:endParaRPr lang="en-US" altLang="zh-CN" sz="1050" dirty="0"/>
          </a:p>
          <a:p>
            <a:endParaRPr lang="en-US" altLang="zh-CN" sz="1050" dirty="0"/>
          </a:p>
          <a:p>
            <a:r>
              <a:rPr lang="en-US" altLang="zh-CN" sz="1050" dirty="0"/>
              <a:t>    </a:t>
            </a:r>
            <a:r>
              <a:rPr lang="en-US" altLang="zh-CN" sz="1050" dirty="0" err="1"/>
              <a:t>new_population</a:t>
            </a:r>
            <a:r>
              <a:rPr lang="en-US" altLang="zh-CN" sz="1050" dirty="0"/>
              <a:t> = [mutate(chromosome, </a:t>
            </a:r>
            <a:r>
              <a:rPr lang="en-US" altLang="zh-CN" sz="1050" dirty="0" err="1"/>
              <a:t>mutation_rate</a:t>
            </a:r>
            <a:r>
              <a:rPr lang="en-US" altLang="zh-CN" sz="1050" dirty="0"/>
              <a:t>) for chromosome in </a:t>
            </a:r>
            <a:r>
              <a:rPr lang="en-US" altLang="zh-CN" sz="1050" dirty="0" err="1"/>
              <a:t>new_population</a:t>
            </a:r>
            <a:r>
              <a:rPr lang="en-US" altLang="zh-CN" sz="1050" dirty="0"/>
              <a:t>]</a:t>
            </a:r>
          </a:p>
          <a:p>
            <a:endParaRPr lang="en-US" altLang="zh-CN" sz="1050" dirty="0"/>
          </a:p>
          <a:p>
            <a:r>
              <a:rPr lang="en-US" altLang="zh-CN" sz="1050" dirty="0"/>
              <a:t>    # </a:t>
            </a:r>
            <a:r>
              <a:rPr lang="zh-CN" altLang="en-US" sz="1050" dirty="0"/>
              <a:t>步骤</a:t>
            </a:r>
            <a:r>
              <a:rPr lang="en-US" altLang="zh-CN" sz="1050" dirty="0"/>
              <a:t>6</a:t>
            </a:r>
            <a:r>
              <a:rPr lang="zh-CN" altLang="en-US" sz="1050" dirty="0"/>
              <a:t>：计算种群中各个染色体的适应值。倘若种群中染色体最大适应值大于已知</a:t>
            </a:r>
            <a:r>
              <a:rPr lang="en-US" altLang="zh-CN" sz="1050" dirty="0"/>
              <a:t>Best</a:t>
            </a:r>
            <a:r>
              <a:rPr lang="zh-CN" altLang="en-US" sz="1050" dirty="0"/>
              <a:t>适应值，则取代原有</a:t>
            </a:r>
            <a:r>
              <a:rPr lang="en-US" altLang="zh-CN" sz="1050" dirty="0"/>
              <a:t>Best</a:t>
            </a:r>
            <a:r>
              <a:rPr lang="zh-CN" altLang="en-US" sz="1050" dirty="0"/>
              <a:t>。</a:t>
            </a:r>
          </a:p>
          <a:p>
            <a:r>
              <a:rPr lang="zh-CN" altLang="en-US" sz="1050" dirty="0"/>
              <a:t>    </a:t>
            </a:r>
            <a:r>
              <a:rPr lang="en-US" altLang="zh-CN" sz="1050" dirty="0" err="1"/>
              <a:t>fitness_scores</a:t>
            </a:r>
            <a:r>
              <a:rPr lang="en-US" altLang="zh-CN" sz="1050" dirty="0"/>
              <a:t> = </a:t>
            </a:r>
            <a:r>
              <a:rPr lang="en-US" altLang="zh-CN" sz="1050" dirty="0" err="1"/>
              <a:t>evaluate_population</a:t>
            </a:r>
            <a:r>
              <a:rPr lang="en-US" altLang="zh-CN" sz="1050" dirty="0"/>
              <a:t>(</a:t>
            </a:r>
            <a:r>
              <a:rPr lang="en-US" altLang="zh-CN" sz="1050" dirty="0" err="1"/>
              <a:t>new_population</a:t>
            </a:r>
            <a:r>
              <a:rPr lang="en-US" altLang="zh-CN" sz="1050" dirty="0"/>
              <a:t>)</a:t>
            </a:r>
          </a:p>
          <a:p>
            <a:r>
              <a:rPr lang="en-US" altLang="zh-CN" sz="1050" dirty="0"/>
              <a:t>    </a:t>
            </a:r>
            <a:r>
              <a:rPr lang="en-US" altLang="zh-CN" sz="1050" dirty="0" err="1"/>
              <a:t>current_best_index</a:t>
            </a:r>
            <a:r>
              <a:rPr lang="en-US" altLang="zh-CN" sz="1050" dirty="0"/>
              <a:t> = </a:t>
            </a:r>
            <a:r>
              <a:rPr lang="en-US" altLang="zh-CN" sz="1050" dirty="0" err="1"/>
              <a:t>np.argmax</a:t>
            </a:r>
            <a:r>
              <a:rPr lang="en-US" altLang="zh-CN" sz="1050" dirty="0"/>
              <a:t>(</a:t>
            </a:r>
            <a:r>
              <a:rPr lang="en-US" altLang="zh-CN" sz="1050" dirty="0" err="1"/>
              <a:t>fitness_scores</a:t>
            </a:r>
            <a:r>
              <a:rPr lang="en-US" altLang="zh-CN" sz="1050" dirty="0"/>
              <a:t>)</a:t>
            </a:r>
          </a:p>
          <a:p>
            <a:r>
              <a:rPr lang="en-US" altLang="zh-CN" sz="1050" dirty="0"/>
              <a:t>    if </a:t>
            </a:r>
            <a:r>
              <a:rPr lang="en-US" altLang="zh-CN" sz="1050" dirty="0" err="1"/>
              <a:t>fitness_scores</a:t>
            </a:r>
            <a:r>
              <a:rPr lang="en-US" altLang="zh-CN" sz="1050" dirty="0"/>
              <a:t>[</a:t>
            </a:r>
            <a:r>
              <a:rPr lang="en-US" altLang="zh-CN" sz="1050" dirty="0" err="1"/>
              <a:t>current_best_index</a:t>
            </a:r>
            <a:r>
              <a:rPr lang="en-US" altLang="zh-CN" sz="1050" dirty="0"/>
              <a:t>] &gt; </a:t>
            </a:r>
            <a:r>
              <a:rPr lang="en-US" altLang="zh-CN" sz="1050" dirty="0" err="1"/>
              <a:t>evaluate_fitness</a:t>
            </a:r>
            <a:r>
              <a:rPr lang="en-US" altLang="zh-CN" sz="1050" dirty="0"/>
              <a:t>(Best):</a:t>
            </a:r>
          </a:p>
          <a:p>
            <a:r>
              <a:rPr lang="en-US" altLang="zh-CN" sz="1050" dirty="0"/>
              <a:t>        Best = </a:t>
            </a:r>
            <a:r>
              <a:rPr lang="en-US" altLang="zh-CN" sz="1050" dirty="0" err="1"/>
              <a:t>new_population</a:t>
            </a:r>
            <a:r>
              <a:rPr lang="en-US" altLang="zh-CN" sz="1050" dirty="0"/>
              <a:t>[</a:t>
            </a:r>
            <a:r>
              <a:rPr lang="en-US" altLang="zh-CN" sz="1050" dirty="0" err="1"/>
              <a:t>current_best_index</a:t>
            </a:r>
            <a:r>
              <a:rPr lang="en-US" altLang="zh-CN" sz="1050" dirty="0"/>
              <a:t>]</a:t>
            </a:r>
          </a:p>
          <a:p>
            <a:endParaRPr lang="en-US" altLang="zh-CN" sz="1050" dirty="0"/>
          </a:p>
          <a:p>
            <a:r>
              <a:rPr lang="en-US" altLang="zh-CN" sz="1050" dirty="0"/>
              <a:t>    # </a:t>
            </a:r>
            <a:r>
              <a:rPr lang="zh-CN" altLang="en-US" sz="1050" dirty="0"/>
              <a:t>步骤</a:t>
            </a:r>
            <a:r>
              <a:rPr lang="en-US" altLang="zh-CN" sz="1050" dirty="0"/>
              <a:t>7</a:t>
            </a:r>
            <a:r>
              <a:rPr lang="zh-CN" altLang="en-US" sz="1050" dirty="0"/>
              <a:t>：当前进化代数</a:t>
            </a:r>
            <a:r>
              <a:rPr lang="en-US" altLang="zh-CN" sz="1050" dirty="0"/>
              <a:t>Generation</a:t>
            </a:r>
            <a:r>
              <a:rPr lang="zh-CN" altLang="en-US" sz="1050" dirty="0"/>
              <a:t>加</a:t>
            </a:r>
            <a:r>
              <a:rPr lang="en-US" altLang="zh-CN" sz="1050" dirty="0"/>
              <a:t>1</a:t>
            </a:r>
            <a:r>
              <a:rPr lang="zh-CN" altLang="en-US" sz="1050" dirty="0"/>
              <a:t>。如果</a:t>
            </a:r>
            <a:r>
              <a:rPr lang="en-US" altLang="zh-CN" sz="1050" dirty="0"/>
              <a:t>Generation</a:t>
            </a:r>
            <a:r>
              <a:rPr lang="zh-CN" altLang="en-US" sz="1050" dirty="0"/>
              <a:t>超过规定的最大进化代数或</a:t>
            </a:r>
            <a:r>
              <a:rPr lang="en-US" altLang="zh-CN" sz="1050" dirty="0"/>
              <a:t>Best</a:t>
            </a:r>
            <a:r>
              <a:rPr lang="zh-CN" altLang="en-US" sz="1050" dirty="0"/>
              <a:t>达到规定的误差要求，算法结束；否则返回步骤</a:t>
            </a:r>
            <a:r>
              <a:rPr lang="en-US" altLang="zh-CN" sz="1050" dirty="0"/>
              <a:t>3</a:t>
            </a:r>
            <a:r>
              <a:rPr lang="zh-CN" altLang="en-US" sz="1050" dirty="0"/>
              <a:t>。</a:t>
            </a:r>
          </a:p>
          <a:p>
            <a:r>
              <a:rPr lang="zh-CN" altLang="en-US" sz="1050" dirty="0"/>
              <a:t>    </a:t>
            </a:r>
            <a:r>
              <a:rPr lang="en-US" altLang="zh-CN" sz="1050" dirty="0"/>
              <a:t>Generation += 1</a:t>
            </a:r>
          </a:p>
        </p:txBody>
      </p:sp>
    </p:spTree>
    <p:extLst>
      <p:ext uri="{BB962C8B-B14F-4D97-AF65-F5344CB8AC3E}">
        <p14:creationId xmlns:p14="http://schemas.microsoft.com/office/powerpoint/2010/main" val="1119876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049050" y="2390634"/>
            <a:ext cx="7615126" cy="2219691"/>
          </a:xfrm>
        </p:spPr>
        <p:txBody>
          <a:bodyPr/>
          <a:lstStyle/>
          <a:p>
            <a:r>
              <a:rPr lang="en-US" altLang="zh-CN" dirty="0"/>
              <a:t>Thanks</a:t>
            </a:r>
            <a:r>
              <a:rPr lang="zh-CN" altLang="en-US" dirty="0"/>
              <a:t>！ </a:t>
            </a:r>
            <a:r>
              <a:rPr lang="en-US" altLang="zh-CN" dirty="0"/>
              <a:t/>
            </a:r>
            <a:br>
              <a:rPr lang="en-US" altLang="zh-CN" dirty="0"/>
            </a:br>
            <a:r>
              <a:rPr lang="en-US" altLang="zh-CN" dirty="0"/>
              <a:t/>
            </a:r>
            <a:br>
              <a:rPr lang="en-US" altLang="zh-CN" dirty="0"/>
            </a:br>
            <a:r>
              <a:rPr lang="en-US" altLang="zh-CN" dirty="0"/>
              <a:t>Question?</a:t>
            </a:r>
            <a:endParaRPr lang="zh-CN" altLang="en-US" dirty="0"/>
          </a:p>
        </p:txBody>
      </p:sp>
    </p:spTree>
    <p:extLst>
      <p:ext uri="{BB962C8B-B14F-4D97-AF65-F5344CB8AC3E}">
        <p14:creationId xmlns:p14="http://schemas.microsoft.com/office/powerpoint/2010/main" val="336538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4.0.0"/>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8091</TotalTime>
  <Words>7167</Words>
  <Application>Microsoft Office PowerPoint</Application>
  <PresentationFormat>宽屏</PresentationFormat>
  <Paragraphs>527</Paragraphs>
  <Slides>50</Slides>
  <Notes>30</Notes>
  <HiddenSlides>8</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50</vt:i4>
      </vt:variant>
    </vt:vector>
  </HeadingPairs>
  <TitlesOfParts>
    <vt:vector size="67" baseType="lpstr">
      <vt:lpstr>-apple-system</vt:lpstr>
      <vt:lpstr>DeepSeek-CJK-patch</vt:lpstr>
      <vt:lpstr>MS Gothic</vt:lpstr>
      <vt:lpstr>PingFang SC</vt:lpstr>
      <vt:lpstr>等线</vt:lpstr>
      <vt:lpstr>黑体</vt:lpstr>
      <vt:lpstr>华文中宋</vt:lpstr>
      <vt:lpstr>楷体</vt:lpstr>
      <vt:lpstr>宋体</vt:lpstr>
      <vt:lpstr>微软雅黑</vt:lpstr>
      <vt:lpstr>Arial</vt:lpstr>
      <vt:lpstr>Arial Black</vt:lpstr>
      <vt:lpstr>Calibri</vt:lpstr>
      <vt:lpstr>Cambria Math</vt:lpstr>
      <vt:lpstr>Times New Roman</vt:lpstr>
      <vt:lpstr>Wingdings</vt:lpstr>
      <vt:lpstr>Office 主题​​</vt:lpstr>
      <vt:lpstr>课程《人工智能原理与技术》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课程《人工智能原理与技术》</dc:title>
  <dc:creator>8618017028101</dc:creator>
  <cp:lastModifiedBy>WJL</cp:lastModifiedBy>
  <cp:revision>72</cp:revision>
  <dcterms:created xsi:type="dcterms:W3CDTF">2025-03-02T03:24:13Z</dcterms:created>
  <dcterms:modified xsi:type="dcterms:W3CDTF">2026-05-14T07:07:42Z</dcterms:modified>
</cp:coreProperties>
</file>