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291" r:id="rId2"/>
    <p:sldId id="2076139170" r:id="rId3"/>
    <p:sldId id="2076139217" r:id="rId4"/>
    <p:sldId id="452" r:id="rId5"/>
    <p:sldId id="2076139211" r:id="rId6"/>
    <p:sldId id="2076139216" r:id="rId7"/>
    <p:sldId id="2076139173" r:id="rId8"/>
    <p:sldId id="2076139174" r:id="rId9"/>
    <p:sldId id="2076139218" r:id="rId10"/>
    <p:sldId id="2076139175" r:id="rId11"/>
    <p:sldId id="2076139176" r:id="rId12"/>
    <p:sldId id="2076139177" r:id="rId13"/>
    <p:sldId id="2076139178" r:id="rId14"/>
    <p:sldId id="2076139179" r:id="rId15"/>
    <p:sldId id="2076139219" r:id="rId16"/>
    <p:sldId id="2076139182" r:id="rId17"/>
    <p:sldId id="2076139184" r:id="rId18"/>
    <p:sldId id="2076139185" r:id="rId19"/>
    <p:sldId id="2076139221" r:id="rId20"/>
    <p:sldId id="2076139186" r:id="rId21"/>
    <p:sldId id="2076139187" r:id="rId22"/>
    <p:sldId id="2076139189" r:id="rId23"/>
    <p:sldId id="2076139191" r:id="rId24"/>
    <p:sldId id="2076139222" r:id="rId25"/>
    <p:sldId id="2076139195" r:id="rId26"/>
    <p:sldId id="2076139227" r:id="rId27"/>
    <p:sldId id="2076139220" r:id="rId28"/>
    <p:sldId id="1539" r:id="rId29"/>
    <p:sldId id="2076139201" r:id="rId30"/>
    <p:sldId id="1541" r:id="rId31"/>
    <p:sldId id="1540" r:id="rId32"/>
    <p:sldId id="1542" r:id="rId33"/>
    <p:sldId id="2076139228" r:id="rId34"/>
    <p:sldId id="2076139229" r:id="rId35"/>
    <p:sldId id="2076139230" r:id="rId36"/>
  </p:sldIdLst>
  <p:sldSz cx="9144000" cy="5143500" type="screen16x9"/>
  <p:notesSz cx="6858000" cy="9144000"/>
  <p:defaultTextStyle>
    <a:defPPr>
      <a:defRPr lang="fi-FI"/>
    </a:defPPr>
    <a:lvl1pPr algn="l" rtl="0" fontAlgn="base">
      <a:spcBef>
        <a:spcPct val="20000"/>
      </a:spcBef>
      <a:spcAft>
        <a:spcPct val="0"/>
      </a:spcAft>
      <a:buFont typeface="Arial" panose="020B0604020202020204" pitchFamily="34" charset="0"/>
      <a:defRPr sz="1400" kern="1200">
        <a:solidFill>
          <a:schemeClr val="tx1"/>
        </a:solidFill>
        <a:latin typeface="Trebuchet MS" panose="020B0603020202020204" pitchFamily="96" charset="0"/>
        <a:ea typeface="宋体" panose="02010600030101010101" pitchFamily="2" charset="-122"/>
        <a:cs typeface="+mn-cs"/>
      </a:defRPr>
    </a:lvl1pPr>
    <a:lvl2pPr marL="455930" indent="1905" algn="l" rtl="0" fontAlgn="base">
      <a:spcBef>
        <a:spcPct val="20000"/>
      </a:spcBef>
      <a:spcAft>
        <a:spcPct val="0"/>
      </a:spcAft>
      <a:buFont typeface="Arial" panose="020B0604020202020204" pitchFamily="34" charset="0"/>
      <a:defRPr sz="1400" kern="1200">
        <a:solidFill>
          <a:schemeClr val="tx1"/>
        </a:solidFill>
        <a:latin typeface="Trebuchet MS" panose="020B0603020202020204" pitchFamily="96" charset="0"/>
        <a:ea typeface="宋体" panose="02010600030101010101" pitchFamily="2" charset="-122"/>
        <a:cs typeface="+mn-cs"/>
      </a:defRPr>
    </a:lvl2pPr>
    <a:lvl3pPr marL="913130" indent="1905" algn="l" rtl="0" fontAlgn="base">
      <a:spcBef>
        <a:spcPct val="20000"/>
      </a:spcBef>
      <a:spcAft>
        <a:spcPct val="0"/>
      </a:spcAft>
      <a:buFont typeface="Arial" panose="020B0604020202020204" pitchFamily="34" charset="0"/>
      <a:defRPr sz="1400" kern="1200">
        <a:solidFill>
          <a:schemeClr val="tx1"/>
        </a:solidFill>
        <a:latin typeface="Trebuchet MS" panose="020B0603020202020204" pitchFamily="96" charset="0"/>
        <a:ea typeface="宋体" panose="02010600030101010101" pitchFamily="2" charset="-122"/>
        <a:cs typeface="+mn-cs"/>
      </a:defRPr>
    </a:lvl3pPr>
    <a:lvl4pPr marL="1370330" indent="1905" algn="l" rtl="0" fontAlgn="base">
      <a:spcBef>
        <a:spcPct val="20000"/>
      </a:spcBef>
      <a:spcAft>
        <a:spcPct val="0"/>
      </a:spcAft>
      <a:buFont typeface="Arial" panose="020B0604020202020204" pitchFamily="34" charset="0"/>
      <a:defRPr sz="1400" kern="1200">
        <a:solidFill>
          <a:schemeClr val="tx1"/>
        </a:solidFill>
        <a:latin typeface="Trebuchet MS" panose="020B0603020202020204" pitchFamily="96" charset="0"/>
        <a:ea typeface="宋体" panose="02010600030101010101" pitchFamily="2" charset="-122"/>
        <a:cs typeface="+mn-cs"/>
      </a:defRPr>
    </a:lvl4pPr>
    <a:lvl5pPr marL="1827530" indent="1905" algn="l" rtl="0" fontAlgn="base">
      <a:spcBef>
        <a:spcPct val="20000"/>
      </a:spcBef>
      <a:spcAft>
        <a:spcPct val="0"/>
      </a:spcAft>
      <a:buFont typeface="Arial" panose="020B0604020202020204" pitchFamily="34" charset="0"/>
      <a:defRPr sz="1400" kern="1200">
        <a:solidFill>
          <a:schemeClr val="tx1"/>
        </a:solidFill>
        <a:latin typeface="Trebuchet MS" panose="020B0603020202020204" pitchFamily="96" charset="0"/>
        <a:ea typeface="宋体" panose="02010600030101010101" pitchFamily="2" charset="-122"/>
        <a:cs typeface="+mn-cs"/>
      </a:defRPr>
    </a:lvl5pPr>
    <a:lvl6pPr marL="2286000" algn="l" defTabSz="914400" rtl="0" eaLnBrk="1" latinLnBrk="0" hangingPunct="1">
      <a:defRPr sz="1400" kern="1200">
        <a:solidFill>
          <a:schemeClr val="tx1"/>
        </a:solidFill>
        <a:latin typeface="Trebuchet MS" panose="020B0603020202020204" pitchFamily="96" charset="0"/>
        <a:ea typeface="宋体" panose="02010600030101010101" pitchFamily="2" charset="-122"/>
        <a:cs typeface="+mn-cs"/>
      </a:defRPr>
    </a:lvl6pPr>
    <a:lvl7pPr marL="2743200" algn="l" defTabSz="914400" rtl="0" eaLnBrk="1" latinLnBrk="0" hangingPunct="1">
      <a:defRPr sz="1400" kern="1200">
        <a:solidFill>
          <a:schemeClr val="tx1"/>
        </a:solidFill>
        <a:latin typeface="Trebuchet MS" panose="020B0603020202020204" pitchFamily="96" charset="0"/>
        <a:ea typeface="宋体" panose="02010600030101010101" pitchFamily="2" charset="-122"/>
        <a:cs typeface="+mn-cs"/>
      </a:defRPr>
    </a:lvl7pPr>
    <a:lvl8pPr marL="3200400" algn="l" defTabSz="914400" rtl="0" eaLnBrk="1" latinLnBrk="0" hangingPunct="1">
      <a:defRPr sz="1400" kern="1200">
        <a:solidFill>
          <a:schemeClr val="tx1"/>
        </a:solidFill>
        <a:latin typeface="Trebuchet MS" panose="020B0603020202020204" pitchFamily="96" charset="0"/>
        <a:ea typeface="宋体" panose="02010600030101010101" pitchFamily="2" charset="-122"/>
        <a:cs typeface="+mn-cs"/>
      </a:defRPr>
    </a:lvl8pPr>
    <a:lvl9pPr marL="3657600" algn="l" defTabSz="914400" rtl="0" eaLnBrk="1" latinLnBrk="0" hangingPunct="1">
      <a:defRPr sz="1400" kern="1200">
        <a:solidFill>
          <a:schemeClr val="tx1"/>
        </a:solidFill>
        <a:latin typeface="Trebuchet MS" panose="020B0603020202020204" pitchFamily="96" charset="0"/>
        <a:ea typeface="宋体" panose="02010600030101010101" pitchFamily="2" charset="-122"/>
        <a:cs typeface="+mn-cs"/>
      </a:defRPr>
    </a:lvl9pPr>
  </p:defaultTextStyle>
  <p:extLst>
    <p:ext uri="{521415D9-36F7-43E2-AB2F-B90AF26B5E84}">
      <p14:sectionLst xmlns:p14="http://schemas.microsoft.com/office/powerpoint/2010/main">
        <p14:section name="标题" id="{8941DA05-48C9-42D1-8092-A54036658E92}">
          <p14:sldIdLst>
            <p14:sldId id="291"/>
            <p14:sldId id="2076139170"/>
            <p14:sldId id="2076139217"/>
            <p14:sldId id="452"/>
            <p14:sldId id="2076139211"/>
            <p14:sldId id="2076139216"/>
            <p14:sldId id="2076139173"/>
            <p14:sldId id="2076139174"/>
            <p14:sldId id="2076139218"/>
            <p14:sldId id="2076139175"/>
            <p14:sldId id="2076139176"/>
            <p14:sldId id="2076139177"/>
            <p14:sldId id="2076139178"/>
            <p14:sldId id="2076139179"/>
            <p14:sldId id="2076139219"/>
            <p14:sldId id="2076139182"/>
            <p14:sldId id="2076139184"/>
            <p14:sldId id="2076139185"/>
            <p14:sldId id="2076139221"/>
            <p14:sldId id="2076139186"/>
            <p14:sldId id="2076139187"/>
            <p14:sldId id="2076139189"/>
            <p14:sldId id="2076139191"/>
            <p14:sldId id="2076139222"/>
            <p14:sldId id="2076139195"/>
            <p14:sldId id="2076139227"/>
            <p14:sldId id="2076139220"/>
            <p14:sldId id="1539"/>
            <p14:sldId id="2076139201"/>
            <p14:sldId id="1541"/>
            <p14:sldId id="1540"/>
            <p14:sldId id="1542"/>
            <p14:sldId id="2076139228"/>
            <p14:sldId id="2076139229"/>
            <p14:sldId id="2076139230"/>
          </p14:sldIdLst>
        </p14:section>
      </p14:sectionLst>
    </p:ext>
    <p:ext uri="{EFAFB233-063F-42B5-8137-9DF3F51BA10A}">
      <p15:sldGuideLst xmlns:p15="http://schemas.microsoft.com/office/powerpoint/2012/main">
        <p15:guide id="1" orient="horz" pos="3838">
          <p15:clr>
            <a:srgbClr val="A4A3A4"/>
          </p15:clr>
        </p15:guide>
        <p15:guide id="2" pos="288">
          <p15:clr>
            <a:srgbClr val="A4A3A4"/>
          </p15:clr>
        </p15:guide>
        <p15:guide id="3" pos="5166">
          <p15:clr>
            <a:srgbClr val="A4A3A4"/>
          </p15:clr>
        </p15:guide>
        <p15:guide id="4" pos="3152">
          <p15:clr>
            <a:srgbClr val="A4A3A4"/>
          </p15:clr>
        </p15:guide>
        <p15:guide id="5" orient="horz" pos="294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1B06BA"/>
    <a:srgbClr val="339933"/>
    <a:srgbClr val="B5880B"/>
    <a:srgbClr val="E87071"/>
    <a:srgbClr val="00B3EE"/>
    <a:srgbClr val="93E5FF"/>
    <a:srgbClr val="F7FE98"/>
    <a:srgbClr val="FFFFFF"/>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825C9C-E65C-41E4-A4A5-68709411A174}" v="1" dt="2024-12-03T09:51:30.002"/>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814" autoAdjust="0"/>
    <p:restoredTop sz="96751" autoAdjust="0"/>
  </p:normalViewPr>
  <p:slideViewPr>
    <p:cSldViewPr>
      <p:cViewPr varScale="1">
        <p:scale>
          <a:sx n="145" d="100"/>
          <a:sy n="145" d="100"/>
        </p:scale>
        <p:origin x="132" y="516"/>
      </p:cViewPr>
      <p:guideLst>
        <p:guide orient="horz" pos="3838"/>
        <p:guide pos="288"/>
        <p:guide pos="5166"/>
        <p:guide pos="3152"/>
        <p:guide orient="horz" pos="2944"/>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51" d="100"/>
          <a:sy n="51" d="100"/>
        </p:scale>
        <p:origin x="2692"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9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buFontTx/>
              <a:buNone/>
              <a:defRPr sz="1200">
                <a:latin typeface="Arial" panose="020B0604020202020204" pitchFamily="34" charset="0"/>
                <a:ea typeface="+mn-ea"/>
              </a:defRPr>
            </a:lvl1pPr>
          </a:lstStyle>
          <a:p>
            <a:pPr>
              <a:defRPr/>
            </a:pPr>
            <a:endParaRPr lang="en-GB" altLang="zh-CN"/>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FontTx/>
              <a:buNone/>
              <a:defRPr sz="1200">
                <a:latin typeface="Arial" panose="020B0604020202020204" pitchFamily="34" charset="0"/>
                <a:ea typeface="+mn-ea"/>
              </a:defRPr>
            </a:lvl1pPr>
          </a:lstStyle>
          <a:p>
            <a:pPr>
              <a:defRPr/>
            </a:pPr>
            <a:endParaRPr lang="en-GB" altLang="zh-CN"/>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buFontTx/>
              <a:buNone/>
              <a:defRPr sz="1200">
                <a:latin typeface="Arial" panose="020B0604020202020204" pitchFamily="34" charset="0"/>
                <a:ea typeface="+mn-ea"/>
              </a:defRPr>
            </a:lvl1pPr>
          </a:lstStyle>
          <a:p>
            <a:pPr>
              <a:defRPr/>
            </a:pPr>
            <a:endParaRPr lang="en-GB" altLang="zh-CN"/>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FontTx/>
              <a:buNone/>
              <a:defRPr sz="1200">
                <a:latin typeface="Arial" panose="020B0604020202020204" pitchFamily="34" charset="0"/>
                <a:ea typeface="+mn-ea"/>
              </a:defRPr>
            </a:lvl1pPr>
          </a:lstStyle>
          <a:p>
            <a:pPr>
              <a:defRPr/>
            </a:pPr>
            <a:fld id="{58CD87A4-0184-412C-A44A-3DA728178AFF}" type="slidenum">
              <a:rPr lang="en-GB" altLang="zh-CN"/>
              <a:t>‹#›</a:t>
            </a:fld>
            <a:endParaRPr lang="en-GB"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buFontTx/>
              <a:buNone/>
              <a:defRPr sz="1200">
                <a:latin typeface="Arial" panose="020B0604020202020204" pitchFamily="34" charset="0"/>
                <a:ea typeface="+mn-ea"/>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buFontTx/>
              <a:buNone/>
              <a:defRPr sz="1200">
                <a:latin typeface="Arial" panose="020B0604020202020204" pitchFamily="34" charset="0"/>
                <a:ea typeface="+mn-ea"/>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fi-FI" noProof="0"/>
              <a:t>Muokkaa tekstin perustyylejä napsauttamalla</a:t>
            </a:r>
          </a:p>
          <a:p>
            <a:pPr lvl="1"/>
            <a:r>
              <a:rPr lang="fi-FI" noProof="0"/>
              <a:t>toinen taso</a:t>
            </a:r>
          </a:p>
          <a:p>
            <a:pPr lvl="2"/>
            <a:r>
              <a:rPr lang="fi-FI" noProof="0"/>
              <a:t>kolmas taso</a:t>
            </a:r>
          </a:p>
          <a:p>
            <a:pPr lvl="3"/>
            <a:r>
              <a:rPr lang="fi-FI" noProof="0"/>
              <a:t>neljäs taso</a:t>
            </a:r>
          </a:p>
          <a:p>
            <a:pPr lvl="4"/>
            <a:r>
              <a:rPr lang="fi-FI" noProof="0"/>
              <a:t>viides taso</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buFontTx/>
              <a:buNone/>
              <a:defRPr sz="1200">
                <a:latin typeface="Arial" panose="020B0604020202020204" pitchFamily="34" charset="0"/>
                <a:ea typeface="+mn-ea"/>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spcBef>
                <a:spcPct val="0"/>
              </a:spcBef>
              <a:buFontTx/>
              <a:buNone/>
              <a:defRPr sz="1200">
                <a:latin typeface="Arial" panose="020B0604020202020204" pitchFamily="34" charset="0"/>
                <a:ea typeface="+mn-ea"/>
              </a:defRPr>
            </a:lvl1pPr>
          </a:lstStyle>
          <a:p>
            <a:pPr>
              <a:defRPr/>
            </a:pPr>
            <a:fld id="{BB8C311E-5859-4E0C-A0F3-4690A095D6BE}" type="slidenum">
              <a:rPr lang="fi-FI" altLang="zh-CN"/>
              <a:t>‹#›</a:t>
            </a:fld>
            <a:endParaRPr lang="fi-FI"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593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313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033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753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2565" algn="l" defTabSz="913765" rtl="0" eaLnBrk="1" latinLnBrk="0" hangingPunct="1">
      <a:defRPr sz="1200" kern="1200">
        <a:solidFill>
          <a:schemeClr val="tx1"/>
        </a:solidFill>
        <a:latin typeface="+mn-lt"/>
        <a:ea typeface="+mn-ea"/>
        <a:cs typeface="+mn-cs"/>
      </a:defRPr>
    </a:lvl7pPr>
    <a:lvl8pPr marL="3199765" algn="l" defTabSz="913765" rtl="0" eaLnBrk="1" latinLnBrk="0" hangingPunct="1">
      <a:defRPr sz="1200" kern="1200">
        <a:solidFill>
          <a:schemeClr val="tx1"/>
        </a:solidFill>
        <a:latin typeface="+mn-lt"/>
        <a:ea typeface="+mn-ea"/>
        <a:cs typeface="+mn-cs"/>
      </a:defRPr>
    </a:lvl8pPr>
    <a:lvl9pPr marL="3656965"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1</a:t>
            </a:fld>
            <a:endParaRPr lang="zh-CN" altLang="en-US"/>
          </a:p>
        </p:txBody>
      </p:sp>
    </p:spTree>
    <p:extLst>
      <p:ext uri="{BB962C8B-B14F-4D97-AF65-F5344CB8AC3E}">
        <p14:creationId xmlns:p14="http://schemas.microsoft.com/office/powerpoint/2010/main" val="1791204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为了求解最优策略</a:t>
                </a:r>
                <a14:m>
                  <m:oMath xmlns:m="http://schemas.openxmlformats.org/officeDocument/2006/math">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i="1">
                            <a:solidFill>
                              <a:srgbClr val="000000"/>
                            </a:solidFill>
                            <a:latin typeface="Cambria Math" panose="02040503050406030204" pitchFamily="18" charset="0"/>
                            <a:ea typeface="+mn-ea"/>
                            <a:cs typeface="Times New Roman" panose="02020603050405020304" pitchFamily="18" charset="0"/>
                          </a:rPr>
                          <m:t>𝜋</m:t>
                        </m:r>
                      </m:e>
                      <m:sup>
                        <m:r>
                          <a:rPr lang="en-US" altLang="zh-CN" sz="1200" i="1">
                            <a:solidFill>
                              <a:srgbClr val="000000"/>
                            </a:solidFill>
                            <a:latin typeface="Cambria Math" panose="02040503050406030204" pitchFamily="18" charset="0"/>
                            <a:ea typeface="+mn-ea"/>
                            <a:cs typeface="Times New Roman" panose="02020603050405020304" pitchFamily="18" charset="0"/>
                          </a:rPr>
                          <m:t>∗</m:t>
                        </m:r>
                      </m:sup>
                    </m:sSup>
                  </m:oMath>
                </a14:m>
                <a:r>
                  <a:rPr lang="zh-CN" altLang="zh-CN" sz="1200" dirty="0">
                    <a:solidFill>
                      <a:srgbClr val="000000"/>
                    </a:solidFill>
                    <a:latin typeface="+mn-ea"/>
                    <a:ea typeface="+mn-ea"/>
                    <a:cs typeface="Times New Roman" panose="02020603050405020304" pitchFamily="18" charset="0"/>
                  </a:rPr>
                  <a:t>，图</a:t>
                </a:r>
                <a:r>
                  <a:rPr lang="en-US" altLang="zh-CN" sz="1200" dirty="0">
                    <a:solidFill>
                      <a:srgbClr val="000000"/>
                    </a:solidFill>
                    <a:latin typeface="+mn-ea"/>
                    <a:ea typeface="+mn-ea"/>
                    <a:cs typeface="Times New Roman" panose="02020603050405020304" pitchFamily="18" charset="0"/>
                  </a:rPr>
                  <a:t>6.7</a:t>
                </a:r>
                <a:r>
                  <a:rPr lang="zh-CN" altLang="zh-CN" sz="1200" dirty="0">
                    <a:solidFill>
                      <a:srgbClr val="000000"/>
                    </a:solidFill>
                    <a:latin typeface="+mn-ea"/>
                    <a:ea typeface="+mn-ea"/>
                    <a:cs typeface="Times New Roman" panose="02020603050405020304" pitchFamily="18" charset="0"/>
                  </a:rPr>
                  <a:t>中展示了一种思路：从一个任意的策略开始，首先计算该策略下价值函数（或动作</a:t>
                </a:r>
                <a:r>
                  <a:rPr lang="en-US" altLang="zh-CN" sz="1200" dirty="0">
                    <a:solidFill>
                      <a:srgbClr val="000000"/>
                    </a:solidFill>
                    <a:latin typeface="+mn-ea"/>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价值函数），然后根据价值函数调整改进策略使其更优，不断迭代这个过程直到策略收敛。通过策略计算价值函数的过程叫做策略评估（</a:t>
                </a:r>
                <a:r>
                  <a:rPr lang="en-US" altLang="zh-CN" sz="1200" dirty="0">
                    <a:solidFill>
                      <a:srgbClr val="000000"/>
                    </a:solidFill>
                    <a:latin typeface="+mn-ea"/>
                    <a:ea typeface="+mn-ea"/>
                    <a:cs typeface="Times New Roman" panose="02020603050405020304" pitchFamily="18" charset="0"/>
                  </a:rPr>
                  <a:t>policy evaluation</a:t>
                </a:r>
                <a:r>
                  <a:rPr lang="zh-CN" altLang="zh-CN" sz="1200" dirty="0">
                    <a:solidFill>
                      <a:srgbClr val="000000"/>
                    </a:solidFill>
                    <a:latin typeface="+mn-ea"/>
                    <a:ea typeface="+mn-ea"/>
                    <a:cs typeface="Times New Roman" panose="02020603050405020304" pitchFamily="18" charset="0"/>
                  </a:rPr>
                  <a:t>），通过价值函数优化策略的过程叫做策略优化（</a:t>
                </a:r>
                <a:r>
                  <a:rPr lang="en-US" altLang="zh-CN" sz="1200" dirty="0">
                    <a:solidFill>
                      <a:srgbClr val="000000"/>
                    </a:solidFill>
                    <a:latin typeface="+mn-ea"/>
                    <a:ea typeface="+mn-ea"/>
                    <a:cs typeface="Times New Roman" panose="02020603050405020304" pitchFamily="18" charset="0"/>
                  </a:rPr>
                  <a:t>policy improvement</a:t>
                </a:r>
                <a:r>
                  <a:rPr lang="zh-CN" altLang="zh-CN" sz="1200" dirty="0">
                    <a:solidFill>
                      <a:srgbClr val="000000"/>
                    </a:solidFill>
                    <a:latin typeface="+mn-ea"/>
                    <a:ea typeface="+mn-ea"/>
                    <a:cs typeface="Times New Roman" panose="02020603050405020304" pitchFamily="18" charset="0"/>
                  </a:rPr>
                  <a:t>），策略评估和策略优化交替进行的强化学习求解方法叫做通用策略迭代（</a:t>
                </a:r>
                <a:r>
                  <a:rPr lang="en-US" altLang="zh-CN" sz="1200" dirty="0">
                    <a:solidFill>
                      <a:srgbClr val="000000"/>
                    </a:solidFill>
                    <a:latin typeface="+mn-ea"/>
                    <a:ea typeface="+mn-ea"/>
                    <a:cs typeface="Times New Roman" panose="02020603050405020304" pitchFamily="18" charset="0"/>
                  </a:rPr>
                  <a:t>Generalized Policy Iteration</a:t>
                </a:r>
                <a:r>
                  <a:rPr lang="zh-CN" altLang="zh-CN" sz="1200" dirty="0">
                    <a:solidFill>
                      <a:srgbClr val="000000"/>
                    </a:solidFill>
                    <a:latin typeface="+mn-ea"/>
                    <a:ea typeface="+mn-ea"/>
                    <a:cs typeface="Times New Roman" panose="02020603050405020304" pitchFamily="18" charset="0"/>
                  </a:rPr>
                  <a:t>，</a:t>
                </a:r>
                <a:r>
                  <a:rPr lang="en-US" altLang="zh-CN" sz="1200" dirty="0">
                    <a:solidFill>
                      <a:srgbClr val="000000"/>
                    </a:solidFill>
                    <a:latin typeface="+mn-ea"/>
                    <a:ea typeface="+mn-ea"/>
                    <a:cs typeface="Times New Roman" panose="02020603050405020304" pitchFamily="18" charset="0"/>
                  </a:rPr>
                  <a:t>GPI</a:t>
                </a:r>
                <a:r>
                  <a:rPr lang="zh-CN" altLang="zh-CN" sz="1200" dirty="0">
                    <a:solidFill>
                      <a:srgbClr val="000000"/>
                    </a:solidFill>
                    <a:latin typeface="+mn-ea"/>
                    <a:ea typeface="+mn-ea"/>
                    <a:cs typeface="Times New Roman" panose="02020603050405020304" pitchFamily="18" charset="0"/>
                  </a:rPr>
                  <a:t>）。</a:t>
                </a:r>
              </a:p>
            </p:txBody>
          </p:sp>
        </mc:Choice>
        <mc:Fallback xmlns="">
          <p:sp>
            <p:nvSpPr>
              <p:cNvPr id="3" name="备注占位符 2"/>
              <p:cNvSpPr>
                <a:spLocks noGrp="1"/>
              </p:cNvSpPr>
              <p:nvPr>
                <p:ph type="body" idx="1"/>
              </p:nvPr>
            </p:nvSpPr>
            <p:spPr/>
            <p:txBody>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为了求解最优策略</a:t>
                </a:r>
                <a:r>
                  <a:rPr lang="en-US" altLang="zh-CN" sz="1200" i="0">
                    <a:solidFill>
                      <a:srgbClr val="000000"/>
                    </a:solidFill>
                    <a:latin typeface="Cambria Math" panose="02040503050406030204" pitchFamily="18" charset="0"/>
                    <a:ea typeface="+mn-ea"/>
                    <a:cs typeface="Times New Roman" panose="02020603050405020304" pitchFamily="18" charset="0"/>
                  </a:rPr>
                  <a:t>𝜋</a:t>
                </a:r>
                <a:r>
                  <a:rPr lang="zh-CN" altLang="zh-CN" sz="1200" i="0">
                    <a:solidFill>
                      <a:srgbClr val="000000"/>
                    </a:solidFill>
                    <a:latin typeface="Cambria Math" panose="02040503050406030204" pitchFamily="18" charset="0"/>
                    <a:ea typeface="+mn-ea"/>
                    <a:cs typeface="Times New Roman" panose="02020603050405020304" pitchFamily="18" charset="0"/>
                  </a:rPr>
                  <a:t>^</a:t>
                </a:r>
                <a:r>
                  <a:rPr lang="en-US" altLang="zh-CN" sz="1200" i="0">
                    <a:solidFill>
                      <a:srgbClr val="000000"/>
                    </a:solidFill>
                    <a:latin typeface="Cambria Math" panose="02040503050406030204" pitchFamily="18" charset="0"/>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，图</a:t>
                </a:r>
                <a:r>
                  <a:rPr lang="en-US" altLang="zh-CN" sz="1200" dirty="0">
                    <a:solidFill>
                      <a:srgbClr val="000000"/>
                    </a:solidFill>
                    <a:latin typeface="+mn-ea"/>
                    <a:ea typeface="+mn-ea"/>
                    <a:cs typeface="Times New Roman" panose="02020603050405020304" pitchFamily="18" charset="0"/>
                  </a:rPr>
                  <a:t>6.7</a:t>
                </a:r>
                <a:r>
                  <a:rPr lang="zh-CN" altLang="zh-CN" sz="1200" dirty="0">
                    <a:solidFill>
                      <a:srgbClr val="000000"/>
                    </a:solidFill>
                    <a:latin typeface="+mn-ea"/>
                    <a:ea typeface="+mn-ea"/>
                    <a:cs typeface="Times New Roman" panose="02020603050405020304" pitchFamily="18" charset="0"/>
                  </a:rPr>
                  <a:t>中展示了一种思路：从一个任意的策略开始，首先计算该策略下价值函数（或动作</a:t>
                </a:r>
                <a:r>
                  <a:rPr lang="en-US" altLang="zh-CN" sz="1200" dirty="0">
                    <a:solidFill>
                      <a:srgbClr val="000000"/>
                    </a:solidFill>
                    <a:latin typeface="+mn-ea"/>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价值函数），然后根据价值函数调整改进策略使其更优，不断迭代这个过程直到策略收敛。通过策略计算价值函数的过程叫做策略评估（</a:t>
                </a:r>
                <a:r>
                  <a:rPr lang="en-US" altLang="zh-CN" sz="1200" dirty="0">
                    <a:solidFill>
                      <a:srgbClr val="000000"/>
                    </a:solidFill>
                    <a:latin typeface="+mn-ea"/>
                    <a:ea typeface="+mn-ea"/>
                    <a:cs typeface="Times New Roman" panose="02020603050405020304" pitchFamily="18" charset="0"/>
                  </a:rPr>
                  <a:t>policy evaluation</a:t>
                </a:r>
                <a:r>
                  <a:rPr lang="zh-CN" altLang="zh-CN" sz="1200" dirty="0">
                    <a:solidFill>
                      <a:srgbClr val="000000"/>
                    </a:solidFill>
                    <a:latin typeface="+mn-ea"/>
                    <a:ea typeface="+mn-ea"/>
                    <a:cs typeface="Times New Roman" panose="02020603050405020304" pitchFamily="18" charset="0"/>
                  </a:rPr>
                  <a:t>），通过价值函数优化策略的过程叫做策略优化（</a:t>
                </a:r>
                <a:r>
                  <a:rPr lang="en-US" altLang="zh-CN" sz="1200" dirty="0">
                    <a:solidFill>
                      <a:srgbClr val="000000"/>
                    </a:solidFill>
                    <a:latin typeface="+mn-ea"/>
                    <a:ea typeface="+mn-ea"/>
                    <a:cs typeface="Times New Roman" panose="02020603050405020304" pitchFamily="18" charset="0"/>
                  </a:rPr>
                  <a:t>policy improvement</a:t>
                </a:r>
                <a:r>
                  <a:rPr lang="zh-CN" altLang="zh-CN" sz="1200" dirty="0">
                    <a:solidFill>
                      <a:srgbClr val="000000"/>
                    </a:solidFill>
                    <a:latin typeface="+mn-ea"/>
                    <a:ea typeface="+mn-ea"/>
                    <a:cs typeface="Times New Roman" panose="02020603050405020304" pitchFamily="18" charset="0"/>
                  </a:rPr>
                  <a:t>），策略评估和策略优化交替进行的强化学习求解方法叫做通用策略迭代（</a:t>
                </a:r>
                <a:r>
                  <a:rPr lang="en-US" altLang="zh-CN" sz="1200" dirty="0">
                    <a:solidFill>
                      <a:srgbClr val="000000"/>
                    </a:solidFill>
                    <a:latin typeface="+mn-ea"/>
                    <a:ea typeface="+mn-ea"/>
                    <a:cs typeface="Times New Roman" panose="02020603050405020304" pitchFamily="18" charset="0"/>
                  </a:rPr>
                  <a:t>Generalized Policy Iteration</a:t>
                </a:r>
                <a:r>
                  <a:rPr lang="zh-CN" altLang="zh-CN" sz="1200" dirty="0">
                    <a:solidFill>
                      <a:srgbClr val="000000"/>
                    </a:solidFill>
                    <a:latin typeface="+mn-ea"/>
                    <a:ea typeface="+mn-ea"/>
                    <a:cs typeface="Times New Roman" panose="02020603050405020304" pitchFamily="18" charset="0"/>
                  </a:rPr>
                  <a:t>，</a:t>
                </a:r>
                <a:r>
                  <a:rPr lang="en-US" altLang="zh-CN" sz="1200" dirty="0">
                    <a:solidFill>
                      <a:srgbClr val="000000"/>
                    </a:solidFill>
                    <a:latin typeface="+mn-ea"/>
                    <a:ea typeface="+mn-ea"/>
                    <a:cs typeface="Times New Roman" panose="02020603050405020304" pitchFamily="18" charset="0"/>
                  </a:rPr>
                  <a:t>GPI</a:t>
                </a:r>
                <a:r>
                  <a:rPr lang="zh-CN" altLang="zh-CN" sz="1200" dirty="0">
                    <a:solidFill>
                      <a:srgbClr val="000000"/>
                    </a:solidFill>
                    <a:latin typeface="+mn-ea"/>
                    <a:ea typeface="+mn-ea"/>
                    <a:cs typeface="Times New Roman" panose="02020603050405020304" pitchFamily="18" charset="0"/>
                  </a:rPr>
                  <a:t>）。</a:t>
                </a:r>
              </a:p>
            </p:txBody>
          </p:sp>
        </mc:Fallback>
      </mc:AlternateContent>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extLst>
      <p:ext uri="{BB962C8B-B14F-4D97-AF65-F5344CB8AC3E}">
        <p14:creationId xmlns:p14="http://schemas.microsoft.com/office/powerpoint/2010/main" val="353449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extLst>
      <p:ext uri="{BB962C8B-B14F-4D97-AF65-F5344CB8AC3E}">
        <p14:creationId xmlns:p14="http://schemas.microsoft.com/office/powerpoint/2010/main" val="1658815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为了求解最优策略</a:t>
                </a:r>
                <a14:m>
                  <m:oMath xmlns:m="http://schemas.openxmlformats.org/officeDocument/2006/math">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i="1">
                            <a:solidFill>
                              <a:srgbClr val="000000"/>
                            </a:solidFill>
                            <a:latin typeface="Cambria Math" panose="02040503050406030204" pitchFamily="18" charset="0"/>
                            <a:ea typeface="+mn-ea"/>
                            <a:cs typeface="Times New Roman" panose="02020603050405020304" pitchFamily="18" charset="0"/>
                          </a:rPr>
                          <m:t>𝜋</m:t>
                        </m:r>
                      </m:e>
                      <m:sup>
                        <m:r>
                          <a:rPr lang="en-US" altLang="zh-CN" sz="1200" i="1">
                            <a:solidFill>
                              <a:srgbClr val="000000"/>
                            </a:solidFill>
                            <a:latin typeface="Cambria Math" panose="02040503050406030204" pitchFamily="18" charset="0"/>
                            <a:ea typeface="+mn-ea"/>
                            <a:cs typeface="Times New Roman" panose="02020603050405020304" pitchFamily="18" charset="0"/>
                          </a:rPr>
                          <m:t>∗</m:t>
                        </m:r>
                      </m:sup>
                    </m:sSup>
                  </m:oMath>
                </a14:m>
                <a:r>
                  <a:rPr lang="zh-CN" altLang="zh-CN" sz="1200" dirty="0">
                    <a:solidFill>
                      <a:srgbClr val="000000"/>
                    </a:solidFill>
                    <a:latin typeface="+mn-ea"/>
                    <a:ea typeface="+mn-ea"/>
                    <a:cs typeface="Times New Roman" panose="02020603050405020304" pitchFamily="18" charset="0"/>
                  </a:rPr>
                  <a:t>，图</a:t>
                </a:r>
                <a:r>
                  <a:rPr lang="en-US" altLang="zh-CN" sz="1200" dirty="0">
                    <a:solidFill>
                      <a:srgbClr val="000000"/>
                    </a:solidFill>
                    <a:latin typeface="+mn-ea"/>
                    <a:ea typeface="+mn-ea"/>
                    <a:cs typeface="Times New Roman" panose="02020603050405020304" pitchFamily="18" charset="0"/>
                  </a:rPr>
                  <a:t>6.7</a:t>
                </a:r>
                <a:r>
                  <a:rPr lang="zh-CN" altLang="zh-CN" sz="1200" dirty="0">
                    <a:solidFill>
                      <a:srgbClr val="000000"/>
                    </a:solidFill>
                    <a:latin typeface="+mn-ea"/>
                    <a:ea typeface="+mn-ea"/>
                    <a:cs typeface="Times New Roman" panose="02020603050405020304" pitchFamily="18" charset="0"/>
                  </a:rPr>
                  <a:t>中展示了一种思路：从一个任意的策略开始，首先计算该策略下价值函数（或动作</a:t>
                </a:r>
                <a:r>
                  <a:rPr lang="en-US" altLang="zh-CN" sz="1200" dirty="0">
                    <a:solidFill>
                      <a:srgbClr val="000000"/>
                    </a:solidFill>
                    <a:latin typeface="+mn-ea"/>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价值函数），然后根据价值函数调整改进策略使其更优，不断迭代这个过程直到策略收敛。通过策略计算价值函数的过程叫做策略评估（</a:t>
                </a:r>
                <a:r>
                  <a:rPr lang="en-US" altLang="zh-CN" sz="1200" dirty="0">
                    <a:solidFill>
                      <a:srgbClr val="000000"/>
                    </a:solidFill>
                    <a:latin typeface="+mn-ea"/>
                    <a:ea typeface="+mn-ea"/>
                    <a:cs typeface="Times New Roman" panose="02020603050405020304" pitchFamily="18" charset="0"/>
                  </a:rPr>
                  <a:t>policy evaluation</a:t>
                </a:r>
                <a:r>
                  <a:rPr lang="zh-CN" altLang="zh-CN" sz="1200" dirty="0">
                    <a:solidFill>
                      <a:srgbClr val="000000"/>
                    </a:solidFill>
                    <a:latin typeface="+mn-ea"/>
                    <a:ea typeface="+mn-ea"/>
                    <a:cs typeface="Times New Roman" panose="02020603050405020304" pitchFamily="18" charset="0"/>
                  </a:rPr>
                  <a:t>），通过价值函数优化策略的过程叫做策略优化（</a:t>
                </a:r>
                <a:r>
                  <a:rPr lang="en-US" altLang="zh-CN" sz="1200" dirty="0">
                    <a:solidFill>
                      <a:srgbClr val="000000"/>
                    </a:solidFill>
                    <a:latin typeface="+mn-ea"/>
                    <a:ea typeface="+mn-ea"/>
                    <a:cs typeface="Times New Roman" panose="02020603050405020304" pitchFamily="18" charset="0"/>
                  </a:rPr>
                  <a:t>policy improvement</a:t>
                </a:r>
                <a:r>
                  <a:rPr lang="zh-CN" altLang="zh-CN" sz="1200" dirty="0">
                    <a:solidFill>
                      <a:srgbClr val="000000"/>
                    </a:solidFill>
                    <a:latin typeface="+mn-ea"/>
                    <a:ea typeface="+mn-ea"/>
                    <a:cs typeface="Times New Roman" panose="02020603050405020304" pitchFamily="18" charset="0"/>
                  </a:rPr>
                  <a:t>），策略评估和策略优化交替进行的强化学习求解方法叫做通用策略迭代（</a:t>
                </a:r>
                <a:r>
                  <a:rPr lang="en-US" altLang="zh-CN" sz="1200" dirty="0">
                    <a:solidFill>
                      <a:srgbClr val="000000"/>
                    </a:solidFill>
                    <a:latin typeface="+mn-ea"/>
                    <a:ea typeface="+mn-ea"/>
                    <a:cs typeface="Times New Roman" panose="02020603050405020304" pitchFamily="18" charset="0"/>
                  </a:rPr>
                  <a:t>Generalized Policy Iteration</a:t>
                </a:r>
                <a:r>
                  <a:rPr lang="zh-CN" altLang="zh-CN" sz="1200" dirty="0">
                    <a:solidFill>
                      <a:srgbClr val="000000"/>
                    </a:solidFill>
                    <a:latin typeface="+mn-ea"/>
                    <a:ea typeface="+mn-ea"/>
                    <a:cs typeface="Times New Roman" panose="02020603050405020304" pitchFamily="18" charset="0"/>
                  </a:rPr>
                  <a:t>，</a:t>
                </a:r>
                <a:r>
                  <a:rPr lang="en-US" altLang="zh-CN" sz="1200" dirty="0">
                    <a:solidFill>
                      <a:srgbClr val="000000"/>
                    </a:solidFill>
                    <a:latin typeface="+mn-ea"/>
                    <a:ea typeface="+mn-ea"/>
                    <a:cs typeface="Times New Roman" panose="02020603050405020304" pitchFamily="18" charset="0"/>
                  </a:rPr>
                  <a:t>GPI</a:t>
                </a:r>
                <a:r>
                  <a:rPr lang="zh-CN" altLang="zh-CN" sz="1200" dirty="0">
                    <a:solidFill>
                      <a:srgbClr val="000000"/>
                    </a:solidFill>
                    <a:latin typeface="+mn-ea"/>
                    <a:ea typeface="+mn-ea"/>
                    <a:cs typeface="Times New Roman" panose="02020603050405020304" pitchFamily="18" charset="0"/>
                  </a:rPr>
                  <a:t>）。</a:t>
                </a:r>
              </a:p>
            </p:txBody>
          </p:sp>
        </mc:Choice>
        <mc:Fallback xmlns="">
          <p:sp>
            <p:nvSpPr>
              <p:cNvPr id="3" name="备注占位符 2"/>
              <p:cNvSpPr>
                <a:spLocks noGrp="1"/>
              </p:cNvSpPr>
              <p:nvPr>
                <p:ph type="body" idx="1"/>
              </p:nvPr>
            </p:nvSpPr>
            <p:spPr/>
            <p:txBody>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为了求解最优策略</a:t>
                </a:r>
                <a:r>
                  <a:rPr lang="en-US" altLang="zh-CN" sz="1200" i="0">
                    <a:solidFill>
                      <a:srgbClr val="000000"/>
                    </a:solidFill>
                    <a:latin typeface="Cambria Math" panose="02040503050406030204" pitchFamily="18" charset="0"/>
                    <a:ea typeface="+mn-ea"/>
                    <a:cs typeface="Times New Roman" panose="02020603050405020304" pitchFamily="18" charset="0"/>
                  </a:rPr>
                  <a:t>𝜋</a:t>
                </a:r>
                <a:r>
                  <a:rPr lang="zh-CN" altLang="zh-CN" sz="1200" i="0">
                    <a:solidFill>
                      <a:srgbClr val="000000"/>
                    </a:solidFill>
                    <a:latin typeface="Cambria Math" panose="02040503050406030204" pitchFamily="18" charset="0"/>
                    <a:ea typeface="+mn-ea"/>
                    <a:cs typeface="Times New Roman" panose="02020603050405020304" pitchFamily="18" charset="0"/>
                  </a:rPr>
                  <a:t>^</a:t>
                </a:r>
                <a:r>
                  <a:rPr lang="en-US" altLang="zh-CN" sz="1200" i="0">
                    <a:solidFill>
                      <a:srgbClr val="000000"/>
                    </a:solidFill>
                    <a:latin typeface="Cambria Math" panose="02040503050406030204" pitchFamily="18" charset="0"/>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，图</a:t>
                </a:r>
                <a:r>
                  <a:rPr lang="en-US" altLang="zh-CN" sz="1200" dirty="0">
                    <a:solidFill>
                      <a:srgbClr val="000000"/>
                    </a:solidFill>
                    <a:latin typeface="+mn-ea"/>
                    <a:ea typeface="+mn-ea"/>
                    <a:cs typeface="Times New Roman" panose="02020603050405020304" pitchFamily="18" charset="0"/>
                  </a:rPr>
                  <a:t>6.7</a:t>
                </a:r>
                <a:r>
                  <a:rPr lang="zh-CN" altLang="zh-CN" sz="1200" dirty="0">
                    <a:solidFill>
                      <a:srgbClr val="000000"/>
                    </a:solidFill>
                    <a:latin typeface="+mn-ea"/>
                    <a:ea typeface="+mn-ea"/>
                    <a:cs typeface="Times New Roman" panose="02020603050405020304" pitchFamily="18" charset="0"/>
                  </a:rPr>
                  <a:t>中展示了一种思路：从一个任意的策略开始，首先计算该策略下价值函数（或动作</a:t>
                </a:r>
                <a:r>
                  <a:rPr lang="en-US" altLang="zh-CN" sz="1200" dirty="0">
                    <a:solidFill>
                      <a:srgbClr val="000000"/>
                    </a:solidFill>
                    <a:latin typeface="+mn-ea"/>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价值函数），然后根据价值函数调整改进策略使其更优，不断迭代这个过程直到策略收敛。通过策略计算价值函数的过程叫做策略评估（</a:t>
                </a:r>
                <a:r>
                  <a:rPr lang="en-US" altLang="zh-CN" sz="1200" dirty="0">
                    <a:solidFill>
                      <a:srgbClr val="000000"/>
                    </a:solidFill>
                    <a:latin typeface="+mn-ea"/>
                    <a:ea typeface="+mn-ea"/>
                    <a:cs typeface="Times New Roman" panose="02020603050405020304" pitchFamily="18" charset="0"/>
                  </a:rPr>
                  <a:t>policy evaluation</a:t>
                </a:r>
                <a:r>
                  <a:rPr lang="zh-CN" altLang="zh-CN" sz="1200" dirty="0">
                    <a:solidFill>
                      <a:srgbClr val="000000"/>
                    </a:solidFill>
                    <a:latin typeface="+mn-ea"/>
                    <a:ea typeface="+mn-ea"/>
                    <a:cs typeface="Times New Roman" panose="02020603050405020304" pitchFamily="18" charset="0"/>
                  </a:rPr>
                  <a:t>），通过价值函数优化策略的过程叫做策略优化（</a:t>
                </a:r>
                <a:r>
                  <a:rPr lang="en-US" altLang="zh-CN" sz="1200" dirty="0">
                    <a:solidFill>
                      <a:srgbClr val="000000"/>
                    </a:solidFill>
                    <a:latin typeface="+mn-ea"/>
                    <a:ea typeface="+mn-ea"/>
                    <a:cs typeface="Times New Roman" panose="02020603050405020304" pitchFamily="18" charset="0"/>
                  </a:rPr>
                  <a:t>policy improvement</a:t>
                </a:r>
                <a:r>
                  <a:rPr lang="zh-CN" altLang="zh-CN" sz="1200" dirty="0">
                    <a:solidFill>
                      <a:srgbClr val="000000"/>
                    </a:solidFill>
                    <a:latin typeface="+mn-ea"/>
                    <a:ea typeface="+mn-ea"/>
                    <a:cs typeface="Times New Roman" panose="02020603050405020304" pitchFamily="18" charset="0"/>
                  </a:rPr>
                  <a:t>），策略评估和策略优化交替进行的强化学习求解方法叫做通用策略迭代（</a:t>
                </a:r>
                <a:r>
                  <a:rPr lang="en-US" altLang="zh-CN" sz="1200" dirty="0">
                    <a:solidFill>
                      <a:srgbClr val="000000"/>
                    </a:solidFill>
                    <a:latin typeface="+mn-ea"/>
                    <a:ea typeface="+mn-ea"/>
                    <a:cs typeface="Times New Roman" panose="02020603050405020304" pitchFamily="18" charset="0"/>
                  </a:rPr>
                  <a:t>Generalized Policy Iteration</a:t>
                </a:r>
                <a:r>
                  <a:rPr lang="zh-CN" altLang="zh-CN" sz="1200" dirty="0">
                    <a:solidFill>
                      <a:srgbClr val="000000"/>
                    </a:solidFill>
                    <a:latin typeface="+mn-ea"/>
                    <a:ea typeface="+mn-ea"/>
                    <a:cs typeface="Times New Roman" panose="02020603050405020304" pitchFamily="18" charset="0"/>
                  </a:rPr>
                  <a:t>，</a:t>
                </a:r>
                <a:r>
                  <a:rPr lang="en-US" altLang="zh-CN" sz="1200" dirty="0">
                    <a:solidFill>
                      <a:srgbClr val="000000"/>
                    </a:solidFill>
                    <a:latin typeface="+mn-ea"/>
                    <a:ea typeface="+mn-ea"/>
                    <a:cs typeface="Times New Roman" panose="02020603050405020304" pitchFamily="18" charset="0"/>
                  </a:rPr>
                  <a:t>GPI</a:t>
                </a:r>
                <a:r>
                  <a:rPr lang="zh-CN" altLang="zh-CN" sz="1200" dirty="0">
                    <a:solidFill>
                      <a:srgbClr val="000000"/>
                    </a:solidFill>
                    <a:latin typeface="+mn-ea"/>
                    <a:ea typeface="+mn-ea"/>
                    <a:cs typeface="Times New Roman" panose="02020603050405020304" pitchFamily="18" charset="0"/>
                  </a:rPr>
                  <a:t>）。</a:t>
                </a:r>
              </a:p>
            </p:txBody>
          </p:sp>
        </mc:Fallback>
      </mc:AlternateContent>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973200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为了求解最优策略</a:t>
                </a:r>
                <a14:m>
                  <m:oMath xmlns:m="http://schemas.openxmlformats.org/officeDocument/2006/math">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i="1">
                            <a:solidFill>
                              <a:srgbClr val="000000"/>
                            </a:solidFill>
                            <a:latin typeface="Cambria Math" panose="02040503050406030204" pitchFamily="18" charset="0"/>
                            <a:ea typeface="+mn-ea"/>
                            <a:cs typeface="Times New Roman" panose="02020603050405020304" pitchFamily="18" charset="0"/>
                          </a:rPr>
                          <m:t>𝜋</m:t>
                        </m:r>
                      </m:e>
                      <m:sup>
                        <m:r>
                          <a:rPr lang="en-US" altLang="zh-CN" sz="1200" i="1">
                            <a:solidFill>
                              <a:srgbClr val="000000"/>
                            </a:solidFill>
                            <a:latin typeface="Cambria Math" panose="02040503050406030204" pitchFamily="18" charset="0"/>
                            <a:ea typeface="+mn-ea"/>
                            <a:cs typeface="Times New Roman" panose="02020603050405020304" pitchFamily="18" charset="0"/>
                          </a:rPr>
                          <m:t>∗</m:t>
                        </m:r>
                      </m:sup>
                    </m:sSup>
                  </m:oMath>
                </a14:m>
                <a:r>
                  <a:rPr lang="zh-CN" altLang="zh-CN" sz="1200" dirty="0">
                    <a:solidFill>
                      <a:srgbClr val="000000"/>
                    </a:solidFill>
                    <a:latin typeface="+mn-ea"/>
                    <a:ea typeface="+mn-ea"/>
                    <a:cs typeface="Times New Roman" panose="02020603050405020304" pitchFamily="18" charset="0"/>
                  </a:rPr>
                  <a:t>，图</a:t>
                </a:r>
                <a:r>
                  <a:rPr lang="en-US" altLang="zh-CN" sz="1200" dirty="0">
                    <a:solidFill>
                      <a:srgbClr val="000000"/>
                    </a:solidFill>
                    <a:latin typeface="+mn-ea"/>
                    <a:ea typeface="+mn-ea"/>
                    <a:cs typeface="Times New Roman" panose="02020603050405020304" pitchFamily="18" charset="0"/>
                  </a:rPr>
                  <a:t>6.7</a:t>
                </a:r>
                <a:r>
                  <a:rPr lang="zh-CN" altLang="zh-CN" sz="1200" dirty="0">
                    <a:solidFill>
                      <a:srgbClr val="000000"/>
                    </a:solidFill>
                    <a:latin typeface="+mn-ea"/>
                    <a:ea typeface="+mn-ea"/>
                    <a:cs typeface="Times New Roman" panose="02020603050405020304" pitchFamily="18" charset="0"/>
                  </a:rPr>
                  <a:t>中展示了一种思路：从一个任意的策略开始，首先计算该策略下价值函数（或动作</a:t>
                </a:r>
                <a:r>
                  <a:rPr lang="en-US" altLang="zh-CN" sz="1200" dirty="0">
                    <a:solidFill>
                      <a:srgbClr val="000000"/>
                    </a:solidFill>
                    <a:latin typeface="+mn-ea"/>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价值函数），然后根据价值函数调整改进策略使其更优，不断迭代这个过程直到策略收敛。通过策略计算价值函数的过程叫做策略评估（</a:t>
                </a:r>
                <a:r>
                  <a:rPr lang="en-US" altLang="zh-CN" sz="1200" dirty="0">
                    <a:solidFill>
                      <a:srgbClr val="000000"/>
                    </a:solidFill>
                    <a:latin typeface="+mn-ea"/>
                    <a:ea typeface="+mn-ea"/>
                    <a:cs typeface="Times New Roman" panose="02020603050405020304" pitchFamily="18" charset="0"/>
                  </a:rPr>
                  <a:t>policy evaluation</a:t>
                </a:r>
                <a:r>
                  <a:rPr lang="zh-CN" altLang="zh-CN" sz="1200" dirty="0">
                    <a:solidFill>
                      <a:srgbClr val="000000"/>
                    </a:solidFill>
                    <a:latin typeface="+mn-ea"/>
                    <a:ea typeface="+mn-ea"/>
                    <a:cs typeface="Times New Roman" panose="02020603050405020304" pitchFamily="18" charset="0"/>
                  </a:rPr>
                  <a:t>），通过价值函数优化策略的过程叫做策略优化（</a:t>
                </a:r>
                <a:r>
                  <a:rPr lang="en-US" altLang="zh-CN" sz="1200" dirty="0">
                    <a:solidFill>
                      <a:srgbClr val="000000"/>
                    </a:solidFill>
                    <a:latin typeface="+mn-ea"/>
                    <a:ea typeface="+mn-ea"/>
                    <a:cs typeface="Times New Roman" panose="02020603050405020304" pitchFamily="18" charset="0"/>
                  </a:rPr>
                  <a:t>policy improvement</a:t>
                </a:r>
                <a:r>
                  <a:rPr lang="zh-CN" altLang="zh-CN" sz="1200" dirty="0">
                    <a:solidFill>
                      <a:srgbClr val="000000"/>
                    </a:solidFill>
                    <a:latin typeface="+mn-ea"/>
                    <a:ea typeface="+mn-ea"/>
                    <a:cs typeface="Times New Roman" panose="02020603050405020304" pitchFamily="18" charset="0"/>
                  </a:rPr>
                  <a:t>），策略评估和策略优化交替进行的强化学习求解方法叫做通用策略迭代（</a:t>
                </a:r>
                <a:r>
                  <a:rPr lang="en-US" altLang="zh-CN" sz="1200" dirty="0">
                    <a:solidFill>
                      <a:srgbClr val="000000"/>
                    </a:solidFill>
                    <a:latin typeface="+mn-ea"/>
                    <a:ea typeface="+mn-ea"/>
                    <a:cs typeface="Times New Roman" panose="02020603050405020304" pitchFamily="18" charset="0"/>
                  </a:rPr>
                  <a:t>Generalized Policy Iteration</a:t>
                </a:r>
                <a:r>
                  <a:rPr lang="zh-CN" altLang="zh-CN" sz="1200" dirty="0">
                    <a:solidFill>
                      <a:srgbClr val="000000"/>
                    </a:solidFill>
                    <a:latin typeface="+mn-ea"/>
                    <a:ea typeface="+mn-ea"/>
                    <a:cs typeface="Times New Roman" panose="02020603050405020304" pitchFamily="18" charset="0"/>
                  </a:rPr>
                  <a:t>，</a:t>
                </a:r>
                <a:r>
                  <a:rPr lang="en-US" altLang="zh-CN" sz="1200" dirty="0">
                    <a:solidFill>
                      <a:srgbClr val="000000"/>
                    </a:solidFill>
                    <a:latin typeface="+mn-ea"/>
                    <a:ea typeface="+mn-ea"/>
                    <a:cs typeface="Times New Roman" panose="02020603050405020304" pitchFamily="18" charset="0"/>
                  </a:rPr>
                  <a:t>GPI</a:t>
                </a:r>
                <a:r>
                  <a:rPr lang="zh-CN" altLang="zh-CN" sz="1200" dirty="0">
                    <a:solidFill>
                      <a:srgbClr val="000000"/>
                    </a:solidFill>
                    <a:latin typeface="+mn-ea"/>
                    <a:ea typeface="+mn-ea"/>
                    <a:cs typeface="Times New Roman" panose="02020603050405020304" pitchFamily="18" charset="0"/>
                  </a:rPr>
                  <a:t>）。</a:t>
                </a:r>
              </a:p>
            </p:txBody>
          </p:sp>
        </mc:Choice>
        <mc:Fallback xmlns="">
          <p:sp>
            <p:nvSpPr>
              <p:cNvPr id="3" name="备注占位符 2"/>
              <p:cNvSpPr>
                <a:spLocks noGrp="1"/>
              </p:cNvSpPr>
              <p:nvPr>
                <p:ph type="body" idx="1"/>
              </p:nvPr>
            </p:nvSpPr>
            <p:spPr/>
            <p:txBody>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为了求解最优策略</a:t>
                </a:r>
                <a:r>
                  <a:rPr lang="en-US" altLang="zh-CN" sz="1200" i="0">
                    <a:solidFill>
                      <a:srgbClr val="000000"/>
                    </a:solidFill>
                    <a:latin typeface="Cambria Math" panose="02040503050406030204" pitchFamily="18" charset="0"/>
                    <a:ea typeface="+mn-ea"/>
                    <a:cs typeface="Times New Roman" panose="02020603050405020304" pitchFamily="18" charset="0"/>
                  </a:rPr>
                  <a:t>𝜋</a:t>
                </a:r>
                <a:r>
                  <a:rPr lang="zh-CN" altLang="zh-CN" sz="1200" i="0">
                    <a:solidFill>
                      <a:srgbClr val="000000"/>
                    </a:solidFill>
                    <a:latin typeface="Cambria Math" panose="02040503050406030204" pitchFamily="18" charset="0"/>
                    <a:ea typeface="+mn-ea"/>
                    <a:cs typeface="Times New Roman" panose="02020603050405020304" pitchFamily="18" charset="0"/>
                  </a:rPr>
                  <a:t>^</a:t>
                </a:r>
                <a:r>
                  <a:rPr lang="en-US" altLang="zh-CN" sz="1200" i="0">
                    <a:solidFill>
                      <a:srgbClr val="000000"/>
                    </a:solidFill>
                    <a:latin typeface="Cambria Math" panose="02040503050406030204" pitchFamily="18" charset="0"/>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，图</a:t>
                </a:r>
                <a:r>
                  <a:rPr lang="en-US" altLang="zh-CN" sz="1200" dirty="0">
                    <a:solidFill>
                      <a:srgbClr val="000000"/>
                    </a:solidFill>
                    <a:latin typeface="+mn-ea"/>
                    <a:ea typeface="+mn-ea"/>
                    <a:cs typeface="Times New Roman" panose="02020603050405020304" pitchFamily="18" charset="0"/>
                  </a:rPr>
                  <a:t>6.7</a:t>
                </a:r>
                <a:r>
                  <a:rPr lang="zh-CN" altLang="zh-CN" sz="1200" dirty="0">
                    <a:solidFill>
                      <a:srgbClr val="000000"/>
                    </a:solidFill>
                    <a:latin typeface="+mn-ea"/>
                    <a:ea typeface="+mn-ea"/>
                    <a:cs typeface="Times New Roman" panose="02020603050405020304" pitchFamily="18" charset="0"/>
                  </a:rPr>
                  <a:t>中展示了一种思路：从一个任意的策略开始，首先计算该策略下价值函数（或动作</a:t>
                </a:r>
                <a:r>
                  <a:rPr lang="en-US" altLang="zh-CN" sz="1200" dirty="0">
                    <a:solidFill>
                      <a:srgbClr val="000000"/>
                    </a:solidFill>
                    <a:latin typeface="+mn-ea"/>
                    <a:ea typeface="+mn-ea"/>
                    <a:cs typeface="Times New Roman" panose="02020603050405020304" pitchFamily="18" charset="0"/>
                  </a:rPr>
                  <a:t>-</a:t>
                </a:r>
                <a:r>
                  <a:rPr lang="zh-CN" altLang="zh-CN" sz="1200" dirty="0">
                    <a:solidFill>
                      <a:srgbClr val="000000"/>
                    </a:solidFill>
                    <a:latin typeface="+mn-ea"/>
                    <a:ea typeface="+mn-ea"/>
                    <a:cs typeface="Times New Roman" panose="02020603050405020304" pitchFamily="18" charset="0"/>
                  </a:rPr>
                  <a:t>价值函数），然后根据价值函数调整改进策略使其更优，不断迭代这个过程直到策略收敛。通过策略计算价值函数的过程叫做策略评估（</a:t>
                </a:r>
                <a:r>
                  <a:rPr lang="en-US" altLang="zh-CN" sz="1200" dirty="0">
                    <a:solidFill>
                      <a:srgbClr val="000000"/>
                    </a:solidFill>
                    <a:latin typeface="+mn-ea"/>
                    <a:ea typeface="+mn-ea"/>
                    <a:cs typeface="Times New Roman" panose="02020603050405020304" pitchFamily="18" charset="0"/>
                  </a:rPr>
                  <a:t>policy evaluation</a:t>
                </a:r>
                <a:r>
                  <a:rPr lang="zh-CN" altLang="zh-CN" sz="1200" dirty="0">
                    <a:solidFill>
                      <a:srgbClr val="000000"/>
                    </a:solidFill>
                    <a:latin typeface="+mn-ea"/>
                    <a:ea typeface="+mn-ea"/>
                    <a:cs typeface="Times New Roman" panose="02020603050405020304" pitchFamily="18" charset="0"/>
                  </a:rPr>
                  <a:t>），通过价值函数优化策略的过程叫做策略优化（</a:t>
                </a:r>
                <a:r>
                  <a:rPr lang="en-US" altLang="zh-CN" sz="1200" dirty="0">
                    <a:solidFill>
                      <a:srgbClr val="000000"/>
                    </a:solidFill>
                    <a:latin typeface="+mn-ea"/>
                    <a:ea typeface="+mn-ea"/>
                    <a:cs typeface="Times New Roman" panose="02020603050405020304" pitchFamily="18" charset="0"/>
                  </a:rPr>
                  <a:t>policy improvement</a:t>
                </a:r>
                <a:r>
                  <a:rPr lang="zh-CN" altLang="zh-CN" sz="1200" dirty="0">
                    <a:solidFill>
                      <a:srgbClr val="000000"/>
                    </a:solidFill>
                    <a:latin typeface="+mn-ea"/>
                    <a:ea typeface="+mn-ea"/>
                    <a:cs typeface="Times New Roman" panose="02020603050405020304" pitchFamily="18" charset="0"/>
                  </a:rPr>
                  <a:t>），策略评估和策略优化交替进行的强化学习求解方法叫做通用策略迭代（</a:t>
                </a:r>
                <a:r>
                  <a:rPr lang="en-US" altLang="zh-CN" sz="1200" dirty="0">
                    <a:solidFill>
                      <a:srgbClr val="000000"/>
                    </a:solidFill>
                    <a:latin typeface="+mn-ea"/>
                    <a:ea typeface="+mn-ea"/>
                    <a:cs typeface="Times New Roman" panose="02020603050405020304" pitchFamily="18" charset="0"/>
                  </a:rPr>
                  <a:t>Generalized Policy Iteration</a:t>
                </a:r>
                <a:r>
                  <a:rPr lang="zh-CN" altLang="zh-CN" sz="1200" dirty="0">
                    <a:solidFill>
                      <a:srgbClr val="000000"/>
                    </a:solidFill>
                    <a:latin typeface="+mn-ea"/>
                    <a:ea typeface="+mn-ea"/>
                    <a:cs typeface="Times New Roman" panose="02020603050405020304" pitchFamily="18" charset="0"/>
                  </a:rPr>
                  <a:t>，</a:t>
                </a:r>
                <a:r>
                  <a:rPr lang="en-US" altLang="zh-CN" sz="1200" dirty="0">
                    <a:solidFill>
                      <a:srgbClr val="000000"/>
                    </a:solidFill>
                    <a:latin typeface="+mn-ea"/>
                    <a:ea typeface="+mn-ea"/>
                    <a:cs typeface="Times New Roman" panose="02020603050405020304" pitchFamily="18" charset="0"/>
                  </a:rPr>
                  <a:t>GPI</a:t>
                </a:r>
                <a:r>
                  <a:rPr lang="zh-CN" altLang="zh-CN" sz="1200" dirty="0">
                    <a:solidFill>
                      <a:srgbClr val="000000"/>
                    </a:solidFill>
                    <a:latin typeface="+mn-ea"/>
                    <a:ea typeface="+mn-ea"/>
                    <a:cs typeface="Times New Roman" panose="02020603050405020304" pitchFamily="18" charset="0"/>
                  </a:rPr>
                  <a:t>）。</a:t>
                </a:r>
              </a:p>
            </p:txBody>
          </p:sp>
        </mc:Fallback>
      </mc:AlternateContent>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3347150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1167869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563866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extLst>
      <p:ext uri="{BB962C8B-B14F-4D97-AF65-F5344CB8AC3E}">
        <p14:creationId xmlns:p14="http://schemas.microsoft.com/office/powerpoint/2010/main" val="421694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2471756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12</a:t>
            </a:fld>
            <a:endParaRPr lang="zh-CN" altLang="en-US"/>
          </a:p>
        </p:txBody>
      </p:sp>
    </p:spTree>
    <p:extLst>
      <p:ext uri="{BB962C8B-B14F-4D97-AF65-F5344CB8AC3E}">
        <p14:creationId xmlns:p14="http://schemas.microsoft.com/office/powerpoint/2010/main" val="3934725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2416869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2964650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panose="020B0604020202020204" pitchFamily="34" charset="0"/>
                <a:ea typeface="+mn-ea"/>
                <a:cs typeface="+mn-cs"/>
              </a:rPr>
              <a:t>代表了强化学习中两种经典的动态规划方法：</a:t>
            </a:r>
            <a:r>
              <a:rPr lang="zh-CN" altLang="en-US" sz="1200" b="1" i="0" kern="1200" dirty="0" smtClean="0">
                <a:solidFill>
                  <a:schemeClr val="tx1"/>
                </a:solidFill>
                <a:effectLst/>
                <a:latin typeface="Arial" panose="020B0604020202020204" pitchFamily="34" charset="0"/>
                <a:ea typeface="+mn-ea"/>
                <a:cs typeface="+mn-cs"/>
              </a:rPr>
              <a:t>策略迭代（</a:t>
            </a:r>
            <a:r>
              <a:rPr lang="en-US" altLang="zh-CN" sz="1200" b="1" i="0" kern="1200" dirty="0" smtClean="0">
                <a:solidFill>
                  <a:schemeClr val="tx1"/>
                </a:solidFill>
                <a:effectLst/>
                <a:latin typeface="Arial" panose="020B0604020202020204" pitchFamily="34" charset="0"/>
                <a:ea typeface="+mn-ea"/>
                <a:cs typeface="+mn-cs"/>
              </a:rPr>
              <a:t>Policy Iteration</a:t>
            </a:r>
            <a:r>
              <a:rPr lang="zh-CN" altLang="en-US" sz="1200" b="1"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和</a:t>
            </a:r>
            <a:r>
              <a:rPr lang="zh-CN" altLang="en-US" sz="1200" b="1" i="0" kern="1200" dirty="0" smtClean="0">
                <a:solidFill>
                  <a:schemeClr val="tx1"/>
                </a:solidFill>
                <a:effectLst/>
                <a:latin typeface="Arial" panose="020B0604020202020204" pitchFamily="34" charset="0"/>
                <a:ea typeface="+mn-ea"/>
                <a:cs typeface="+mn-cs"/>
              </a:rPr>
              <a:t>价值迭代（</a:t>
            </a:r>
            <a:r>
              <a:rPr lang="en-US" altLang="zh-CN" sz="1200" b="1" i="0" kern="1200" dirty="0" smtClean="0">
                <a:solidFill>
                  <a:schemeClr val="tx1"/>
                </a:solidFill>
                <a:effectLst/>
                <a:latin typeface="Arial" panose="020B0604020202020204" pitchFamily="34" charset="0"/>
                <a:ea typeface="+mn-ea"/>
                <a:cs typeface="+mn-cs"/>
              </a:rPr>
              <a:t>Value Iteration</a:t>
            </a:r>
            <a:r>
              <a:rPr lang="zh-CN" altLang="en-US" sz="1200" b="1"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。它们的侧重点和实现方式有所不同</a:t>
            </a:r>
            <a:endParaRPr lang="en-US" altLang="zh-CN" sz="1200" b="0" i="0" kern="1200" dirty="0" smtClean="0">
              <a:solidFill>
                <a:schemeClr val="tx1"/>
              </a:solidFill>
              <a:effectLst/>
              <a:latin typeface="Arial" panose="020B0604020202020204" pitchFamily="34" charset="0"/>
              <a:ea typeface="+mn-ea"/>
              <a:cs typeface="+mn-cs"/>
            </a:endParaRPr>
          </a:p>
          <a:p>
            <a:endParaRPr lang="en-US" altLang="zh-CN" sz="1200" b="0" i="0" kern="1200" dirty="0" smtClean="0">
              <a:solidFill>
                <a:schemeClr val="tx1"/>
              </a:solidFill>
              <a:effectLst/>
              <a:latin typeface="Arial" panose="020B0604020202020204" pitchFamily="34" charset="0"/>
              <a:ea typeface="+mn-ea"/>
              <a:cs typeface="+mn-cs"/>
            </a:endParaRPr>
          </a:p>
          <a:p>
            <a:r>
              <a:rPr lang="zh-CN" altLang="en-US" sz="1200" b="1" i="0" kern="1200" dirty="0" smtClean="0">
                <a:solidFill>
                  <a:schemeClr val="tx1"/>
                </a:solidFill>
                <a:effectLst/>
                <a:latin typeface="Arial" panose="020B0604020202020204" pitchFamily="34" charset="0"/>
                <a:ea typeface="+mn-ea"/>
                <a:cs typeface="+mn-cs"/>
              </a:rPr>
              <a:t>左侧算法：策略迭代（</a:t>
            </a:r>
            <a:r>
              <a:rPr lang="en-US" altLang="zh-CN" sz="1200" b="1" i="0" kern="1200" dirty="0" smtClean="0">
                <a:solidFill>
                  <a:schemeClr val="tx1"/>
                </a:solidFill>
                <a:effectLst/>
                <a:latin typeface="Arial" panose="020B0604020202020204" pitchFamily="34" charset="0"/>
                <a:ea typeface="+mn-ea"/>
                <a:cs typeface="+mn-cs"/>
              </a:rPr>
              <a:t>Policy Iteration</a:t>
            </a:r>
            <a:r>
              <a:rPr lang="zh-CN" altLang="en-US" sz="1200" b="1" i="0" kern="1200" dirty="0" smtClean="0">
                <a:solidFill>
                  <a:schemeClr val="tx1"/>
                </a:solidFill>
                <a:effectLst/>
                <a:latin typeface="Arial" panose="020B0604020202020204" pitchFamily="34" charset="0"/>
                <a:ea typeface="+mn-ea"/>
                <a:cs typeface="+mn-cs"/>
              </a:rPr>
              <a:t>）</a:t>
            </a:r>
          </a:p>
          <a:p>
            <a:r>
              <a:rPr lang="zh-CN" altLang="en-US" sz="1200" b="1" i="0" kern="1200" dirty="0" smtClean="0">
                <a:solidFill>
                  <a:schemeClr val="tx1"/>
                </a:solidFill>
                <a:effectLst/>
                <a:latin typeface="Arial" panose="020B0604020202020204" pitchFamily="34" charset="0"/>
                <a:ea typeface="+mn-ea"/>
                <a:cs typeface="+mn-cs"/>
              </a:rPr>
              <a:t>侧重点</a:t>
            </a:r>
            <a:r>
              <a:rPr lang="zh-CN" altLang="en-US" sz="1200" b="0" i="0" kern="1200" dirty="0" smtClean="0">
                <a:solidFill>
                  <a:schemeClr val="tx1"/>
                </a:solidFill>
                <a:effectLst/>
                <a:latin typeface="Arial" panose="020B0604020202020204" pitchFamily="34" charset="0"/>
                <a:ea typeface="+mn-ea"/>
                <a:cs typeface="+mn-cs"/>
              </a:rPr>
              <a:t>：</a:t>
            </a:r>
          </a:p>
          <a:p>
            <a:r>
              <a:rPr lang="zh-CN" altLang="en-US" sz="1200" b="1" i="0" kern="1200" dirty="0" smtClean="0">
                <a:solidFill>
                  <a:schemeClr val="tx1"/>
                </a:solidFill>
                <a:effectLst/>
                <a:latin typeface="Arial" panose="020B0604020202020204" pitchFamily="34" charset="0"/>
                <a:ea typeface="+mn-ea"/>
                <a:cs typeface="+mn-cs"/>
              </a:rPr>
              <a:t>显式策略优化</a:t>
            </a:r>
            <a:r>
              <a:rPr lang="zh-CN" altLang="en-US" sz="1200" b="0" i="0" kern="1200" dirty="0" smtClean="0">
                <a:solidFill>
                  <a:schemeClr val="tx1"/>
                </a:solidFill>
                <a:effectLst/>
                <a:latin typeface="Arial" panose="020B0604020202020204" pitchFamily="34" charset="0"/>
                <a:ea typeface="+mn-ea"/>
                <a:cs typeface="+mn-cs"/>
              </a:rPr>
              <a:t>：直接维护并迭代更新策略</a:t>
            </a:r>
            <a:r>
              <a:rPr lang="en-US" altLang="zh-CN" sz="1200" b="0" i="1" kern="1200" dirty="0" smtClean="0">
                <a:solidFill>
                  <a:schemeClr val="tx1"/>
                </a:solidFill>
                <a:effectLst/>
                <a:latin typeface="Arial" panose="020B0604020202020204" pitchFamily="34" charset="0"/>
                <a:ea typeface="+mn-ea"/>
                <a:cs typeface="+mn-cs"/>
              </a:rPr>
              <a:t>π</a:t>
            </a:r>
            <a:r>
              <a:rPr lang="zh-CN" altLang="en-US" sz="1200" b="0" i="0" kern="1200" dirty="0" smtClean="0">
                <a:solidFill>
                  <a:schemeClr val="tx1"/>
                </a:solidFill>
                <a:effectLst/>
                <a:latin typeface="Arial" panose="020B0604020202020204" pitchFamily="34" charset="0"/>
                <a:ea typeface="+mn-ea"/>
                <a:cs typeface="+mn-cs"/>
              </a:rPr>
              <a:t>，通过交替进行策略评估和策略改进来逐步优化策略。</a:t>
            </a:r>
          </a:p>
          <a:p>
            <a:r>
              <a:rPr lang="zh-CN" altLang="en-US" sz="1200" b="1" i="0" kern="1200" dirty="0" smtClean="0">
                <a:solidFill>
                  <a:schemeClr val="tx1"/>
                </a:solidFill>
                <a:effectLst/>
                <a:latin typeface="Arial" panose="020B0604020202020204" pitchFamily="34" charset="0"/>
                <a:ea typeface="+mn-ea"/>
                <a:cs typeface="+mn-cs"/>
              </a:rPr>
              <a:t>分阶段进行</a:t>
            </a:r>
            <a:r>
              <a:rPr lang="zh-CN" altLang="en-US" sz="1200" b="0" i="0" kern="1200" dirty="0" smtClean="0">
                <a:solidFill>
                  <a:schemeClr val="tx1"/>
                </a:solidFill>
                <a:effectLst/>
                <a:latin typeface="Arial" panose="020B0604020202020204" pitchFamily="34" charset="0"/>
                <a:ea typeface="+mn-ea"/>
                <a:cs typeface="+mn-cs"/>
              </a:rPr>
              <a:t>：</a:t>
            </a:r>
          </a:p>
          <a:p>
            <a:pPr lvl="1"/>
            <a:r>
              <a:rPr lang="zh-CN" altLang="en-US" sz="1200" b="1" i="0" kern="1200" dirty="0" smtClean="0">
                <a:solidFill>
                  <a:schemeClr val="tx1"/>
                </a:solidFill>
                <a:effectLst/>
                <a:latin typeface="Arial" panose="020B0604020202020204" pitchFamily="34" charset="0"/>
                <a:ea typeface="+mn-ea"/>
                <a:cs typeface="+mn-cs"/>
              </a:rPr>
              <a:t>策略评估阶段</a:t>
            </a:r>
            <a:r>
              <a:rPr lang="zh-CN" altLang="en-US" sz="1200" b="0" i="0" kern="1200" dirty="0" smtClean="0">
                <a:solidFill>
                  <a:schemeClr val="tx1"/>
                </a:solidFill>
                <a:effectLst/>
                <a:latin typeface="Arial" panose="020B0604020202020204" pitchFamily="34" charset="0"/>
                <a:ea typeface="+mn-ea"/>
                <a:cs typeface="+mn-cs"/>
              </a:rPr>
              <a:t>（第</a:t>
            </a:r>
            <a:r>
              <a:rPr lang="en-US" altLang="zh-CN" sz="1200" b="0" i="0" kern="1200" dirty="0" smtClean="0">
                <a:solidFill>
                  <a:schemeClr val="tx1"/>
                </a:solidFill>
                <a:effectLst/>
                <a:latin typeface="Arial" panose="020B0604020202020204" pitchFamily="34" charset="0"/>
                <a:ea typeface="+mn-ea"/>
                <a:cs typeface="+mn-cs"/>
              </a:rPr>
              <a:t>3</a:t>
            </a:r>
            <a:r>
              <a:rPr lang="zh-CN" altLang="en-US" sz="1200" b="0" i="0" kern="1200" dirty="0" smtClean="0">
                <a:solidFill>
                  <a:schemeClr val="tx1"/>
                </a:solidFill>
                <a:effectLst/>
                <a:latin typeface="Arial" panose="020B0604020202020204" pitchFamily="34" charset="0"/>
                <a:ea typeface="+mn-ea"/>
                <a:cs typeface="+mn-cs"/>
              </a:rPr>
              <a:t>行）：计算当前策略 </a:t>
            </a:r>
            <a:r>
              <a:rPr lang="en-US" altLang="zh-CN" sz="1200" b="0" i="1" kern="1200" dirty="0" smtClean="0">
                <a:solidFill>
                  <a:schemeClr val="tx1"/>
                </a:solidFill>
                <a:effectLst/>
                <a:latin typeface="Arial" panose="020B0604020202020204" pitchFamily="34" charset="0"/>
                <a:ea typeface="+mn-ea"/>
                <a:cs typeface="+mn-cs"/>
              </a:rPr>
              <a:t>π</a:t>
            </a:r>
            <a:r>
              <a:rPr lang="zh-CN" altLang="en-US" sz="1200" b="0" i="0" kern="1200" dirty="0" smtClean="0">
                <a:solidFill>
                  <a:schemeClr val="tx1"/>
                </a:solidFill>
                <a:effectLst/>
                <a:latin typeface="Arial" panose="020B0604020202020204" pitchFamily="34" charset="0"/>
                <a:ea typeface="+mn-ea"/>
                <a:cs typeface="+mn-cs"/>
              </a:rPr>
              <a:t> 下的动作价值函数 </a:t>
            </a:r>
            <a:r>
              <a:rPr lang="en-US" altLang="zh-CN" sz="1200" b="0" i="1" kern="1200" dirty="0" smtClean="0">
                <a:solidFill>
                  <a:schemeClr val="tx1"/>
                </a:solidFill>
                <a:effectLst/>
                <a:latin typeface="Arial" panose="020B0604020202020204" pitchFamily="34" charset="0"/>
                <a:ea typeface="+mn-ea"/>
                <a:cs typeface="+mn-cs"/>
              </a:rPr>
              <a:t>qπ</a:t>
            </a:r>
            <a:r>
              <a:rPr lang="zh-CN" altLang="en-US" sz="1200" b="0" i="0" kern="1200" dirty="0" smtClean="0">
                <a:solidFill>
                  <a:schemeClr val="tx1"/>
                </a:solidFill>
                <a:effectLst/>
                <a:latin typeface="Arial" panose="020B0604020202020204" pitchFamily="34" charset="0"/>
                <a:ea typeface="+mn-ea"/>
                <a:cs typeface="+mn-cs"/>
              </a:rPr>
              <a:t>​（或状态价值函数 </a:t>
            </a:r>
            <a:r>
              <a:rPr lang="en-US" altLang="zh-CN" sz="1200" b="0" i="1" kern="1200" dirty="0" smtClean="0">
                <a:solidFill>
                  <a:schemeClr val="tx1"/>
                </a:solidFill>
                <a:effectLst/>
                <a:latin typeface="Arial" panose="020B0604020202020204" pitchFamily="34" charset="0"/>
                <a:ea typeface="+mn-ea"/>
                <a:cs typeface="+mn-cs"/>
              </a:rPr>
              <a:t>Vπ</a:t>
            </a:r>
            <a:r>
              <a:rPr lang="zh-CN" altLang="en-US" sz="1200" b="0" i="0" kern="1200" dirty="0" smtClean="0">
                <a:solidFill>
                  <a:schemeClr val="tx1"/>
                </a:solidFill>
                <a:effectLst/>
                <a:latin typeface="Arial" panose="020B0604020202020204" pitchFamily="34" charset="0"/>
                <a:ea typeface="+mn-ea"/>
                <a:cs typeface="+mn-cs"/>
              </a:rPr>
              <a:t>​）。</a:t>
            </a:r>
          </a:p>
          <a:p>
            <a:pPr lvl="1"/>
            <a:r>
              <a:rPr lang="zh-CN" altLang="en-US" sz="1200" b="1" i="0" kern="1200" dirty="0" smtClean="0">
                <a:solidFill>
                  <a:schemeClr val="tx1"/>
                </a:solidFill>
                <a:effectLst/>
                <a:latin typeface="Arial" panose="020B0604020202020204" pitchFamily="34" charset="0"/>
                <a:ea typeface="+mn-ea"/>
                <a:cs typeface="+mn-cs"/>
              </a:rPr>
              <a:t>策略改进阶段</a:t>
            </a:r>
            <a:r>
              <a:rPr lang="zh-CN" altLang="en-US" sz="1200" b="0" i="0" kern="1200" dirty="0" smtClean="0">
                <a:solidFill>
                  <a:schemeClr val="tx1"/>
                </a:solidFill>
                <a:effectLst/>
                <a:latin typeface="Arial" panose="020B0604020202020204" pitchFamily="34" charset="0"/>
                <a:ea typeface="+mn-ea"/>
                <a:cs typeface="+mn-cs"/>
              </a:rPr>
              <a:t>（第</a:t>
            </a:r>
            <a:r>
              <a:rPr lang="en-US" altLang="zh-CN" sz="1200" b="0" i="0" kern="1200" dirty="0" smtClean="0">
                <a:solidFill>
                  <a:schemeClr val="tx1"/>
                </a:solidFill>
                <a:effectLst/>
                <a:latin typeface="Arial" panose="020B0604020202020204" pitchFamily="34" charset="0"/>
                <a:ea typeface="+mn-ea"/>
                <a:cs typeface="+mn-cs"/>
              </a:rPr>
              <a:t>4-6</a:t>
            </a:r>
            <a:r>
              <a:rPr lang="zh-CN" altLang="en-US" sz="1200" b="0" i="0" kern="1200" dirty="0" smtClean="0">
                <a:solidFill>
                  <a:schemeClr val="tx1"/>
                </a:solidFill>
                <a:effectLst/>
                <a:latin typeface="Arial" panose="020B0604020202020204" pitchFamily="34" charset="0"/>
                <a:ea typeface="+mn-ea"/>
                <a:cs typeface="+mn-cs"/>
              </a:rPr>
              <a:t>行）：根据评估结果贪婪地更新策略，选择每个状态下最优的动作。</a:t>
            </a:r>
            <a:endParaRPr lang="en-US" altLang="zh-CN" sz="1200" b="0" i="0" kern="1200" dirty="0" smtClean="0">
              <a:solidFill>
                <a:schemeClr val="tx1"/>
              </a:solidFill>
              <a:effectLst/>
              <a:latin typeface="Arial" panose="020B0604020202020204" pitchFamily="34" charset="0"/>
              <a:ea typeface="+mn-ea"/>
              <a:cs typeface="+mn-cs"/>
            </a:endParaRPr>
          </a:p>
          <a:p>
            <a:pPr lvl="1"/>
            <a:endParaRPr lang="en-US" altLang="zh-CN" sz="1200" b="0" i="0" kern="1200" dirty="0" smtClean="0">
              <a:solidFill>
                <a:schemeClr val="tx1"/>
              </a:solidFill>
              <a:effectLst/>
              <a:latin typeface="Arial" panose="020B0604020202020204" pitchFamily="34" charset="0"/>
              <a:ea typeface="+mn-ea"/>
              <a:cs typeface="+mn-cs"/>
            </a:endParaRPr>
          </a:p>
          <a:p>
            <a:r>
              <a:rPr lang="zh-CN" altLang="en-US" sz="1200" b="1" i="0" kern="1200" dirty="0" smtClean="0">
                <a:solidFill>
                  <a:schemeClr val="tx1"/>
                </a:solidFill>
                <a:effectLst/>
                <a:latin typeface="Arial" panose="020B0604020202020204" pitchFamily="34" charset="0"/>
                <a:ea typeface="+mn-ea"/>
                <a:cs typeface="+mn-cs"/>
              </a:rPr>
              <a:t>右侧算法：价值迭代（</a:t>
            </a:r>
            <a:r>
              <a:rPr lang="en-US" altLang="zh-CN" sz="1200" b="1" i="0" kern="1200" dirty="0" smtClean="0">
                <a:solidFill>
                  <a:schemeClr val="tx1"/>
                </a:solidFill>
                <a:effectLst/>
                <a:latin typeface="Arial" panose="020B0604020202020204" pitchFamily="34" charset="0"/>
                <a:ea typeface="+mn-ea"/>
                <a:cs typeface="+mn-cs"/>
              </a:rPr>
              <a:t>Value Iteration</a:t>
            </a:r>
            <a:r>
              <a:rPr lang="zh-CN" altLang="en-US" sz="1200" b="1" i="0" kern="1200" dirty="0" smtClean="0">
                <a:solidFill>
                  <a:schemeClr val="tx1"/>
                </a:solidFill>
                <a:effectLst/>
                <a:latin typeface="Arial" panose="020B0604020202020204" pitchFamily="34" charset="0"/>
                <a:ea typeface="+mn-ea"/>
                <a:cs typeface="+mn-cs"/>
              </a:rPr>
              <a:t>）</a:t>
            </a:r>
          </a:p>
          <a:p>
            <a:r>
              <a:rPr lang="zh-CN" altLang="en-US" sz="1200" b="1" i="0" kern="1200" dirty="0" smtClean="0">
                <a:solidFill>
                  <a:schemeClr val="tx1"/>
                </a:solidFill>
                <a:effectLst/>
                <a:latin typeface="Arial" panose="020B0604020202020204" pitchFamily="34" charset="0"/>
                <a:ea typeface="+mn-ea"/>
                <a:cs typeface="+mn-cs"/>
              </a:rPr>
              <a:t>侧重点</a:t>
            </a:r>
            <a:r>
              <a:rPr lang="zh-CN" altLang="en-US" sz="1200" b="0" i="0" kern="1200" dirty="0" smtClean="0">
                <a:solidFill>
                  <a:schemeClr val="tx1"/>
                </a:solidFill>
                <a:effectLst/>
                <a:latin typeface="Arial" panose="020B0604020202020204" pitchFamily="34" charset="0"/>
                <a:ea typeface="+mn-ea"/>
                <a:cs typeface="+mn-cs"/>
              </a:rPr>
              <a:t>：</a:t>
            </a:r>
          </a:p>
          <a:p>
            <a:r>
              <a:rPr lang="zh-CN" altLang="en-US" sz="1200" b="1" i="0" kern="1200" dirty="0" smtClean="0">
                <a:solidFill>
                  <a:schemeClr val="tx1"/>
                </a:solidFill>
                <a:effectLst/>
                <a:latin typeface="Arial" panose="020B0604020202020204" pitchFamily="34" charset="0"/>
                <a:ea typeface="+mn-ea"/>
                <a:cs typeface="+mn-cs"/>
              </a:rPr>
              <a:t>隐式策略优化</a:t>
            </a:r>
            <a:r>
              <a:rPr lang="zh-CN" altLang="en-US" sz="1200" b="0" i="0" kern="1200" dirty="0" smtClean="0">
                <a:solidFill>
                  <a:schemeClr val="tx1"/>
                </a:solidFill>
                <a:effectLst/>
                <a:latin typeface="Arial" panose="020B0604020202020204" pitchFamily="34" charset="0"/>
                <a:ea typeface="+mn-ea"/>
                <a:cs typeface="+mn-cs"/>
              </a:rPr>
              <a:t>：不直接维护策略，而是通过迭代更新状态价值函数 </a:t>
            </a:r>
            <a:r>
              <a:rPr lang="en-US" altLang="zh-CN" sz="1200" b="0" i="1" kern="1200" dirty="0" err="1" smtClean="0">
                <a:solidFill>
                  <a:schemeClr val="tx1"/>
                </a:solidFill>
                <a:effectLst/>
                <a:latin typeface="Arial" panose="020B0604020202020204" pitchFamily="34" charset="0"/>
                <a:ea typeface="+mn-ea"/>
                <a:cs typeface="+mn-cs"/>
              </a:rPr>
              <a:t>Vn</a:t>
            </a:r>
            <a:r>
              <a:rPr lang="zh-CN" altLang="en-US" sz="1200" b="0" i="0" kern="1200" dirty="0" smtClean="0">
                <a:solidFill>
                  <a:schemeClr val="tx1"/>
                </a:solidFill>
                <a:effectLst/>
                <a:latin typeface="Arial" panose="020B0604020202020204" pitchFamily="34" charset="0"/>
                <a:ea typeface="+mn-ea"/>
                <a:cs typeface="+mn-cs"/>
              </a:rPr>
              <a:t>​，最终通过 </a:t>
            </a:r>
            <a:r>
              <a:rPr lang="en-US" altLang="zh-CN" sz="1200" b="0" i="1" kern="1200" dirty="0" err="1" smtClean="0">
                <a:solidFill>
                  <a:schemeClr val="tx1"/>
                </a:solidFill>
                <a:effectLst/>
                <a:latin typeface="Arial" panose="020B0604020202020204" pitchFamily="34" charset="0"/>
                <a:ea typeface="+mn-ea"/>
                <a:cs typeface="+mn-cs"/>
              </a:rPr>
              <a:t>Vn</a:t>
            </a:r>
            <a:r>
              <a:rPr lang="zh-CN" altLang="en-US" sz="1200" b="0" i="0" kern="1200" dirty="0" smtClean="0">
                <a:solidFill>
                  <a:schemeClr val="tx1"/>
                </a:solidFill>
                <a:effectLst/>
                <a:latin typeface="Arial" panose="020B0604020202020204" pitchFamily="34" charset="0"/>
                <a:ea typeface="+mn-ea"/>
                <a:cs typeface="+mn-cs"/>
              </a:rPr>
              <a:t>​ 导出最优策略。</a:t>
            </a:r>
          </a:p>
          <a:p>
            <a:r>
              <a:rPr lang="zh-CN" altLang="en-US" sz="1200" b="1" i="0" kern="1200" dirty="0" smtClean="0">
                <a:solidFill>
                  <a:schemeClr val="tx1"/>
                </a:solidFill>
                <a:effectLst/>
                <a:latin typeface="Arial" panose="020B0604020202020204" pitchFamily="34" charset="0"/>
                <a:ea typeface="+mn-ea"/>
                <a:cs typeface="+mn-cs"/>
              </a:rPr>
              <a:t>融合评估与改进</a:t>
            </a:r>
            <a:r>
              <a:rPr lang="zh-CN" altLang="en-US" sz="1200" b="0" i="0" kern="1200" dirty="0" smtClean="0">
                <a:solidFill>
                  <a:schemeClr val="tx1"/>
                </a:solidFill>
                <a:effectLst/>
                <a:latin typeface="Arial" panose="020B0604020202020204" pitchFamily="34" charset="0"/>
                <a:ea typeface="+mn-ea"/>
                <a:cs typeface="+mn-cs"/>
              </a:rPr>
              <a:t>：</a:t>
            </a:r>
          </a:p>
          <a:p>
            <a:pPr lvl="1"/>
            <a:r>
              <a:rPr lang="zh-CN" altLang="en-US" sz="1200" b="0" i="0" kern="1200" dirty="0" smtClean="0">
                <a:solidFill>
                  <a:schemeClr val="tx1"/>
                </a:solidFill>
                <a:effectLst/>
                <a:latin typeface="Arial" panose="020B0604020202020204" pitchFamily="34" charset="0"/>
                <a:ea typeface="+mn-ea"/>
                <a:cs typeface="+mn-cs"/>
              </a:rPr>
              <a:t>每次迭代直接对所有状态应用贝尔曼最优方程（第</a:t>
            </a:r>
            <a:r>
              <a:rPr lang="en-US" altLang="zh-CN" sz="1200" b="0" i="0" kern="1200" dirty="0" smtClean="0">
                <a:solidFill>
                  <a:schemeClr val="tx1"/>
                </a:solidFill>
                <a:effectLst/>
                <a:latin typeface="Arial" panose="020B0604020202020204" pitchFamily="34" charset="0"/>
                <a:ea typeface="+mn-ea"/>
                <a:cs typeface="+mn-cs"/>
              </a:rPr>
              <a:t>4</a:t>
            </a:r>
            <a:r>
              <a:rPr lang="zh-CN" altLang="en-US" sz="1200" b="0" i="0" kern="1200" dirty="0" smtClean="0">
                <a:solidFill>
                  <a:schemeClr val="tx1"/>
                </a:solidFill>
                <a:effectLst/>
                <a:latin typeface="Arial" panose="020B0604020202020204" pitchFamily="34" charset="0"/>
                <a:ea typeface="+mn-ea"/>
                <a:cs typeface="+mn-cs"/>
              </a:rPr>
              <a:t>行），同时完成“评估”和“改进”（通过 </a:t>
            </a:r>
            <a:r>
              <a:rPr lang="en-US" altLang="zh-CN" sz="1200" b="0" i="0" kern="1200" dirty="0" err="1" smtClean="0">
                <a:solidFill>
                  <a:schemeClr val="tx1"/>
                </a:solidFill>
                <a:effectLst/>
                <a:latin typeface="Arial" panose="020B0604020202020204" pitchFamily="34" charset="0"/>
                <a:ea typeface="+mn-ea"/>
                <a:cs typeface="+mn-cs"/>
              </a:rPr>
              <a:t>max</a:t>
            </a:r>
            <a:r>
              <a:rPr lang="en-US" altLang="zh-CN" sz="1200" b="0" i="1" kern="1200" dirty="0" err="1" smtClean="0">
                <a:solidFill>
                  <a:schemeClr val="tx1"/>
                </a:solidFill>
                <a:effectLst/>
                <a:latin typeface="Arial" panose="020B0604020202020204" pitchFamily="34" charset="0"/>
                <a:ea typeface="+mn-ea"/>
                <a:cs typeface="+mn-cs"/>
              </a:rPr>
              <a:t>a</a:t>
            </a:r>
            <a:r>
              <a:rPr lang="zh-CN" altLang="en-US" sz="1200" b="0" i="0" kern="1200" dirty="0" smtClean="0">
                <a:solidFill>
                  <a:schemeClr val="tx1"/>
                </a:solidFill>
                <a:effectLst/>
                <a:latin typeface="Arial" panose="020B0604020202020204" pitchFamily="34" charset="0"/>
                <a:ea typeface="+mn-ea"/>
                <a:cs typeface="+mn-cs"/>
              </a:rPr>
              <a:t>​ 操作）。</a:t>
            </a:r>
          </a:p>
          <a:p>
            <a:pPr lvl="1"/>
            <a:endParaRPr lang="zh-CN" altLang="en-US" sz="1200" b="0" i="0" kern="1200" dirty="0" smtClean="0">
              <a:solidFill>
                <a:schemeClr val="tx1"/>
              </a:solidFill>
              <a:effectLst/>
              <a:latin typeface="Arial" panose="020B0604020202020204" pitchFamily="34" charset="0"/>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3375484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1" kern="1200" dirty="0" smtClean="0">
                <a:solidFill>
                  <a:schemeClr val="tx1"/>
                </a:solidFill>
                <a:effectLst/>
                <a:latin typeface="Arial" panose="020B0604020202020204" pitchFamily="34" charset="0"/>
                <a:ea typeface="+mn-ea"/>
                <a:cs typeface="+mn-cs"/>
              </a:rPr>
              <a:t>这里的 </a:t>
            </a:r>
            <a:r>
              <a:rPr lang="en-US" altLang="zh-CN" sz="1200" b="0" i="0" kern="1200" dirty="0" smtClean="0">
                <a:solidFill>
                  <a:schemeClr val="tx1"/>
                </a:solidFill>
                <a:effectLst/>
                <a:latin typeface="Arial" panose="020B0604020202020204" pitchFamily="34" charset="0"/>
                <a:ea typeface="+mn-ea"/>
                <a:cs typeface="+mn-cs"/>
              </a:rPr>
              <a:t>max⁡ </a:t>
            </a:r>
            <a:r>
              <a:rPr lang="zh-CN" altLang="en-US" sz="1200" b="0" i="1" kern="1200" dirty="0" smtClean="0">
                <a:solidFill>
                  <a:schemeClr val="tx1"/>
                </a:solidFill>
                <a:effectLst/>
                <a:latin typeface="Arial" panose="020B0604020202020204" pitchFamily="34" charset="0"/>
                <a:ea typeface="+mn-ea"/>
                <a:cs typeface="+mn-cs"/>
              </a:rPr>
              <a:t>操作意味着我们假设下一步一定会走最好的那一步，不管实际上智能体是不是真的走了那一步。</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1810762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8059043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1834380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0.2+0.5*</a:t>
            </a:r>
            <a:r>
              <a:rPr lang="zh-CN" altLang="en-US" dirty="0" smtClean="0"/>
              <a:t>（</a:t>
            </a:r>
            <a:r>
              <a:rPr lang="en-US" altLang="zh-CN" dirty="0" smtClean="0"/>
              <a:t>-1+0.99*0-0.2</a:t>
            </a:r>
            <a:r>
              <a:rPr lang="zh-CN" altLang="en-US" dirty="0" smtClean="0"/>
              <a:t>）</a:t>
            </a:r>
            <a:r>
              <a:rPr lang="en-US" altLang="zh-CN" dirty="0" smtClean="0"/>
              <a:t>=-0.4</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1791288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2203305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8285601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41688504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2705223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4012207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13558052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32014577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30336430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3973772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a:defRPr/>
            </a:pPr>
            <a:fld id="{85DA7FE9-AB88-4379-97FD-648A0EE06558}" type="slidenum">
              <a:rPr lang="zh-CN" altLang="en-US" smtClean="0"/>
              <a:pPr>
                <a:defRPr/>
              </a:pPr>
              <a:t>35</a:t>
            </a:fld>
            <a:endParaRPr lang="en-US" altLang="zh-CN" smtClean="0"/>
          </a:p>
        </p:txBody>
      </p:sp>
      <p:sp>
        <p:nvSpPr>
          <p:cNvPr id="931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3188"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Tree>
    <p:extLst>
      <p:ext uri="{BB962C8B-B14F-4D97-AF65-F5344CB8AC3E}">
        <p14:creationId xmlns:p14="http://schemas.microsoft.com/office/powerpoint/2010/main" val="1856172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0" y="-20538"/>
            <a:ext cx="9144000" cy="600716"/>
          </a:xfrm>
          <a:prstGeom prst="rect">
            <a:avLst/>
          </a:prstGeom>
          <a:solidFill>
            <a:srgbClr val="0070C0"/>
          </a:solidFill>
        </p:spPr>
        <p:txBody>
          <a:bodyPr rtlCol="0">
            <a:noAutofit/>
          </a:bodyPr>
          <a:lstStyle>
            <a:lvl1pPr algn="l">
              <a:defRPr sz="3200" b="1" baseline="0">
                <a:solidFill>
                  <a:schemeClr val="bg1"/>
                </a:solidFill>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251520" y="789553"/>
            <a:ext cx="8568952" cy="3805070"/>
          </a:xfrm>
        </p:spPr>
        <p:txBody>
          <a:bodyPr/>
          <a:lstStyle>
            <a:lvl1pPr>
              <a:defRPr sz="2400">
                <a:latin typeface="微软雅黑" panose="020B0503020204020204" pitchFamily="34" charset="-122"/>
                <a:ea typeface="微软雅黑" panose="020B0503020204020204" pitchFamily="34" charset="-122"/>
              </a:defRPr>
            </a:lvl1pPr>
            <a:lvl2pPr>
              <a:defRPr sz="2000">
                <a:latin typeface="微软雅黑" panose="020B0503020204020204" pitchFamily="34" charset="-122"/>
                <a:ea typeface="微软雅黑" panose="020B0503020204020204" pitchFamily="34" charset="-122"/>
              </a:defRPr>
            </a:lvl2pPr>
            <a:lvl3pPr>
              <a:defRPr sz="18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2" name="灯片编号占位符 1"/>
          <p:cNvSpPr>
            <a:spLocks noGrp="1"/>
          </p:cNvSpPr>
          <p:nvPr>
            <p:ph type="sldNum" sz="quarter" idx="12"/>
          </p:nvPr>
        </p:nvSpPr>
        <p:spPr>
          <a:xfrm>
            <a:off x="8279904" y="4803998"/>
            <a:ext cx="864096" cy="320324"/>
          </a:xfrm>
          <a:prstGeom prst="rect">
            <a:avLst/>
          </a:prstGeom>
        </p:spPr>
        <p:txBody>
          <a:bodyPr/>
          <a:lstStyle>
            <a:lvl1pPr algn="r">
              <a:defRPr/>
            </a:lvl1pPr>
          </a:lstStyle>
          <a:p>
            <a:fld id="{0C913308-F349-4B6D-A68A-DD1791B4A57B}" type="slidenum">
              <a:rPr lang="zh-CN" altLang="en-US" smtClean="0"/>
              <a:pPr/>
              <a:t>‹#›</a:t>
            </a:fld>
            <a:endParaRPr lang="zh-CN" altLang="en-US"/>
          </a:p>
        </p:txBody>
      </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9525" y="3072"/>
            <a:ext cx="9144000" cy="583072"/>
          </a:xfrm>
          <a:prstGeom prst="rect">
            <a:avLst/>
          </a:prstGeom>
          <a:solidFill>
            <a:srgbClr val="0070C0"/>
          </a:solidFill>
        </p:spPr>
        <p:txBody>
          <a:bodyPr rtlCol="0">
            <a:noAutofit/>
          </a:bodyPr>
          <a:lstStyle>
            <a:lvl1pPr algn="l">
              <a:defRPr sz="3200" b="1">
                <a:solidFill>
                  <a:schemeClr val="bg1"/>
                </a:solidFill>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zh-CN" altLang="en-US" dirty="0"/>
          </a:p>
        </p:txBody>
      </p:sp>
      <p:sp>
        <p:nvSpPr>
          <p:cNvPr id="2" name="灯片编号占位符 1"/>
          <p:cNvSpPr>
            <a:spLocks noGrp="1"/>
          </p:cNvSpPr>
          <p:nvPr>
            <p:ph type="sldNum" sz="quarter" idx="12"/>
          </p:nvPr>
        </p:nvSpPr>
        <p:spPr>
          <a:xfrm>
            <a:off x="7956376" y="4783240"/>
            <a:ext cx="1187624" cy="357188"/>
          </a:xfrm>
          <a:prstGeom prst="rect">
            <a:avLst/>
          </a:prstGeom>
        </p:spPr>
        <p:txBody>
          <a:bodyPr/>
          <a:lstStyle>
            <a:lvl1pPr algn="r">
              <a:defRPr/>
            </a:lvl1pPr>
          </a:lstStyle>
          <a:p>
            <a:fld id="{0C913308-F349-4B6D-A68A-DD1791B4A57B}" type="slidenum">
              <a:rPr lang="zh-CN" altLang="en-US" smtClean="0"/>
              <a:pPr/>
              <a:t>‹#›</a:t>
            </a:fld>
            <a:endParaRPr lang="zh-CN" altLang="en-US"/>
          </a:p>
        </p:txBody>
      </p:sp>
    </p:spTree>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695825"/>
            <a:ext cx="9153525" cy="447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995686"/>
            <a:ext cx="8229600" cy="857250"/>
          </a:xfr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512" y="0"/>
            <a:ext cx="9217024"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灯片编号占位符 2"/>
          <p:cNvSpPr>
            <a:spLocks noGrp="1"/>
          </p:cNvSpPr>
          <p:nvPr>
            <p:ph type="sldNum" sz="quarter" idx="12"/>
          </p:nvPr>
        </p:nvSpPr>
        <p:spPr>
          <a:xfrm>
            <a:off x="8172400" y="4786312"/>
            <a:ext cx="1008112" cy="357188"/>
          </a:xfrm>
          <a:prstGeom prst="rect">
            <a:avLst/>
          </a:prstGeom>
        </p:spPr>
        <p:txBody>
          <a:bodyPr/>
          <a:lstStyle>
            <a:lvl1pPr algn="r">
              <a:defRPr/>
            </a:lvl1pPr>
          </a:lstStyle>
          <a:p>
            <a:fld id="{0C913308-F349-4B6D-A68A-DD1791B4A57B}" type="slidenum">
              <a:rPr lang="zh-CN" altLang="en-US" smtClean="0"/>
              <a:pPr/>
              <a:t>‹#›</a:t>
            </a:fld>
            <a:endParaRPr lang="zh-CN" altLang="en-US"/>
          </a:p>
        </p:txBody>
      </p:sp>
    </p:spTree>
  </p:cSld>
  <p:clrMapOvr>
    <a:masterClrMapping/>
  </p:clrMapOvr>
  <p:transition>
    <p:fade/>
  </p:transition>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Tree>
    <p:extLst>
      <p:ext uri="{BB962C8B-B14F-4D97-AF65-F5344CB8AC3E}">
        <p14:creationId xmlns:p14="http://schemas.microsoft.com/office/powerpoint/2010/main" val="140216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0" y="-20538"/>
            <a:ext cx="9144000" cy="637580"/>
          </a:xfrm>
          <a:prstGeom prst="rect">
            <a:avLst/>
          </a:prstGeom>
          <a:solidFill>
            <a:srgbClr val="0070C0"/>
          </a:solidFill>
        </p:spPr>
        <p:txBody>
          <a:bodyPr rtlCol="0">
            <a:noAutofit/>
          </a:bodyPr>
          <a:lstStyle>
            <a:lvl1pPr algn="l">
              <a:defRPr sz="3200" b="1" baseline="0">
                <a:solidFill>
                  <a:schemeClr val="bg1"/>
                </a:solidFill>
                <a:latin typeface="微软雅黑" pitchFamily="34" charset="-122"/>
                <a:ea typeface="微软雅黑" pitchFamily="34" charset="-122"/>
              </a:defRPr>
            </a:lvl1pPr>
          </a:lstStyle>
          <a:p>
            <a:r>
              <a:rPr lang="zh-CN" altLang="en-US"/>
              <a:t>单击此处编辑母版标题样式</a:t>
            </a:r>
            <a:endParaRPr lang="zh-CN" altLang="en-US" dirty="0"/>
          </a:p>
        </p:txBody>
      </p:sp>
      <p:sp>
        <p:nvSpPr>
          <p:cNvPr id="3" name="Content Placeholder 2"/>
          <p:cNvSpPr>
            <a:spLocks noGrp="1"/>
          </p:cNvSpPr>
          <p:nvPr>
            <p:ph idx="1"/>
          </p:nvPr>
        </p:nvSpPr>
        <p:spPr>
          <a:xfrm>
            <a:off x="251520" y="789553"/>
            <a:ext cx="8568952" cy="3805070"/>
          </a:xfrm>
        </p:spPr>
        <p:txBody>
          <a:bodyPr/>
          <a:lstStyle>
            <a:lvl1pPr>
              <a:defRPr sz="2400">
                <a:latin typeface="微软雅黑" pitchFamily="34" charset="-122"/>
                <a:ea typeface="微软雅黑" pitchFamily="34" charset="-122"/>
              </a:defRPr>
            </a:lvl1pPr>
            <a:lvl2pPr>
              <a:defRPr sz="2000">
                <a:latin typeface="微软雅黑" pitchFamily="34" charset="-122"/>
                <a:ea typeface="微软雅黑" pitchFamily="34" charset="-122"/>
              </a:defRPr>
            </a:lvl2pPr>
            <a:lvl3pPr>
              <a:defRPr sz="1800">
                <a:latin typeface="微软雅黑" pitchFamily="34" charset="-122"/>
                <a:ea typeface="微软雅黑" pitchFamily="34" charset="-122"/>
              </a:defRPr>
            </a:lvl3pPr>
            <a:lvl4pPr>
              <a:defRPr sz="1600">
                <a:latin typeface="微软雅黑" pitchFamily="34" charset="-122"/>
                <a:ea typeface="微软雅黑" pitchFamily="34" charset="-122"/>
              </a:defRPr>
            </a:lvl4pPr>
            <a:lvl5pPr>
              <a:defRPr sz="1600">
                <a:latin typeface="微软雅黑" pitchFamily="34" charset="-122"/>
                <a:ea typeface="微软雅黑" pitchFamily="34" charset="-122"/>
              </a:defRPr>
            </a:lvl5pPr>
          </a:lstStyle>
          <a:p>
            <a:pPr lvl="0"/>
            <a:r>
              <a:rPr lang="zh-CN" altLang="en-US" dirty="0"/>
              <a:t>编辑母版文本样式
第二级
第三级
第四级
第五级</a:t>
            </a:r>
          </a:p>
        </p:txBody>
      </p:sp>
    </p:spTree>
    <p:extLst>
      <p:ext uri="{BB962C8B-B14F-4D97-AF65-F5344CB8AC3E}">
        <p14:creationId xmlns:p14="http://schemas.microsoft.com/office/powerpoint/2010/main" val="29476875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dirty="0"/>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F86DAA-B213-4A1F-9178-18865ABDB11B}" type="slidenum">
              <a:rPr lang="zh-CN" altLang="en-US" smtClean="0"/>
              <a:t>‹#›</a:t>
            </a:fld>
            <a:endParaRPr lang="zh-CN" altLang="en-US"/>
          </a:p>
        </p:txBody>
      </p:sp>
      <p:pic>
        <p:nvPicPr>
          <p:cNvPr id="7" name="图片 24"/>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3128" y="984"/>
            <a:ext cx="2420758" cy="1034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271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0969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pic>
        <p:nvPicPr>
          <p:cNvPr id="4" name="Picture 4" descr="同济大学logo矢量图(第1页) - 一起扣扣网"/>
          <p:cNvPicPr>
            <a:picLocks noChangeAspect="1" noChangeArrowheads="1"/>
          </p:cNvPicPr>
          <p:nvPr userDrawn="1"/>
        </p:nvPicPr>
        <p:blipFill>
          <a:blip r:embed="rId2">
            <a:clrChange>
              <a:clrFrom>
                <a:srgbClr val="FFFFFF"/>
              </a:clrFrom>
              <a:clrTo>
                <a:srgbClr val="FFFFFF">
                  <a:alpha val="0"/>
                </a:srgbClr>
              </a:clrTo>
            </a:clrChange>
            <a:duotone>
              <a:prstClr val="black"/>
              <a:schemeClr val="accent5">
                <a:lumMod val="60000"/>
                <a:lumOff val="40000"/>
                <a:tint val="45000"/>
                <a:satMod val="400000"/>
              </a:schemeClr>
            </a:duotone>
            <a:extLst>
              <a:ext uri="{28A0092B-C50C-407E-A947-70E740481C1C}">
                <a14:useLocalDpi xmlns:a14="http://schemas.microsoft.com/office/drawing/2010/main" val="0"/>
              </a:ext>
            </a:extLst>
          </a:blip>
          <a:srcRect/>
          <a:stretch>
            <a:fillRect/>
          </a:stretch>
        </p:blipFill>
        <p:spPr bwMode="auto">
          <a:xfrm>
            <a:off x="6743713" y="118801"/>
            <a:ext cx="2316011" cy="602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540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B068AD6-991E-4CB2-9F71-FF34A9581EBA}" type="datetimeFigureOut">
              <a:rPr lang="zh-CN" altLang="en-US" smtClean="0"/>
              <a:t>2026-6-9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4F401A1-1C77-4EB4-B436-6073D82DDA0D}" type="slidenum">
              <a:rPr lang="zh-CN" altLang="en-US" smtClean="0"/>
              <a:t>‹#›</a:t>
            </a:fld>
            <a:endParaRPr lang="zh-CN" altLang="en-US"/>
          </a:p>
        </p:txBody>
      </p:sp>
      <p:sp>
        <p:nvSpPr>
          <p:cNvPr id="8" name="图片占位符 7"/>
          <p:cNvSpPr>
            <a:spLocks noGrp="1"/>
          </p:cNvSpPr>
          <p:nvPr>
            <p:ph type="pic" sz="quarter" idx="13"/>
          </p:nvPr>
        </p:nvSpPr>
        <p:spPr>
          <a:xfrm>
            <a:off x="6191250" y="834390"/>
            <a:ext cx="2438400" cy="3474720"/>
          </a:xfrm>
          <a:custGeom>
            <a:avLst/>
            <a:gdLst>
              <a:gd name="connsiteX0" fmla="*/ 0 w 3251200"/>
              <a:gd name="connsiteY0" fmla="*/ 0 h 4632960"/>
              <a:gd name="connsiteX1" fmla="*/ 3251200 w 3251200"/>
              <a:gd name="connsiteY1" fmla="*/ 0 h 4632960"/>
              <a:gd name="connsiteX2" fmla="*/ 3251200 w 3251200"/>
              <a:gd name="connsiteY2" fmla="*/ 4632960 h 4632960"/>
              <a:gd name="connsiteX3" fmla="*/ 0 w 3251200"/>
              <a:gd name="connsiteY3" fmla="*/ 4632960 h 4632960"/>
            </a:gdLst>
            <a:ahLst/>
            <a:cxnLst>
              <a:cxn ang="0">
                <a:pos x="connsiteX0" y="connsiteY0"/>
              </a:cxn>
              <a:cxn ang="0">
                <a:pos x="connsiteX1" y="connsiteY1"/>
              </a:cxn>
              <a:cxn ang="0">
                <a:pos x="connsiteX2" y="connsiteY2"/>
              </a:cxn>
              <a:cxn ang="0">
                <a:pos x="connsiteX3" y="connsiteY3"/>
              </a:cxn>
            </a:cxnLst>
            <a:rect l="l" t="t" r="r" b="b"/>
            <a:pathLst>
              <a:path w="3251200" h="4632960">
                <a:moveTo>
                  <a:pt x="0" y="0"/>
                </a:moveTo>
                <a:lnTo>
                  <a:pt x="3251200" y="0"/>
                </a:lnTo>
                <a:lnTo>
                  <a:pt x="3251200" y="4632960"/>
                </a:lnTo>
                <a:lnTo>
                  <a:pt x="0" y="463296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12016131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9" name="Rectangle 5"/>
          <p:cNvSpPr>
            <a:spLocks noGrp="1" noChangeArrowheads="1"/>
          </p:cNvSpPr>
          <p:nvPr>
            <p:ph type="ftr" sz="quarter" idx="3"/>
          </p:nvPr>
        </p:nvSpPr>
        <p:spPr bwMode="auto">
          <a:xfrm>
            <a:off x="6156176" y="4758135"/>
            <a:ext cx="2895600" cy="357188"/>
          </a:xfrm>
          <a:prstGeom prst="rect">
            <a:avLst/>
          </a:prstGeom>
          <a:noFill/>
          <a:ln>
            <a:noFill/>
          </a:ln>
          <a:effectLst/>
        </p:spPr>
        <p:txBody>
          <a:bodyPr vert="horz" wrap="square" lIns="91440" tIns="45720" rIns="91440" bIns="45720" numCol="1" anchor="t" anchorCtr="0" compatLnSpc="1"/>
          <a:lstStyle>
            <a:lvl1pPr algn="ctr">
              <a:defRPr sz="1400">
                <a:ea typeface="+mn-ea"/>
              </a:defRPr>
            </a:lvl1pPr>
          </a:lstStyle>
          <a:p>
            <a:pPr>
              <a:defRPr/>
            </a:pPr>
            <a:endParaRPr lang="en-US" altLang="zh-CN" dirty="0"/>
          </a:p>
        </p:txBody>
      </p:sp>
      <p:sp>
        <p:nvSpPr>
          <p:cNvPr id="6" name="灯片编号占位符 5"/>
          <p:cNvSpPr>
            <a:spLocks noGrp="1"/>
          </p:cNvSpPr>
          <p:nvPr>
            <p:ph type="sldNum" sz="quarter" idx="12"/>
          </p:nvPr>
        </p:nvSpPr>
        <p:spPr>
          <a:xfrm>
            <a:off x="6553200" y="4683919"/>
            <a:ext cx="2133600" cy="357188"/>
          </a:xfrm>
          <a:prstGeom prst="rect">
            <a:avLst/>
          </a:prstGeom>
        </p:spPr>
        <p:txBody>
          <a:body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5" r:id="rId5"/>
    <p:sldLayoutId id="2147483666" r:id="rId6"/>
    <p:sldLayoutId id="2147483667" r:id="rId7"/>
    <p:sldLayoutId id="2147483668" r:id="rId8"/>
    <p:sldLayoutId id="2147483670" r:id="rId9"/>
    <p:sldLayoutId id="2147483671" r:id="rId10"/>
  </p:sldLayoutIdLst>
  <p:transition>
    <p:fade/>
  </p:transition>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tiff"/></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540.png"/><Relationship Id="rId7" Type="http://schemas.openxmlformats.org/officeDocument/2006/relationships/image" Target="../media/image69.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slideLayout" Target="../slideLayouts/slideLayout9.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9.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3" Type="http://schemas.openxmlformats.org/officeDocument/2006/relationships/tags" Target="../tags/tag25.xml"/><Relationship Id="rId21" Type="http://schemas.openxmlformats.org/officeDocument/2006/relationships/tags" Target="../tags/tag43.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slideLayout" Target="../slideLayouts/slideLayout9.xml"/><Relationship Id="rId10" Type="http://schemas.openxmlformats.org/officeDocument/2006/relationships/tags" Target="../tags/tag32.xml"/><Relationship Id="rId19" Type="http://schemas.openxmlformats.org/officeDocument/2006/relationships/tags" Target="../tags/tag4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tags" Target="../tags/tag4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74.png"/><Relationship Id="rId4"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22.png"/><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tags" Target="../tags/tag62.xml"/><Relationship Id="rId3" Type="http://schemas.openxmlformats.org/officeDocument/2006/relationships/tags" Target="../tags/tag47.xml"/><Relationship Id="rId21" Type="http://schemas.openxmlformats.org/officeDocument/2006/relationships/tags" Target="../tags/tag65.xml"/><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 Type="http://schemas.openxmlformats.org/officeDocument/2006/relationships/tags" Target="../tags/tag46.xml"/><Relationship Id="rId16" Type="http://schemas.openxmlformats.org/officeDocument/2006/relationships/tags" Target="../tags/tag60.xml"/><Relationship Id="rId20" Type="http://schemas.openxmlformats.org/officeDocument/2006/relationships/tags" Target="../tags/tag64.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23" Type="http://schemas.openxmlformats.org/officeDocument/2006/relationships/slideLayout" Target="../slideLayouts/slideLayout9.xml"/><Relationship Id="rId10" Type="http://schemas.openxmlformats.org/officeDocument/2006/relationships/tags" Target="../tags/tag54.xml"/><Relationship Id="rId19" Type="http://schemas.openxmlformats.org/officeDocument/2006/relationships/tags" Target="../tags/tag63.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 Id="rId22" Type="http://schemas.openxmlformats.org/officeDocument/2006/relationships/tags" Target="../tags/tag66.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31.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42.png"/><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44.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tags" Target="../tags/tag84.xml"/><Relationship Id="rId3" Type="http://schemas.openxmlformats.org/officeDocument/2006/relationships/tags" Target="../tags/tag69.xml"/><Relationship Id="rId21" Type="http://schemas.openxmlformats.org/officeDocument/2006/relationships/tags" Target="../tags/tag87.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tags" Target="../tags/tag83.xml"/><Relationship Id="rId2" Type="http://schemas.openxmlformats.org/officeDocument/2006/relationships/tags" Target="../tags/tag68.xml"/><Relationship Id="rId16" Type="http://schemas.openxmlformats.org/officeDocument/2006/relationships/tags" Target="../tags/tag82.xml"/><Relationship Id="rId20" Type="http://schemas.openxmlformats.org/officeDocument/2006/relationships/tags" Target="../tags/tag86.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tags" Target="../tags/tag81.xml"/><Relationship Id="rId23" Type="http://schemas.openxmlformats.org/officeDocument/2006/relationships/slideLayout" Target="../slideLayouts/slideLayout9.xml"/><Relationship Id="rId10" Type="http://schemas.openxmlformats.org/officeDocument/2006/relationships/tags" Target="../tags/tag76.xml"/><Relationship Id="rId19" Type="http://schemas.openxmlformats.org/officeDocument/2006/relationships/tags" Target="../tags/tag85.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 Id="rId22" Type="http://schemas.openxmlformats.org/officeDocument/2006/relationships/tags" Target="../tags/tag88.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1413730" y="1419622"/>
            <a:ext cx="6415023" cy="1231232"/>
          </a:xfrm>
          <a:prstGeom prst="rect">
            <a:avLst/>
          </a:prstGeom>
        </p:spPr>
        <p:txBody>
          <a:bodyPr vert="horz" lIns="68580" tIns="34290" rIns="68580" bIns="3429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685800"/>
            <a:r>
              <a:rPr lang="zh-CN" altLang="en-US" sz="4000" b="1" dirty="0">
                <a:ln w="22225">
                  <a:solidFill>
                    <a:schemeClr val="accent2"/>
                  </a:solidFill>
                  <a:prstDash val="solid"/>
                </a:ln>
                <a:solidFill>
                  <a:schemeClr val="accent2">
                    <a:lumMod val="40000"/>
                    <a:lumOff val="60000"/>
                  </a:schemeClr>
                </a:solidFill>
                <a:latin typeface="+mn-ea"/>
                <a:ea typeface="+mn-ea"/>
                <a:cs typeface="Times New Roman" panose="02020603050405020304" pitchFamily="18" charset="0"/>
              </a:rPr>
              <a:t> </a:t>
            </a:r>
            <a:r>
              <a:rPr lang="zh-CN" altLang="en-US" sz="4500" b="1" dirty="0">
                <a:ln w="22225">
                  <a:solidFill>
                    <a:srgbClr val="ED7D31"/>
                  </a:solidFill>
                  <a:prstDash val="solid"/>
                </a:ln>
                <a:solidFill>
                  <a:srgbClr val="ED7D31">
                    <a:lumMod val="40000"/>
                    <a:lumOff val="60000"/>
                  </a:srgbClr>
                </a:solidFill>
                <a:latin typeface="Arial Black" panose="020B0A04020102020204"/>
                <a:ea typeface="微软雅黑" panose="020B0503020204020204" pitchFamily="34" charset="-122"/>
              </a:rPr>
              <a:t>强化</a:t>
            </a:r>
            <a:r>
              <a:rPr lang="zh-CN" altLang="en-US" sz="4500" b="1" dirty="0" smtClean="0">
                <a:ln w="22225">
                  <a:solidFill>
                    <a:srgbClr val="ED7D31"/>
                  </a:solidFill>
                  <a:prstDash val="solid"/>
                </a:ln>
                <a:solidFill>
                  <a:srgbClr val="ED7D31">
                    <a:lumMod val="40000"/>
                    <a:lumOff val="60000"/>
                  </a:srgbClr>
                </a:solidFill>
                <a:latin typeface="Arial Black" panose="020B0A04020102020204"/>
                <a:ea typeface="微软雅黑" panose="020B0503020204020204" pitchFamily="34" charset="-122"/>
              </a:rPr>
              <a:t>学习</a:t>
            </a:r>
            <a:endParaRPr lang="en-US" altLang="zh-CN" sz="4500" b="1" dirty="0" smtClean="0">
              <a:ln w="22225">
                <a:solidFill>
                  <a:srgbClr val="ED7D31"/>
                </a:solidFill>
                <a:prstDash val="solid"/>
              </a:ln>
              <a:solidFill>
                <a:srgbClr val="ED7D31">
                  <a:lumMod val="40000"/>
                  <a:lumOff val="60000"/>
                </a:srgbClr>
              </a:solidFill>
              <a:latin typeface="Arial Black" panose="020B0A04020102020204"/>
              <a:ea typeface="微软雅黑" panose="020B0503020204020204" pitchFamily="34" charset="-122"/>
            </a:endParaRPr>
          </a:p>
          <a:p>
            <a:pPr defTabSz="685800"/>
            <a:endParaRPr lang="zh-CN" altLang="en-US" sz="4500" b="1" dirty="0">
              <a:ln w="22225">
                <a:solidFill>
                  <a:srgbClr val="ED7D31"/>
                </a:solidFill>
                <a:prstDash val="solid"/>
              </a:ln>
              <a:solidFill>
                <a:srgbClr val="ED7D31">
                  <a:lumMod val="40000"/>
                  <a:lumOff val="60000"/>
                </a:srgbClr>
              </a:solidFill>
              <a:latin typeface="Arial Black" panose="020B0A04020102020204"/>
              <a:ea typeface="微软雅黑" panose="020B0503020204020204" pitchFamily="34" charset="-122"/>
            </a:endParaRPr>
          </a:p>
          <a:p>
            <a:pPr defTabSz="685800"/>
            <a:r>
              <a:rPr lang="zh-CN" altLang="en-US" sz="4500" b="1" dirty="0">
                <a:ln w="22225">
                  <a:solidFill>
                    <a:srgbClr val="ED7D31"/>
                  </a:solidFill>
                  <a:prstDash val="solid"/>
                </a:ln>
                <a:solidFill>
                  <a:srgbClr val="ED7D31">
                    <a:lumMod val="40000"/>
                    <a:lumOff val="60000"/>
                  </a:srgbClr>
                </a:solidFill>
                <a:latin typeface="Arial Black" panose="020B0A04020102020204"/>
                <a:ea typeface="微软雅黑" panose="020B0503020204020204" pitchFamily="34" charset="-122"/>
              </a:rPr>
              <a:t> </a:t>
            </a:r>
            <a:r>
              <a:rPr lang="en" altLang="zh-CN" sz="4500" b="1" dirty="0">
                <a:ln w="22225">
                  <a:solidFill>
                    <a:srgbClr val="ED7D31"/>
                  </a:solidFill>
                  <a:prstDash val="solid"/>
                </a:ln>
                <a:solidFill>
                  <a:srgbClr val="ED7D31">
                    <a:lumMod val="40000"/>
                    <a:lumOff val="60000"/>
                  </a:srgbClr>
                </a:solidFill>
                <a:latin typeface="Arial Black" panose="020B0A04020102020204"/>
                <a:ea typeface="微软雅黑" panose="020B0503020204020204" pitchFamily="34" charset="-122"/>
              </a:rPr>
              <a:t>Reinforcement Learning</a:t>
            </a:r>
          </a:p>
        </p:txBody>
      </p:sp>
      <p:sp>
        <p:nvSpPr>
          <p:cNvPr id="8" name="Rectangle 4"/>
          <p:cNvSpPr>
            <a:spLocks noGrp="1" noChangeArrowheads="1"/>
          </p:cNvSpPr>
          <p:nvPr>
            <p:ph type="ctrTitle"/>
          </p:nvPr>
        </p:nvSpPr>
        <p:spPr>
          <a:xfrm>
            <a:off x="373676" y="593754"/>
            <a:ext cx="4057650" cy="441874"/>
          </a:xfrm>
        </p:spPr>
        <p:txBody>
          <a:bodyPr>
            <a:normAutofit fontScale="90000"/>
          </a:bodyPr>
          <a:lstStyle/>
          <a:p>
            <a:pPr algn="l"/>
            <a:r>
              <a:rPr lang="zh-CN" altLang="en-US" sz="2250" dirty="0">
                <a:solidFill>
                  <a:schemeClr val="tx1"/>
                </a:solidFill>
                <a:latin typeface="+mn-ea"/>
                <a:ea typeface="+mn-ea"/>
                <a:cs typeface="Times New Roman" panose="02020603050405020304" pitchFamily="18" charset="0"/>
              </a:rPr>
              <a:t>课程</a:t>
            </a:r>
            <a:r>
              <a:rPr lang="en-US" altLang="zh-CN" sz="2250" dirty="0">
                <a:solidFill>
                  <a:schemeClr val="tx1"/>
                </a:solidFill>
                <a:latin typeface="+mn-ea"/>
                <a:ea typeface="+mn-ea"/>
                <a:cs typeface="Times New Roman" panose="02020603050405020304" pitchFamily="18" charset="0"/>
              </a:rPr>
              <a:t>《</a:t>
            </a:r>
            <a:r>
              <a:rPr lang="zh-CN" altLang="en-US" sz="2400" dirty="0">
                <a:solidFill>
                  <a:schemeClr val="tx1"/>
                </a:solidFill>
                <a:latin typeface="+mn-ea"/>
                <a:ea typeface="+mn-ea"/>
                <a:cs typeface="Times New Roman" panose="02020603050405020304" pitchFamily="18" charset="0"/>
              </a:rPr>
              <a:t>人工智能原理与技术</a:t>
            </a:r>
            <a:r>
              <a:rPr lang="en-US" altLang="zh-CN" sz="2250" dirty="0">
                <a:solidFill>
                  <a:schemeClr val="tx1"/>
                </a:solidFill>
                <a:latin typeface="+mn-ea"/>
                <a:ea typeface="+mn-ea"/>
                <a:cs typeface="Times New Roman" panose="02020603050405020304" pitchFamily="18" charset="0"/>
              </a:rPr>
              <a:t>》</a:t>
            </a:r>
          </a:p>
        </p:txBody>
      </p:sp>
      <p:pic>
        <p:nvPicPr>
          <p:cNvPr id="10" name="图片 24"/>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3128" y="984"/>
            <a:ext cx="2420758" cy="1034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a:extLst>
              <a:ext uri="{FF2B5EF4-FFF2-40B4-BE49-F238E27FC236}">
                <a16:creationId xmlns:a16="http://schemas.microsoft.com/office/drawing/2014/main" id="{A38A2676-9D8C-1902-2B84-06C7D3B068F9}"/>
              </a:ext>
            </a:extLst>
          </p:cNvPr>
          <p:cNvPicPr>
            <a:picLocks noChangeAspect="1"/>
          </p:cNvPicPr>
          <p:nvPr/>
        </p:nvPicPr>
        <p:blipFill rotWithShape="1">
          <a:blip r:embed="rId4"/>
          <a:srcRect l="14507"/>
          <a:stretch/>
        </p:blipFill>
        <p:spPr>
          <a:xfrm>
            <a:off x="175098" y="3228476"/>
            <a:ext cx="3094059" cy="1606269"/>
          </a:xfrm>
          <a:prstGeom prst="rect">
            <a:avLst/>
          </a:prstGeom>
        </p:spPr>
      </p:pic>
      <p:pic>
        <p:nvPicPr>
          <p:cNvPr id="4" name="Picture 3">
            <a:extLst>
              <a:ext uri="{FF2B5EF4-FFF2-40B4-BE49-F238E27FC236}">
                <a16:creationId xmlns:a16="http://schemas.microsoft.com/office/drawing/2014/main" id="{595F81D1-3072-FA60-C3E2-98CDBB93159B}"/>
              </a:ext>
            </a:extLst>
          </p:cNvPr>
          <p:cNvPicPr>
            <a:picLocks noChangeAspect="1"/>
          </p:cNvPicPr>
          <p:nvPr/>
        </p:nvPicPr>
        <p:blipFill>
          <a:blip r:embed="rId5"/>
          <a:stretch>
            <a:fillRect/>
          </a:stretch>
        </p:blipFill>
        <p:spPr>
          <a:xfrm>
            <a:off x="5973326" y="3228477"/>
            <a:ext cx="2983296" cy="1579562"/>
          </a:xfrm>
          <a:prstGeom prst="rect">
            <a:avLst/>
          </a:prstGeom>
        </p:spPr>
      </p:pic>
      <p:pic>
        <p:nvPicPr>
          <p:cNvPr id="6" name="图片 5">
            <a:extLst>
              <a:ext uri="{FF2B5EF4-FFF2-40B4-BE49-F238E27FC236}">
                <a16:creationId xmlns:a16="http://schemas.microsoft.com/office/drawing/2014/main" id="{00525FEB-137D-E943-3F1D-47EE0061A02B}"/>
              </a:ext>
            </a:extLst>
          </p:cNvPr>
          <p:cNvPicPr>
            <a:picLocks noChangeAspect="1"/>
          </p:cNvPicPr>
          <p:nvPr/>
        </p:nvPicPr>
        <p:blipFill>
          <a:blip r:embed="rId6"/>
          <a:stretch>
            <a:fillRect/>
          </a:stretch>
        </p:blipFill>
        <p:spPr>
          <a:xfrm>
            <a:off x="3582211" y="3228477"/>
            <a:ext cx="2078063" cy="1571363"/>
          </a:xfrm>
          <a:prstGeom prst="rect">
            <a:avLst/>
          </a:prstGeom>
        </p:spPr>
      </p:pic>
    </p:spTree>
    <p:extLst>
      <p:ext uri="{BB962C8B-B14F-4D97-AF65-F5344CB8AC3E}">
        <p14:creationId xmlns:p14="http://schemas.microsoft.com/office/powerpoint/2010/main" val="35775204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6">
            <a:extLst>
              <a:ext uri="{FF2B5EF4-FFF2-40B4-BE49-F238E27FC236}">
                <a16:creationId xmlns:a16="http://schemas.microsoft.com/office/drawing/2014/main" id="{D1CC0456-653C-4577-BB6C-58F1FA6153CC}"/>
              </a:ext>
            </a:extLst>
          </p:cNvPr>
          <p:cNvSpPr/>
          <p:nvPr/>
        </p:nvSpPr>
        <p:spPr>
          <a:xfrm>
            <a:off x="330932" y="2274368"/>
            <a:ext cx="8443183" cy="2813667"/>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1600" b="1" dirty="0">
              <a:solidFill>
                <a:schemeClr val="bg1"/>
              </a:solidFill>
              <a:effectLst>
                <a:outerShdw blurRad="38100" dist="38100" dir="2700000" algn="tl">
                  <a:srgbClr val="000000">
                    <a:alpha val="43137"/>
                  </a:srgbClr>
                </a:outerShdw>
              </a:effectLst>
              <a:latin typeface="+mn-ea"/>
            </a:endParaRPr>
          </a:p>
        </p:txBody>
      </p:sp>
      <p:grpSp>
        <p:nvGrpSpPr>
          <p:cNvPr id="3" name="组合 2"/>
          <p:cNvGrpSpPr/>
          <p:nvPr/>
        </p:nvGrpSpPr>
        <p:grpSpPr>
          <a:xfrm>
            <a:off x="611560" y="483518"/>
            <a:ext cx="5598290" cy="373451"/>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6" name="矩形 5"/>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强化</a:t>
              </a:r>
              <a:r>
                <a:rPr lang="zh-CN" altLang="en-US" sz="1500" b="1" dirty="0" smtClean="0">
                  <a:solidFill>
                    <a:schemeClr val="tx1">
                      <a:lumMod val="95000"/>
                      <a:lumOff val="5000"/>
                    </a:schemeClr>
                  </a:solidFill>
                  <a:latin typeface="+mn-ea"/>
                  <a:ea typeface="+mn-ea"/>
                  <a:cs typeface="Times New Roman" panose="02020603050405020304" pitchFamily="18" charset="0"/>
                </a:rPr>
                <a:t>学习问题与基本求解思路</a:t>
              </a:r>
              <a:endParaRPr lang="zh-CN" altLang="en-US" sz="1500" b="1" dirty="0">
                <a:solidFill>
                  <a:schemeClr val="tx1">
                    <a:lumMod val="95000"/>
                    <a:lumOff val="5000"/>
                  </a:schemeClr>
                </a:solidFill>
                <a:latin typeface="+mn-ea"/>
                <a:ea typeface="+mn-ea"/>
              </a:endParaRP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9BD77F5-FA41-4AED-A8D1-810B56B63A2B}"/>
                  </a:ext>
                </a:extLst>
              </p:cNvPr>
              <p:cNvSpPr/>
              <p:nvPr/>
            </p:nvSpPr>
            <p:spPr>
              <a:xfrm>
                <a:off x="500601" y="950143"/>
                <a:ext cx="8103847" cy="1289905"/>
              </a:xfrm>
              <a:prstGeom prst="rect">
                <a:avLst/>
              </a:prstGeom>
            </p:spPr>
            <p:txBody>
              <a:bodyPr wrap="square">
                <a:spAutoFit/>
              </a:bodyPr>
              <a:lstStyle/>
              <a:p>
                <a:pPr indent="200025" algn="just">
                  <a:lnSpc>
                    <a:spcPct val="150000"/>
                  </a:lnSpc>
                  <a:spcAft>
                    <a:spcPts val="0"/>
                  </a:spcAft>
                </a:pPr>
                <a:r>
                  <a:rPr lang="zh-CN" altLang="zh-CN" sz="1800" dirty="0" smtClean="0">
                    <a:solidFill>
                      <a:srgbClr val="000000"/>
                    </a:solidFill>
                    <a:latin typeface="+mn-ea"/>
                    <a:ea typeface="+mn-ea"/>
                    <a:cs typeface="Times New Roman" panose="02020603050405020304" pitchFamily="18" charset="0"/>
                  </a:rPr>
                  <a:t>强化</a:t>
                </a:r>
                <a:r>
                  <a:rPr lang="zh-CN" altLang="zh-CN" sz="1800" dirty="0">
                    <a:solidFill>
                      <a:srgbClr val="000000"/>
                    </a:solidFill>
                    <a:latin typeface="+mn-ea"/>
                    <a:ea typeface="+mn-ea"/>
                    <a:cs typeface="Times New Roman" panose="02020603050405020304" pitchFamily="18" charset="0"/>
                  </a:rPr>
                  <a:t>学习问题的定义</a:t>
                </a:r>
                <a:r>
                  <a:rPr lang="en-US" altLang="zh-CN" sz="1800" dirty="0">
                    <a:solidFill>
                      <a:srgbClr val="000000"/>
                    </a:solidFill>
                    <a:latin typeface="+mn-ea"/>
                    <a:ea typeface="+mn-ea"/>
                    <a:cs typeface="Times New Roman" panose="02020603050405020304" pitchFamily="18" charset="0"/>
                  </a:rPr>
                  <a:t>: </a:t>
                </a:r>
                <a:r>
                  <a:rPr lang="zh-CN" altLang="zh-CN" sz="1800" b="1" dirty="0" smtClean="0">
                    <a:solidFill>
                      <a:srgbClr val="FF0000"/>
                    </a:solidFill>
                    <a:latin typeface="+mn-ea"/>
                    <a:ea typeface="+mn-ea"/>
                    <a:cs typeface="Times New Roman" panose="02020603050405020304" pitchFamily="18" charset="0"/>
                  </a:rPr>
                  <a:t>给定一个马尔可夫决策过程</a:t>
                </a:r>
                <a14:m>
                  <m:oMath xmlns:m="http://schemas.openxmlformats.org/officeDocument/2006/math">
                    <m:r>
                      <a:rPr lang="en-US" altLang="zh-CN" sz="1800" b="1" i="1">
                        <a:solidFill>
                          <a:srgbClr val="FF0000"/>
                        </a:solidFill>
                        <a:latin typeface="Cambria Math" panose="02040503050406030204" pitchFamily="18" charset="0"/>
                        <a:ea typeface="+mn-ea"/>
                        <a:cs typeface="Times New Roman" panose="02020603050405020304" pitchFamily="18" charset="0"/>
                      </a:rPr>
                      <m:t>𝑴𝑫𝑷</m:t>
                    </m:r>
                    <m:r>
                      <a:rPr lang="en-US" altLang="zh-CN" sz="1800" b="1" i="1">
                        <a:solidFill>
                          <a:srgbClr val="FF0000"/>
                        </a:solidFill>
                        <a:latin typeface="Cambria Math" panose="02040503050406030204" pitchFamily="18" charset="0"/>
                        <a:ea typeface="+mn-ea"/>
                        <a:cs typeface="Times New Roman" panose="02020603050405020304" pitchFamily="18" charset="0"/>
                      </a:rPr>
                      <m:t>=(</m:t>
                    </m:r>
                    <m:r>
                      <a:rPr lang="en-US" altLang="zh-CN" sz="1800" b="1" i="1">
                        <a:solidFill>
                          <a:srgbClr val="FF0000"/>
                        </a:solidFill>
                        <a:latin typeface="Cambria Math" panose="02040503050406030204" pitchFamily="18" charset="0"/>
                        <a:ea typeface="+mn-ea"/>
                        <a:cs typeface="Times New Roman" panose="02020603050405020304" pitchFamily="18" charset="0"/>
                      </a:rPr>
                      <m:t>𝑺</m:t>
                    </m:r>
                    <m:r>
                      <a:rPr lang="en-US" altLang="zh-CN" sz="1800" b="1" i="1">
                        <a:solidFill>
                          <a:srgbClr val="FF0000"/>
                        </a:solidFill>
                        <a:latin typeface="Cambria Math" panose="02040503050406030204" pitchFamily="18" charset="0"/>
                        <a:ea typeface="+mn-ea"/>
                        <a:cs typeface="Times New Roman" panose="02020603050405020304" pitchFamily="18" charset="0"/>
                      </a:rPr>
                      <m:t>,</m:t>
                    </m:r>
                    <m:r>
                      <a:rPr lang="en-US" altLang="zh-CN" sz="1800" b="1" i="1">
                        <a:solidFill>
                          <a:srgbClr val="FF0000"/>
                        </a:solidFill>
                        <a:latin typeface="Cambria Math" panose="02040503050406030204" pitchFamily="18" charset="0"/>
                        <a:ea typeface="+mn-ea"/>
                        <a:cs typeface="Times New Roman" panose="02020603050405020304" pitchFamily="18" charset="0"/>
                      </a:rPr>
                      <m:t>𝑨</m:t>
                    </m:r>
                    <m:r>
                      <a:rPr lang="en-US" altLang="zh-CN" sz="1800" b="1" i="1">
                        <a:solidFill>
                          <a:srgbClr val="FF0000"/>
                        </a:solidFill>
                        <a:latin typeface="Cambria Math" panose="02040503050406030204" pitchFamily="18" charset="0"/>
                        <a:ea typeface="+mn-ea"/>
                        <a:cs typeface="Times New Roman" panose="02020603050405020304" pitchFamily="18" charset="0"/>
                      </a:rPr>
                      <m:t>,</m:t>
                    </m:r>
                    <m:r>
                      <a:rPr lang="en-US" altLang="zh-CN" sz="1800" b="1" i="1">
                        <a:solidFill>
                          <a:srgbClr val="FF0000"/>
                        </a:solidFill>
                        <a:latin typeface="Cambria Math" panose="02040503050406030204" pitchFamily="18" charset="0"/>
                        <a:ea typeface="+mn-ea"/>
                        <a:cs typeface="Times New Roman" panose="02020603050405020304" pitchFamily="18" charset="0"/>
                      </a:rPr>
                      <m:t>𝑷</m:t>
                    </m:r>
                    <m:r>
                      <a:rPr lang="en-US" altLang="zh-CN" sz="1800" b="1" i="1">
                        <a:solidFill>
                          <a:srgbClr val="FF0000"/>
                        </a:solidFill>
                        <a:latin typeface="Cambria Math" panose="02040503050406030204" pitchFamily="18" charset="0"/>
                        <a:ea typeface="+mn-ea"/>
                        <a:cs typeface="Times New Roman" panose="02020603050405020304" pitchFamily="18" charset="0"/>
                      </a:rPr>
                      <m:t>,</m:t>
                    </m:r>
                    <m:r>
                      <a:rPr lang="en-US" altLang="zh-CN" sz="1800" b="1" i="1">
                        <a:solidFill>
                          <a:srgbClr val="FF0000"/>
                        </a:solidFill>
                        <a:latin typeface="Cambria Math" panose="02040503050406030204" pitchFamily="18" charset="0"/>
                        <a:ea typeface="+mn-ea"/>
                        <a:cs typeface="Times New Roman" panose="02020603050405020304" pitchFamily="18" charset="0"/>
                      </a:rPr>
                      <m:t>𝑹</m:t>
                    </m:r>
                    <m:r>
                      <a:rPr lang="en-US" altLang="zh-CN" sz="1800" b="1" i="1">
                        <a:solidFill>
                          <a:srgbClr val="FF0000"/>
                        </a:solidFill>
                        <a:latin typeface="Cambria Math" panose="02040503050406030204" pitchFamily="18" charset="0"/>
                        <a:ea typeface="+mn-ea"/>
                        <a:cs typeface="Times New Roman" panose="02020603050405020304" pitchFamily="18" charset="0"/>
                      </a:rPr>
                      <m:t>,</m:t>
                    </m:r>
                    <m:r>
                      <a:rPr lang="en-US" altLang="zh-CN" sz="1800" b="1" i="1">
                        <a:solidFill>
                          <a:srgbClr val="FF0000"/>
                        </a:solidFill>
                        <a:latin typeface="Cambria Math" panose="02040503050406030204" pitchFamily="18" charset="0"/>
                        <a:ea typeface="+mn-ea"/>
                        <a:cs typeface="Times New Roman" panose="02020603050405020304" pitchFamily="18" charset="0"/>
                      </a:rPr>
                      <m:t>𝜸</m:t>
                    </m:r>
                    <m:r>
                      <a:rPr lang="en-US" altLang="zh-CN" sz="1800" b="1" i="1">
                        <a:solidFill>
                          <a:srgbClr val="FF0000"/>
                        </a:solidFill>
                        <a:latin typeface="Cambria Math" panose="02040503050406030204" pitchFamily="18" charset="0"/>
                        <a:ea typeface="+mn-ea"/>
                        <a:cs typeface="Times New Roman" panose="02020603050405020304" pitchFamily="18" charset="0"/>
                      </a:rPr>
                      <m:t>)</m:t>
                    </m:r>
                  </m:oMath>
                </a14:m>
                <a:r>
                  <a:rPr lang="zh-CN" altLang="zh-CN" sz="1800" b="1" dirty="0">
                    <a:solidFill>
                      <a:srgbClr val="FF0000"/>
                    </a:solidFill>
                    <a:latin typeface="+mn-ea"/>
                    <a:ea typeface="+mn-ea"/>
                    <a:cs typeface="Times New Roman" panose="02020603050405020304" pitchFamily="18" charset="0"/>
                  </a:rPr>
                  <a:t>，强化学习会寻找一个最优策略</a:t>
                </a:r>
                <a14:m>
                  <m:oMath xmlns:m="http://schemas.openxmlformats.org/officeDocument/2006/math">
                    <m:sSup>
                      <m:sSupPr>
                        <m:ctrlPr>
                          <a:rPr lang="zh-CN" altLang="zh-CN" sz="1800" b="1" i="1">
                            <a:solidFill>
                              <a:srgbClr val="FF0000"/>
                            </a:solidFill>
                            <a:latin typeface="Cambria Math" panose="02040503050406030204" pitchFamily="18" charset="0"/>
                            <a:ea typeface="+mn-ea"/>
                            <a:cs typeface="Times New Roman" panose="02020603050405020304" pitchFamily="18" charset="0"/>
                          </a:rPr>
                        </m:ctrlPr>
                      </m:sSupPr>
                      <m:e>
                        <m:r>
                          <a:rPr lang="en-US" altLang="zh-CN" sz="18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800" b="1" i="1">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800" b="1" dirty="0">
                    <a:solidFill>
                      <a:srgbClr val="FF0000"/>
                    </a:solidFill>
                    <a:latin typeface="+mn-ea"/>
                    <a:ea typeface="+mn-ea"/>
                    <a:cs typeface="Times New Roman" panose="02020603050405020304" pitchFamily="18" charset="0"/>
                  </a:rPr>
                  <a:t>，在策略</a:t>
                </a:r>
                <a14:m>
                  <m:oMath xmlns:m="http://schemas.openxmlformats.org/officeDocument/2006/math">
                    <m:sSup>
                      <m:sSupPr>
                        <m:ctrlPr>
                          <a:rPr lang="zh-CN" altLang="zh-CN" sz="1800" b="1" i="1">
                            <a:solidFill>
                              <a:srgbClr val="FF0000"/>
                            </a:solidFill>
                            <a:latin typeface="Cambria Math" panose="02040503050406030204" pitchFamily="18" charset="0"/>
                            <a:ea typeface="+mn-ea"/>
                            <a:cs typeface="Times New Roman" panose="02020603050405020304" pitchFamily="18" charset="0"/>
                          </a:rPr>
                        </m:ctrlPr>
                      </m:sSupPr>
                      <m:e>
                        <m:r>
                          <a:rPr lang="en-US" altLang="zh-CN" sz="18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800" b="1" i="1">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800" b="1" dirty="0">
                    <a:solidFill>
                      <a:srgbClr val="FF0000"/>
                    </a:solidFill>
                    <a:latin typeface="+mn-ea"/>
                    <a:ea typeface="+mn-ea"/>
                    <a:cs typeface="Times New Roman" panose="02020603050405020304" pitchFamily="18" charset="0"/>
                  </a:rPr>
                  <a:t>作用下使得任意状态</a:t>
                </a:r>
                <a14:m>
                  <m:oMath xmlns:m="http://schemas.openxmlformats.org/officeDocument/2006/math">
                    <m:r>
                      <a:rPr lang="en-US" altLang="zh-CN" sz="1800" b="1" i="1">
                        <a:solidFill>
                          <a:srgbClr val="FF0000"/>
                        </a:solidFill>
                        <a:latin typeface="Cambria Math" panose="02040503050406030204" pitchFamily="18" charset="0"/>
                        <a:ea typeface="+mn-ea"/>
                        <a:cs typeface="Times New Roman" panose="02020603050405020304" pitchFamily="18" charset="0"/>
                      </a:rPr>
                      <m:t>𝒔</m:t>
                    </m:r>
                    <m:r>
                      <a:rPr lang="en-US" altLang="zh-CN" sz="1800" b="1">
                        <a:solidFill>
                          <a:srgbClr val="FF0000"/>
                        </a:solidFill>
                        <a:latin typeface="Cambria Math" panose="02040503050406030204" pitchFamily="18" charset="0"/>
                        <a:ea typeface="+mn-ea"/>
                        <a:cs typeface="Times New Roman" panose="02020603050405020304" pitchFamily="18" charset="0"/>
                      </a:rPr>
                      <m:t>∈</m:t>
                    </m:r>
                    <m:r>
                      <a:rPr lang="en-US" altLang="zh-CN" sz="1800" b="1" i="1">
                        <a:solidFill>
                          <a:srgbClr val="FF0000"/>
                        </a:solidFill>
                        <a:latin typeface="Cambria Math" panose="02040503050406030204" pitchFamily="18" charset="0"/>
                        <a:ea typeface="+mn-ea"/>
                        <a:cs typeface="Times New Roman" panose="02020603050405020304" pitchFamily="18" charset="0"/>
                      </a:rPr>
                      <m:t>𝑺</m:t>
                    </m:r>
                  </m:oMath>
                </a14:m>
                <a:r>
                  <a:rPr lang="zh-CN" altLang="zh-CN" sz="1800" b="1" dirty="0">
                    <a:solidFill>
                      <a:srgbClr val="FF0000"/>
                    </a:solidFill>
                    <a:latin typeface="+mn-ea"/>
                    <a:ea typeface="+mn-ea"/>
                    <a:cs typeface="Times New Roman" panose="02020603050405020304" pitchFamily="18" charset="0"/>
                  </a:rPr>
                  <a:t>对应的价值函数</a:t>
                </a:r>
                <a14:m>
                  <m:oMath xmlns:m="http://schemas.openxmlformats.org/officeDocument/2006/math">
                    <m:sSub>
                      <m:sSubPr>
                        <m:ctrlPr>
                          <a:rPr lang="zh-CN" altLang="zh-CN" sz="1800" b="1" i="1">
                            <a:solidFill>
                              <a:srgbClr val="FF0000"/>
                            </a:solidFill>
                            <a:latin typeface="Cambria Math" panose="02040503050406030204" pitchFamily="18" charset="0"/>
                            <a:ea typeface="+mn-ea"/>
                            <a:cs typeface="Times New Roman" panose="02020603050405020304" pitchFamily="18" charset="0"/>
                          </a:rPr>
                        </m:ctrlPr>
                      </m:sSubPr>
                      <m:e>
                        <m:r>
                          <a:rPr lang="en-US" altLang="zh-CN" sz="1800" b="1" i="1">
                            <a:solidFill>
                              <a:srgbClr val="FF0000"/>
                            </a:solidFill>
                            <a:latin typeface="Cambria Math" panose="02040503050406030204" pitchFamily="18" charset="0"/>
                            <a:ea typeface="+mn-ea"/>
                            <a:cs typeface="Times New Roman" panose="02020603050405020304" pitchFamily="18" charset="0"/>
                          </a:rPr>
                          <m:t>𝑽</m:t>
                        </m:r>
                      </m:e>
                      <m:sub>
                        <m:sSup>
                          <m:sSupPr>
                            <m:ctrlPr>
                              <a:rPr lang="zh-CN" altLang="zh-CN" sz="1800" b="1" i="1">
                                <a:solidFill>
                                  <a:srgbClr val="FF0000"/>
                                </a:solidFill>
                                <a:latin typeface="Cambria Math" panose="02040503050406030204" pitchFamily="18" charset="0"/>
                                <a:ea typeface="+mn-ea"/>
                                <a:cs typeface="Times New Roman" panose="02020603050405020304" pitchFamily="18" charset="0"/>
                              </a:rPr>
                            </m:ctrlPr>
                          </m:sSupPr>
                          <m:e>
                            <m:r>
                              <a:rPr lang="en-US" altLang="zh-CN" sz="18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800" b="1" i="1">
                                <a:solidFill>
                                  <a:srgbClr val="FF0000"/>
                                </a:solidFill>
                                <a:latin typeface="Cambria Math" panose="02040503050406030204" pitchFamily="18" charset="0"/>
                                <a:ea typeface="+mn-ea"/>
                                <a:cs typeface="Times New Roman" panose="02020603050405020304" pitchFamily="18" charset="0"/>
                              </a:rPr>
                              <m:t>∗</m:t>
                            </m:r>
                          </m:sup>
                        </m:sSup>
                      </m:sub>
                    </m:sSub>
                    <m:d>
                      <m:dPr>
                        <m:ctrlPr>
                          <a:rPr lang="zh-CN" altLang="zh-CN" sz="1800" b="1" i="1">
                            <a:solidFill>
                              <a:srgbClr val="FF0000"/>
                            </a:solidFill>
                            <a:latin typeface="Cambria Math" panose="02040503050406030204" pitchFamily="18" charset="0"/>
                            <a:ea typeface="+mn-ea"/>
                            <a:cs typeface="Times New Roman" panose="02020603050405020304" pitchFamily="18" charset="0"/>
                          </a:rPr>
                        </m:ctrlPr>
                      </m:dPr>
                      <m:e>
                        <m:r>
                          <a:rPr lang="en-US" altLang="zh-CN" sz="1800" b="1" i="1">
                            <a:solidFill>
                              <a:srgbClr val="FF0000"/>
                            </a:solidFill>
                            <a:latin typeface="Cambria Math" panose="02040503050406030204" pitchFamily="18" charset="0"/>
                            <a:ea typeface="+mn-ea"/>
                            <a:cs typeface="Times New Roman" panose="02020603050405020304" pitchFamily="18" charset="0"/>
                          </a:rPr>
                          <m:t>𝒔</m:t>
                        </m:r>
                      </m:e>
                    </m:d>
                  </m:oMath>
                </a14:m>
                <a:r>
                  <a:rPr lang="zh-CN" altLang="zh-CN" sz="1800" b="1" dirty="0">
                    <a:solidFill>
                      <a:srgbClr val="FF0000"/>
                    </a:solidFill>
                    <a:latin typeface="+mn-ea"/>
                    <a:ea typeface="+mn-ea"/>
                    <a:cs typeface="Times New Roman" panose="02020603050405020304" pitchFamily="18" charset="0"/>
                  </a:rPr>
                  <a:t>取值最大</a:t>
                </a:r>
                <a:r>
                  <a:rPr lang="zh-CN" altLang="zh-CN" sz="1800" dirty="0" smtClean="0">
                    <a:solidFill>
                      <a:srgbClr val="000000"/>
                    </a:solidFill>
                    <a:latin typeface="+mn-ea"/>
                    <a:ea typeface="+mn-ea"/>
                    <a:cs typeface="Times New Roman" panose="02020603050405020304" pitchFamily="18" charset="0"/>
                  </a:rPr>
                  <a:t>。</a:t>
                </a:r>
                <a:endParaRPr lang="zh-CN" altLang="zh-CN" sz="1800" dirty="0">
                  <a:solidFill>
                    <a:srgbClr val="000000"/>
                  </a:solidFill>
                  <a:latin typeface="+mn-ea"/>
                  <a:ea typeface="+mn-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9BD77F5-FA41-4AED-A8D1-810B56B63A2B}"/>
                  </a:ext>
                </a:extLst>
              </p:cNvPr>
              <p:cNvSpPr>
                <a:spLocks noRot="1" noChangeAspect="1" noMove="1" noResize="1" noEditPoints="1" noAdjustHandles="1" noChangeArrowheads="1" noChangeShapeType="1" noTextEdit="1"/>
              </p:cNvSpPr>
              <p:nvPr/>
            </p:nvSpPr>
            <p:spPr>
              <a:xfrm>
                <a:off x="500601" y="950143"/>
                <a:ext cx="8103847" cy="1289905"/>
              </a:xfrm>
              <a:prstGeom prst="rect">
                <a:avLst/>
              </a:prstGeom>
              <a:blipFill>
                <a:blip r:embed="rId3"/>
                <a:stretch>
                  <a:fillRect l="-602" r="-677" b="-71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125ED306-5051-4B09-BA82-1101803734A9}"/>
                  </a:ext>
                </a:extLst>
              </p:cNvPr>
              <p:cNvSpPr/>
              <p:nvPr/>
            </p:nvSpPr>
            <p:spPr>
              <a:xfrm>
                <a:off x="376059" y="2383013"/>
                <a:ext cx="8352928" cy="2696123"/>
              </a:xfrm>
              <a:prstGeom prst="rect">
                <a:avLst/>
              </a:prstGeom>
            </p:spPr>
            <p:txBody>
              <a:bodyPr wrap="square">
                <a:spAutoFit/>
              </a:bodyPr>
              <a:lstStyle/>
              <a:p>
                <a:pPr marL="214313" indent="-214313" algn="just">
                  <a:lnSpc>
                    <a:spcPct val="150000"/>
                  </a:lnSpc>
                  <a:buFont typeface="Wingdings" panose="05000000000000000000" pitchFamily="2" charset="2"/>
                  <a:buChar char="l"/>
                </a:pPr>
                <a:r>
                  <a:rPr lang="zh-CN" altLang="zh-CN" sz="1800" b="1" dirty="0" smtClean="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策略函数</a:t>
                </a:r>
                <a:r>
                  <a:rPr lang="zh-CN" altLang="zh-CN" sz="1800" b="1" dirty="0" smtClean="0">
                    <a:solidFill>
                      <a:srgbClr val="FFFFCC"/>
                    </a:solidFill>
                    <a:effectLst>
                      <a:outerShdw blurRad="38100" dist="38100" dir="2700000" algn="tl">
                        <a:srgbClr val="000000">
                          <a:alpha val="43137"/>
                        </a:srgbClr>
                      </a:outerShdw>
                    </a:effectLst>
                    <a:latin typeface="+mn-ea"/>
                    <a:cs typeface="Times New Roman" panose="02020603050405020304" pitchFamily="18" charset="0"/>
                  </a:rPr>
                  <a:t>：</a:t>
                </a:r>
                <a14:m>
                  <m:oMath xmlns:m="http://schemas.openxmlformats.org/officeDocument/2006/math">
                    <m:r>
                      <a:rPr lang="en-US" altLang="zh-CN" sz="1800" b="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𝐒</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𝐀</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𝟎</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 </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𝟏</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𝛑</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𝐬</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𝐚</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表示智能体在状态</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𝐬</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下采取动作</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𝐚</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的概率</a:t>
                </a:r>
                <a:r>
                  <a:rPr lang="zh-CN" altLang="zh-CN" sz="1800" dirty="0" smtClean="0">
                    <a:solidFill>
                      <a:schemeClr val="bg1"/>
                    </a:solidFill>
                    <a:latin typeface="+mn-ea"/>
                    <a:ea typeface="+mn-ea"/>
                    <a:cs typeface="Times New Roman" panose="02020603050405020304" pitchFamily="18" charset="0"/>
                  </a:rPr>
                  <a:t>。</a:t>
                </a:r>
                <a:endParaRPr lang="zh-CN" altLang="zh-CN" sz="1800" dirty="0">
                  <a:solidFill>
                    <a:schemeClr val="bg1"/>
                  </a:solidFill>
                  <a:latin typeface="+mn-ea"/>
                  <a:ea typeface="+mn-ea"/>
                  <a:cs typeface="Times New Roman" panose="02020603050405020304" pitchFamily="18" charset="0"/>
                </a:endParaRPr>
              </a:p>
              <a:p>
                <a:pPr marL="257175" indent="-257175" algn="just">
                  <a:lnSpc>
                    <a:spcPct val="150000"/>
                  </a:lnSpc>
                  <a:spcAft>
                    <a:spcPts val="0"/>
                  </a:spcAft>
                  <a:buFont typeface="Wingdings" panose="05000000000000000000" pitchFamily="2" charset="2"/>
                  <a:buChar char=""/>
                </a:pPr>
                <a:r>
                  <a:rPr lang="zh-CN" altLang="zh-CN" sz="1800" b="1" dirty="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价值</a:t>
                </a:r>
                <a:r>
                  <a:rPr lang="zh-CN" altLang="zh-CN" sz="1800" b="1" dirty="0" smtClean="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函数</a:t>
                </a:r>
                <a:r>
                  <a:rPr lang="zh-CN" altLang="zh-CN" sz="1800" dirty="0" smtClean="0">
                    <a:solidFill>
                      <a:schemeClr val="bg1"/>
                    </a:solidFill>
                    <a:latin typeface="+mn-ea"/>
                    <a:ea typeface="+mn-ea"/>
                    <a:cs typeface="Times New Roman" panose="02020603050405020304" pitchFamily="18" charset="0"/>
                  </a:rPr>
                  <a:t>：</a:t>
                </a:r>
                <a14:m>
                  <m:oMath xmlns:m="http://schemas.openxmlformats.org/officeDocument/2006/math">
                    <m:r>
                      <a:rPr lang="en-US" altLang="zh-CN" sz="1800" b="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𝑉</m:t>
                    </m:r>
                    <m:r>
                      <a:rPr lang="en-US" altLang="zh-CN" sz="1800" b="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𝑆</m:t>
                    </m:r>
                    <m:r>
                      <a:rPr lang="en-US" altLang="zh-CN" sz="1800" b="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ℝ</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，其中</a:t>
                </a:r>
                <a14:m>
                  <m:oMath xmlns:m="http://schemas.openxmlformats.org/officeDocument/2006/math">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𝑉</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sub>
                    </m:sSub>
                    <m:d>
                      <m:d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d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𝑠</m:t>
                        </m:r>
                      </m:e>
                    </m:d>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𝔼</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𝐺</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𝑆</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𝑠</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zh-CN"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表示智能体在时刻</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处于状态</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𝑠</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时，按照策略</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采取行动时所获得回报的期望</a:t>
                </a:r>
                <a:r>
                  <a:rPr lang="zh-CN" altLang="zh-CN" sz="1800" b="1" dirty="0" smtClean="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a:t>
                </a:r>
                <a14:m>
                  <m:oMath xmlns:m="http://schemas.openxmlformats.org/officeDocument/2006/math">
                    <m:sSub>
                      <m:sSubPr>
                        <m:ctrlPr>
                          <a:rPr lang="zh-CN" altLang="zh-CN" sz="1600" i="1" smtClean="0">
                            <a:solidFill>
                              <a:schemeClr val="bg1"/>
                            </a:solidFill>
                            <a:latin typeface="Cambria Math" panose="02040503050406030204" pitchFamily="18" charset="0"/>
                          </a:rPr>
                        </m:ctrlPr>
                      </m:sSubPr>
                      <m:e>
                        <m:sSub>
                          <m:sSub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ctrlPr>
                          </m:sSub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𝐺</m:t>
                            </m:r>
                          </m:e>
                          <m:sub>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𝑡</m:t>
                            </m:r>
                          </m:sub>
                        </m:sSub>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cs typeface="Times New Roman" panose="02020603050405020304" pitchFamily="18" charset="0"/>
                          </a:rPr>
                          <m:t>=</m:t>
                        </m:r>
                        <m:r>
                          <a:rPr lang="en-US" altLang="zh-CN" sz="1600" i="1">
                            <a:solidFill>
                              <a:schemeClr val="bg1"/>
                            </a:solidFill>
                            <a:latin typeface="Cambria Math" panose="02040503050406030204" pitchFamily="18" charset="0"/>
                          </a:rPr>
                          <m:t>𝑅</m:t>
                        </m:r>
                      </m:e>
                      <m:sub>
                        <m:r>
                          <a:rPr lang="en-US" altLang="zh-CN" sz="1600" i="1">
                            <a:solidFill>
                              <a:schemeClr val="bg1"/>
                            </a:solidFill>
                            <a:latin typeface="Cambria Math" panose="02040503050406030204" pitchFamily="18" charset="0"/>
                          </a:rPr>
                          <m:t>𝑡</m:t>
                        </m:r>
                        <m:r>
                          <a:rPr lang="en-US" altLang="zh-CN" sz="1600" i="1">
                            <a:solidFill>
                              <a:schemeClr val="bg1"/>
                            </a:solidFill>
                            <a:latin typeface="Cambria Math" panose="02040503050406030204" pitchFamily="18" charset="0"/>
                          </a:rPr>
                          <m:t>+1</m:t>
                        </m:r>
                      </m:sub>
                    </m:sSub>
                    <m:r>
                      <a:rPr lang="en-US" altLang="zh-CN" sz="1600" i="1">
                        <a:solidFill>
                          <a:schemeClr val="bg1"/>
                        </a:solidFill>
                        <a:latin typeface="Cambria Math" panose="02040503050406030204" pitchFamily="18" charset="0"/>
                      </a:rPr>
                      <m:t>+</m:t>
                    </m:r>
                    <m:r>
                      <a:rPr lang="en-US" altLang="zh-CN" sz="1600" i="1">
                        <a:solidFill>
                          <a:schemeClr val="bg1"/>
                        </a:solidFill>
                        <a:latin typeface="Cambria Math" panose="02040503050406030204" pitchFamily="18" charset="0"/>
                      </a:rPr>
                      <m:t>𝛾</m:t>
                    </m:r>
                    <m:sSub>
                      <m:sSubPr>
                        <m:ctrlPr>
                          <a:rPr lang="zh-CN" altLang="zh-CN" sz="1600" i="1">
                            <a:solidFill>
                              <a:schemeClr val="bg1"/>
                            </a:solidFill>
                            <a:latin typeface="Cambria Math" panose="02040503050406030204" pitchFamily="18" charset="0"/>
                          </a:rPr>
                        </m:ctrlPr>
                      </m:sSubPr>
                      <m:e>
                        <m:r>
                          <a:rPr lang="en-US" altLang="zh-CN" sz="1600" i="1">
                            <a:solidFill>
                              <a:schemeClr val="bg1"/>
                            </a:solidFill>
                            <a:latin typeface="Cambria Math" panose="02040503050406030204" pitchFamily="18" charset="0"/>
                          </a:rPr>
                          <m:t>𝑅</m:t>
                        </m:r>
                      </m:e>
                      <m:sub>
                        <m:r>
                          <a:rPr lang="en-US" altLang="zh-CN" sz="1600" i="1">
                            <a:solidFill>
                              <a:schemeClr val="bg1"/>
                            </a:solidFill>
                            <a:latin typeface="Cambria Math" panose="02040503050406030204" pitchFamily="18" charset="0"/>
                          </a:rPr>
                          <m:t>𝑡</m:t>
                        </m:r>
                        <m:r>
                          <a:rPr lang="en-US" altLang="zh-CN" sz="1600" i="1">
                            <a:solidFill>
                              <a:schemeClr val="bg1"/>
                            </a:solidFill>
                            <a:latin typeface="Cambria Math" panose="02040503050406030204" pitchFamily="18" charset="0"/>
                          </a:rPr>
                          <m:t>+2</m:t>
                        </m:r>
                      </m:sub>
                    </m:sSub>
                    <m:r>
                      <a:rPr lang="en-US" altLang="zh-CN" sz="1600" i="1">
                        <a:solidFill>
                          <a:schemeClr val="bg1"/>
                        </a:solidFill>
                        <a:latin typeface="Cambria Math" panose="02040503050406030204" pitchFamily="18" charset="0"/>
                      </a:rPr>
                      <m:t>+</m:t>
                    </m:r>
                    <m:sSup>
                      <m:sSupPr>
                        <m:ctrlPr>
                          <a:rPr lang="zh-CN" altLang="zh-CN" sz="1600" i="1">
                            <a:solidFill>
                              <a:schemeClr val="bg1"/>
                            </a:solidFill>
                            <a:latin typeface="Cambria Math" panose="02040503050406030204" pitchFamily="18" charset="0"/>
                          </a:rPr>
                        </m:ctrlPr>
                      </m:sSupPr>
                      <m:e>
                        <m:r>
                          <a:rPr lang="en-US" altLang="zh-CN" sz="1600" i="1">
                            <a:solidFill>
                              <a:schemeClr val="bg1"/>
                            </a:solidFill>
                            <a:latin typeface="Cambria Math" panose="02040503050406030204" pitchFamily="18" charset="0"/>
                          </a:rPr>
                          <m:t>𝛾</m:t>
                        </m:r>
                      </m:e>
                      <m:sup>
                        <m:r>
                          <a:rPr lang="en-US" altLang="zh-CN" sz="1600" i="1">
                            <a:solidFill>
                              <a:schemeClr val="bg1"/>
                            </a:solidFill>
                            <a:latin typeface="Cambria Math" panose="02040503050406030204" pitchFamily="18" charset="0"/>
                          </a:rPr>
                          <m:t>2</m:t>
                        </m:r>
                      </m:sup>
                    </m:sSup>
                    <m:sSub>
                      <m:sSubPr>
                        <m:ctrlPr>
                          <a:rPr lang="zh-CN" altLang="zh-CN" sz="1600" i="1">
                            <a:solidFill>
                              <a:schemeClr val="bg1"/>
                            </a:solidFill>
                            <a:latin typeface="Cambria Math" panose="02040503050406030204" pitchFamily="18" charset="0"/>
                          </a:rPr>
                        </m:ctrlPr>
                      </m:sSubPr>
                      <m:e>
                        <m:r>
                          <a:rPr lang="en-US" altLang="zh-CN" sz="1600" i="1">
                            <a:solidFill>
                              <a:schemeClr val="bg1"/>
                            </a:solidFill>
                            <a:latin typeface="Cambria Math" panose="02040503050406030204" pitchFamily="18" charset="0"/>
                          </a:rPr>
                          <m:t>𝑅</m:t>
                        </m:r>
                      </m:e>
                      <m:sub>
                        <m:r>
                          <a:rPr lang="en-US" altLang="zh-CN" sz="1600" i="1">
                            <a:solidFill>
                              <a:schemeClr val="bg1"/>
                            </a:solidFill>
                            <a:latin typeface="Cambria Math" panose="02040503050406030204" pitchFamily="18" charset="0"/>
                          </a:rPr>
                          <m:t>𝑡</m:t>
                        </m:r>
                        <m:r>
                          <a:rPr lang="en-US" altLang="zh-CN" sz="1600" i="1">
                            <a:solidFill>
                              <a:schemeClr val="bg1"/>
                            </a:solidFill>
                            <a:latin typeface="Cambria Math" panose="02040503050406030204" pitchFamily="18" charset="0"/>
                          </a:rPr>
                          <m:t>+3</m:t>
                        </m:r>
                      </m:sub>
                    </m:sSub>
                    <m:r>
                      <a:rPr lang="en-US" altLang="zh-CN" sz="1600" i="1">
                        <a:solidFill>
                          <a:schemeClr val="bg1"/>
                        </a:solidFill>
                        <a:latin typeface="Cambria Math" panose="02040503050406030204" pitchFamily="18" charset="0"/>
                      </a:rPr>
                      <m:t>+⋯</m:t>
                    </m:r>
                  </m:oMath>
                </a14:m>
                <a:endParaRPr lang="zh-CN" altLang="zh-CN" sz="1600" dirty="0">
                  <a:solidFill>
                    <a:schemeClr val="bg1"/>
                  </a:solidFill>
                  <a:latin typeface="+mn-ea"/>
                  <a:ea typeface="+mn-ea"/>
                  <a:cs typeface="Times New Roman" panose="02020603050405020304" pitchFamily="18" charset="0"/>
                </a:endParaRPr>
              </a:p>
              <a:p>
                <a:pPr marL="257175" indent="-257175" algn="just">
                  <a:lnSpc>
                    <a:spcPct val="150000"/>
                  </a:lnSpc>
                  <a:spcAft>
                    <a:spcPts val="0"/>
                  </a:spcAft>
                  <a:buFont typeface="Wingdings" panose="05000000000000000000" pitchFamily="2" charset="2"/>
                  <a:buChar char=""/>
                </a:pPr>
                <a:r>
                  <a:rPr lang="zh-CN" altLang="zh-CN" sz="1800" b="1" dirty="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动作</a:t>
                </a:r>
                <a:r>
                  <a:rPr lang="en-US" altLang="zh-CN" sz="1800" b="1" dirty="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a:t>
                </a:r>
                <a:r>
                  <a:rPr lang="zh-CN" altLang="zh-CN" sz="1800" b="1" dirty="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价值</a:t>
                </a:r>
                <a:r>
                  <a:rPr lang="zh-CN" altLang="zh-CN" sz="1800" b="1" dirty="0" smtClean="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rPr>
                  <a:t>函数：</a:t>
                </a:r>
                <a14:m>
                  <m:oMath xmlns:m="http://schemas.openxmlformats.org/officeDocument/2006/math">
                    <m:r>
                      <a:rPr lang="en-US" altLang="zh-CN" sz="1800" b="1" i="1" smtClean="0">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𝒒</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𝑺</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𝑨</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ℝ</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，其中</a:t>
                </a:r>
                <a14:m>
                  <m:oMath xmlns:m="http://schemas.openxmlformats.org/officeDocument/2006/math">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𝑞</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sub>
                    </m:sSub>
                    <m:d>
                      <m:d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d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𝑠</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𝑎</m:t>
                        </m:r>
                      </m:e>
                    </m:d>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oMath>
                </a14:m>
                <a:r>
                  <a:rPr lang="en-US"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 </a:t>
                </a:r>
                <a14:m>
                  <m:oMath xmlns:m="http://schemas.openxmlformats.org/officeDocument/2006/math">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𝔼</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𝐺</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𝑆</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𝑠</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sSub>
                      <m:sSubPr>
                        <m:ctrlPr>
                          <a:rPr lang="zh-CN" altLang="zh-CN" sz="1800" b="1" i="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ctrlPr>
                      </m:sSubPr>
                      <m:e>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𝐴</m:t>
                        </m:r>
                      </m:e>
                      <m: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sub>
                    </m:sSub>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𝑎</m:t>
                    </m:r>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，表示智能体在时刻</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处于状态</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𝑠</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时，选择了动作</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𝑎</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后，在</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𝑡</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时刻后根据策略</a:t>
                </a:r>
                <a14:m>
                  <m:oMath xmlns:m="http://schemas.openxmlformats.org/officeDocument/2006/math">
                    <m:r>
                      <a:rPr lang="en-US" altLang="zh-CN" sz="1800" b="1">
                        <a:solidFill>
                          <a:schemeClr val="bg1"/>
                        </a:solidFill>
                        <a:effectLst>
                          <a:outerShdw blurRad="38100" dist="38100" dir="2700000" algn="tl">
                            <a:srgbClr val="000000">
                              <a:alpha val="43137"/>
                            </a:srgbClr>
                          </a:outerShdw>
                        </a:effectLst>
                        <a:latin typeface="Cambria Math" panose="02040503050406030204" pitchFamily="18" charset="0"/>
                        <a:ea typeface="+mn-ea"/>
                        <a:cs typeface="Times New Roman" panose="02020603050405020304" pitchFamily="18" charset="0"/>
                      </a:rPr>
                      <m:t>𝜋</m:t>
                    </m:r>
                  </m:oMath>
                </a14:m>
                <a:r>
                  <a:rPr lang="zh-CN" altLang="zh-CN" sz="1800" b="1" dirty="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采取行动所获得回报的期望</a:t>
                </a:r>
                <a:r>
                  <a:rPr lang="zh-CN" altLang="zh-CN" sz="1800" b="1" dirty="0" smtClean="0">
                    <a:solidFill>
                      <a:schemeClr val="bg1"/>
                    </a:solidFill>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1800" b="1" dirty="0">
                  <a:solidFill>
                    <a:srgbClr val="FFFFCC"/>
                  </a:solidFill>
                  <a:effectLst>
                    <a:outerShdw blurRad="38100" dist="38100" dir="2700000" algn="tl">
                      <a:srgbClr val="000000">
                        <a:alpha val="43137"/>
                      </a:srgbClr>
                    </a:outerShdw>
                  </a:effectLst>
                  <a:latin typeface="+mn-ea"/>
                  <a:ea typeface="+mn-ea"/>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125ED306-5051-4B09-BA82-1101803734A9}"/>
                  </a:ext>
                </a:extLst>
              </p:cNvPr>
              <p:cNvSpPr>
                <a:spLocks noRot="1" noChangeAspect="1" noMove="1" noResize="1" noEditPoints="1" noAdjustHandles="1" noChangeArrowheads="1" noChangeShapeType="1" noTextEdit="1"/>
              </p:cNvSpPr>
              <p:nvPr/>
            </p:nvSpPr>
            <p:spPr>
              <a:xfrm>
                <a:off x="376059" y="2383013"/>
                <a:ext cx="8352928" cy="2696123"/>
              </a:xfrm>
              <a:prstGeom prst="rect">
                <a:avLst/>
              </a:prstGeom>
              <a:blipFill>
                <a:blip r:embed="rId4"/>
                <a:stretch>
                  <a:fillRect l="-584" r="-949" b="-18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80227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83804BBE-7935-4518-845A-43FDC33F8C4F}"/>
                  </a:ext>
                </a:extLst>
              </p:cNvPr>
              <p:cNvSpPr/>
              <p:nvPr/>
            </p:nvSpPr>
            <p:spPr>
              <a:xfrm>
                <a:off x="662468" y="1584768"/>
                <a:ext cx="7581939" cy="683264"/>
              </a:xfrm>
              <a:prstGeom prst="rect">
                <a:avLst/>
              </a:prstGeom>
            </p:spPr>
            <p:txBody>
              <a:bodyPr wrap="square">
                <a:spAutoFit/>
              </a:bodyPr>
              <a:lstStyle/>
              <a:p>
                <a:pPr marL="257175" indent="-257175">
                  <a:lnSpc>
                    <a:spcPct val="150000"/>
                  </a:lnSpc>
                  <a:buFont typeface="Arial" panose="020B0604020202020204" pitchFamily="34" charset="0"/>
                  <a:buChar char="•"/>
                </a:pPr>
                <a:r>
                  <a:rPr lang="zh-CN" altLang="en-US" sz="1200" b="1" dirty="0">
                    <a:solidFill>
                      <a:srgbClr val="C00000"/>
                    </a:solidFill>
                    <a:latin typeface="+mn-ea"/>
                    <a:ea typeface="+mn-ea"/>
                    <a:cs typeface="Times New Roman" panose="02020603050405020304" pitchFamily="18" charset="0"/>
                  </a:rPr>
                  <a:t>价值函数（</a:t>
                </a:r>
                <a:r>
                  <a:rPr lang="en-US" altLang="zh-CN" sz="1200" b="1" dirty="0">
                    <a:solidFill>
                      <a:srgbClr val="C00000"/>
                    </a:solidFill>
                    <a:latin typeface="+mn-ea"/>
                    <a:ea typeface="+mn-ea"/>
                    <a:cs typeface="Times New Roman" panose="02020603050405020304" pitchFamily="18" charset="0"/>
                  </a:rPr>
                  <a:t>Value Function</a:t>
                </a:r>
                <a:r>
                  <a:rPr lang="zh-CN" altLang="en-US" sz="1200" b="1" dirty="0">
                    <a:solidFill>
                      <a:srgbClr val="C00000"/>
                    </a:solidFill>
                    <a:latin typeface="+mn-ea"/>
                    <a:ea typeface="+mn-ea"/>
                    <a:cs typeface="Times New Roman" panose="02020603050405020304" pitchFamily="18" charset="0"/>
                  </a:rPr>
                  <a:t>）</a:t>
                </a:r>
                <a14:m>
                  <m:oMath xmlns:m="http://schemas.openxmlformats.org/officeDocument/2006/math">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𝑉</m:t>
                        </m:r>
                      </m:e>
                      <m:sub>
                        <m:r>
                          <a:rPr lang="en-US" altLang="zh-CN" sz="1200" i="1">
                            <a:latin typeface="Cambria Math" panose="02040503050406030204" pitchFamily="18" charset="0"/>
                            <a:ea typeface="+mn-ea"/>
                          </a:rPr>
                          <m:t>𝜋</m:t>
                        </m:r>
                      </m:sub>
                    </m:sSub>
                    <m:d>
                      <m:dPr>
                        <m:ctrlPr>
                          <a:rPr lang="zh-CN" altLang="zh-CN" sz="1200" i="1">
                            <a:latin typeface="Cambria Math" panose="02040503050406030204" pitchFamily="18" charset="0"/>
                            <a:ea typeface="+mn-ea"/>
                          </a:rPr>
                        </m:ctrlPr>
                      </m:dPr>
                      <m:e>
                        <m:r>
                          <a:rPr lang="en-US" altLang="zh-CN" sz="1200" i="1">
                            <a:latin typeface="Cambria Math" panose="02040503050406030204" pitchFamily="18" charset="0"/>
                            <a:ea typeface="+mn-ea"/>
                          </a:rPr>
                          <m:t>𝑠</m:t>
                        </m:r>
                      </m:e>
                    </m:d>
                    <m:r>
                      <a:rPr lang="en-US" altLang="zh-CN" sz="1200" b="1" i="1">
                        <a:latin typeface="Cambria Math" panose="02040503050406030204" pitchFamily="18" charset="0"/>
                        <a:ea typeface="+mn-ea"/>
                      </a:rPr>
                      <m:t>=</m:t>
                    </m:r>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𝔼</m:t>
                        </m:r>
                      </m:e>
                      <m:sub>
                        <m:r>
                          <a:rPr lang="en-US" altLang="zh-CN" sz="1200" i="1">
                            <a:latin typeface="Cambria Math" panose="02040503050406030204" pitchFamily="18" charset="0"/>
                            <a:ea typeface="+mn-ea"/>
                          </a:rPr>
                          <m:t>𝜋</m:t>
                        </m:r>
                      </m:sub>
                    </m:sSub>
                    <m:d>
                      <m:dPr>
                        <m:begChr m:val="["/>
                        <m:endChr m:val="]"/>
                        <m:ctrlPr>
                          <a:rPr lang="zh-CN" altLang="zh-CN" sz="1200" i="1">
                            <a:latin typeface="Cambria Math" panose="02040503050406030204" pitchFamily="18" charset="0"/>
                            <a:ea typeface="+mn-ea"/>
                          </a:rPr>
                        </m:ctrlPr>
                      </m:dPr>
                      <m:e>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𝑅</m:t>
                            </m:r>
                          </m:e>
                          <m:sub>
                            <m:r>
                              <a:rPr lang="en-US" altLang="zh-CN" sz="1200" i="1">
                                <a:latin typeface="Cambria Math" panose="02040503050406030204" pitchFamily="18" charset="0"/>
                                <a:ea typeface="+mn-ea"/>
                              </a:rPr>
                              <m:t>𝑡</m:t>
                            </m:r>
                            <m:r>
                              <a:rPr lang="en-US" altLang="zh-CN" sz="1200" i="1">
                                <a:latin typeface="Cambria Math" panose="02040503050406030204" pitchFamily="18" charset="0"/>
                                <a:ea typeface="+mn-ea"/>
                              </a:rPr>
                              <m:t>+1</m:t>
                            </m:r>
                          </m:sub>
                        </m:sSub>
                        <m:r>
                          <a:rPr lang="en-US" altLang="zh-CN" sz="1200" i="1">
                            <a:latin typeface="Cambria Math" panose="02040503050406030204" pitchFamily="18" charset="0"/>
                            <a:ea typeface="+mn-ea"/>
                          </a:rPr>
                          <m:t>+</m:t>
                        </m:r>
                        <m:r>
                          <a:rPr lang="en-US" altLang="zh-CN" sz="1200" i="1">
                            <a:latin typeface="Cambria Math" panose="02040503050406030204" pitchFamily="18" charset="0"/>
                            <a:ea typeface="+mn-ea"/>
                          </a:rPr>
                          <m:t>𝛾</m:t>
                        </m:r>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𝑅</m:t>
                            </m:r>
                          </m:e>
                          <m:sub>
                            <m:r>
                              <a:rPr lang="en-US" altLang="zh-CN" sz="1200" i="1">
                                <a:latin typeface="Cambria Math" panose="02040503050406030204" pitchFamily="18" charset="0"/>
                                <a:ea typeface="+mn-ea"/>
                              </a:rPr>
                              <m:t>𝑡</m:t>
                            </m:r>
                            <m:r>
                              <a:rPr lang="en-US" altLang="zh-CN" sz="1200" i="1">
                                <a:latin typeface="Cambria Math" panose="02040503050406030204" pitchFamily="18" charset="0"/>
                                <a:ea typeface="+mn-ea"/>
                              </a:rPr>
                              <m:t>+2</m:t>
                            </m:r>
                          </m:sub>
                        </m:sSub>
                        <m:r>
                          <a:rPr lang="en-US" altLang="zh-CN" sz="1200" i="1">
                            <a:latin typeface="Cambria Math" panose="02040503050406030204" pitchFamily="18" charset="0"/>
                            <a:ea typeface="+mn-ea"/>
                          </a:rPr>
                          <m:t>+</m:t>
                        </m:r>
                        <m:sSup>
                          <m:sSupPr>
                            <m:ctrlPr>
                              <a:rPr lang="zh-CN" altLang="zh-CN" sz="1200" i="1">
                                <a:latin typeface="Cambria Math" panose="02040503050406030204" pitchFamily="18" charset="0"/>
                                <a:ea typeface="+mn-ea"/>
                              </a:rPr>
                            </m:ctrlPr>
                          </m:sSupPr>
                          <m:e>
                            <m:r>
                              <a:rPr lang="en-US" altLang="zh-CN" sz="1200" i="1">
                                <a:latin typeface="Cambria Math" panose="02040503050406030204" pitchFamily="18" charset="0"/>
                                <a:ea typeface="+mn-ea"/>
                              </a:rPr>
                              <m:t>𝛾</m:t>
                            </m:r>
                          </m:e>
                          <m:sup>
                            <m:r>
                              <a:rPr lang="en-US" altLang="zh-CN" sz="1200" i="1">
                                <a:latin typeface="Cambria Math" panose="02040503050406030204" pitchFamily="18" charset="0"/>
                                <a:ea typeface="+mn-ea"/>
                              </a:rPr>
                              <m:t>2</m:t>
                            </m:r>
                          </m:sup>
                        </m:sSup>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𝑅</m:t>
                            </m:r>
                          </m:e>
                          <m:sub>
                            <m:r>
                              <a:rPr lang="en-US" altLang="zh-CN" sz="1200" i="1">
                                <a:latin typeface="Cambria Math" panose="02040503050406030204" pitchFamily="18" charset="0"/>
                                <a:ea typeface="+mn-ea"/>
                              </a:rPr>
                              <m:t>𝑡</m:t>
                            </m:r>
                            <m:r>
                              <a:rPr lang="en-US" altLang="zh-CN" sz="1200" i="1">
                                <a:latin typeface="Cambria Math" panose="02040503050406030204" pitchFamily="18" charset="0"/>
                                <a:ea typeface="+mn-ea"/>
                              </a:rPr>
                              <m:t>+3</m:t>
                            </m:r>
                          </m:sub>
                        </m:sSub>
                        <m:r>
                          <a:rPr lang="en-US" altLang="zh-CN" sz="1200" i="1">
                            <a:latin typeface="Cambria Math" panose="02040503050406030204" pitchFamily="18" charset="0"/>
                            <a:ea typeface="+mn-ea"/>
                          </a:rPr>
                          <m:t>+⋯</m:t>
                        </m:r>
                      </m:e>
                      <m:e>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𝑆</m:t>
                            </m:r>
                          </m:e>
                          <m:sub>
                            <m:r>
                              <a:rPr lang="en-US" altLang="zh-CN" sz="1200" i="1">
                                <a:latin typeface="Cambria Math" panose="02040503050406030204" pitchFamily="18" charset="0"/>
                                <a:ea typeface="+mn-ea"/>
                              </a:rPr>
                              <m:t>𝑡</m:t>
                            </m:r>
                          </m:sub>
                        </m:sSub>
                        <m:r>
                          <a:rPr lang="en-US" altLang="zh-CN" sz="1200" i="1">
                            <a:latin typeface="Cambria Math" panose="02040503050406030204" pitchFamily="18" charset="0"/>
                            <a:ea typeface="+mn-ea"/>
                          </a:rPr>
                          <m:t>=</m:t>
                        </m:r>
                        <m:r>
                          <a:rPr lang="en-US" altLang="zh-CN" sz="1200" i="1">
                            <a:latin typeface="Cambria Math" panose="02040503050406030204" pitchFamily="18" charset="0"/>
                            <a:ea typeface="+mn-ea"/>
                          </a:rPr>
                          <m:t>𝑠</m:t>
                        </m:r>
                      </m:e>
                    </m:d>
                  </m:oMath>
                </a14:m>
                <a:endParaRPr lang="en-US" altLang="zh-CN" sz="1200" b="1" dirty="0">
                  <a:solidFill>
                    <a:srgbClr val="C00000"/>
                  </a:solidFill>
                  <a:latin typeface="+mn-ea"/>
                  <a:ea typeface="+mn-ea"/>
                  <a:cs typeface="Times New Roman" panose="02020603050405020304" pitchFamily="18" charset="0"/>
                </a:endParaRPr>
              </a:p>
              <a:p>
                <a:pPr marL="257175" indent="-257175">
                  <a:lnSpc>
                    <a:spcPct val="150000"/>
                  </a:lnSpc>
                  <a:buFont typeface="Arial" panose="020B0604020202020204" pitchFamily="34" charset="0"/>
                  <a:buChar char="•"/>
                </a:pPr>
                <a:r>
                  <a:rPr lang="zh-CN" altLang="en-US" sz="1200" b="1" dirty="0">
                    <a:solidFill>
                      <a:srgbClr val="C00000"/>
                    </a:solidFill>
                    <a:latin typeface="+mn-ea"/>
                    <a:ea typeface="+mn-ea"/>
                    <a:cs typeface="Times New Roman" panose="02020603050405020304" pitchFamily="18" charset="0"/>
                  </a:rPr>
                  <a:t>动作</a:t>
                </a:r>
                <a:r>
                  <a:rPr lang="en-US" altLang="zh-CN" sz="1200" b="1" dirty="0">
                    <a:solidFill>
                      <a:srgbClr val="C00000"/>
                    </a:solidFill>
                    <a:latin typeface="+mn-ea"/>
                    <a:ea typeface="+mn-ea"/>
                    <a:cs typeface="Times New Roman" panose="02020603050405020304" pitchFamily="18" charset="0"/>
                  </a:rPr>
                  <a:t>-</a:t>
                </a:r>
                <a:r>
                  <a:rPr lang="zh-CN" altLang="en-US" sz="1200" b="1" dirty="0">
                    <a:solidFill>
                      <a:srgbClr val="C00000"/>
                    </a:solidFill>
                    <a:latin typeface="+mn-ea"/>
                    <a:ea typeface="+mn-ea"/>
                    <a:cs typeface="Times New Roman" panose="02020603050405020304" pitchFamily="18" charset="0"/>
                  </a:rPr>
                  <a:t>价值函数</a:t>
                </a:r>
                <a:r>
                  <a:rPr lang="en-US" altLang="zh-CN" sz="1200" b="1" dirty="0">
                    <a:solidFill>
                      <a:srgbClr val="C00000"/>
                    </a:solidFill>
                    <a:latin typeface="+mn-ea"/>
                    <a:ea typeface="+mn-ea"/>
                    <a:cs typeface="Times New Roman" panose="02020603050405020304" pitchFamily="18" charset="0"/>
                  </a:rPr>
                  <a:t>(Action-Value Function)</a:t>
                </a:r>
                <a:r>
                  <a:rPr lang="en-US" altLang="zh-CN" sz="1200" dirty="0">
                    <a:latin typeface="+mn-ea"/>
                    <a:ea typeface="+mn-ea"/>
                    <a:cs typeface="Times New Roman" panose="02020603050405020304" pitchFamily="18" charset="0"/>
                  </a:rPr>
                  <a:t>     </a:t>
                </a:r>
                <a14:m>
                  <m:oMath xmlns:m="http://schemas.openxmlformats.org/officeDocument/2006/math">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𝑞</m:t>
                        </m:r>
                      </m:e>
                      <m:sub>
                        <m:r>
                          <a:rPr lang="en-US" altLang="zh-CN" sz="1200" i="1">
                            <a:latin typeface="Cambria Math" panose="02040503050406030204" pitchFamily="18" charset="0"/>
                            <a:ea typeface="+mn-ea"/>
                          </a:rPr>
                          <m:t>𝜋</m:t>
                        </m:r>
                      </m:sub>
                    </m:sSub>
                    <m:d>
                      <m:dPr>
                        <m:ctrlPr>
                          <a:rPr lang="zh-CN" altLang="zh-CN" sz="1200" i="1">
                            <a:latin typeface="Cambria Math" panose="02040503050406030204" pitchFamily="18" charset="0"/>
                            <a:ea typeface="+mn-ea"/>
                          </a:rPr>
                        </m:ctrlPr>
                      </m:dPr>
                      <m:e>
                        <m:r>
                          <a:rPr lang="en-US" altLang="zh-CN" sz="1200" i="1">
                            <a:latin typeface="Cambria Math" panose="02040503050406030204" pitchFamily="18" charset="0"/>
                            <a:ea typeface="+mn-ea"/>
                          </a:rPr>
                          <m:t>𝑠</m:t>
                        </m:r>
                        <m:r>
                          <a:rPr lang="en-US" altLang="zh-CN" sz="1200" i="1">
                            <a:latin typeface="Cambria Math" panose="02040503050406030204" pitchFamily="18" charset="0"/>
                            <a:ea typeface="+mn-ea"/>
                          </a:rPr>
                          <m:t>,</m:t>
                        </m:r>
                        <m:r>
                          <a:rPr lang="en-US" altLang="zh-CN" sz="1200" i="1">
                            <a:latin typeface="Cambria Math" panose="02040503050406030204" pitchFamily="18" charset="0"/>
                            <a:ea typeface="+mn-ea"/>
                          </a:rPr>
                          <m:t>𝑎</m:t>
                        </m:r>
                      </m:e>
                    </m:d>
                    <m:r>
                      <a:rPr lang="en-US" altLang="zh-CN" sz="1200" b="1" i="1">
                        <a:latin typeface="Cambria Math" panose="02040503050406030204" pitchFamily="18" charset="0"/>
                        <a:ea typeface="+mn-ea"/>
                      </a:rPr>
                      <m:t>=</m:t>
                    </m:r>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𝔼</m:t>
                        </m:r>
                      </m:e>
                      <m:sub>
                        <m:r>
                          <a:rPr lang="en-US" altLang="zh-CN" sz="1200" i="1">
                            <a:latin typeface="Cambria Math" panose="02040503050406030204" pitchFamily="18" charset="0"/>
                            <a:ea typeface="+mn-ea"/>
                          </a:rPr>
                          <m:t>𝜋</m:t>
                        </m:r>
                      </m:sub>
                    </m:sSub>
                    <m:d>
                      <m:dPr>
                        <m:begChr m:val="["/>
                        <m:endChr m:val="]"/>
                        <m:ctrlPr>
                          <a:rPr lang="zh-CN" altLang="zh-CN" sz="1200" i="1">
                            <a:latin typeface="Cambria Math" panose="02040503050406030204" pitchFamily="18" charset="0"/>
                            <a:ea typeface="+mn-ea"/>
                          </a:rPr>
                        </m:ctrlPr>
                      </m:dPr>
                      <m:e>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𝑅</m:t>
                            </m:r>
                          </m:e>
                          <m:sub>
                            <m:r>
                              <a:rPr lang="en-US" altLang="zh-CN" sz="1200" i="1">
                                <a:latin typeface="Cambria Math" panose="02040503050406030204" pitchFamily="18" charset="0"/>
                                <a:ea typeface="+mn-ea"/>
                              </a:rPr>
                              <m:t>𝑡</m:t>
                            </m:r>
                            <m:r>
                              <a:rPr lang="en-US" altLang="zh-CN" sz="1200" i="1">
                                <a:latin typeface="Cambria Math" panose="02040503050406030204" pitchFamily="18" charset="0"/>
                                <a:ea typeface="+mn-ea"/>
                              </a:rPr>
                              <m:t>+1</m:t>
                            </m:r>
                          </m:sub>
                        </m:sSub>
                        <m:r>
                          <a:rPr lang="en-US" altLang="zh-CN" sz="1200" i="1">
                            <a:latin typeface="Cambria Math" panose="02040503050406030204" pitchFamily="18" charset="0"/>
                            <a:ea typeface="+mn-ea"/>
                          </a:rPr>
                          <m:t>+</m:t>
                        </m:r>
                        <m:r>
                          <a:rPr lang="en-US" altLang="zh-CN" sz="1200" i="1">
                            <a:latin typeface="Cambria Math" panose="02040503050406030204" pitchFamily="18" charset="0"/>
                            <a:ea typeface="+mn-ea"/>
                          </a:rPr>
                          <m:t>𝛾</m:t>
                        </m:r>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𝑅</m:t>
                            </m:r>
                          </m:e>
                          <m:sub>
                            <m:r>
                              <a:rPr lang="en-US" altLang="zh-CN" sz="1200" i="1">
                                <a:latin typeface="Cambria Math" panose="02040503050406030204" pitchFamily="18" charset="0"/>
                                <a:ea typeface="+mn-ea"/>
                              </a:rPr>
                              <m:t>𝑡</m:t>
                            </m:r>
                            <m:r>
                              <a:rPr lang="en-US" altLang="zh-CN" sz="1200" i="1">
                                <a:latin typeface="Cambria Math" panose="02040503050406030204" pitchFamily="18" charset="0"/>
                                <a:ea typeface="+mn-ea"/>
                              </a:rPr>
                              <m:t>+2</m:t>
                            </m:r>
                          </m:sub>
                        </m:sSub>
                        <m:r>
                          <a:rPr lang="en-US" altLang="zh-CN" sz="1200" i="1">
                            <a:latin typeface="Cambria Math" panose="02040503050406030204" pitchFamily="18" charset="0"/>
                            <a:ea typeface="+mn-ea"/>
                          </a:rPr>
                          <m:t>+</m:t>
                        </m:r>
                        <m:sSup>
                          <m:sSupPr>
                            <m:ctrlPr>
                              <a:rPr lang="zh-CN" altLang="zh-CN" sz="1200" i="1">
                                <a:latin typeface="Cambria Math" panose="02040503050406030204" pitchFamily="18" charset="0"/>
                                <a:ea typeface="+mn-ea"/>
                              </a:rPr>
                            </m:ctrlPr>
                          </m:sSupPr>
                          <m:e>
                            <m:r>
                              <a:rPr lang="en-US" altLang="zh-CN" sz="1200" i="1">
                                <a:latin typeface="Cambria Math" panose="02040503050406030204" pitchFamily="18" charset="0"/>
                                <a:ea typeface="+mn-ea"/>
                              </a:rPr>
                              <m:t>𝛾</m:t>
                            </m:r>
                          </m:e>
                          <m:sup>
                            <m:r>
                              <a:rPr lang="en-US" altLang="zh-CN" sz="1200" i="1">
                                <a:latin typeface="Cambria Math" panose="02040503050406030204" pitchFamily="18" charset="0"/>
                                <a:ea typeface="+mn-ea"/>
                              </a:rPr>
                              <m:t>2</m:t>
                            </m:r>
                          </m:sup>
                        </m:sSup>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𝑅</m:t>
                            </m:r>
                          </m:e>
                          <m:sub>
                            <m:r>
                              <a:rPr lang="en-US" altLang="zh-CN" sz="1200" i="1">
                                <a:latin typeface="Cambria Math" panose="02040503050406030204" pitchFamily="18" charset="0"/>
                                <a:ea typeface="+mn-ea"/>
                              </a:rPr>
                              <m:t>𝑡</m:t>
                            </m:r>
                            <m:r>
                              <a:rPr lang="en-US" altLang="zh-CN" sz="1200" i="1">
                                <a:latin typeface="Cambria Math" panose="02040503050406030204" pitchFamily="18" charset="0"/>
                                <a:ea typeface="+mn-ea"/>
                              </a:rPr>
                              <m:t>+3</m:t>
                            </m:r>
                          </m:sub>
                        </m:sSub>
                        <m:r>
                          <a:rPr lang="en-US" altLang="zh-CN" sz="1200" i="1">
                            <a:latin typeface="Cambria Math" panose="02040503050406030204" pitchFamily="18" charset="0"/>
                            <a:ea typeface="+mn-ea"/>
                          </a:rPr>
                          <m:t>+⋯</m:t>
                        </m:r>
                      </m:e>
                      <m:e>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𝑆</m:t>
                            </m:r>
                          </m:e>
                          <m:sub>
                            <m:r>
                              <a:rPr lang="en-US" altLang="zh-CN" sz="1200" i="1">
                                <a:latin typeface="Cambria Math" panose="02040503050406030204" pitchFamily="18" charset="0"/>
                                <a:ea typeface="+mn-ea"/>
                              </a:rPr>
                              <m:t>𝑡</m:t>
                            </m:r>
                          </m:sub>
                        </m:sSub>
                        <m:r>
                          <a:rPr lang="en-US" altLang="zh-CN" sz="1200" i="1">
                            <a:latin typeface="Cambria Math" panose="02040503050406030204" pitchFamily="18" charset="0"/>
                            <a:ea typeface="+mn-ea"/>
                          </a:rPr>
                          <m:t>=</m:t>
                        </m:r>
                        <m:r>
                          <a:rPr lang="en-US" altLang="zh-CN" sz="1200" i="1">
                            <a:latin typeface="Cambria Math" panose="02040503050406030204" pitchFamily="18" charset="0"/>
                            <a:ea typeface="+mn-ea"/>
                          </a:rPr>
                          <m:t>𝑠</m:t>
                        </m:r>
                        <m:r>
                          <a:rPr lang="en-US" altLang="zh-CN" sz="1200" i="1">
                            <a:latin typeface="Cambria Math" panose="02040503050406030204" pitchFamily="18" charset="0"/>
                            <a:ea typeface="+mn-ea"/>
                          </a:rPr>
                          <m:t>,</m:t>
                        </m:r>
                        <m:sSub>
                          <m:sSubPr>
                            <m:ctrlPr>
                              <a:rPr lang="zh-CN"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𝐴</m:t>
                            </m:r>
                          </m:e>
                          <m:sub>
                            <m:r>
                              <a:rPr lang="en-US" altLang="zh-CN" sz="1200" i="1">
                                <a:latin typeface="Cambria Math" panose="02040503050406030204" pitchFamily="18" charset="0"/>
                                <a:ea typeface="+mn-ea"/>
                              </a:rPr>
                              <m:t>𝑡</m:t>
                            </m:r>
                          </m:sub>
                        </m:sSub>
                        <m:r>
                          <a:rPr lang="en-US" altLang="zh-CN" sz="1200" i="1">
                            <a:latin typeface="Cambria Math" panose="02040503050406030204" pitchFamily="18" charset="0"/>
                            <a:ea typeface="+mn-ea"/>
                          </a:rPr>
                          <m:t>=</m:t>
                        </m:r>
                        <m:r>
                          <a:rPr lang="en-US" altLang="zh-CN" sz="1200" i="1">
                            <a:latin typeface="Cambria Math" panose="02040503050406030204" pitchFamily="18" charset="0"/>
                            <a:ea typeface="+mn-ea"/>
                          </a:rPr>
                          <m:t>𝑎</m:t>
                        </m:r>
                      </m:e>
                    </m:d>
                  </m:oMath>
                </a14:m>
                <a:endParaRPr lang="en-US" altLang="zh-CN" sz="1200" dirty="0">
                  <a:latin typeface="+mn-ea"/>
                  <a:ea typeface="+mn-ea"/>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83804BBE-7935-4518-845A-43FDC33F8C4F}"/>
                  </a:ext>
                </a:extLst>
              </p:cNvPr>
              <p:cNvSpPr>
                <a:spLocks noRot="1" noChangeAspect="1" noMove="1" noResize="1" noEditPoints="1" noAdjustHandles="1" noChangeArrowheads="1" noChangeShapeType="1" noTextEdit="1"/>
              </p:cNvSpPr>
              <p:nvPr/>
            </p:nvSpPr>
            <p:spPr>
              <a:xfrm>
                <a:off x="662468" y="1584768"/>
                <a:ext cx="7581939" cy="683264"/>
              </a:xfrm>
              <a:prstGeom prst="rect">
                <a:avLst/>
              </a:prstGeom>
              <a:blipFill>
                <a:blip r:embed="rId3"/>
                <a:stretch>
                  <a:fillRect b="-1786"/>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EF5AAAD9-6F25-4192-ABE1-C9E7F4D293A5}"/>
              </a:ext>
            </a:extLst>
          </p:cNvPr>
          <p:cNvSpPr txBox="1"/>
          <p:nvPr/>
        </p:nvSpPr>
        <p:spPr>
          <a:xfrm>
            <a:off x="554869" y="938545"/>
            <a:ext cx="7776123" cy="715581"/>
          </a:xfrm>
          <a:prstGeom prst="rect">
            <a:avLst/>
          </a:prstGeom>
          <a:noFill/>
        </p:spPr>
        <p:txBody>
          <a:bodyPr wrap="square">
            <a:spAutoFit/>
          </a:bodyPr>
          <a:lstStyle/>
          <a:p>
            <a:pPr algn="ctr">
              <a:lnSpc>
                <a:spcPct val="150000"/>
              </a:lnSpc>
            </a:pPr>
            <a:r>
              <a:rPr lang="zh-CN" altLang="zh-CN" sz="1350" kern="100" dirty="0">
                <a:solidFill>
                  <a:srgbClr val="000000"/>
                </a:solidFill>
                <a:latin typeface="+mn-ea"/>
                <a:ea typeface="+mn-ea"/>
                <a:cs typeface="Times New Roman" panose="02020603050405020304" pitchFamily="18" charset="0"/>
              </a:rPr>
              <a:t>贝尔曼方程（</a:t>
            </a:r>
            <a:r>
              <a:rPr lang="en-US" altLang="zh-CN" sz="1350" kern="100" dirty="0">
                <a:solidFill>
                  <a:srgbClr val="000000"/>
                </a:solidFill>
                <a:latin typeface="+mn-ea"/>
                <a:ea typeface="+mn-ea"/>
                <a:cs typeface="Times New Roman" panose="02020603050405020304" pitchFamily="18" charset="0"/>
              </a:rPr>
              <a:t>Bellman Equation</a:t>
            </a:r>
            <a:r>
              <a:rPr lang="zh-CN" altLang="zh-CN" sz="1350" kern="100" dirty="0">
                <a:solidFill>
                  <a:srgbClr val="000000"/>
                </a:solidFill>
                <a:latin typeface="+mn-ea"/>
                <a:ea typeface="+mn-ea"/>
                <a:cs typeface="Times New Roman" panose="02020603050405020304" pitchFamily="18" charset="0"/>
              </a:rPr>
              <a:t>）也被称作动态规划方程（</a:t>
            </a:r>
            <a:r>
              <a:rPr lang="en-US" altLang="zh-CN" sz="1350" kern="100" dirty="0">
                <a:solidFill>
                  <a:srgbClr val="000000"/>
                </a:solidFill>
                <a:latin typeface="+mn-ea"/>
                <a:ea typeface="+mn-ea"/>
                <a:cs typeface="Times New Roman" panose="02020603050405020304" pitchFamily="18" charset="0"/>
              </a:rPr>
              <a:t>Dynamic Programming Equation</a:t>
            </a:r>
            <a:r>
              <a:rPr lang="zh-CN" altLang="zh-CN" sz="1350" kern="100" dirty="0">
                <a:solidFill>
                  <a:srgbClr val="000000"/>
                </a:solidFill>
                <a:latin typeface="+mn-ea"/>
                <a:ea typeface="+mn-ea"/>
                <a:cs typeface="Times New Roman" panose="02020603050405020304" pitchFamily="18" charset="0"/>
              </a:rPr>
              <a:t>），由理查德</a:t>
            </a:r>
            <a:r>
              <a:rPr lang="en-US" altLang="zh-CN" sz="1350" kern="100" dirty="0">
                <a:solidFill>
                  <a:srgbClr val="000000"/>
                </a:solidFill>
                <a:latin typeface="+mn-ea"/>
                <a:ea typeface="+mn-ea"/>
                <a:cs typeface="Times New Roman" panose="02020603050405020304" pitchFamily="18" charset="0"/>
              </a:rPr>
              <a:t>·</a:t>
            </a:r>
            <a:r>
              <a:rPr lang="zh-CN" altLang="zh-CN" sz="1350" kern="100" dirty="0">
                <a:solidFill>
                  <a:srgbClr val="000000"/>
                </a:solidFill>
                <a:latin typeface="+mn-ea"/>
                <a:ea typeface="+mn-ea"/>
                <a:cs typeface="Times New Roman" panose="02020603050405020304" pitchFamily="18" charset="0"/>
              </a:rPr>
              <a:t>贝尔曼（</a:t>
            </a:r>
            <a:r>
              <a:rPr lang="en-US" altLang="zh-CN" sz="1350" kern="100" dirty="0">
                <a:solidFill>
                  <a:srgbClr val="000000"/>
                </a:solidFill>
                <a:latin typeface="+mn-ea"/>
                <a:ea typeface="+mn-ea"/>
                <a:cs typeface="Times New Roman" panose="02020603050405020304" pitchFamily="18" charset="0"/>
              </a:rPr>
              <a:t>Richard Bellman</a:t>
            </a:r>
            <a:r>
              <a:rPr lang="zh-CN" altLang="zh-CN" sz="1350" kern="100" dirty="0">
                <a:solidFill>
                  <a:srgbClr val="000000"/>
                </a:solidFill>
                <a:latin typeface="+mn-ea"/>
                <a:ea typeface="+mn-ea"/>
                <a:cs typeface="Times New Roman" panose="02020603050405020304" pitchFamily="18" charset="0"/>
              </a:rPr>
              <a:t>）提出。</a:t>
            </a:r>
            <a:endParaRPr lang="zh-CN" altLang="zh-CN" sz="1050" kern="100" dirty="0">
              <a:latin typeface="+mn-ea"/>
              <a:ea typeface="+mn-ea"/>
              <a:cs typeface="Times New Roman" panose="02020603050405020304" pitchFamily="18" charset="0"/>
            </a:endParaRPr>
          </a:p>
        </p:txBody>
      </p:sp>
      <p:grpSp>
        <p:nvGrpSpPr>
          <p:cNvPr id="12" name="组合 11">
            <a:extLst>
              <a:ext uri="{FF2B5EF4-FFF2-40B4-BE49-F238E27FC236}">
                <a16:creationId xmlns:a16="http://schemas.microsoft.com/office/drawing/2014/main" id="{4C26E5FF-ABBA-4957-901D-90198DB48025}"/>
              </a:ext>
            </a:extLst>
          </p:cNvPr>
          <p:cNvGrpSpPr/>
          <p:nvPr/>
        </p:nvGrpSpPr>
        <p:grpSpPr>
          <a:xfrm>
            <a:off x="122168" y="2378226"/>
            <a:ext cx="6087682" cy="447943"/>
            <a:chOff x="427661" y="3714303"/>
            <a:chExt cx="8116909" cy="597257"/>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AA5E8AC-ECD3-4F65-8BAE-7CF33DF58EDD}"/>
                    </a:ext>
                  </a:extLst>
                </p:cNvPr>
                <p:cNvSpPr txBox="1"/>
                <p:nvPr/>
              </p:nvSpPr>
              <p:spPr>
                <a:xfrm>
                  <a:off x="427661" y="3714303"/>
                  <a:ext cx="8116909" cy="507830"/>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zh-CN" altLang="en-US" sz="1250" i="1" smtClean="0">
                                <a:solidFill>
                                  <a:srgbClr val="836967"/>
                                </a:solidFill>
                                <a:latin typeface="Cambria Math" panose="02040503050406030204" pitchFamily="18" charset="0"/>
                                <a:ea typeface="+mn-ea"/>
                              </a:rPr>
                            </m:ctrlPr>
                          </m:sSubPr>
                          <m:e>
                            <m:r>
                              <a:rPr lang="zh-CN" altLang="en-US" sz="1250" i="1">
                                <a:latin typeface="Cambria Math" panose="02040503050406030204" pitchFamily="18" charset="0"/>
                                <a:ea typeface="+mn-ea"/>
                              </a:rPr>
                              <m:t>𝑉</m:t>
                            </m:r>
                          </m:e>
                          <m:sub>
                            <m:r>
                              <a:rPr lang="zh-CN" altLang="en-US" sz="1250" i="1">
                                <a:latin typeface="Cambria Math" panose="02040503050406030204" pitchFamily="18" charset="0"/>
                                <a:ea typeface="+mn-ea"/>
                              </a:rPr>
                              <m:t>𝜋</m:t>
                            </m:r>
                          </m:sub>
                        </m:sSub>
                        <m:d>
                          <m:dPr>
                            <m:ctrlPr>
                              <a:rPr lang="zh-CN" altLang="en-US" sz="1250" i="1">
                                <a:solidFill>
                                  <a:srgbClr val="836967"/>
                                </a:solidFill>
                                <a:latin typeface="Cambria Math" panose="02040503050406030204" pitchFamily="18" charset="0"/>
                                <a:ea typeface="+mn-ea"/>
                              </a:rPr>
                            </m:ctrlPr>
                          </m:dPr>
                          <m:e>
                            <m:r>
                              <a:rPr lang="zh-CN" altLang="en-US" sz="1250" i="1">
                                <a:latin typeface="Cambria Math" panose="02040503050406030204" pitchFamily="18" charset="0"/>
                                <a:ea typeface="+mn-ea"/>
                              </a:rPr>
                              <m:t>𝑠</m:t>
                            </m:r>
                          </m:e>
                        </m:d>
                        <m:r>
                          <a:rPr lang="zh-CN" altLang="en-US" sz="1250">
                            <a:latin typeface="Cambria Math" panose="02040503050406030204" pitchFamily="18" charset="0"/>
                            <a:ea typeface="+mn-ea"/>
                          </a:rPr>
                          <m:t>=</m:t>
                        </m:r>
                      </m:oMath>
                    </m:oMathPara>
                  </a14:m>
                  <a:endParaRPr lang="zh-CN" altLang="en-US" sz="1250" dirty="0">
                    <a:latin typeface="+mn-ea"/>
                    <a:ea typeface="+mn-ea"/>
                  </a:endParaRPr>
                </a:p>
              </p:txBody>
            </p:sp>
          </mc:Choice>
          <mc:Fallback xmlns="">
            <p:sp>
              <p:nvSpPr>
                <p:cNvPr id="13" name="文本框 12">
                  <a:extLst>
                    <a:ext uri="{FF2B5EF4-FFF2-40B4-BE49-F238E27FC236}">
                      <a16:creationId xmlns:a16="http://schemas.microsoft.com/office/drawing/2014/main" id="{DAA5E8AC-ECD3-4F65-8BAE-7CF33DF58EDD}"/>
                    </a:ext>
                  </a:extLst>
                </p:cNvPr>
                <p:cNvSpPr txBox="1">
                  <a:spLocks noRot="1" noChangeAspect="1" noMove="1" noResize="1" noEditPoints="1" noAdjustHandles="1" noChangeArrowheads="1" noChangeShapeType="1" noTextEdit="1"/>
                </p:cNvSpPr>
                <p:nvPr/>
              </p:nvSpPr>
              <p:spPr>
                <a:xfrm>
                  <a:off x="427661" y="3714303"/>
                  <a:ext cx="8116909" cy="50783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DF714DD-2D59-41FD-8BDA-FD43E6A851F9}"/>
                    </a:ext>
                  </a:extLst>
                </p:cNvPr>
                <p:cNvSpPr txBox="1"/>
                <p:nvPr/>
              </p:nvSpPr>
              <p:spPr>
                <a:xfrm>
                  <a:off x="3094801" y="3714303"/>
                  <a:ext cx="5376928" cy="5972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limLoc m:val="subSup"/>
                            <m:supHide m:val="on"/>
                            <m:ctrlPr>
                              <a:rPr lang="zh-CN" altLang="en-US" sz="1250" i="1">
                                <a:latin typeface="Cambria Math" panose="02040503050406030204" pitchFamily="18" charset="0"/>
                                <a:ea typeface="+mn-ea"/>
                              </a:rPr>
                            </m:ctrlPr>
                          </m:naryPr>
                          <m:sub>
                            <m:r>
                              <a:rPr lang="zh-CN" altLang="en-US" sz="1250" i="1">
                                <a:latin typeface="Cambria Math" panose="02040503050406030204" pitchFamily="18" charset="0"/>
                                <a:ea typeface="+mn-ea"/>
                              </a:rPr>
                              <m:t>𝑎</m:t>
                            </m:r>
                            <m:r>
                              <a:rPr lang="zh-CN" altLang="en-US" sz="1250">
                                <a:latin typeface="Cambria Math" panose="02040503050406030204" pitchFamily="18" charset="0"/>
                                <a:ea typeface="+mn-ea"/>
                              </a:rPr>
                              <m:t>∈</m:t>
                            </m:r>
                            <m:r>
                              <a:rPr lang="zh-CN" altLang="en-US" sz="1250" i="1">
                                <a:latin typeface="Cambria Math" panose="02040503050406030204" pitchFamily="18" charset="0"/>
                                <a:ea typeface="+mn-ea"/>
                              </a:rPr>
                              <m:t>𝐴</m:t>
                            </m:r>
                          </m:sub>
                          <m:sup/>
                          <m:e>
                            <m:d>
                              <m:dPr>
                                <m:begChr m:val=""/>
                                <m:ctrlPr>
                                  <a:rPr lang="zh-CN" altLang="en-US" sz="1250" i="1">
                                    <a:latin typeface="Cambria Math" panose="02040503050406030204" pitchFamily="18" charset="0"/>
                                    <a:ea typeface="+mn-ea"/>
                                  </a:rPr>
                                </m:ctrlPr>
                              </m:dPr>
                              <m:e>
                                <m:r>
                                  <a:rPr lang="zh-CN" altLang="en-US" sz="1250" i="1">
                                    <a:latin typeface="Cambria Math" panose="02040503050406030204" pitchFamily="18" charset="0"/>
                                    <a:ea typeface="+mn-ea"/>
                                  </a:rPr>
                                  <m:t>𝜋</m:t>
                                </m:r>
                                <m:d>
                                  <m:dPr>
                                    <m:ctrlPr>
                                      <a:rPr lang="zh-CN" altLang="en-US" sz="1250" i="1">
                                        <a:solidFill>
                                          <a:srgbClr val="836967"/>
                                        </a:solidFill>
                                        <a:latin typeface="Cambria Math" panose="02040503050406030204" pitchFamily="18" charset="0"/>
                                        <a:ea typeface="+mn-ea"/>
                                      </a:rPr>
                                    </m:ctrlPr>
                                  </m:dPr>
                                  <m:e>
                                    <m:r>
                                      <a:rPr lang="zh-CN" altLang="en-US" sz="1250" i="1">
                                        <a:latin typeface="Cambria Math" panose="02040503050406030204" pitchFamily="18" charset="0"/>
                                        <a:ea typeface="+mn-ea"/>
                                      </a:rPr>
                                      <m:t>𝑠</m:t>
                                    </m:r>
                                    <m:r>
                                      <a:rPr lang="zh-CN" altLang="en-US" sz="1250">
                                        <a:latin typeface="Cambria Math" panose="02040503050406030204" pitchFamily="18" charset="0"/>
                                        <a:ea typeface="+mn-ea"/>
                                      </a:rPr>
                                      <m:t>,</m:t>
                                    </m:r>
                                    <m:r>
                                      <a:rPr lang="zh-CN" altLang="en-US" sz="1250" i="1">
                                        <a:latin typeface="Cambria Math" panose="02040503050406030204" pitchFamily="18" charset="0"/>
                                        <a:ea typeface="+mn-ea"/>
                                      </a:rPr>
                                      <m:t>𝑎</m:t>
                                    </m:r>
                                  </m:e>
                                </m:d>
                                <m:sSub>
                                  <m:sSubPr>
                                    <m:ctrlPr>
                                      <a:rPr lang="zh-CN" altLang="en-US" sz="1250" i="1">
                                        <a:solidFill>
                                          <a:srgbClr val="836967"/>
                                        </a:solidFill>
                                        <a:latin typeface="Cambria Math" panose="02040503050406030204" pitchFamily="18" charset="0"/>
                                        <a:ea typeface="+mn-ea"/>
                                      </a:rPr>
                                    </m:ctrlPr>
                                  </m:sSubPr>
                                  <m:e>
                                    <m:r>
                                      <a:rPr lang="zh-CN" altLang="en-US" sz="1250" i="1">
                                        <a:latin typeface="Cambria Math" panose="02040503050406030204" pitchFamily="18" charset="0"/>
                                        <a:ea typeface="+mn-ea"/>
                                      </a:rPr>
                                      <m:t>𝑞</m:t>
                                    </m:r>
                                  </m:e>
                                  <m:sub>
                                    <m:r>
                                      <a:rPr lang="zh-CN" altLang="en-US" sz="1250" i="1">
                                        <a:latin typeface="Cambria Math" panose="02040503050406030204" pitchFamily="18" charset="0"/>
                                        <a:ea typeface="+mn-ea"/>
                                      </a:rPr>
                                      <m:t>𝜋</m:t>
                                    </m:r>
                                  </m:sub>
                                </m:sSub>
                                <m:r>
                                  <a:rPr lang="zh-CN" altLang="en-US" sz="1250">
                                    <a:latin typeface="Cambria Math" panose="02040503050406030204" pitchFamily="18" charset="0"/>
                                    <a:ea typeface="+mn-ea"/>
                                  </a:rPr>
                                  <m:t>(</m:t>
                                </m:r>
                                <m:r>
                                  <a:rPr lang="zh-CN" altLang="en-US" sz="1250" i="1">
                                    <a:latin typeface="Cambria Math" panose="02040503050406030204" pitchFamily="18" charset="0"/>
                                    <a:ea typeface="+mn-ea"/>
                                  </a:rPr>
                                  <m:t>𝑠</m:t>
                                </m:r>
                                <m:r>
                                  <a:rPr lang="zh-CN" altLang="en-US" sz="1250">
                                    <a:latin typeface="Cambria Math" panose="02040503050406030204" pitchFamily="18" charset="0"/>
                                    <a:ea typeface="+mn-ea"/>
                                  </a:rPr>
                                  <m:t>,</m:t>
                                </m:r>
                                <m:r>
                                  <a:rPr lang="zh-CN" altLang="en-US" sz="1250" i="1">
                                    <a:latin typeface="Cambria Math" panose="02040503050406030204" pitchFamily="18" charset="0"/>
                                    <a:ea typeface="+mn-ea"/>
                                  </a:rPr>
                                  <m:t>𝑎</m:t>
                                </m:r>
                              </m:e>
                            </m:d>
                          </m:e>
                        </m:nary>
                      </m:oMath>
                    </m:oMathPara>
                  </a14:m>
                  <a:endParaRPr lang="zh-CN" altLang="en-US" sz="1250" dirty="0">
                    <a:latin typeface="+mn-ea"/>
                    <a:ea typeface="+mn-ea"/>
                  </a:endParaRPr>
                </a:p>
              </p:txBody>
            </p:sp>
          </mc:Choice>
          <mc:Fallback xmlns="">
            <p:sp>
              <p:nvSpPr>
                <p:cNvPr id="14" name="文本框 13">
                  <a:extLst>
                    <a:ext uri="{FF2B5EF4-FFF2-40B4-BE49-F238E27FC236}">
                      <a16:creationId xmlns:a16="http://schemas.microsoft.com/office/drawing/2014/main" id="{8DF714DD-2D59-41FD-8BDA-FD43E6A851F9}"/>
                    </a:ext>
                  </a:extLst>
                </p:cNvPr>
                <p:cNvSpPr txBox="1">
                  <a:spLocks noRot="1" noChangeAspect="1" noMove="1" noResize="1" noEditPoints="1" noAdjustHandles="1" noChangeArrowheads="1" noChangeShapeType="1" noTextEdit="1"/>
                </p:cNvSpPr>
                <p:nvPr/>
              </p:nvSpPr>
              <p:spPr>
                <a:xfrm>
                  <a:off x="3094801" y="3714303"/>
                  <a:ext cx="5376928" cy="597257"/>
                </a:xfrm>
                <a:prstGeom prst="rect">
                  <a:avLst/>
                </a:prstGeom>
                <a:blipFill>
                  <a:blip r:embed="rId5"/>
                  <a:stretch>
                    <a:fillRect t="-150000" b="-214865"/>
                  </a:stretch>
                </a:blipFill>
              </p:spPr>
              <p:txBody>
                <a:bodyPr/>
                <a:lstStyle/>
                <a:p>
                  <a:r>
                    <a:rPr lang="zh-CN" altLang="en-US">
                      <a:noFill/>
                    </a:rPr>
                    <a:t> </a:t>
                  </a:r>
                </a:p>
              </p:txBody>
            </p:sp>
          </mc:Fallback>
        </mc:AlternateContent>
      </p:grpSp>
      <p:cxnSp>
        <p:nvCxnSpPr>
          <p:cNvPr id="15" name="直接连接符 14">
            <a:extLst>
              <a:ext uri="{FF2B5EF4-FFF2-40B4-BE49-F238E27FC236}">
                <a16:creationId xmlns:a16="http://schemas.microsoft.com/office/drawing/2014/main" id="{710FAD2E-6480-463E-AA23-98C59874FFC0}"/>
              </a:ext>
            </a:extLst>
          </p:cNvPr>
          <p:cNvCxnSpPr>
            <a:cxnSpLocks/>
          </p:cNvCxnSpPr>
          <p:nvPr/>
        </p:nvCxnSpPr>
        <p:spPr>
          <a:xfrm>
            <a:off x="974689" y="2211710"/>
            <a:ext cx="6960777" cy="0"/>
          </a:xfrm>
          <a:prstGeom prst="line">
            <a:avLst/>
          </a:prstGeom>
          <a:ln w="31750"/>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03302930-65A3-904F-7119-1529042F2E6F}"/>
              </a:ext>
            </a:extLst>
          </p:cNvPr>
          <p:cNvGrpSpPr/>
          <p:nvPr/>
        </p:nvGrpSpPr>
        <p:grpSpPr>
          <a:xfrm>
            <a:off x="611560" y="483518"/>
            <a:ext cx="5598290" cy="373451"/>
            <a:chOff x="4099943" y="2819853"/>
            <a:chExt cx="2570275" cy="497934"/>
          </a:xfrm>
        </p:grpSpPr>
        <p:sp>
          <p:nvSpPr>
            <p:cNvPr id="7" name="平行四边形 6">
              <a:extLst>
                <a:ext uri="{FF2B5EF4-FFF2-40B4-BE49-F238E27FC236}">
                  <a16:creationId xmlns:a16="http://schemas.microsoft.com/office/drawing/2014/main" id="{75FC8EDC-A9A9-D9EE-78B9-DD4DC9EAD8C6}"/>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9" name="平行四边形 8">
              <a:extLst>
                <a:ext uri="{FF2B5EF4-FFF2-40B4-BE49-F238E27FC236}">
                  <a16:creationId xmlns:a16="http://schemas.microsoft.com/office/drawing/2014/main" id="{870A9372-7154-191B-12AD-EC606F9CD019}"/>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6" name="矩形 15">
              <a:extLst>
                <a:ext uri="{FF2B5EF4-FFF2-40B4-BE49-F238E27FC236}">
                  <a16:creationId xmlns:a16="http://schemas.microsoft.com/office/drawing/2014/main" id="{B6AEF95D-151E-45E3-9BF2-959AA822E776}"/>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强化学习</a:t>
              </a:r>
              <a:r>
                <a:rPr lang="en-US" altLang="zh-CN" sz="1500" b="1" dirty="0">
                  <a:solidFill>
                    <a:schemeClr val="tx1">
                      <a:lumMod val="95000"/>
                      <a:lumOff val="5000"/>
                    </a:schemeClr>
                  </a:solidFill>
                  <a:latin typeface="+mn-ea"/>
                  <a:ea typeface="+mn-ea"/>
                  <a:cs typeface="Times New Roman" panose="02020603050405020304" pitchFamily="18" charset="0"/>
                </a:rPr>
                <a:t>:  </a:t>
              </a:r>
              <a:r>
                <a:rPr lang="zh-CN" altLang="zh-CN" sz="1500" kern="100" dirty="0">
                  <a:solidFill>
                    <a:srgbClr val="000000"/>
                  </a:solidFill>
                  <a:latin typeface="+mn-ea"/>
                  <a:ea typeface="+mn-ea"/>
                  <a:cs typeface="Times New Roman" panose="02020603050405020304" pitchFamily="18" charset="0"/>
                </a:rPr>
                <a:t>贝尔曼方程</a:t>
              </a:r>
              <a:endParaRPr lang="zh-CN" altLang="en-US" sz="1500" b="1" dirty="0">
                <a:solidFill>
                  <a:schemeClr val="tx1">
                    <a:lumMod val="95000"/>
                    <a:lumOff val="5000"/>
                  </a:schemeClr>
                </a:solidFill>
                <a:latin typeface="+mn-ea"/>
                <a:ea typeface="+mn-ea"/>
              </a:endParaRPr>
            </a:p>
          </p:txBody>
        </p:sp>
      </p:gr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97870D4-D3C2-43DE-8D71-F7F956EE9A13}"/>
                  </a:ext>
                </a:extLst>
              </p:cNvPr>
              <p:cNvSpPr txBox="1"/>
              <p:nvPr/>
            </p:nvSpPr>
            <p:spPr>
              <a:xfrm>
                <a:off x="1690599" y="2670979"/>
                <a:ext cx="4896544" cy="738087"/>
              </a:xfrm>
              <a:prstGeom prst="rect">
                <a:avLst/>
              </a:prstGeom>
              <a:noFill/>
            </p:spPr>
            <p:txBody>
              <a:bodyPr wrap="square">
                <a:spAutoFit/>
              </a:bodyPr>
              <a:lstStyle/>
              <a:p>
                <a:pPr algn="r">
                  <a:lnSpc>
                    <a:spcPct val="150000"/>
                  </a:lnSpc>
                </a:pPr>
                <a14:m>
                  <m:oMathPara xmlns:m="http://schemas.openxmlformats.org/officeDocument/2006/math">
                    <m:oMathParaPr>
                      <m:jc m:val="centerGroup"/>
                    </m:oMathParaPr>
                    <m:oMath xmlns:m="http://schemas.openxmlformats.org/officeDocument/2006/math">
                      <m:sSub>
                        <m:sSubPr>
                          <m:ctrlPr>
                            <a:rPr lang="zh-CN" altLang="zh-CN" sz="1350" i="1" kern="100">
                              <a:latin typeface="Cambria Math" panose="02040503050406030204" pitchFamily="18" charset="0"/>
                              <a:ea typeface="+mn-ea"/>
                              <a:cs typeface="Times New Roman" panose="02020603050405020304" pitchFamily="18" charset="0"/>
                            </a:rPr>
                          </m:ctrlPr>
                        </m:sSubPr>
                        <m:e>
                          <m:r>
                            <a:rPr lang="en-US" altLang="zh-CN" sz="1350" i="1" kern="100">
                              <a:latin typeface="Cambria Math" panose="02040503050406030204" pitchFamily="18" charset="0"/>
                              <a:ea typeface="+mn-ea"/>
                              <a:cs typeface="Times New Roman" panose="02020603050405020304" pitchFamily="18" charset="0"/>
                            </a:rPr>
                            <m:t>𝑞</m:t>
                          </m:r>
                        </m:e>
                        <m:sub>
                          <m:r>
                            <a:rPr lang="en-US" altLang="zh-CN" sz="1350" i="1" kern="100">
                              <a:latin typeface="Cambria Math" panose="02040503050406030204" pitchFamily="18" charset="0"/>
                              <a:ea typeface="+mn-ea"/>
                              <a:cs typeface="Times New Roman" panose="02020603050405020304" pitchFamily="18" charset="0"/>
                            </a:rPr>
                            <m:t>𝜋</m:t>
                          </m:r>
                        </m:sub>
                      </m:sSub>
                      <m:d>
                        <m:dPr>
                          <m:ctrlPr>
                            <a:rPr lang="zh-CN" altLang="zh-CN" sz="1350" b="1" i="1" kern="100">
                              <a:latin typeface="Cambria Math" panose="02040503050406030204" pitchFamily="18" charset="0"/>
                              <a:ea typeface="+mn-ea"/>
                              <a:cs typeface="Times New Roman" panose="02020603050405020304" pitchFamily="18" charset="0"/>
                            </a:rPr>
                          </m:ctrlPr>
                        </m:dPr>
                        <m:e>
                          <m:r>
                            <a:rPr lang="en-US" altLang="zh-CN" sz="1350" i="1" kern="100">
                              <a:latin typeface="Cambria Math" panose="02040503050406030204" pitchFamily="18" charset="0"/>
                              <a:ea typeface="+mn-ea"/>
                              <a:cs typeface="Times New Roman" panose="02020603050405020304" pitchFamily="18" charset="0"/>
                            </a:rPr>
                            <m:t>𝑠</m:t>
                          </m:r>
                          <m:r>
                            <a:rPr lang="en-US" altLang="zh-CN" sz="1350" i="1" kern="100">
                              <a:latin typeface="Cambria Math" panose="02040503050406030204" pitchFamily="18" charset="0"/>
                              <a:ea typeface="+mn-ea"/>
                              <a:cs typeface="Times New Roman" panose="02020603050405020304" pitchFamily="18" charset="0"/>
                            </a:rPr>
                            <m:t>,</m:t>
                          </m:r>
                          <m:r>
                            <a:rPr lang="en-US" altLang="zh-CN" sz="1350" i="1" kern="100">
                              <a:latin typeface="Cambria Math" panose="02040503050406030204" pitchFamily="18" charset="0"/>
                              <a:ea typeface="+mn-ea"/>
                              <a:cs typeface="Times New Roman" panose="02020603050405020304" pitchFamily="18" charset="0"/>
                            </a:rPr>
                            <m:t>𝑎</m:t>
                          </m:r>
                        </m:e>
                      </m:d>
                      <m:r>
                        <a:rPr lang="en-US" altLang="zh-CN" sz="1050" i="1">
                          <a:latin typeface="Cambria Math" panose="02040503050406030204" pitchFamily="18" charset="0"/>
                          <a:ea typeface="+mn-ea"/>
                          <a:cs typeface="Times New Roman" panose="02020603050405020304" pitchFamily="18" charset="0"/>
                        </a:rPr>
                        <m:t>=</m:t>
                      </m:r>
                      <m:nary>
                        <m:naryPr>
                          <m:chr m:val="∑"/>
                          <m:supHide m:val="on"/>
                          <m:ctrlPr>
                            <a:rPr lang="zh-CN" altLang="zh-CN" sz="1050" i="1">
                              <a:latin typeface="Cambria Math" panose="02040503050406030204" pitchFamily="18" charset="0"/>
                              <a:ea typeface="+mn-ea"/>
                              <a:cs typeface="Times New Roman" panose="02020603050405020304" pitchFamily="18" charset="0"/>
                            </a:rPr>
                          </m:ctrlPr>
                        </m:naryPr>
                        <m:sub>
                          <m:sSup>
                            <m:sSupPr>
                              <m:ctrlPr>
                                <a:rPr lang="zh-CN" altLang="zh-CN" sz="1050" i="1">
                                  <a:latin typeface="Cambria Math" panose="02040503050406030204" pitchFamily="18" charset="0"/>
                                  <a:ea typeface="+mn-ea"/>
                                  <a:cs typeface="Times New Roman" panose="02020603050405020304" pitchFamily="18" charset="0"/>
                                </a:rPr>
                              </m:ctrlPr>
                            </m:sSupPr>
                            <m:e>
                              <m:r>
                                <a:rPr lang="en-US" altLang="zh-CN" sz="1050" i="1">
                                  <a:latin typeface="Cambria Math" panose="02040503050406030204" pitchFamily="18" charset="0"/>
                                  <a:ea typeface="+mn-ea"/>
                                  <a:cs typeface="Times New Roman" panose="02020603050405020304" pitchFamily="18" charset="0"/>
                                </a:rPr>
                                <m:t>𝑠</m:t>
                              </m:r>
                            </m:e>
                            <m:sup>
                              <m:r>
                                <a:rPr lang="en-US" altLang="zh-CN" sz="1050" i="1">
                                  <a:latin typeface="Cambria Math" panose="02040503050406030204" pitchFamily="18" charset="0"/>
                                  <a:ea typeface="+mn-ea"/>
                                  <a:cs typeface="Times New Roman" panose="02020603050405020304" pitchFamily="18" charset="0"/>
                                </a:rPr>
                                <m:t>′</m:t>
                              </m:r>
                            </m:sup>
                          </m:sSup>
                          <m:r>
                            <a:rPr lang="en-US" altLang="zh-CN" sz="1050" i="1">
                              <a:latin typeface="Cambria Math" panose="02040503050406030204" pitchFamily="18" charset="0"/>
                              <a:ea typeface="+mn-ea"/>
                              <a:cs typeface="Times New Roman" panose="02020603050405020304" pitchFamily="18" charset="0"/>
                            </a:rPr>
                            <m:t>∈</m:t>
                          </m:r>
                          <m:r>
                            <a:rPr lang="en-US" altLang="zh-CN" sz="1050" b="1" i="1">
                              <a:latin typeface="Cambria Math" panose="02040503050406030204" pitchFamily="18" charset="0"/>
                              <a:ea typeface="+mn-ea"/>
                              <a:cs typeface="Times New Roman" panose="02020603050405020304" pitchFamily="18" charset="0"/>
                            </a:rPr>
                            <m:t>𝑺</m:t>
                          </m:r>
                        </m:sub>
                        <m:sup/>
                        <m:e>
                          <m:r>
                            <a:rPr lang="en-US" altLang="zh-CN" sz="1050" i="1">
                              <a:latin typeface="Cambria Math" panose="02040503050406030204" pitchFamily="18" charset="0"/>
                              <a:ea typeface="+mn-ea"/>
                              <a:cs typeface="Times New Roman" panose="02020603050405020304" pitchFamily="18" charset="0"/>
                            </a:rPr>
                            <m:t>𝑃</m:t>
                          </m:r>
                          <m:r>
                            <a:rPr lang="en-US" altLang="zh-CN" sz="1050" i="1">
                              <a:latin typeface="Cambria Math" panose="02040503050406030204" pitchFamily="18" charset="0"/>
                              <a:ea typeface="+mn-ea"/>
                              <a:cs typeface="Times New Roman" panose="02020603050405020304" pitchFamily="18" charset="0"/>
                            </a:rPr>
                            <m:t>(</m:t>
                          </m:r>
                          <m:sSup>
                            <m:sSupPr>
                              <m:ctrlPr>
                                <a:rPr lang="zh-CN" altLang="zh-CN" sz="1050" i="1">
                                  <a:latin typeface="Cambria Math" panose="02040503050406030204" pitchFamily="18" charset="0"/>
                                  <a:ea typeface="+mn-ea"/>
                                  <a:cs typeface="Times New Roman" panose="02020603050405020304" pitchFamily="18" charset="0"/>
                                </a:rPr>
                              </m:ctrlPr>
                            </m:sSupPr>
                            <m:e>
                              <m:r>
                                <a:rPr lang="en-US" altLang="zh-CN" sz="1050" i="1">
                                  <a:latin typeface="Cambria Math" panose="02040503050406030204" pitchFamily="18" charset="0"/>
                                  <a:ea typeface="+mn-ea"/>
                                  <a:cs typeface="Times New Roman" panose="02020603050405020304" pitchFamily="18" charset="0"/>
                                </a:rPr>
                                <m:t>𝑠</m:t>
                              </m:r>
                            </m:e>
                            <m:sup>
                              <m:r>
                                <a:rPr lang="en-US" altLang="zh-CN" sz="1050" i="1">
                                  <a:latin typeface="Cambria Math" panose="02040503050406030204" pitchFamily="18" charset="0"/>
                                  <a:ea typeface="+mn-ea"/>
                                  <a:cs typeface="Times New Roman" panose="02020603050405020304" pitchFamily="18" charset="0"/>
                                </a:rPr>
                                <m:t>′</m:t>
                              </m:r>
                            </m:sup>
                          </m:sSup>
                          <m:r>
                            <a:rPr lang="en-US" altLang="zh-CN" sz="1050" i="1">
                              <a:latin typeface="Cambria Math" panose="02040503050406030204" pitchFamily="18" charset="0"/>
                              <a:ea typeface="+mn-ea"/>
                              <a:cs typeface="Times New Roman" panose="02020603050405020304" pitchFamily="18" charset="0"/>
                            </a:rPr>
                            <m:t>|</m:t>
                          </m:r>
                          <m:r>
                            <a:rPr lang="en-US" altLang="zh-CN" sz="1050" i="1">
                              <a:latin typeface="Cambria Math" panose="02040503050406030204" pitchFamily="18" charset="0"/>
                              <a:ea typeface="+mn-ea"/>
                              <a:cs typeface="Times New Roman" panose="02020603050405020304" pitchFamily="18" charset="0"/>
                            </a:rPr>
                            <m:t>𝑠</m:t>
                          </m:r>
                          <m:r>
                            <a:rPr lang="en-US" altLang="zh-CN" sz="1050" i="1">
                              <a:latin typeface="Cambria Math" panose="02040503050406030204" pitchFamily="18" charset="0"/>
                              <a:ea typeface="+mn-ea"/>
                              <a:cs typeface="Times New Roman" panose="02020603050405020304" pitchFamily="18" charset="0"/>
                            </a:rPr>
                            <m:t>,</m:t>
                          </m:r>
                          <m:r>
                            <a:rPr lang="en-US" altLang="zh-CN" sz="1050" i="1">
                              <a:latin typeface="Cambria Math" panose="02040503050406030204" pitchFamily="18" charset="0"/>
                              <a:ea typeface="+mn-ea"/>
                              <a:cs typeface="Times New Roman" panose="02020603050405020304" pitchFamily="18" charset="0"/>
                            </a:rPr>
                            <m:t>𝑎</m:t>
                          </m:r>
                          <m:r>
                            <a:rPr lang="en-US" altLang="zh-CN" sz="1050" i="1">
                              <a:latin typeface="Cambria Math" panose="02040503050406030204" pitchFamily="18" charset="0"/>
                              <a:ea typeface="+mn-ea"/>
                              <a:cs typeface="Times New Roman" panose="02020603050405020304" pitchFamily="18" charset="0"/>
                            </a:rPr>
                            <m:t>)</m:t>
                          </m:r>
                        </m:e>
                      </m:nary>
                      <m:d>
                        <m:dPr>
                          <m:begChr m:val="["/>
                          <m:endChr m:val="]"/>
                          <m:ctrlPr>
                            <a:rPr lang="zh-CN" altLang="zh-CN" sz="1050" i="1">
                              <a:latin typeface="Cambria Math" panose="02040503050406030204" pitchFamily="18" charset="0"/>
                              <a:ea typeface="+mn-ea"/>
                              <a:cs typeface="Times New Roman" panose="02020603050405020304" pitchFamily="18" charset="0"/>
                            </a:rPr>
                          </m:ctrlPr>
                        </m:dPr>
                        <m:e>
                          <m:r>
                            <a:rPr lang="en-US" altLang="zh-CN" sz="1050" i="1">
                              <a:latin typeface="Cambria Math" panose="02040503050406030204" pitchFamily="18" charset="0"/>
                              <a:ea typeface="+mn-ea"/>
                              <a:cs typeface="Times New Roman" panose="02020603050405020304" pitchFamily="18" charset="0"/>
                            </a:rPr>
                            <m:t>𝑅</m:t>
                          </m:r>
                          <m:d>
                            <m:dPr>
                              <m:ctrlPr>
                                <a:rPr lang="zh-CN" altLang="zh-CN" sz="1050" i="1">
                                  <a:latin typeface="Cambria Math" panose="02040503050406030204" pitchFamily="18" charset="0"/>
                                  <a:ea typeface="+mn-ea"/>
                                  <a:cs typeface="Times New Roman" panose="02020603050405020304" pitchFamily="18" charset="0"/>
                                </a:rPr>
                              </m:ctrlPr>
                            </m:dPr>
                            <m:e>
                              <m:r>
                                <a:rPr lang="en-US" altLang="zh-CN" sz="1050" i="1">
                                  <a:latin typeface="Cambria Math" panose="02040503050406030204" pitchFamily="18" charset="0"/>
                                  <a:ea typeface="+mn-ea"/>
                                  <a:cs typeface="Times New Roman" panose="02020603050405020304" pitchFamily="18" charset="0"/>
                                </a:rPr>
                                <m:t>𝑠</m:t>
                              </m:r>
                              <m:r>
                                <a:rPr lang="en-US" altLang="zh-CN" sz="1050" i="1">
                                  <a:latin typeface="Cambria Math" panose="02040503050406030204" pitchFamily="18" charset="0"/>
                                  <a:ea typeface="+mn-ea"/>
                                  <a:cs typeface="Times New Roman" panose="02020603050405020304" pitchFamily="18" charset="0"/>
                                </a:rPr>
                                <m:t>,</m:t>
                              </m:r>
                              <m:r>
                                <a:rPr lang="en-US" altLang="zh-CN" sz="1050" i="1">
                                  <a:latin typeface="Cambria Math" panose="02040503050406030204" pitchFamily="18" charset="0"/>
                                  <a:ea typeface="+mn-ea"/>
                                  <a:cs typeface="Times New Roman" panose="02020603050405020304" pitchFamily="18" charset="0"/>
                                </a:rPr>
                                <m:t>𝑎</m:t>
                              </m:r>
                              <m:r>
                                <a:rPr lang="en-US" altLang="zh-CN" sz="1050" i="1">
                                  <a:latin typeface="Cambria Math" panose="02040503050406030204" pitchFamily="18" charset="0"/>
                                  <a:ea typeface="+mn-ea"/>
                                  <a:cs typeface="Times New Roman" panose="02020603050405020304" pitchFamily="18" charset="0"/>
                                </a:rPr>
                                <m:t>,</m:t>
                              </m:r>
                              <m:sSup>
                                <m:sSupPr>
                                  <m:ctrlPr>
                                    <a:rPr lang="zh-CN" altLang="zh-CN" sz="1050" i="1">
                                      <a:latin typeface="Cambria Math" panose="02040503050406030204" pitchFamily="18" charset="0"/>
                                      <a:ea typeface="+mn-ea"/>
                                      <a:cs typeface="Times New Roman" panose="02020603050405020304" pitchFamily="18" charset="0"/>
                                    </a:rPr>
                                  </m:ctrlPr>
                                </m:sSupPr>
                                <m:e>
                                  <m:r>
                                    <a:rPr lang="en-US" altLang="zh-CN" sz="1050" i="1">
                                      <a:latin typeface="Cambria Math" panose="02040503050406030204" pitchFamily="18" charset="0"/>
                                      <a:ea typeface="+mn-ea"/>
                                      <a:cs typeface="Times New Roman" panose="02020603050405020304" pitchFamily="18" charset="0"/>
                                    </a:rPr>
                                    <m:t>𝑠</m:t>
                                  </m:r>
                                </m:e>
                                <m:sup>
                                  <m:r>
                                    <a:rPr lang="en-US" altLang="zh-CN" sz="1050" i="1">
                                      <a:latin typeface="Cambria Math" panose="02040503050406030204" pitchFamily="18" charset="0"/>
                                      <a:ea typeface="+mn-ea"/>
                                      <a:cs typeface="Times New Roman" panose="02020603050405020304" pitchFamily="18" charset="0"/>
                                    </a:rPr>
                                    <m:t>′</m:t>
                                  </m:r>
                                </m:sup>
                              </m:sSup>
                            </m:e>
                          </m:d>
                          <m:r>
                            <a:rPr lang="en-US" altLang="zh-CN" sz="1050" i="1">
                              <a:latin typeface="Cambria Math" panose="02040503050406030204" pitchFamily="18" charset="0"/>
                              <a:ea typeface="+mn-ea"/>
                              <a:cs typeface="Times New Roman" panose="02020603050405020304" pitchFamily="18" charset="0"/>
                            </a:rPr>
                            <m:t>+</m:t>
                          </m:r>
                          <m:r>
                            <a:rPr lang="en-US" altLang="zh-CN" sz="1050" i="1">
                              <a:latin typeface="Cambria Math" panose="02040503050406030204" pitchFamily="18" charset="0"/>
                              <a:ea typeface="+mn-ea"/>
                              <a:cs typeface="Times New Roman" panose="02020603050405020304" pitchFamily="18" charset="0"/>
                            </a:rPr>
                            <m:t>𝛾</m:t>
                          </m:r>
                          <m:sSub>
                            <m:sSubPr>
                              <m:ctrlPr>
                                <a:rPr lang="zh-CN" altLang="zh-CN" sz="1050" i="1">
                                  <a:latin typeface="Cambria Math" panose="02040503050406030204" pitchFamily="18" charset="0"/>
                                  <a:ea typeface="+mn-ea"/>
                                  <a:cs typeface="Times New Roman" panose="02020603050405020304" pitchFamily="18" charset="0"/>
                                </a:rPr>
                              </m:ctrlPr>
                            </m:sSubPr>
                            <m:e>
                              <m:r>
                                <a:rPr lang="en-US" altLang="zh-CN" sz="1050" i="1">
                                  <a:latin typeface="Cambria Math" panose="02040503050406030204" pitchFamily="18" charset="0"/>
                                  <a:ea typeface="+mn-ea"/>
                                  <a:cs typeface="Times New Roman" panose="02020603050405020304" pitchFamily="18" charset="0"/>
                                </a:rPr>
                                <m:t>𝑉</m:t>
                              </m:r>
                            </m:e>
                            <m:sub>
                              <m:r>
                                <a:rPr lang="en-US" altLang="zh-CN" sz="1050" i="1">
                                  <a:latin typeface="Cambria Math" panose="02040503050406030204" pitchFamily="18" charset="0"/>
                                  <a:ea typeface="+mn-ea"/>
                                  <a:cs typeface="Times New Roman" panose="02020603050405020304" pitchFamily="18" charset="0"/>
                                </a:rPr>
                                <m:t>𝜋</m:t>
                              </m:r>
                            </m:sub>
                          </m:sSub>
                          <m:d>
                            <m:dPr>
                              <m:ctrlPr>
                                <a:rPr lang="zh-CN" altLang="zh-CN" sz="1050" i="1">
                                  <a:latin typeface="Cambria Math" panose="02040503050406030204" pitchFamily="18" charset="0"/>
                                  <a:ea typeface="+mn-ea"/>
                                  <a:cs typeface="Times New Roman" panose="02020603050405020304" pitchFamily="18" charset="0"/>
                                </a:rPr>
                              </m:ctrlPr>
                            </m:dPr>
                            <m:e>
                              <m:sSup>
                                <m:sSupPr>
                                  <m:ctrlPr>
                                    <a:rPr lang="zh-CN" altLang="zh-CN" sz="1050" i="1">
                                      <a:latin typeface="Cambria Math" panose="02040503050406030204" pitchFamily="18" charset="0"/>
                                      <a:ea typeface="+mn-ea"/>
                                      <a:cs typeface="Times New Roman" panose="02020603050405020304" pitchFamily="18" charset="0"/>
                                    </a:rPr>
                                  </m:ctrlPr>
                                </m:sSupPr>
                                <m:e>
                                  <m:r>
                                    <a:rPr lang="en-US" altLang="zh-CN" sz="1050" i="1">
                                      <a:latin typeface="Cambria Math" panose="02040503050406030204" pitchFamily="18" charset="0"/>
                                      <a:ea typeface="+mn-ea"/>
                                      <a:cs typeface="Times New Roman" panose="02020603050405020304" pitchFamily="18" charset="0"/>
                                    </a:rPr>
                                    <m:t>𝑠</m:t>
                                  </m:r>
                                </m:e>
                                <m:sup>
                                  <m:r>
                                    <a:rPr lang="en-US" altLang="zh-CN" sz="1050" i="1">
                                      <a:latin typeface="Cambria Math" panose="02040503050406030204" pitchFamily="18" charset="0"/>
                                      <a:ea typeface="+mn-ea"/>
                                      <a:cs typeface="Times New Roman" panose="02020603050405020304" pitchFamily="18" charset="0"/>
                                    </a:rPr>
                                    <m:t>′</m:t>
                                  </m:r>
                                </m:sup>
                              </m:sSup>
                            </m:e>
                          </m:d>
                        </m:e>
                      </m:d>
                      <m:r>
                        <a:rPr lang="en-US" altLang="zh-CN" sz="1050" i="1">
                          <a:latin typeface="Cambria Math" panose="02040503050406030204" pitchFamily="18" charset="0"/>
                          <a:ea typeface="+mn-ea"/>
                          <a:cs typeface="Times New Roman" panose="02020603050405020304" pitchFamily="18" charset="0"/>
                        </a:rPr>
                        <m:t> </m:t>
                      </m:r>
                    </m:oMath>
                  </m:oMathPara>
                </a14:m>
                <a:endParaRPr lang="zh-CN" altLang="en-US" sz="1050" dirty="0">
                  <a:latin typeface="+mn-ea"/>
                  <a:ea typeface="+mn-ea"/>
                </a:endParaRPr>
              </a:p>
            </p:txBody>
          </p:sp>
        </mc:Choice>
        <mc:Fallback xmlns="">
          <p:sp>
            <p:nvSpPr>
              <p:cNvPr id="17" name="文本框 16">
                <a:extLst>
                  <a:ext uri="{FF2B5EF4-FFF2-40B4-BE49-F238E27FC236}">
                    <a16:creationId xmlns:a16="http://schemas.microsoft.com/office/drawing/2014/main" id="{197870D4-D3C2-43DE-8D71-F7F956EE9A13}"/>
                  </a:ext>
                </a:extLst>
              </p:cNvPr>
              <p:cNvSpPr txBox="1">
                <a:spLocks noRot="1" noChangeAspect="1" noMove="1" noResize="1" noEditPoints="1" noAdjustHandles="1" noChangeArrowheads="1" noChangeShapeType="1" noTextEdit="1"/>
              </p:cNvSpPr>
              <p:nvPr/>
            </p:nvSpPr>
            <p:spPr>
              <a:xfrm>
                <a:off x="1690599" y="2670979"/>
                <a:ext cx="4896544" cy="7380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9BA6E0C2-A18D-43D5-BE69-727926C89E55}"/>
                  </a:ext>
                </a:extLst>
              </p:cNvPr>
              <p:cNvSpPr/>
              <p:nvPr/>
            </p:nvSpPr>
            <p:spPr>
              <a:xfrm>
                <a:off x="2070651" y="4383920"/>
                <a:ext cx="6119544" cy="3902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𝑞</m:t>
                          </m:r>
                        </m:e>
                        <m:sub>
                          <m:r>
                            <a:rPr lang="en-US" altLang="zh-CN" i="1">
                              <a:latin typeface="Cambria Math" panose="02040503050406030204" pitchFamily="18" charset="0"/>
                              <a:ea typeface="+mn-ea"/>
                            </a:rPr>
                            <m:t>𝜋</m:t>
                          </m:r>
                        </m:sub>
                      </m:sSub>
                      <m:d>
                        <m:dPr>
                          <m:ctrlPr>
                            <a:rPr lang="zh-CN" altLang="zh-CN" i="1">
                              <a:latin typeface="Cambria Math" panose="02040503050406030204" pitchFamily="18" charset="0"/>
                              <a:ea typeface="+mn-ea"/>
                            </a:rPr>
                          </m:ctrlPr>
                        </m:dPr>
                        <m:e>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𝑎</m:t>
                          </m:r>
                        </m:e>
                      </m:d>
                      <m:r>
                        <a:rPr lang="en-US" altLang="zh-CN" i="1">
                          <a:latin typeface="Cambria Math" panose="02040503050406030204" pitchFamily="18" charset="0"/>
                          <a:ea typeface="+mn-ea"/>
                        </a:rPr>
                        <m:t>=</m:t>
                      </m:r>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𝔼</m:t>
                          </m:r>
                        </m:e>
                        <m:sub>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r>
                            <a:rPr lang="en-US" altLang="zh-CN" i="1">
                              <a:latin typeface="Cambria Math" panose="02040503050406030204" pitchFamily="18" charset="0"/>
                              <a:ea typeface="+mn-ea"/>
                            </a:rPr>
                            <m:t>𝑃</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sub>
                      </m:sSub>
                      <m:r>
                        <a:rPr lang="en-US" altLang="zh-CN">
                          <a:latin typeface="Cambria Math" panose="02040503050406030204" pitchFamily="18" charset="0"/>
                          <a:ea typeface="+mn-ea"/>
                        </a:rPr>
                        <m:t>[</m:t>
                      </m:r>
                      <m:r>
                        <a:rPr lang="en-US" altLang="zh-CN" i="1">
                          <a:latin typeface="Cambria Math" panose="02040503050406030204" pitchFamily="18" charset="0"/>
                          <a:ea typeface="+mn-ea"/>
                        </a:rPr>
                        <m:t>𝑅</m:t>
                      </m:r>
                      <m:d>
                        <m:dPr>
                          <m:ctrlPr>
                            <a:rPr lang="zh-CN" altLang="zh-CN" i="1">
                              <a:latin typeface="Cambria Math" panose="02040503050406030204" pitchFamily="18" charset="0"/>
                              <a:ea typeface="+mn-ea"/>
                            </a:rPr>
                          </m:ctrlPr>
                        </m:dPr>
                        <m:e>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e>
                      </m:d>
                      <m:r>
                        <a:rPr lang="en-US" altLang="zh-CN" i="1">
                          <a:latin typeface="Cambria Math" panose="02040503050406030204" pitchFamily="18" charset="0"/>
                          <a:ea typeface="+mn-ea"/>
                        </a:rPr>
                        <m:t>+</m:t>
                      </m:r>
                      <m:r>
                        <a:rPr lang="en-US" altLang="zh-CN" i="1">
                          <a:latin typeface="Cambria Math" panose="02040503050406030204" pitchFamily="18" charset="0"/>
                          <a:ea typeface="+mn-ea"/>
                        </a:rPr>
                        <m:t>𝛾</m:t>
                      </m:r>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𝔼</m:t>
                          </m:r>
                        </m:e>
                        <m:sub>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𝑎</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r>
                            <a:rPr lang="en-US" altLang="zh-CN" i="1">
                              <a:latin typeface="Cambria Math" panose="02040503050406030204" pitchFamily="18" charset="0"/>
                              <a:ea typeface="+mn-ea"/>
                            </a:rPr>
                            <m:t>𝜋</m:t>
                          </m:r>
                          <m:d>
                            <m:dPr>
                              <m:ctrlPr>
                                <a:rPr lang="zh-CN" altLang="zh-CN" i="1">
                                  <a:latin typeface="Cambria Math" panose="02040503050406030204" pitchFamily="18" charset="0"/>
                                  <a:ea typeface="+mn-ea"/>
                                </a:rPr>
                              </m:ctrlPr>
                            </m:dPr>
                            <m:e>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e>
                          </m:d>
                        </m:sub>
                      </m:sSub>
                      <m:d>
                        <m:dPr>
                          <m:begChr m:val="["/>
                          <m:endChr m:val="]"/>
                          <m:ctrlPr>
                            <a:rPr lang="zh-CN" altLang="zh-CN" i="1">
                              <a:latin typeface="Cambria Math" panose="02040503050406030204" pitchFamily="18" charset="0"/>
                              <a:ea typeface="+mn-ea"/>
                            </a:rPr>
                          </m:ctrlPr>
                        </m:dPr>
                        <m:e>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𝑞</m:t>
                              </m:r>
                            </m:e>
                            <m:sub>
                              <m:r>
                                <a:rPr lang="en-US" altLang="zh-CN" i="1">
                                  <a:latin typeface="Cambria Math" panose="02040503050406030204" pitchFamily="18" charset="0"/>
                                  <a:ea typeface="+mn-ea"/>
                                </a:rPr>
                                <m:t>𝜋</m:t>
                              </m:r>
                            </m:sub>
                          </m:sSub>
                          <m:d>
                            <m:dPr>
                              <m:ctrlPr>
                                <a:rPr lang="zh-CN" altLang="zh-CN" i="1">
                                  <a:latin typeface="Cambria Math" panose="02040503050406030204" pitchFamily="18" charset="0"/>
                                  <a:ea typeface="+mn-ea"/>
                                </a:rPr>
                              </m:ctrlPr>
                            </m:dPr>
                            <m:e>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𝑎</m:t>
                                  </m:r>
                                </m:e>
                                <m:sup>
                                  <m:r>
                                    <a:rPr lang="en-US" altLang="zh-CN" i="1">
                                      <a:latin typeface="Cambria Math" panose="02040503050406030204" pitchFamily="18" charset="0"/>
                                      <a:ea typeface="+mn-ea"/>
                                    </a:rPr>
                                    <m:t>′</m:t>
                                  </m:r>
                                </m:sup>
                              </m:sSup>
                            </m:e>
                          </m:d>
                        </m:e>
                      </m:d>
                      <m:r>
                        <a:rPr lang="en-US" altLang="zh-CN">
                          <a:latin typeface="Cambria Math" panose="02040503050406030204" pitchFamily="18" charset="0"/>
                          <a:ea typeface="+mn-ea"/>
                        </a:rPr>
                        <m:t>]</m:t>
                      </m:r>
                    </m:oMath>
                  </m:oMathPara>
                </a14:m>
                <a:endParaRPr lang="zh-CN" altLang="en-US" dirty="0">
                  <a:latin typeface="+mn-ea"/>
                  <a:ea typeface="+mn-ea"/>
                </a:endParaRPr>
              </a:p>
            </p:txBody>
          </p:sp>
        </mc:Choice>
        <mc:Fallback xmlns="">
          <p:sp>
            <p:nvSpPr>
              <p:cNvPr id="18" name="矩形 17">
                <a:extLst>
                  <a:ext uri="{FF2B5EF4-FFF2-40B4-BE49-F238E27FC236}">
                    <a16:creationId xmlns:a16="http://schemas.microsoft.com/office/drawing/2014/main" id="{9BA6E0C2-A18D-43D5-BE69-727926C89E55}"/>
                  </a:ext>
                </a:extLst>
              </p:cNvPr>
              <p:cNvSpPr>
                <a:spLocks noRot="1" noChangeAspect="1" noMove="1" noResize="1" noEditPoints="1" noAdjustHandles="1" noChangeArrowheads="1" noChangeShapeType="1" noTextEdit="1"/>
              </p:cNvSpPr>
              <p:nvPr/>
            </p:nvSpPr>
            <p:spPr>
              <a:xfrm>
                <a:off x="2070651" y="4383920"/>
                <a:ext cx="6119544" cy="390235"/>
              </a:xfrm>
              <a:prstGeom prst="rect">
                <a:avLst/>
              </a:prstGeom>
              <a:blipFill>
                <a:blip r:embed="rId7"/>
                <a:stretch>
                  <a:fillRect/>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9C25E1E3-05F1-488A-A3FA-CF87E23D47E9}"/>
              </a:ext>
            </a:extLst>
          </p:cNvPr>
          <p:cNvSpPr/>
          <p:nvPr/>
        </p:nvSpPr>
        <p:spPr>
          <a:xfrm>
            <a:off x="524607" y="4471345"/>
            <a:ext cx="2416046" cy="307777"/>
          </a:xfrm>
          <a:prstGeom prst="rect">
            <a:avLst/>
          </a:prstGeom>
        </p:spPr>
        <p:txBody>
          <a:bodyPr wrap="none">
            <a:spAutoFit/>
          </a:bodyPr>
          <a:lstStyle/>
          <a:p>
            <a:r>
              <a:rPr lang="zh-CN" altLang="en-US" kern="0" dirty="0">
                <a:solidFill>
                  <a:srgbClr val="C00000"/>
                </a:solidFill>
                <a:latin typeface="+mn-ea"/>
                <a:ea typeface="+mn-ea"/>
                <a:cs typeface="Times New Roman" pitchFamily="18" charset="0"/>
              </a:rPr>
              <a:t>动作</a:t>
            </a:r>
            <a:r>
              <a:rPr lang="en-US" altLang="zh-CN" kern="0" dirty="0">
                <a:solidFill>
                  <a:srgbClr val="C00000"/>
                </a:solidFill>
                <a:latin typeface="+mn-ea"/>
                <a:ea typeface="+mn-ea"/>
                <a:cs typeface="Times New Roman" pitchFamily="18" charset="0"/>
              </a:rPr>
              <a:t>-</a:t>
            </a:r>
            <a:r>
              <a:rPr lang="zh-CN" altLang="en-US" kern="0" dirty="0">
                <a:solidFill>
                  <a:srgbClr val="C00000"/>
                </a:solidFill>
                <a:latin typeface="+mn-ea"/>
                <a:ea typeface="+mn-ea"/>
                <a:cs typeface="Times New Roman" pitchFamily="18" charset="0"/>
              </a:rPr>
              <a:t>价值函数的</a:t>
            </a:r>
            <a:r>
              <a:rPr lang="zh-CN" altLang="zh-CN" kern="0" dirty="0">
                <a:solidFill>
                  <a:srgbClr val="C00000"/>
                </a:solidFill>
                <a:latin typeface="+mn-ea"/>
                <a:ea typeface="+mn-ea"/>
                <a:cs typeface="Times New Roman" pitchFamily="18" charset="0"/>
              </a:rPr>
              <a:t>贝尔曼方程</a:t>
            </a:r>
            <a:endParaRPr lang="zh-CN" altLang="en-US" dirty="0">
              <a:solidFill>
                <a:srgbClr val="C00000"/>
              </a:solidFill>
              <a:latin typeface="+mn-ea"/>
              <a:ea typeface="+mn-ea"/>
            </a:endParaRP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619DB98A-8AC6-401C-ADFE-7CCBAC3AB667}"/>
                  </a:ext>
                </a:extLst>
              </p:cNvPr>
              <p:cNvSpPr/>
              <p:nvPr/>
            </p:nvSpPr>
            <p:spPr>
              <a:xfrm>
                <a:off x="2070651" y="3826300"/>
                <a:ext cx="5427271" cy="37734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𝑉</m:t>
                          </m:r>
                        </m:e>
                        <m:sub>
                          <m:r>
                            <a:rPr lang="en-US" altLang="zh-CN" i="1">
                              <a:latin typeface="Cambria Math" panose="02040503050406030204" pitchFamily="18" charset="0"/>
                              <a:ea typeface="+mn-ea"/>
                            </a:rPr>
                            <m:t>𝜋</m:t>
                          </m:r>
                        </m:sub>
                      </m:sSub>
                      <m:d>
                        <m:dPr>
                          <m:ctrlPr>
                            <a:rPr lang="zh-CN" altLang="zh-CN" i="1">
                              <a:latin typeface="Cambria Math" panose="02040503050406030204" pitchFamily="18" charset="0"/>
                              <a:ea typeface="+mn-ea"/>
                            </a:rPr>
                          </m:ctrlPr>
                        </m:dPr>
                        <m:e>
                          <m:r>
                            <a:rPr lang="en-US" altLang="zh-CN" i="1">
                              <a:latin typeface="Cambria Math" panose="02040503050406030204" pitchFamily="18" charset="0"/>
                              <a:ea typeface="+mn-ea"/>
                            </a:rPr>
                            <m:t>𝑠</m:t>
                          </m:r>
                        </m:e>
                      </m:d>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m:t>
                          </m:r>
                          <m:r>
                            <a:rPr lang="en-US" altLang="zh-CN" i="1">
                              <a:latin typeface="Cambria Math" panose="02040503050406030204" pitchFamily="18" charset="0"/>
                              <a:ea typeface="+mn-ea"/>
                            </a:rPr>
                            <m:t>𝔼</m:t>
                          </m:r>
                        </m:e>
                        <m:sub>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𝜋</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sub>
                      </m:sSub>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𝔼</m:t>
                          </m:r>
                        </m:e>
                        <m:sub>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r>
                            <a:rPr lang="en-US" altLang="zh-CN" i="1">
                              <a:latin typeface="Cambria Math" panose="02040503050406030204" pitchFamily="18" charset="0"/>
                              <a:ea typeface="+mn-ea"/>
                            </a:rPr>
                            <m:t>𝑃</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sub>
                      </m:sSub>
                      <m:d>
                        <m:dPr>
                          <m:begChr m:val="["/>
                          <m:endChr m:val="]"/>
                          <m:ctrlPr>
                            <a:rPr lang="zh-CN" altLang="zh-CN" i="1">
                              <a:latin typeface="Cambria Math" panose="02040503050406030204" pitchFamily="18" charset="0"/>
                              <a:ea typeface="+mn-ea"/>
                            </a:rPr>
                          </m:ctrlPr>
                        </m:dPr>
                        <m:e>
                          <m:r>
                            <a:rPr lang="en-US" altLang="zh-CN" i="1">
                              <a:latin typeface="Cambria Math" panose="02040503050406030204" pitchFamily="18" charset="0"/>
                              <a:ea typeface="+mn-ea"/>
                            </a:rPr>
                            <m:t>𝑅</m:t>
                          </m:r>
                          <m:d>
                            <m:dPr>
                              <m:ctrlPr>
                                <a:rPr lang="zh-CN" altLang="zh-CN" i="1">
                                  <a:latin typeface="Cambria Math" panose="02040503050406030204" pitchFamily="18" charset="0"/>
                                  <a:ea typeface="+mn-ea"/>
                                </a:rPr>
                              </m:ctrlPr>
                            </m:dPr>
                            <m:e>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e>
                          </m:d>
                          <m:r>
                            <a:rPr lang="en-US" altLang="zh-CN" i="1">
                              <a:latin typeface="Cambria Math" panose="02040503050406030204" pitchFamily="18" charset="0"/>
                              <a:ea typeface="+mn-ea"/>
                            </a:rPr>
                            <m:t>+</m:t>
                          </m:r>
                          <m:r>
                            <a:rPr lang="en-US" altLang="zh-CN" i="1">
                              <a:latin typeface="Cambria Math" panose="02040503050406030204" pitchFamily="18" charset="0"/>
                              <a:ea typeface="+mn-ea"/>
                            </a:rPr>
                            <m:t>𝛾</m:t>
                          </m:r>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𝑉</m:t>
                              </m:r>
                            </m:e>
                            <m:sub>
                              <m:r>
                                <a:rPr lang="en-US" altLang="zh-CN" i="1">
                                  <a:latin typeface="Cambria Math" panose="02040503050406030204" pitchFamily="18" charset="0"/>
                                  <a:ea typeface="+mn-ea"/>
                                </a:rPr>
                                <m:t>𝜋</m:t>
                              </m:r>
                            </m:sub>
                          </m:sSub>
                          <m:d>
                            <m:dPr>
                              <m:ctrlPr>
                                <a:rPr lang="zh-CN" altLang="zh-CN" i="1">
                                  <a:latin typeface="Cambria Math" panose="02040503050406030204" pitchFamily="18" charset="0"/>
                                  <a:ea typeface="+mn-ea"/>
                                </a:rPr>
                              </m:ctrlPr>
                            </m:dPr>
                            <m:e>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e>
                          </m:d>
                        </m:e>
                      </m:d>
                    </m:oMath>
                  </m:oMathPara>
                </a14:m>
                <a:endParaRPr lang="zh-CN" altLang="en-US" dirty="0">
                  <a:latin typeface="+mn-ea"/>
                  <a:ea typeface="+mn-ea"/>
                </a:endParaRPr>
              </a:p>
            </p:txBody>
          </p:sp>
        </mc:Choice>
        <mc:Fallback xmlns="">
          <p:sp>
            <p:nvSpPr>
              <p:cNvPr id="20" name="矩形 19">
                <a:extLst>
                  <a:ext uri="{FF2B5EF4-FFF2-40B4-BE49-F238E27FC236}">
                    <a16:creationId xmlns:a16="http://schemas.microsoft.com/office/drawing/2014/main" id="{619DB98A-8AC6-401C-ADFE-7CCBAC3AB667}"/>
                  </a:ext>
                </a:extLst>
              </p:cNvPr>
              <p:cNvSpPr>
                <a:spLocks noRot="1" noChangeAspect="1" noMove="1" noResize="1" noEditPoints="1" noAdjustHandles="1" noChangeArrowheads="1" noChangeShapeType="1" noTextEdit="1"/>
              </p:cNvSpPr>
              <p:nvPr/>
            </p:nvSpPr>
            <p:spPr>
              <a:xfrm>
                <a:off x="2070651" y="3826300"/>
                <a:ext cx="5427271" cy="377347"/>
              </a:xfrm>
              <a:prstGeom prst="rect">
                <a:avLst/>
              </a:prstGeom>
              <a:blipFill>
                <a:blip r:embed="rId8"/>
                <a:stretch>
                  <a:fillRect/>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DE10FDF0-4221-466C-910C-8FCBEB95D949}"/>
              </a:ext>
            </a:extLst>
          </p:cNvPr>
          <p:cNvSpPr/>
          <p:nvPr/>
        </p:nvSpPr>
        <p:spPr>
          <a:xfrm>
            <a:off x="798371" y="3915282"/>
            <a:ext cx="1980029" cy="307777"/>
          </a:xfrm>
          <a:prstGeom prst="rect">
            <a:avLst/>
          </a:prstGeom>
        </p:spPr>
        <p:txBody>
          <a:bodyPr wrap="none">
            <a:spAutoFit/>
          </a:bodyPr>
          <a:lstStyle/>
          <a:p>
            <a:r>
              <a:rPr lang="zh-CN" altLang="en-US" kern="0" dirty="0">
                <a:solidFill>
                  <a:srgbClr val="C00000"/>
                </a:solidFill>
                <a:latin typeface="+mn-ea"/>
                <a:ea typeface="+mn-ea"/>
                <a:cs typeface="Times New Roman" pitchFamily="18" charset="0"/>
              </a:rPr>
              <a:t>价值函数的</a:t>
            </a:r>
            <a:r>
              <a:rPr lang="zh-CN" altLang="zh-CN" kern="0" dirty="0">
                <a:solidFill>
                  <a:srgbClr val="C00000"/>
                </a:solidFill>
                <a:latin typeface="+mn-ea"/>
                <a:ea typeface="+mn-ea"/>
                <a:cs typeface="Times New Roman" pitchFamily="18" charset="0"/>
              </a:rPr>
              <a:t>贝尔曼方程</a:t>
            </a:r>
            <a:endParaRPr lang="zh-CN" altLang="en-US" dirty="0">
              <a:solidFill>
                <a:srgbClr val="C00000"/>
              </a:solidFill>
              <a:latin typeface="+mn-ea"/>
              <a:ea typeface="+mn-ea"/>
            </a:endParaRPr>
          </a:p>
        </p:txBody>
      </p:sp>
      <p:cxnSp>
        <p:nvCxnSpPr>
          <p:cNvPr id="22" name="直接连接符 21">
            <a:extLst>
              <a:ext uri="{FF2B5EF4-FFF2-40B4-BE49-F238E27FC236}">
                <a16:creationId xmlns:a16="http://schemas.microsoft.com/office/drawing/2014/main" id="{710FAD2E-6480-463E-AA23-98C59874FFC0}"/>
              </a:ext>
            </a:extLst>
          </p:cNvPr>
          <p:cNvCxnSpPr>
            <a:cxnSpLocks/>
          </p:cNvCxnSpPr>
          <p:nvPr/>
        </p:nvCxnSpPr>
        <p:spPr>
          <a:xfrm>
            <a:off x="865506" y="3437170"/>
            <a:ext cx="6960777" cy="0"/>
          </a:xfrm>
          <a:prstGeom prst="line">
            <a:avLst/>
          </a:prstGeom>
          <a:ln w="317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5516800"/>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2902492" y="1195882"/>
            <a:ext cx="3339017" cy="3365886"/>
            <a:chOff x="3872379" y="1383943"/>
            <a:chExt cx="4452022" cy="4487848"/>
          </a:xfrm>
          <a:solidFill>
            <a:srgbClr val="24569D"/>
          </a:solidFill>
        </p:grpSpPr>
        <p:sp>
          <p:nvSpPr>
            <p:cNvPr id="3" name="Freeform 5"/>
            <p:cNvSpPr/>
            <p:nvPr>
              <p:custDataLst>
                <p:tags r:id="rId6"/>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4" name="Freeform 6"/>
            <p:cNvSpPr/>
            <p:nvPr>
              <p:custDataLst>
                <p:tags r:id="rId7"/>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5" name="Freeform 7"/>
            <p:cNvSpPr/>
            <p:nvPr>
              <p:custDataLst>
                <p:tags r:id="rId8"/>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6" name="Freeform 8"/>
            <p:cNvSpPr/>
            <p:nvPr>
              <p:custDataLst>
                <p:tags r:id="rId9"/>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nvGrpSpPr>
            <p:cNvPr id="7" name="Group 44"/>
            <p:cNvGrpSpPr/>
            <p:nvPr/>
          </p:nvGrpSpPr>
          <p:grpSpPr>
            <a:xfrm>
              <a:off x="4569798" y="4627422"/>
              <a:ext cx="527842" cy="535007"/>
              <a:chOff x="3557588" y="3654425"/>
              <a:chExt cx="350838" cy="355600"/>
            </a:xfrm>
            <a:grpFill/>
          </p:grpSpPr>
          <p:sp>
            <p:nvSpPr>
              <p:cNvPr id="20" name="Freeform 9"/>
              <p:cNvSpPr>
                <a:spLocks noEditPoints="1"/>
              </p:cNvSpPr>
              <p:nvPr>
                <p:custDataLst>
                  <p:tags r:id="rId20"/>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1" name="Freeform 10"/>
              <p:cNvSpPr>
                <a:spLocks noEditPoints="1"/>
              </p:cNvSpPr>
              <p:nvPr>
                <p:custDataLst>
                  <p:tags r:id="rId21"/>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2" name="Freeform 11"/>
              <p:cNvSpPr>
                <a:spLocks noEditPoints="1"/>
              </p:cNvSpPr>
              <p:nvPr>
                <p:custDataLst>
                  <p:tags r:id="rId22"/>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8" name="Group 48"/>
            <p:cNvGrpSpPr/>
            <p:nvPr/>
          </p:nvGrpSpPr>
          <p:grpSpPr>
            <a:xfrm>
              <a:off x="7025097" y="2098082"/>
              <a:ext cx="606660" cy="539784"/>
              <a:chOff x="5189538" y="1973263"/>
              <a:chExt cx="403225" cy="358775"/>
            </a:xfrm>
            <a:grpFill/>
          </p:grpSpPr>
          <p:sp>
            <p:nvSpPr>
              <p:cNvPr id="18" name="Freeform 12"/>
              <p:cNvSpPr>
                <a:spLocks noEditPoints="1"/>
              </p:cNvSpPr>
              <p:nvPr>
                <p:custDataLst>
                  <p:tags r:id="rId18"/>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9" name="Freeform 13"/>
              <p:cNvSpPr>
                <a:spLocks noEditPoints="1"/>
              </p:cNvSpPr>
              <p:nvPr>
                <p:custDataLst>
                  <p:tags r:id="rId19"/>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9" name="Group 51"/>
            <p:cNvGrpSpPr/>
            <p:nvPr/>
          </p:nvGrpSpPr>
          <p:grpSpPr>
            <a:xfrm>
              <a:off x="6984495" y="4601150"/>
              <a:ext cx="599495" cy="587552"/>
              <a:chOff x="5162551" y="3636963"/>
              <a:chExt cx="398463" cy="390525"/>
            </a:xfrm>
            <a:grpFill/>
          </p:grpSpPr>
          <p:sp>
            <p:nvSpPr>
              <p:cNvPr id="15" name="Freeform 14"/>
              <p:cNvSpPr>
                <a:spLocks noEditPoints="1"/>
              </p:cNvSpPr>
              <p:nvPr>
                <p:custDataLst>
                  <p:tags r:id="rId15"/>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6" name="Freeform 15"/>
              <p:cNvSpPr>
                <a:spLocks noEditPoints="1"/>
              </p:cNvSpPr>
              <p:nvPr>
                <p:custDataLst>
                  <p:tags r:id="rId16"/>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7" name="Freeform 16"/>
              <p:cNvSpPr>
                <a:spLocks noEditPoints="1"/>
              </p:cNvSpPr>
              <p:nvPr>
                <p:custDataLst>
                  <p:tags r:id="rId17"/>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sp>
          <p:nvSpPr>
            <p:cNvPr id="10" name="Freeform 17"/>
            <p:cNvSpPr>
              <a:spLocks noEditPoints="1"/>
            </p:cNvSpPr>
            <p:nvPr>
              <p:custDataLst>
                <p:tags r:id="rId10"/>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1" name="TextBox 56"/>
            <p:cNvSpPr txBox="1"/>
            <p:nvPr>
              <p:custDataLst>
                <p:tags r:id="rId11"/>
              </p:custDataLst>
            </p:nvPr>
          </p:nvSpPr>
          <p:spPr>
            <a:xfrm>
              <a:off x="5224365"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01</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2" name="TextBox 57"/>
            <p:cNvSpPr txBox="1"/>
            <p:nvPr>
              <p:custDataLst>
                <p:tags r:id="rId12"/>
              </p:custDataLst>
            </p:nvPr>
          </p:nvSpPr>
          <p:spPr>
            <a:xfrm>
              <a:off x="6297629"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02</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3" name="TextBox 58"/>
            <p:cNvSpPr txBox="1"/>
            <p:nvPr>
              <p:custDataLst>
                <p:tags r:id="rId13"/>
              </p:custDataLst>
            </p:nvPr>
          </p:nvSpPr>
          <p:spPr>
            <a:xfrm>
              <a:off x="5224365"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03</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4" name="TextBox 59"/>
            <p:cNvSpPr txBox="1"/>
            <p:nvPr>
              <p:custDataLst>
                <p:tags r:id="rId14"/>
              </p:custDataLst>
            </p:nvPr>
          </p:nvSpPr>
          <p:spPr>
            <a:xfrm>
              <a:off x="6297629"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04</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grpSp>
      <p:sp>
        <p:nvSpPr>
          <p:cNvPr id="24" name="文本框 23"/>
          <p:cNvSpPr txBox="1"/>
          <p:nvPr>
            <p:custDataLst>
              <p:tags r:id="rId2"/>
            </p:custDataLst>
          </p:nvPr>
        </p:nvSpPr>
        <p:spPr>
          <a:xfrm>
            <a:off x="597053" y="1891426"/>
            <a:ext cx="2492990" cy="369332"/>
          </a:xfrm>
          <a:prstGeom prst="rect">
            <a:avLst/>
          </a:prstGeom>
          <a:noFill/>
        </p:spPr>
        <p:txBody>
          <a:bodyPr wrap="none" rtlCol="0">
            <a:spAutoFit/>
          </a:bodyPr>
          <a:lstStyle/>
          <a:p>
            <a:r>
              <a:rPr lang="zh-CN" altLang="en-US" sz="1800" b="1" dirty="0">
                <a:solidFill>
                  <a:srgbClr val="FF0000"/>
                </a:solidFill>
                <a:latin typeface="+mn-ea"/>
                <a:ea typeface="+mn-ea"/>
              </a:rPr>
              <a:t>强化</a:t>
            </a:r>
            <a:r>
              <a:rPr lang="zh-CN" altLang="en-US" sz="1800" b="1" dirty="0" smtClean="0">
                <a:solidFill>
                  <a:srgbClr val="FF0000"/>
                </a:solidFill>
                <a:latin typeface="+mn-ea"/>
                <a:ea typeface="+mn-ea"/>
              </a:rPr>
              <a:t>学习策略迭代模式</a:t>
            </a:r>
            <a:endParaRPr lang="zh-CN" altLang="en-US" sz="1800" b="1" dirty="0">
              <a:solidFill>
                <a:srgbClr val="FF0000"/>
              </a:solidFill>
              <a:latin typeface="+mn-ea"/>
              <a:ea typeface="+mn-ea"/>
            </a:endParaRPr>
          </a:p>
        </p:txBody>
      </p:sp>
      <p:sp>
        <p:nvSpPr>
          <p:cNvPr id="28" name="文本框 27"/>
          <p:cNvSpPr txBox="1"/>
          <p:nvPr>
            <p:custDataLst>
              <p:tags r:id="rId3"/>
            </p:custDataLst>
          </p:nvPr>
        </p:nvSpPr>
        <p:spPr>
          <a:xfrm>
            <a:off x="6241509" y="3683810"/>
            <a:ext cx="2614818" cy="369332"/>
          </a:xfrm>
          <a:prstGeom prst="rect">
            <a:avLst/>
          </a:prstGeom>
          <a:noFill/>
        </p:spPr>
        <p:txBody>
          <a:bodyPr wrap="none" rtlCol="0">
            <a:spAutoFit/>
          </a:bodyPr>
          <a:lstStyle/>
          <a:p>
            <a:pPr algn="ctr"/>
            <a:r>
              <a:rPr lang="zh-CN" altLang="en-US" sz="1800" b="1" dirty="0">
                <a:solidFill>
                  <a:srgbClr val="24569D"/>
                </a:solidFill>
                <a:latin typeface="+mn-ea"/>
                <a:ea typeface="+mn-ea"/>
              </a:rPr>
              <a:t>案例分析</a:t>
            </a:r>
            <a:r>
              <a:rPr lang="en-US" altLang="zh-CN" sz="1800" b="1" dirty="0">
                <a:solidFill>
                  <a:srgbClr val="24569D"/>
                </a:solidFill>
                <a:latin typeface="+mn-ea"/>
                <a:ea typeface="+mn-ea"/>
              </a:rPr>
              <a:t>——</a:t>
            </a:r>
            <a:r>
              <a:rPr lang="en-US" altLang="zh-CN" sz="1800" b="1" dirty="0" err="1">
                <a:solidFill>
                  <a:srgbClr val="24569D"/>
                </a:solidFill>
                <a:latin typeface="+mn-ea"/>
                <a:ea typeface="+mn-ea"/>
              </a:rPr>
              <a:t>AlphaGo</a:t>
            </a:r>
            <a:endParaRPr lang="zh-CN" altLang="en-US" sz="1800" b="1" dirty="0">
              <a:solidFill>
                <a:srgbClr val="24569D"/>
              </a:solidFill>
              <a:latin typeface="+mn-ea"/>
              <a:ea typeface="+mn-ea"/>
            </a:endParaRPr>
          </a:p>
        </p:txBody>
      </p:sp>
      <p:sp>
        <p:nvSpPr>
          <p:cNvPr id="34" name="文本框 33"/>
          <p:cNvSpPr txBox="1"/>
          <p:nvPr>
            <p:custDataLst>
              <p:tags r:id="rId4"/>
            </p:custDataLst>
          </p:nvPr>
        </p:nvSpPr>
        <p:spPr>
          <a:xfrm>
            <a:off x="6504831" y="1902894"/>
            <a:ext cx="1569660" cy="369332"/>
          </a:xfrm>
          <a:prstGeom prst="rect">
            <a:avLst/>
          </a:prstGeom>
          <a:noFill/>
        </p:spPr>
        <p:txBody>
          <a:bodyPr wrap="none" rtlCol="0">
            <a:spAutoFit/>
          </a:bodyPr>
          <a:lstStyle/>
          <a:p>
            <a:r>
              <a:rPr lang="zh-CN" altLang="en-US" sz="1800" b="1" dirty="0" smtClean="0">
                <a:solidFill>
                  <a:srgbClr val="24569D"/>
                </a:solidFill>
                <a:latin typeface="+mn-ea"/>
                <a:ea typeface="+mn-ea"/>
              </a:rPr>
              <a:t>策略评估方法</a:t>
            </a:r>
            <a:endParaRPr lang="zh-CN" altLang="en-US" sz="1800" b="1" dirty="0">
              <a:solidFill>
                <a:srgbClr val="24569D"/>
              </a:solidFill>
              <a:latin typeface="+mn-ea"/>
              <a:ea typeface="+mn-ea"/>
            </a:endParaRPr>
          </a:p>
        </p:txBody>
      </p:sp>
      <p:sp>
        <p:nvSpPr>
          <p:cNvPr id="2" name="矩形 1"/>
          <p:cNvSpPr/>
          <p:nvPr/>
        </p:nvSpPr>
        <p:spPr>
          <a:xfrm>
            <a:off x="559205" y="676969"/>
            <a:ext cx="723275" cy="415498"/>
          </a:xfrm>
          <a:prstGeom prst="rect">
            <a:avLst/>
          </a:prstGeom>
        </p:spPr>
        <p:txBody>
          <a:bodyPr wrap="none">
            <a:spAutoFit/>
          </a:bodyPr>
          <a:lstStyle/>
          <a:p>
            <a:r>
              <a:rPr lang="zh-CN" altLang="en-US" sz="2100" dirty="0">
                <a:latin typeface="+mn-ea"/>
                <a:ea typeface="+mn-ea"/>
              </a:rPr>
              <a:t>目录</a:t>
            </a:r>
          </a:p>
        </p:txBody>
      </p:sp>
      <p:sp>
        <p:nvSpPr>
          <p:cNvPr id="29" name="文本框 28"/>
          <p:cNvSpPr txBox="1"/>
          <p:nvPr>
            <p:custDataLst>
              <p:tags r:id="rId5"/>
            </p:custDataLst>
          </p:nvPr>
        </p:nvSpPr>
        <p:spPr>
          <a:xfrm>
            <a:off x="519356" y="3592344"/>
            <a:ext cx="2723823" cy="369332"/>
          </a:xfrm>
          <a:prstGeom prst="rect">
            <a:avLst/>
          </a:prstGeom>
          <a:noFill/>
        </p:spPr>
        <p:txBody>
          <a:bodyPr wrap="none" rtlCol="0">
            <a:spAutoFit/>
          </a:bodyPr>
          <a:lstStyle/>
          <a:p>
            <a:r>
              <a:rPr lang="zh-CN" altLang="en-US" sz="1800" b="1" dirty="0" smtClean="0">
                <a:solidFill>
                  <a:srgbClr val="24569D"/>
                </a:solidFill>
                <a:latin typeface="+mn-ea"/>
                <a:ea typeface="+mn-ea"/>
              </a:rPr>
              <a:t>基于价值的强化学习算法</a:t>
            </a:r>
            <a:endParaRPr lang="zh-CN" altLang="en-US" sz="1800" b="1" dirty="0">
              <a:solidFill>
                <a:srgbClr val="24569D"/>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11560" y="483518"/>
            <a:ext cx="5598290" cy="373451"/>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6" name="矩形 5"/>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强化</a:t>
              </a:r>
              <a:r>
                <a:rPr lang="zh-CN" altLang="en-US" sz="1500" b="1" dirty="0" smtClean="0">
                  <a:solidFill>
                    <a:schemeClr val="tx1">
                      <a:lumMod val="95000"/>
                      <a:lumOff val="5000"/>
                    </a:schemeClr>
                  </a:solidFill>
                  <a:latin typeface="+mn-ea"/>
                  <a:ea typeface="+mn-ea"/>
                  <a:cs typeface="Times New Roman" panose="02020603050405020304" pitchFamily="18" charset="0"/>
                </a:rPr>
                <a:t>学习问题与基本求解思路</a:t>
              </a:r>
              <a:endParaRPr lang="zh-CN" altLang="en-US" sz="1500" b="1" dirty="0">
                <a:solidFill>
                  <a:schemeClr val="tx1">
                    <a:lumMod val="95000"/>
                    <a:lumOff val="5000"/>
                  </a:schemeClr>
                </a:solidFill>
                <a:latin typeface="+mn-ea"/>
                <a:ea typeface="+mn-ea"/>
              </a:endParaRPr>
            </a:p>
          </p:txBody>
        </p:sp>
      </p:grpSp>
      <p:pic>
        <p:nvPicPr>
          <p:cNvPr id="7" name="图片 6">
            <a:extLst>
              <a:ext uri="{FF2B5EF4-FFF2-40B4-BE49-F238E27FC236}">
                <a16:creationId xmlns:a16="http://schemas.microsoft.com/office/drawing/2014/main" id="{C4B9CC4C-04ED-40A5-AEFF-13C91FBEAA82}"/>
              </a:ext>
            </a:extLst>
          </p:cNvPr>
          <p:cNvPicPr>
            <a:picLocks noChangeAspect="1"/>
          </p:cNvPicPr>
          <p:nvPr/>
        </p:nvPicPr>
        <p:blipFill>
          <a:blip r:embed="rId3"/>
          <a:srcRect r="8225"/>
          <a:stretch/>
        </p:blipFill>
        <p:spPr>
          <a:xfrm>
            <a:off x="836749" y="1779663"/>
            <a:ext cx="7569159" cy="3580604"/>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9BD77F5-FA41-4AED-A8D1-810B56B63A2B}"/>
                  </a:ext>
                </a:extLst>
              </p:cNvPr>
              <p:cNvSpPr/>
              <p:nvPr/>
            </p:nvSpPr>
            <p:spPr>
              <a:xfrm>
                <a:off x="539553" y="1131590"/>
                <a:ext cx="7776863" cy="830997"/>
              </a:xfrm>
              <a:prstGeom prst="rect">
                <a:avLst/>
              </a:prstGeom>
            </p:spPr>
            <p:txBody>
              <a:bodyPr wrap="square">
                <a:spAutoFit/>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强化</a:t>
                </a:r>
                <a:r>
                  <a:rPr lang="zh-CN" altLang="zh-CN" sz="1200" dirty="0">
                    <a:solidFill>
                      <a:srgbClr val="000000"/>
                    </a:solidFill>
                    <a:latin typeface="+mn-ea"/>
                    <a:ea typeface="+mn-ea"/>
                    <a:cs typeface="Times New Roman" panose="02020603050405020304" pitchFamily="18" charset="0"/>
                  </a:rPr>
                  <a:t>学习问题的定义</a:t>
                </a:r>
                <a:r>
                  <a:rPr lang="en-US" altLang="zh-CN" sz="1200" dirty="0">
                    <a:solidFill>
                      <a:srgbClr val="000000"/>
                    </a:solidFill>
                    <a:latin typeface="+mn-ea"/>
                    <a:ea typeface="+mn-ea"/>
                    <a:cs typeface="Times New Roman" panose="02020603050405020304" pitchFamily="18" charset="0"/>
                  </a:rPr>
                  <a:t>: </a:t>
                </a:r>
                <a:r>
                  <a:rPr lang="zh-CN" altLang="zh-CN" sz="1200" b="1" dirty="0" smtClean="0">
                    <a:solidFill>
                      <a:srgbClr val="FF0000"/>
                    </a:solidFill>
                    <a:latin typeface="+mn-ea"/>
                    <a:ea typeface="+mn-ea"/>
                    <a:cs typeface="Times New Roman" panose="02020603050405020304" pitchFamily="18" charset="0"/>
                  </a:rPr>
                  <a:t>给定一个马尔可夫决策过程</a:t>
                </a:r>
                <a14:m>
                  <m:oMath xmlns:m="http://schemas.openxmlformats.org/officeDocument/2006/math">
                    <m:r>
                      <a:rPr lang="en-US" altLang="zh-CN" sz="1200" b="1" i="1">
                        <a:solidFill>
                          <a:srgbClr val="FF0000"/>
                        </a:solidFill>
                        <a:latin typeface="Cambria Math" panose="02040503050406030204" pitchFamily="18" charset="0"/>
                        <a:ea typeface="+mn-ea"/>
                        <a:cs typeface="Times New Roman" panose="02020603050405020304" pitchFamily="18" charset="0"/>
                      </a:rPr>
                      <m:t>𝑴𝑫𝑷</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𝑺</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𝑨</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𝑷</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𝑹</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𝜸</m:t>
                    </m:r>
                    <m:r>
                      <a:rPr lang="en-US" altLang="zh-CN" sz="1200" b="1" i="1">
                        <a:solidFill>
                          <a:srgbClr val="FF0000"/>
                        </a:solidFill>
                        <a:latin typeface="Cambria Math" panose="02040503050406030204" pitchFamily="18" charset="0"/>
                        <a:ea typeface="+mn-ea"/>
                        <a:cs typeface="Times New Roman" panose="02020603050405020304" pitchFamily="18" charset="0"/>
                      </a:rPr>
                      <m:t>)</m:t>
                    </m:r>
                  </m:oMath>
                </a14:m>
                <a:r>
                  <a:rPr lang="zh-CN" altLang="zh-CN" sz="1200" b="1" dirty="0">
                    <a:solidFill>
                      <a:srgbClr val="FF0000"/>
                    </a:solidFill>
                    <a:latin typeface="+mn-ea"/>
                    <a:ea typeface="+mn-ea"/>
                    <a:cs typeface="Times New Roman" panose="02020603050405020304" pitchFamily="18" charset="0"/>
                  </a:rPr>
                  <a:t>，强化学习会寻找一个最优策略</a:t>
                </a:r>
                <a14:m>
                  <m:oMath xmlns:m="http://schemas.openxmlformats.org/officeDocument/2006/math">
                    <m:sSup>
                      <m:sSup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pPr>
                      <m:e>
                        <m:r>
                          <a:rPr lang="en-US" altLang="zh-CN" sz="12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200" b="1" i="1">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200" b="1" dirty="0">
                    <a:solidFill>
                      <a:srgbClr val="FF0000"/>
                    </a:solidFill>
                    <a:latin typeface="+mn-ea"/>
                    <a:ea typeface="+mn-ea"/>
                    <a:cs typeface="Times New Roman" panose="02020603050405020304" pitchFamily="18" charset="0"/>
                  </a:rPr>
                  <a:t>，在策略</a:t>
                </a:r>
                <a14:m>
                  <m:oMath xmlns:m="http://schemas.openxmlformats.org/officeDocument/2006/math">
                    <m:sSup>
                      <m:sSup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pPr>
                      <m:e>
                        <m:r>
                          <a:rPr lang="en-US" altLang="zh-CN" sz="12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200" b="1" i="1">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200" b="1" dirty="0">
                    <a:solidFill>
                      <a:srgbClr val="FF0000"/>
                    </a:solidFill>
                    <a:latin typeface="+mn-ea"/>
                    <a:ea typeface="+mn-ea"/>
                    <a:cs typeface="Times New Roman" panose="02020603050405020304" pitchFamily="18" charset="0"/>
                  </a:rPr>
                  <a:t>作用下使得任意状态</a:t>
                </a:r>
                <a14:m>
                  <m:oMath xmlns:m="http://schemas.openxmlformats.org/officeDocument/2006/math">
                    <m:r>
                      <a:rPr lang="en-US" altLang="zh-CN" sz="1200" b="1" i="1">
                        <a:solidFill>
                          <a:srgbClr val="FF0000"/>
                        </a:solidFill>
                        <a:latin typeface="Cambria Math" panose="02040503050406030204" pitchFamily="18" charset="0"/>
                        <a:ea typeface="+mn-ea"/>
                        <a:cs typeface="Times New Roman" panose="02020603050405020304" pitchFamily="18" charset="0"/>
                      </a:rPr>
                      <m:t>𝒔</m:t>
                    </m:r>
                    <m:r>
                      <a:rPr lang="en-US" altLang="zh-CN" sz="1200" b="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𝑺</m:t>
                    </m:r>
                  </m:oMath>
                </a14:m>
                <a:r>
                  <a:rPr lang="zh-CN" altLang="zh-CN" sz="1200" b="1" dirty="0">
                    <a:solidFill>
                      <a:srgbClr val="FF0000"/>
                    </a:solidFill>
                    <a:latin typeface="+mn-ea"/>
                    <a:ea typeface="+mn-ea"/>
                    <a:cs typeface="Times New Roman" panose="02020603050405020304" pitchFamily="18" charset="0"/>
                  </a:rPr>
                  <a:t>对应的价值函数</a:t>
                </a:r>
                <a14:m>
                  <m:oMath xmlns:m="http://schemas.openxmlformats.org/officeDocument/2006/math">
                    <m:sSub>
                      <m:sSub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bPr>
                      <m:e>
                        <m:r>
                          <a:rPr lang="en-US" altLang="zh-CN" sz="1200" b="1" i="1">
                            <a:solidFill>
                              <a:srgbClr val="FF0000"/>
                            </a:solidFill>
                            <a:latin typeface="Cambria Math" panose="02040503050406030204" pitchFamily="18" charset="0"/>
                            <a:ea typeface="+mn-ea"/>
                            <a:cs typeface="Times New Roman" panose="02020603050405020304" pitchFamily="18" charset="0"/>
                          </a:rPr>
                          <m:t>𝑽</m:t>
                        </m:r>
                      </m:e>
                      <m:sub>
                        <m:sSup>
                          <m:sSup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pPr>
                          <m:e>
                            <m:r>
                              <a:rPr lang="en-US" altLang="zh-CN" sz="12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200" b="1" i="1">
                                <a:solidFill>
                                  <a:srgbClr val="FF0000"/>
                                </a:solidFill>
                                <a:latin typeface="Cambria Math" panose="02040503050406030204" pitchFamily="18" charset="0"/>
                                <a:ea typeface="+mn-ea"/>
                                <a:cs typeface="Times New Roman" panose="02020603050405020304" pitchFamily="18" charset="0"/>
                              </a:rPr>
                              <m:t>∗</m:t>
                            </m:r>
                          </m:sup>
                        </m:sSup>
                      </m:sub>
                    </m:sSub>
                    <m:d>
                      <m:dPr>
                        <m:ctrlPr>
                          <a:rPr lang="zh-CN" altLang="zh-CN" sz="1200" b="1" i="1">
                            <a:solidFill>
                              <a:srgbClr val="FF0000"/>
                            </a:solidFill>
                            <a:latin typeface="Cambria Math" panose="02040503050406030204" pitchFamily="18" charset="0"/>
                            <a:ea typeface="+mn-ea"/>
                            <a:cs typeface="Times New Roman" panose="02020603050405020304" pitchFamily="18" charset="0"/>
                          </a:rPr>
                        </m:ctrlPr>
                      </m:dPr>
                      <m:e>
                        <m:r>
                          <a:rPr lang="en-US" altLang="zh-CN" sz="1200" b="1" i="1">
                            <a:solidFill>
                              <a:srgbClr val="FF0000"/>
                            </a:solidFill>
                            <a:latin typeface="Cambria Math" panose="02040503050406030204" pitchFamily="18" charset="0"/>
                            <a:ea typeface="+mn-ea"/>
                            <a:cs typeface="Times New Roman" panose="02020603050405020304" pitchFamily="18" charset="0"/>
                          </a:rPr>
                          <m:t>𝒔</m:t>
                        </m:r>
                      </m:e>
                    </m:d>
                  </m:oMath>
                </a14:m>
                <a:r>
                  <a:rPr lang="zh-CN" altLang="zh-CN" sz="1200" b="1" dirty="0">
                    <a:solidFill>
                      <a:srgbClr val="FF0000"/>
                    </a:solidFill>
                    <a:latin typeface="+mn-ea"/>
                    <a:ea typeface="+mn-ea"/>
                    <a:cs typeface="Times New Roman" panose="02020603050405020304" pitchFamily="18" charset="0"/>
                  </a:rPr>
                  <a:t>取值最大</a:t>
                </a:r>
                <a:r>
                  <a:rPr lang="zh-CN" altLang="zh-CN" sz="1200" dirty="0" smtClean="0">
                    <a:solidFill>
                      <a:srgbClr val="000000"/>
                    </a:solidFill>
                    <a:latin typeface="+mn-ea"/>
                    <a:ea typeface="+mn-ea"/>
                    <a:cs typeface="Times New Roman" panose="02020603050405020304" pitchFamily="18" charset="0"/>
                  </a:rPr>
                  <a:t>。</a:t>
                </a:r>
                <a:endParaRPr lang="zh-CN" altLang="zh-CN" sz="1200" dirty="0">
                  <a:solidFill>
                    <a:srgbClr val="000000"/>
                  </a:solidFill>
                  <a:latin typeface="+mn-ea"/>
                  <a:ea typeface="+mn-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9BD77F5-FA41-4AED-A8D1-810B56B63A2B}"/>
                  </a:ext>
                </a:extLst>
              </p:cNvPr>
              <p:cNvSpPr>
                <a:spLocks noRot="1" noChangeAspect="1" noMove="1" noResize="1" noEditPoints="1" noAdjustHandles="1" noChangeArrowheads="1" noChangeShapeType="1" noTextEdit="1"/>
              </p:cNvSpPr>
              <p:nvPr/>
            </p:nvSpPr>
            <p:spPr>
              <a:xfrm>
                <a:off x="539553" y="1131590"/>
                <a:ext cx="7776863" cy="830997"/>
              </a:xfrm>
              <a:prstGeom prst="rect">
                <a:avLst/>
              </a:prstGeom>
              <a:blipFill>
                <a:blip r:embed="rId4"/>
                <a:stretch>
                  <a:fillRect l="-78" r="-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6773210"/>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11560" y="483518"/>
            <a:ext cx="5598290" cy="373451"/>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6" name="矩形 5"/>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强化</a:t>
              </a:r>
              <a:r>
                <a:rPr lang="zh-CN" altLang="en-US" sz="1500" b="1" dirty="0" smtClean="0">
                  <a:solidFill>
                    <a:schemeClr val="tx1">
                      <a:lumMod val="95000"/>
                      <a:lumOff val="5000"/>
                    </a:schemeClr>
                  </a:solidFill>
                  <a:latin typeface="+mn-ea"/>
                  <a:ea typeface="+mn-ea"/>
                  <a:cs typeface="Times New Roman" panose="02020603050405020304" pitchFamily="18" charset="0"/>
                </a:rPr>
                <a:t>学习问题与基本求解思路</a:t>
              </a:r>
              <a:endParaRPr lang="zh-CN" altLang="en-US" sz="1500" b="1" dirty="0">
                <a:solidFill>
                  <a:schemeClr val="tx1">
                    <a:lumMod val="95000"/>
                    <a:lumOff val="5000"/>
                  </a:schemeClr>
                </a:solidFill>
                <a:latin typeface="+mn-ea"/>
                <a:ea typeface="+mn-ea"/>
              </a:endParaRPr>
            </a:p>
          </p:txBody>
        </p:sp>
      </p:gr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19BD77F5-FA41-4AED-A8D1-810B56B63A2B}"/>
                  </a:ext>
                </a:extLst>
              </p:cNvPr>
              <p:cNvSpPr/>
              <p:nvPr/>
            </p:nvSpPr>
            <p:spPr>
              <a:xfrm>
                <a:off x="539553" y="1131590"/>
                <a:ext cx="7776863" cy="830997"/>
              </a:xfrm>
              <a:prstGeom prst="rect">
                <a:avLst/>
              </a:prstGeom>
            </p:spPr>
            <p:txBody>
              <a:bodyPr wrap="square">
                <a:spAutoFit/>
              </a:bodyPr>
              <a:lstStyle/>
              <a:p>
                <a:pPr indent="200025" algn="just">
                  <a:lnSpc>
                    <a:spcPct val="200000"/>
                  </a:lnSpc>
                  <a:spcAft>
                    <a:spcPts val="0"/>
                  </a:spcAft>
                </a:pPr>
                <a:r>
                  <a:rPr lang="zh-CN" altLang="zh-CN" sz="1200" dirty="0" smtClean="0">
                    <a:solidFill>
                      <a:srgbClr val="000000"/>
                    </a:solidFill>
                    <a:latin typeface="+mn-ea"/>
                    <a:ea typeface="+mn-ea"/>
                    <a:cs typeface="Times New Roman" panose="02020603050405020304" pitchFamily="18" charset="0"/>
                  </a:rPr>
                  <a:t>强化</a:t>
                </a:r>
                <a:r>
                  <a:rPr lang="zh-CN" altLang="zh-CN" sz="1200" dirty="0">
                    <a:solidFill>
                      <a:srgbClr val="000000"/>
                    </a:solidFill>
                    <a:latin typeface="+mn-ea"/>
                    <a:ea typeface="+mn-ea"/>
                    <a:cs typeface="Times New Roman" panose="02020603050405020304" pitchFamily="18" charset="0"/>
                  </a:rPr>
                  <a:t>学习问题的定义</a:t>
                </a:r>
                <a:r>
                  <a:rPr lang="en-US" altLang="zh-CN" sz="1200" dirty="0">
                    <a:solidFill>
                      <a:srgbClr val="000000"/>
                    </a:solidFill>
                    <a:latin typeface="+mn-ea"/>
                    <a:ea typeface="+mn-ea"/>
                    <a:cs typeface="Times New Roman" panose="02020603050405020304" pitchFamily="18" charset="0"/>
                  </a:rPr>
                  <a:t>: </a:t>
                </a:r>
                <a:r>
                  <a:rPr lang="zh-CN" altLang="zh-CN" sz="1200" b="1" dirty="0" smtClean="0">
                    <a:solidFill>
                      <a:srgbClr val="FF0000"/>
                    </a:solidFill>
                    <a:latin typeface="+mn-ea"/>
                    <a:ea typeface="+mn-ea"/>
                    <a:cs typeface="Times New Roman" panose="02020603050405020304" pitchFamily="18" charset="0"/>
                  </a:rPr>
                  <a:t>给定一个马尔可夫决策过程</a:t>
                </a:r>
                <a14:m>
                  <m:oMath xmlns:m="http://schemas.openxmlformats.org/officeDocument/2006/math">
                    <m:r>
                      <a:rPr lang="en-US" altLang="zh-CN" sz="1200" b="1" i="1">
                        <a:solidFill>
                          <a:srgbClr val="FF0000"/>
                        </a:solidFill>
                        <a:latin typeface="Cambria Math" panose="02040503050406030204" pitchFamily="18" charset="0"/>
                        <a:ea typeface="+mn-ea"/>
                        <a:cs typeface="Times New Roman" panose="02020603050405020304" pitchFamily="18" charset="0"/>
                      </a:rPr>
                      <m:t>𝑴𝑫𝑷</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𝑺</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𝑨</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𝑷</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𝑹</m:t>
                    </m:r>
                    <m:r>
                      <a:rPr lang="en-US" altLang="zh-CN" sz="1200" b="1" i="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𝜸</m:t>
                    </m:r>
                    <m:r>
                      <a:rPr lang="en-US" altLang="zh-CN" sz="1200" b="1" i="1">
                        <a:solidFill>
                          <a:srgbClr val="FF0000"/>
                        </a:solidFill>
                        <a:latin typeface="Cambria Math" panose="02040503050406030204" pitchFamily="18" charset="0"/>
                        <a:ea typeface="+mn-ea"/>
                        <a:cs typeface="Times New Roman" panose="02020603050405020304" pitchFamily="18" charset="0"/>
                      </a:rPr>
                      <m:t>)</m:t>
                    </m:r>
                  </m:oMath>
                </a14:m>
                <a:r>
                  <a:rPr lang="zh-CN" altLang="zh-CN" sz="1200" b="1" dirty="0">
                    <a:solidFill>
                      <a:srgbClr val="FF0000"/>
                    </a:solidFill>
                    <a:latin typeface="+mn-ea"/>
                    <a:ea typeface="+mn-ea"/>
                    <a:cs typeface="Times New Roman" panose="02020603050405020304" pitchFamily="18" charset="0"/>
                  </a:rPr>
                  <a:t>，强化学习会寻找一个最优策略</a:t>
                </a:r>
                <a14:m>
                  <m:oMath xmlns:m="http://schemas.openxmlformats.org/officeDocument/2006/math">
                    <m:sSup>
                      <m:sSup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pPr>
                      <m:e>
                        <m:r>
                          <a:rPr lang="en-US" altLang="zh-CN" sz="12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200" b="1" i="1">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200" b="1" dirty="0">
                    <a:solidFill>
                      <a:srgbClr val="FF0000"/>
                    </a:solidFill>
                    <a:latin typeface="+mn-ea"/>
                    <a:ea typeface="+mn-ea"/>
                    <a:cs typeface="Times New Roman" panose="02020603050405020304" pitchFamily="18" charset="0"/>
                  </a:rPr>
                  <a:t>，在策略</a:t>
                </a:r>
                <a14:m>
                  <m:oMath xmlns:m="http://schemas.openxmlformats.org/officeDocument/2006/math">
                    <m:sSup>
                      <m:sSup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pPr>
                      <m:e>
                        <m:r>
                          <a:rPr lang="en-US" altLang="zh-CN" sz="12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200" b="1" i="1">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200" b="1" dirty="0">
                    <a:solidFill>
                      <a:srgbClr val="FF0000"/>
                    </a:solidFill>
                    <a:latin typeface="+mn-ea"/>
                    <a:ea typeface="+mn-ea"/>
                    <a:cs typeface="Times New Roman" panose="02020603050405020304" pitchFamily="18" charset="0"/>
                  </a:rPr>
                  <a:t>作用下使得任意状态</a:t>
                </a:r>
                <a14:m>
                  <m:oMath xmlns:m="http://schemas.openxmlformats.org/officeDocument/2006/math">
                    <m:r>
                      <a:rPr lang="en-US" altLang="zh-CN" sz="1200" b="1" i="1">
                        <a:solidFill>
                          <a:srgbClr val="FF0000"/>
                        </a:solidFill>
                        <a:latin typeface="Cambria Math" panose="02040503050406030204" pitchFamily="18" charset="0"/>
                        <a:ea typeface="+mn-ea"/>
                        <a:cs typeface="Times New Roman" panose="02020603050405020304" pitchFamily="18" charset="0"/>
                      </a:rPr>
                      <m:t>𝒔</m:t>
                    </m:r>
                    <m:r>
                      <a:rPr lang="en-US" altLang="zh-CN" sz="1200" b="1">
                        <a:solidFill>
                          <a:srgbClr val="FF0000"/>
                        </a:solidFill>
                        <a:latin typeface="Cambria Math" panose="02040503050406030204" pitchFamily="18" charset="0"/>
                        <a:ea typeface="+mn-ea"/>
                        <a:cs typeface="Times New Roman" panose="02020603050405020304" pitchFamily="18" charset="0"/>
                      </a:rPr>
                      <m:t>∈</m:t>
                    </m:r>
                    <m:r>
                      <a:rPr lang="en-US" altLang="zh-CN" sz="1200" b="1" i="1">
                        <a:solidFill>
                          <a:srgbClr val="FF0000"/>
                        </a:solidFill>
                        <a:latin typeface="Cambria Math" panose="02040503050406030204" pitchFamily="18" charset="0"/>
                        <a:ea typeface="+mn-ea"/>
                        <a:cs typeface="Times New Roman" panose="02020603050405020304" pitchFamily="18" charset="0"/>
                      </a:rPr>
                      <m:t>𝑺</m:t>
                    </m:r>
                  </m:oMath>
                </a14:m>
                <a:r>
                  <a:rPr lang="zh-CN" altLang="zh-CN" sz="1200" b="1" dirty="0">
                    <a:solidFill>
                      <a:srgbClr val="FF0000"/>
                    </a:solidFill>
                    <a:latin typeface="+mn-ea"/>
                    <a:ea typeface="+mn-ea"/>
                    <a:cs typeface="Times New Roman" panose="02020603050405020304" pitchFamily="18" charset="0"/>
                  </a:rPr>
                  <a:t>对应的价值函数</a:t>
                </a:r>
                <a14:m>
                  <m:oMath xmlns:m="http://schemas.openxmlformats.org/officeDocument/2006/math">
                    <m:sSub>
                      <m:sSub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bPr>
                      <m:e>
                        <m:r>
                          <a:rPr lang="en-US" altLang="zh-CN" sz="1200" b="1" i="1">
                            <a:solidFill>
                              <a:srgbClr val="FF0000"/>
                            </a:solidFill>
                            <a:latin typeface="Cambria Math" panose="02040503050406030204" pitchFamily="18" charset="0"/>
                            <a:ea typeface="+mn-ea"/>
                            <a:cs typeface="Times New Roman" panose="02020603050405020304" pitchFamily="18" charset="0"/>
                          </a:rPr>
                          <m:t>𝑽</m:t>
                        </m:r>
                      </m:e>
                      <m:sub>
                        <m:sSup>
                          <m:sSupPr>
                            <m:ctrlPr>
                              <a:rPr lang="zh-CN" altLang="zh-CN" sz="1200" b="1" i="1">
                                <a:solidFill>
                                  <a:srgbClr val="FF0000"/>
                                </a:solidFill>
                                <a:latin typeface="Cambria Math" panose="02040503050406030204" pitchFamily="18" charset="0"/>
                                <a:ea typeface="+mn-ea"/>
                                <a:cs typeface="Times New Roman" panose="02020603050405020304" pitchFamily="18" charset="0"/>
                              </a:rPr>
                            </m:ctrlPr>
                          </m:sSupPr>
                          <m:e>
                            <m:r>
                              <a:rPr lang="en-US" altLang="zh-CN" sz="1200" b="1" i="1">
                                <a:solidFill>
                                  <a:srgbClr val="FF0000"/>
                                </a:solidFill>
                                <a:latin typeface="Cambria Math" panose="02040503050406030204" pitchFamily="18" charset="0"/>
                                <a:ea typeface="+mn-ea"/>
                                <a:cs typeface="Times New Roman" panose="02020603050405020304" pitchFamily="18" charset="0"/>
                              </a:rPr>
                              <m:t>𝝅</m:t>
                            </m:r>
                          </m:e>
                          <m:sup>
                            <m:r>
                              <a:rPr lang="en-US" altLang="zh-CN" sz="1200" b="1" i="1">
                                <a:solidFill>
                                  <a:srgbClr val="FF0000"/>
                                </a:solidFill>
                                <a:latin typeface="Cambria Math" panose="02040503050406030204" pitchFamily="18" charset="0"/>
                                <a:ea typeface="+mn-ea"/>
                                <a:cs typeface="Times New Roman" panose="02020603050405020304" pitchFamily="18" charset="0"/>
                              </a:rPr>
                              <m:t>∗</m:t>
                            </m:r>
                          </m:sup>
                        </m:sSup>
                      </m:sub>
                    </m:sSub>
                    <m:d>
                      <m:dPr>
                        <m:ctrlPr>
                          <a:rPr lang="zh-CN" altLang="zh-CN" sz="1200" b="1" i="1">
                            <a:solidFill>
                              <a:srgbClr val="FF0000"/>
                            </a:solidFill>
                            <a:latin typeface="Cambria Math" panose="02040503050406030204" pitchFamily="18" charset="0"/>
                            <a:ea typeface="+mn-ea"/>
                            <a:cs typeface="Times New Roman" panose="02020603050405020304" pitchFamily="18" charset="0"/>
                          </a:rPr>
                        </m:ctrlPr>
                      </m:dPr>
                      <m:e>
                        <m:r>
                          <a:rPr lang="en-US" altLang="zh-CN" sz="1200" b="1" i="1">
                            <a:solidFill>
                              <a:srgbClr val="FF0000"/>
                            </a:solidFill>
                            <a:latin typeface="Cambria Math" panose="02040503050406030204" pitchFamily="18" charset="0"/>
                            <a:ea typeface="+mn-ea"/>
                            <a:cs typeface="Times New Roman" panose="02020603050405020304" pitchFamily="18" charset="0"/>
                          </a:rPr>
                          <m:t>𝒔</m:t>
                        </m:r>
                      </m:e>
                    </m:d>
                  </m:oMath>
                </a14:m>
                <a:r>
                  <a:rPr lang="zh-CN" altLang="zh-CN" sz="1200" b="1" dirty="0">
                    <a:solidFill>
                      <a:srgbClr val="FF0000"/>
                    </a:solidFill>
                    <a:latin typeface="+mn-ea"/>
                    <a:ea typeface="+mn-ea"/>
                    <a:cs typeface="Times New Roman" panose="02020603050405020304" pitchFamily="18" charset="0"/>
                  </a:rPr>
                  <a:t>取值最大</a:t>
                </a:r>
                <a:r>
                  <a:rPr lang="zh-CN" altLang="zh-CN" sz="1200" dirty="0" smtClean="0">
                    <a:solidFill>
                      <a:srgbClr val="000000"/>
                    </a:solidFill>
                    <a:latin typeface="+mn-ea"/>
                    <a:ea typeface="+mn-ea"/>
                    <a:cs typeface="Times New Roman" panose="02020603050405020304" pitchFamily="18" charset="0"/>
                  </a:rPr>
                  <a:t>。</a:t>
                </a:r>
                <a:endParaRPr lang="zh-CN" altLang="zh-CN" sz="1200" dirty="0">
                  <a:solidFill>
                    <a:srgbClr val="000000"/>
                  </a:solidFill>
                  <a:latin typeface="+mn-ea"/>
                  <a:ea typeface="+mn-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19BD77F5-FA41-4AED-A8D1-810B56B63A2B}"/>
                  </a:ext>
                </a:extLst>
              </p:cNvPr>
              <p:cNvSpPr>
                <a:spLocks noRot="1" noChangeAspect="1" noMove="1" noResize="1" noEditPoints="1" noAdjustHandles="1" noChangeArrowheads="1" noChangeShapeType="1" noTextEdit="1"/>
              </p:cNvSpPr>
              <p:nvPr/>
            </p:nvSpPr>
            <p:spPr>
              <a:xfrm>
                <a:off x="539553" y="1131590"/>
                <a:ext cx="7776863" cy="830997"/>
              </a:xfrm>
              <a:prstGeom prst="rect">
                <a:avLst/>
              </a:prstGeom>
              <a:blipFill>
                <a:blip r:embed="rId3"/>
                <a:stretch>
                  <a:fillRect l="-78" r="-78"/>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5E40612E-05E3-4FBE-ADB3-A73207570049}"/>
              </a:ext>
            </a:extLst>
          </p:cNvPr>
          <p:cNvPicPr>
            <a:picLocks noChangeAspect="1"/>
          </p:cNvPicPr>
          <p:nvPr/>
        </p:nvPicPr>
        <p:blipFill rotWithShape="1">
          <a:blip r:embed="rId4"/>
          <a:srcRect r="44932"/>
          <a:stretch/>
        </p:blipFill>
        <p:spPr>
          <a:xfrm>
            <a:off x="5127466" y="1707654"/>
            <a:ext cx="3805080" cy="3222287"/>
          </a:xfrm>
          <a:prstGeom prst="rect">
            <a:avLst/>
          </a:prstGeom>
        </p:spPr>
      </p:pic>
      <p:pic>
        <p:nvPicPr>
          <p:cNvPr id="7" name="图片 6">
            <a:extLst>
              <a:ext uri="{FF2B5EF4-FFF2-40B4-BE49-F238E27FC236}">
                <a16:creationId xmlns:a16="http://schemas.microsoft.com/office/drawing/2014/main" id="{C4B9CC4C-04ED-40A5-AEFF-13C91FBEAA82}"/>
              </a:ext>
            </a:extLst>
          </p:cNvPr>
          <p:cNvPicPr>
            <a:picLocks noChangeAspect="1"/>
          </p:cNvPicPr>
          <p:nvPr/>
        </p:nvPicPr>
        <p:blipFill>
          <a:blip r:embed="rId5"/>
          <a:srcRect r="8225"/>
          <a:stretch/>
        </p:blipFill>
        <p:spPr>
          <a:xfrm>
            <a:off x="107504" y="2274509"/>
            <a:ext cx="5201050" cy="2460366"/>
          </a:xfrm>
          <a:prstGeom prst="rect">
            <a:avLst/>
          </a:prstGeom>
        </p:spPr>
      </p:pic>
    </p:spTree>
    <p:extLst>
      <p:ext uri="{BB962C8B-B14F-4D97-AF65-F5344CB8AC3E}">
        <p14:creationId xmlns:p14="http://schemas.microsoft.com/office/powerpoint/2010/main" val="2883023144"/>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18AB227-88E8-414F-B2D0-66E3CD42BC82}"/>
              </a:ext>
            </a:extLst>
          </p:cNvPr>
          <p:cNvPicPr>
            <a:picLocks noChangeAspect="1"/>
          </p:cNvPicPr>
          <p:nvPr/>
        </p:nvPicPr>
        <p:blipFill rotWithShape="1">
          <a:blip r:embed="rId3"/>
          <a:srcRect r="60515" b="14050"/>
          <a:stretch/>
        </p:blipFill>
        <p:spPr>
          <a:xfrm>
            <a:off x="5566113" y="1955487"/>
            <a:ext cx="3156033" cy="2938376"/>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500CD00-3C2C-4BF0-B5EA-FA818677744A}"/>
                  </a:ext>
                </a:extLst>
              </p:cNvPr>
              <p:cNvSpPr/>
              <p:nvPr/>
            </p:nvSpPr>
            <p:spPr>
              <a:xfrm>
                <a:off x="323528" y="893233"/>
                <a:ext cx="8387862" cy="923330"/>
              </a:xfrm>
              <a:prstGeom prst="rect">
                <a:avLst/>
              </a:prstGeom>
            </p:spPr>
            <p:txBody>
              <a:bodyPr wrap="square">
                <a:spAutoFit/>
              </a:bodyPr>
              <a:lstStyle/>
              <a:p>
                <a:pPr indent="200025" algn="just">
                  <a:lnSpc>
                    <a:spcPct val="150000"/>
                  </a:lnSpc>
                  <a:spcAft>
                    <a:spcPts val="0"/>
                  </a:spcAft>
                </a:pPr>
                <a:r>
                  <a:rPr lang="zh-CN" altLang="zh-CN" sz="1200" dirty="0">
                    <a:solidFill>
                      <a:srgbClr val="000000"/>
                    </a:solidFill>
                    <a:latin typeface="+mn-ea"/>
                    <a:ea typeface="+mn-ea"/>
                    <a:cs typeface="Times New Roman" panose="02020603050405020304" pitchFamily="18" charset="0"/>
                  </a:rPr>
                  <a:t>以图</a:t>
                </a:r>
                <a:r>
                  <a:rPr lang="en-US" altLang="zh-CN" sz="1200" dirty="0">
                    <a:solidFill>
                      <a:srgbClr val="000000"/>
                    </a:solidFill>
                    <a:latin typeface="+mn-ea"/>
                    <a:ea typeface="+mn-ea"/>
                    <a:cs typeface="Times New Roman" panose="02020603050405020304" pitchFamily="18" charset="0"/>
                  </a:rPr>
                  <a:t>6.8</a:t>
                </a:r>
                <a:r>
                  <a:rPr lang="zh-CN" altLang="zh-CN" sz="1200" dirty="0">
                    <a:solidFill>
                      <a:srgbClr val="000000"/>
                    </a:solidFill>
                    <a:latin typeface="+mn-ea"/>
                    <a:ea typeface="+mn-ea"/>
                    <a:cs typeface="Times New Roman" panose="02020603050405020304" pitchFamily="18" charset="0"/>
                  </a:rPr>
                  <a:t>所示机器人寻路问题来介绍策略优化。图</a:t>
                </a:r>
                <a:r>
                  <a:rPr lang="zh-CN" altLang="en-US" sz="1200" dirty="0">
                    <a:solidFill>
                      <a:srgbClr val="000000"/>
                    </a:solidFill>
                    <a:latin typeface="+mn-ea"/>
                    <a:ea typeface="+mn-ea"/>
                    <a:cs typeface="Times New Roman" panose="02020603050405020304" pitchFamily="18" charset="0"/>
                  </a:rPr>
                  <a:t>中</a:t>
                </a:r>
                <a:r>
                  <a:rPr lang="zh-CN" altLang="zh-CN" sz="1200" dirty="0">
                    <a:solidFill>
                      <a:srgbClr val="000000"/>
                    </a:solidFill>
                    <a:latin typeface="+mn-ea"/>
                    <a:ea typeface="+mn-ea"/>
                    <a:cs typeface="Times New Roman" panose="02020603050405020304" pitchFamily="18" charset="0"/>
                  </a:rPr>
                  <a:t>给出了当前策略及其对应价值函数</a:t>
                </a:r>
                <a:r>
                  <a:rPr lang="zh-CN" altLang="en-US" sz="1200" dirty="0">
                    <a:solidFill>
                      <a:srgbClr val="000000"/>
                    </a:solidFill>
                    <a:latin typeface="+mn-ea"/>
                    <a:ea typeface="+mn-ea"/>
                    <a:cs typeface="Times New Roman" panose="02020603050405020304" pitchFamily="18" charset="0"/>
                  </a:rPr>
                  <a:t>，比如</a:t>
                </a:r>
                <a:r>
                  <a:rPr lang="zh-CN" altLang="zh-CN" sz="1200" dirty="0">
                    <a:solidFill>
                      <a:srgbClr val="000000"/>
                    </a:solidFill>
                    <a:latin typeface="+mn-ea"/>
                    <a:ea typeface="+mn-ea"/>
                    <a:cs typeface="Times New Roman" panose="02020603050405020304" pitchFamily="18" charset="0"/>
                  </a:rPr>
                  <a:t>在当前策略下，智能体位于状态</a:t>
                </a:r>
                <a14:m>
                  <m:oMath xmlns:m="http://schemas.openxmlformats.org/officeDocument/2006/math">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i="1">
                            <a:solidFill>
                              <a:srgbClr val="000000"/>
                            </a:solidFill>
                            <a:latin typeface="Cambria Math" panose="02040503050406030204" pitchFamily="18" charset="0"/>
                            <a:ea typeface="+mn-ea"/>
                            <a:cs typeface="Times New Roman" panose="02020603050405020304" pitchFamily="18" charset="0"/>
                          </a:rPr>
                          <m:t>𝑠</m:t>
                        </m:r>
                      </m:e>
                      <m:sub>
                        <m:r>
                          <a:rPr lang="en-US" altLang="zh-CN" sz="1200">
                            <a:solidFill>
                              <a:srgbClr val="000000"/>
                            </a:solidFill>
                            <a:latin typeface="Cambria Math" panose="02040503050406030204" pitchFamily="18" charset="0"/>
                            <a:ea typeface="+mn-ea"/>
                            <a:cs typeface="Times New Roman" panose="02020603050405020304" pitchFamily="18" charset="0"/>
                          </a:rPr>
                          <m:t>1</m:t>
                        </m:r>
                      </m:sub>
                    </m:sSub>
                  </m:oMath>
                </a14:m>
                <a:r>
                  <a:rPr lang="zh-CN" altLang="zh-CN" sz="1200" dirty="0">
                    <a:solidFill>
                      <a:srgbClr val="000000"/>
                    </a:solidFill>
                    <a:latin typeface="+mn-ea"/>
                    <a:ea typeface="+mn-ea"/>
                    <a:cs typeface="Times New Roman" panose="02020603050405020304" pitchFamily="18" charset="0"/>
                  </a:rPr>
                  <a:t>的价值函数取值为</a:t>
                </a:r>
                <a:r>
                  <a:rPr lang="en-US" altLang="zh-CN" sz="1200" dirty="0">
                    <a:solidFill>
                      <a:srgbClr val="000000"/>
                    </a:solidFill>
                    <a:latin typeface="+mn-ea"/>
                    <a:ea typeface="+mn-ea"/>
                    <a:cs typeface="Times New Roman" panose="02020603050405020304" pitchFamily="18" charset="0"/>
                  </a:rPr>
                  <a:t>0.1</a:t>
                </a:r>
                <a:r>
                  <a:rPr lang="zh-CN" altLang="zh-CN" sz="1200" dirty="0">
                    <a:solidFill>
                      <a:srgbClr val="000000"/>
                    </a:solidFill>
                    <a:latin typeface="+mn-ea"/>
                    <a:ea typeface="+mn-ea"/>
                    <a:cs typeface="Times New Roman" panose="02020603050405020304" pitchFamily="18" charset="0"/>
                  </a:rPr>
                  <a:t>。当智能体位于</a:t>
                </a:r>
                <a14:m>
                  <m:oMath xmlns:m="http://schemas.openxmlformats.org/officeDocument/2006/math">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i="1">
                            <a:solidFill>
                              <a:srgbClr val="000000"/>
                            </a:solidFill>
                            <a:latin typeface="Cambria Math" panose="02040503050406030204" pitchFamily="18" charset="0"/>
                            <a:ea typeface="+mn-ea"/>
                            <a:cs typeface="Times New Roman" panose="02020603050405020304" pitchFamily="18" charset="0"/>
                          </a:rPr>
                          <m:t>𝑠</m:t>
                        </m:r>
                      </m:e>
                      <m:sub>
                        <m:r>
                          <a:rPr lang="en-US" altLang="zh-CN" sz="1200">
                            <a:solidFill>
                              <a:srgbClr val="000000"/>
                            </a:solidFill>
                            <a:latin typeface="Cambria Math" panose="02040503050406030204" pitchFamily="18" charset="0"/>
                            <a:ea typeface="+mn-ea"/>
                            <a:cs typeface="Times New Roman" panose="02020603050405020304" pitchFamily="18" charset="0"/>
                          </a:rPr>
                          <m:t>1</m:t>
                        </m:r>
                      </m:sub>
                    </m:sSub>
                  </m:oMath>
                </a14:m>
                <a:r>
                  <a:rPr lang="zh-CN" altLang="zh-CN" sz="1200" dirty="0">
                    <a:solidFill>
                      <a:srgbClr val="000000"/>
                    </a:solidFill>
                    <a:latin typeface="+mn-ea"/>
                    <a:ea typeface="+mn-ea"/>
                    <a:cs typeface="Times New Roman" panose="02020603050405020304" pitchFamily="18" charset="0"/>
                  </a:rPr>
                  <a:t>状态时，智能体在当前策略指引下将选择向上移动一个方格的行动，从状态</a:t>
                </a:r>
                <a14:m>
                  <m:oMath xmlns:m="http://schemas.openxmlformats.org/officeDocument/2006/math">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i="1">
                            <a:solidFill>
                              <a:srgbClr val="000000"/>
                            </a:solidFill>
                            <a:latin typeface="Cambria Math" panose="02040503050406030204" pitchFamily="18" charset="0"/>
                            <a:ea typeface="+mn-ea"/>
                            <a:cs typeface="Times New Roman" panose="02020603050405020304" pitchFamily="18" charset="0"/>
                          </a:rPr>
                          <m:t>𝑠</m:t>
                        </m:r>
                      </m:e>
                      <m:sub>
                        <m:r>
                          <a:rPr lang="en-US" altLang="zh-CN" sz="1200">
                            <a:solidFill>
                              <a:srgbClr val="000000"/>
                            </a:solidFill>
                            <a:latin typeface="Cambria Math" panose="02040503050406030204" pitchFamily="18" charset="0"/>
                            <a:ea typeface="+mn-ea"/>
                            <a:cs typeface="Times New Roman" panose="02020603050405020304" pitchFamily="18" charset="0"/>
                          </a:rPr>
                          <m:t>1</m:t>
                        </m:r>
                      </m:sub>
                    </m:sSub>
                  </m:oMath>
                </a14:m>
                <a:r>
                  <a:rPr lang="zh-CN" altLang="zh-CN" sz="1200" dirty="0">
                    <a:solidFill>
                      <a:srgbClr val="000000"/>
                    </a:solidFill>
                    <a:latin typeface="+mn-ea"/>
                    <a:ea typeface="+mn-ea"/>
                    <a:cs typeface="Times New Roman" panose="02020603050405020304" pitchFamily="18" charset="0"/>
                  </a:rPr>
                  <a:t>进入状态</a:t>
                </a:r>
                <a14:m>
                  <m:oMath xmlns:m="http://schemas.openxmlformats.org/officeDocument/2006/math">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i="1">
                            <a:solidFill>
                              <a:srgbClr val="000000"/>
                            </a:solidFill>
                            <a:latin typeface="Cambria Math" panose="02040503050406030204" pitchFamily="18" charset="0"/>
                            <a:ea typeface="+mn-ea"/>
                            <a:cs typeface="Times New Roman" panose="02020603050405020304" pitchFamily="18" charset="0"/>
                          </a:rPr>
                          <m:t>𝑠</m:t>
                        </m:r>
                      </m:e>
                      <m:sub>
                        <m:r>
                          <a:rPr lang="en-US" altLang="zh-CN" sz="1200">
                            <a:solidFill>
                              <a:srgbClr val="000000"/>
                            </a:solidFill>
                            <a:latin typeface="Cambria Math" panose="02040503050406030204" pitchFamily="18" charset="0"/>
                            <a:ea typeface="+mn-ea"/>
                            <a:cs typeface="Times New Roman" panose="02020603050405020304" pitchFamily="18" charset="0"/>
                          </a:rPr>
                          <m:t>4</m:t>
                        </m:r>
                      </m:sub>
                    </m:sSub>
                  </m:oMath>
                </a14:m>
                <a:r>
                  <a:rPr lang="zh-CN" altLang="zh-CN" sz="1200" dirty="0">
                    <a:solidFill>
                      <a:srgbClr val="000000"/>
                    </a:solidFill>
                    <a:latin typeface="+mn-ea"/>
                    <a:ea typeface="+mn-ea"/>
                    <a:cs typeface="Times New Roman" panose="02020603050405020304" pitchFamily="18" charset="0"/>
                  </a:rPr>
                  <a:t>，状态</a:t>
                </a:r>
                <a14:m>
                  <m:oMath xmlns:m="http://schemas.openxmlformats.org/officeDocument/2006/math">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i="1">
                            <a:solidFill>
                              <a:srgbClr val="000000"/>
                            </a:solidFill>
                            <a:latin typeface="Cambria Math" panose="02040503050406030204" pitchFamily="18" charset="0"/>
                            <a:ea typeface="+mn-ea"/>
                            <a:cs typeface="Times New Roman" panose="02020603050405020304" pitchFamily="18" charset="0"/>
                          </a:rPr>
                          <m:t>𝑠</m:t>
                        </m:r>
                      </m:e>
                      <m:sub>
                        <m:r>
                          <a:rPr lang="en-US" altLang="zh-CN" sz="1200">
                            <a:solidFill>
                              <a:srgbClr val="000000"/>
                            </a:solidFill>
                            <a:latin typeface="Cambria Math" panose="02040503050406030204" pitchFamily="18" charset="0"/>
                            <a:ea typeface="+mn-ea"/>
                            <a:cs typeface="Times New Roman" panose="02020603050405020304" pitchFamily="18" charset="0"/>
                          </a:rPr>
                          <m:t>4</m:t>
                        </m:r>
                      </m:sub>
                    </m:sSub>
                  </m:oMath>
                </a14:m>
                <a:r>
                  <a:rPr lang="zh-CN" altLang="zh-CN" sz="1200" dirty="0">
                    <a:solidFill>
                      <a:srgbClr val="000000"/>
                    </a:solidFill>
                    <a:latin typeface="+mn-ea"/>
                    <a:ea typeface="+mn-ea"/>
                    <a:cs typeface="Times New Roman" panose="02020603050405020304" pitchFamily="18" charset="0"/>
                  </a:rPr>
                  <a:t>的价值函数取值为</a:t>
                </a:r>
                <a:r>
                  <a:rPr lang="en-US" altLang="zh-CN" sz="1200" dirty="0">
                    <a:solidFill>
                      <a:srgbClr val="000000"/>
                    </a:solidFill>
                    <a:latin typeface="+mn-ea"/>
                    <a:ea typeface="+mn-ea"/>
                    <a:cs typeface="Times New Roman" panose="02020603050405020304" pitchFamily="18" charset="0"/>
                  </a:rPr>
                  <a:t>0.3</a:t>
                </a:r>
                <a:r>
                  <a:rPr lang="zh-CN" altLang="zh-CN" sz="1200" dirty="0" smtClean="0">
                    <a:solidFill>
                      <a:srgbClr val="000000"/>
                    </a:solidFill>
                    <a:latin typeface="+mn-ea"/>
                    <a:ea typeface="+mn-ea"/>
                    <a:cs typeface="Times New Roman" panose="02020603050405020304" pitchFamily="18" charset="0"/>
                  </a:rPr>
                  <a:t>。</a:t>
                </a:r>
                <a:r>
                  <a:rPr lang="en-US" altLang="zh-CN" sz="1200" dirty="0" smtClean="0">
                    <a:solidFill>
                      <a:srgbClr val="000000"/>
                    </a:solidFill>
                    <a:latin typeface="+mn-ea"/>
                    <a:ea typeface="+mn-ea"/>
                    <a:cs typeface="Times New Roman" panose="02020603050405020304" pitchFamily="18" charset="0"/>
                  </a:rPr>
                  <a:t> </a:t>
                </a:r>
                <a:endParaRPr lang="zh-CN" altLang="zh-CN" sz="1200" dirty="0">
                  <a:solidFill>
                    <a:srgbClr val="000000"/>
                  </a:solidFill>
                  <a:latin typeface="+mn-ea"/>
                  <a:ea typeface="+mn-ea"/>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F500CD00-3C2C-4BF0-B5EA-FA818677744A}"/>
                  </a:ext>
                </a:extLst>
              </p:cNvPr>
              <p:cNvSpPr>
                <a:spLocks noRot="1" noChangeAspect="1" noMove="1" noResize="1" noEditPoints="1" noAdjustHandles="1" noChangeArrowheads="1" noChangeShapeType="1" noTextEdit="1"/>
              </p:cNvSpPr>
              <p:nvPr/>
            </p:nvSpPr>
            <p:spPr>
              <a:xfrm>
                <a:off x="323528" y="893233"/>
                <a:ext cx="8387862" cy="923330"/>
              </a:xfrm>
              <a:prstGeom prst="rect">
                <a:avLst/>
              </a:prstGeom>
              <a:blipFill>
                <a:blip r:embed="rId4"/>
                <a:stretch>
                  <a:fillRect r="-73" b="-13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4866369-3D50-484B-AB05-54915F5FEBD9}"/>
                  </a:ext>
                </a:extLst>
              </p:cNvPr>
              <p:cNvSpPr/>
              <p:nvPr/>
            </p:nvSpPr>
            <p:spPr>
              <a:xfrm>
                <a:off x="107504" y="2235738"/>
                <a:ext cx="5609854" cy="2547749"/>
              </a:xfrm>
              <a:prstGeom prst="rect">
                <a:avLst/>
              </a:prstGeom>
            </p:spPr>
            <p:txBody>
              <a:bodyPr wrap="square">
                <a:spAutoFit/>
              </a:bodyPr>
              <a:lstStyle/>
              <a:p>
                <a:pPr indent="200025" algn="just">
                  <a:lnSpc>
                    <a:spcPts val="1650"/>
                  </a:lnSpc>
                  <a:spcAft>
                    <a:spcPts val="0"/>
                  </a:spcAft>
                </a:pPr>
                <a:r>
                  <a:rPr lang="zh-CN" altLang="zh-CN" dirty="0">
                    <a:solidFill>
                      <a:srgbClr val="000000"/>
                    </a:solidFill>
                    <a:latin typeface="+mn-ea"/>
                    <a:ea typeface="+mn-ea"/>
                    <a:cs typeface="Times New Roman" panose="02020603050405020304" pitchFamily="18" charset="0"/>
                  </a:rPr>
                  <a:t>计算状态</a:t>
                </a: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a:solidFill>
                              <a:srgbClr val="000000"/>
                            </a:solidFill>
                            <a:latin typeface="Cambria Math" panose="02040503050406030204" pitchFamily="18" charset="0"/>
                            <a:ea typeface="+mn-ea"/>
                            <a:cs typeface="Times New Roman" panose="02020603050405020304" pitchFamily="18" charset="0"/>
                          </a:rPr>
                          <m:t>1</m:t>
                        </m:r>
                      </m:sub>
                    </m:sSub>
                  </m:oMath>
                </a14:m>
                <a:r>
                  <a:rPr lang="zh-CN" altLang="zh-CN" dirty="0">
                    <a:solidFill>
                      <a:srgbClr val="000000"/>
                    </a:solidFill>
                    <a:latin typeface="+mn-ea"/>
                    <a:ea typeface="+mn-ea"/>
                    <a:cs typeface="Times New Roman" panose="02020603050405020304" pitchFamily="18" charset="0"/>
                  </a:rPr>
                  <a:t>选择这两个不同动作后分别所得动作</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价值函数取值：</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smtClean="0">
                              <a:solidFill>
                                <a:srgbClr val="FF0000"/>
                              </a:solidFill>
                              <a:latin typeface="Cambria Math" panose="02040503050406030204" pitchFamily="18" charset="0"/>
                              <a:ea typeface="+mn-ea"/>
                              <a:cs typeface="Times New Roman" panose="02020603050405020304" pitchFamily="18" charset="0"/>
                            </a:rPr>
                          </m:ctrlPr>
                        </m:sSubPr>
                        <m:e>
                          <m:r>
                            <a:rPr lang="en-US" altLang="zh-CN" i="1" kern="100">
                              <a:solidFill>
                                <a:srgbClr val="FF0000"/>
                              </a:solidFill>
                              <a:latin typeface="Cambria Math" panose="02040503050406030204" pitchFamily="18" charset="0"/>
                              <a:ea typeface="+mn-ea"/>
                              <a:cs typeface="Times New Roman" panose="02020603050405020304" pitchFamily="18" charset="0"/>
                            </a:rPr>
                            <m:t>𝑞</m:t>
                          </m:r>
                        </m:e>
                        <m:sub>
                          <m:r>
                            <a:rPr lang="en-US" altLang="zh-CN" i="1" kern="100">
                              <a:solidFill>
                                <a:srgbClr val="FF0000"/>
                              </a:solidFill>
                              <a:latin typeface="Cambria Math" panose="02040503050406030204" pitchFamily="18" charset="0"/>
                              <a:ea typeface="+mn-ea"/>
                              <a:cs typeface="Times New Roman" panose="02020603050405020304" pitchFamily="18" charset="0"/>
                            </a:rPr>
                            <m:t>𝜋</m:t>
                          </m:r>
                        </m:sub>
                      </m:sSub>
                      <m:d>
                        <m:dPr>
                          <m:ctrlPr>
                            <a:rPr lang="zh-CN" altLang="zh-CN" i="1" kern="100">
                              <a:solidFill>
                                <a:srgbClr val="FF0000"/>
                              </a:solidFill>
                              <a:latin typeface="Cambria Math" panose="02040503050406030204" pitchFamily="18" charset="0"/>
                              <a:ea typeface="+mn-ea"/>
                              <a:cs typeface="Times New Roman" panose="02020603050405020304" pitchFamily="18" charset="0"/>
                            </a:rPr>
                          </m:ctrlPr>
                        </m:dPr>
                        <m:e>
                          <m:sSub>
                            <m:sSubPr>
                              <m:ctrlPr>
                                <a:rPr lang="zh-CN" altLang="zh-CN" i="1" kern="100">
                                  <a:solidFill>
                                    <a:srgbClr val="FF0000"/>
                                  </a:solidFill>
                                  <a:latin typeface="Cambria Math" panose="02040503050406030204" pitchFamily="18" charset="0"/>
                                  <a:ea typeface="+mn-ea"/>
                                  <a:cs typeface="Times New Roman" panose="02020603050405020304" pitchFamily="18" charset="0"/>
                                </a:rPr>
                              </m:ctrlPr>
                            </m:sSubPr>
                            <m:e>
                              <m:r>
                                <a:rPr lang="en-US" altLang="zh-CN" i="1" kern="100">
                                  <a:solidFill>
                                    <a:srgbClr val="FF0000"/>
                                  </a:solidFill>
                                  <a:latin typeface="Cambria Math" panose="02040503050406030204" pitchFamily="18" charset="0"/>
                                  <a:ea typeface="+mn-ea"/>
                                  <a:cs typeface="Times New Roman" panose="02020603050405020304" pitchFamily="18" charset="0"/>
                                </a:rPr>
                                <m:t>𝑠</m:t>
                              </m:r>
                            </m:e>
                            <m:sub>
                              <m:r>
                                <a:rPr lang="en-US" altLang="zh-CN" i="1" kern="100">
                                  <a:solidFill>
                                    <a:srgbClr val="FF0000"/>
                                  </a:solidFill>
                                  <a:latin typeface="Cambria Math" panose="02040503050406030204" pitchFamily="18" charset="0"/>
                                  <a:ea typeface="+mn-ea"/>
                                  <a:cs typeface="Times New Roman" panose="02020603050405020304" pitchFamily="18" charset="0"/>
                                </a:rPr>
                                <m:t>1</m:t>
                              </m:r>
                            </m:sub>
                          </m:sSub>
                          <m:r>
                            <a:rPr lang="en-US" altLang="zh-CN" i="1" kern="100">
                              <a:solidFill>
                                <a:srgbClr val="FF0000"/>
                              </a:solidFill>
                              <a:latin typeface="Cambria Math" panose="02040503050406030204" pitchFamily="18" charset="0"/>
                              <a:ea typeface="+mn-ea"/>
                              <a:cs typeface="Times New Roman" panose="02020603050405020304" pitchFamily="18" charset="0"/>
                            </a:rPr>
                            <m:t>,</m:t>
                          </m:r>
                          <m:r>
                            <a:rPr lang="zh-CN" altLang="zh-CN" kern="100">
                              <a:solidFill>
                                <a:srgbClr val="FF0000"/>
                              </a:solidFill>
                              <a:latin typeface="Cambria Math" panose="02040503050406030204" pitchFamily="18" charset="0"/>
                              <a:ea typeface="+mn-ea"/>
                              <a:cs typeface="Times New Roman" panose="02020603050405020304" pitchFamily="18" charset="0"/>
                            </a:rPr>
                            <m:t>上</m:t>
                          </m:r>
                        </m:e>
                      </m:d>
                      <m:r>
                        <m:rPr>
                          <m:aln/>
                        </m:rPr>
                        <a:rPr lang="en-US" altLang="zh-CN" i="1" kern="100">
                          <a:solidFill>
                            <a:srgbClr val="000000"/>
                          </a:solidFill>
                          <a:latin typeface="Cambria Math" panose="02040503050406030204" pitchFamily="18" charset="0"/>
                          <a:ea typeface="+mn-ea"/>
                          <a:cs typeface="Times New Roman" panose="02020603050405020304" pitchFamily="18" charset="0"/>
                        </a:rPr>
                        <m:t>=</m:t>
                      </m:r>
                      <m:nary>
                        <m:naryPr>
                          <m:chr m:val="∑"/>
                          <m:supHide m:val="on"/>
                          <m:ctrlPr>
                            <a:rPr lang="zh-CN" altLang="zh-CN" i="1" kern="100">
                              <a:latin typeface="Cambria Math" panose="02040503050406030204" pitchFamily="18" charset="0"/>
                              <a:ea typeface="+mn-ea"/>
                              <a:cs typeface="Times New Roman" panose="02020603050405020304" pitchFamily="18" charset="0"/>
                            </a:rPr>
                          </m:ctrlPr>
                        </m:naryPr>
                        <m:sub>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r>
                            <a:rPr lang="en-US" altLang="zh-CN" i="1" kern="100">
                              <a:latin typeface="Cambria Math" panose="02040503050406030204" pitchFamily="18" charset="0"/>
                              <a:ea typeface="+mn-ea"/>
                              <a:cs typeface="Times New Roman" panose="02020603050405020304" pitchFamily="18" charset="0"/>
                            </a:rPr>
                            <m:t>∈</m:t>
                          </m:r>
                          <m:r>
                            <a:rPr lang="en-US" altLang="zh-CN" i="1" kern="100">
                              <a:latin typeface="Cambria Math" panose="02040503050406030204" pitchFamily="18" charset="0"/>
                              <a:ea typeface="+mn-ea"/>
                              <a:cs typeface="Times New Roman" panose="02020603050405020304" pitchFamily="18" charset="0"/>
                            </a:rPr>
                            <m:t>𝑆</m:t>
                          </m:r>
                        </m:sub>
                        <m:sup/>
                        <m:e>
                          <m:func>
                            <m:funcPr>
                              <m:ctrlPr>
                                <a:rPr lang="zh-CN" altLang="zh-CN" i="1" kern="100">
                                  <a:latin typeface="Cambria Math" panose="02040503050406030204" pitchFamily="18" charset="0"/>
                                  <a:ea typeface="+mn-ea"/>
                                  <a:cs typeface="Times New Roman" panose="02020603050405020304" pitchFamily="18" charset="0"/>
                                </a:rPr>
                              </m:ctrlPr>
                            </m:funcPr>
                            <m:fName>
                              <m:r>
                                <m:rPr>
                                  <m:sty m:val="p"/>
                                </m:rPr>
                                <a:rPr lang="en-US" altLang="zh-CN" kern="100">
                                  <a:latin typeface="Cambria Math" panose="02040503050406030204" pitchFamily="18" charset="0"/>
                                  <a:ea typeface="+mn-ea"/>
                                  <a:cs typeface="Times New Roman" panose="02020603050405020304" pitchFamily="18" charset="0"/>
                                </a:rPr>
                                <m:t>P</m:t>
                              </m:r>
                            </m:fName>
                            <m:e>
                              <m:d>
                                <m:dPr>
                                  <m:ctrlPr>
                                    <a:rPr lang="zh-CN" altLang="zh-CN" i="1" kern="100">
                                      <a:latin typeface="Cambria Math" panose="02040503050406030204" pitchFamily="18" charset="0"/>
                                      <a:ea typeface="+mn-ea"/>
                                      <a:cs typeface="Times New Roman" panose="02020603050405020304" pitchFamily="18" charset="0"/>
                                    </a:rPr>
                                  </m:ctrlPr>
                                </m:dPr>
                                <m:e>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e>
                                <m:e>
                                  <m:sSub>
                                    <m:sSubPr>
                                      <m:ctrlPr>
                                        <a:rPr lang="zh-CN" altLang="zh-CN" i="1" kern="100">
                                          <a:latin typeface="Cambria Math" panose="02040503050406030204" pitchFamily="18" charset="0"/>
                                          <a:ea typeface="+mn-ea"/>
                                          <a:cs typeface="Times New Roman" panose="02020603050405020304" pitchFamily="18" charset="0"/>
                                        </a:rPr>
                                      </m:ctrlPr>
                                    </m:sSubPr>
                                    <m:e>
                                      <m:r>
                                        <a:rPr lang="en-US" altLang="zh-CN" i="1" kern="100">
                                          <a:latin typeface="Cambria Math" panose="02040503050406030204" pitchFamily="18" charset="0"/>
                                          <a:ea typeface="+mn-ea"/>
                                          <a:cs typeface="Times New Roman" panose="02020603050405020304" pitchFamily="18" charset="0"/>
                                        </a:rPr>
                                        <m:t>𝑠</m:t>
                                      </m:r>
                                    </m:e>
                                    <m:sub>
                                      <m:r>
                                        <a:rPr lang="en-US" altLang="zh-CN" i="1" kern="100">
                                          <a:latin typeface="Cambria Math" panose="02040503050406030204" pitchFamily="18" charset="0"/>
                                          <a:ea typeface="+mn-ea"/>
                                          <a:cs typeface="Times New Roman" panose="02020603050405020304" pitchFamily="18" charset="0"/>
                                        </a:rPr>
                                        <m:t>1</m:t>
                                      </m:r>
                                    </m:sub>
                                  </m:sSub>
                                  <m:r>
                                    <a:rPr lang="en-US" altLang="zh-CN" i="1" kern="100">
                                      <a:latin typeface="Cambria Math" panose="02040503050406030204" pitchFamily="18" charset="0"/>
                                      <a:ea typeface="+mn-ea"/>
                                      <a:cs typeface="Times New Roman" panose="02020603050405020304" pitchFamily="18" charset="0"/>
                                    </a:rPr>
                                    <m:t>,</m:t>
                                  </m:r>
                                  <m:r>
                                    <a:rPr lang="zh-CN" altLang="zh-CN" kern="100">
                                      <a:latin typeface="Cambria Math" panose="02040503050406030204" pitchFamily="18" charset="0"/>
                                      <a:ea typeface="+mn-ea"/>
                                      <a:cs typeface="Times New Roman" panose="02020603050405020304" pitchFamily="18" charset="0"/>
                                    </a:rPr>
                                    <m:t>上</m:t>
                                  </m:r>
                                </m:e>
                              </m:d>
                            </m:e>
                          </m:func>
                        </m:e>
                      </m:nary>
                      <m:d>
                        <m:dPr>
                          <m:begChr m:val="["/>
                          <m:endChr m:val="]"/>
                          <m:ctrlPr>
                            <a:rPr lang="zh-CN" altLang="zh-CN" i="1" kern="100">
                              <a:latin typeface="Cambria Math" panose="02040503050406030204" pitchFamily="18" charset="0"/>
                              <a:ea typeface="+mn-ea"/>
                              <a:cs typeface="Times New Roman" panose="02020603050405020304" pitchFamily="18" charset="0"/>
                            </a:rPr>
                          </m:ctrlPr>
                        </m:dPr>
                        <m:e>
                          <m:r>
                            <a:rPr lang="en-US" altLang="zh-CN" i="1" kern="100">
                              <a:latin typeface="Cambria Math" panose="02040503050406030204" pitchFamily="18" charset="0"/>
                              <a:ea typeface="+mn-ea"/>
                              <a:cs typeface="Times New Roman" panose="02020603050405020304" pitchFamily="18" charset="0"/>
                            </a:rPr>
                            <m:t>𝑅</m:t>
                          </m:r>
                          <m:d>
                            <m:dPr>
                              <m:ctrlPr>
                                <a:rPr lang="zh-CN" altLang="zh-CN" i="1" kern="100">
                                  <a:latin typeface="Cambria Math" panose="02040503050406030204" pitchFamily="18" charset="0"/>
                                  <a:ea typeface="+mn-ea"/>
                                  <a:cs typeface="Times New Roman" panose="02020603050405020304" pitchFamily="18" charset="0"/>
                                </a:rPr>
                              </m:ctrlPr>
                            </m:dPr>
                            <m:e>
                              <m:sSub>
                                <m:sSubPr>
                                  <m:ctrlPr>
                                    <a:rPr lang="zh-CN" altLang="zh-CN" i="1" kern="100">
                                      <a:latin typeface="Cambria Math" panose="02040503050406030204" pitchFamily="18" charset="0"/>
                                      <a:ea typeface="+mn-ea"/>
                                      <a:cs typeface="Times New Roman" panose="02020603050405020304" pitchFamily="18" charset="0"/>
                                    </a:rPr>
                                  </m:ctrlPr>
                                </m:sSubPr>
                                <m:e>
                                  <m:r>
                                    <a:rPr lang="en-US" altLang="zh-CN" i="1" kern="100">
                                      <a:latin typeface="Cambria Math" panose="02040503050406030204" pitchFamily="18" charset="0"/>
                                      <a:ea typeface="+mn-ea"/>
                                      <a:cs typeface="Times New Roman" panose="02020603050405020304" pitchFamily="18" charset="0"/>
                                    </a:rPr>
                                    <m:t>𝑠</m:t>
                                  </m:r>
                                </m:e>
                                <m:sub>
                                  <m:r>
                                    <a:rPr lang="en-US" altLang="zh-CN" i="1" kern="100">
                                      <a:latin typeface="Cambria Math" panose="02040503050406030204" pitchFamily="18" charset="0"/>
                                      <a:ea typeface="+mn-ea"/>
                                      <a:cs typeface="Times New Roman" panose="02020603050405020304" pitchFamily="18" charset="0"/>
                                    </a:rPr>
                                    <m:t>1</m:t>
                                  </m:r>
                                </m:sub>
                              </m:sSub>
                              <m:r>
                                <a:rPr lang="en-US" altLang="zh-CN" i="1" kern="100">
                                  <a:latin typeface="Cambria Math" panose="02040503050406030204" pitchFamily="18" charset="0"/>
                                  <a:ea typeface="+mn-ea"/>
                                  <a:cs typeface="Times New Roman" panose="02020603050405020304" pitchFamily="18" charset="0"/>
                                </a:rPr>
                                <m:t>,</m:t>
                              </m:r>
                              <m:r>
                                <a:rPr lang="zh-CN" altLang="zh-CN" kern="100">
                                  <a:latin typeface="Cambria Math" panose="02040503050406030204" pitchFamily="18" charset="0"/>
                                  <a:ea typeface="+mn-ea"/>
                                  <a:cs typeface="Times New Roman" panose="02020603050405020304" pitchFamily="18" charset="0"/>
                                </a:rPr>
                                <m:t>上</m:t>
                              </m:r>
                              <m:r>
                                <a:rPr lang="en-US" altLang="zh-CN" i="1" kern="100">
                                  <a:latin typeface="Cambria Math" panose="02040503050406030204" pitchFamily="18" charset="0"/>
                                  <a:ea typeface="+mn-ea"/>
                                  <a:cs typeface="Times New Roman" panose="02020603050405020304" pitchFamily="18" charset="0"/>
                                </a:rPr>
                                <m:t>,</m:t>
                              </m:r>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e>
                          </m:d>
                          <m:r>
                            <a:rPr lang="en-US" altLang="zh-CN" i="1" kern="100">
                              <a:latin typeface="Cambria Math" panose="02040503050406030204" pitchFamily="18" charset="0"/>
                              <a:ea typeface="+mn-ea"/>
                              <a:cs typeface="Times New Roman" panose="02020603050405020304" pitchFamily="18" charset="0"/>
                            </a:rPr>
                            <m:t>+</m:t>
                          </m:r>
                          <m:r>
                            <a:rPr lang="en-US" altLang="zh-CN" i="1" kern="100">
                              <a:latin typeface="Cambria Math" panose="02040503050406030204" pitchFamily="18" charset="0"/>
                              <a:ea typeface="+mn-ea"/>
                              <a:cs typeface="Times New Roman" panose="02020603050405020304" pitchFamily="18" charset="0"/>
                            </a:rPr>
                            <m:t>𝛾</m:t>
                          </m:r>
                          <m:sSub>
                            <m:sSubPr>
                              <m:ctrlPr>
                                <a:rPr lang="zh-CN" altLang="zh-CN" i="1" kern="100" smtClean="0">
                                  <a:solidFill>
                                    <a:srgbClr val="FF0000"/>
                                  </a:solidFill>
                                  <a:latin typeface="Cambria Math" panose="02040503050406030204" pitchFamily="18" charset="0"/>
                                  <a:ea typeface="+mn-ea"/>
                                  <a:cs typeface="Times New Roman" panose="02020603050405020304" pitchFamily="18" charset="0"/>
                                </a:rPr>
                              </m:ctrlPr>
                            </m:sSubPr>
                            <m:e>
                              <m:r>
                                <a:rPr lang="en-US" altLang="zh-CN" i="1" kern="100">
                                  <a:solidFill>
                                    <a:srgbClr val="FF0000"/>
                                  </a:solidFill>
                                  <a:latin typeface="Cambria Math" panose="02040503050406030204" pitchFamily="18" charset="0"/>
                                  <a:ea typeface="+mn-ea"/>
                                  <a:cs typeface="Times New Roman" panose="02020603050405020304" pitchFamily="18" charset="0"/>
                                </a:rPr>
                                <m:t>𝑉</m:t>
                              </m:r>
                            </m:e>
                            <m:sub>
                              <m:r>
                                <a:rPr lang="en-US" altLang="zh-CN" i="1" kern="100">
                                  <a:solidFill>
                                    <a:srgbClr val="FF0000"/>
                                  </a:solidFill>
                                  <a:latin typeface="Cambria Math" panose="02040503050406030204" pitchFamily="18" charset="0"/>
                                  <a:ea typeface="+mn-ea"/>
                                  <a:cs typeface="Times New Roman" panose="02020603050405020304" pitchFamily="18" charset="0"/>
                                </a:rPr>
                                <m:t>𝜋</m:t>
                              </m:r>
                            </m:sub>
                          </m:sSub>
                          <m:d>
                            <m:dPr>
                              <m:ctrlPr>
                                <a:rPr lang="zh-CN" altLang="zh-CN" i="1" kern="100">
                                  <a:solidFill>
                                    <a:srgbClr val="FF0000"/>
                                  </a:solidFill>
                                  <a:latin typeface="Cambria Math" panose="02040503050406030204" pitchFamily="18" charset="0"/>
                                  <a:ea typeface="+mn-ea"/>
                                  <a:cs typeface="Times New Roman" panose="02020603050405020304" pitchFamily="18" charset="0"/>
                                </a:rPr>
                              </m:ctrlPr>
                            </m:dPr>
                            <m:e>
                              <m:sSup>
                                <m:sSupPr>
                                  <m:ctrlPr>
                                    <a:rPr lang="zh-CN" altLang="zh-CN" i="1" kern="100">
                                      <a:solidFill>
                                        <a:srgbClr val="FF0000"/>
                                      </a:solidFill>
                                      <a:latin typeface="Cambria Math" panose="02040503050406030204" pitchFamily="18" charset="0"/>
                                      <a:ea typeface="+mn-ea"/>
                                      <a:cs typeface="Times New Roman" panose="02020603050405020304" pitchFamily="18" charset="0"/>
                                    </a:rPr>
                                  </m:ctrlPr>
                                </m:sSupPr>
                                <m:e>
                                  <m:r>
                                    <a:rPr lang="en-US" altLang="zh-CN" i="1" kern="100">
                                      <a:solidFill>
                                        <a:srgbClr val="FF0000"/>
                                      </a:solidFill>
                                      <a:latin typeface="Cambria Math" panose="02040503050406030204" pitchFamily="18" charset="0"/>
                                      <a:ea typeface="+mn-ea"/>
                                      <a:cs typeface="Times New Roman" panose="02020603050405020304" pitchFamily="18" charset="0"/>
                                    </a:rPr>
                                    <m:t>𝑠</m:t>
                                  </m:r>
                                </m:e>
                                <m:sup>
                                  <m:r>
                                    <a:rPr lang="en-US" altLang="zh-CN" i="1" kern="100">
                                      <a:solidFill>
                                        <a:srgbClr val="FF0000"/>
                                      </a:solidFill>
                                      <a:latin typeface="Cambria Math" panose="02040503050406030204" pitchFamily="18" charset="0"/>
                                      <a:ea typeface="+mn-ea"/>
                                      <a:cs typeface="Times New Roman" panose="02020603050405020304" pitchFamily="18" charset="0"/>
                                    </a:rPr>
                                    <m:t>′</m:t>
                                  </m:r>
                                </m:sup>
                              </m:sSup>
                            </m:e>
                          </m:d>
                        </m:e>
                      </m:d>
                    </m:oMath>
                    <m:oMath xmlns:m="http://schemas.openxmlformats.org/officeDocument/2006/math">
                      <m:r>
                        <m:rPr>
                          <m:aln/>
                        </m:rPr>
                        <a:rPr lang="en-US" altLang="zh-CN" i="1" kern="100">
                          <a:solidFill>
                            <a:srgbClr val="000000"/>
                          </a:solidFill>
                          <a:latin typeface="Cambria Math" panose="02040503050406030204" pitchFamily="18" charset="0"/>
                          <a:ea typeface="+mn-ea"/>
                          <a:cs typeface="Times New Roman" panose="02020603050405020304" pitchFamily="18" charset="0"/>
                        </a:rPr>
                        <m:t>=</m:t>
                      </m:r>
                      <m:r>
                        <a:rPr lang="en-US" altLang="zh-CN" i="1" kern="100">
                          <a:solidFill>
                            <a:srgbClr val="000000"/>
                          </a:solidFill>
                          <a:latin typeface="Cambria Math" panose="02040503050406030204" pitchFamily="18" charset="0"/>
                          <a:ea typeface="+mn-ea"/>
                          <a:cs typeface="Times New Roman" panose="02020603050405020304" pitchFamily="18" charset="0"/>
                        </a:rPr>
                        <m:t>1×</m:t>
                      </m:r>
                      <m:d>
                        <m:dPr>
                          <m:ctrlPr>
                            <a:rPr lang="zh-CN" altLang="zh-CN" i="1" kern="100">
                              <a:solidFill>
                                <a:srgbClr val="000000"/>
                              </a:solidFill>
                              <a:latin typeface="Cambria Math" panose="02040503050406030204" pitchFamily="18" charset="0"/>
                              <a:ea typeface="+mn-ea"/>
                              <a:cs typeface="Times New Roman" panose="02020603050405020304" pitchFamily="18" charset="0"/>
                            </a:rPr>
                          </m:ctrlPr>
                        </m:dPr>
                        <m:e>
                          <m:r>
                            <a:rPr lang="en-US" altLang="zh-CN" i="1" kern="100">
                              <a:solidFill>
                                <a:srgbClr val="000000"/>
                              </a:solidFill>
                              <a:latin typeface="Cambria Math" panose="02040503050406030204" pitchFamily="18" charset="0"/>
                              <a:ea typeface="+mn-ea"/>
                              <a:cs typeface="Times New Roman" panose="02020603050405020304" pitchFamily="18" charset="0"/>
                            </a:rPr>
                            <m:t>0+0.99×0.3</m:t>
                          </m:r>
                        </m:e>
                      </m:d>
                      <m:r>
                        <a:rPr lang="en-US" altLang="zh-CN" i="1" kern="100">
                          <a:solidFill>
                            <a:srgbClr val="000000"/>
                          </a:solidFill>
                          <a:latin typeface="Cambria Math" panose="02040503050406030204" pitchFamily="18" charset="0"/>
                          <a:ea typeface="+mn-ea"/>
                          <a:cs typeface="Times New Roman" panose="02020603050405020304" pitchFamily="18" charset="0"/>
                        </a:rPr>
                        <m:t>+0×⋯=0.297</m:t>
                      </m:r>
                    </m:oMath>
                  </m:oMathPara>
                </a14:m>
                <a:endParaRPr lang="zh-CN" altLang="zh-CN" kern="100" dirty="0">
                  <a:latin typeface="+mn-ea"/>
                  <a:ea typeface="+mn-ea"/>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solidFill>
                                <a:srgbClr val="000000"/>
                              </a:solidFill>
                              <a:latin typeface="Cambria Math" panose="02040503050406030204" pitchFamily="18" charset="0"/>
                              <a:ea typeface="+mn-ea"/>
                              <a:cs typeface="Times New Roman" panose="02020603050405020304" pitchFamily="18" charset="0"/>
                            </a:rPr>
                          </m:ctrlPr>
                        </m:sSubPr>
                        <m:e>
                          <m:r>
                            <a:rPr lang="en-US" altLang="zh-CN" i="1" kern="100">
                              <a:solidFill>
                                <a:srgbClr val="000000"/>
                              </a:solidFill>
                              <a:latin typeface="Cambria Math" panose="02040503050406030204" pitchFamily="18" charset="0"/>
                              <a:ea typeface="+mn-ea"/>
                              <a:cs typeface="Times New Roman" panose="02020603050405020304" pitchFamily="18" charset="0"/>
                            </a:rPr>
                            <m:t>𝑞</m:t>
                          </m:r>
                        </m:e>
                        <m:sub>
                          <m:r>
                            <a:rPr lang="en-US" altLang="zh-CN" i="1" kern="100">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kern="100">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kern="100">
                                  <a:solidFill>
                                    <a:srgbClr val="000000"/>
                                  </a:solidFill>
                                  <a:latin typeface="Cambria Math" panose="02040503050406030204" pitchFamily="18" charset="0"/>
                                  <a:ea typeface="+mn-ea"/>
                                  <a:cs typeface="Times New Roman" panose="02020603050405020304" pitchFamily="18" charset="0"/>
                                </a:rPr>
                              </m:ctrlPr>
                            </m:sSubPr>
                            <m:e>
                              <m:r>
                                <a:rPr lang="en-US" altLang="zh-CN" i="1" kern="100">
                                  <a:solidFill>
                                    <a:srgbClr val="000000"/>
                                  </a:solidFill>
                                  <a:latin typeface="Cambria Math" panose="02040503050406030204" pitchFamily="18" charset="0"/>
                                  <a:ea typeface="+mn-ea"/>
                                  <a:cs typeface="Times New Roman" panose="02020603050405020304" pitchFamily="18" charset="0"/>
                                </a:rPr>
                                <m:t>𝑠</m:t>
                              </m:r>
                            </m:e>
                            <m:sub>
                              <m:r>
                                <a:rPr lang="en-US" altLang="zh-CN" i="1" kern="100">
                                  <a:solidFill>
                                    <a:srgbClr val="000000"/>
                                  </a:solidFill>
                                  <a:latin typeface="Cambria Math" panose="02040503050406030204" pitchFamily="18" charset="0"/>
                                  <a:ea typeface="+mn-ea"/>
                                  <a:cs typeface="Times New Roman" panose="02020603050405020304" pitchFamily="18" charset="0"/>
                                </a:rPr>
                                <m:t>1</m:t>
                              </m:r>
                            </m:sub>
                          </m:sSub>
                          <m:r>
                            <a:rPr lang="en-US" altLang="zh-CN" i="1" kern="100">
                              <a:solidFill>
                                <a:srgbClr val="000000"/>
                              </a:solidFill>
                              <a:latin typeface="Cambria Math" panose="02040503050406030204" pitchFamily="18" charset="0"/>
                              <a:ea typeface="+mn-ea"/>
                              <a:cs typeface="Times New Roman" panose="02020603050405020304" pitchFamily="18" charset="0"/>
                            </a:rPr>
                            <m:t>,</m:t>
                          </m:r>
                          <m:r>
                            <a:rPr lang="zh-CN" altLang="zh-CN" kern="100">
                              <a:solidFill>
                                <a:srgbClr val="000000"/>
                              </a:solidFill>
                              <a:latin typeface="Cambria Math" panose="02040503050406030204" pitchFamily="18" charset="0"/>
                              <a:ea typeface="+mn-ea"/>
                              <a:cs typeface="Times New Roman" panose="02020603050405020304" pitchFamily="18" charset="0"/>
                            </a:rPr>
                            <m:t>右</m:t>
                          </m:r>
                        </m:e>
                      </m:d>
                      <m:r>
                        <m:rPr>
                          <m:aln/>
                        </m:rPr>
                        <a:rPr lang="en-US" altLang="zh-CN" i="1" kern="100">
                          <a:solidFill>
                            <a:srgbClr val="000000"/>
                          </a:solidFill>
                          <a:latin typeface="Cambria Math" panose="02040503050406030204" pitchFamily="18" charset="0"/>
                          <a:ea typeface="+mn-ea"/>
                          <a:cs typeface="Times New Roman" panose="02020603050405020304" pitchFamily="18" charset="0"/>
                        </a:rPr>
                        <m:t>=</m:t>
                      </m:r>
                      <m:nary>
                        <m:naryPr>
                          <m:chr m:val="∑"/>
                          <m:supHide m:val="on"/>
                          <m:ctrlPr>
                            <a:rPr lang="zh-CN" altLang="zh-CN" i="1" kern="100">
                              <a:latin typeface="Cambria Math" panose="02040503050406030204" pitchFamily="18" charset="0"/>
                              <a:ea typeface="+mn-ea"/>
                              <a:cs typeface="Times New Roman" panose="02020603050405020304" pitchFamily="18" charset="0"/>
                            </a:rPr>
                          </m:ctrlPr>
                        </m:naryPr>
                        <m:sub>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r>
                            <a:rPr lang="en-US" altLang="zh-CN" i="1" kern="100">
                              <a:latin typeface="Cambria Math" panose="02040503050406030204" pitchFamily="18" charset="0"/>
                              <a:ea typeface="+mn-ea"/>
                              <a:cs typeface="Times New Roman" panose="02020603050405020304" pitchFamily="18" charset="0"/>
                            </a:rPr>
                            <m:t>∈</m:t>
                          </m:r>
                          <m:r>
                            <a:rPr lang="en-US" altLang="zh-CN" i="1" kern="100">
                              <a:latin typeface="Cambria Math" panose="02040503050406030204" pitchFamily="18" charset="0"/>
                              <a:ea typeface="+mn-ea"/>
                              <a:cs typeface="Times New Roman" panose="02020603050405020304" pitchFamily="18" charset="0"/>
                            </a:rPr>
                            <m:t>𝑆</m:t>
                          </m:r>
                        </m:sub>
                        <m:sup/>
                        <m:e>
                          <m:func>
                            <m:funcPr>
                              <m:ctrlPr>
                                <a:rPr lang="zh-CN" altLang="zh-CN" i="1" kern="100">
                                  <a:latin typeface="Cambria Math" panose="02040503050406030204" pitchFamily="18" charset="0"/>
                                  <a:ea typeface="+mn-ea"/>
                                  <a:cs typeface="Times New Roman" panose="02020603050405020304" pitchFamily="18" charset="0"/>
                                </a:rPr>
                              </m:ctrlPr>
                            </m:funcPr>
                            <m:fName>
                              <m:r>
                                <m:rPr>
                                  <m:sty m:val="p"/>
                                </m:rPr>
                                <a:rPr lang="en-US" altLang="zh-CN" kern="100">
                                  <a:latin typeface="Cambria Math" panose="02040503050406030204" pitchFamily="18" charset="0"/>
                                  <a:ea typeface="+mn-ea"/>
                                  <a:cs typeface="Times New Roman" panose="02020603050405020304" pitchFamily="18" charset="0"/>
                                </a:rPr>
                                <m:t>P</m:t>
                              </m:r>
                            </m:fName>
                            <m:e>
                              <m:d>
                                <m:dPr>
                                  <m:ctrlPr>
                                    <a:rPr lang="zh-CN" altLang="zh-CN" i="1" kern="100">
                                      <a:latin typeface="Cambria Math" panose="02040503050406030204" pitchFamily="18" charset="0"/>
                                      <a:ea typeface="+mn-ea"/>
                                      <a:cs typeface="Times New Roman" panose="02020603050405020304" pitchFamily="18" charset="0"/>
                                    </a:rPr>
                                  </m:ctrlPr>
                                </m:dPr>
                                <m:e>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e>
                                <m:e>
                                  <m:sSub>
                                    <m:sSubPr>
                                      <m:ctrlPr>
                                        <a:rPr lang="zh-CN" altLang="zh-CN" i="1" kern="100">
                                          <a:latin typeface="Cambria Math" panose="02040503050406030204" pitchFamily="18" charset="0"/>
                                          <a:ea typeface="+mn-ea"/>
                                          <a:cs typeface="Times New Roman" panose="02020603050405020304" pitchFamily="18" charset="0"/>
                                        </a:rPr>
                                      </m:ctrlPr>
                                    </m:sSubPr>
                                    <m:e>
                                      <m:r>
                                        <a:rPr lang="en-US" altLang="zh-CN" i="1" kern="100">
                                          <a:latin typeface="Cambria Math" panose="02040503050406030204" pitchFamily="18" charset="0"/>
                                          <a:ea typeface="+mn-ea"/>
                                          <a:cs typeface="Times New Roman" panose="02020603050405020304" pitchFamily="18" charset="0"/>
                                        </a:rPr>
                                        <m:t>𝑠</m:t>
                                      </m:r>
                                    </m:e>
                                    <m:sub>
                                      <m:r>
                                        <a:rPr lang="en-US" altLang="zh-CN" i="1" kern="100">
                                          <a:latin typeface="Cambria Math" panose="02040503050406030204" pitchFamily="18" charset="0"/>
                                          <a:ea typeface="+mn-ea"/>
                                          <a:cs typeface="Times New Roman" panose="02020603050405020304" pitchFamily="18" charset="0"/>
                                        </a:rPr>
                                        <m:t>1</m:t>
                                      </m:r>
                                    </m:sub>
                                  </m:sSub>
                                  <m:r>
                                    <a:rPr lang="en-US" altLang="zh-CN" i="1" kern="100">
                                      <a:latin typeface="Cambria Math" panose="02040503050406030204" pitchFamily="18" charset="0"/>
                                      <a:ea typeface="+mn-ea"/>
                                      <a:cs typeface="Times New Roman" panose="02020603050405020304" pitchFamily="18" charset="0"/>
                                    </a:rPr>
                                    <m:t>,</m:t>
                                  </m:r>
                                  <m:r>
                                    <a:rPr lang="zh-CN" altLang="zh-CN" kern="100">
                                      <a:solidFill>
                                        <a:srgbClr val="000000"/>
                                      </a:solidFill>
                                      <a:latin typeface="Cambria Math" panose="02040503050406030204" pitchFamily="18" charset="0"/>
                                      <a:ea typeface="+mn-ea"/>
                                      <a:cs typeface="Times New Roman" panose="02020603050405020304" pitchFamily="18" charset="0"/>
                                    </a:rPr>
                                    <m:t>右</m:t>
                                  </m:r>
                                </m:e>
                              </m:d>
                            </m:e>
                          </m:func>
                        </m:e>
                      </m:nary>
                      <m:d>
                        <m:dPr>
                          <m:begChr m:val="["/>
                          <m:endChr m:val="]"/>
                          <m:ctrlPr>
                            <a:rPr lang="zh-CN" altLang="zh-CN" i="1" kern="100">
                              <a:latin typeface="Cambria Math" panose="02040503050406030204" pitchFamily="18" charset="0"/>
                              <a:ea typeface="+mn-ea"/>
                              <a:cs typeface="Times New Roman" panose="02020603050405020304" pitchFamily="18" charset="0"/>
                            </a:rPr>
                          </m:ctrlPr>
                        </m:dPr>
                        <m:e>
                          <m:r>
                            <a:rPr lang="en-US" altLang="zh-CN" i="1" kern="100">
                              <a:latin typeface="Cambria Math" panose="02040503050406030204" pitchFamily="18" charset="0"/>
                              <a:ea typeface="+mn-ea"/>
                              <a:cs typeface="Times New Roman" panose="02020603050405020304" pitchFamily="18" charset="0"/>
                            </a:rPr>
                            <m:t>𝑅</m:t>
                          </m:r>
                          <m:d>
                            <m:dPr>
                              <m:ctrlPr>
                                <a:rPr lang="zh-CN" altLang="zh-CN" i="1" kern="100">
                                  <a:latin typeface="Cambria Math" panose="02040503050406030204" pitchFamily="18" charset="0"/>
                                  <a:ea typeface="+mn-ea"/>
                                  <a:cs typeface="Times New Roman" panose="02020603050405020304" pitchFamily="18" charset="0"/>
                                </a:rPr>
                              </m:ctrlPr>
                            </m:dPr>
                            <m:e>
                              <m:sSub>
                                <m:sSubPr>
                                  <m:ctrlPr>
                                    <a:rPr lang="zh-CN" altLang="zh-CN" i="1" kern="100">
                                      <a:latin typeface="Cambria Math" panose="02040503050406030204" pitchFamily="18" charset="0"/>
                                      <a:ea typeface="+mn-ea"/>
                                      <a:cs typeface="Times New Roman" panose="02020603050405020304" pitchFamily="18" charset="0"/>
                                    </a:rPr>
                                  </m:ctrlPr>
                                </m:sSubPr>
                                <m:e>
                                  <m:r>
                                    <a:rPr lang="en-US" altLang="zh-CN" i="1" kern="100">
                                      <a:latin typeface="Cambria Math" panose="02040503050406030204" pitchFamily="18" charset="0"/>
                                      <a:ea typeface="+mn-ea"/>
                                      <a:cs typeface="Times New Roman" panose="02020603050405020304" pitchFamily="18" charset="0"/>
                                    </a:rPr>
                                    <m:t>𝑠</m:t>
                                  </m:r>
                                </m:e>
                                <m:sub>
                                  <m:r>
                                    <a:rPr lang="en-US" altLang="zh-CN" i="1" kern="100">
                                      <a:latin typeface="Cambria Math" panose="02040503050406030204" pitchFamily="18" charset="0"/>
                                      <a:ea typeface="+mn-ea"/>
                                      <a:cs typeface="Times New Roman" panose="02020603050405020304" pitchFamily="18" charset="0"/>
                                    </a:rPr>
                                    <m:t>1</m:t>
                                  </m:r>
                                </m:sub>
                              </m:sSub>
                              <m:r>
                                <a:rPr lang="en-US" altLang="zh-CN" i="1" kern="100">
                                  <a:latin typeface="Cambria Math" panose="02040503050406030204" pitchFamily="18" charset="0"/>
                                  <a:ea typeface="+mn-ea"/>
                                  <a:cs typeface="Times New Roman" panose="02020603050405020304" pitchFamily="18" charset="0"/>
                                </a:rPr>
                                <m:t>,</m:t>
                              </m:r>
                              <m:r>
                                <a:rPr lang="zh-CN" altLang="zh-CN" kern="100">
                                  <a:solidFill>
                                    <a:srgbClr val="000000"/>
                                  </a:solidFill>
                                  <a:latin typeface="Cambria Math" panose="02040503050406030204" pitchFamily="18" charset="0"/>
                                  <a:ea typeface="+mn-ea"/>
                                  <a:cs typeface="Times New Roman" panose="02020603050405020304" pitchFamily="18" charset="0"/>
                                </a:rPr>
                                <m:t>右</m:t>
                              </m:r>
                              <m:r>
                                <a:rPr lang="en-US" altLang="zh-CN" i="1" kern="100">
                                  <a:latin typeface="Cambria Math" panose="02040503050406030204" pitchFamily="18" charset="0"/>
                                  <a:ea typeface="+mn-ea"/>
                                  <a:cs typeface="Times New Roman" panose="02020603050405020304" pitchFamily="18" charset="0"/>
                                </a:rPr>
                                <m:t>,</m:t>
                              </m:r>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e>
                          </m:d>
                          <m:r>
                            <a:rPr lang="en-US" altLang="zh-CN" i="1" kern="100">
                              <a:latin typeface="Cambria Math" panose="02040503050406030204" pitchFamily="18" charset="0"/>
                              <a:ea typeface="+mn-ea"/>
                              <a:cs typeface="Times New Roman" panose="02020603050405020304" pitchFamily="18" charset="0"/>
                            </a:rPr>
                            <m:t>+</m:t>
                          </m:r>
                          <m:r>
                            <a:rPr lang="en-US" altLang="zh-CN" i="1" kern="100">
                              <a:latin typeface="Cambria Math" panose="02040503050406030204" pitchFamily="18" charset="0"/>
                              <a:ea typeface="+mn-ea"/>
                              <a:cs typeface="Times New Roman" panose="02020603050405020304" pitchFamily="18" charset="0"/>
                            </a:rPr>
                            <m:t>𝛾</m:t>
                          </m:r>
                          <m:sSub>
                            <m:sSubPr>
                              <m:ctrlPr>
                                <a:rPr lang="zh-CN" altLang="zh-CN" i="1" kern="100">
                                  <a:latin typeface="Cambria Math" panose="02040503050406030204" pitchFamily="18" charset="0"/>
                                  <a:ea typeface="+mn-ea"/>
                                  <a:cs typeface="Times New Roman" panose="02020603050405020304" pitchFamily="18" charset="0"/>
                                </a:rPr>
                              </m:ctrlPr>
                            </m:sSubPr>
                            <m:e>
                              <m:r>
                                <a:rPr lang="en-US" altLang="zh-CN" i="1" kern="100">
                                  <a:latin typeface="Cambria Math" panose="02040503050406030204" pitchFamily="18" charset="0"/>
                                  <a:ea typeface="+mn-ea"/>
                                  <a:cs typeface="Times New Roman" panose="02020603050405020304" pitchFamily="18" charset="0"/>
                                </a:rPr>
                                <m:t>𝑉</m:t>
                              </m:r>
                            </m:e>
                            <m:sub>
                              <m:r>
                                <a:rPr lang="en-US" altLang="zh-CN" i="1" kern="100">
                                  <a:latin typeface="Cambria Math" panose="02040503050406030204" pitchFamily="18" charset="0"/>
                                  <a:ea typeface="+mn-ea"/>
                                  <a:cs typeface="Times New Roman" panose="02020603050405020304" pitchFamily="18" charset="0"/>
                                </a:rPr>
                                <m:t>𝜋</m:t>
                              </m:r>
                            </m:sub>
                          </m:sSub>
                          <m:d>
                            <m:dPr>
                              <m:ctrlPr>
                                <a:rPr lang="zh-CN" altLang="zh-CN" i="1" kern="100">
                                  <a:latin typeface="Cambria Math" panose="02040503050406030204" pitchFamily="18" charset="0"/>
                                  <a:ea typeface="+mn-ea"/>
                                  <a:cs typeface="Times New Roman" panose="02020603050405020304" pitchFamily="18" charset="0"/>
                                </a:rPr>
                              </m:ctrlPr>
                            </m:dPr>
                            <m:e>
                              <m:sSup>
                                <m:sSupPr>
                                  <m:ctrlPr>
                                    <a:rPr lang="zh-CN" altLang="zh-CN" i="1" kern="100">
                                      <a:latin typeface="Cambria Math" panose="02040503050406030204" pitchFamily="18" charset="0"/>
                                      <a:ea typeface="+mn-ea"/>
                                      <a:cs typeface="Times New Roman" panose="02020603050405020304" pitchFamily="18" charset="0"/>
                                    </a:rPr>
                                  </m:ctrlPr>
                                </m:sSupPr>
                                <m:e>
                                  <m:r>
                                    <a:rPr lang="en-US" altLang="zh-CN" i="1" kern="100">
                                      <a:latin typeface="Cambria Math" panose="02040503050406030204" pitchFamily="18" charset="0"/>
                                      <a:ea typeface="+mn-ea"/>
                                      <a:cs typeface="Times New Roman" panose="02020603050405020304" pitchFamily="18" charset="0"/>
                                    </a:rPr>
                                    <m:t>𝑠</m:t>
                                  </m:r>
                                </m:e>
                                <m:sup>
                                  <m:r>
                                    <a:rPr lang="en-US" altLang="zh-CN" i="1" kern="100">
                                      <a:latin typeface="Cambria Math" panose="02040503050406030204" pitchFamily="18" charset="0"/>
                                      <a:ea typeface="+mn-ea"/>
                                      <a:cs typeface="Times New Roman" panose="02020603050405020304" pitchFamily="18" charset="0"/>
                                    </a:rPr>
                                    <m:t>′</m:t>
                                  </m:r>
                                </m:sup>
                              </m:sSup>
                            </m:e>
                          </m:d>
                        </m:e>
                      </m:d>
                    </m:oMath>
                    <m:oMath xmlns:m="http://schemas.openxmlformats.org/officeDocument/2006/math">
                      <m:r>
                        <m:rPr>
                          <m:aln/>
                        </m:rPr>
                        <a:rPr lang="en-US" altLang="zh-CN" i="1" kern="100">
                          <a:solidFill>
                            <a:srgbClr val="000000"/>
                          </a:solidFill>
                          <a:latin typeface="Cambria Math" panose="02040503050406030204" pitchFamily="18" charset="0"/>
                          <a:ea typeface="+mn-ea"/>
                          <a:cs typeface="Times New Roman" panose="02020603050405020304" pitchFamily="18" charset="0"/>
                        </a:rPr>
                        <m:t>=</m:t>
                      </m:r>
                      <m:r>
                        <a:rPr lang="en-US" altLang="zh-CN" i="1" kern="100">
                          <a:solidFill>
                            <a:srgbClr val="000000"/>
                          </a:solidFill>
                          <a:latin typeface="Cambria Math" panose="02040503050406030204" pitchFamily="18" charset="0"/>
                          <a:ea typeface="+mn-ea"/>
                          <a:cs typeface="Times New Roman" panose="02020603050405020304" pitchFamily="18" charset="0"/>
                        </a:rPr>
                        <m:t>1×</m:t>
                      </m:r>
                      <m:d>
                        <m:dPr>
                          <m:ctrlPr>
                            <a:rPr lang="zh-CN" altLang="zh-CN" i="1" kern="100">
                              <a:solidFill>
                                <a:srgbClr val="000000"/>
                              </a:solidFill>
                              <a:latin typeface="Cambria Math" panose="02040503050406030204" pitchFamily="18" charset="0"/>
                              <a:ea typeface="+mn-ea"/>
                              <a:cs typeface="Times New Roman" panose="02020603050405020304" pitchFamily="18" charset="0"/>
                            </a:rPr>
                          </m:ctrlPr>
                        </m:dPr>
                        <m:e>
                          <m:r>
                            <a:rPr lang="en-US" altLang="zh-CN" i="1" kern="100">
                              <a:solidFill>
                                <a:srgbClr val="000000"/>
                              </a:solidFill>
                              <a:latin typeface="Cambria Math" panose="02040503050406030204" pitchFamily="18" charset="0"/>
                              <a:ea typeface="+mn-ea"/>
                              <a:cs typeface="Times New Roman" panose="02020603050405020304" pitchFamily="18" charset="0"/>
                            </a:rPr>
                            <m:t>0+0.99×0.4</m:t>
                          </m:r>
                        </m:e>
                      </m:d>
                      <m:r>
                        <a:rPr lang="en-US" altLang="zh-CN" i="1" kern="100">
                          <a:solidFill>
                            <a:srgbClr val="000000"/>
                          </a:solidFill>
                          <a:latin typeface="Cambria Math" panose="02040503050406030204" pitchFamily="18" charset="0"/>
                          <a:ea typeface="+mn-ea"/>
                          <a:cs typeface="Times New Roman" panose="02020603050405020304" pitchFamily="18" charset="0"/>
                        </a:rPr>
                        <m:t>+0×⋯=0.396</m:t>
                      </m:r>
                    </m:oMath>
                  </m:oMathPara>
                </a14:m>
                <a:endParaRPr lang="zh-CN" altLang="zh-CN" kern="100" dirty="0">
                  <a:latin typeface="+mn-ea"/>
                  <a:ea typeface="+mn-ea"/>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64866369-3D50-484B-AB05-54915F5FEBD9}"/>
                  </a:ext>
                </a:extLst>
              </p:cNvPr>
              <p:cNvSpPr>
                <a:spLocks noRot="1" noChangeAspect="1" noMove="1" noResize="1" noEditPoints="1" noAdjustHandles="1" noChangeArrowheads="1" noChangeShapeType="1" noTextEdit="1"/>
              </p:cNvSpPr>
              <p:nvPr/>
            </p:nvSpPr>
            <p:spPr>
              <a:xfrm>
                <a:off x="107504" y="2235738"/>
                <a:ext cx="5609854" cy="2547749"/>
              </a:xfrm>
              <a:prstGeom prst="rect">
                <a:avLst/>
              </a:prstGeom>
              <a:blipFill>
                <a:blip r:embed="rId5"/>
                <a:stretch>
                  <a:fillRect t="-7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99F62F2A-4754-495C-95F4-B94364F35C9D}"/>
                  </a:ext>
                </a:extLst>
              </p:cNvPr>
              <p:cNvSpPr/>
              <p:nvPr/>
            </p:nvSpPr>
            <p:spPr>
              <a:xfrm>
                <a:off x="395536" y="1770821"/>
                <a:ext cx="7560840" cy="369332"/>
              </a:xfrm>
              <a:prstGeom prst="rect">
                <a:avLst/>
              </a:prstGeom>
            </p:spPr>
            <p:txBody>
              <a:bodyPr wrap="square">
                <a:spAutoFit/>
              </a:bodyPr>
              <a:lstStyle/>
              <a:p>
                <a:pPr>
                  <a:lnSpc>
                    <a:spcPct val="150000"/>
                  </a:lnSpc>
                </a:pPr>
                <a:r>
                  <a:rPr lang="zh-CN" altLang="en-US" sz="1200" b="1" dirty="0">
                    <a:solidFill>
                      <a:schemeClr val="accent6"/>
                    </a:solidFill>
                    <a:latin typeface="+mn-ea"/>
                    <a:ea typeface="+mn-ea"/>
                    <a:cs typeface="Times New Roman" panose="02020603050405020304" pitchFamily="18" charset="0"/>
                  </a:rPr>
                  <a:t>问题：</a:t>
                </a:r>
                <a:r>
                  <a:rPr lang="zh-CN" altLang="zh-CN" sz="1200" b="1" dirty="0">
                    <a:solidFill>
                      <a:schemeClr val="accent6"/>
                    </a:solidFill>
                    <a:latin typeface="+mn-ea"/>
                    <a:ea typeface="+mn-ea"/>
                    <a:cs typeface="Times New Roman" panose="02020603050405020304" pitchFamily="18" charset="0"/>
                  </a:rPr>
                  <a:t>智能体</a:t>
                </a:r>
                <a:r>
                  <a:rPr lang="zh-CN" altLang="en-US" sz="1200" b="1" dirty="0">
                    <a:solidFill>
                      <a:schemeClr val="accent6"/>
                    </a:solidFill>
                    <a:latin typeface="+mn-ea"/>
                    <a:ea typeface="+mn-ea"/>
                    <a:cs typeface="Times New Roman" panose="02020603050405020304" pitchFamily="18" charset="0"/>
                  </a:rPr>
                  <a:t>目前在</a:t>
                </a:r>
                <a:r>
                  <a:rPr lang="zh-CN" altLang="zh-CN" sz="1200" b="1" dirty="0">
                    <a:solidFill>
                      <a:schemeClr val="accent6"/>
                    </a:solidFill>
                    <a:latin typeface="+mn-ea"/>
                    <a:ea typeface="+mn-ea"/>
                    <a:cs typeface="Times New Roman" panose="02020603050405020304" pitchFamily="18" charset="0"/>
                  </a:rPr>
                  <a:t>状态</a:t>
                </a:r>
                <a14:m>
                  <m:oMath xmlns:m="http://schemas.openxmlformats.org/officeDocument/2006/math">
                    <m:sSub>
                      <m:sSubPr>
                        <m:ctrlPr>
                          <a:rPr lang="zh-CN" altLang="zh-CN" sz="1200" b="1" i="1">
                            <a:solidFill>
                              <a:schemeClr val="accent6"/>
                            </a:solidFill>
                            <a:latin typeface="Cambria Math" panose="02040503050406030204" pitchFamily="18" charset="0"/>
                            <a:ea typeface="+mn-ea"/>
                            <a:cs typeface="Times New Roman" panose="02020603050405020304" pitchFamily="18" charset="0"/>
                          </a:rPr>
                        </m:ctrlPr>
                      </m:sSubPr>
                      <m:e>
                        <m:r>
                          <a:rPr lang="en-US" altLang="zh-CN" sz="1200" b="1" i="1">
                            <a:solidFill>
                              <a:schemeClr val="accent6"/>
                            </a:solidFill>
                            <a:latin typeface="Cambria Math" panose="02040503050406030204" pitchFamily="18" charset="0"/>
                            <a:ea typeface="+mn-ea"/>
                            <a:cs typeface="Times New Roman" panose="02020603050405020304" pitchFamily="18" charset="0"/>
                          </a:rPr>
                          <m:t>𝒔</m:t>
                        </m:r>
                      </m:e>
                      <m:sub>
                        <m:r>
                          <a:rPr lang="en-US" altLang="zh-CN" sz="1200" b="1" i="1">
                            <a:solidFill>
                              <a:schemeClr val="accent6"/>
                            </a:solidFill>
                            <a:latin typeface="Cambria Math" panose="02040503050406030204" pitchFamily="18" charset="0"/>
                            <a:ea typeface="+mn-ea"/>
                            <a:cs typeface="Times New Roman" panose="02020603050405020304" pitchFamily="18" charset="0"/>
                          </a:rPr>
                          <m:t>𝟏</m:t>
                        </m:r>
                      </m:sub>
                    </m:sSub>
                  </m:oMath>
                </a14:m>
                <a:r>
                  <a:rPr lang="zh-CN" altLang="en-US" sz="1200" b="1" dirty="0">
                    <a:solidFill>
                      <a:schemeClr val="accent6"/>
                    </a:solidFill>
                    <a:latin typeface="+mn-ea"/>
                    <a:ea typeface="+mn-ea"/>
                    <a:cs typeface="Times New Roman" panose="02020603050405020304" pitchFamily="18" charset="0"/>
                  </a:rPr>
                  <a:t>，那么下一步是</a:t>
                </a:r>
                <a:r>
                  <a:rPr lang="zh-CN" altLang="zh-CN" sz="1200" b="1" dirty="0">
                    <a:solidFill>
                      <a:schemeClr val="accent6"/>
                    </a:solidFill>
                    <a:latin typeface="+mn-ea"/>
                    <a:ea typeface="+mn-ea"/>
                    <a:cs typeface="Times New Roman" panose="02020603050405020304" pitchFamily="18" charset="0"/>
                  </a:rPr>
                  <a:t>采取</a:t>
                </a:r>
                <a:r>
                  <a:rPr lang="en-US" altLang="zh-CN" sz="1200" b="1" dirty="0">
                    <a:solidFill>
                      <a:schemeClr val="accent6"/>
                    </a:solidFill>
                    <a:latin typeface="+mn-ea"/>
                    <a:ea typeface="+mn-ea"/>
                    <a:cs typeface="Times New Roman" panose="02020603050405020304" pitchFamily="18" charset="0"/>
                  </a:rPr>
                  <a:t>“</a:t>
                </a:r>
                <a:r>
                  <a:rPr lang="zh-CN" altLang="zh-CN" sz="1200" b="1" dirty="0">
                    <a:solidFill>
                      <a:schemeClr val="accent6"/>
                    </a:solidFill>
                    <a:latin typeface="+mn-ea"/>
                    <a:ea typeface="+mn-ea"/>
                    <a:cs typeface="Times New Roman" panose="02020603050405020304" pitchFamily="18" charset="0"/>
                  </a:rPr>
                  <a:t>向上移动一个方格</a:t>
                </a:r>
                <a:r>
                  <a:rPr lang="en-US" altLang="zh-CN" sz="1200" b="1" dirty="0">
                    <a:solidFill>
                      <a:schemeClr val="accent6"/>
                    </a:solidFill>
                    <a:latin typeface="+mn-ea"/>
                    <a:ea typeface="+mn-ea"/>
                    <a:cs typeface="Times New Roman" panose="02020603050405020304" pitchFamily="18" charset="0"/>
                  </a:rPr>
                  <a:t>”</a:t>
                </a:r>
                <a:r>
                  <a:rPr lang="zh-CN" altLang="zh-CN" sz="1200" b="1" dirty="0">
                    <a:solidFill>
                      <a:schemeClr val="accent6"/>
                    </a:solidFill>
                    <a:latin typeface="+mn-ea"/>
                    <a:ea typeface="+mn-ea"/>
                    <a:cs typeface="Times New Roman" panose="02020603050405020304" pitchFamily="18" charset="0"/>
                  </a:rPr>
                  <a:t>或</a:t>
                </a:r>
                <a:r>
                  <a:rPr lang="en-US" altLang="zh-CN" sz="1200" b="1" dirty="0">
                    <a:solidFill>
                      <a:schemeClr val="accent6"/>
                    </a:solidFill>
                    <a:latin typeface="+mn-ea"/>
                    <a:ea typeface="+mn-ea"/>
                    <a:cs typeface="Times New Roman" panose="02020603050405020304" pitchFamily="18" charset="0"/>
                  </a:rPr>
                  <a:t>“</a:t>
                </a:r>
                <a:r>
                  <a:rPr lang="zh-CN" altLang="zh-CN" sz="1200" b="1" dirty="0">
                    <a:solidFill>
                      <a:schemeClr val="accent6"/>
                    </a:solidFill>
                    <a:latin typeface="+mn-ea"/>
                    <a:ea typeface="+mn-ea"/>
                    <a:cs typeface="Times New Roman" panose="02020603050405020304" pitchFamily="18" charset="0"/>
                  </a:rPr>
                  <a:t>向右移动一个方格</a:t>
                </a:r>
                <a:r>
                  <a:rPr lang="en-US" altLang="zh-CN" sz="1200" b="1" dirty="0">
                    <a:solidFill>
                      <a:schemeClr val="accent6"/>
                    </a:solidFill>
                    <a:latin typeface="+mn-ea"/>
                    <a:ea typeface="+mn-ea"/>
                    <a:cs typeface="Times New Roman" panose="02020603050405020304" pitchFamily="18" charset="0"/>
                  </a:rPr>
                  <a:t>”</a:t>
                </a:r>
                <a:r>
                  <a:rPr lang="zh-CN" altLang="en-US" sz="1200" b="1" dirty="0">
                    <a:solidFill>
                      <a:schemeClr val="accent6"/>
                    </a:solidFill>
                    <a:latin typeface="+mn-ea"/>
                    <a:ea typeface="+mn-ea"/>
                    <a:cs typeface="Times New Roman" panose="02020603050405020304" pitchFamily="18" charset="0"/>
                  </a:rPr>
                  <a:t>哪一个</a:t>
                </a:r>
                <a:r>
                  <a:rPr lang="zh-CN" altLang="zh-CN" sz="1200" b="1" dirty="0">
                    <a:solidFill>
                      <a:schemeClr val="accent6"/>
                    </a:solidFill>
                    <a:latin typeface="+mn-ea"/>
                    <a:ea typeface="+mn-ea"/>
                    <a:cs typeface="Times New Roman" panose="02020603050405020304" pitchFamily="18" charset="0"/>
                  </a:rPr>
                  <a:t>行动</a:t>
                </a:r>
                <a:r>
                  <a:rPr lang="zh-CN" altLang="en-US" sz="1200" b="1" dirty="0">
                    <a:solidFill>
                      <a:schemeClr val="accent6"/>
                    </a:solidFill>
                    <a:latin typeface="+mn-ea"/>
                    <a:ea typeface="+mn-ea"/>
                    <a:cs typeface="Times New Roman" panose="02020603050405020304" pitchFamily="18" charset="0"/>
                  </a:rPr>
                  <a:t>？</a:t>
                </a:r>
                <a:endParaRPr lang="zh-CN" altLang="en-US" sz="1200" b="1" dirty="0">
                  <a:solidFill>
                    <a:schemeClr val="accent6"/>
                  </a:solidFill>
                  <a:latin typeface="+mn-ea"/>
                  <a:ea typeface="+mn-ea"/>
                </a:endParaRPr>
              </a:p>
            </p:txBody>
          </p:sp>
        </mc:Choice>
        <mc:Fallback xmlns="">
          <p:sp>
            <p:nvSpPr>
              <p:cNvPr id="10" name="矩形 9">
                <a:extLst>
                  <a:ext uri="{FF2B5EF4-FFF2-40B4-BE49-F238E27FC236}">
                    <a16:creationId xmlns:a16="http://schemas.microsoft.com/office/drawing/2014/main" id="{99F62F2A-4754-495C-95F4-B94364F35C9D}"/>
                  </a:ext>
                </a:extLst>
              </p:cNvPr>
              <p:cNvSpPr>
                <a:spLocks noRot="1" noChangeAspect="1" noMove="1" noResize="1" noEditPoints="1" noAdjustHandles="1" noChangeArrowheads="1" noChangeShapeType="1" noTextEdit="1"/>
              </p:cNvSpPr>
              <p:nvPr/>
            </p:nvSpPr>
            <p:spPr>
              <a:xfrm>
                <a:off x="395536" y="1770821"/>
                <a:ext cx="7560840" cy="369332"/>
              </a:xfrm>
              <a:prstGeom prst="rect">
                <a:avLst/>
              </a:prstGeom>
              <a:blipFill>
                <a:blip r:embed="rId6"/>
                <a:stretch>
                  <a:fillRect l="-81" b="-3279"/>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9659EE46-D202-E6BD-2AC6-9B2016F08E27}"/>
              </a:ext>
            </a:extLst>
          </p:cNvPr>
          <p:cNvGrpSpPr/>
          <p:nvPr/>
        </p:nvGrpSpPr>
        <p:grpSpPr>
          <a:xfrm>
            <a:off x="611560" y="483518"/>
            <a:ext cx="5598290" cy="373451"/>
            <a:chOff x="4099943" y="2819853"/>
            <a:chExt cx="2570275" cy="497934"/>
          </a:xfrm>
        </p:grpSpPr>
        <p:sp>
          <p:nvSpPr>
            <p:cNvPr id="12" name="平行四边形 11">
              <a:extLst>
                <a:ext uri="{FF2B5EF4-FFF2-40B4-BE49-F238E27FC236}">
                  <a16:creationId xmlns:a16="http://schemas.microsoft.com/office/drawing/2014/main" id="{DD8A2403-D80F-2365-39CD-A0064B53A425}"/>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3" name="平行四边形 12">
              <a:extLst>
                <a:ext uri="{FF2B5EF4-FFF2-40B4-BE49-F238E27FC236}">
                  <a16:creationId xmlns:a16="http://schemas.microsoft.com/office/drawing/2014/main" id="{D7F183B7-B0A3-19B8-A9C3-27E5B74EDD78}"/>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4" name="矩形 13">
              <a:extLst>
                <a:ext uri="{FF2B5EF4-FFF2-40B4-BE49-F238E27FC236}">
                  <a16:creationId xmlns:a16="http://schemas.microsoft.com/office/drawing/2014/main" id="{E9FAE6B8-A770-922E-35CB-C6267BBA7B62}"/>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基于价值的强化学习：</a:t>
              </a:r>
              <a:r>
                <a:rPr lang="zh-CN" altLang="en-US" sz="1500" b="1" dirty="0">
                  <a:solidFill>
                    <a:srgbClr val="FF0000"/>
                  </a:solidFill>
                  <a:latin typeface="+mn-ea"/>
                  <a:ea typeface="+mn-ea"/>
                  <a:cs typeface="Times New Roman" panose="02020603050405020304" pitchFamily="18" charset="0"/>
                </a:rPr>
                <a:t>策略优化</a:t>
              </a:r>
              <a:r>
                <a:rPr lang="zh-CN" altLang="en-US" sz="1500" b="1" dirty="0">
                  <a:solidFill>
                    <a:schemeClr val="tx1">
                      <a:lumMod val="95000"/>
                      <a:lumOff val="5000"/>
                    </a:schemeClr>
                  </a:solidFill>
                  <a:latin typeface="+mn-ea"/>
                  <a:ea typeface="+mn-ea"/>
                  <a:cs typeface="Times New Roman" panose="02020603050405020304" pitchFamily="18" charset="0"/>
                </a:rPr>
                <a:t>例子</a:t>
              </a:r>
            </a:p>
          </p:txBody>
        </p:sp>
      </p:grpSp>
    </p:spTree>
    <p:extLst>
      <p:ext uri="{BB962C8B-B14F-4D97-AF65-F5344CB8AC3E}">
        <p14:creationId xmlns:p14="http://schemas.microsoft.com/office/powerpoint/2010/main" val="2845858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18AB227-88E8-414F-B2D0-66E3CD42BC82}"/>
              </a:ext>
            </a:extLst>
          </p:cNvPr>
          <p:cNvPicPr>
            <a:picLocks noChangeAspect="1"/>
          </p:cNvPicPr>
          <p:nvPr/>
        </p:nvPicPr>
        <p:blipFill>
          <a:blip r:embed="rId3"/>
          <a:stretch>
            <a:fillRect/>
          </a:stretch>
        </p:blipFill>
        <p:spPr>
          <a:xfrm>
            <a:off x="1475656" y="1130056"/>
            <a:ext cx="5300762" cy="2469818"/>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F5DC0A92-59C5-45CB-89CA-ACD99C4DC99C}"/>
                  </a:ext>
                </a:extLst>
              </p:cNvPr>
              <p:cNvSpPr/>
              <p:nvPr/>
            </p:nvSpPr>
            <p:spPr>
              <a:xfrm>
                <a:off x="323528" y="3575880"/>
                <a:ext cx="7736659" cy="1106841"/>
              </a:xfrm>
              <a:prstGeom prst="rect">
                <a:avLst/>
              </a:prstGeom>
            </p:spPr>
            <p:txBody>
              <a:bodyPr wrap="square">
                <a:spAutoFit/>
              </a:bodyPr>
              <a:lstStyle/>
              <a:p>
                <a:pPr marL="214313" indent="-214313" algn="just">
                  <a:lnSpc>
                    <a:spcPct val="150000"/>
                  </a:lnSpc>
                  <a:spcAft>
                    <a:spcPts val="0"/>
                  </a:spcAft>
                  <a:buFont typeface="Wingdings" panose="05000000000000000000" pitchFamily="2" charset="2"/>
                  <a:buChar char="l"/>
                </a:pP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r>
                          <a:rPr lang="zh-CN" altLang="zh-CN">
                            <a:solidFill>
                              <a:srgbClr val="000000"/>
                            </a:solidFill>
                            <a:latin typeface="Cambria Math" panose="02040503050406030204" pitchFamily="18" charset="0"/>
                            <a:ea typeface="+mn-ea"/>
                            <a:cs typeface="Times New Roman" panose="02020603050405020304" pitchFamily="18" charset="0"/>
                          </a:rPr>
                          <m:t>上</m:t>
                        </m:r>
                      </m:e>
                    </m:d>
                  </m:oMath>
                </a14:m>
                <a:r>
                  <a:rPr lang="zh-CN" altLang="zh-CN" dirty="0">
                    <a:solidFill>
                      <a:srgbClr val="000000"/>
                    </a:solidFill>
                    <a:latin typeface="+mn-ea"/>
                    <a:ea typeface="+mn-ea"/>
                    <a:cs typeface="Times New Roman" panose="02020603050405020304" pitchFamily="18" charset="0"/>
                  </a:rPr>
                  <a:t>值为</a:t>
                </a:r>
                <a:r>
                  <a:rPr lang="en-US" altLang="zh-CN" dirty="0">
                    <a:solidFill>
                      <a:srgbClr val="000000"/>
                    </a:solidFill>
                    <a:latin typeface="+mn-ea"/>
                    <a:ea typeface="+mn-ea"/>
                    <a:cs typeface="Times New Roman" panose="02020603050405020304" pitchFamily="18" charset="0"/>
                  </a:rPr>
                  <a:t>0.297</a:t>
                </a:r>
                <a:r>
                  <a:rPr lang="zh-CN" altLang="zh-CN" dirty="0">
                    <a:solidFill>
                      <a:srgbClr val="000000"/>
                    </a:solidFill>
                    <a:latin typeface="+mn-ea"/>
                    <a:ea typeface="+mn-ea"/>
                    <a:cs typeface="Times New Roman" panose="02020603050405020304" pitchFamily="18" charset="0"/>
                  </a:rPr>
                  <a:t>、</a:t>
                </a: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r>
                          <a:rPr lang="zh-CN" altLang="zh-CN">
                            <a:solidFill>
                              <a:srgbClr val="000000"/>
                            </a:solidFill>
                            <a:latin typeface="Cambria Math" panose="02040503050406030204" pitchFamily="18" charset="0"/>
                            <a:ea typeface="+mn-ea"/>
                            <a:cs typeface="Times New Roman" panose="02020603050405020304" pitchFamily="18" charset="0"/>
                          </a:rPr>
                          <m:t>右</m:t>
                        </m:r>
                      </m:e>
                    </m:d>
                  </m:oMath>
                </a14:m>
                <a:r>
                  <a:rPr lang="zh-CN" altLang="zh-CN" dirty="0">
                    <a:solidFill>
                      <a:srgbClr val="000000"/>
                    </a:solidFill>
                    <a:latin typeface="+mn-ea"/>
                    <a:ea typeface="+mn-ea"/>
                    <a:cs typeface="Times New Roman" panose="02020603050405020304" pitchFamily="18" charset="0"/>
                  </a:rPr>
                  <a:t>值为</a:t>
                </a:r>
                <a:r>
                  <a:rPr lang="en-US" altLang="zh-CN" dirty="0">
                    <a:solidFill>
                      <a:srgbClr val="000000"/>
                    </a:solidFill>
                    <a:latin typeface="+mn-ea"/>
                    <a:ea typeface="+mn-ea"/>
                    <a:cs typeface="Times New Roman" panose="02020603050405020304" pitchFamily="18" charset="0"/>
                  </a:rPr>
                  <a:t>0.396</a:t>
                </a:r>
                <a:r>
                  <a:rPr lang="zh-CN" altLang="zh-CN" dirty="0">
                    <a:solidFill>
                      <a:srgbClr val="000000"/>
                    </a:solidFill>
                    <a:latin typeface="+mn-ea"/>
                    <a:ea typeface="+mn-ea"/>
                    <a:cs typeface="Times New Roman" panose="02020603050405020304" pitchFamily="18" charset="0"/>
                  </a:rPr>
                  <a:t>。</a:t>
                </a:r>
                <a:endParaRPr lang="en-US" altLang="zh-CN" dirty="0">
                  <a:solidFill>
                    <a:srgbClr val="000000"/>
                  </a:solidFill>
                  <a:latin typeface="+mn-ea"/>
                  <a:ea typeface="+mn-ea"/>
                  <a:cs typeface="Times New Roman" panose="02020603050405020304" pitchFamily="18" charset="0"/>
                </a:endParaRPr>
              </a:p>
              <a:p>
                <a:pPr marL="214313" indent="-214313" algn="just">
                  <a:lnSpc>
                    <a:spcPct val="150000"/>
                  </a:lnSpc>
                  <a:spcAft>
                    <a:spcPts val="0"/>
                  </a:spcAft>
                  <a:buFont typeface="Wingdings" panose="05000000000000000000" pitchFamily="2" charset="2"/>
                  <a:buChar char="l"/>
                </a:pPr>
                <a:r>
                  <a:rPr lang="zh-CN" altLang="zh-CN" dirty="0" smtClean="0">
                    <a:solidFill>
                      <a:srgbClr val="000000"/>
                    </a:solidFill>
                    <a:latin typeface="+mn-ea"/>
                    <a:ea typeface="+mn-ea"/>
                    <a:cs typeface="Times New Roman" panose="02020603050405020304" pitchFamily="18" charset="0"/>
                  </a:rPr>
                  <a:t>经过</a:t>
                </a:r>
                <a:r>
                  <a:rPr lang="zh-CN" altLang="zh-CN" dirty="0">
                    <a:solidFill>
                      <a:srgbClr val="000000"/>
                    </a:solidFill>
                    <a:latin typeface="+mn-ea"/>
                    <a:ea typeface="+mn-ea"/>
                    <a:cs typeface="Times New Roman" panose="02020603050405020304" pitchFamily="18" charset="0"/>
                  </a:rPr>
                  <a:t>策略优化后，状态</a:t>
                </a: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oMath>
                </a14:m>
                <a:r>
                  <a:rPr lang="zh-CN" altLang="zh-CN" dirty="0">
                    <a:solidFill>
                      <a:srgbClr val="000000"/>
                    </a:solidFill>
                    <a:latin typeface="+mn-ea"/>
                    <a:ea typeface="+mn-ea"/>
                    <a:cs typeface="Times New Roman" panose="02020603050405020304" pitchFamily="18" charset="0"/>
                  </a:rPr>
                  <a:t>处的新策略为</a:t>
                </a:r>
                <a14:m>
                  <m:oMath xmlns:m="http://schemas.openxmlformats.org/officeDocument/2006/math">
                    <m:sSup>
                      <m:sSupPr>
                        <m:ctrlPr>
                          <a:rPr lang="zh-CN" altLang="zh-CN" i="1">
                            <a:solidFill>
                              <a:srgbClr val="000000"/>
                            </a:solidFill>
                            <a:latin typeface="Cambria Math" panose="02040503050406030204" pitchFamily="18" charset="0"/>
                            <a:ea typeface="+mn-ea"/>
                            <a:cs typeface="Times New Roman" panose="02020603050405020304" pitchFamily="18" charset="0"/>
                          </a:rPr>
                        </m:ctrlPr>
                      </m:sSupPr>
                      <m:e>
                        <m:r>
                          <a:rPr lang="en-US" altLang="zh-CN" i="1">
                            <a:solidFill>
                              <a:srgbClr val="000000"/>
                            </a:solidFill>
                            <a:latin typeface="Cambria Math" panose="02040503050406030204" pitchFamily="18" charset="0"/>
                            <a:ea typeface="+mn-ea"/>
                            <a:cs typeface="Times New Roman" panose="02020603050405020304" pitchFamily="18" charset="0"/>
                          </a:rPr>
                          <m:t>𝜋</m:t>
                        </m:r>
                      </m:e>
                      <m:sup>
                        <m:r>
                          <a:rPr lang="en-US" altLang="zh-CN" i="1">
                            <a:solidFill>
                              <a:srgbClr val="000000"/>
                            </a:solidFill>
                            <a:latin typeface="Cambria Math" panose="02040503050406030204" pitchFamily="18" charset="0"/>
                            <a:ea typeface="+mn-ea"/>
                            <a:cs typeface="Times New Roman" panose="02020603050405020304" pitchFamily="18" charset="0"/>
                          </a:rPr>
                          <m:t>′</m:t>
                        </m:r>
                      </m:sup>
                    </m:sSup>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e>
                    </m:d>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m:rPr>
                            <m:sty m:val="p"/>
                          </m:rPr>
                          <a:rPr lang="en-US" altLang="zh-CN">
                            <a:solidFill>
                              <a:srgbClr val="000000"/>
                            </a:solidFill>
                            <a:latin typeface="Cambria Math" panose="02040503050406030204" pitchFamily="18" charset="0"/>
                            <a:ea typeface="+mn-ea"/>
                            <a:cs typeface="Times New Roman" panose="02020603050405020304" pitchFamily="18" charset="0"/>
                          </a:rPr>
                          <m:t>argmax</m:t>
                        </m:r>
                      </m:e>
                      <m:sub>
                        <m:r>
                          <a:rPr lang="en-US" altLang="zh-CN" i="1">
                            <a:solidFill>
                              <a:srgbClr val="000000"/>
                            </a:solidFill>
                            <a:latin typeface="Cambria Math" panose="02040503050406030204" pitchFamily="18" charset="0"/>
                            <a:ea typeface="+mn-ea"/>
                            <a:cs typeface="Times New Roman" panose="02020603050405020304" pitchFamily="18" charset="0"/>
                          </a:rPr>
                          <m:t>𝑎</m:t>
                        </m:r>
                      </m:sub>
                    </m:sSub>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r>
                          <a:rPr lang="en-US" altLang="zh-CN" i="1">
                            <a:solidFill>
                              <a:srgbClr val="000000"/>
                            </a:solidFill>
                            <a:latin typeface="Cambria Math" panose="02040503050406030204" pitchFamily="18" charset="0"/>
                            <a:ea typeface="+mn-ea"/>
                            <a:cs typeface="Times New Roman" panose="02020603050405020304" pitchFamily="18" charset="0"/>
                          </a:rPr>
                          <m:t>𝑠</m:t>
                        </m:r>
                        <m: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𝑎</m:t>
                        </m:r>
                      </m:e>
                    </m:d>
                    <m:r>
                      <a:rPr lang="en-US" altLang="zh-CN" i="1">
                        <a:solidFill>
                          <a:srgbClr val="000000"/>
                        </a:solidFill>
                        <a:latin typeface="Cambria Math" panose="02040503050406030204" pitchFamily="18" charset="0"/>
                        <a:ea typeface="+mn-ea"/>
                        <a:cs typeface="Times New Roman" panose="02020603050405020304" pitchFamily="18" charset="0"/>
                      </a:rPr>
                      <m:t>=</m:t>
                    </m:r>
                    <m:r>
                      <a:rPr lang="zh-CN" altLang="zh-CN">
                        <a:solidFill>
                          <a:srgbClr val="000000"/>
                        </a:solidFill>
                        <a:latin typeface="Cambria Math" panose="02040503050406030204" pitchFamily="18" charset="0"/>
                        <a:ea typeface="+mn-ea"/>
                        <a:cs typeface="Times New Roman" panose="02020603050405020304" pitchFamily="18" charset="0"/>
                      </a:rPr>
                      <m:t>右</m:t>
                    </m:r>
                  </m:oMath>
                </a14:m>
                <a:r>
                  <a:rPr lang="zh-CN" altLang="zh-CN" dirty="0">
                    <a:solidFill>
                      <a:srgbClr val="000000"/>
                    </a:solidFill>
                    <a:latin typeface="+mn-ea"/>
                    <a:ea typeface="+mn-ea"/>
                    <a:cs typeface="Times New Roman" panose="02020603050405020304" pitchFamily="18" charset="0"/>
                  </a:rPr>
                  <a:t>，则将</a:t>
                </a: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oMath>
                </a14:m>
                <a:r>
                  <a:rPr lang="zh-CN" altLang="zh-CN" dirty="0">
                    <a:solidFill>
                      <a:srgbClr val="000000"/>
                    </a:solidFill>
                    <a:latin typeface="+mn-ea"/>
                    <a:ea typeface="+mn-ea"/>
                    <a:cs typeface="Times New Roman" panose="02020603050405020304" pitchFamily="18" charset="0"/>
                  </a:rPr>
                  <a:t>处的策略从</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上</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更新为</a:t>
                </a:r>
                <a:r>
                  <a:rPr lang="en-US" altLang="zh-CN" dirty="0">
                    <a:solidFill>
                      <a:srgbClr val="000000"/>
                    </a:solidFill>
                    <a:latin typeface="+mn-ea"/>
                    <a:ea typeface="+mn-ea"/>
                    <a:cs typeface="Times New Roman" panose="02020603050405020304" pitchFamily="18" charset="0"/>
                  </a:rPr>
                  <a:t> “</a:t>
                </a:r>
                <a:r>
                  <a:rPr lang="zh-CN" altLang="zh-CN" dirty="0">
                    <a:solidFill>
                      <a:srgbClr val="000000"/>
                    </a:solidFill>
                    <a:latin typeface="+mn-ea"/>
                    <a:ea typeface="+mn-ea"/>
                    <a:cs typeface="Times New Roman" panose="02020603050405020304" pitchFamily="18" charset="0"/>
                  </a:rPr>
                  <a:t>右</a:t>
                </a:r>
                <a:r>
                  <a:rPr lang="en-US" altLang="zh-CN" dirty="0">
                    <a:solidFill>
                      <a:srgbClr val="000000"/>
                    </a:solidFill>
                    <a:latin typeface="+mn-ea"/>
                    <a:ea typeface="+mn-ea"/>
                    <a:cs typeface="Times New Roman" panose="02020603050405020304" pitchFamily="18" charset="0"/>
                  </a:rPr>
                  <a:t>”</a:t>
                </a:r>
                <a:r>
                  <a:rPr lang="zh-CN" altLang="zh-CN" dirty="0" smtClean="0">
                    <a:solidFill>
                      <a:srgbClr val="000000"/>
                    </a:solidFill>
                    <a:latin typeface="+mn-ea"/>
                    <a:ea typeface="+mn-ea"/>
                    <a:cs typeface="Times New Roman" panose="02020603050405020304" pitchFamily="18" charset="0"/>
                  </a:rPr>
                  <a:t>。</a:t>
                </a:r>
                <a:endParaRPr lang="en-US" altLang="zh-CN" dirty="0" smtClean="0">
                  <a:solidFill>
                    <a:srgbClr val="000000"/>
                  </a:solidFill>
                  <a:latin typeface="+mn-ea"/>
                  <a:ea typeface="+mn-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F5DC0A92-59C5-45CB-89CA-ACD99C4DC99C}"/>
                  </a:ext>
                </a:extLst>
              </p:cNvPr>
              <p:cNvSpPr>
                <a:spLocks noRot="1" noChangeAspect="1" noMove="1" noResize="1" noEditPoints="1" noAdjustHandles="1" noChangeArrowheads="1" noChangeShapeType="1" noTextEdit="1"/>
              </p:cNvSpPr>
              <p:nvPr/>
            </p:nvSpPr>
            <p:spPr>
              <a:xfrm>
                <a:off x="323528" y="3575880"/>
                <a:ext cx="7736659" cy="1106841"/>
              </a:xfrm>
              <a:prstGeom prst="rect">
                <a:avLst/>
              </a:prstGeom>
              <a:blipFill>
                <a:blip r:embed="rId4"/>
                <a:stretch>
                  <a:fillRect l="-79" r="-2600" b="-16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B7A96A3-EA5D-412B-8493-EBE8C06661ED}"/>
                  </a:ext>
                </a:extLst>
              </p:cNvPr>
              <p:cNvSpPr/>
              <p:nvPr/>
            </p:nvSpPr>
            <p:spPr>
              <a:xfrm>
                <a:off x="576383" y="915566"/>
                <a:ext cx="8280920" cy="461665"/>
              </a:xfrm>
              <a:prstGeom prst="rect">
                <a:avLst/>
              </a:prstGeom>
            </p:spPr>
            <p:txBody>
              <a:bodyPr wrap="square">
                <a:spAutoFit/>
              </a:bodyPr>
              <a:lstStyle/>
              <a:p>
                <a:pPr>
                  <a:lnSpc>
                    <a:spcPct val="200000"/>
                  </a:lnSpc>
                </a:pPr>
                <a:r>
                  <a:rPr lang="zh-CN" altLang="en-US" sz="1200" b="1" dirty="0">
                    <a:solidFill>
                      <a:schemeClr val="accent6"/>
                    </a:solidFill>
                    <a:latin typeface="+mn-ea"/>
                    <a:ea typeface="+mn-ea"/>
                    <a:cs typeface="Times New Roman" panose="02020603050405020304" pitchFamily="18" charset="0"/>
                  </a:rPr>
                  <a:t>问题：</a:t>
                </a:r>
                <a:r>
                  <a:rPr lang="zh-CN" altLang="zh-CN" sz="1200" b="1" dirty="0">
                    <a:solidFill>
                      <a:schemeClr val="accent6"/>
                    </a:solidFill>
                    <a:latin typeface="+mn-ea"/>
                    <a:ea typeface="+mn-ea"/>
                    <a:cs typeface="Times New Roman" panose="02020603050405020304" pitchFamily="18" charset="0"/>
                  </a:rPr>
                  <a:t>智能体</a:t>
                </a:r>
                <a:r>
                  <a:rPr lang="zh-CN" altLang="en-US" sz="1200" b="1" dirty="0">
                    <a:solidFill>
                      <a:schemeClr val="accent6"/>
                    </a:solidFill>
                    <a:latin typeface="+mn-ea"/>
                    <a:ea typeface="+mn-ea"/>
                    <a:cs typeface="Times New Roman" panose="02020603050405020304" pitchFamily="18" charset="0"/>
                  </a:rPr>
                  <a:t>目前在</a:t>
                </a:r>
                <a:r>
                  <a:rPr lang="zh-CN" altLang="zh-CN" sz="1200" b="1" dirty="0">
                    <a:solidFill>
                      <a:schemeClr val="accent6"/>
                    </a:solidFill>
                    <a:latin typeface="+mn-ea"/>
                    <a:ea typeface="+mn-ea"/>
                    <a:cs typeface="Times New Roman" panose="02020603050405020304" pitchFamily="18" charset="0"/>
                  </a:rPr>
                  <a:t>状态</a:t>
                </a:r>
                <a14:m>
                  <m:oMath xmlns:m="http://schemas.openxmlformats.org/officeDocument/2006/math">
                    <m:sSub>
                      <m:sSubPr>
                        <m:ctrlPr>
                          <a:rPr lang="zh-CN" altLang="zh-CN" sz="1200" b="1" i="1">
                            <a:solidFill>
                              <a:schemeClr val="accent6"/>
                            </a:solidFill>
                            <a:latin typeface="Cambria Math" panose="02040503050406030204" pitchFamily="18" charset="0"/>
                            <a:ea typeface="+mn-ea"/>
                            <a:cs typeface="Times New Roman" panose="02020603050405020304" pitchFamily="18" charset="0"/>
                          </a:rPr>
                        </m:ctrlPr>
                      </m:sSubPr>
                      <m:e>
                        <m:r>
                          <a:rPr lang="en-US" altLang="zh-CN" sz="1200" b="1">
                            <a:solidFill>
                              <a:schemeClr val="accent6"/>
                            </a:solidFill>
                            <a:latin typeface="Cambria Math" panose="02040503050406030204" pitchFamily="18" charset="0"/>
                            <a:ea typeface="+mn-ea"/>
                            <a:cs typeface="Times New Roman" panose="02020603050405020304" pitchFamily="18" charset="0"/>
                          </a:rPr>
                          <m:t>𝒔</m:t>
                        </m:r>
                      </m:e>
                      <m:sub>
                        <m:r>
                          <a:rPr lang="en-US" altLang="zh-CN" sz="1200" b="1">
                            <a:solidFill>
                              <a:schemeClr val="accent6"/>
                            </a:solidFill>
                            <a:latin typeface="Cambria Math" panose="02040503050406030204" pitchFamily="18" charset="0"/>
                            <a:ea typeface="+mn-ea"/>
                            <a:cs typeface="Times New Roman" panose="02020603050405020304" pitchFamily="18" charset="0"/>
                          </a:rPr>
                          <m:t>𝟏</m:t>
                        </m:r>
                      </m:sub>
                    </m:sSub>
                  </m:oMath>
                </a14:m>
                <a:r>
                  <a:rPr lang="zh-CN" altLang="en-US" sz="1200" b="1" dirty="0">
                    <a:solidFill>
                      <a:schemeClr val="accent6"/>
                    </a:solidFill>
                    <a:latin typeface="+mn-ea"/>
                    <a:ea typeface="+mn-ea"/>
                    <a:cs typeface="Times New Roman" panose="02020603050405020304" pitchFamily="18" charset="0"/>
                  </a:rPr>
                  <a:t>，那么下一步是</a:t>
                </a:r>
                <a:r>
                  <a:rPr lang="zh-CN" altLang="zh-CN" sz="1200" b="1" dirty="0">
                    <a:solidFill>
                      <a:schemeClr val="accent6"/>
                    </a:solidFill>
                    <a:latin typeface="+mn-ea"/>
                    <a:ea typeface="+mn-ea"/>
                    <a:cs typeface="Times New Roman" panose="02020603050405020304" pitchFamily="18" charset="0"/>
                  </a:rPr>
                  <a:t>采取</a:t>
                </a:r>
                <a:r>
                  <a:rPr lang="en-US" altLang="zh-CN" sz="1200" b="1" dirty="0">
                    <a:solidFill>
                      <a:schemeClr val="accent6"/>
                    </a:solidFill>
                    <a:latin typeface="+mn-ea"/>
                    <a:ea typeface="+mn-ea"/>
                    <a:cs typeface="Times New Roman" panose="02020603050405020304" pitchFamily="18" charset="0"/>
                  </a:rPr>
                  <a:t>“</a:t>
                </a:r>
                <a:r>
                  <a:rPr lang="zh-CN" altLang="zh-CN" sz="1200" b="1" dirty="0">
                    <a:solidFill>
                      <a:schemeClr val="accent6"/>
                    </a:solidFill>
                    <a:latin typeface="+mn-ea"/>
                    <a:ea typeface="+mn-ea"/>
                    <a:cs typeface="Times New Roman" panose="02020603050405020304" pitchFamily="18" charset="0"/>
                  </a:rPr>
                  <a:t>向上移动一个方格</a:t>
                </a:r>
                <a:r>
                  <a:rPr lang="en-US" altLang="zh-CN" sz="1200" b="1" dirty="0">
                    <a:solidFill>
                      <a:schemeClr val="accent6"/>
                    </a:solidFill>
                    <a:latin typeface="+mn-ea"/>
                    <a:ea typeface="+mn-ea"/>
                    <a:cs typeface="Times New Roman" panose="02020603050405020304" pitchFamily="18" charset="0"/>
                  </a:rPr>
                  <a:t>”</a:t>
                </a:r>
                <a:r>
                  <a:rPr lang="zh-CN" altLang="zh-CN" sz="1200" b="1" dirty="0">
                    <a:solidFill>
                      <a:schemeClr val="accent6"/>
                    </a:solidFill>
                    <a:latin typeface="+mn-ea"/>
                    <a:ea typeface="+mn-ea"/>
                    <a:cs typeface="Times New Roman" panose="02020603050405020304" pitchFamily="18" charset="0"/>
                  </a:rPr>
                  <a:t>或</a:t>
                </a:r>
                <a:r>
                  <a:rPr lang="en-US" altLang="zh-CN" sz="1200" b="1" dirty="0">
                    <a:solidFill>
                      <a:schemeClr val="accent6"/>
                    </a:solidFill>
                    <a:latin typeface="+mn-ea"/>
                    <a:ea typeface="+mn-ea"/>
                    <a:cs typeface="Times New Roman" panose="02020603050405020304" pitchFamily="18" charset="0"/>
                  </a:rPr>
                  <a:t>“</a:t>
                </a:r>
                <a:r>
                  <a:rPr lang="zh-CN" altLang="zh-CN" sz="1200" b="1" dirty="0">
                    <a:solidFill>
                      <a:schemeClr val="accent6"/>
                    </a:solidFill>
                    <a:latin typeface="+mn-ea"/>
                    <a:ea typeface="+mn-ea"/>
                    <a:cs typeface="Times New Roman" panose="02020603050405020304" pitchFamily="18" charset="0"/>
                  </a:rPr>
                  <a:t>向右移动一个方格</a:t>
                </a:r>
                <a:r>
                  <a:rPr lang="en-US" altLang="zh-CN" sz="1200" b="1" dirty="0">
                    <a:solidFill>
                      <a:schemeClr val="accent6"/>
                    </a:solidFill>
                    <a:latin typeface="+mn-ea"/>
                    <a:ea typeface="+mn-ea"/>
                    <a:cs typeface="Times New Roman" panose="02020603050405020304" pitchFamily="18" charset="0"/>
                  </a:rPr>
                  <a:t>”</a:t>
                </a:r>
                <a:r>
                  <a:rPr lang="zh-CN" altLang="en-US" sz="1200" b="1" dirty="0">
                    <a:solidFill>
                      <a:schemeClr val="accent6"/>
                    </a:solidFill>
                    <a:latin typeface="+mn-ea"/>
                    <a:ea typeface="+mn-ea"/>
                    <a:cs typeface="Times New Roman" panose="02020603050405020304" pitchFamily="18" charset="0"/>
                  </a:rPr>
                  <a:t>哪一个</a:t>
                </a:r>
                <a:r>
                  <a:rPr lang="zh-CN" altLang="zh-CN" sz="1200" b="1" dirty="0">
                    <a:solidFill>
                      <a:schemeClr val="accent6"/>
                    </a:solidFill>
                    <a:latin typeface="+mn-ea"/>
                    <a:ea typeface="+mn-ea"/>
                    <a:cs typeface="Times New Roman" panose="02020603050405020304" pitchFamily="18" charset="0"/>
                  </a:rPr>
                  <a:t>行动</a:t>
                </a:r>
                <a:r>
                  <a:rPr lang="zh-CN" altLang="en-US" sz="1200" b="1" dirty="0">
                    <a:solidFill>
                      <a:schemeClr val="accent6"/>
                    </a:solidFill>
                    <a:latin typeface="+mn-ea"/>
                    <a:ea typeface="+mn-ea"/>
                    <a:cs typeface="Times New Roman" panose="02020603050405020304" pitchFamily="18" charset="0"/>
                  </a:rPr>
                  <a:t>？</a:t>
                </a:r>
              </a:p>
            </p:txBody>
          </p:sp>
        </mc:Choice>
        <mc:Fallback xmlns="">
          <p:sp>
            <p:nvSpPr>
              <p:cNvPr id="11" name="矩形 10">
                <a:extLst>
                  <a:ext uri="{FF2B5EF4-FFF2-40B4-BE49-F238E27FC236}">
                    <a16:creationId xmlns:a16="http://schemas.microsoft.com/office/drawing/2014/main" id="{3B7A96A3-EA5D-412B-8493-EBE8C06661ED}"/>
                  </a:ext>
                </a:extLst>
              </p:cNvPr>
              <p:cNvSpPr>
                <a:spLocks noRot="1" noChangeAspect="1" noMove="1" noResize="1" noEditPoints="1" noAdjustHandles="1" noChangeArrowheads="1" noChangeShapeType="1" noTextEdit="1"/>
              </p:cNvSpPr>
              <p:nvPr/>
            </p:nvSpPr>
            <p:spPr>
              <a:xfrm>
                <a:off x="576383" y="915566"/>
                <a:ext cx="8280920" cy="461665"/>
              </a:xfrm>
              <a:prstGeom prst="rect">
                <a:avLst/>
              </a:prstGeom>
              <a:blipFill>
                <a:blip r:embed="rId5"/>
                <a:stretch>
                  <a:fillRect l="-74"/>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816B0880-C55A-7E00-EDD9-F101C4143D35}"/>
              </a:ext>
            </a:extLst>
          </p:cNvPr>
          <p:cNvGrpSpPr/>
          <p:nvPr/>
        </p:nvGrpSpPr>
        <p:grpSpPr>
          <a:xfrm>
            <a:off x="611560" y="483518"/>
            <a:ext cx="5598290" cy="373451"/>
            <a:chOff x="4099943" y="2819853"/>
            <a:chExt cx="2570275" cy="497934"/>
          </a:xfrm>
        </p:grpSpPr>
        <p:sp>
          <p:nvSpPr>
            <p:cNvPr id="12" name="平行四边形 11">
              <a:extLst>
                <a:ext uri="{FF2B5EF4-FFF2-40B4-BE49-F238E27FC236}">
                  <a16:creationId xmlns:a16="http://schemas.microsoft.com/office/drawing/2014/main" id="{7B428EE1-7725-73E7-232F-F3C2A1CE0DA5}"/>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3" name="平行四边形 12">
              <a:extLst>
                <a:ext uri="{FF2B5EF4-FFF2-40B4-BE49-F238E27FC236}">
                  <a16:creationId xmlns:a16="http://schemas.microsoft.com/office/drawing/2014/main" id="{8CB9BABA-E6F8-2CEB-053E-D4F66E51C133}"/>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4" name="矩形 13">
              <a:extLst>
                <a:ext uri="{FF2B5EF4-FFF2-40B4-BE49-F238E27FC236}">
                  <a16:creationId xmlns:a16="http://schemas.microsoft.com/office/drawing/2014/main" id="{D21FF6AE-700D-9EBC-C5EA-B204FAEA5962}"/>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基于价值的强化学习：策略优化例子</a:t>
              </a:r>
            </a:p>
          </p:txBody>
        </p:sp>
      </p:grpSp>
    </p:spTree>
    <p:extLst>
      <p:ext uri="{BB962C8B-B14F-4D97-AF65-F5344CB8AC3E}">
        <p14:creationId xmlns:p14="http://schemas.microsoft.com/office/powerpoint/2010/main" val="393058050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2902492" y="1195882"/>
            <a:ext cx="3339017" cy="3365886"/>
            <a:chOff x="3872379" y="1383943"/>
            <a:chExt cx="4452022" cy="4487848"/>
          </a:xfrm>
          <a:solidFill>
            <a:srgbClr val="24569D"/>
          </a:solidFill>
        </p:grpSpPr>
        <p:sp>
          <p:nvSpPr>
            <p:cNvPr id="3" name="Freeform 5"/>
            <p:cNvSpPr/>
            <p:nvPr>
              <p:custDataLst>
                <p:tags r:id="rId6"/>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4" name="Freeform 6"/>
            <p:cNvSpPr/>
            <p:nvPr>
              <p:custDataLst>
                <p:tags r:id="rId7"/>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5" name="Freeform 7"/>
            <p:cNvSpPr/>
            <p:nvPr>
              <p:custDataLst>
                <p:tags r:id="rId8"/>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6" name="Freeform 8"/>
            <p:cNvSpPr/>
            <p:nvPr>
              <p:custDataLst>
                <p:tags r:id="rId9"/>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nvGrpSpPr>
            <p:cNvPr id="7" name="Group 44"/>
            <p:cNvGrpSpPr/>
            <p:nvPr/>
          </p:nvGrpSpPr>
          <p:grpSpPr>
            <a:xfrm>
              <a:off x="4569798" y="4627422"/>
              <a:ext cx="527842" cy="535007"/>
              <a:chOff x="3557588" y="3654425"/>
              <a:chExt cx="350838" cy="355600"/>
            </a:xfrm>
            <a:grpFill/>
          </p:grpSpPr>
          <p:sp>
            <p:nvSpPr>
              <p:cNvPr id="20" name="Freeform 9"/>
              <p:cNvSpPr>
                <a:spLocks noEditPoints="1"/>
              </p:cNvSpPr>
              <p:nvPr>
                <p:custDataLst>
                  <p:tags r:id="rId20"/>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1" name="Freeform 10"/>
              <p:cNvSpPr>
                <a:spLocks noEditPoints="1"/>
              </p:cNvSpPr>
              <p:nvPr>
                <p:custDataLst>
                  <p:tags r:id="rId21"/>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2" name="Freeform 11"/>
              <p:cNvSpPr>
                <a:spLocks noEditPoints="1"/>
              </p:cNvSpPr>
              <p:nvPr>
                <p:custDataLst>
                  <p:tags r:id="rId22"/>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8" name="Group 48"/>
            <p:cNvGrpSpPr/>
            <p:nvPr/>
          </p:nvGrpSpPr>
          <p:grpSpPr>
            <a:xfrm>
              <a:off x="7025097" y="2098082"/>
              <a:ext cx="606660" cy="539784"/>
              <a:chOff x="5189538" y="1973263"/>
              <a:chExt cx="403225" cy="358775"/>
            </a:xfrm>
            <a:grpFill/>
          </p:grpSpPr>
          <p:sp>
            <p:nvSpPr>
              <p:cNvPr id="18" name="Freeform 12"/>
              <p:cNvSpPr>
                <a:spLocks noEditPoints="1"/>
              </p:cNvSpPr>
              <p:nvPr>
                <p:custDataLst>
                  <p:tags r:id="rId18"/>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9" name="Freeform 13"/>
              <p:cNvSpPr>
                <a:spLocks noEditPoints="1"/>
              </p:cNvSpPr>
              <p:nvPr>
                <p:custDataLst>
                  <p:tags r:id="rId19"/>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9" name="Group 51"/>
            <p:cNvGrpSpPr/>
            <p:nvPr/>
          </p:nvGrpSpPr>
          <p:grpSpPr>
            <a:xfrm>
              <a:off x="6984495" y="4601150"/>
              <a:ext cx="599495" cy="587552"/>
              <a:chOff x="5162551" y="3636963"/>
              <a:chExt cx="398463" cy="390525"/>
            </a:xfrm>
            <a:grpFill/>
          </p:grpSpPr>
          <p:sp>
            <p:nvSpPr>
              <p:cNvPr id="15" name="Freeform 14"/>
              <p:cNvSpPr>
                <a:spLocks noEditPoints="1"/>
              </p:cNvSpPr>
              <p:nvPr>
                <p:custDataLst>
                  <p:tags r:id="rId15"/>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6" name="Freeform 15"/>
              <p:cNvSpPr>
                <a:spLocks noEditPoints="1"/>
              </p:cNvSpPr>
              <p:nvPr>
                <p:custDataLst>
                  <p:tags r:id="rId16"/>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7" name="Freeform 16"/>
              <p:cNvSpPr>
                <a:spLocks noEditPoints="1"/>
              </p:cNvSpPr>
              <p:nvPr>
                <p:custDataLst>
                  <p:tags r:id="rId17"/>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sp>
          <p:nvSpPr>
            <p:cNvPr id="10" name="Freeform 17"/>
            <p:cNvSpPr>
              <a:spLocks noEditPoints="1"/>
            </p:cNvSpPr>
            <p:nvPr>
              <p:custDataLst>
                <p:tags r:id="rId10"/>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1" name="TextBox 56"/>
            <p:cNvSpPr txBox="1"/>
            <p:nvPr>
              <p:custDataLst>
                <p:tags r:id="rId11"/>
              </p:custDataLst>
            </p:nvPr>
          </p:nvSpPr>
          <p:spPr>
            <a:xfrm>
              <a:off x="5224365"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01</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2" name="TextBox 57"/>
            <p:cNvSpPr txBox="1"/>
            <p:nvPr>
              <p:custDataLst>
                <p:tags r:id="rId12"/>
              </p:custDataLst>
            </p:nvPr>
          </p:nvSpPr>
          <p:spPr>
            <a:xfrm>
              <a:off x="6297629"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02</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3" name="TextBox 58"/>
            <p:cNvSpPr txBox="1"/>
            <p:nvPr>
              <p:custDataLst>
                <p:tags r:id="rId13"/>
              </p:custDataLst>
            </p:nvPr>
          </p:nvSpPr>
          <p:spPr>
            <a:xfrm>
              <a:off x="5224365"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03</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4" name="TextBox 59"/>
            <p:cNvSpPr txBox="1"/>
            <p:nvPr>
              <p:custDataLst>
                <p:tags r:id="rId14"/>
              </p:custDataLst>
            </p:nvPr>
          </p:nvSpPr>
          <p:spPr>
            <a:xfrm>
              <a:off x="6297629"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04</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grpSp>
      <p:sp>
        <p:nvSpPr>
          <p:cNvPr id="24" name="文本框 23"/>
          <p:cNvSpPr txBox="1"/>
          <p:nvPr>
            <p:custDataLst>
              <p:tags r:id="rId2"/>
            </p:custDataLst>
          </p:nvPr>
        </p:nvSpPr>
        <p:spPr>
          <a:xfrm>
            <a:off x="597053" y="1891426"/>
            <a:ext cx="2492990" cy="369332"/>
          </a:xfrm>
          <a:prstGeom prst="rect">
            <a:avLst/>
          </a:prstGeom>
          <a:noFill/>
        </p:spPr>
        <p:txBody>
          <a:bodyPr wrap="none" rtlCol="0">
            <a:spAutoFit/>
          </a:bodyPr>
          <a:lstStyle/>
          <a:p>
            <a:r>
              <a:rPr lang="zh-CN" altLang="en-US" sz="1800" b="1" dirty="0">
                <a:solidFill>
                  <a:srgbClr val="24569D"/>
                </a:solidFill>
                <a:latin typeface="+mn-ea"/>
                <a:ea typeface="+mn-ea"/>
              </a:rPr>
              <a:t>强化学习策略迭代模式</a:t>
            </a:r>
          </a:p>
        </p:txBody>
      </p:sp>
      <p:sp>
        <p:nvSpPr>
          <p:cNvPr id="28" name="文本框 27"/>
          <p:cNvSpPr txBox="1"/>
          <p:nvPr>
            <p:custDataLst>
              <p:tags r:id="rId3"/>
            </p:custDataLst>
          </p:nvPr>
        </p:nvSpPr>
        <p:spPr>
          <a:xfrm>
            <a:off x="6241509" y="3683810"/>
            <a:ext cx="2614818" cy="369332"/>
          </a:xfrm>
          <a:prstGeom prst="rect">
            <a:avLst/>
          </a:prstGeom>
          <a:noFill/>
        </p:spPr>
        <p:txBody>
          <a:bodyPr wrap="none" rtlCol="0">
            <a:spAutoFit/>
          </a:bodyPr>
          <a:lstStyle/>
          <a:p>
            <a:pPr algn="ctr"/>
            <a:r>
              <a:rPr lang="zh-CN" altLang="en-US" sz="1800" b="1" dirty="0">
                <a:solidFill>
                  <a:srgbClr val="24569D"/>
                </a:solidFill>
                <a:latin typeface="+mn-ea"/>
                <a:ea typeface="+mn-ea"/>
              </a:rPr>
              <a:t>案例分析</a:t>
            </a:r>
            <a:r>
              <a:rPr lang="en-US" altLang="zh-CN" sz="1800" b="1" dirty="0">
                <a:solidFill>
                  <a:srgbClr val="24569D"/>
                </a:solidFill>
                <a:latin typeface="+mn-ea"/>
                <a:ea typeface="+mn-ea"/>
              </a:rPr>
              <a:t>——</a:t>
            </a:r>
            <a:r>
              <a:rPr lang="en-US" altLang="zh-CN" sz="1800" b="1" dirty="0" err="1">
                <a:solidFill>
                  <a:srgbClr val="24569D"/>
                </a:solidFill>
                <a:latin typeface="+mn-ea"/>
                <a:ea typeface="+mn-ea"/>
              </a:rPr>
              <a:t>AlphaGo</a:t>
            </a:r>
            <a:endParaRPr lang="zh-CN" altLang="en-US" sz="1800" b="1" dirty="0">
              <a:solidFill>
                <a:srgbClr val="24569D"/>
              </a:solidFill>
              <a:latin typeface="+mn-ea"/>
              <a:ea typeface="+mn-ea"/>
            </a:endParaRPr>
          </a:p>
        </p:txBody>
      </p:sp>
      <p:sp>
        <p:nvSpPr>
          <p:cNvPr id="34" name="文本框 33"/>
          <p:cNvSpPr txBox="1"/>
          <p:nvPr>
            <p:custDataLst>
              <p:tags r:id="rId4"/>
            </p:custDataLst>
          </p:nvPr>
        </p:nvSpPr>
        <p:spPr>
          <a:xfrm>
            <a:off x="6504831" y="1902894"/>
            <a:ext cx="1569660" cy="369332"/>
          </a:xfrm>
          <a:prstGeom prst="rect">
            <a:avLst/>
          </a:prstGeom>
          <a:noFill/>
        </p:spPr>
        <p:txBody>
          <a:bodyPr wrap="none" rtlCol="0">
            <a:spAutoFit/>
          </a:bodyPr>
          <a:lstStyle/>
          <a:p>
            <a:r>
              <a:rPr lang="zh-CN" altLang="en-US" sz="1800" b="1" dirty="0" smtClean="0">
                <a:solidFill>
                  <a:srgbClr val="FF0000"/>
                </a:solidFill>
                <a:latin typeface="+mn-ea"/>
                <a:ea typeface="+mn-ea"/>
              </a:rPr>
              <a:t>策略评估方法</a:t>
            </a:r>
            <a:endParaRPr lang="zh-CN" altLang="en-US" sz="1800" b="1" dirty="0">
              <a:solidFill>
                <a:srgbClr val="FF0000"/>
              </a:solidFill>
              <a:latin typeface="+mn-ea"/>
              <a:ea typeface="+mn-ea"/>
            </a:endParaRPr>
          </a:p>
        </p:txBody>
      </p:sp>
      <p:sp>
        <p:nvSpPr>
          <p:cNvPr id="2" name="矩形 1"/>
          <p:cNvSpPr/>
          <p:nvPr/>
        </p:nvSpPr>
        <p:spPr>
          <a:xfrm>
            <a:off x="559205" y="676969"/>
            <a:ext cx="723275" cy="415498"/>
          </a:xfrm>
          <a:prstGeom prst="rect">
            <a:avLst/>
          </a:prstGeom>
        </p:spPr>
        <p:txBody>
          <a:bodyPr wrap="none">
            <a:spAutoFit/>
          </a:bodyPr>
          <a:lstStyle/>
          <a:p>
            <a:r>
              <a:rPr lang="zh-CN" altLang="en-US" sz="2100" dirty="0">
                <a:latin typeface="+mn-ea"/>
                <a:ea typeface="+mn-ea"/>
              </a:rPr>
              <a:t>目录</a:t>
            </a:r>
          </a:p>
        </p:txBody>
      </p:sp>
      <p:sp>
        <p:nvSpPr>
          <p:cNvPr id="29" name="文本框 28"/>
          <p:cNvSpPr txBox="1"/>
          <p:nvPr>
            <p:custDataLst>
              <p:tags r:id="rId5"/>
            </p:custDataLst>
          </p:nvPr>
        </p:nvSpPr>
        <p:spPr>
          <a:xfrm>
            <a:off x="519356" y="3592344"/>
            <a:ext cx="2723823" cy="369332"/>
          </a:xfrm>
          <a:prstGeom prst="rect">
            <a:avLst/>
          </a:prstGeom>
          <a:noFill/>
        </p:spPr>
        <p:txBody>
          <a:bodyPr wrap="none" rtlCol="0">
            <a:spAutoFit/>
          </a:bodyPr>
          <a:lstStyle/>
          <a:p>
            <a:r>
              <a:rPr lang="zh-CN" altLang="en-US" sz="1800" b="1" dirty="0" smtClean="0">
                <a:solidFill>
                  <a:srgbClr val="24569D"/>
                </a:solidFill>
                <a:latin typeface="+mn-ea"/>
                <a:ea typeface="+mn-ea"/>
              </a:rPr>
              <a:t>基于价值的强化学习算法</a:t>
            </a:r>
            <a:endParaRPr lang="zh-CN" altLang="en-US" sz="1800" b="1" dirty="0">
              <a:solidFill>
                <a:srgbClr val="24569D"/>
              </a:solidFill>
              <a:latin typeface="+mn-ea"/>
              <a:ea typeface="+mn-ea"/>
            </a:endParaRPr>
          </a:p>
        </p:txBody>
      </p:sp>
    </p:spTree>
    <p:extLst>
      <p:ext uri="{BB962C8B-B14F-4D97-AF65-F5344CB8AC3E}">
        <p14:creationId xmlns:p14="http://schemas.microsoft.com/office/powerpoint/2010/main" val="3417520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C8DAA94-98DD-4B4C-B613-4384E9EE4DA9}"/>
                  </a:ext>
                </a:extLst>
              </p:cNvPr>
              <p:cNvSpPr/>
              <p:nvPr/>
            </p:nvSpPr>
            <p:spPr>
              <a:xfrm>
                <a:off x="395536" y="1265921"/>
                <a:ext cx="8359577" cy="767133"/>
              </a:xfrm>
              <a:prstGeom prst="rect">
                <a:avLst/>
              </a:prstGeom>
            </p:spPr>
            <p:txBody>
              <a:bodyPr wrap="square">
                <a:spAutoFit/>
              </a:bodyPr>
              <a:lstStyle/>
              <a:p>
                <a:pPr>
                  <a:lnSpc>
                    <a:spcPct val="150000"/>
                  </a:lnSpc>
                </a:pPr>
                <a:r>
                  <a:rPr lang="zh-CN" altLang="zh-CN" sz="1600" dirty="0">
                    <a:latin typeface="+mn-ea"/>
                    <a:ea typeface="+mn-ea"/>
                    <a:cs typeface="Times New Roman" panose="02020603050405020304" pitchFamily="18" charset="0"/>
                  </a:rPr>
                  <a:t>假定当前策略为</a:t>
                </a:r>
                <a14:m>
                  <m:oMath xmlns:m="http://schemas.openxmlformats.org/officeDocument/2006/math">
                    <m:r>
                      <a:rPr lang="en-US" altLang="zh-CN" sz="1600" i="1">
                        <a:latin typeface="Cambria Math" panose="02040503050406030204" pitchFamily="18" charset="0"/>
                        <a:ea typeface="+mn-ea"/>
                        <a:cs typeface="Times New Roman" panose="02020603050405020304" pitchFamily="18" charset="0"/>
                      </a:rPr>
                      <m:t>𝜋</m:t>
                    </m:r>
                  </m:oMath>
                </a14:m>
                <a:r>
                  <a:rPr lang="zh-CN" altLang="zh-CN" sz="1600" dirty="0">
                    <a:latin typeface="+mn-ea"/>
                    <a:ea typeface="+mn-ea"/>
                    <a:cs typeface="Times New Roman" panose="02020603050405020304" pitchFamily="18" charset="0"/>
                  </a:rPr>
                  <a:t>，策略评估指的是根据策略</a:t>
                </a:r>
                <a14:m>
                  <m:oMath xmlns:m="http://schemas.openxmlformats.org/officeDocument/2006/math">
                    <m:r>
                      <a:rPr lang="en-US" altLang="zh-CN" sz="1600" i="1">
                        <a:latin typeface="Cambria Math" panose="02040503050406030204" pitchFamily="18" charset="0"/>
                        <a:ea typeface="+mn-ea"/>
                        <a:cs typeface="Times New Roman" panose="02020603050405020304" pitchFamily="18" charset="0"/>
                      </a:rPr>
                      <m:t>𝜋</m:t>
                    </m:r>
                  </m:oMath>
                </a14:m>
                <a:r>
                  <a:rPr lang="zh-CN" altLang="zh-CN" sz="1600" dirty="0">
                    <a:latin typeface="+mn-ea"/>
                    <a:ea typeface="+mn-ea"/>
                    <a:cs typeface="Times New Roman" panose="02020603050405020304" pitchFamily="18" charset="0"/>
                  </a:rPr>
                  <a:t>来计算相应的价值函数</a:t>
                </a:r>
                <a14:m>
                  <m:oMath xmlns:m="http://schemas.openxmlformats.org/officeDocument/2006/math">
                    <m:sSub>
                      <m:sSubPr>
                        <m:ctrlPr>
                          <a:rPr lang="zh-CN" altLang="zh-CN" sz="1600" i="1">
                            <a:latin typeface="Cambria Math" panose="02040503050406030204" pitchFamily="18" charset="0"/>
                            <a:ea typeface="+mn-ea"/>
                            <a:cs typeface="Times New Roman" panose="02020603050405020304" pitchFamily="18" charset="0"/>
                          </a:rPr>
                        </m:ctrlPr>
                      </m:sSubPr>
                      <m:e>
                        <m:r>
                          <a:rPr lang="en-US" altLang="zh-CN" sz="1600" i="1">
                            <a:latin typeface="Cambria Math" panose="02040503050406030204" pitchFamily="18" charset="0"/>
                            <a:ea typeface="+mn-ea"/>
                            <a:cs typeface="Times New Roman" panose="02020603050405020304" pitchFamily="18" charset="0"/>
                          </a:rPr>
                          <m:t>𝑉</m:t>
                        </m:r>
                      </m:e>
                      <m:sub>
                        <m:r>
                          <a:rPr lang="en-US" altLang="zh-CN" sz="1600" i="1">
                            <a:latin typeface="Cambria Math" panose="02040503050406030204" pitchFamily="18" charset="0"/>
                            <a:ea typeface="+mn-ea"/>
                            <a:cs typeface="Times New Roman" panose="02020603050405020304" pitchFamily="18" charset="0"/>
                          </a:rPr>
                          <m:t>𝜋</m:t>
                        </m:r>
                      </m:sub>
                    </m:sSub>
                  </m:oMath>
                </a14:m>
                <a:r>
                  <a:rPr lang="zh-CN" altLang="zh-CN" sz="1600" dirty="0">
                    <a:latin typeface="+mn-ea"/>
                    <a:ea typeface="+mn-ea"/>
                    <a:cs typeface="Times New Roman" panose="02020603050405020304" pitchFamily="18" charset="0"/>
                  </a:rPr>
                  <a:t>或动作</a:t>
                </a:r>
                <a:r>
                  <a:rPr lang="en-US" altLang="zh-CN" sz="1600" dirty="0">
                    <a:latin typeface="+mn-ea"/>
                    <a:ea typeface="+mn-ea"/>
                    <a:cs typeface="Times New Roman" panose="02020603050405020304" pitchFamily="18" charset="0"/>
                  </a:rPr>
                  <a:t>-</a:t>
                </a:r>
                <a:r>
                  <a:rPr lang="zh-CN" altLang="zh-CN" sz="1600" dirty="0">
                    <a:latin typeface="+mn-ea"/>
                    <a:ea typeface="+mn-ea"/>
                    <a:cs typeface="Times New Roman" panose="02020603050405020304" pitchFamily="18" charset="0"/>
                  </a:rPr>
                  <a:t>价值函数</a:t>
                </a:r>
                <a14:m>
                  <m:oMath xmlns:m="http://schemas.openxmlformats.org/officeDocument/2006/math">
                    <m:sSub>
                      <m:sSubPr>
                        <m:ctrlPr>
                          <a:rPr lang="zh-CN" altLang="zh-CN" sz="1600" i="1">
                            <a:latin typeface="Cambria Math" panose="02040503050406030204" pitchFamily="18" charset="0"/>
                            <a:ea typeface="+mn-ea"/>
                            <a:cs typeface="Times New Roman" panose="02020603050405020304" pitchFamily="18" charset="0"/>
                          </a:rPr>
                        </m:ctrlPr>
                      </m:sSubPr>
                      <m:e>
                        <m:r>
                          <a:rPr lang="en-US" altLang="zh-CN" sz="1600" i="1">
                            <a:latin typeface="Cambria Math" panose="02040503050406030204" pitchFamily="18" charset="0"/>
                            <a:ea typeface="+mn-ea"/>
                            <a:cs typeface="Times New Roman" panose="02020603050405020304" pitchFamily="18" charset="0"/>
                          </a:rPr>
                          <m:t>𝑞</m:t>
                        </m:r>
                      </m:e>
                      <m:sub>
                        <m:r>
                          <a:rPr lang="en-US" altLang="zh-CN" sz="1600" i="1">
                            <a:latin typeface="Cambria Math" panose="02040503050406030204" pitchFamily="18" charset="0"/>
                            <a:ea typeface="+mn-ea"/>
                            <a:cs typeface="Times New Roman" panose="02020603050405020304" pitchFamily="18" charset="0"/>
                          </a:rPr>
                          <m:t>𝜋</m:t>
                        </m:r>
                      </m:sub>
                    </m:sSub>
                  </m:oMath>
                </a14:m>
                <a:r>
                  <a:rPr lang="zh-CN" altLang="zh-CN" sz="1600" dirty="0" smtClean="0">
                    <a:latin typeface="+mn-ea"/>
                    <a:ea typeface="+mn-ea"/>
                    <a:cs typeface="Times New Roman" panose="02020603050405020304" pitchFamily="18" charset="0"/>
                  </a:rPr>
                  <a:t>。</a:t>
                </a:r>
                <a:r>
                  <a:rPr lang="zh-CN" altLang="zh-CN" sz="1500"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在</a:t>
                </a:r>
                <a:r>
                  <a:rPr lang="zh-CN" altLang="zh-CN" sz="15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状态集合有限前提下三种常见的策略评估方法，它们</a:t>
                </a:r>
                <a:r>
                  <a:rPr lang="zh-CN" altLang="zh-CN" sz="1500"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分别</a:t>
                </a:r>
                <a:r>
                  <a:rPr lang="zh-CN" altLang="en-US" sz="1500"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1500"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dirty="0">
                  <a:latin typeface="+mn-ea"/>
                  <a:ea typeface="+mn-ea"/>
                </a:endParaRPr>
              </a:p>
            </p:txBody>
          </p:sp>
        </mc:Choice>
        <mc:Fallback xmlns="">
          <p:sp>
            <p:nvSpPr>
              <p:cNvPr id="8" name="矩形 7">
                <a:extLst>
                  <a:ext uri="{FF2B5EF4-FFF2-40B4-BE49-F238E27FC236}">
                    <a16:creationId xmlns:a16="http://schemas.microsoft.com/office/drawing/2014/main" id="{7C8DAA94-98DD-4B4C-B613-4384E9EE4DA9}"/>
                  </a:ext>
                </a:extLst>
              </p:cNvPr>
              <p:cNvSpPr>
                <a:spLocks noRot="1" noChangeAspect="1" noMove="1" noResize="1" noEditPoints="1" noAdjustHandles="1" noChangeArrowheads="1" noChangeShapeType="1" noTextEdit="1"/>
              </p:cNvSpPr>
              <p:nvPr/>
            </p:nvSpPr>
            <p:spPr>
              <a:xfrm>
                <a:off x="395536" y="1265921"/>
                <a:ext cx="8359577" cy="767133"/>
              </a:xfrm>
              <a:prstGeom prst="rect">
                <a:avLst/>
              </a:prstGeom>
              <a:blipFill>
                <a:blip r:embed="rId3"/>
                <a:stretch>
                  <a:fillRect l="-438" r="-2772" b="-7143"/>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728C573C-26CC-467C-AD62-C248789C7C7D}"/>
              </a:ext>
            </a:extLst>
          </p:cNvPr>
          <p:cNvSpPr/>
          <p:nvPr/>
        </p:nvSpPr>
        <p:spPr>
          <a:xfrm>
            <a:off x="611560" y="2433667"/>
            <a:ext cx="4208399" cy="1449628"/>
          </a:xfrm>
          <a:prstGeom prst="rect">
            <a:avLst/>
          </a:prstGeom>
        </p:spPr>
        <p:txBody>
          <a:bodyPr wrap="square">
            <a:spAutoFit/>
          </a:bodyPr>
          <a:lstStyle/>
          <a:p>
            <a:pPr marL="257175" indent="-257175">
              <a:lnSpc>
                <a:spcPct val="150000"/>
              </a:lnSpc>
              <a:buFont typeface="Wingdings" panose="05000000000000000000" pitchFamily="2" charset="2"/>
              <a:buChar char="l"/>
            </a:pPr>
            <a:r>
              <a:rPr lang="zh-CN" altLang="en-US" sz="1800" dirty="0">
                <a:solidFill>
                  <a:srgbClr val="0070C0"/>
                </a:solidFill>
                <a:latin typeface="+mn-ea"/>
                <a:ea typeface="+mn-ea"/>
                <a:cs typeface="Times New Roman" panose="02020603050405020304" pitchFamily="18" charset="0"/>
              </a:rPr>
              <a:t>动态规划</a:t>
            </a:r>
          </a:p>
          <a:p>
            <a:pPr marL="257175" indent="-257175">
              <a:lnSpc>
                <a:spcPct val="150000"/>
              </a:lnSpc>
              <a:buFont typeface="Wingdings" panose="05000000000000000000" pitchFamily="2" charset="2"/>
              <a:buChar char="l"/>
            </a:pPr>
            <a:r>
              <a:rPr lang="zh-CN" altLang="en-US" sz="1800" dirty="0">
                <a:solidFill>
                  <a:srgbClr val="0070C0"/>
                </a:solidFill>
                <a:latin typeface="+mn-ea"/>
                <a:ea typeface="+mn-ea"/>
                <a:cs typeface="Times New Roman" panose="02020603050405020304" pitchFamily="18" charset="0"/>
              </a:rPr>
              <a:t>蒙特卡洛采样</a:t>
            </a:r>
          </a:p>
          <a:p>
            <a:pPr marL="257175" indent="-257175">
              <a:lnSpc>
                <a:spcPct val="150000"/>
              </a:lnSpc>
              <a:buFont typeface="Wingdings" panose="05000000000000000000" pitchFamily="2" charset="2"/>
              <a:buChar char="l"/>
            </a:pPr>
            <a:r>
              <a:rPr lang="zh-CN" altLang="en-US" sz="1800" dirty="0">
                <a:solidFill>
                  <a:srgbClr val="0070C0"/>
                </a:solidFill>
                <a:latin typeface="+mn-ea"/>
                <a:ea typeface="+mn-ea"/>
                <a:cs typeface="Times New Roman" panose="02020603050405020304" pitchFamily="18" charset="0"/>
              </a:rPr>
              <a:t>时序差分（</a:t>
            </a:r>
            <a:r>
              <a:rPr lang="en-US" altLang="zh-CN" sz="1800" dirty="0">
                <a:solidFill>
                  <a:srgbClr val="0070C0"/>
                </a:solidFill>
                <a:latin typeface="+mn-ea"/>
                <a:ea typeface="+mn-ea"/>
                <a:cs typeface="Times New Roman" panose="02020603050405020304" pitchFamily="18" charset="0"/>
              </a:rPr>
              <a:t>Temporal Difference</a:t>
            </a:r>
            <a:r>
              <a:rPr lang="zh-CN" altLang="en-US" sz="1800" dirty="0">
                <a:solidFill>
                  <a:srgbClr val="0070C0"/>
                </a:solidFill>
                <a:latin typeface="+mn-ea"/>
                <a:ea typeface="+mn-ea"/>
                <a:cs typeface="Times New Roman" panose="02020603050405020304" pitchFamily="18" charset="0"/>
              </a:rPr>
              <a:t>）</a:t>
            </a:r>
          </a:p>
        </p:txBody>
      </p:sp>
      <p:grpSp>
        <p:nvGrpSpPr>
          <p:cNvPr id="7" name="组合 6">
            <a:extLst>
              <a:ext uri="{FF2B5EF4-FFF2-40B4-BE49-F238E27FC236}">
                <a16:creationId xmlns:a16="http://schemas.microsoft.com/office/drawing/2014/main" id="{BBE2727E-F6B9-FD6E-9B1E-07188C14FB1C}"/>
              </a:ext>
            </a:extLst>
          </p:cNvPr>
          <p:cNvGrpSpPr/>
          <p:nvPr/>
        </p:nvGrpSpPr>
        <p:grpSpPr>
          <a:xfrm>
            <a:off x="611560" y="483518"/>
            <a:ext cx="5598290" cy="373451"/>
            <a:chOff x="4099943" y="2819853"/>
            <a:chExt cx="2570275" cy="497934"/>
          </a:xfrm>
        </p:grpSpPr>
        <p:sp>
          <p:nvSpPr>
            <p:cNvPr id="9" name="平行四边形 8">
              <a:extLst>
                <a:ext uri="{FF2B5EF4-FFF2-40B4-BE49-F238E27FC236}">
                  <a16:creationId xmlns:a16="http://schemas.microsoft.com/office/drawing/2014/main" id="{0834E1E0-3301-8300-98D8-EB720B44ED69}"/>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0" name="平行四边形 9">
              <a:extLst>
                <a:ext uri="{FF2B5EF4-FFF2-40B4-BE49-F238E27FC236}">
                  <a16:creationId xmlns:a16="http://schemas.microsoft.com/office/drawing/2014/main" id="{4265F021-A17F-667C-DED8-5FB8233DB368}"/>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1" name="矩形 10">
              <a:extLst>
                <a:ext uri="{FF2B5EF4-FFF2-40B4-BE49-F238E27FC236}">
                  <a16:creationId xmlns:a16="http://schemas.microsoft.com/office/drawing/2014/main" id="{DD8037FC-9439-1A5B-B567-19C872335A02}"/>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基于价值的强化学习：</a:t>
              </a:r>
              <a:r>
                <a:rPr lang="zh-CN" altLang="en-US" sz="1500" b="1" dirty="0">
                  <a:solidFill>
                    <a:srgbClr val="FF0000"/>
                  </a:solidFill>
                  <a:latin typeface="+mn-ea"/>
                  <a:ea typeface="+mn-ea"/>
                  <a:cs typeface="Times New Roman" panose="02020603050405020304" pitchFamily="18" charset="0"/>
                </a:rPr>
                <a:t>策略评估</a:t>
              </a:r>
            </a:p>
          </p:txBody>
        </p:sp>
      </p:grpSp>
      <p:pic>
        <p:nvPicPr>
          <p:cNvPr id="13" name="图片 12">
            <a:extLst>
              <a:ext uri="{FF2B5EF4-FFF2-40B4-BE49-F238E27FC236}">
                <a16:creationId xmlns:a16="http://schemas.microsoft.com/office/drawing/2014/main" id="{C4B9CC4C-04ED-40A5-AEFF-13C91FBEAA82}"/>
              </a:ext>
            </a:extLst>
          </p:cNvPr>
          <p:cNvPicPr>
            <a:picLocks noChangeAspect="1"/>
          </p:cNvPicPr>
          <p:nvPr/>
        </p:nvPicPr>
        <p:blipFill rotWithShape="1">
          <a:blip r:embed="rId4"/>
          <a:srcRect r="36469" b="20979"/>
          <a:stretch/>
        </p:blipFill>
        <p:spPr>
          <a:xfrm>
            <a:off x="4644008" y="2211710"/>
            <a:ext cx="4267141" cy="2304256"/>
          </a:xfrm>
          <a:prstGeom prst="rect">
            <a:avLst/>
          </a:prstGeom>
        </p:spPr>
      </p:pic>
    </p:spTree>
    <p:extLst>
      <p:ext uri="{BB962C8B-B14F-4D97-AF65-F5344CB8AC3E}">
        <p14:creationId xmlns:p14="http://schemas.microsoft.com/office/powerpoint/2010/main" val="1209088667"/>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16ED5ED-30C6-4078-9EB7-B7215077F17C}"/>
                  </a:ext>
                </a:extLst>
              </p:cNvPr>
              <p:cNvSpPr txBox="1"/>
              <p:nvPr/>
            </p:nvSpPr>
            <p:spPr>
              <a:xfrm>
                <a:off x="1956231" y="1497888"/>
                <a:ext cx="5299184" cy="1266116"/>
              </a:xfrm>
              <a:prstGeom prst="rect">
                <a:avLst/>
              </a:prstGeom>
              <a:noFill/>
              <a:ln>
                <a:solidFill>
                  <a:schemeClr val="tx1"/>
                </a:solidFill>
              </a:ln>
            </p:spPr>
            <p:txBody>
              <a:bodyPr wrap="square" rtlCol="0">
                <a:spAutoFit/>
              </a:bodyPr>
              <a:lstStyle/>
              <a:p>
                <a:r>
                  <a:rPr lang="zh-CN" altLang="en-US" sz="1050" dirty="0">
                    <a:latin typeface="+mn-ea"/>
                    <a:ea typeface="+mn-ea"/>
                  </a:rPr>
                  <a:t>初始化</a:t>
                </a:r>
                <a14:m>
                  <m:oMath xmlns:m="http://schemas.openxmlformats.org/officeDocument/2006/math">
                    <m:sSub>
                      <m:sSubPr>
                        <m:ctrlPr>
                          <a:rPr lang="en-US" altLang="zh-CN" sz="1050" i="1">
                            <a:latin typeface="Cambria Math" panose="02040503050406030204" pitchFamily="18" charset="0"/>
                            <a:ea typeface="+mn-ea"/>
                          </a:rPr>
                        </m:ctrlPr>
                      </m:sSubPr>
                      <m:e>
                        <m:r>
                          <a:rPr lang="en-US" altLang="zh-CN" sz="1050" i="1">
                            <a:latin typeface="Cambria Math" panose="02040503050406030204" pitchFamily="18" charset="0"/>
                            <a:ea typeface="+mn-ea"/>
                          </a:rPr>
                          <m:t>𝑉</m:t>
                        </m:r>
                      </m:e>
                      <m:sub>
                        <m:r>
                          <a:rPr lang="en-US" altLang="zh-CN" sz="1050" i="1">
                            <a:latin typeface="Cambria Math" panose="02040503050406030204" pitchFamily="18" charset="0"/>
                            <a:ea typeface="+mn-ea"/>
                          </a:rPr>
                          <m:t>𝜋</m:t>
                        </m:r>
                      </m:sub>
                    </m:sSub>
                  </m:oMath>
                </a14:m>
                <a:r>
                  <a:rPr lang="zh-CN" altLang="en-US" sz="1050" dirty="0">
                    <a:latin typeface="+mn-ea"/>
                    <a:ea typeface="+mn-ea"/>
                  </a:rPr>
                  <a:t>函数</a:t>
                </a:r>
                <a:endParaRPr lang="en-US" altLang="zh-CN" sz="1050" dirty="0">
                  <a:latin typeface="+mn-ea"/>
                  <a:ea typeface="+mn-ea"/>
                </a:endParaRPr>
              </a:p>
              <a:p>
                <a:r>
                  <a:rPr lang="zh-CN" altLang="en-US" sz="1050" dirty="0">
                    <a:latin typeface="+mn-ea"/>
                    <a:ea typeface="+mn-ea"/>
                  </a:rPr>
                  <a:t>循环</a:t>
                </a:r>
                <a:endParaRPr lang="en-US" altLang="zh-CN" sz="1050" dirty="0">
                  <a:latin typeface="+mn-ea"/>
                  <a:ea typeface="+mn-ea"/>
                </a:endParaRPr>
              </a:p>
              <a:p>
                <a:r>
                  <a:rPr lang="en-US" altLang="zh-CN" sz="1050" dirty="0">
                    <a:latin typeface="+mn-ea"/>
                    <a:ea typeface="+mn-ea"/>
                  </a:rPr>
                  <a:t>        </a:t>
                </a:r>
                <a:r>
                  <a:rPr lang="zh-CN" altLang="en-US" sz="1050" dirty="0">
                    <a:latin typeface="+mn-ea"/>
                    <a:ea typeface="+mn-ea"/>
                  </a:rPr>
                  <a:t>枚举</a:t>
                </a:r>
                <a14:m>
                  <m:oMath xmlns:m="http://schemas.openxmlformats.org/officeDocument/2006/math">
                    <m:r>
                      <a:rPr lang="en-US" altLang="zh-CN" sz="1050" i="1">
                        <a:latin typeface="Cambria Math" panose="02040503050406030204" pitchFamily="18" charset="0"/>
                        <a:ea typeface="+mn-ea"/>
                      </a:rPr>
                      <m:t>𝑠</m:t>
                    </m:r>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𝑆</m:t>
                    </m:r>
                  </m:oMath>
                </a14:m>
                <a:endParaRPr lang="en-US" altLang="zh-CN" sz="1050" dirty="0">
                  <a:latin typeface="+mn-ea"/>
                  <a:ea typeface="+mn-ea"/>
                </a:endParaRPr>
              </a:p>
              <a:p>
                <a:r>
                  <a:rPr lang="en-US" altLang="zh-CN" sz="1050" dirty="0">
                    <a:latin typeface="+mn-ea"/>
                    <a:ea typeface="+mn-ea"/>
                  </a:rPr>
                  <a:t>                </a:t>
                </a:r>
                <a14:m>
                  <m:oMath xmlns:m="http://schemas.openxmlformats.org/officeDocument/2006/math">
                    <m:sSub>
                      <m:sSubPr>
                        <m:ctrlPr>
                          <a:rPr lang="en-US" altLang="zh-CN" sz="1050" i="1">
                            <a:latin typeface="Cambria Math" panose="02040503050406030204" pitchFamily="18" charset="0"/>
                            <a:ea typeface="+mn-ea"/>
                          </a:rPr>
                        </m:ctrlPr>
                      </m:sSubPr>
                      <m:e>
                        <m:r>
                          <a:rPr lang="en-US" altLang="zh-CN" sz="1050" i="1">
                            <a:latin typeface="Cambria Math" panose="02040503050406030204" pitchFamily="18" charset="0"/>
                            <a:ea typeface="+mn-ea"/>
                          </a:rPr>
                          <m:t>𝑉</m:t>
                        </m:r>
                      </m:e>
                      <m:sub>
                        <m:r>
                          <a:rPr lang="en-US" altLang="zh-CN" sz="1050" i="1">
                            <a:latin typeface="Cambria Math" panose="02040503050406030204" pitchFamily="18" charset="0"/>
                            <a:ea typeface="+mn-ea"/>
                          </a:rPr>
                          <m:t>𝜋</m:t>
                        </m:r>
                      </m:sub>
                    </m:sSub>
                    <m:d>
                      <m:dPr>
                        <m:ctrlPr>
                          <a:rPr lang="en-US" altLang="zh-CN" sz="1050" i="1">
                            <a:latin typeface="Cambria Math" panose="02040503050406030204" pitchFamily="18" charset="0"/>
                            <a:ea typeface="+mn-ea"/>
                          </a:rPr>
                        </m:ctrlPr>
                      </m:dPr>
                      <m:e>
                        <m:r>
                          <a:rPr lang="en-US" altLang="zh-CN" sz="1050" i="1">
                            <a:latin typeface="Cambria Math" panose="02040503050406030204" pitchFamily="18" charset="0"/>
                            <a:ea typeface="+mn-ea"/>
                          </a:rPr>
                          <m:t>𝑠</m:t>
                        </m:r>
                      </m:e>
                    </m:d>
                    <m:r>
                      <a:rPr lang="en-US" altLang="zh-CN" sz="1050" i="1">
                        <a:latin typeface="Cambria Math" panose="02040503050406030204" pitchFamily="18" charset="0"/>
                        <a:ea typeface="+mn-ea"/>
                      </a:rPr>
                      <m:t>←</m:t>
                    </m:r>
                    <m:nary>
                      <m:naryPr>
                        <m:chr m:val="∑"/>
                        <m:supHide m:val="on"/>
                        <m:ctrlPr>
                          <a:rPr lang="en-US" altLang="zh-CN" sz="1050" i="1">
                            <a:latin typeface="Cambria Math" panose="02040503050406030204" pitchFamily="18" charset="0"/>
                            <a:ea typeface="+mn-ea"/>
                          </a:rPr>
                        </m:ctrlPr>
                      </m:naryPr>
                      <m:sub>
                        <m:r>
                          <a:rPr lang="en-US" altLang="zh-CN" sz="1050" i="1">
                            <a:latin typeface="Cambria Math" panose="02040503050406030204" pitchFamily="18" charset="0"/>
                            <a:ea typeface="+mn-ea"/>
                          </a:rPr>
                          <m:t>𝑎</m:t>
                        </m:r>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𝐴</m:t>
                        </m:r>
                      </m:sub>
                      <m:sup/>
                      <m:e>
                        <m:r>
                          <a:rPr lang="en-US" altLang="zh-CN" sz="1050" i="1">
                            <a:latin typeface="Cambria Math" panose="02040503050406030204" pitchFamily="18" charset="0"/>
                            <a:ea typeface="+mn-ea"/>
                          </a:rPr>
                          <m:t>𝜋</m:t>
                        </m:r>
                        <m:d>
                          <m:dPr>
                            <m:ctrlPr>
                              <a:rPr lang="en-US" altLang="zh-CN" sz="1050" i="1">
                                <a:latin typeface="Cambria Math" panose="02040503050406030204" pitchFamily="18" charset="0"/>
                                <a:ea typeface="+mn-ea"/>
                              </a:rPr>
                            </m:ctrlPr>
                          </m:dPr>
                          <m:e>
                            <m:r>
                              <a:rPr lang="en-US" altLang="zh-CN" sz="1050" i="1">
                                <a:latin typeface="Cambria Math" panose="02040503050406030204" pitchFamily="18" charset="0"/>
                                <a:ea typeface="+mn-ea"/>
                              </a:rPr>
                              <m:t>𝑠</m:t>
                            </m:r>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𝑎</m:t>
                            </m:r>
                          </m:e>
                        </m:d>
                        <m:nary>
                          <m:naryPr>
                            <m:chr m:val="∑"/>
                            <m:supHide m:val="on"/>
                            <m:ctrlPr>
                              <a:rPr lang="en-US" altLang="zh-CN" sz="1050" i="1">
                                <a:latin typeface="Cambria Math" panose="02040503050406030204" pitchFamily="18" charset="0"/>
                                <a:ea typeface="+mn-ea"/>
                              </a:rPr>
                            </m:ctrlPr>
                          </m:naryPr>
                          <m:sub>
                            <m:sSup>
                              <m:sSupPr>
                                <m:ctrlPr>
                                  <a:rPr lang="en-US" altLang="zh-CN" sz="1050" i="1">
                                    <a:latin typeface="Cambria Math" panose="02040503050406030204" pitchFamily="18" charset="0"/>
                                    <a:ea typeface="+mn-ea"/>
                                  </a:rPr>
                                </m:ctrlPr>
                              </m:sSupPr>
                              <m:e>
                                <m:r>
                                  <a:rPr lang="en-US" altLang="zh-CN" sz="1050" i="1">
                                    <a:latin typeface="Cambria Math" panose="02040503050406030204" pitchFamily="18" charset="0"/>
                                    <a:ea typeface="+mn-ea"/>
                                  </a:rPr>
                                  <m:t>𝑠</m:t>
                                </m:r>
                              </m:e>
                              <m:sup>
                                <m:r>
                                  <a:rPr lang="en-US" altLang="zh-CN" sz="1050" i="1">
                                    <a:latin typeface="Cambria Math" panose="02040503050406030204" pitchFamily="18" charset="0"/>
                                    <a:ea typeface="+mn-ea"/>
                                  </a:rPr>
                                  <m:t>′</m:t>
                                </m:r>
                              </m:sup>
                            </m:sSup>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𝑆</m:t>
                            </m:r>
                          </m:sub>
                          <m:sup/>
                          <m:e>
                            <m:r>
                              <a:rPr lang="en-US" altLang="zh-CN" sz="1050" i="1">
                                <a:latin typeface="Cambria Math" panose="02040503050406030204" pitchFamily="18" charset="0"/>
                                <a:ea typeface="+mn-ea"/>
                              </a:rPr>
                              <m:t>𝑃𝑟</m:t>
                            </m:r>
                            <m:r>
                              <a:rPr lang="en-US" altLang="zh-CN" sz="1050" i="1">
                                <a:latin typeface="Cambria Math" panose="02040503050406030204" pitchFamily="18" charset="0"/>
                                <a:ea typeface="+mn-ea"/>
                              </a:rPr>
                              <m:t>(</m:t>
                            </m:r>
                            <m:sSup>
                              <m:sSupPr>
                                <m:ctrlPr>
                                  <a:rPr lang="en-US" altLang="zh-CN" sz="1050" i="1">
                                    <a:latin typeface="Cambria Math" panose="02040503050406030204" pitchFamily="18" charset="0"/>
                                    <a:ea typeface="+mn-ea"/>
                                  </a:rPr>
                                </m:ctrlPr>
                              </m:sSupPr>
                              <m:e>
                                <m:r>
                                  <a:rPr lang="en-US" altLang="zh-CN" sz="1050" i="1">
                                    <a:latin typeface="Cambria Math" panose="02040503050406030204" pitchFamily="18" charset="0"/>
                                    <a:ea typeface="+mn-ea"/>
                                  </a:rPr>
                                  <m:t>𝑠</m:t>
                                </m:r>
                              </m:e>
                              <m:sup>
                                <m:r>
                                  <a:rPr lang="en-US" altLang="zh-CN" sz="1050" i="1">
                                    <a:latin typeface="Cambria Math" panose="02040503050406030204" pitchFamily="18" charset="0"/>
                                    <a:ea typeface="+mn-ea"/>
                                  </a:rPr>
                                  <m:t>′</m:t>
                                </m:r>
                              </m:sup>
                            </m:sSup>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𝑠</m:t>
                            </m:r>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𝑎</m:t>
                            </m:r>
                            <m:r>
                              <a:rPr lang="en-US" altLang="zh-CN" sz="1050" i="1">
                                <a:latin typeface="Cambria Math" panose="02040503050406030204" pitchFamily="18" charset="0"/>
                                <a:ea typeface="+mn-ea"/>
                              </a:rPr>
                              <m:t>)</m:t>
                            </m:r>
                          </m:e>
                        </m:nary>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𝑅</m:t>
                        </m:r>
                        <m:d>
                          <m:dPr>
                            <m:ctrlPr>
                              <a:rPr lang="en-US" altLang="zh-CN" sz="1050" i="1">
                                <a:latin typeface="Cambria Math" panose="02040503050406030204" pitchFamily="18" charset="0"/>
                                <a:ea typeface="+mn-ea"/>
                              </a:rPr>
                            </m:ctrlPr>
                          </m:dPr>
                          <m:e>
                            <m:r>
                              <a:rPr lang="en-US" altLang="zh-CN" sz="1050" i="1">
                                <a:latin typeface="Cambria Math" panose="02040503050406030204" pitchFamily="18" charset="0"/>
                                <a:ea typeface="+mn-ea"/>
                              </a:rPr>
                              <m:t>𝑠</m:t>
                            </m:r>
                            <m:r>
                              <a:rPr lang="en-US" altLang="zh-CN" sz="1050" i="1">
                                <a:latin typeface="Cambria Math" panose="02040503050406030204" pitchFamily="18" charset="0"/>
                                <a:ea typeface="+mn-ea"/>
                              </a:rPr>
                              <m:t>,</m:t>
                            </m:r>
                            <m:sSup>
                              <m:sSupPr>
                                <m:ctrlPr>
                                  <a:rPr lang="en-US" altLang="zh-CN" sz="1050" i="1">
                                    <a:latin typeface="Cambria Math" panose="02040503050406030204" pitchFamily="18" charset="0"/>
                                    <a:ea typeface="+mn-ea"/>
                                  </a:rPr>
                                </m:ctrlPr>
                              </m:sSupPr>
                              <m:e>
                                <m:r>
                                  <a:rPr lang="en-US" altLang="zh-CN" sz="1050" i="1">
                                    <a:latin typeface="Cambria Math" panose="02040503050406030204" pitchFamily="18" charset="0"/>
                                    <a:ea typeface="+mn-ea"/>
                                  </a:rPr>
                                  <m:t>𝑎</m:t>
                                </m:r>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𝑠</m:t>
                                </m:r>
                              </m:e>
                              <m:sup>
                                <m:r>
                                  <a:rPr lang="en-US" altLang="zh-CN" sz="1050" i="1">
                                    <a:latin typeface="Cambria Math" panose="02040503050406030204" pitchFamily="18" charset="0"/>
                                    <a:ea typeface="+mn-ea"/>
                                  </a:rPr>
                                  <m:t>′</m:t>
                                </m:r>
                              </m:sup>
                            </m:sSup>
                          </m:e>
                        </m:d>
                        <m:r>
                          <a:rPr lang="en-US" altLang="zh-CN" sz="1050" i="1">
                            <a:latin typeface="Cambria Math" panose="02040503050406030204" pitchFamily="18" charset="0"/>
                            <a:ea typeface="+mn-ea"/>
                          </a:rPr>
                          <m:t>+</m:t>
                        </m:r>
                        <m:r>
                          <a:rPr lang="en-US" altLang="zh-CN" sz="1050" i="1">
                            <a:latin typeface="Cambria Math" panose="02040503050406030204" pitchFamily="18" charset="0"/>
                            <a:ea typeface="+mn-ea"/>
                          </a:rPr>
                          <m:t>𝛾</m:t>
                        </m:r>
                        <m:sSub>
                          <m:sSubPr>
                            <m:ctrlPr>
                              <a:rPr lang="en-US" altLang="zh-CN" sz="1050" i="1">
                                <a:latin typeface="Cambria Math" panose="02040503050406030204" pitchFamily="18" charset="0"/>
                                <a:ea typeface="+mn-ea"/>
                              </a:rPr>
                            </m:ctrlPr>
                          </m:sSubPr>
                          <m:e>
                            <m:r>
                              <a:rPr lang="en-US" altLang="zh-CN" sz="1050" i="1">
                                <a:latin typeface="Cambria Math" panose="02040503050406030204" pitchFamily="18" charset="0"/>
                                <a:ea typeface="+mn-ea"/>
                              </a:rPr>
                              <m:t>𝑉</m:t>
                            </m:r>
                          </m:e>
                          <m:sub>
                            <m:r>
                              <a:rPr lang="en-US" altLang="zh-CN" sz="1050" i="1">
                                <a:latin typeface="Cambria Math" panose="02040503050406030204" pitchFamily="18" charset="0"/>
                                <a:ea typeface="+mn-ea"/>
                              </a:rPr>
                              <m:t>𝜋</m:t>
                            </m:r>
                          </m:sub>
                        </m:sSub>
                        <m:d>
                          <m:dPr>
                            <m:ctrlPr>
                              <a:rPr lang="en-US" altLang="zh-CN" sz="1050" i="1">
                                <a:latin typeface="Cambria Math" panose="02040503050406030204" pitchFamily="18" charset="0"/>
                                <a:ea typeface="+mn-ea"/>
                              </a:rPr>
                            </m:ctrlPr>
                          </m:dPr>
                          <m:e>
                            <m:sSup>
                              <m:sSupPr>
                                <m:ctrlPr>
                                  <a:rPr lang="en-US" altLang="zh-CN" sz="1050" i="1">
                                    <a:latin typeface="Cambria Math" panose="02040503050406030204" pitchFamily="18" charset="0"/>
                                    <a:ea typeface="+mn-ea"/>
                                  </a:rPr>
                                </m:ctrlPr>
                              </m:sSupPr>
                              <m:e>
                                <m:r>
                                  <a:rPr lang="en-US" altLang="zh-CN" sz="1050" i="1">
                                    <a:latin typeface="Cambria Math" panose="02040503050406030204" pitchFamily="18" charset="0"/>
                                    <a:ea typeface="+mn-ea"/>
                                  </a:rPr>
                                  <m:t>𝑠</m:t>
                                </m:r>
                              </m:e>
                              <m:sup>
                                <m:r>
                                  <a:rPr lang="en-US" altLang="zh-CN" sz="1050" i="1">
                                    <a:latin typeface="Cambria Math" panose="02040503050406030204" pitchFamily="18" charset="0"/>
                                    <a:ea typeface="+mn-ea"/>
                                  </a:rPr>
                                  <m:t>′</m:t>
                                </m:r>
                              </m:sup>
                            </m:sSup>
                          </m:e>
                        </m:d>
                        <m:r>
                          <a:rPr lang="en-US" altLang="zh-CN" sz="1050" i="1">
                            <a:latin typeface="Cambria Math" panose="02040503050406030204" pitchFamily="18" charset="0"/>
                            <a:ea typeface="+mn-ea"/>
                          </a:rPr>
                          <m:t>]</m:t>
                        </m:r>
                      </m:e>
                    </m:nary>
                  </m:oMath>
                </a14:m>
                <a:endParaRPr lang="en-US" altLang="zh-CN" sz="1050" dirty="0">
                  <a:latin typeface="+mn-ea"/>
                  <a:ea typeface="+mn-ea"/>
                </a:endParaRPr>
              </a:p>
              <a:p>
                <a:endParaRPr lang="en-US" altLang="zh-CN" sz="1050" dirty="0">
                  <a:latin typeface="+mn-ea"/>
                  <a:ea typeface="+mn-ea"/>
                </a:endParaRPr>
              </a:p>
              <a:p>
                <a:r>
                  <a:rPr lang="zh-CN" altLang="en-US" sz="1050" dirty="0">
                    <a:latin typeface="+mn-ea"/>
                    <a:ea typeface="+mn-ea"/>
                  </a:rPr>
                  <a:t>直到</a:t>
                </a:r>
                <a14:m>
                  <m:oMath xmlns:m="http://schemas.openxmlformats.org/officeDocument/2006/math">
                    <m:sSub>
                      <m:sSubPr>
                        <m:ctrlPr>
                          <a:rPr lang="en-US" altLang="zh-CN" sz="1050" i="1">
                            <a:latin typeface="Cambria Math" panose="02040503050406030204" pitchFamily="18" charset="0"/>
                            <a:ea typeface="+mn-ea"/>
                          </a:rPr>
                        </m:ctrlPr>
                      </m:sSubPr>
                      <m:e>
                        <m:r>
                          <a:rPr lang="en-US" altLang="zh-CN" sz="1050" i="1">
                            <a:latin typeface="Cambria Math" panose="02040503050406030204" pitchFamily="18" charset="0"/>
                            <a:ea typeface="+mn-ea"/>
                          </a:rPr>
                          <m:t>𝑉</m:t>
                        </m:r>
                      </m:e>
                      <m:sub>
                        <m:r>
                          <a:rPr lang="en-US" altLang="zh-CN" sz="1050" i="1">
                            <a:latin typeface="Cambria Math" panose="02040503050406030204" pitchFamily="18" charset="0"/>
                            <a:ea typeface="+mn-ea"/>
                          </a:rPr>
                          <m:t>𝜋</m:t>
                        </m:r>
                      </m:sub>
                    </m:sSub>
                    <m:r>
                      <a:rPr lang="zh-CN" altLang="en-US" sz="1050" i="1">
                        <a:latin typeface="Cambria Math" panose="02040503050406030204" pitchFamily="18" charset="0"/>
                        <a:ea typeface="+mn-ea"/>
                      </a:rPr>
                      <m:t>收敛</m:t>
                    </m:r>
                  </m:oMath>
                </a14:m>
                <a:endParaRPr lang="zh-CN" altLang="en-US" sz="1050" dirty="0">
                  <a:latin typeface="+mn-ea"/>
                  <a:ea typeface="+mn-ea"/>
                </a:endParaRPr>
              </a:p>
            </p:txBody>
          </p:sp>
        </mc:Choice>
        <mc:Fallback xmlns="">
          <p:sp>
            <p:nvSpPr>
              <p:cNvPr id="11" name="文本框 10">
                <a:extLst>
                  <a:ext uri="{FF2B5EF4-FFF2-40B4-BE49-F238E27FC236}">
                    <a16:creationId xmlns:a16="http://schemas.microsoft.com/office/drawing/2014/main" id="{B16ED5ED-30C6-4078-9EB7-B7215077F17C}"/>
                  </a:ext>
                </a:extLst>
              </p:cNvPr>
              <p:cNvSpPr txBox="1">
                <a:spLocks noRot="1" noChangeAspect="1" noMove="1" noResize="1" noEditPoints="1" noAdjustHandles="1" noChangeArrowheads="1" noChangeShapeType="1" noTextEdit="1"/>
              </p:cNvSpPr>
              <p:nvPr/>
            </p:nvSpPr>
            <p:spPr>
              <a:xfrm>
                <a:off x="1956231" y="1497888"/>
                <a:ext cx="5299184" cy="1266116"/>
              </a:xfrm>
              <a:prstGeom prst="rect">
                <a:avLst/>
              </a:prstGeom>
              <a:blipFill>
                <a:blip r:embed="rId3"/>
                <a:stretch>
                  <a:fillRect b="-1914"/>
                </a:stretch>
              </a:blipFill>
              <a:ln>
                <a:solidFill>
                  <a:schemeClr val="tx1"/>
                </a:solidFill>
              </a:ln>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DE2FBF2F-F561-4A72-96C8-C936F885FAC2}"/>
              </a:ext>
            </a:extLst>
          </p:cNvPr>
          <p:cNvSpPr/>
          <p:nvPr/>
        </p:nvSpPr>
        <p:spPr>
          <a:xfrm>
            <a:off x="631486" y="985605"/>
            <a:ext cx="5646838" cy="369332"/>
          </a:xfrm>
          <a:prstGeom prst="rect">
            <a:avLst/>
          </a:prstGeom>
        </p:spPr>
        <p:txBody>
          <a:bodyPr wrap="square">
            <a:spAutoFit/>
          </a:bodyPr>
          <a:lstStyle/>
          <a:p>
            <a:pPr>
              <a:lnSpc>
                <a:spcPct val="150000"/>
              </a:lnSpc>
            </a:pPr>
            <a:r>
              <a:rPr lang="zh-CN" altLang="en-US" sz="1200" b="1" dirty="0">
                <a:solidFill>
                  <a:srgbClr val="C00000"/>
                </a:solidFill>
                <a:latin typeface="+mn-ea"/>
                <a:ea typeface="+mn-ea"/>
              </a:rPr>
              <a:t>基于动态规划的价值函数更新：使用迭代的方法求解贝尔曼方程组</a:t>
            </a:r>
            <a:endParaRPr lang="en-US" altLang="zh-CN" sz="1200" b="1" dirty="0">
              <a:solidFill>
                <a:srgbClr val="C00000"/>
              </a:solidFill>
              <a:latin typeface="+mn-ea"/>
              <a:ea typeface="+mn-ea"/>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BD1A6489-3E00-4943-AF43-AB11A27E1B9A}"/>
                  </a:ext>
                </a:extLst>
              </p:cNvPr>
              <p:cNvSpPr/>
              <p:nvPr/>
            </p:nvSpPr>
            <p:spPr>
              <a:xfrm>
                <a:off x="709787" y="2960556"/>
                <a:ext cx="5604882" cy="1238031"/>
              </a:xfrm>
              <a:prstGeom prst="rect">
                <a:avLst/>
              </a:prstGeom>
            </p:spPr>
            <p:txBody>
              <a:bodyPr wrap="square">
                <a:spAutoFit/>
              </a:bodyPr>
              <a:lstStyle/>
              <a:p>
                <a:pPr>
                  <a:lnSpc>
                    <a:spcPct val="150000"/>
                  </a:lnSpc>
                </a:pPr>
                <a:r>
                  <a:rPr lang="zh-CN" altLang="en-US" sz="1200" dirty="0">
                    <a:latin typeface="+mn-ea"/>
                    <a:ea typeface="+mn-ea"/>
                  </a:rPr>
                  <a:t>更新</a:t>
                </a:r>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𝑉</m:t>
                        </m:r>
                      </m:e>
                      <m:sub>
                        <m:r>
                          <a:rPr lang="en-US" altLang="zh-CN" sz="1200" i="1">
                            <a:latin typeface="Cambria Math" panose="02040503050406030204" pitchFamily="18" charset="0"/>
                            <a:ea typeface="+mn-ea"/>
                          </a:rPr>
                          <m:t>𝜋</m:t>
                        </m:r>
                      </m:sub>
                    </m:sSub>
                    <m:r>
                      <a:rPr lang="en-US" altLang="zh-CN" sz="120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𝑠</m:t>
                        </m:r>
                      </m:e>
                      <m:sub>
                        <m:r>
                          <a:rPr lang="en-US" altLang="zh-CN" sz="1200" i="1">
                            <a:latin typeface="Cambria Math" panose="02040503050406030204" pitchFamily="18" charset="0"/>
                            <a:ea typeface="+mn-ea"/>
                          </a:rPr>
                          <m:t>1</m:t>
                        </m:r>
                      </m:sub>
                    </m:sSub>
                    <m:r>
                      <a:rPr lang="en-US" altLang="zh-CN" sz="1200" i="1">
                        <a:latin typeface="Cambria Math" panose="02040503050406030204" pitchFamily="18" charset="0"/>
                        <a:ea typeface="+mn-ea"/>
                      </a:rPr>
                      <m:t>)</m:t>
                    </m:r>
                  </m:oMath>
                </a14:m>
                <a:r>
                  <a:rPr lang="zh-CN" altLang="en-US" sz="1200" dirty="0">
                    <a:latin typeface="+mn-ea"/>
                    <a:ea typeface="+mn-ea"/>
                  </a:rPr>
                  <a:t>的值：</a:t>
                </a:r>
                <a:endParaRPr lang="en-US" altLang="zh-CN" sz="1200" dirty="0">
                  <a:latin typeface="+mn-ea"/>
                  <a:ea typeface="+mn-ea"/>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𝑞</m:t>
                          </m:r>
                        </m:e>
                        <m:sub>
                          <m:r>
                            <a:rPr lang="en-US" altLang="zh-CN" sz="1200" i="1">
                              <a:latin typeface="Cambria Math" panose="02040503050406030204" pitchFamily="18" charset="0"/>
                              <a:ea typeface="+mn-ea"/>
                            </a:rPr>
                            <m:t>𝜋</m:t>
                          </m:r>
                        </m:sub>
                      </m:sSub>
                      <m:d>
                        <m:dPr>
                          <m:ctrlPr>
                            <a:rPr lang="en-US" altLang="zh-CN" sz="1200" i="1">
                              <a:latin typeface="Cambria Math" panose="02040503050406030204" pitchFamily="18" charset="0"/>
                              <a:ea typeface="+mn-ea"/>
                            </a:rPr>
                          </m:ctrlPr>
                        </m:dPr>
                        <m:e>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𝑠</m:t>
                              </m:r>
                            </m:e>
                            <m:sub>
                              <m:r>
                                <a:rPr lang="en-US" altLang="zh-CN" sz="1200" i="1">
                                  <a:latin typeface="Cambria Math" panose="02040503050406030204" pitchFamily="18" charset="0"/>
                                  <a:ea typeface="+mn-ea"/>
                                </a:rPr>
                                <m:t>1</m:t>
                              </m:r>
                            </m:sub>
                          </m:sSub>
                          <m:r>
                            <a:rPr lang="en-US" altLang="zh-CN" sz="1200" i="1">
                              <a:latin typeface="Cambria Math" panose="02040503050406030204" pitchFamily="18" charset="0"/>
                              <a:ea typeface="+mn-ea"/>
                            </a:rPr>
                            <m:t>,</m:t>
                          </m:r>
                          <m:r>
                            <a:rPr lang="zh-CN" altLang="en-US" sz="1200" i="1">
                              <a:latin typeface="Cambria Math" panose="02040503050406030204" pitchFamily="18" charset="0"/>
                              <a:ea typeface="+mn-ea"/>
                            </a:rPr>
                            <m:t>上</m:t>
                          </m:r>
                        </m:e>
                      </m:d>
                      <m:r>
                        <a:rPr lang="en-US" altLang="zh-CN" sz="1200" i="1">
                          <a:latin typeface="Cambria Math" panose="02040503050406030204" pitchFamily="18" charset="0"/>
                          <a:ea typeface="+mn-ea"/>
                        </a:rPr>
                        <m:t>=1×</m:t>
                      </m:r>
                      <m:d>
                        <m:dPr>
                          <m:ctrlPr>
                            <a:rPr lang="en-US" altLang="zh-CN" sz="1200" i="1">
                              <a:latin typeface="Cambria Math" panose="02040503050406030204" pitchFamily="18" charset="0"/>
                              <a:ea typeface="+mn-ea"/>
                            </a:rPr>
                          </m:ctrlPr>
                        </m:dPr>
                        <m:e>
                          <m:r>
                            <a:rPr lang="en-US" altLang="zh-CN" sz="1200" i="1">
                              <a:latin typeface="Cambria Math" panose="02040503050406030204" pitchFamily="18" charset="0"/>
                              <a:ea typeface="+mn-ea"/>
                            </a:rPr>
                            <m:t>0+0.99×0.3</m:t>
                          </m:r>
                        </m:e>
                      </m:d>
                      <m:r>
                        <a:rPr lang="en-US" altLang="zh-CN" sz="1200" i="1">
                          <a:latin typeface="Cambria Math" panose="02040503050406030204" pitchFamily="18" charset="0"/>
                          <a:ea typeface="+mn-ea"/>
                        </a:rPr>
                        <m:t>+0×</m:t>
                      </m:r>
                      <m:d>
                        <m:dPr>
                          <m:ctrlPr>
                            <a:rPr lang="en-US" altLang="zh-CN" sz="1200" i="1">
                              <a:latin typeface="Cambria Math" panose="02040503050406030204" pitchFamily="18" charset="0"/>
                              <a:ea typeface="+mn-ea"/>
                            </a:rPr>
                          </m:ctrlPr>
                        </m:dPr>
                        <m:e>
                          <m:r>
                            <a:rPr lang="en-US" altLang="zh-CN" sz="1200" i="1">
                              <a:latin typeface="Cambria Math" panose="02040503050406030204" pitchFamily="18" charset="0"/>
                              <a:ea typeface="+mn-ea"/>
                            </a:rPr>
                            <m:t>0+0.99×0.4</m:t>
                          </m:r>
                        </m:e>
                      </m:d>
                    </m:oMath>
                  </m:oMathPara>
                </a14:m>
                <a:r>
                  <a:rPr lang="en-US" altLang="zh-CN" sz="1200" i="1" dirty="0">
                    <a:latin typeface="+mn-ea"/>
                    <a:ea typeface="+mn-ea"/>
                  </a:rPr>
                  <a:t/>
                </a:r>
                <a:br>
                  <a:rPr lang="en-US" altLang="zh-CN" sz="1200" i="1" dirty="0">
                    <a:latin typeface="+mn-ea"/>
                    <a:ea typeface="+mn-ea"/>
                  </a:rPr>
                </a:br>
                <a:r>
                  <a:rPr lang="en-US" altLang="zh-CN" sz="1200" i="1" dirty="0">
                    <a:latin typeface="+mn-ea"/>
                    <a:ea typeface="+mn-ea"/>
                  </a:rPr>
                  <a:t>                    </a:t>
                </a:r>
                <a:r>
                  <a:rPr lang="en-US" altLang="zh-CN" sz="1200" dirty="0">
                    <a:latin typeface="+mn-ea"/>
                    <a:ea typeface="+mn-ea"/>
                  </a:rPr>
                  <a:t>+…</a:t>
                </a:r>
                <a14:m>
                  <m:oMath xmlns:m="http://schemas.openxmlformats.org/officeDocument/2006/math">
                    <m:r>
                      <a:rPr lang="en-US" altLang="zh-CN" sz="1200" i="1">
                        <a:latin typeface="Cambria Math" panose="02040503050406030204" pitchFamily="18" charset="0"/>
                        <a:ea typeface="+mn-ea"/>
                      </a:rPr>
                      <m:t>=0.297</m:t>
                    </m:r>
                  </m:oMath>
                </a14:m>
                <a:r>
                  <a:rPr lang="en-US" altLang="zh-CN" sz="1200" i="1" dirty="0">
                    <a:latin typeface="+mn-ea"/>
                    <a:ea typeface="+mn-ea"/>
                  </a:rPr>
                  <a:t/>
                </a:r>
                <a:br>
                  <a:rPr lang="en-US" altLang="zh-CN" sz="1200" i="1" dirty="0">
                    <a:latin typeface="+mn-ea"/>
                    <a:ea typeface="+mn-ea"/>
                  </a:rPr>
                </a:br>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𝑉</m:t>
                        </m:r>
                      </m:e>
                      <m:sub>
                        <m:r>
                          <a:rPr lang="en-US" altLang="zh-CN" sz="1200" i="1">
                            <a:latin typeface="Cambria Math" panose="02040503050406030204" pitchFamily="18" charset="0"/>
                            <a:ea typeface="+mn-ea"/>
                          </a:rPr>
                          <m:t>𝜋</m:t>
                        </m:r>
                      </m:sub>
                    </m:sSub>
                    <m:d>
                      <m:dPr>
                        <m:ctrlPr>
                          <a:rPr lang="en-US" altLang="zh-CN" sz="1200" i="1">
                            <a:latin typeface="Cambria Math" panose="02040503050406030204" pitchFamily="18" charset="0"/>
                            <a:ea typeface="+mn-ea"/>
                          </a:rPr>
                        </m:ctrlPr>
                      </m:dPr>
                      <m:e>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𝑠</m:t>
                            </m:r>
                          </m:e>
                          <m:sub>
                            <m:r>
                              <a:rPr lang="en-US" altLang="zh-CN" sz="1200" i="1">
                                <a:latin typeface="Cambria Math" panose="02040503050406030204" pitchFamily="18" charset="0"/>
                                <a:ea typeface="+mn-ea"/>
                              </a:rPr>
                              <m:t>1</m:t>
                            </m:r>
                          </m:sub>
                        </m:sSub>
                      </m:e>
                    </m:d>
                    <m:r>
                      <a:rPr lang="en-US" altLang="zh-CN" sz="1200" i="1">
                        <a:latin typeface="Cambria Math" panose="02040503050406030204" pitchFamily="18" charset="0"/>
                        <a:ea typeface="+mn-ea"/>
                      </a:rPr>
                      <m:t>=1×</m:t>
                    </m:r>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𝑞</m:t>
                        </m:r>
                      </m:e>
                      <m:sub>
                        <m:r>
                          <a:rPr lang="en-US" altLang="zh-CN" sz="1200" i="1">
                            <a:latin typeface="Cambria Math" panose="02040503050406030204" pitchFamily="18" charset="0"/>
                            <a:ea typeface="+mn-ea"/>
                          </a:rPr>
                          <m:t>𝜋</m:t>
                        </m:r>
                      </m:sub>
                    </m:sSub>
                    <m:d>
                      <m:dPr>
                        <m:ctrlPr>
                          <a:rPr lang="en-US" altLang="zh-CN" sz="1200" i="1">
                            <a:latin typeface="Cambria Math" panose="02040503050406030204" pitchFamily="18" charset="0"/>
                            <a:ea typeface="+mn-ea"/>
                          </a:rPr>
                        </m:ctrlPr>
                      </m:dPr>
                      <m:e>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𝑠</m:t>
                            </m:r>
                          </m:e>
                          <m:sub>
                            <m:r>
                              <a:rPr lang="en-US" altLang="zh-CN" sz="1200" i="1">
                                <a:latin typeface="Cambria Math" panose="02040503050406030204" pitchFamily="18" charset="0"/>
                                <a:ea typeface="+mn-ea"/>
                              </a:rPr>
                              <m:t>1</m:t>
                            </m:r>
                          </m:sub>
                        </m:sSub>
                        <m:r>
                          <a:rPr lang="en-US" altLang="zh-CN" sz="1200" i="1">
                            <a:latin typeface="Cambria Math" panose="02040503050406030204" pitchFamily="18" charset="0"/>
                            <a:ea typeface="+mn-ea"/>
                          </a:rPr>
                          <m:t>,</m:t>
                        </m:r>
                        <m:r>
                          <a:rPr lang="zh-CN" altLang="en-US" sz="1200" i="1">
                            <a:latin typeface="Cambria Math" panose="02040503050406030204" pitchFamily="18" charset="0"/>
                            <a:ea typeface="+mn-ea"/>
                          </a:rPr>
                          <m:t>上</m:t>
                        </m:r>
                      </m:e>
                    </m:d>
                    <m:r>
                      <a:rPr lang="en-US" altLang="zh-CN" sz="1200" i="1">
                        <a:latin typeface="Cambria Math" panose="02040503050406030204" pitchFamily="18" charset="0"/>
                        <a:ea typeface="+mn-ea"/>
                      </a:rPr>
                      <m:t>+0×</m:t>
                    </m:r>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𝑞</m:t>
                        </m:r>
                      </m:e>
                      <m:sub>
                        <m:r>
                          <a:rPr lang="en-US" altLang="zh-CN" sz="1200" i="1">
                            <a:latin typeface="Cambria Math" panose="02040503050406030204" pitchFamily="18" charset="0"/>
                            <a:ea typeface="+mn-ea"/>
                          </a:rPr>
                          <m:t>𝜋</m:t>
                        </m:r>
                      </m:sub>
                    </m:sSub>
                    <m:d>
                      <m:dPr>
                        <m:ctrlPr>
                          <a:rPr lang="en-US" altLang="zh-CN" sz="1200" i="1">
                            <a:latin typeface="Cambria Math" panose="02040503050406030204" pitchFamily="18" charset="0"/>
                            <a:ea typeface="+mn-ea"/>
                          </a:rPr>
                        </m:ctrlPr>
                      </m:dPr>
                      <m:e>
                        <m:sSub>
                          <m:sSubPr>
                            <m:ctrlPr>
                              <a:rPr lang="en-US" altLang="zh-CN" sz="1200" i="1">
                                <a:latin typeface="Cambria Math" panose="02040503050406030204" pitchFamily="18" charset="0"/>
                                <a:ea typeface="+mn-ea"/>
                              </a:rPr>
                            </m:ctrlPr>
                          </m:sSubPr>
                          <m:e>
                            <m:r>
                              <a:rPr lang="en-US" altLang="zh-CN" sz="1200" i="1">
                                <a:latin typeface="Cambria Math" panose="02040503050406030204" pitchFamily="18" charset="0"/>
                                <a:ea typeface="+mn-ea"/>
                              </a:rPr>
                              <m:t>𝑠</m:t>
                            </m:r>
                          </m:e>
                          <m:sub>
                            <m:r>
                              <a:rPr lang="en-US" altLang="zh-CN" sz="1200" i="1">
                                <a:latin typeface="Cambria Math" panose="02040503050406030204" pitchFamily="18" charset="0"/>
                                <a:ea typeface="+mn-ea"/>
                              </a:rPr>
                              <m:t>1</m:t>
                            </m:r>
                          </m:sub>
                        </m:sSub>
                        <m:r>
                          <a:rPr lang="en-US" altLang="zh-CN" sz="1200" i="1">
                            <a:latin typeface="Cambria Math" panose="02040503050406030204" pitchFamily="18" charset="0"/>
                            <a:ea typeface="+mn-ea"/>
                          </a:rPr>
                          <m:t>,</m:t>
                        </m:r>
                        <m:r>
                          <a:rPr lang="zh-CN" altLang="en-US" sz="1200" i="1">
                            <a:latin typeface="Cambria Math" panose="02040503050406030204" pitchFamily="18" charset="0"/>
                            <a:ea typeface="+mn-ea"/>
                          </a:rPr>
                          <m:t>右</m:t>
                        </m:r>
                      </m:e>
                    </m:d>
                    <m:r>
                      <a:rPr lang="en-US" altLang="zh-CN" sz="1200" i="1">
                        <a:latin typeface="Cambria Math" panose="02040503050406030204" pitchFamily="18" charset="0"/>
                        <a:ea typeface="+mn-ea"/>
                      </a:rPr>
                      <m:t>=</m:t>
                    </m:r>
                    <m:r>
                      <a:rPr lang="en-US" altLang="zh-CN" sz="1200">
                        <a:latin typeface="Cambria Math" panose="02040503050406030204" pitchFamily="18" charset="0"/>
                        <a:ea typeface="+mn-ea"/>
                      </a:rPr>
                      <m:t>0.297</m:t>
                    </m:r>
                  </m:oMath>
                </a14:m>
                <a:r>
                  <a:rPr lang="en-US" altLang="zh-CN" sz="1200" i="1" dirty="0">
                    <a:latin typeface="+mn-ea"/>
                    <a:ea typeface="+mn-ea"/>
                  </a:rPr>
                  <a:t> </a:t>
                </a:r>
                <a:endParaRPr lang="en-US" altLang="zh-CN" sz="1200" dirty="0">
                  <a:latin typeface="+mn-ea"/>
                  <a:ea typeface="+mn-ea"/>
                </a:endParaRPr>
              </a:p>
            </p:txBody>
          </p:sp>
        </mc:Choice>
        <mc:Fallback xmlns="">
          <p:sp>
            <p:nvSpPr>
              <p:cNvPr id="14" name="矩形 13">
                <a:extLst>
                  <a:ext uri="{FF2B5EF4-FFF2-40B4-BE49-F238E27FC236}">
                    <a16:creationId xmlns:a16="http://schemas.microsoft.com/office/drawing/2014/main" id="{BD1A6489-3E00-4943-AF43-AB11A27E1B9A}"/>
                  </a:ext>
                </a:extLst>
              </p:cNvPr>
              <p:cNvSpPr>
                <a:spLocks noRot="1" noChangeAspect="1" noMove="1" noResize="1" noEditPoints="1" noAdjustHandles="1" noChangeArrowheads="1" noChangeShapeType="1" noTextEdit="1"/>
              </p:cNvSpPr>
              <p:nvPr/>
            </p:nvSpPr>
            <p:spPr>
              <a:xfrm>
                <a:off x="709787" y="2960556"/>
                <a:ext cx="5604882" cy="1238031"/>
              </a:xfrm>
              <a:prstGeom prst="rect">
                <a:avLst/>
              </a:prstGeom>
              <a:blipFill>
                <a:blip r:embed="rId4"/>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94BFED68-D686-4393-B8EF-6724AF6BF7AA}"/>
              </a:ext>
            </a:extLst>
          </p:cNvPr>
          <p:cNvSpPr/>
          <p:nvPr/>
        </p:nvSpPr>
        <p:spPr>
          <a:xfrm>
            <a:off x="709787" y="4402567"/>
            <a:ext cx="7554351" cy="609398"/>
          </a:xfrm>
          <a:prstGeom prst="rect">
            <a:avLst/>
          </a:prstGeom>
        </p:spPr>
        <p:txBody>
          <a:bodyPr wrap="square">
            <a:spAutoFit/>
          </a:bodyPr>
          <a:lstStyle/>
          <a:p>
            <a:pPr>
              <a:lnSpc>
                <a:spcPct val="150000"/>
              </a:lnSpc>
            </a:pPr>
            <a:r>
              <a:rPr lang="zh-CN" altLang="en-US" sz="1050" b="1" dirty="0">
                <a:solidFill>
                  <a:schemeClr val="tx2"/>
                </a:solidFill>
                <a:latin typeface="+mn-ea"/>
                <a:ea typeface="+mn-ea"/>
              </a:rPr>
              <a:t>动态规划法的缺点</a:t>
            </a:r>
            <a:r>
              <a:rPr lang="zh-CN" altLang="en-US" sz="1050" b="1" dirty="0" smtClean="0">
                <a:solidFill>
                  <a:schemeClr val="tx2"/>
                </a:solidFill>
                <a:latin typeface="+mn-ea"/>
                <a:ea typeface="+mn-ea"/>
              </a:rPr>
              <a:t>：</a:t>
            </a:r>
            <a:r>
              <a:rPr lang="zh-CN" altLang="zh-CN" sz="1050" dirty="0">
                <a:latin typeface="+mn-ea"/>
                <a:ea typeface="+mn-ea"/>
              </a:rPr>
              <a:t>根据贝尔曼方程迭代更新价值函数，</a:t>
            </a:r>
            <a:r>
              <a:rPr lang="zh-CN" altLang="en-US" sz="1050" dirty="0">
                <a:latin typeface="+mn-ea"/>
                <a:ea typeface="+mn-ea"/>
              </a:rPr>
              <a:t>智能主体需要事先知道状态转移概率</a:t>
            </a:r>
            <a:r>
              <a:rPr lang="zh-CN" altLang="zh-CN" sz="1050" dirty="0">
                <a:latin typeface="+mn-ea"/>
                <a:ea typeface="+mn-ea"/>
              </a:rPr>
              <a:t>，这往往是不现实的。</a:t>
            </a:r>
            <a:endParaRPr lang="en-US" altLang="zh-CN" sz="1050" dirty="0">
              <a:latin typeface="+mn-ea"/>
              <a:ea typeface="+mn-ea"/>
            </a:endParaRPr>
          </a:p>
          <a:p>
            <a:pPr>
              <a:lnSpc>
                <a:spcPct val="150000"/>
              </a:lnSpc>
            </a:pPr>
            <a:r>
              <a:rPr lang="zh-CN" altLang="en-US" sz="1050" dirty="0">
                <a:latin typeface="+mn-ea"/>
                <a:ea typeface="+mn-ea"/>
              </a:rPr>
              <a:t> 无法处理状态集合大小无限的</a:t>
            </a:r>
            <a:r>
              <a:rPr lang="zh-CN" altLang="en-US" sz="1050" dirty="0" smtClean="0">
                <a:latin typeface="+mn-ea"/>
                <a:ea typeface="+mn-ea"/>
              </a:rPr>
              <a:t>情况</a:t>
            </a:r>
            <a:endParaRPr lang="en-US" altLang="zh-CN" sz="1050" dirty="0">
              <a:latin typeface="+mn-ea"/>
              <a:ea typeface="+mn-ea"/>
            </a:endParaRPr>
          </a:p>
        </p:txBody>
      </p:sp>
      <p:sp>
        <p:nvSpPr>
          <p:cNvPr id="16" name="矩形 15">
            <a:extLst>
              <a:ext uri="{FF2B5EF4-FFF2-40B4-BE49-F238E27FC236}">
                <a16:creationId xmlns:a16="http://schemas.microsoft.com/office/drawing/2014/main" id="{A7DF6E67-5D40-4FA9-8610-0A192D54DDAA}"/>
              </a:ext>
            </a:extLst>
          </p:cNvPr>
          <p:cNvSpPr/>
          <p:nvPr/>
        </p:nvSpPr>
        <p:spPr>
          <a:xfrm>
            <a:off x="4200915" y="2051151"/>
            <a:ext cx="1959732" cy="314624"/>
          </a:xfrm>
          <a:prstGeom prst="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050" dirty="0">
              <a:latin typeface="+mn-ea"/>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9155939-AD64-4269-BAD9-551942B3E9E2}"/>
                  </a:ext>
                </a:extLst>
              </p:cNvPr>
              <p:cNvSpPr txBox="1"/>
              <p:nvPr/>
            </p:nvSpPr>
            <p:spPr>
              <a:xfrm>
                <a:off x="5428751" y="1586580"/>
                <a:ext cx="616611" cy="1615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050" i="1">
                              <a:solidFill>
                                <a:srgbClr val="FF0000"/>
                              </a:solidFill>
                              <a:latin typeface="Cambria Math" panose="02040503050406030204" pitchFamily="18" charset="0"/>
                              <a:ea typeface="+mn-ea"/>
                            </a:rPr>
                          </m:ctrlPr>
                        </m:sSubPr>
                        <m:e>
                          <m:r>
                            <a:rPr lang="en-US" altLang="zh-CN" sz="1050" i="1">
                              <a:solidFill>
                                <a:srgbClr val="FF0000"/>
                              </a:solidFill>
                              <a:latin typeface="Cambria Math" panose="02040503050406030204" pitchFamily="18" charset="0"/>
                              <a:ea typeface="+mn-ea"/>
                            </a:rPr>
                            <m:t>𝑞</m:t>
                          </m:r>
                        </m:e>
                        <m:sub>
                          <m:r>
                            <a:rPr lang="en-US" altLang="zh-CN" sz="1050" i="1">
                              <a:solidFill>
                                <a:srgbClr val="FF0000"/>
                              </a:solidFill>
                              <a:latin typeface="Cambria Math" panose="02040503050406030204" pitchFamily="18" charset="0"/>
                              <a:ea typeface="+mn-ea"/>
                            </a:rPr>
                            <m:t>𝜋</m:t>
                          </m:r>
                        </m:sub>
                      </m:sSub>
                      <m:r>
                        <a:rPr lang="en-US" altLang="zh-CN" sz="1050" i="1">
                          <a:solidFill>
                            <a:srgbClr val="FF0000"/>
                          </a:solidFill>
                          <a:latin typeface="Cambria Math" panose="02040503050406030204" pitchFamily="18" charset="0"/>
                          <a:ea typeface="+mn-ea"/>
                        </a:rPr>
                        <m:t>(</m:t>
                      </m:r>
                      <m:r>
                        <a:rPr lang="en-US" altLang="zh-CN" sz="1050" i="1">
                          <a:solidFill>
                            <a:srgbClr val="FF0000"/>
                          </a:solidFill>
                          <a:latin typeface="Cambria Math" panose="02040503050406030204" pitchFamily="18" charset="0"/>
                          <a:ea typeface="+mn-ea"/>
                        </a:rPr>
                        <m:t>𝑠</m:t>
                      </m:r>
                      <m:r>
                        <a:rPr lang="en-US" altLang="zh-CN" sz="1050" i="1">
                          <a:solidFill>
                            <a:srgbClr val="FF0000"/>
                          </a:solidFill>
                          <a:latin typeface="Cambria Math" panose="02040503050406030204" pitchFamily="18" charset="0"/>
                          <a:ea typeface="+mn-ea"/>
                        </a:rPr>
                        <m:t>,</m:t>
                      </m:r>
                      <m:r>
                        <a:rPr lang="en-US" altLang="zh-CN" sz="1050" i="1">
                          <a:solidFill>
                            <a:srgbClr val="FF0000"/>
                          </a:solidFill>
                          <a:latin typeface="Cambria Math" panose="02040503050406030204" pitchFamily="18" charset="0"/>
                          <a:ea typeface="+mn-ea"/>
                        </a:rPr>
                        <m:t>𝑎</m:t>
                      </m:r>
                      <m:r>
                        <a:rPr lang="en-US" altLang="zh-CN" sz="1050" i="1">
                          <a:solidFill>
                            <a:srgbClr val="FF0000"/>
                          </a:solidFill>
                          <a:latin typeface="Cambria Math" panose="02040503050406030204" pitchFamily="18" charset="0"/>
                          <a:ea typeface="+mn-ea"/>
                        </a:rPr>
                        <m:t>)</m:t>
                      </m:r>
                    </m:oMath>
                  </m:oMathPara>
                </a14:m>
                <a:endParaRPr lang="zh-CN" altLang="en-US" sz="1050" dirty="0">
                  <a:solidFill>
                    <a:srgbClr val="FF0000"/>
                  </a:solidFill>
                  <a:latin typeface="+mn-ea"/>
                  <a:ea typeface="+mn-ea"/>
                </a:endParaRPr>
              </a:p>
            </p:txBody>
          </p:sp>
        </mc:Choice>
        <mc:Fallback xmlns="">
          <p:sp>
            <p:nvSpPr>
              <p:cNvPr id="17" name="文本框 16">
                <a:extLst>
                  <a:ext uri="{FF2B5EF4-FFF2-40B4-BE49-F238E27FC236}">
                    <a16:creationId xmlns:a16="http://schemas.microsoft.com/office/drawing/2014/main" id="{69155939-AD64-4269-BAD9-551942B3E9E2}"/>
                  </a:ext>
                </a:extLst>
              </p:cNvPr>
              <p:cNvSpPr txBox="1">
                <a:spLocks noRot="1" noChangeAspect="1" noMove="1" noResize="1" noEditPoints="1" noAdjustHandles="1" noChangeArrowheads="1" noChangeShapeType="1" noTextEdit="1"/>
              </p:cNvSpPr>
              <p:nvPr/>
            </p:nvSpPr>
            <p:spPr>
              <a:xfrm>
                <a:off x="5428751" y="1586580"/>
                <a:ext cx="616611" cy="161583"/>
              </a:xfrm>
              <a:prstGeom prst="rect">
                <a:avLst/>
              </a:prstGeom>
              <a:blipFill>
                <a:blip r:embed="rId5"/>
                <a:stretch>
                  <a:fillRect b="-37037"/>
                </a:stretch>
              </a:blipFill>
            </p:spPr>
            <p:txBody>
              <a:bodyPr/>
              <a:lstStyle/>
              <a:p>
                <a:r>
                  <a:rPr lang="zh-CN" altLang="en-US">
                    <a:noFill/>
                  </a:rPr>
                  <a:t> </a:t>
                </a:r>
              </a:p>
            </p:txBody>
          </p:sp>
        </mc:Fallback>
      </mc:AlternateContent>
      <p:sp>
        <p:nvSpPr>
          <p:cNvPr id="2" name="箭头: 上 1">
            <a:extLst>
              <a:ext uri="{FF2B5EF4-FFF2-40B4-BE49-F238E27FC236}">
                <a16:creationId xmlns:a16="http://schemas.microsoft.com/office/drawing/2014/main" id="{D8CE0C3E-8A29-48BB-B4D8-DD60D9452E8B}"/>
              </a:ext>
            </a:extLst>
          </p:cNvPr>
          <p:cNvSpPr/>
          <p:nvPr/>
        </p:nvSpPr>
        <p:spPr>
          <a:xfrm>
            <a:off x="5661443" y="1816234"/>
            <a:ext cx="151228" cy="15811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latin typeface="+mn-ea"/>
            </a:endParaRPr>
          </a:p>
        </p:txBody>
      </p:sp>
      <p:sp>
        <p:nvSpPr>
          <p:cNvPr id="7" name="矩形 6">
            <a:extLst>
              <a:ext uri="{FF2B5EF4-FFF2-40B4-BE49-F238E27FC236}">
                <a16:creationId xmlns:a16="http://schemas.microsoft.com/office/drawing/2014/main" id="{8955DC71-3971-4B4D-9BFA-CA3F49FC0C2F}"/>
              </a:ext>
            </a:extLst>
          </p:cNvPr>
          <p:cNvSpPr/>
          <p:nvPr/>
        </p:nvSpPr>
        <p:spPr>
          <a:xfrm>
            <a:off x="5774134" y="1794329"/>
            <a:ext cx="588623" cy="253916"/>
          </a:xfrm>
          <a:prstGeom prst="rect">
            <a:avLst/>
          </a:prstGeom>
        </p:spPr>
        <p:txBody>
          <a:bodyPr wrap="none">
            <a:spAutoFit/>
          </a:bodyPr>
          <a:lstStyle/>
          <a:p>
            <a:r>
              <a:rPr lang="zh-CN" altLang="en-US" sz="1050" dirty="0">
                <a:latin typeface="+mn-ea"/>
                <a:ea typeface="+mn-ea"/>
              </a:rPr>
              <a:t>等同于</a:t>
            </a:r>
          </a:p>
        </p:txBody>
      </p:sp>
      <p:pic>
        <p:nvPicPr>
          <p:cNvPr id="18" name="图片 17">
            <a:extLst>
              <a:ext uri="{FF2B5EF4-FFF2-40B4-BE49-F238E27FC236}">
                <a16:creationId xmlns:a16="http://schemas.microsoft.com/office/drawing/2014/main" id="{61ABAACA-1D1F-43D4-9C91-598DE9AE37F4}"/>
              </a:ext>
            </a:extLst>
          </p:cNvPr>
          <p:cNvPicPr>
            <a:picLocks noChangeAspect="1"/>
          </p:cNvPicPr>
          <p:nvPr/>
        </p:nvPicPr>
        <p:blipFill>
          <a:blip r:embed="rId6"/>
          <a:stretch>
            <a:fillRect/>
          </a:stretch>
        </p:blipFill>
        <p:spPr>
          <a:xfrm>
            <a:off x="5438871" y="2817926"/>
            <a:ext cx="3564694" cy="1584641"/>
          </a:xfrm>
          <a:prstGeom prst="rect">
            <a:avLst/>
          </a:prstGeom>
        </p:spPr>
      </p:pic>
      <p:grpSp>
        <p:nvGrpSpPr>
          <p:cNvPr id="9" name="组合 8">
            <a:extLst>
              <a:ext uri="{FF2B5EF4-FFF2-40B4-BE49-F238E27FC236}">
                <a16:creationId xmlns:a16="http://schemas.microsoft.com/office/drawing/2014/main" id="{A61974F5-CE32-35F9-C9DD-1B5DCFFA7A0C}"/>
              </a:ext>
            </a:extLst>
          </p:cNvPr>
          <p:cNvGrpSpPr/>
          <p:nvPr/>
        </p:nvGrpSpPr>
        <p:grpSpPr>
          <a:xfrm>
            <a:off x="611560" y="483518"/>
            <a:ext cx="5598290" cy="373451"/>
            <a:chOff x="4099943" y="2819853"/>
            <a:chExt cx="2570275" cy="497934"/>
          </a:xfrm>
        </p:grpSpPr>
        <p:sp>
          <p:nvSpPr>
            <p:cNvPr id="12" name="平行四边形 11">
              <a:extLst>
                <a:ext uri="{FF2B5EF4-FFF2-40B4-BE49-F238E27FC236}">
                  <a16:creationId xmlns:a16="http://schemas.microsoft.com/office/drawing/2014/main" id="{A1704B72-909F-3ADD-3BA3-F31DA7BCA8E1}"/>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3" name="平行四边形 12">
              <a:extLst>
                <a:ext uri="{FF2B5EF4-FFF2-40B4-BE49-F238E27FC236}">
                  <a16:creationId xmlns:a16="http://schemas.microsoft.com/office/drawing/2014/main" id="{CC6C699E-4C25-AECF-1CE2-B6411789D1F0}"/>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9" name="矩形 18">
              <a:extLst>
                <a:ext uri="{FF2B5EF4-FFF2-40B4-BE49-F238E27FC236}">
                  <a16:creationId xmlns:a16="http://schemas.microsoft.com/office/drawing/2014/main" id="{9FB2B8C7-CAE0-7985-AA47-53E73E68E414}"/>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策略评估：</a:t>
              </a:r>
              <a:r>
                <a:rPr lang="zh-CN" altLang="en-US" sz="1500" dirty="0">
                  <a:solidFill>
                    <a:srgbClr val="0070C0"/>
                  </a:solidFill>
                  <a:latin typeface="+mn-ea"/>
                  <a:ea typeface="+mn-ea"/>
                  <a:cs typeface="Times New Roman" panose="02020603050405020304" pitchFamily="18" charset="0"/>
                </a:rPr>
                <a:t>动态规划</a:t>
              </a:r>
            </a:p>
          </p:txBody>
        </p:sp>
      </p:grpSp>
    </p:spTree>
    <p:extLst>
      <p:ext uri="{BB962C8B-B14F-4D97-AF65-F5344CB8AC3E}">
        <p14:creationId xmlns:p14="http://schemas.microsoft.com/office/powerpoint/2010/main" val="1207495918"/>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a:extLst>
              <a:ext uri="{FF2B5EF4-FFF2-40B4-BE49-F238E27FC236}">
                <a16:creationId xmlns:a16="http://schemas.microsoft.com/office/drawing/2014/main" id="{0B8B6FF7-5971-41EA-BA5E-B282CD18D2C8}"/>
              </a:ext>
            </a:extLst>
          </p:cNvPr>
          <p:cNvGrpSpPr/>
          <p:nvPr/>
        </p:nvGrpSpPr>
        <p:grpSpPr>
          <a:xfrm>
            <a:off x="2195736" y="3435846"/>
            <a:ext cx="1109068" cy="1478751"/>
            <a:chOff x="8158160" y="4067172"/>
            <a:chExt cx="1971676" cy="1971668"/>
          </a:xfrm>
        </p:grpSpPr>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668AD1B0-527F-4947-A1E6-BA6E2A74E083}"/>
                    </a:ext>
                  </a:extLst>
                </p:cNvPr>
                <p:cNvSpPr/>
                <p:nvPr/>
              </p:nvSpPr>
              <p:spPr>
                <a:xfrm>
                  <a:off x="8158162" y="406717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7</m:t>
                            </m:r>
                          </m:sub>
                        </m:sSub>
                      </m:oMath>
                    </m:oMathPara>
                  </a14:m>
                  <a:endParaRPr lang="zh-CN" altLang="en-US" sz="1200" dirty="0">
                    <a:latin typeface="+mn-ea"/>
                  </a:endParaRPr>
                </a:p>
              </p:txBody>
            </p:sp>
          </mc:Choice>
          <mc:Fallback xmlns="">
            <p:sp>
              <p:nvSpPr>
                <p:cNvPr id="35" name="矩形 34">
                  <a:extLst>
                    <a:ext uri="{FF2B5EF4-FFF2-40B4-BE49-F238E27FC236}">
                      <a16:creationId xmlns:a16="http://schemas.microsoft.com/office/drawing/2014/main" id="{668AD1B0-527F-4947-A1E6-BA6E2A74E083}"/>
                    </a:ext>
                  </a:extLst>
                </p:cNvPr>
                <p:cNvSpPr>
                  <a:spLocks noRot="1" noChangeAspect="1" noMove="1" noResize="1" noEditPoints="1" noAdjustHandles="1" noChangeArrowheads="1" noChangeShapeType="1" noTextEdit="1"/>
                </p:cNvSpPr>
                <p:nvPr/>
              </p:nvSpPr>
              <p:spPr>
                <a:xfrm>
                  <a:off x="8158162" y="4067173"/>
                  <a:ext cx="657225" cy="65722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7FFF98B1-41D6-41E2-B99C-43E2460327C7}"/>
                    </a:ext>
                  </a:extLst>
                </p:cNvPr>
                <p:cNvSpPr/>
                <p:nvPr/>
              </p:nvSpPr>
              <p:spPr>
                <a:xfrm>
                  <a:off x="8815386" y="406717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8</m:t>
                            </m:r>
                          </m:sub>
                        </m:sSub>
                      </m:oMath>
                    </m:oMathPara>
                  </a14:m>
                  <a:endParaRPr lang="zh-CN" altLang="en-US" sz="1200" dirty="0">
                    <a:latin typeface="+mn-ea"/>
                  </a:endParaRPr>
                </a:p>
              </p:txBody>
            </p:sp>
          </mc:Choice>
          <mc:Fallback xmlns="">
            <p:sp>
              <p:nvSpPr>
                <p:cNvPr id="36" name="矩形 35">
                  <a:extLst>
                    <a:ext uri="{FF2B5EF4-FFF2-40B4-BE49-F238E27FC236}">
                      <a16:creationId xmlns:a16="http://schemas.microsoft.com/office/drawing/2014/main" id="{7FFF98B1-41D6-41E2-B99C-43E2460327C7}"/>
                    </a:ext>
                  </a:extLst>
                </p:cNvPr>
                <p:cNvSpPr>
                  <a:spLocks noRot="1" noChangeAspect="1" noMove="1" noResize="1" noEditPoints="1" noAdjustHandles="1" noChangeArrowheads="1" noChangeShapeType="1" noTextEdit="1"/>
                </p:cNvSpPr>
                <p:nvPr/>
              </p:nvSpPr>
              <p:spPr>
                <a:xfrm>
                  <a:off x="8815386" y="4067173"/>
                  <a:ext cx="657225" cy="65722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89C36137-F893-40D8-B5D1-531352B055C4}"/>
                    </a:ext>
                  </a:extLst>
                </p:cNvPr>
                <p:cNvSpPr/>
                <p:nvPr/>
              </p:nvSpPr>
              <p:spPr>
                <a:xfrm>
                  <a:off x="9472611" y="4067172"/>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9</m:t>
                            </m:r>
                          </m:sub>
                        </m:sSub>
                      </m:oMath>
                    </m:oMathPara>
                  </a14:m>
                  <a:endParaRPr lang="zh-CN" altLang="en-US" sz="1200" dirty="0">
                    <a:latin typeface="+mn-ea"/>
                  </a:endParaRPr>
                </a:p>
              </p:txBody>
            </p:sp>
          </mc:Choice>
          <mc:Fallback xmlns="">
            <p:sp>
              <p:nvSpPr>
                <p:cNvPr id="37" name="矩形 36">
                  <a:extLst>
                    <a:ext uri="{FF2B5EF4-FFF2-40B4-BE49-F238E27FC236}">
                      <a16:creationId xmlns:a16="http://schemas.microsoft.com/office/drawing/2014/main" id="{89C36137-F893-40D8-B5D1-531352B055C4}"/>
                    </a:ext>
                  </a:extLst>
                </p:cNvPr>
                <p:cNvSpPr>
                  <a:spLocks noRot="1" noChangeAspect="1" noMove="1" noResize="1" noEditPoints="1" noAdjustHandles="1" noChangeArrowheads="1" noChangeShapeType="1" noTextEdit="1"/>
                </p:cNvSpPr>
                <p:nvPr/>
              </p:nvSpPr>
              <p:spPr>
                <a:xfrm>
                  <a:off x="9472611" y="4067172"/>
                  <a:ext cx="657225" cy="65722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EEE9EAEF-A8CF-4E76-94BB-CAC220386E1D}"/>
                    </a:ext>
                  </a:extLst>
                </p:cNvPr>
                <p:cNvSpPr/>
                <p:nvPr/>
              </p:nvSpPr>
              <p:spPr>
                <a:xfrm>
                  <a:off x="8158161" y="4724396"/>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4</m:t>
                            </m:r>
                          </m:sub>
                        </m:sSub>
                      </m:oMath>
                    </m:oMathPara>
                  </a14:m>
                  <a:endParaRPr lang="zh-CN" altLang="en-US" sz="1200" dirty="0">
                    <a:latin typeface="+mn-ea"/>
                  </a:endParaRPr>
                </a:p>
              </p:txBody>
            </p:sp>
          </mc:Choice>
          <mc:Fallback xmlns="">
            <p:sp>
              <p:nvSpPr>
                <p:cNvPr id="38" name="矩形 37">
                  <a:extLst>
                    <a:ext uri="{FF2B5EF4-FFF2-40B4-BE49-F238E27FC236}">
                      <a16:creationId xmlns:a16="http://schemas.microsoft.com/office/drawing/2014/main" id="{EEE9EAEF-A8CF-4E76-94BB-CAC220386E1D}"/>
                    </a:ext>
                  </a:extLst>
                </p:cNvPr>
                <p:cNvSpPr>
                  <a:spLocks noRot="1" noChangeAspect="1" noMove="1" noResize="1" noEditPoints="1" noAdjustHandles="1" noChangeArrowheads="1" noChangeShapeType="1" noTextEdit="1"/>
                </p:cNvSpPr>
                <p:nvPr/>
              </p:nvSpPr>
              <p:spPr>
                <a:xfrm>
                  <a:off x="8158161" y="4724396"/>
                  <a:ext cx="657225" cy="657225"/>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3AD8DA39-7CF4-4C14-A064-20C2A5AD6AB0}"/>
                    </a:ext>
                  </a:extLst>
                </p:cNvPr>
                <p:cNvSpPr/>
                <p:nvPr/>
              </p:nvSpPr>
              <p:spPr>
                <a:xfrm>
                  <a:off x="8815385" y="4724393"/>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5</m:t>
                            </m:r>
                          </m:sub>
                        </m:sSub>
                      </m:oMath>
                    </m:oMathPara>
                  </a14:m>
                  <a:endParaRPr lang="zh-CN" altLang="en-US" sz="1200" dirty="0">
                    <a:latin typeface="+mn-ea"/>
                  </a:endParaRPr>
                </a:p>
              </p:txBody>
            </p:sp>
          </mc:Choice>
          <mc:Fallback xmlns="">
            <p:sp>
              <p:nvSpPr>
                <p:cNvPr id="39" name="矩形 38">
                  <a:extLst>
                    <a:ext uri="{FF2B5EF4-FFF2-40B4-BE49-F238E27FC236}">
                      <a16:creationId xmlns:a16="http://schemas.microsoft.com/office/drawing/2014/main" id="{3AD8DA39-7CF4-4C14-A064-20C2A5AD6AB0}"/>
                    </a:ext>
                  </a:extLst>
                </p:cNvPr>
                <p:cNvSpPr>
                  <a:spLocks noRot="1" noChangeAspect="1" noMove="1" noResize="1" noEditPoints="1" noAdjustHandles="1" noChangeArrowheads="1" noChangeShapeType="1" noTextEdit="1"/>
                </p:cNvSpPr>
                <p:nvPr/>
              </p:nvSpPr>
              <p:spPr>
                <a:xfrm>
                  <a:off x="8815385" y="4724393"/>
                  <a:ext cx="657225" cy="65722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BA850761-582A-4CD4-93DF-F8CC135D373A}"/>
                    </a:ext>
                  </a:extLst>
                </p:cNvPr>
                <p:cNvSpPr/>
                <p:nvPr/>
              </p:nvSpPr>
              <p:spPr>
                <a:xfrm>
                  <a:off x="9472595" y="4719517"/>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6</m:t>
                            </m:r>
                          </m:sub>
                        </m:sSub>
                      </m:oMath>
                    </m:oMathPara>
                  </a14:m>
                  <a:endParaRPr lang="zh-CN" altLang="en-US" sz="1200" dirty="0">
                    <a:latin typeface="+mn-ea"/>
                  </a:endParaRPr>
                </a:p>
              </p:txBody>
            </p:sp>
          </mc:Choice>
          <mc:Fallback xmlns="">
            <p:sp>
              <p:nvSpPr>
                <p:cNvPr id="40" name="矩形 39">
                  <a:extLst>
                    <a:ext uri="{FF2B5EF4-FFF2-40B4-BE49-F238E27FC236}">
                      <a16:creationId xmlns:a16="http://schemas.microsoft.com/office/drawing/2014/main" id="{BA850761-582A-4CD4-93DF-F8CC135D373A}"/>
                    </a:ext>
                  </a:extLst>
                </p:cNvPr>
                <p:cNvSpPr>
                  <a:spLocks noRot="1" noChangeAspect="1" noMove="1" noResize="1" noEditPoints="1" noAdjustHandles="1" noChangeArrowheads="1" noChangeShapeType="1" noTextEdit="1"/>
                </p:cNvSpPr>
                <p:nvPr/>
              </p:nvSpPr>
              <p:spPr>
                <a:xfrm>
                  <a:off x="9472595" y="4719517"/>
                  <a:ext cx="657225" cy="65722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B68CB7D6-396E-49AC-9220-243AEF8A4C77}"/>
                    </a:ext>
                  </a:extLst>
                </p:cNvPr>
                <p:cNvSpPr/>
                <p:nvPr/>
              </p:nvSpPr>
              <p:spPr>
                <a:xfrm>
                  <a:off x="8158160" y="5376742"/>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1</m:t>
                            </m:r>
                          </m:sub>
                        </m:sSub>
                      </m:oMath>
                    </m:oMathPara>
                  </a14:m>
                  <a:endParaRPr lang="zh-CN" altLang="en-US" sz="1200" dirty="0">
                    <a:latin typeface="+mn-ea"/>
                  </a:endParaRPr>
                </a:p>
              </p:txBody>
            </p:sp>
          </mc:Choice>
          <mc:Fallback xmlns="">
            <p:sp>
              <p:nvSpPr>
                <p:cNvPr id="41" name="矩形 40">
                  <a:extLst>
                    <a:ext uri="{FF2B5EF4-FFF2-40B4-BE49-F238E27FC236}">
                      <a16:creationId xmlns:a16="http://schemas.microsoft.com/office/drawing/2014/main" id="{B68CB7D6-396E-49AC-9220-243AEF8A4C77}"/>
                    </a:ext>
                  </a:extLst>
                </p:cNvPr>
                <p:cNvSpPr>
                  <a:spLocks noRot="1" noChangeAspect="1" noMove="1" noResize="1" noEditPoints="1" noAdjustHandles="1" noChangeArrowheads="1" noChangeShapeType="1" noTextEdit="1"/>
                </p:cNvSpPr>
                <p:nvPr/>
              </p:nvSpPr>
              <p:spPr>
                <a:xfrm>
                  <a:off x="8158160" y="5376742"/>
                  <a:ext cx="657225" cy="65722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A2C27513-3129-4AB8-81A8-DBCE76FF0311}"/>
                    </a:ext>
                  </a:extLst>
                </p:cNvPr>
                <p:cNvSpPr/>
                <p:nvPr/>
              </p:nvSpPr>
              <p:spPr>
                <a:xfrm>
                  <a:off x="8815338" y="5381615"/>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2</m:t>
                            </m:r>
                          </m:sub>
                        </m:sSub>
                      </m:oMath>
                    </m:oMathPara>
                  </a14:m>
                  <a:endParaRPr lang="zh-CN" altLang="en-US" sz="1200" dirty="0">
                    <a:latin typeface="+mn-ea"/>
                  </a:endParaRPr>
                </a:p>
              </p:txBody>
            </p:sp>
          </mc:Choice>
          <mc:Fallback xmlns="">
            <p:sp>
              <p:nvSpPr>
                <p:cNvPr id="42" name="矩形 41">
                  <a:extLst>
                    <a:ext uri="{FF2B5EF4-FFF2-40B4-BE49-F238E27FC236}">
                      <a16:creationId xmlns:a16="http://schemas.microsoft.com/office/drawing/2014/main" id="{A2C27513-3129-4AB8-81A8-DBCE76FF0311}"/>
                    </a:ext>
                  </a:extLst>
                </p:cNvPr>
                <p:cNvSpPr>
                  <a:spLocks noRot="1" noChangeAspect="1" noMove="1" noResize="1" noEditPoints="1" noAdjustHandles="1" noChangeArrowheads="1" noChangeShapeType="1" noTextEdit="1"/>
                </p:cNvSpPr>
                <p:nvPr/>
              </p:nvSpPr>
              <p:spPr>
                <a:xfrm>
                  <a:off x="8815338" y="5381615"/>
                  <a:ext cx="657225" cy="65722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3FD4BF93-9775-4E59-938E-33D813D625F9}"/>
                    </a:ext>
                  </a:extLst>
                </p:cNvPr>
                <p:cNvSpPr/>
                <p:nvPr/>
              </p:nvSpPr>
              <p:spPr>
                <a:xfrm>
                  <a:off x="9472546" y="5376741"/>
                  <a:ext cx="657225" cy="657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200" i="1">
                                <a:latin typeface="Cambria Math" panose="02040503050406030204" pitchFamily="18" charset="0"/>
                              </a:rPr>
                            </m:ctrlPr>
                          </m:sSubPr>
                          <m:e>
                            <m:r>
                              <a:rPr lang="en-US" altLang="zh-CN" sz="1200" b="0" i="1">
                                <a:latin typeface="Cambria Math" panose="02040503050406030204" pitchFamily="18" charset="0"/>
                              </a:rPr>
                              <m:t>𝑠</m:t>
                            </m:r>
                          </m:e>
                          <m:sub>
                            <m:r>
                              <a:rPr lang="en-US" altLang="zh-CN" sz="1200" b="0" i="1">
                                <a:latin typeface="Cambria Math" panose="02040503050406030204" pitchFamily="18" charset="0"/>
                              </a:rPr>
                              <m:t>3</m:t>
                            </m:r>
                          </m:sub>
                        </m:sSub>
                      </m:oMath>
                    </m:oMathPara>
                  </a14:m>
                  <a:endParaRPr lang="zh-CN" altLang="en-US" sz="1200" dirty="0">
                    <a:latin typeface="+mn-ea"/>
                  </a:endParaRPr>
                </a:p>
              </p:txBody>
            </p:sp>
          </mc:Choice>
          <mc:Fallback xmlns="">
            <p:sp>
              <p:nvSpPr>
                <p:cNvPr id="43" name="矩形 42">
                  <a:extLst>
                    <a:ext uri="{FF2B5EF4-FFF2-40B4-BE49-F238E27FC236}">
                      <a16:creationId xmlns:a16="http://schemas.microsoft.com/office/drawing/2014/main" id="{3FD4BF93-9775-4E59-938E-33D813D625F9}"/>
                    </a:ext>
                  </a:extLst>
                </p:cNvPr>
                <p:cNvSpPr>
                  <a:spLocks noRot="1" noChangeAspect="1" noMove="1" noResize="1" noEditPoints="1" noAdjustHandles="1" noChangeArrowheads="1" noChangeShapeType="1" noTextEdit="1"/>
                </p:cNvSpPr>
                <p:nvPr/>
              </p:nvSpPr>
              <p:spPr>
                <a:xfrm>
                  <a:off x="9472546" y="5376741"/>
                  <a:ext cx="657225" cy="657225"/>
                </a:xfrm>
                <a:prstGeom prst="rect">
                  <a:avLst/>
                </a:prstGeom>
                <a:blipFill>
                  <a:blip r:embed="rId11"/>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BDBA699-28D2-49BF-BA93-EC307DCCFC66}"/>
                  </a:ext>
                </a:extLst>
              </p:cNvPr>
              <p:cNvSpPr txBox="1"/>
              <p:nvPr/>
            </p:nvSpPr>
            <p:spPr>
              <a:xfrm>
                <a:off x="1907704" y="2159933"/>
                <a:ext cx="5700511" cy="1040285"/>
              </a:xfrm>
              <a:prstGeom prst="rect">
                <a:avLst/>
              </a:prstGeom>
              <a:noFill/>
              <a:ln>
                <a:solidFill>
                  <a:schemeClr val="tx1"/>
                </a:solidFill>
              </a:ln>
            </p:spPr>
            <p:txBody>
              <a:bodyPr wrap="square" rtlCol="0">
                <a:spAutoFit/>
              </a:bodyPr>
              <a:lstStyle/>
              <a:p>
                <a:r>
                  <a:rPr lang="zh-CN" altLang="en-US" sz="1200" dirty="0">
                    <a:latin typeface="+mn-ea"/>
                    <a:ea typeface="+mn-ea"/>
                    <a:cs typeface="Times New Roman" panose="02020603050405020304" pitchFamily="18" charset="0"/>
                  </a:rPr>
                  <a:t>选择不同的起始状态，</a:t>
                </a:r>
                <a:r>
                  <a:rPr lang="zh-CN" altLang="en-US" sz="1200" dirty="0" smtClean="0">
                    <a:solidFill>
                      <a:srgbClr val="FF0000"/>
                    </a:solidFill>
                    <a:latin typeface="+mn-ea"/>
                    <a:ea typeface="+mn-ea"/>
                    <a:cs typeface="Times New Roman" panose="02020603050405020304" pitchFamily="18" charset="0"/>
                  </a:rPr>
                  <a:t>按照当前策略</a:t>
                </a:r>
                <a14:m>
                  <m:oMath xmlns:m="http://schemas.openxmlformats.org/officeDocument/2006/math">
                    <m:r>
                      <a:rPr lang="en-US" altLang="zh-CN" sz="1200" b="0" i="1">
                        <a:solidFill>
                          <a:srgbClr val="FF0000"/>
                        </a:solidFill>
                        <a:latin typeface="Cambria Math" panose="02040503050406030204" pitchFamily="18" charset="0"/>
                        <a:ea typeface="+mn-ea"/>
                      </a:rPr>
                      <m:t>𝜋</m:t>
                    </m:r>
                  </m:oMath>
                </a14:m>
                <a:r>
                  <a:rPr lang="zh-CN" altLang="en-US" sz="1200" dirty="0">
                    <a:solidFill>
                      <a:srgbClr val="FF0000"/>
                    </a:solidFill>
                    <a:latin typeface="+mn-ea"/>
                    <a:ea typeface="+mn-ea"/>
                    <a:cs typeface="Times New Roman" panose="02020603050405020304" pitchFamily="18" charset="0"/>
                  </a:rPr>
                  <a:t>采样若干轨迹</a:t>
                </a:r>
                <a:r>
                  <a:rPr lang="zh-CN" altLang="en-US" sz="1200" dirty="0">
                    <a:latin typeface="+mn-ea"/>
                    <a:ea typeface="+mn-ea"/>
                    <a:cs typeface="Times New Roman" panose="02020603050405020304" pitchFamily="18" charset="0"/>
                  </a:rPr>
                  <a:t>，记它们的集合为</a:t>
                </a:r>
                <a14:m>
                  <m:oMath xmlns:m="http://schemas.openxmlformats.org/officeDocument/2006/math">
                    <m:r>
                      <a:rPr lang="en-US" altLang="zh-CN" sz="1200" b="0" i="1">
                        <a:latin typeface="Cambria Math" panose="02040503050406030204" pitchFamily="18" charset="0"/>
                        <a:ea typeface="+mn-ea"/>
                      </a:rPr>
                      <m:t>𝐷</m:t>
                    </m:r>
                  </m:oMath>
                </a14:m>
                <a:endParaRPr lang="en-US" altLang="zh-CN" sz="1200" dirty="0">
                  <a:latin typeface="+mn-ea"/>
                  <a:ea typeface="+mn-ea"/>
                  <a:cs typeface="Times New Roman" panose="02020603050405020304" pitchFamily="18" charset="0"/>
                </a:endParaRPr>
              </a:p>
              <a:p>
                <a:r>
                  <a:rPr lang="zh-CN" altLang="en-US" sz="1200" dirty="0">
                    <a:latin typeface="+mn-ea"/>
                    <a:ea typeface="+mn-ea"/>
                    <a:cs typeface="Times New Roman" panose="02020603050405020304" pitchFamily="18" charset="0"/>
                  </a:rPr>
                  <a:t>枚举</a:t>
                </a:r>
                <a14:m>
                  <m:oMath xmlns:m="http://schemas.openxmlformats.org/officeDocument/2006/math">
                    <m:r>
                      <a:rPr lang="en-US" altLang="zh-CN" sz="1200" b="0" i="1">
                        <a:latin typeface="Cambria Math" panose="02040503050406030204" pitchFamily="18" charset="0"/>
                        <a:ea typeface="+mn-ea"/>
                      </a:rPr>
                      <m:t>𝑠</m:t>
                    </m:r>
                    <m:r>
                      <a:rPr lang="en-US" altLang="zh-CN" sz="1200" b="0" i="1">
                        <a:latin typeface="Cambria Math" panose="02040503050406030204" pitchFamily="18" charset="0"/>
                        <a:ea typeface="+mn-ea"/>
                      </a:rPr>
                      <m:t>∈</m:t>
                    </m:r>
                    <m:r>
                      <a:rPr lang="en-US" altLang="zh-CN" sz="1200" b="0" i="1">
                        <a:latin typeface="Cambria Math" panose="02040503050406030204" pitchFamily="18" charset="0"/>
                        <a:ea typeface="+mn-ea"/>
                      </a:rPr>
                      <m:t>𝑆</m:t>
                    </m:r>
                  </m:oMath>
                </a14:m>
                <a:endParaRPr lang="en-US" altLang="zh-CN" sz="1200" dirty="0">
                  <a:latin typeface="+mn-ea"/>
                  <a:ea typeface="+mn-ea"/>
                  <a:cs typeface="Times New Roman" panose="02020603050405020304" pitchFamily="18" charset="0"/>
                </a:endParaRPr>
              </a:p>
              <a:p>
                <a:r>
                  <a:rPr lang="en-US" altLang="zh-CN" sz="1200" dirty="0">
                    <a:latin typeface="+mn-ea"/>
                    <a:ea typeface="+mn-ea"/>
                    <a:cs typeface="Times New Roman" panose="02020603050405020304" pitchFamily="18" charset="0"/>
                  </a:rPr>
                  <a:t>        </a:t>
                </a:r>
                <a:r>
                  <a:rPr lang="zh-CN" altLang="en-US" sz="1200" dirty="0">
                    <a:latin typeface="+mn-ea"/>
                    <a:ea typeface="+mn-ea"/>
                    <a:cs typeface="Times New Roman" panose="02020603050405020304" pitchFamily="18" charset="0"/>
                  </a:rPr>
                  <a:t>计算</a:t>
                </a:r>
                <a14:m>
                  <m:oMath xmlns:m="http://schemas.openxmlformats.org/officeDocument/2006/math">
                    <m:r>
                      <a:rPr lang="en-US" altLang="zh-CN" sz="1200" b="0" i="1">
                        <a:latin typeface="Cambria Math" panose="02040503050406030204" pitchFamily="18" charset="0"/>
                        <a:ea typeface="+mn-ea"/>
                      </a:rPr>
                      <m:t>𝐷</m:t>
                    </m:r>
                  </m:oMath>
                </a14:m>
                <a:r>
                  <a:rPr lang="zh-CN" altLang="en-US" sz="1200" dirty="0">
                    <a:latin typeface="+mn-ea"/>
                    <a:ea typeface="+mn-ea"/>
                    <a:cs typeface="Times New Roman" panose="02020603050405020304" pitchFamily="18" charset="0"/>
                  </a:rPr>
                  <a:t>中</a:t>
                </a:r>
                <a14:m>
                  <m:oMath xmlns:m="http://schemas.openxmlformats.org/officeDocument/2006/math">
                    <m:r>
                      <a:rPr lang="en-US" altLang="zh-CN" sz="1200" b="0" i="1" dirty="0">
                        <a:latin typeface="Cambria Math" panose="02040503050406030204" pitchFamily="18" charset="0"/>
                        <a:ea typeface="+mn-ea"/>
                      </a:rPr>
                      <m:t>𝑠</m:t>
                    </m:r>
                  </m:oMath>
                </a14:m>
                <a:r>
                  <a:rPr lang="zh-CN" altLang="en-US" sz="1200" dirty="0">
                    <a:latin typeface="+mn-ea"/>
                    <a:ea typeface="+mn-ea"/>
                    <a:cs typeface="Times New Roman" panose="02020603050405020304" pitchFamily="18" charset="0"/>
                  </a:rPr>
                  <a:t>每次出现时对应的反馈</a:t>
                </a:r>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𝐺</m:t>
                        </m:r>
                      </m:e>
                      <m:sub>
                        <m:r>
                          <a:rPr lang="en-US" altLang="zh-CN" sz="1200" b="0" i="1">
                            <a:latin typeface="Cambria Math" panose="02040503050406030204" pitchFamily="18" charset="0"/>
                            <a:ea typeface="+mn-ea"/>
                          </a:rPr>
                          <m:t>1</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𝐺</m:t>
                        </m:r>
                      </m:e>
                      <m:sub>
                        <m:r>
                          <a:rPr lang="en-US" altLang="zh-CN" sz="1200" b="0" i="1">
                            <a:latin typeface="Cambria Math" panose="02040503050406030204" pitchFamily="18" charset="0"/>
                            <a:ea typeface="+mn-ea"/>
                          </a:rPr>
                          <m:t>2</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𝐺</m:t>
                        </m:r>
                      </m:e>
                      <m:sub>
                        <m:r>
                          <a:rPr lang="en-US" altLang="zh-CN" sz="1200" b="0" i="1">
                            <a:latin typeface="Cambria Math" panose="02040503050406030204" pitchFamily="18" charset="0"/>
                            <a:ea typeface="+mn-ea"/>
                          </a:rPr>
                          <m:t>𝑘</m:t>
                        </m:r>
                      </m:sub>
                    </m:sSub>
                  </m:oMath>
                </a14:m>
                <a:endParaRPr lang="en-US" altLang="zh-CN" sz="1200" dirty="0">
                  <a:latin typeface="+mn-ea"/>
                  <a:ea typeface="+mn-ea"/>
                  <a:cs typeface="Times New Roman" panose="02020603050405020304" pitchFamily="18" charset="0"/>
                </a:endParaRPr>
              </a:p>
              <a:p>
                <a:r>
                  <a:rPr lang="en-US" altLang="zh-CN" sz="1200" dirty="0">
                    <a:latin typeface="+mn-ea"/>
                    <a:ea typeface="+mn-ea"/>
                    <a:cs typeface="Times New Roman" panose="02020603050405020304" pitchFamily="18" charset="0"/>
                  </a:rPr>
                  <a:t>        </a:t>
                </a:r>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𝑉</m:t>
                        </m:r>
                      </m:e>
                      <m:sub>
                        <m:r>
                          <a:rPr lang="en-US" altLang="zh-CN" sz="1200" b="0" i="1">
                            <a:latin typeface="Cambria Math" panose="02040503050406030204" pitchFamily="18" charset="0"/>
                            <a:ea typeface="+mn-ea"/>
                          </a:rPr>
                          <m:t>𝜋</m:t>
                        </m:r>
                      </m:sub>
                    </m:sSub>
                    <m:d>
                      <m:dPr>
                        <m:ctrlPr>
                          <a:rPr lang="en-US" altLang="zh-CN" sz="1200" i="1">
                            <a:latin typeface="Cambria Math" panose="02040503050406030204" pitchFamily="18" charset="0"/>
                            <a:ea typeface="+mn-ea"/>
                          </a:rPr>
                        </m:ctrlPr>
                      </m:dPr>
                      <m:e>
                        <m:r>
                          <a:rPr lang="en-US" altLang="zh-CN" sz="1200" b="0" i="1">
                            <a:latin typeface="Cambria Math" panose="02040503050406030204" pitchFamily="18" charset="0"/>
                            <a:ea typeface="+mn-ea"/>
                          </a:rPr>
                          <m:t>𝑠</m:t>
                        </m:r>
                      </m:e>
                    </m:d>
                    <m:r>
                      <a:rPr lang="en-US" altLang="zh-CN" sz="1200" b="0" i="1">
                        <a:latin typeface="Cambria Math" panose="02040503050406030204" pitchFamily="18" charset="0"/>
                        <a:ea typeface="+mn-ea"/>
                      </a:rPr>
                      <m:t>←</m:t>
                    </m:r>
                    <m:f>
                      <m:fPr>
                        <m:ctrlPr>
                          <a:rPr lang="en-US" altLang="zh-CN" sz="1200" i="1">
                            <a:latin typeface="Cambria Math" panose="02040503050406030204" pitchFamily="18" charset="0"/>
                            <a:ea typeface="+mn-ea"/>
                          </a:rPr>
                        </m:ctrlPr>
                      </m:fPr>
                      <m:num>
                        <m:r>
                          <a:rPr lang="en-US" altLang="zh-CN" sz="1200" b="0" i="1">
                            <a:latin typeface="Cambria Math" panose="02040503050406030204" pitchFamily="18" charset="0"/>
                            <a:ea typeface="+mn-ea"/>
                          </a:rPr>
                          <m:t>1</m:t>
                        </m:r>
                      </m:num>
                      <m:den>
                        <m:r>
                          <a:rPr lang="en-US" altLang="zh-CN" sz="1200" b="0" i="1">
                            <a:latin typeface="Cambria Math" panose="02040503050406030204" pitchFamily="18" charset="0"/>
                            <a:ea typeface="+mn-ea"/>
                          </a:rPr>
                          <m:t>𝑘</m:t>
                        </m:r>
                      </m:den>
                    </m:f>
                    <m:nary>
                      <m:naryPr>
                        <m:chr m:val="∑"/>
                        <m:ctrlPr>
                          <a:rPr lang="en-US" altLang="zh-CN" sz="1200" i="1">
                            <a:latin typeface="Cambria Math" panose="02040503050406030204" pitchFamily="18" charset="0"/>
                            <a:ea typeface="+mn-ea"/>
                          </a:rPr>
                        </m:ctrlPr>
                      </m:naryPr>
                      <m:sub>
                        <m:r>
                          <a:rPr lang="en-US" altLang="zh-CN" sz="1200" b="0" i="1">
                            <a:latin typeface="Cambria Math" panose="02040503050406030204" pitchFamily="18" charset="0"/>
                            <a:ea typeface="+mn-ea"/>
                          </a:rPr>
                          <m:t>𝑖</m:t>
                        </m:r>
                        <m:r>
                          <a:rPr lang="en-US" altLang="zh-CN" sz="1200" b="0" i="1">
                            <a:latin typeface="Cambria Math" panose="02040503050406030204" pitchFamily="18" charset="0"/>
                            <a:ea typeface="+mn-ea"/>
                          </a:rPr>
                          <m:t>=1</m:t>
                        </m:r>
                      </m:sub>
                      <m:sup>
                        <m:r>
                          <a:rPr lang="en-US" altLang="zh-CN" sz="1200" b="0" i="1">
                            <a:latin typeface="Cambria Math" panose="02040503050406030204" pitchFamily="18" charset="0"/>
                            <a:ea typeface="+mn-ea"/>
                          </a:rPr>
                          <m:t>𝑘</m:t>
                        </m:r>
                      </m:sup>
                      <m:e>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𝐺</m:t>
                            </m:r>
                          </m:e>
                          <m:sub>
                            <m:r>
                              <a:rPr lang="en-US" altLang="zh-CN" sz="1200" b="0" i="1">
                                <a:latin typeface="Cambria Math" panose="02040503050406030204" pitchFamily="18" charset="0"/>
                                <a:ea typeface="+mn-ea"/>
                              </a:rPr>
                              <m:t>𝑖</m:t>
                            </m:r>
                          </m:sub>
                        </m:sSub>
                      </m:e>
                    </m:nary>
                  </m:oMath>
                </a14:m>
                <a:endParaRPr lang="en-US" altLang="zh-CN" sz="1200" dirty="0">
                  <a:latin typeface="+mn-ea"/>
                  <a:ea typeface="+mn-ea"/>
                  <a:cs typeface="Times New Roman" panose="02020603050405020304" pitchFamily="18" charset="0"/>
                </a:endParaRPr>
              </a:p>
            </p:txBody>
          </p:sp>
        </mc:Choice>
        <mc:Fallback xmlns="">
          <p:sp>
            <p:nvSpPr>
              <p:cNvPr id="44" name="文本框 43">
                <a:extLst>
                  <a:ext uri="{FF2B5EF4-FFF2-40B4-BE49-F238E27FC236}">
                    <a16:creationId xmlns:a16="http://schemas.microsoft.com/office/drawing/2014/main" id="{8BDBA699-28D2-49BF-BA93-EC307DCCFC66}"/>
                  </a:ext>
                </a:extLst>
              </p:cNvPr>
              <p:cNvSpPr txBox="1">
                <a:spLocks noRot="1" noChangeAspect="1" noMove="1" noResize="1" noEditPoints="1" noAdjustHandles="1" noChangeArrowheads="1" noChangeShapeType="1" noTextEdit="1"/>
              </p:cNvSpPr>
              <p:nvPr/>
            </p:nvSpPr>
            <p:spPr>
              <a:xfrm>
                <a:off x="1907704" y="2159933"/>
                <a:ext cx="5700511" cy="1040285"/>
              </a:xfrm>
              <a:prstGeom prst="rect">
                <a:avLst/>
              </a:prstGeom>
              <a:blipFill>
                <a:blip r:embed="rId12"/>
                <a:stretch>
                  <a:fillRect b="-35838"/>
                </a:stretch>
              </a:blipFill>
              <a:ln>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B19409EF-32C6-45C8-B6C5-AC23C07D1946}"/>
                  </a:ext>
                </a:extLst>
              </p:cNvPr>
              <p:cNvSpPr/>
              <p:nvPr/>
            </p:nvSpPr>
            <p:spPr>
              <a:xfrm>
                <a:off x="4211960" y="3322504"/>
                <a:ext cx="4399914" cy="1812932"/>
              </a:xfrm>
              <a:prstGeom prst="rect">
                <a:avLst/>
              </a:prstGeom>
            </p:spPr>
            <p:txBody>
              <a:bodyPr wrap="square">
                <a:spAutoFit/>
              </a:bodyPr>
              <a:lstStyle/>
              <a:p>
                <a:r>
                  <a:rPr lang="zh-CN" altLang="en-US" sz="1200" dirty="0">
                    <a:latin typeface="+mn-ea"/>
                    <a:ea typeface="+mn-ea"/>
                    <a:cs typeface="Times New Roman" panose="02020603050405020304" pitchFamily="18" charset="0"/>
                  </a:rPr>
                  <a:t>假设按照当前策略可样得到以下两条轨迹</a:t>
                </a:r>
                <a:endParaRPr lang="en-US" altLang="zh-CN" sz="1200" dirty="0">
                  <a:latin typeface="+mn-ea"/>
                  <a:ea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ctrlPr>
                            <a:rPr lang="en-US" altLang="zh-CN" sz="1200" i="1">
                              <a:latin typeface="Cambria Math" panose="02040503050406030204" pitchFamily="18" charset="0"/>
                              <a:ea typeface="+mn-ea"/>
                            </a:rPr>
                          </m:ctrlPr>
                        </m:dPr>
                        <m:e>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1</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4</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7</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8</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9</m:t>
                              </m:r>
                            </m:sub>
                          </m:sSub>
                        </m:e>
                      </m:d>
                    </m:oMath>
                    <m:oMath xmlns:m="http://schemas.openxmlformats.org/officeDocument/2006/math">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1</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2</m:t>
                          </m:r>
                        </m:sub>
                      </m:sSub>
                      <m:r>
                        <a:rPr lang="en-US" altLang="zh-CN" sz="1200" b="0" i="1">
                          <a:latin typeface="Cambria Math" panose="02040503050406030204" pitchFamily="18" charset="0"/>
                          <a:ea typeface="+mn-ea"/>
                        </a:rPr>
                        <m:t>,</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3</m:t>
                          </m:r>
                        </m:sub>
                      </m:sSub>
                      <m:r>
                        <a:rPr lang="en-US" altLang="zh-CN" sz="1200" b="0" i="1">
                          <a:latin typeface="Cambria Math" panose="02040503050406030204" pitchFamily="18" charset="0"/>
                          <a:ea typeface="+mn-ea"/>
                        </a:rPr>
                        <m:t>, </m:t>
                      </m:r>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𝑑</m:t>
                          </m:r>
                        </m:sub>
                      </m:sSub>
                      <m:r>
                        <a:rPr lang="en-US" altLang="zh-CN" sz="1200" b="0" i="1">
                          <a:latin typeface="Cambria Math" panose="02040503050406030204" pitchFamily="18" charset="0"/>
                          <a:ea typeface="+mn-ea"/>
                        </a:rPr>
                        <m:t>)</m:t>
                      </m:r>
                    </m:oMath>
                  </m:oMathPara>
                </a14:m>
                <a:endParaRPr lang="en-US" altLang="zh-CN" sz="1200" i="1" dirty="0">
                  <a:latin typeface="+mn-ea"/>
                  <a:ea typeface="+mn-ea"/>
                  <a:cs typeface="Times New Roman" panose="02020603050405020304" pitchFamily="18" charset="0"/>
                </a:endParaRPr>
              </a:p>
              <a:p>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1</m:t>
                        </m:r>
                      </m:sub>
                    </m:sSub>
                  </m:oMath>
                </a14:m>
                <a:r>
                  <a:rPr lang="zh-CN" altLang="en-US" sz="1200" dirty="0">
                    <a:latin typeface="+mn-ea"/>
                    <a:ea typeface="+mn-ea"/>
                    <a:cs typeface="Times New Roman" panose="02020603050405020304" pitchFamily="18" charset="0"/>
                  </a:rPr>
                  <a:t>对应的反馈值分别为</a:t>
                </a:r>
                <a:endParaRPr lang="en-US" altLang="zh-CN" sz="1200" dirty="0">
                  <a:latin typeface="+mn-ea"/>
                  <a:ea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200" b="0" i="1">
                          <a:latin typeface="Cambria Math" panose="02040503050406030204" pitchFamily="18" charset="0"/>
                          <a:ea typeface="+mn-ea"/>
                        </a:rPr>
                        <m:t>0+</m:t>
                      </m:r>
                      <m:r>
                        <a:rPr lang="en-US" altLang="zh-CN" sz="1200" b="0" i="1">
                          <a:latin typeface="Cambria Math" panose="02040503050406030204" pitchFamily="18" charset="0"/>
                          <a:ea typeface="+mn-ea"/>
                        </a:rPr>
                        <m:t>𝛾</m:t>
                      </m:r>
                      <m:r>
                        <a:rPr lang="en-US" altLang="zh-CN" sz="1200" b="0" i="1">
                          <a:latin typeface="Cambria Math" panose="02040503050406030204" pitchFamily="18" charset="0"/>
                          <a:ea typeface="+mn-ea"/>
                        </a:rPr>
                        <m:t>×0+⋯+</m:t>
                      </m:r>
                      <m:sSup>
                        <m:sSupPr>
                          <m:ctrlPr>
                            <a:rPr lang="en-US" altLang="zh-CN" sz="1200" i="1">
                              <a:latin typeface="Cambria Math" panose="02040503050406030204" pitchFamily="18" charset="0"/>
                              <a:ea typeface="+mn-ea"/>
                            </a:rPr>
                          </m:ctrlPr>
                        </m:sSupPr>
                        <m:e>
                          <m:r>
                            <a:rPr lang="en-US" altLang="zh-CN" sz="1200" b="0" i="1">
                              <a:latin typeface="Cambria Math" panose="02040503050406030204" pitchFamily="18" charset="0"/>
                              <a:ea typeface="+mn-ea"/>
                            </a:rPr>
                            <m:t>𝛾</m:t>
                          </m:r>
                        </m:e>
                        <m:sup>
                          <m:r>
                            <a:rPr lang="en-US" altLang="zh-CN" sz="1200" b="0" i="1">
                              <a:latin typeface="Cambria Math" panose="02040503050406030204" pitchFamily="18" charset="0"/>
                              <a:ea typeface="+mn-ea"/>
                            </a:rPr>
                            <m:t>3</m:t>
                          </m:r>
                        </m:sup>
                      </m:sSup>
                      <m:r>
                        <a:rPr lang="en-US" altLang="zh-CN" sz="1200" b="0" i="1">
                          <a:latin typeface="Cambria Math" panose="02040503050406030204" pitchFamily="18" charset="0"/>
                          <a:ea typeface="+mn-ea"/>
                        </a:rPr>
                        <m:t>×1=0.970</m:t>
                      </m:r>
                    </m:oMath>
                  </m:oMathPara>
                </a14:m>
                <a:endParaRPr lang="en-US" altLang="zh-CN" sz="1200" i="1" dirty="0">
                  <a:latin typeface="+mn-ea"/>
                  <a:ea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200" b="0" i="1">
                          <a:latin typeface="Cambria Math" panose="02040503050406030204" pitchFamily="18" charset="0"/>
                          <a:ea typeface="+mn-ea"/>
                        </a:rPr>
                        <m:t>0+</m:t>
                      </m:r>
                      <m:r>
                        <a:rPr lang="en-US" altLang="zh-CN" sz="1200" b="0" i="1">
                          <a:latin typeface="Cambria Math" panose="02040503050406030204" pitchFamily="18" charset="0"/>
                          <a:ea typeface="+mn-ea"/>
                        </a:rPr>
                        <m:t>𝛾</m:t>
                      </m:r>
                      <m:r>
                        <a:rPr lang="en-US" altLang="zh-CN" sz="1200" b="0" i="1">
                          <a:latin typeface="Cambria Math" panose="02040503050406030204" pitchFamily="18" charset="0"/>
                          <a:ea typeface="+mn-ea"/>
                        </a:rPr>
                        <m:t>×0+</m:t>
                      </m:r>
                      <m:sSup>
                        <m:sSupPr>
                          <m:ctrlPr>
                            <a:rPr lang="en-US" altLang="zh-CN" sz="1200" i="1">
                              <a:latin typeface="Cambria Math" panose="02040503050406030204" pitchFamily="18" charset="0"/>
                              <a:ea typeface="+mn-ea"/>
                            </a:rPr>
                          </m:ctrlPr>
                        </m:sSupPr>
                        <m:e>
                          <m:r>
                            <a:rPr lang="en-US" altLang="zh-CN" sz="1200" b="0" i="1">
                              <a:latin typeface="Cambria Math" panose="02040503050406030204" pitchFamily="18" charset="0"/>
                              <a:ea typeface="+mn-ea"/>
                            </a:rPr>
                            <m:t>𝛾</m:t>
                          </m:r>
                        </m:e>
                        <m:sup>
                          <m:r>
                            <a:rPr lang="en-US" altLang="zh-CN" sz="1200" b="0" i="1">
                              <a:latin typeface="Cambria Math" panose="02040503050406030204" pitchFamily="18" charset="0"/>
                              <a:ea typeface="+mn-ea"/>
                            </a:rPr>
                            <m:t>2</m:t>
                          </m:r>
                        </m:sup>
                      </m:sSup>
                      <m:r>
                        <a:rPr lang="en-US" altLang="zh-CN" sz="1200" b="0" i="1">
                          <a:latin typeface="Cambria Math" panose="02040503050406030204" pitchFamily="18" charset="0"/>
                          <a:ea typeface="+mn-ea"/>
                        </a:rPr>
                        <m:t>×</m:t>
                      </m:r>
                      <m:d>
                        <m:dPr>
                          <m:ctrlPr>
                            <a:rPr lang="en-US" altLang="zh-CN" sz="1200" i="1">
                              <a:latin typeface="Cambria Math" panose="02040503050406030204" pitchFamily="18" charset="0"/>
                              <a:ea typeface="+mn-ea"/>
                            </a:rPr>
                          </m:ctrlPr>
                        </m:dPr>
                        <m:e>
                          <m:r>
                            <a:rPr lang="en-US" altLang="zh-CN" sz="1200" b="0" i="1">
                              <a:latin typeface="Cambria Math" panose="02040503050406030204" pitchFamily="18" charset="0"/>
                              <a:ea typeface="+mn-ea"/>
                            </a:rPr>
                            <m:t>−1</m:t>
                          </m:r>
                        </m:e>
                      </m:d>
                      <m:r>
                        <a:rPr lang="en-US" altLang="zh-CN" sz="1200" b="0" i="1">
                          <a:latin typeface="Cambria Math" panose="02040503050406030204" pitchFamily="18" charset="0"/>
                          <a:ea typeface="+mn-ea"/>
                        </a:rPr>
                        <m:t>=−0.980</m:t>
                      </m:r>
                    </m:oMath>
                  </m:oMathPara>
                </a14:m>
                <a:endParaRPr lang="en-US" altLang="zh-CN" sz="1200" i="1" dirty="0">
                  <a:latin typeface="+mn-ea"/>
                  <a:ea typeface="+mn-ea"/>
                  <a:cs typeface="Times New Roman" panose="02020603050405020304" pitchFamily="18" charset="0"/>
                </a:endParaRPr>
              </a:p>
              <a:p>
                <a:r>
                  <a:rPr lang="zh-CN" altLang="en-US" sz="1200" dirty="0">
                    <a:latin typeface="+mn-ea"/>
                    <a:ea typeface="+mn-ea"/>
                    <a:cs typeface="Times New Roman" panose="02020603050405020304" pitchFamily="18" charset="0"/>
                  </a:rPr>
                  <a:t>因此估计</a:t>
                </a:r>
                <a:endParaRPr lang="en-US" altLang="zh-CN" sz="1200" dirty="0">
                  <a:latin typeface="+mn-ea"/>
                  <a:ea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200" b="0" i="1">
                          <a:latin typeface="Cambria Math" panose="02040503050406030204" pitchFamily="18" charset="0"/>
                          <a:ea typeface="+mn-ea"/>
                        </a:rPr>
                        <m:t>𝑉</m:t>
                      </m:r>
                      <m:d>
                        <m:dPr>
                          <m:ctrlPr>
                            <a:rPr lang="en-US" altLang="zh-CN" sz="1200" i="1">
                              <a:latin typeface="Cambria Math" panose="02040503050406030204" pitchFamily="18" charset="0"/>
                              <a:ea typeface="+mn-ea"/>
                            </a:rPr>
                          </m:ctrlPr>
                        </m:dPr>
                        <m:e>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𝑠</m:t>
                              </m:r>
                            </m:e>
                            <m:sub>
                              <m:r>
                                <a:rPr lang="en-US" altLang="zh-CN" sz="1200" b="0" i="1">
                                  <a:latin typeface="Cambria Math" panose="02040503050406030204" pitchFamily="18" charset="0"/>
                                  <a:ea typeface="+mn-ea"/>
                                </a:rPr>
                                <m:t>1</m:t>
                              </m:r>
                            </m:sub>
                          </m:sSub>
                        </m:e>
                      </m:d>
                      <m:r>
                        <a:rPr lang="en-US" altLang="zh-CN" sz="1200" b="0" i="1">
                          <a:latin typeface="Cambria Math" panose="02040503050406030204" pitchFamily="18" charset="0"/>
                          <a:ea typeface="+mn-ea"/>
                        </a:rPr>
                        <m:t>=</m:t>
                      </m:r>
                      <m:f>
                        <m:fPr>
                          <m:ctrlPr>
                            <a:rPr lang="en-US" altLang="zh-CN" sz="1200" i="1">
                              <a:latin typeface="Cambria Math" panose="02040503050406030204" pitchFamily="18" charset="0"/>
                              <a:ea typeface="+mn-ea"/>
                            </a:rPr>
                          </m:ctrlPr>
                        </m:fPr>
                        <m:num>
                          <m:r>
                            <a:rPr lang="en-US" altLang="zh-CN" sz="1200" b="0" i="1">
                              <a:latin typeface="Cambria Math" panose="02040503050406030204" pitchFamily="18" charset="0"/>
                              <a:ea typeface="+mn-ea"/>
                            </a:rPr>
                            <m:t>1</m:t>
                          </m:r>
                        </m:num>
                        <m:den>
                          <m:r>
                            <a:rPr lang="en-US" altLang="zh-CN" sz="1200" b="0" i="1">
                              <a:latin typeface="Cambria Math" panose="02040503050406030204" pitchFamily="18" charset="0"/>
                              <a:ea typeface="+mn-ea"/>
                            </a:rPr>
                            <m:t>2</m:t>
                          </m:r>
                        </m:den>
                      </m:f>
                      <m:d>
                        <m:dPr>
                          <m:ctrlPr>
                            <a:rPr lang="en-US" altLang="zh-CN" sz="1200" i="1">
                              <a:latin typeface="Cambria Math" panose="02040503050406030204" pitchFamily="18" charset="0"/>
                              <a:ea typeface="+mn-ea"/>
                            </a:rPr>
                          </m:ctrlPr>
                        </m:dPr>
                        <m:e>
                          <m:r>
                            <a:rPr lang="en-US" altLang="zh-CN" sz="1200" b="0" i="1">
                              <a:latin typeface="Cambria Math" panose="02040503050406030204" pitchFamily="18" charset="0"/>
                              <a:ea typeface="+mn-ea"/>
                            </a:rPr>
                            <m:t>0.970−0.980</m:t>
                          </m:r>
                        </m:e>
                      </m:d>
                      <m:r>
                        <a:rPr lang="en-US" altLang="zh-CN" sz="1200" b="0" i="1">
                          <a:latin typeface="Cambria Math" panose="02040503050406030204" pitchFamily="18" charset="0"/>
                          <a:ea typeface="+mn-ea"/>
                        </a:rPr>
                        <m:t>=−0.005</m:t>
                      </m:r>
                    </m:oMath>
                  </m:oMathPara>
                </a14:m>
                <a:r>
                  <a:rPr lang="en-US" altLang="zh-CN" sz="1200" i="1" dirty="0">
                    <a:latin typeface="+mn-ea"/>
                    <a:ea typeface="+mn-ea"/>
                    <a:cs typeface="Times New Roman" panose="02020603050405020304" pitchFamily="18" charset="0"/>
                  </a:rPr>
                  <a:t/>
                </a:r>
                <a:br>
                  <a:rPr lang="en-US" altLang="zh-CN" sz="1200" i="1" dirty="0">
                    <a:latin typeface="+mn-ea"/>
                    <a:ea typeface="+mn-ea"/>
                    <a:cs typeface="Times New Roman" panose="02020603050405020304" pitchFamily="18" charset="0"/>
                  </a:rPr>
                </a:br>
                <a:endParaRPr lang="en-US" altLang="zh-CN" sz="1200" dirty="0">
                  <a:latin typeface="+mn-ea"/>
                  <a:ea typeface="+mn-ea"/>
                  <a:cs typeface="Times New Roman" panose="02020603050405020304" pitchFamily="18" charset="0"/>
                </a:endParaRPr>
              </a:p>
            </p:txBody>
          </p:sp>
        </mc:Choice>
        <mc:Fallback xmlns="">
          <p:sp>
            <p:nvSpPr>
              <p:cNvPr id="45" name="矩形 44">
                <a:extLst>
                  <a:ext uri="{FF2B5EF4-FFF2-40B4-BE49-F238E27FC236}">
                    <a16:creationId xmlns:a16="http://schemas.microsoft.com/office/drawing/2014/main" id="{B19409EF-32C6-45C8-B6C5-AC23C07D1946}"/>
                  </a:ext>
                </a:extLst>
              </p:cNvPr>
              <p:cNvSpPr>
                <a:spLocks noRot="1" noChangeAspect="1" noMove="1" noResize="1" noEditPoints="1" noAdjustHandles="1" noChangeArrowheads="1" noChangeShapeType="1" noTextEdit="1"/>
              </p:cNvSpPr>
              <p:nvPr/>
            </p:nvSpPr>
            <p:spPr>
              <a:xfrm>
                <a:off x="4211960" y="3322504"/>
                <a:ext cx="4399914" cy="1812932"/>
              </a:xfrm>
              <a:prstGeom prst="rect">
                <a:avLst/>
              </a:prstGeom>
              <a:blipFill>
                <a:blip r:embed="rId13"/>
                <a:stretch>
                  <a:fillRect l="-139"/>
                </a:stretch>
              </a:blipFill>
            </p:spPr>
            <p:txBody>
              <a:bodyPr/>
              <a:lstStyle/>
              <a:p>
                <a:r>
                  <a:rPr lang="zh-CN" altLang="en-US">
                    <a:noFill/>
                  </a:rPr>
                  <a:t> </a:t>
                </a:r>
              </a:p>
            </p:txBody>
          </p:sp>
        </mc:Fallback>
      </mc:AlternateContent>
      <p:cxnSp>
        <p:nvCxnSpPr>
          <p:cNvPr id="46" name="直接箭头连接符 45">
            <a:extLst>
              <a:ext uri="{FF2B5EF4-FFF2-40B4-BE49-F238E27FC236}">
                <a16:creationId xmlns:a16="http://schemas.microsoft.com/office/drawing/2014/main" id="{7A99EBDE-C195-46C5-8526-C8C4288D2180}"/>
              </a:ext>
            </a:extLst>
          </p:cNvPr>
          <p:cNvCxnSpPr>
            <a:cxnSpLocks/>
          </p:cNvCxnSpPr>
          <p:nvPr/>
        </p:nvCxnSpPr>
        <p:spPr>
          <a:xfrm flipV="1">
            <a:off x="2339285" y="3733769"/>
            <a:ext cx="0" cy="10297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59707699-2CE7-4E02-AA47-82379B86E7C5}"/>
              </a:ext>
            </a:extLst>
          </p:cNvPr>
          <p:cNvCxnSpPr>
            <a:cxnSpLocks/>
          </p:cNvCxnSpPr>
          <p:nvPr/>
        </p:nvCxnSpPr>
        <p:spPr>
          <a:xfrm>
            <a:off x="2339285" y="3763053"/>
            <a:ext cx="74898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EB18A3E-6BA0-4686-AF9B-8CFF67A5486A}"/>
              </a:ext>
            </a:extLst>
          </p:cNvPr>
          <p:cNvCxnSpPr>
            <a:cxnSpLocks/>
          </p:cNvCxnSpPr>
          <p:nvPr/>
        </p:nvCxnSpPr>
        <p:spPr>
          <a:xfrm>
            <a:off x="2340868" y="4763518"/>
            <a:ext cx="112891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20A18756-6CDF-4E6A-9A90-0CAA870F4D7A}"/>
                  </a:ext>
                </a:extLst>
              </p:cNvPr>
              <p:cNvSpPr/>
              <p:nvPr/>
            </p:nvSpPr>
            <p:spPr>
              <a:xfrm>
                <a:off x="456304" y="869132"/>
                <a:ext cx="8255016" cy="1421928"/>
              </a:xfrm>
              <a:prstGeom prst="rect">
                <a:avLst/>
              </a:prstGeom>
            </p:spPr>
            <p:txBody>
              <a:bodyPr wrap="square">
                <a:spAutoFit/>
              </a:bodyPr>
              <a:lstStyle/>
              <a:p>
                <a:pPr algn="just">
                  <a:lnSpc>
                    <a:spcPct val="150000"/>
                  </a:lnSpc>
                </a:pPr>
                <a:r>
                  <a:rPr lang="zh-CN" altLang="zh-CN" sz="1200" dirty="0">
                    <a:latin typeface="+mn-ea"/>
                    <a:ea typeface="+mn-ea"/>
                    <a:cs typeface="Times New Roman" panose="02020603050405020304" pitchFamily="18" charset="0"/>
                  </a:rPr>
                  <a:t>根据数理统计的知识，期望可以通过样本均值来估计的，这正是蒙特卡洛</a:t>
                </a:r>
                <a:r>
                  <a:rPr lang="zh-CN" altLang="zh-CN" sz="1200" dirty="0" smtClean="0">
                    <a:latin typeface="+mn-ea"/>
                    <a:ea typeface="+mn-ea"/>
                    <a:cs typeface="Times New Roman" panose="02020603050405020304" pitchFamily="18" charset="0"/>
                  </a:rPr>
                  <a:t>方法的</a:t>
                </a:r>
                <a:r>
                  <a:rPr lang="zh-CN" altLang="zh-CN" sz="1200" dirty="0">
                    <a:latin typeface="+mn-ea"/>
                    <a:ea typeface="+mn-ea"/>
                    <a:cs typeface="Times New Roman" panose="02020603050405020304" pitchFamily="18" charset="0"/>
                  </a:rPr>
                  <a:t>核心思想</a:t>
                </a:r>
                <a:r>
                  <a:rPr lang="zh-CN" altLang="en-US" sz="1200" dirty="0">
                    <a:latin typeface="+mn-ea"/>
                    <a:ea typeface="+mn-ea"/>
                    <a:cs typeface="Times New Roman" panose="02020603050405020304" pitchFamily="18" charset="0"/>
                  </a:rPr>
                  <a:t>。即</a:t>
                </a:r>
                <a:r>
                  <a:rPr lang="zh-CN" altLang="zh-CN" sz="1200" dirty="0">
                    <a:latin typeface="+mn-ea"/>
                    <a:ea typeface="+mn-ea"/>
                    <a:cs typeface="Times New Roman" panose="02020603050405020304" pitchFamily="18" charset="0"/>
                  </a:rPr>
                  <a:t>大数定理指出：对于</a:t>
                </a:r>
                <a:r>
                  <a:rPr lang="zh-CN" altLang="zh-CN" sz="1200" dirty="0" smtClean="0">
                    <a:latin typeface="+mn-ea"/>
                    <a:ea typeface="+mn-ea"/>
                    <a:cs typeface="Times New Roman" panose="02020603050405020304" pitchFamily="18" charset="0"/>
                  </a:rPr>
                  <a:t>独立同分布的</a:t>
                </a:r>
                <a:r>
                  <a:rPr lang="zh-CN" altLang="zh-CN" sz="1200" dirty="0">
                    <a:latin typeface="+mn-ea"/>
                    <a:ea typeface="+mn-ea"/>
                    <a:cs typeface="Times New Roman" panose="02020603050405020304" pitchFamily="18" charset="0"/>
                  </a:rPr>
                  <a:t>样本数据，当样本足够大的时候，样本平均值向期望值收敛。按照这样的思路可使用蒙特卡洛方法来进行策略评估：</a:t>
                </a:r>
                <a:r>
                  <a:rPr lang="zh-CN" altLang="zh-CN" sz="1200" b="1" dirty="0" smtClean="0">
                    <a:latin typeface="+mn-ea"/>
                    <a:ea typeface="+mn-ea"/>
                    <a:cs typeface="Times New Roman" panose="02020603050405020304" pitchFamily="18" charset="0"/>
                  </a:rPr>
                  <a:t>给定状态</a:t>
                </a:r>
                <a14:m>
                  <m:oMath xmlns:m="http://schemas.openxmlformats.org/officeDocument/2006/math">
                    <m:r>
                      <a:rPr lang="en-US" altLang="zh-CN" sz="1200" b="1" i="1">
                        <a:latin typeface="Cambria Math" panose="02040503050406030204" pitchFamily="18" charset="0"/>
                        <a:ea typeface="+mn-ea"/>
                        <a:cs typeface="Times New Roman" panose="02020603050405020304" pitchFamily="18" charset="0"/>
                      </a:rPr>
                      <m:t>𝒔</m:t>
                    </m:r>
                  </m:oMath>
                </a14:m>
                <a:r>
                  <a:rPr lang="zh-CN" altLang="zh-CN" sz="1200" b="1" dirty="0">
                    <a:latin typeface="+mn-ea"/>
                    <a:ea typeface="+mn-ea"/>
                    <a:cs typeface="Times New Roman" panose="02020603050405020304" pitchFamily="18" charset="0"/>
                  </a:rPr>
                  <a:t>，从该状态出发不断采样后续状态，得到不同的采样序列。通过这些采样序列来分别计算状态</a:t>
                </a:r>
                <a14:m>
                  <m:oMath xmlns:m="http://schemas.openxmlformats.org/officeDocument/2006/math">
                    <m:r>
                      <a:rPr lang="en-US" altLang="zh-CN" sz="1200" b="1" i="1">
                        <a:latin typeface="Cambria Math" panose="02040503050406030204" pitchFamily="18" charset="0"/>
                        <a:ea typeface="+mn-ea"/>
                        <a:cs typeface="Times New Roman" panose="02020603050405020304" pitchFamily="18" charset="0"/>
                      </a:rPr>
                      <m:t>𝒔</m:t>
                    </m:r>
                  </m:oMath>
                </a14:m>
                <a:r>
                  <a:rPr lang="zh-CN" altLang="zh-CN" sz="1200" b="1" dirty="0">
                    <a:latin typeface="+mn-ea"/>
                    <a:ea typeface="+mn-ea"/>
                    <a:cs typeface="Times New Roman" panose="02020603050405020304" pitchFamily="18" charset="0"/>
                  </a:rPr>
                  <a:t>的回报值，对这些回报值取均值，作为对状态</a:t>
                </a:r>
                <a14:m>
                  <m:oMath xmlns:m="http://schemas.openxmlformats.org/officeDocument/2006/math">
                    <m:r>
                      <a:rPr lang="en-US" altLang="zh-CN" sz="1200" b="1" i="1">
                        <a:latin typeface="Cambria Math" panose="02040503050406030204" pitchFamily="18" charset="0"/>
                        <a:ea typeface="+mn-ea"/>
                        <a:cs typeface="Times New Roman" panose="02020603050405020304" pitchFamily="18" charset="0"/>
                      </a:rPr>
                      <m:t>𝒔</m:t>
                    </m:r>
                  </m:oMath>
                </a14:m>
                <a:r>
                  <a:rPr lang="zh-CN" altLang="zh-CN" sz="1200" b="1" dirty="0">
                    <a:latin typeface="+mn-ea"/>
                    <a:ea typeface="+mn-ea"/>
                    <a:cs typeface="Times New Roman" panose="02020603050405020304" pitchFamily="18" charset="0"/>
                  </a:rPr>
                  <a:t>价值函数的估计，从而避免对状态转移概率的依赖</a:t>
                </a:r>
                <a:r>
                  <a:rPr lang="zh-CN" altLang="zh-CN" sz="1200" dirty="0">
                    <a:latin typeface="+mn-ea"/>
                    <a:ea typeface="+mn-ea"/>
                    <a:cs typeface="Times New Roman" panose="02020603050405020304" pitchFamily="18" charset="0"/>
                  </a:rPr>
                  <a:t>。</a:t>
                </a:r>
              </a:p>
              <a:p>
                <a:pPr algn="just"/>
                <a:endParaRPr lang="zh-CN" altLang="en-US" sz="1200" dirty="0">
                  <a:latin typeface="+mn-ea"/>
                  <a:ea typeface="+mn-ea"/>
                  <a:cs typeface="Times New Roman" panose="02020603050405020304" pitchFamily="18" charset="0"/>
                </a:endParaRPr>
              </a:p>
            </p:txBody>
          </p:sp>
        </mc:Choice>
        <mc:Fallback xmlns="">
          <p:sp>
            <p:nvSpPr>
              <p:cNvPr id="50" name="矩形 49">
                <a:extLst>
                  <a:ext uri="{FF2B5EF4-FFF2-40B4-BE49-F238E27FC236}">
                    <a16:creationId xmlns:a16="http://schemas.microsoft.com/office/drawing/2014/main" id="{20A18756-6CDF-4E6A-9A90-0CAA870F4D7A}"/>
                  </a:ext>
                </a:extLst>
              </p:cNvPr>
              <p:cNvSpPr>
                <a:spLocks noRot="1" noChangeAspect="1" noMove="1" noResize="1" noEditPoints="1" noAdjustHandles="1" noChangeArrowheads="1" noChangeShapeType="1" noTextEdit="1"/>
              </p:cNvSpPr>
              <p:nvPr/>
            </p:nvSpPr>
            <p:spPr>
              <a:xfrm>
                <a:off x="456304" y="869132"/>
                <a:ext cx="8255016" cy="1421928"/>
              </a:xfrm>
              <a:prstGeom prst="rect">
                <a:avLst/>
              </a:prstGeom>
              <a:blipFill>
                <a:blip r:embed="rId14"/>
                <a:stretch>
                  <a:fillRect l="-74"/>
                </a:stretch>
              </a:blipFill>
            </p:spPr>
            <p:txBody>
              <a:bodyPr/>
              <a:lstStyle/>
              <a:p>
                <a:r>
                  <a:rPr lang="zh-CN" altLang="en-US">
                    <a:noFill/>
                  </a:rPr>
                  <a:t> </a:t>
                </a:r>
              </a:p>
            </p:txBody>
          </p:sp>
        </mc:Fallback>
      </mc:AlternateContent>
      <p:sp>
        <p:nvSpPr>
          <p:cNvPr id="51" name="矩形 50">
            <a:extLst>
              <a:ext uri="{FF2B5EF4-FFF2-40B4-BE49-F238E27FC236}">
                <a16:creationId xmlns:a16="http://schemas.microsoft.com/office/drawing/2014/main" id="{FCFEEC52-FC4A-4989-A36F-C6A81D1E02D6}"/>
              </a:ext>
            </a:extLst>
          </p:cNvPr>
          <p:cNvSpPr/>
          <p:nvPr/>
        </p:nvSpPr>
        <p:spPr>
          <a:xfrm>
            <a:off x="456304" y="2499935"/>
            <a:ext cx="1451400" cy="613694"/>
          </a:xfrm>
          <a:prstGeom prst="rect">
            <a:avLst/>
          </a:prstGeom>
        </p:spPr>
        <p:txBody>
          <a:bodyPr wrap="square">
            <a:spAutoFit/>
          </a:bodyPr>
          <a:lstStyle/>
          <a:p>
            <a:pPr>
              <a:lnSpc>
                <a:spcPct val="150000"/>
              </a:lnSpc>
            </a:pPr>
            <a:r>
              <a:rPr lang="zh-CN" altLang="en-US" sz="1200" dirty="0">
                <a:solidFill>
                  <a:srgbClr val="C00000"/>
                </a:solidFill>
                <a:latin typeface="+mn-ea"/>
                <a:ea typeface="+mn-ea"/>
              </a:rPr>
              <a:t>基于蒙特卡洛采样的价值函数更新</a:t>
            </a:r>
            <a:endParaRPr lang="en-US" altLang="zh-CN" sz="1200" dirty="0">
              <a:solidFill>
                <a:srgbClr val="C00000"/>
              </a:solidFill>
              <a:latin typeface="+mn-ea"/>
              <a:ea typeface="+mn-ea"/>
            </a:endParaRPr>
          </a:p>
        </p:txBody>
      </p:sp>
      <p:grpSp>
        <p:nvGrpSpPr>
          <p:cNvPr id="7" name="组合 6">
            <a:extLst>
              <a:ext uri="{FF2B5EF4-FFF2-40B4-BE49-F238E27FC236}">
                <a16:creationId xmlns:a16="http://schemas.microsoft.com/office/drawing/2014/main" id="{D86FC00F-6E69-3FBB-7173-29C088B12956}"/>
              </a:ext>
            </a:extLst>
          </p:cNvPr>
          <p:cNvGrpSpPr/>
          <p:nvPr/>
        </p:nvGrpSpPr>
        <p:grpSpPr>
          <a:xfrm>
            <a:off x="611560" y="483518"/>
            <a:ext cx="5598290" cy="373451"/>
            <a:chOff x="4099943" y="2819853"/>
            <a:chExt cx="2570275" cy="497934"/>
          </a:xfrm>
        </p:grpSpPr>
        <p:sp>
          <p:nvSpPr>
            <p:cNvPr id="8" name="平行四边形 7">
              <a:extLst>
                <a:ext uri="{FF2B5EF4-FFF2-40B4-BE49-F238E27FC236}">
                  <a16:creationId xmlns:a16="http://schemas.microsoft.com/office/drawing/2014/main" id="{7883407B-5A45-1E45-CD9D-C4DF8D4E2275}"/>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9" name="平行四边形 8">
              <a:extLst>
                <a:ext uri="{FF2B5EF4-FFF2-40B4-BE49-F238E27FC236}">
                  <a16:creationId xmlns:a16="http://schemas.microsoft.com/office/drawing/2014/main" id="{C9A77B2A-1346-8BA2-08B5-7340C72C0B44}"/>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0" name="矩形 9">
              <a:extLst>
                <a:ext uri="{FF2B5EF4-FFF2-40B4-BE49-F238E27FC236}">
                  <a16:creationId xmlns:a16="http://schemas.microsoft.com/office/drawing/2014/main" id="{358A0BE4-2E29-F33B-7DEE-E4BD064C8693}"/>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策略评估：</a:t>
              </a:r>
              <a:r>
                <a:rPr lang="zh-CN" altLang="en-US" sz="1500" dirty="0">
                  <a:solidFill>
                    <a:srgbClr val="0070C0"/>
                  </a:solidFill>
                  <a:latin typeface="+mn-ea"/>
                  <a:ea typeface="+mn-ea"/>
                  <a:cs typeface="Times New Roman" panose="02020603050405020304" pitchFamily="18" charset="0"/>
                </a:rPr>
                <a:t>蒙特卡洛采样</a:t>
              </a:r>
            </a:p>
          </p:txBody>
        </p:sp>
      </p:grpSp>
    </p:spTree>
    <p:extLst>
      <p:ext uri="{BB962C8B-B14F-4D97-AF65-F5344CB8AC3E}">
        <p14:creationId xmlns:p14="http://schemas.microsoft.com/office/powerpoint/2010/main" val="1151223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p:bldP spid="5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21952CB-0F6E-4FEE-A210-5C287A5E18A4}"/>
              </a:ext>
            </a:extLst>
          </p:cNvPr>
          <p:cNvSpPr/>
          <p:nvPr/>
        </p:nvSpPr>
        <p:spPr>
          <a:xfrm>
            <a:off x="467544" y="911357"/>
            <a:ext cx="8280920" cy="2456057"/>
          </a:xfrm>
          <a:prstGeom prst="rect">
            <a:avLst/>
          </a:prstGeom>
        </p:spPr>
        <p:txBody>
          <a:bodyPr wrap="square">
            <a:spAutoFit/>
          </a:bodyPr>
          <a:lstStyle/>
          <a:p>
            <a:pPr algn="just">
              <a:lnSpc>
                <a:spcPct val="150000"/>
              </a:lnSpc>
            </a:pPr>
            <a:r>
              <a:rPr lang="zh-CN" altLang="zh-CN" sz="1600" dirty="0">
                <a:latin typeface="+mn-ea"/>
                <a:ea typeface="+mn-ea"/>
                <a:cs typeface="Times New Roman" panose="02020603050405020304" pitchFamily="18" charset="0"/>
              </a:rPr>
              <a:t>时序差分法可以看作蒙特卡罗方法和动态规划方法的有机结合</a:t>
            </a:r>
            <a:r>
              <a:rPr lang="zh-CN" altLang="zh-CN" sz="1600" dirty="0" smtClean="0">
                <a:latin typeface="+mn-ea"/>
                <a:ea typeface="+mn-ea"/>
                <a:cs typeface="Times New Roman" panose="02020603050405020304" pitchFamily="18" charset="0"/>
              </a:rPr>
              <a:t>。</a:t>
            </a:r>
            <a:endParaRPr lang="en-US" altLang="zh-CN" sz="1600" dirty="0" smtClean="0">
              <a:latin typeface="+mn-ea"/>
              <a:ea typeface="+mn-ea"/>
              <a:cs typeface="Times New Roman" panose="02020603050405020304" pitchFamily="18" charset="0"/>
            </a:endParaRPr>
          </a:p>
          <a:p>
            <a:pPr lvl="1" algn="just">
              <a:lnSpc>
                <a:spcPct val="150000"/>
              </a:lnSpc>
            </a:pPr>
            <a:r>
              <a:rPr lang="zh-CN" altLang="zh-CN" sz="1600" dirty="0" smtClean="0">
                <a:latin typeface="+mn-ea"/>
                <a:ea typeface="+mn-ea"/>
                <a:cs typeface="Times New Roman" panose="02020603050405020304" pitchFamily="18" charset="0"/>
              </a:rPr>
              <a:t>时序差分法</a:t>
            </a:r>
            <a:r>
              <a:rPr lang="zh-CN" altLang="zh-CN" sz="1600" dirty="0">
                <a:latin typeface="+mn-ea"/>
                <a:ea typeface="+mn-ea"/>
                <a:cs typeface="Times New Roman" panose="02020603050405020304" pitchFamily="18" charset="0"/>
              </a:rPr>
              <a:t>与</a:t>
            </a:r>
            <a:r>
              <a:rPr lang="zh-CN" altLang="zh-CN" sz="1600" dirty="0" smtClean="0">
                <a:latin typeface="+mn-ea"/>
                <a:ea typeface="+mn-ea"/>
                <a:cs typeface="Times New Roman" panose="02020603050405020304" pitchFamily="18" charset="0"/>
              </a:rPr>
              <a:t>蒙特卡洛法</a:t>
            </a:r>
            <a:r>
              <a:rPr lang="zh-CN" altLang="zh-CN" sz="1600" dirty="0">
                <a:latin typeface="+mn-ea"/>
                <a:ea typeface="+mn-ea"/>
                <a:cs typeface="Times New Roman" panose="02020603050405020304" pitchFamily="18" charset="0"/>
              </a:rPr>
              <a:t>相似之处在于，时序</a:t>
            </a:r>
            <a:r>
              <a:rPr lang="zh-CN" altLang="zh-CN" sz="1600" dirty="0" smtClean="0">
                <a:latin typeface="+mn-ea"/>
                <a:ea typeface="+mn-ea"/>
                <a:cs typeface="Times New Roman" panose="02020603050405020304" pitchFamily="18" charset="0"/>
              </a:rPr>
              <a:t>差分法</a:t>
            </a:r>
            <a:r>
              <a:rPr lang="zh-CN" altLang="zh-CN" sz="1600" dirty="0">
                <a:solidFill>
                  <a:srgbClr val="FF0000"/>
                </a:solidFill>
                <a:latin typeface="+mn-ea"/>
                <a:ea typeface="+mn-ea"/>
                <a:cs typeface="Times New Roman" panose="02020603050405020304" pitchFamily="18" charset="0"/>
              </a:rPr>
              <a:t>从实际经验中获取信息，无需提前获知环境模型的全部信息</a:t>
            </a:r>
            <a:r>
              <a:rPr lang="zh-CN" altLang="zh-CN" sz="1600" dirty="0" smtClean="0">
                <a:latin typeface="+mn-ea"/>
                <a:ea typeface="+mn-ea"/>
                <a:cs typeface="Times New Roman" panose="02020603050405020304" pitchFamily="18" charset="0"/>
              </a:rPr>
              <a:t>。</a:t>
            </a:r>
            <a:endParaRPr lang="en-US" altLang="zh-CN" sz="1600" dirty="0" smtClean="0">
              <a:latin typeface="+mn-ea"/>
              <a:ea typeface="+mn-ea"/>
              <a:cs typeface="Times New Roman" panose="02020603050405020304" pitchFamily="18" charset="0"/>
            </a:endParaRPr>
          </a:p>
          <a:p>
            <a:pPr lvl="1" algn="just">
              <a:lnSpc>
                <a:spcPct val="150000"/>
              </a:lnSpc>
            </a:pPr>
            <a:r>
              <a:rPr lang="zh-CN" altLang="zh-CN" sz="1600" dirty="0" smtClean="0">
                <a:latin typeface="+mn-ea"/>
                <a:ea typeface="+mn-ea"/>
                <a:cs typeface="Times New Roman" panose="02020603050405020304" pitchFamily="18" charset="0"/>
              </a:rPr>
              <a:t>时序差分法</a:t>
            </a:r>
            <a:r>
              <a:rPr lang="zh-CN" altLang="zh-CN" sz="1600" dirty="0">
                <a:latin typeface="+mn-ea"/>
                <a:ea typeface="+mn-ea"/>
                <a:cs typeface="Times New Roman" panose="02020603050405020304" pitchFamily="18" charset="0"/>
              </a:rPr>
              <a:t>与动态规划方法的相似之处在于，时序</a:t>
            </a:r>
            <a:r>
              <a:rPr lang="zh-CN" altLang="zh-CN" sz="1600" dirty="0" smtClean="0">
                <a:latin typeface="+mn-ea"/>
                <a:ea typeface="+mn-ea"/>
                <a:cs typeface="Times New Roman" panose="02020603050405020304" pitchFamily="18" charset="0"/>
              </a:rPr>
              <a:t>差分法</a:t>
            </a:r>
            <a:r>
              <a:rPr lang="zh-CN" altLang="zh-CN" sz="1600" dirty="0">
                <a:solidFill>
                  <a:srgbClr val="FF0000"/>
                </a:solidFill>
                <a:latin typeface="+mn-ea"/>
                <a:ea typeface="+mn-ea"/>
                <a:cs typeface="Times New Roman" panose="02020603050405020304" pitchFamily="18" charset="0"/>
              </a:rPr>
              <a:t>能够利用前序已知信息来进行在线实时学习，无需等到整个片段结束（终止状态抵达）再进行价值函数的更新</a:t>
            </a:r>
            <a:r>
              <a:rPr lang="zh-CN" altLang="zh-CN" sz="1600" dirty="0" smtClean="0">
                <a:latin typeface="+mn-ea"/>
                <a:ea typeface="+mn-ea"/>
                <a:cs typeface="Times New Roman" panose="02020603050405020304" pitchFamily="18" charset="0"/>
              </a:rPr>
              <a:t>。</a:t>
            </a:r>
            <a:endParaRPr lang="en-US" altLang="zh-CN" sz="1600" dirty="0" smtClean="0">
              <a:latin typeface="+mn-ea"/>
              <a:ea typeface="+mn-ea"/>
              <a:cs typeface="Times New Roman" panose="02020603050405020304" pitchFamily="18" charset="0"/>
            </a:endParaRPr>
          </a:p>
          <a:p>
            <a:pPr algn="just">
              <a:lnSpc>
                <a:spcPct val="150000"/>
              </a:lnSpc>
            </a:pPr>
            <a:endParaRPr lang="zh-CN" altLang="zh-CN" sz="1600" dirty="0">
              <a:latin typeface="+mn-ea"/>
              <a:ea typeface="+mn-ea"/>
              <a:cs typeface="Times New Roman" panose="02020603050405020304" pitchFamily="18" charset="0"/>
            </a:endParaRPr>
          </a:p>
        </p:txBody>
      </p:sp>
      <p:grpSp>
        <p:nvGrpSpPr>
          <p:cNvPr id="7" name="组合 6">
            <a:extLst>
              <a:ext uri="{FF2B5EF4-FFF2-40B4-BE49-F238E27FC236}">
                <a16:creationId xmlns:a16="http://schemas.microsoft.com/office/drawing/2014/main" id="{FC22DBAF-CB35-4B1F-3DF1-E464823067CF}"/>
              </a:ext>
            </a:extLst>
          </p:cNvPr>
          <p:cNvGrpSpPr/>
          <p:nvPr/>
        </p:nvGrpSpPr>
        <p:grpSpPr>
          <a:xfrm>
            <a:off x="611560" y="483518"/>
            <a:ext cx="5598290" cy="373451"/>
            <a:chOff x="4099943" y="2819853"/>
            <a:chExt cx="2570275" cy="497934"/>
          </a:xfrm>
        </p:grpSpPr>
        <p:sp>
          <p:nvSpPr>
            <p:cNvPr id="8" name="平行四边形 7">
              <a:extLst>
                <a:ext uri="{FF2B5EF4-FFF2-40B4-BE49-F238E27FC236}">
                  <a16:creationId xmlns:a16="http://schemas.microsoft.com/office/drawing/2014/main" id="{7D635737-7DC5-6F61-DBD5-5821576FF13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9" name="平行四边形 8">
              <a:extLst>
                <a:ext uri="{FF2B5EF4-FFF2-40B4-BE49-F238E27FC236}">
                  <a16:creationId xmlns:a16="http://schemas.microsoft.com/office/drawing/2014/main" id="{8699E18E-0E60-86C1-C3C0-39A2C1154401}"/>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0" name="矩形 9">
              <a:extLst>
                <a:ext uri="{FF2B5EF4-FFF2-40B4-BE49-F238E27FC236}">
                  <a16:creationId xmlns:a16="http://schemas.microsoft.com/office/drawing/2014/main" id="{88E3EBBE-3F6E-5C75-7EEC-81DB138F0211}"/>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策略评估：</a:t>
              </a:r>
              <a:r>
                <a:rPr lang="zh-CN" altLang="en-US" sz="1500" dirty="0">
                  <a:solidFill>
                    <a:srgbClr val="0070C0"/>
                  </a:solidFill>
                  <a:latin typeface="+mn-ea"/>
                  <a:ea typeface="+mn-ea"/>
                  <a:cs typeface="Times New Roman" panose="02020603050405020304" pitchFamily="18" charset="0"/>
                </a:rPr>
                <a:t>时序差分</a:t>
              </a:r>
            </a:p>
          </p:txBody>
        </p:sp>
      </p:gr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8D47807-E923-4ACA-8D13-5174ADE01EB0}"/>
                  </a:ext>
                </a:extLst>
              </p:cNvPr>
              <p:cNvSpPr/>
              <p:nvPr/>
            </p:nvSpPr>
            <p:spPr>
              <a:xfrm>
                <a:off x="323528" y="3003081"/>
                <a:ext cx="8424936" cy="787523"/>
              </a:xfrm>
              <a:prstGeom prst="rect">
                <a:avLst/>
              </a:prstGeom>
            </p:spPr>
            <p:txBody>
              <a:bodyPr wrap="square">
                <a:spAutoFit/>
              </a:bodyPr>
              <a:lstStyle/>
              <a:p>
                <a:pPr marL="214313" indent="-214313">
                  <a:lnSpc>
                    <a:spcPct val="150000"/>
                  </a:lnSpc>
                  <a:buFont typeface="Wingdings" panose="05000000000000000000" pitchFamily="2" charset="2"/>
                  <a:buChar char="l"/>
                </a:pPr>
                <a:r>
                  <a:rPr lang="zh-CN" altLang="zh-CN" sz="1600" dirty="0" smtClean="0">
                    <a:latin typeface="+mn-ea"/>
                    <a:ea typeface="+mn-ea"/>
                    <a:cs typeface="Times New Roman" panose="02020603050405020304" pitchFamily="18" charset="0"/>
                  </a:rPr>
                  <a:t>时序差分法通过</a:t>
                </a:r>
                <a:r>
                  <a:rPr lang="zh-CN" altLang="zh-CN" sz="1600" dirty="0">
                    <a:latin typeface="+mn-ea"/>
                    <a:ea typeface="+mn-ea"/>
                    <a:cs typeface="Times New Roman" panose="02020603050405020304" pitchFamily="18" charset="0"/>
                  </a:rPr>
                  <a:t>采样</a:t>
                </a:r>
                <a14:m>
                  <m:oMath xmlns:m="http://schemas.openxmlformats.org/officeDocument/2006/math">
                    <m:r>
                      <a:rPr lang="en-US" altLang="zh-CN" sz="1600">
                        <a:latin typeface="Cambria Math" panose="02040503050406030204" pitchFamily="18" charset="0"/>
                        <a:ea typeface="+mn-ea"/>
                        <a:cs typeface="Times New Roman" panose="02020603050405020304" pitchFamily="18" charset="0"/>
                      </a:rPr>
                      <m:t>𝑎</m:t>
                    </m:r>
                  </m:oMath>
                </a14:m>
                <a:r>
                  <a:rPr lang="zh-CN" altLang="zh-CN" sz="1600" dirty="0">
                    <a:latin typeface="+mn-ea"/>
                    <a:ea typeface="+mn-ea"/>
                    <a:cs typeface="Times New Roman" panose="02020603050405020304" pitchFamily="18" charset="0"/>
                  </a:rPr>
                  <a:t>和</a:t>
                </a:r>
                <a14:m>
                  <m:oMath xmlns:m="http://schemas.openxmlformats.org/officeDocument/2006/math">
                    <m:sSup>
                      <m:sSupPr>
                        <m:ctrlPr>
                          <a:rPr lang="zh-CN" altLang="zh-CN" sz="1600" i="1">
                            <a:latin typeface="Cambria Math" panose="02040503050406030204" pitchFamily="18" charset="0"/>
                            <a:ea typeface="+mn-ea"/>
                            <a:cs typeface="Times New Roman" panose="02020603050405020304" pitchFamily="18" charset="0"/>
                          </a:rPr>
                        </m:ctrlPr>
                      </m:sSupPr>
                      <m:e>
                        <m:r>
                          <a:rPr lang="en-US" altLang="zh-CN" sz="1600">
                            <a:latin typeface="Cambria Math" panose="02040503050406030204" pitchFamily="18" charset="0"/>
                            <a:ea typeface="+mn-ea"/>
                            <a:cs typeface="Times New Roman" panose="02020603050405020304" pitchFamily="18" charset="0"/>
                          </a:rPr>
                          <m:t>𝑠</m:t>
                        </m:r>
                      </m:e>
                      <m:sup>
                        <m:r>
                          <a:rPr lang="en-US" altLang="zh-CN" sz="1600">
                            <a:latin typeface="Cambria Math" panose="02040503050406030204" pitchFamily="18" charset="0"/>
                            <a:ea typeface="+mn-ea"/>
                            <a:cs typeface="Times New Roman" panose="02020603050405020304" pitchFamily="18" charset="0"/>
                          </a:rPr>
                          <m:t>′</m:t>
                        </m:r>
                      </m:sup>
                    </m:sSup>
                  </m:oMath>
                </a14:m>
                <a:r>
                  <a:rPr lang="zh-CN" altLang="zh-CN" sz="1600" dirty="0">
                    <a:latin typeface="+mn-ea"/>
                    <a:ea typeface="+mn-ea"/>
                    <a:cs typeface="Times New Roman" panose="02020603050405020304" pitchFamily="18" charset="0"/>
                  </a:rPr>
                  <a:t>来估计</a:t>
                </a:r>
                <a:r>
                  <a:rPr lang="zh-CN" altLang="en-US" sz="1600" dirty="0">
                    <a:latin typeface="+mn-ea"/>
                    <a:ea typeface="+mn-ea"/>
                    <a:cs typeface="Times New Roman" panose="02020603050405020304" pitchFamily="18" charset="0"/>
                  </a:rPr>
                  <a:t>计算</a:t>
                </a:r>
                <a14:m>
                  <m:oMath xmlns:m="http://schemas.openxmlformats.org/officeDocument/2006/math">
                    <m:sSub>
                      <m:sSubPr>
                        <m:ctrlPr>
                          <a:rPr lang="zh-CN" altLang="zh-CN" sz="1600" i="1">
                            <a:latin typeface="Cambria Math" panose="02040503050406030204" pitchFamily="18" charset="0"/>
                            <a:ea typeface="+mn-ea"/>
                            <a:cs typeface="Times New Roman" panose="02020603050405020304" pitchFamily="18" charset="0"/>
                          </a:rPr>
                        </m:ctrlPr>
                      </m:sSubPr>
                      <m:e>
                        <m:r>
                          <a:rPr lang="en-US" altLang="zh-CN" sz="1600">
                            <a:latin typeface="Cambria Math" panose="02040503050406030204" pitchFamily="18" charset="0"/>
                            <a:ea typeface="+mn-ea"/>
                            <a:cs typeface="Times New Roman" panose="02020603050405020304" pitchFamily="18" charset="0"/>
                          </a:rPr>
                          <m:t>𝑉</m:t>
                        </m:r>
                      </m:e>
                      <m:sub>
                        <m:r>
                          <a:rPr lang="en-US" altLang="zh-CN" sz="1600">
                            <a:latin typeface="Cambria Math" panose="02040503050406030204" pitchFamily="18" charset="0"/>
                            <a:ea typeface="+mn-ea"/>
                            <a:cs typeface="Times New Roman" panose="02020603050405020304" pitchFamily="18" charset="0"/>
                          </a:rPr>
                          <m:t>𝜋</m:t>
                        </m:r>
                      </m:sub>
                    </m:sSub>
                    <m:r>
                      <a:rPr lang="en-US" altLang="zh-CN" sz="1600">
                        <a:latin typeface="Cambria Math" panose="02040503050406030204" pitchFamily="18" charset="0"/>
                        <a:ea typeface="+mn-ea"/>
                        <a:cs typeface="Times New Roman" panose="02020603050405020304" pitchFamily="18" charset="0"/>
                      </a:rPr>
                      <m:t>(</m:t>
                    </m:r>
                    <m:r>
                      <a:rPr lang="en-US" altLang="zh-CN" sz="1600">
                        <a:latin typeface="Cambria Math" panose="02040503050406030204" pitchFamily="18" charset="0"/>
                        <a:ea typeface="+mn-ea"/>
                        <a:cs typeface="Times New Roman" panose="02020603050405020304" pitchFamily="18" charset="0"/>
                      </a:rPr>
                      <m:t>𝑠</m:t>
                    </m:r>
                    <m:r>
                      <a:rPr lang="en-US" altLang="zh-CN" sz="1600">
                        <a:latin typeface="Cambria Math" panose="02040503050406030204" pitchFamily="18" charset="0"/>
                        <a:ea typeface="+mn-ea"/>
                        <a:cs typeface="Times New Roman" panose="02020603050405020304" pitchFamily="18" charset="0"/>
                      </a:rPr>
                      <m:t>)</m:t>
                    </m:r>
                    <m:r>
                      <a:rPr lang="zh-CN" altLang="en-US" sz="1600" i="1">
                        <a:latin typeface="Cambria Math" panose="02040503050406030204" pitchFamily="18" charset="0"/>
                        <a:ea typeface="+mn-ea"/>
                        <a:cs typeface="Times New Roman" panose="02020603050405020304" pitchFamily="18" charset="0"/>
                      </a:rPr>
                      <m:t>。</m:t>
                    </m:r>
                  </m:oMath>
                </a14:m>
                <a:r>
                  <a:rPr lang="zh-CN" altLang="zh-CN" sz="1600" dirty="0">
                    <a:latin typeface="+mn-ea"/>
                    <a:ea typeface="+mn-ea"/>
                    <a:cs typeface="Times New Roman" panose="02020603050405020304" pitchFamily="18" charset="0"/>
                  </a:rPr>
                  <a:t>由于通过采样进行</a:t>
                </a:r>
                <a:r>
                  <a:rPr lang="zh-CN" altLang="zh-CN" sz="1600" dirty="0" smtClean="0">
                    <a:latin typeface="+mn-ea"/>
                    <a:ea typeface="+mn-ea"/>
                    <a:cs typeface="Times New Roman" panose="02020603050405020304" pitchFamily="18" charset="0"/>
                  </a:rPr>
                  <a:t>计算所得</a:t>
                </a:r>
                <a:r>
                  <a:rPr lang="zh-CN" altLang="zh-CN" sz="1600" dirty="0">
                    <a:latin typeface="+mn-ea"/>
                    <a:ea typeface="+mn-ea"/>
                    <a:cs typeface="Times New Roman" panose="02020603050405020304" pitchFamily="18" charset="0"/>
                  </a:rPr>
                  <a:t>结果可能不准确，因此时序</a:t>
                </a:r>
                <a:r>
                  <a:rPr lang="zh-CN" altLang="zh-CN" sz="1600" dirty="0" smtClean="0">
                    <a:latin typeface="+mn-ea"/>
                    <a:ea typeface="+mn-ea"/>
                    <a:cs typeface="Times New Roman" panose="02020603050405020304" pitchFamily="18" charset="0"/>
                  </a:rPr>
                  <a:t>差分法以</a:t>
                </a:r>
                <a14:m>
                  <m:oMath xmlns:m="http://schemas.openxmlformats.org/officeDocument/2006/math">
                    <m:r>
                      <a:rPr lang="en-US" altLang="zh-CN" sz="1600">
                        <a:latin typeface="Cambria Math" panose="02040503050406030204" pitchFamily="18" charset="0"/>
                        <a:ea typeface="+mn-ea"/>
                        <a:cs typeface="Times New Roman" panose="02020603050405020304" pitchFamily="18" charset="0"/>
                      </a:rPr>
                      <m:t>𝛼</m:t>
                    </m:r>
                  </m:oMath>
                </a14:m>
                <a:r>
                  <a:rPr lang="zh-CN" altLang="zh-CN" sz="1600" dirty="0">
                    <a:latin typeface="+mn-ea"/>
                    <a:ea typeface="+mn-ea"/>
                    <a:cs typeface="Times New Roman" panose="02020603050405020304" pitchFamily="18" charset="0"/>
                  </a:rPr>
                  <a:t>作为权重来接受新的</a:t>
                </a:r>
                <a:r>
                  <a:rPr lang="zh-CN" altLang="zh-CN" sz="1600" dirty="0" smtClean="0">
                    <a:latin typeface="+mn-ea"/>
                    <a:ea typeface="+mn-ea"/>
                    <a:cs typeface="Times New Roman" panose="02020603050405020304" pitchFamily="18" charset="0"/>
                  </a:rPr>
                  <a:t>估计值。</a:t>
                </a:r>
                <a:endParaRPr lang="en-US" altLang="zh-CN" sz="1600" dirty="0">
                  <a:latin typeface="+mn-ea"/>
                  <a:ea typeface="+mn-ea"/>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38D47807-E923-4ACA-8D13-5174ADE01EB0}"/>
                  </a:ext>
                </a:extLst>
              </p:cNvPr>
              <p:cNvSpPr>
                <a:spLocks noRot="1" noChangeAspect="1" noMove="1" noResize="1" noEditPoints="1" noAdjustHandles="1" noChangeArrowheads="1" noChangeShapeType="1" noTextEdit="1"/>
              </p:cNvSpPr>
              <p:nvPr/>
            </p:nvSpPr>
            <p:spPr>
              <a:xfrm>
                <a:off x="323528" y="3003081"/>
                <a:ext cx="8424936" cy="787523"/>
              </a:xfrm>
              <a:prstGeom prst="rect">
                <a:avLst/>
              </a:prstGeom>
              <a:blipFill>
                <a:blip r:embed="rId3"/>
                <a:stretch>
                  <a:fillRect l="-289" r="-2894" b="-9302"/>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10113E20-2C87-49B7-B1B7-B1C9B70888B3}"/>
              </a:ext>
            </a:extLst>
          </p:cNvPr>
          <p:cNvGrpSpPr/>
          <p:nvPr/>
        </p:nvGrpSpPr>
        <p:grpSpPr>
          <a:xfrm>
            <a:off x="1547664" y="3888103"/>
            <a:ext cx="5184576" cy="1239759"/>
            <a:chOff x="1825196" y="4357022"/>
            <a:chExt cx="7079418" cy="1653012"/>
          </a:xfrm>
        </p:grpSpPr>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B53110B1-D6D9-4512-A347-F6B9954C2C01}"/>
                    </a:ext>
                  </a:extLst>
                </p:cNvPr>
                <p:cNvSpPr/>
                <p:nvPr/>
              </p:nvSpPr>
              <p:spPr>
                <a:xfrm>
                  <a:off x="1825196" y="4357022"/>
                  <a:ext cx="7079418" cy="934102"/>
                </a:xfrm>
                <a:prstGeom prst="rect">
                  <a:avLst/>
                </a:prstGeom>
              </p:spPr>
              <p:txBody>
                <a:bodyPr wrap="square">
                  <a:spAutoFit/>
                </a:bodyPr>
                <a:lstStyle/>
                <a:p>
                  <a:pPr>
                    <a:lnSpc>
                      <a:spcPct val="150000"/>
                    </a:lnSpc>
                  </a:pPr>
                  <a:r>
                    <a:rPr lang="zh-CN" altLang="en-US" b="1" dirty="0">
                      <a:latin typeface="+mn-ea"/>
                      <a:ea typeface="+mn-ea"/>
                      <a:cs typeface="Times New Roman" panose="02020603050405020304" pitchFamily="18" charset="0"/>
                    </a:rPr>
                    <a:t>更新</a:t>
                  </a:r>
                  <a14:m>
                    <m:oMath xmlns:m="http://schemas.openxmlformats.org/officeDocument/2006/math">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𝑠</m:t>
                          </m:r>
                        </m:e>
                      </m:d>
                    </m:oMath>
                  </a14:m>
                  <a:r>
                    <a:rPr lang="zh-CN" altLang="en-US" b="1" dirty="0">
                      <a:latin typeface="+mn-ea"/>
                      <a:ea typeface="+mn-ea"/>
                      <a:cs typeface="Times New Roman" panose="02020603050405020304" pitchFamily="18" charset="0"/>
                    </a:rPr>
                    <a:t>的值：</a:t>
                  </a:r>
                  <a:r>
                    <a:rPr lang="en-US" altLang="zh-CN" b="1" dirty="0">
                      <a:latin typeface="+mn-ea"/>
                      <a:ea typeface="+mn-ea"/>
                      <a:cs typeface="Times New Roman" panose="02020603050405020304" pitchFamily="18" charset="0"/>
                    </a:rPr>
                    <a:t> </a:t>
                  </a:r>
                  <a14:m>
                    <m:oMath xmlns:m="http://schemas.openxmlformats.org/officeDocument/2006/math">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𝑠</m:t>
                          </m:r>
                        </m:e>
                      </m:d>
                      <m:r>
                        <a:rPr lang="en-US" altLang="zh-CN" b="1">
                          <a:latin typeface="Cambria Math" panose="02040503050406030204" pitchFamily="18" charset="0"/>
                          <a:ea typeface="+mn-ea"/>
                          <a:cs typeface="Times New Roman" panose="02020603050405020304" pitchFamily="18" charset="0"/>
                        </a:rPr>
                        <m:t>←(1−</m:t>
                      </m:r>
                      <m:r>
                        <a:rPr lang="en-US" altLang="zh-CN" b="1">
                          <a:latin typeface="Cambria Math" panose="02040503050406030204" pitchFamily="18" charset="0"/>
                          <a:ea typeface="+mn-ea"/>
                          <a:cs typeface="Times New Roman" panose="02020603050405020304" pitchFamily="18" charset="0"/>
                        </a:rPr>
                        <m:t>𝛼</m:t>
                      </m:r>
                      <m:r>
                        <a:rPr lang="en-US" altLang="zh-CN" b="1">
                          <a:latin typeface="Cambria Math" panose="02040503050406030204" pitchFamily="18" charset="0"/>
                          <a:ea typeface="+mn-ea"/>
                          <a:cs typeface="Times New Roman" panose="02020603050405020304" pitchFamily="18" charset="0"/>
                        </a:rPr>
                        <m:t>)</m:t>
                      </m:r>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𝑠</m:t>
                          </m:r>
                        </m:e>
                      </m:d>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𝛼</m:t>
                      </m:r>
                      <m:d>
                        <m:dPr>
                          <m:begChr m:val="["/>
                          <m:endChr m:val="]"/>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𝑅</m:t>
                          </m:r>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𝑠</m:t>
                          </m:r>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𝑎</m:t>
                          </m:r>
                          <m:r>
                            <a:rPr lang="en-US" altLang="zh-CN" b="1">
                              <a:latin typeface="Cambria Math" panose="02040503050406030204" pitchFamily="18" charset="0"/>
                              <a:ea typeface="+mn-ea"/>
                              <a:cs typeface="Times New Roman" panose="02020603050405020304" pitchFamily="18" charset="0"/>
                            </a:rPr>
                            <m:t>,</m:t>
                          </m:r>
                          <m:sSup>
                            <m:sSupPr>
                              <m:ctrlPr>
                                <a:rPr lang="en-US" altLang="zh-CN" b="1" i="1">
                                  <a:latin typeface="Cambria Math" panose="02040503050406030204" pitchFamily="18" charset="0"/>
                                  <a:ea typeface="+mn-ea"/>
                                  <a:cs typeface="Times New Roman" panose="02020603050405020304" pitchFamily="18" charset="0"/>
                                </a:rPr>
                              </m:ctrlPr>
                            </m:sSupPr>
                            <m:e>
                              <m:r>
                                <a:rPr lang="en-US" altLang="zh-CN" b="1">
                                  <a:latin typeface="Cambria Math" panose="02040503050406030204" pitchFamily="18" charset="0"/>
                                  <a:ea typeface="+mn-ea"/>
                                  <a:cs typeface="Times New Roman" panose="02020603050405020304" pitchFamily="18" charset="0"/>
                                </a:rPr>
                                <m:t>𝑠</m:t>
                              </m:r>
                            </m:e>
                            <m:sup>
                              <m:r>
                                <a:rPr lang="en-US" altLang="zh-CN" b="1">
                                  <a:latin typeface="Cambria Math" panose="02040503050406030204" pitchFamily="18" charset="0"/>
                                  <a:ea typeface="+mn-ea"/>
                                  <a:cs typeface="Times New Roman" panose="02020603050405020304" pitchFamily="18" charset="0"/>
                                </a:rPr>
                                <m:t>′</m:t>
                              </m:r>
                            </m:sup>
                          </m:sSup>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𝛾</m:t>
                          </m:r>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sSup>
                                <m:sSupPr>
                                  <m:ctrlPr>
                                    <a:rPr lang="en-US" altLang="zh-CN" b="1" i="1">
                                      <a:latin typeface="Cambria Math" panose="02040503050406030204" pitchFamily="18" charset="0"/>
                                      <a:ea typeface="+mn-ea"/>
                                      <a:cs typeface="Times New Roman" panose="02020603050405020304" pitchFamily="18" charset="0"/>
                                    </a:rPr>
                                  </m:ctrlPr>
                                </m:sSupPr>
                                <m:e>
                                  <m:r>
                                    <a:rPr lang="en-US" altLang="zh-CN" b="1">
                                      <a:latin typeface="Cambria Math" panose="02040503050406030204" pitchFamily="18" charset="0"/>
                                      <a:ea typeface="+mn-ea"/>
                                      <a:cs typeface="Times New Roman" panose="02020603050405020304" pitchFamily="18" charset="0"/>
                                    </a:rPr>
                                    <m:t>𝑠</m:t>
                                  </m:r>
                                </m:e>
                                <m:sup>
                                  <m:r>
                                    <a:rPr lang="en-US" altLang="zh-CN" b="1">
                                      <a:latin typeface="Cambria Math" panose="02040503050406030204" pitchFamily="18" charset="0"/>
                                      <a:ea typeface="+mn-ea"/>
                                      <a:cs typeface="Times New Roman" panose="02020603050405020304" pitchFamily="18" charset="0"/>
                                    </a:rPr>
                                    <m:t>′</m:t>
                                  </m:r>
                                </m:sup>
                              </m:sSup>
                            </m:e>
                          </m:d>
                        </m:e>
                      </m:d>
                    </m:oMath>
                  </a14:m>
                  <a:endParaRPr lang="en-US" altLang="zh-CN" b="1" dirty="0">
                    <a:latin typeface="+mn-ea"/>
                    <a:ea typeface="+mn-ea"/>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B53110B1-D6D9-4512-A347-F6B9954C2C01}"/>
                    </a:ext>
                  </a:extLst>
                </p:cNvPr>
                <p:cNvSpPr>
                  <a:spLocks noRot="1" noChangeAspect="1" noMove="1" noResize="1" noEditPoints="1" noAdjustHandles="1" noChangeArrowheads="1" noChangeShapeType="1" noTextEdit="1"/>
                </p:cNvSpPr>
                <p:nvPr/>
              </p:nvSpPr>
              <p:spPr>
                <a:xfrm>
                  <a:off x="1825196" y="4357022"/>
                  <a:ext cx="7079418" cy="934102"/>
                </a:xfrm>
                <a:prstGeom prst="rect">
                  <a:avLst/>
                </a:prstGeom>
                <a:blipFill>
                  <a:blip r:embed="rId4"/>
                  <a:stretch>
                    <a:fillRect l="-353"/>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5C2C3C28-983C-4071-BF8E-E35D956D98BB}"/>
                </a:ext>
              </a:extLst>
            </p:cNvPr>
            <p:cNvCxnSpPr>
              <a:cxnSpLocks/>
            </p:cNvCxnSpPr>
            <p:nvPr/>
          </p:nvCxnSpPr>
          <p:spPr>
            <a:xfrm>
              <a:off x="5277087" y="4821318"/>
              <a:ext cx="88000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83ED5BC-E6FC-4B98-8AFF-ADD1A2A53985}"/>
                </a:ext>
              </a:extLst>
            </p:cNvPr>
            <p:cNvCxnSpPr>
              <a:cxnSpLocks/>
            </p:cNvCxnSpPr>
            <p:nvPr/>
          </p:nvCxnSpPr>
          <p:spPr>
            <a:xfrm>
              <a:off x="6728372" y="4843962"/>
              <a:ext cx="162194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82F41B4A-8819-41C0-A2E0-8201E75412A7}"/>
                </a:ext>
              </a:extLst>
            </p:cNvPr>
            <p:cNvSpPr/>
            <p:nvPr/>
          </p:nvSpPr>
          <p:spPr>
            <a:xfrm>
              <a:off x="4860008" y="4967698"/>
              <a:ext cx="1625817" cy="1042336"/>
            </a:xfrm>
            <a:prstGeom prst="rect">
              <a:avLst/>
            </a:prstGeom>
          </p:spPr>
          <p:txBody>
            <a:bodyPr wrap="square">
              <a:spAutoFit/>
            </a:bodyPr>
            <a:lstStyle/>
            <a:p>
              <a:pPr algn="ctr"/>
              <a:r>
                <a:rPr lang="zh-CN" altLang="en-US" b="1" dirty="0">
                  <a:solidFill>
                    <a:srgbClr val="0070C0"/>
                  </a:solidFill>
                  <a:latin typeface="+mn-ea"/>
                  <a:ea typeface="+mn-ea"/>
                </a:rPr>
                <a:t>过去的</a:t>
              </a:r>
              <a:endParaRPr lang="en-US" altLang="zh-CN" b="1" dirty="0">
                <a:solidFill>
                  <a:srgbClr val="0070C0"/>
                </a:solidFill>
                <a:latin typeface="+mn-ea"/>
                <a:ea typeface="+mn-ea"/>
              </a:endParaRPr>
            </a:p>
            <a:p>
              <a:pPr algn="ctr"/>
              <a:r>
                <a:rPr lang="zh-CN" altLang="en-US" b="1" dirty="0">
                  <a:solidFill>
                    <a:srgbClr val="0070C0"/>
                  </a:solidFill>
                  <a:latin typeface="+mn-ea"/>
                  <a:ea typeface="+mn-ea"/>
                </a:rPr>
                <a:t>价值函数值</a:t>
              </a:r>
            </a:p>
          </p:txBody>
        </p:sp>
        <p:sp>
          <p:nvSpPr>
            <p:cNvPr id="17" name="矩形 16">
              <a:extLst>
                <a:ext uri="{FF2B5EF4-FFF2-40B4-BE49-F238E27FC236}">
                  <a16:creationId xmlns:a16="http://schemas.microsoft.com/office/drawing/2014/main" id="{E5334884-3C68-4A85-BD42-05694F5BC32C}"/>
                </a:ext>
              </a:extLst>
            </p:cNvPr>
            <p:cNvSpPr/>
            <p:nvPr/>
          </p:nvSpPr>
          <p:spPr>
            <a:xfrm>
              <a:off x="6640497" y="4967698"/>
              <a:ext cx="1949205" cy="755079"/>
            </a:xfrm>
            <a:prstGeom prst="rect">
              <a:avLst/>
            </a:prstGeom>
          </p:spPr>
          <p:txBody>
            <a:bodyPr wrap="square">
              <a:spAutoFit/>
            </a:bodyPr>
            <a:lstStyle/>
            <a:p>
              <a:pPr algn="ctr"/>
              <a:r>
                <a:rPr lang="zh-CN" altLang="en-US" b="1" dirty="0">
                  <a:solidFill>
                    <a:srgbClr val="0070C0"/>
                  </a:solidFill>
                  <a:latin typeface="+mn-ea"/>
                  <a:ea typeface="+mn-ea"/>
                </a:rPr>
                <a:t>学习得到的</a:t>
              </a:r>
              <a:endParaRPr lang="en-US" altLang="zh-CN" b="1" dirty="0">
                <a:solidFill>
                  <a:srgbClr val="0070C0"/>
                </a:solidFill>
                <a:latin typeface="+mn-ea"/>
                <a:ea typeface="+mn-ea"/>
              </a:endParaRPr>
            </a:p>
            <a:p>
              <a:pPr algn="ctr"/>
              <a:r>
                <a:rPr lang="zh-CN" altLang="en-US" b="1" dirty="0">
                  <a:solidFill>
                    <a:srgbClr val="0070C0"/>
                  </a:solidFill>
                  <a:latin typeface="+mn-ea"/>
                  <a:ea typeface="+mn-ea"/>
                </a:rPr>
                <a:t>价值函数值</a:t>
              </a:r>
            </a:p>
          </p:txBody>
        </p:sp>
      </p:grpSp>
    </p:spTree>
    <p:extLst>
      <p:ext uri="{BB962C8B-B14F-4D97-AF65-F5344CB8AC3E}">
        <p14:creationId xmlns:p14="http://schemas.microsoft.com/office/powerpoint/2010/main" val="1768556212"/>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5F90B63-4C71-4AC0-9FF4-7C0ACE2EDC97}"/>
              </a:ext>
            </a:extLst>
          </p:cNvPr>
          <p:cNvPicPr>
            <a:picLocks noChangeAspect="1"/>
          </p:cNvPicPr>
          <p:nvPr/>
        </p:nvPicPr>
        <p:blipFill>
          <a:blip r:embed="rId3"/>
          <a:stretch>
            <a:fillRect/>
          </a:stretch>
        </p:blipFill>
        <p:spPr>
          <a:xfrm>
            <a:off x="-1053" y="1851670"/>
            <a:ext cx="5981471" cy="3192566"/>
          </a:xfrm>
          <a:prstGeom prst="rect">
            <a:avLst/>
          </a:prstGeom>
        </p:spPr>
      </p:pic>
      <p:grpSp>
        <p:nvGrpSpPr>
          <p:cNvPr id="11" name="组合 10">
            <a:extLst>
              <a:ext uri="{FF2B5EF4-FFF2-40B4-BE49-F238E27FC236}">
                <a16:creationId xmlns:a16="http://schemas.microsoft.com/office/drawing/2014/main" id="{10113E20-2C87-49B7-B1B7-B1C9B70888B3}"/>
              </a:ext>
            </a:extLst>
          </p:cNvPr>
          <p:cNvGrpSpPr/>
          <p:nvPr/>
        </p:nvGrpSpPr>
        <p:grpSpPr>
          <a:xfrm>
            <a:off x="3851920" y="3785508"/>
            <a:ext cx="5184576" cy="1239759"/>
            <a:chOff x="1825196" y="4357022"/>
            <a:chExt cx="7079418" cy="1653012"/>
          </a:xfrm>
        </p:grpSpPr>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B53110B1-D6D9-4512-A347-F6B9954C2C01}"/>
                    </a:ext>
                  </a:extLst>
                </p:cNvPr>
                <p:cNvSpPr/>
                <p:nvPr/>
              </p:nvSpPr>
              <p:spPr>
                <a:xfrm>
                  <a:off x="1825196" y="4357022"/>
                  <a:ext cx="7079418" cy="934102"/>
                </a:xfrm>
                <a:prstGeom prst="rect">
                  <a:avLst/>
                </a:prstGeom>
              </p:spPr>
              <p:txBody>
                <a:bodyPr wrap="square">
                  <a:spAutoFit/>
                </a:bodyPr>
                <a:lstStyle/>
                <a:p>
                  <a:pPr>
                    <a:lnSpc>
                      <a:spcPct val="150000"/>
                    </a:lnSpc>
                  </a:pPr>
                  <a:r>
                    <a:rPr lang="zh-CN" altLang="en-US" b="1" dirty="0">
                      <a:latin typeface="+mn-ea"/>
                      <a:ea typeface="+mn-ea"/>
                      <a:cs typeface="Times New Roman" panose="02020603050405020304" pitchFamily="18" charset="0"/>
                    </a:rPr>
                    <a:t>更新</a:t>
                  </a:r>
                  <a14:m>
                    <m:oMath xmlns:m="http://schemas.openxmlformats.org/officeDocument/2006/math">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𝑠</m:t>
                          </m:r>
                        </m:e>
                      </m:d>
                    </m:oMath>
                  </a14:m>
                  <a:r>
                    <a:rPr lang="zh-CN" altLang="en-US" b="1" dirty="0">
                      <a:latin typeface="+mn-ea"/>
                      <a:ea typeface="+mn-ea"/>
                      <a:cs typeface="Times New Roman" panose="02020603050405020304" pitchFamily="18" charset="0"/>
                    </a:rPr>
                    <a:t>的值：</a:t>
                  </a:r>
                  <a:r>
                    <a:rPr lang="en-US" altLang="zh-CN" b="1" dirty="0">
                      <a:latin typeface="+mn-ea"/>
                      <a:ea typeface="+mn-ea"/>
                      <a:cs typeface="Times New Roman" panose="02020603050405020304" pitchFamily="18" charset="0"/>
                    </a:rPr>
                    <a:t> </a:t>
                  </a:r>
                  <a14:m>
                    <m:oMath xmlns:m="http://schemas.openxmlformats.org/officeDocument/2006/math">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𝑠</m:t>
                          </m:r>
                        </m:e>
                      </m:d>
                      <m:r>
                        <a:rPr lang="en-US" altLang="zh-CN" b="1">
                          <a:latin typeface="Cambria Math" panose="02040503050406030204" pitchFamily="18" charset="0"/>
                          <a:ea typeface="+mn-ea"/>
                          <a:cs typeface="Times New Roman" panose="02020603050405020304" pitchFamily="18" charset="0"/>
                        </a:rPr>
                        <m:t>←(1−</m:t>
                      </m:r>
                      <m:r>
                        <a:rPr lang="en-US" altLang="zh-CN" b="1">
                          <a:latin typeface="Cambria Math" panose="02040503050406030204" pitchFamily="18" charset="0"/>
                          <a:ea typeface="+mn-ea"/>
                          <a:cs typeface="Times New Roman" panose="02020603050405020304" pitchFamily="18" charset="0"/>
                        </a:rPr>
                        <m:t>𝛼</m:t>
                      </m:r>
                      <m:r>
                        <a:rPr lang="en-US" altLang="zh-CN" b="1">
                          <a:latin typeface="Cambria Math" panose="02040503050406030204" pitchFamily="18" charset="0"/>
                          <a:ea typeface="+mn-ea"/>
                          <a:cs typeface="Times New Roman" panose="02020603050405020304" pitchFamily="18" charset="0"/>
                        </a:rPr>
                        <m:t>)</m:t>
                      </m:r>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𝑠</m:t>
                          </m:r>
                        </m:e>
                      </m:d>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𝛼</m:t>
                      </m:r>
                      <m:d>
                        <m:dPr>
                          <m:begChr m:val="["/>
                          <m:endChr m:val="]"/>
                          <m:ctrlPr>
                            <a:rPr lang="en-US" altLang="zh-CN" b="1" i="1">
                              <a:latin typeface="Cambria Math" panose="02040503050406030204" pitchFamily="18" charset="0"/>
                              <a:ea typeface="+mn-ea"/>
                              <a:cs typeface="Times New Roman" panose="02020603050405020304" pitchFamily="18" charset="0"/>
                            </a:rPr>
                          </m:ctrlPr>
                        </m:dPr>
                        <m:e>
                          <m:r>
                            <a:rPr lang="en-US" altLang="zh-CN" b="1">
                              <a:latin typeface="Cambria Math" panose="02040503050406030204" pitchFamily="18" charset="0"/>
                              <a:ea typeface="+mn-ea"/>
                              <a:cs typeface="Times New Roman" panose="02020603050405020304" pitchFamily="18" charset="0"/>
                            </a:rPr>
                            <m:t>𝑅</m:t>
                          </m:r>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𝑠</m:t>
                          </m:r>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𝑎</m:t>
                          </m:r>
                          <m:r>
                            <a:rPr lang="en-US" altLang="zh-CN" b="1">
                              <a:latin typeface="Cambria Math" panose="02040503050406030204" pitchFamily="18" charset="0"/>
                              <a:ea typeface="+mn-ea"/>
                              <a:cs typeface="Times New Roman" panose="02020603050405020304" pitchFamily="18" charset="0"/>
                            </a:rPr>
                            <m:t>,</m:t>
                          </m:r>
                          <m:sSup>
                            <m:sSupPr>
                              <m:ctrlPr>
                                <a:rPr lang="en-US" altLang="zh-CN" b="1" i="1">
                                  <a:latin typeface="Cambria Math" panose="02040503050406030204" pitchFamily="18" charset="0"/>
                                  <a:ea typeface="+mn-ea"/>
                                  <a:cs typeface="Times New Roman" panose="02020603050405020304" pitchFamily="18" charset="0"/>
                                </a:rPr>
                              </m:ctrlPr>
                            </m:sSupPr>
                            <m:e>
                              <m:r>
                                <a:rPr lang="en-US" altLang="zh-CN" b="1">
                                  <a:latin typeface="Cambria Math" panose="02040503050406030204" pitchFamily="18" charset="0"/>
                                  <a:ea typeface="+mn-ea"/>
                                  <a:cs typeface="Times New Roman" panose="02020603050405020304" pitchFamily="18" charset="0"/>
                                </a:rPr>
                                <m:t>𝑠</m:t>
                              </m:r>
                            </m:e>
                            <m:sup>
                              <m:r>
                                <a:rPr lang="en-US" altLang="zh-CN" b="1">
                                  <a:latin typeface="Cambria Math" panose="02040503050406030204" pitchFamily="18" charset="0"/>
                                  <a:ea typeface="+mn-ea"/>
                                  <a:cs typeface="Times New Roman" panose="02020603050405020304" pitchFamily="18" charset="0"/>
                                </a:rPr>
                                <m:t>′</m:t>
                              </m:r>
                            </m:sup>
                          </m:sSup>
                          <m:r>
                            <a:rPr lang="en-US" altLang="zh-CN" b="1">
                              <a:latin typeface="Cambria Math" panose="02040503050406030204" pitchFamily="18" charset="0"/>
                              <a:ea typeface="+mn-ea"/>
                              <a:cs typeface="Times New Roman" panose="02020603050405020304" pitchFamily="18" charset="0"/>
                            </a:rPr>
                            <m:t>)+</m:t>
                          </m:r>
                          <m:r>
                            <a:rPr lang="en-US" altLang="zh-CN" b="1">
                              <a:latin typeface="Cambria Math" panose="02040503050406030204" pitchFamily="18" charset="0"/>
                              <a:ea typeface="+mn-ea"/>
                              <a:cs typeface="Times New Roman" panose="02020603050405020304" pitchFamily="18" charset="0"/>
                            </a:rPr>
                            <m:t>𝛾</m:t>
                          </m:r>
                          <m:sSub>
                            <m:sSubPr>
                              <m:ctrlPr>
                                <a:rPr lang="en-US" altLang="zh-CN" b="1" i="1">
                                  <a:latin typeface="Cambria Math" panose="02040503050406030204" pitchFamily="18" charset="0"/>
                                  <a:ea typeface="+mn-ea"/>
                                  <a:cs typeface="Times New Roman" panose="02020603050405020304" pitchFamily="18" charset="0"/>
                                </a:rPr>
                              </m:ctrlPr>
                            </m:sSubPr>
                            <m:e>
                              <m:r>
                                <a:rPr lang="en-US" altLang="zh-CN" b="1">
                                  <a:latin typeface="Cambria Math" panose="02040503050406030204" pitchFamily="18" charset="0"/>
                                  <a:ea typeface="+mn-ea"/>
                                  <a:cs typeface="Times New Roman" panose="02020603050405020304" pitchFamily="18" charset="0"/>
                                </a:rPr>
                                <m:t>𝑉</m:t>
                              </m:r>
                            </m:e>
                            <m:sub>
                              <m:r>
                                <a:rPr lang="en-US" altLang="zh-CN" b="1">
                                  <a:latin typeface="Cambria Math" panose="02040503050406030204" pitchFamily="18" charset="0"/>
                                  <a:ea typeface="+mn-ea"/>
                                  <a:cs typeface="Times New Roman" panose="02020603050405020304" pitchFamily="18" charset="0"/>
                                </a:rPr>
                                <m:t>𝜋</m:t>
                              </m:r>
                            </m:sub>
                          </m:sSub>
                          <m:d>
                            <m:dPr>
                              <m:ctrlPr>
                                <a:rPr lang="en-US" altLang="zh-CN" b="1" i="1">
                                  <a:latin typeface="Cambria Math" panose="02040503050406030204" pitchFamily="18" charset="0"/>
                                  <a:ea typeface="+mn-ea"/>
                                  <a:cs typeface="Times New Roman" panose="02020603050405020304" pitchFamily="18" charset="0"/>
                                </a:rPr>
                              </m:ctrlPr>
                            </m:dPr>
                            <m:e>
                              <m:sSup>
                                <m:sSupPr>
                                  <m:ctrlPr>
                                    <a:rPr lang="en-US" altLang="zh-CN" b="1" i="1">
                                      <a:latin typeface="Cambria Math" panose="02040503050406030204" pitchFamily="18" charset="0"/>
                                      <a:ea typeface="+mn-ea"/>
                                      <a:cs typeface="Times New Roman" panose="02020603050405020304" pitchFamily="18" charset="0"/>
                                    </a:rPr>
                                  </m:ctrlPr>
                                </m:sSupPr>
                                <m:e>
                                  <m:r>
                                    <a:rPr lang="en-US" altLang="zh-CN" b="1">
                                      <a:latin typeface="Cambria Math" panose="02040503050406030204" pitchFamily="18" charset="0"/>
                                      <a:ea typeface="+mn-ea"/>
                                      <a:cs typeface="Times New Roman" panose="02020603050405020304" pitchFamily="18" charset="0"/>
                                    </a:rPr>
                                    <m:t>𝑠</m:t>
                                  </m:r>
                                </m:e>
                                <m:sup>
                                  <m:r>
                                    <a:rPr lang="en-US" altLang="zh-CN" b="1">
                                      <a:latin typeface="Cambria Math" panose="02040503050406030204" pitchFamily="18" charset="0"/>
                                      <a:ea typeface="+mn-ea"/>
                                      <a:cs typeface="Times New Roman" panose="02020603050405020304" pitchFamily="18" charset="0"/>
                                    </a:rPr>
                                    <m:t>′</m:t>
                                  </m:r>
                                </m:sup>
                              </m:sSup>
                            </m:e>
                          </m:d>
                        </m:e>
                      </m:d>
                    </m:oMath>
                  </a14:m>
                  <a:endParaRPr lang="en-US" altLang="zh-CN" b="1" dirty="0">
                    <a:latin typeface="+mn-ea"/>
                    <a:ea typeface="+mn-ea"/>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B53110B1-D6D9-4512-A347-F6B9954C2C01}"/>
                    </a:ext>
                  </a:extLst>
                </p:cNvPr>
                <p:cNvSpPr>
                  <a:spLocks noRot="1" noChangeAspect="1" noMove="1" noResize="1" noEditPoints="1" noAdjustHandles="1" noChangeArrowheads="1" noChangeShapeType="1" noTextEdit="1"/>
                </p:cNvSpPr>
                <p:nvPr/>
              </p:nvSpPr>
              <p:spPr>
                <a:xfrm>
                  <a:off x="1825196" y="4357022"/>
                  <a:ext cx="7079418" cy="934102"/>
                </a:xfrm>
                <a:prstGeom prst="rect">
                  <a:avLst/>
                </a:prstGeom>
                <a:blipFill>
                  <a:blip r:embed="rId4"/>
                  <a:stretch>
                    <a:fillRect l="-353"/>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5C2C3C28-983C-4071-BF8E-E35D956D98BB}"/>
                </a:ext>
              </a:extLst>
            </p:cNvPr>
            <p:cNvCxnSpPr>
              <a:cxnSpLocks/>
            </p:cNvCxnSpPr>
            <p:nvPr/>
          </p:nvCxnSpPr>
          <p:spPr>
            <a:xfrm>
              <a:off x="5277087" y="4821318"/>
              <a:ext cx="880002"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83ED5BC-E6FC-4B98-8AFF-ADD1A2A53985}"/>
                </a:ext>
              </a:extLst>
            </p:cNvPr>
            <p:cNvCxnSpPr>
              <a:cxnSpLocks/>
            </p:cNvCxnSpPr>
            <p:nvPr/>
          </p:nvCxnSpPr>
          <p:spPr>
            <a:xfrm>
              <a:off x="6728372" y="4843962"/>
              <a:ext cx="162194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2F41B4A-8819-41C0-A2E0-8201E75412A7}"/>
                </a:ext>
              </a:extLst>
            </p:cNvPr>
            <p:cNvSpPr/>
            <p:nvPr/>
          </p:nvSpPr>
          <p:spPr>
            <a:xfrm>
              <a:off x="4860008" y="4967698"/>
              <a:ext cx="1625817" cy="1042336"/>
            </a:xfrm>
            <a:prstGeom prst="rect">
              <a:avLst/>
            </a:prstGeom>
          </p:spPr>
          <p:txBody>
            <a:bodyPr wrap="square">
              <a:spAutoFit/>
            </a:bodyPr>
            <a:lstStyle/>
            <a:p>
              <a:pPr algn="ctr"/>
              <a:r>
                <a:rPr lang="zh-CN" altLang="en-US" b="1" dirty="0">
                  <a:solidFill>
                    <a:srgbClr val="0070C0"/>
                  </a:solidFill>
                  <a:latin typeface="+mn-ea"/>
                  <a:ea typeface="+mn-ea"/>
                </a:rPr>
                <a:t>过去的</a:t>
              </a:r>
              <a:endParaRPr lang="en-US" altLang="zh-CN" b="1" dirty="0">
                <a:solidFill>
                  <a:srgbClr val="0070C0"/>
                </a:solidFill>
                <a:latin typeface="+mn-ea"/>
                <a:ea typeface="+mn-ea"/>
              </a:endParaRPr>
            </a:p>
            <a:p>
              <a:pPr algn="ctr"/>
              <a:r>
                <a:rPr lang="zh-CN" altLang="en-US" b="1" dirty="0">
                  <a:solidFill>
                    <a:srgbClr val="0070C0"/>
                  </a:solidFill>
                  <a:latin typeface="+mn-ea"/>
                  <a:ea typeface="+mn-ea"/>
                </a:rPr>
                <a:t>价值函数值</a:t>
              </a:r>
            </a:p>
          </p:txBody>
        </p:sp>
        <p:sp>
          <p:nvSpPr>
            <p:cNvPr id="16" name="矩形 15">
              <a:extLst>
                <a:ext uri="{FF2B5EF4-FFF2-40B4-BE49-F238E27FC236}">
                  <a16:creationId xmlns:a16="http://schemas.microsoft.com/office/drawing/2014/main" id="{E5334884-3C68-4A85-BD42-05694F5BC32C}"/>
                </a:ext>
              </a:extLst>
            </p:cNvPr>
            <p:cNvSpPr/>
            <p:nvPr/>
          </p:nvSpPr>
          <p:spPr>
            <a:xfrm>
              <a:off x="6640497" y="4967698"/>
              <a:ext cx="1949205" cy="755079"/>
            </a:xfrm>
            <a:prstGeom prst="rect">
              <a:avLst/>
            </a:prstGeom>
          </p:spPr>
          <p:txBody>
            <a:bodyPr wrap="square">
              <a:spAutoFit/>
            </a:bodyPr>
            <a:lstStyle/>
            <a:p>
              <a:pPr algn="ctr"/>
              <a:r>
                <a:rPr lang="zh-CN" altLang="en-US" b="1" dirty="0">
                  <a:solidFill>
                    <a:srgbClr val="0070C0"/>
                  </a:solidFill>
                  <a:latin typeface="+mn-ea"/>
                  <a:ea typeface="+mn-ea"/>
                </a:rPr>
                <a:t>学习得到的</a:t>
              </a:r>
              <a:endParaRPr lang="en-US" altLang="zh-CN" b="1" dirty="0">
                <a:solidFill>
                  <a:srgbClr val="0070C0"/>
                </a:solidFill>
                <a:latin typeface="+mn-ea"/>
                <a:ea typeface="+mn-ea"/>
              </a:endParaRPr>
            </a:p>
            <a:p>
              <a:pPr algn="ctr"/>
              <a:r>
                <a:rPr lang="zh-CN" altLang="en-US" b="1" dirty="0">
                  <a:solidFill>
                    <a:srgbClr val="0070C0"/>
                  </a:solidFill>
                  <a:latin typeface="+mn-ea"/>
                  <a:ea typeface="+mn-ea"/>
                </a:rPr>
                <a:t>价值函数值</a:t>
              </a:r>
            </a:p>
          </p:txBody>
        </p:sp>
      </p:grpSp>
      <p:grpSp>
        <p:nvGrpSpPr>
          <p:cNvPr id="8" name="组合 7">
            <a:extLst>
              <a:ext uri="{FF2B5EF4-FFF2-40B4-BE49-F238E27FC236}">
                <a16:creationId xmlns:a16="http://schemas.microsoft.com/office/drawing/2014/main" id="{5AA2D11B-503E-EA1D-2D91-4C9435FE4015}"/>
              </a:ext>
            </a:extLst>
          </p:cNvPr>
          <p:cNvGrpSpPr/>
          <p:nvPr/>
        </p:nvGrpSpPr>
        <p:grpSpPr>
          <a:xfrm>
            <a:off x="611560" y="483518"/>
            <a:ext cx="5598290" cy="373451"/>
            <a:chOff x="4099943" y="2819853"/>
            <a:chExt cx="2570275" cy="497934"/>
          </a:xfrm>
        </p:grpSpPr>
        <p:sp>
          <p:nvSpPr>
            <p:cNvPr id="9" name="平行四边形 8">
              <a:extLst>
                <a:ext uri="{FF2B5EF4-FFF2-40B4-BE49-F238E27FC236}">
                  <a16:creationId xmlns:a16="http://schemas.microsoft.com/office/drawing/2014/main" id="{422D87C3-DCFF-F2C5-6352-5653DF8BAD4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0" name="平行四边形 9">
              <a:extLst>
                <a:ext uri="{FF2B5EF4-FFF2-40B4-BE49-F238E27FC236}">
                  <a16:creationId xmlns:a16="http://schemas.microsoft.com/office/drawing/2014/main" id="{F6E14BB5-6F0F-DDA7-78F7-F62F01B1BCDA}"/>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8" name="矩形 17">
              <a:extLst>
                <a:ext uri="{FF2B5EF4-FFF2-40B4-BE49-F238E27FC236}">
                  <a16:creationId xmlns:a16="http://schemas.microsoft.com/office/drawing/2014/main" id="{9D3B1C68-DE16-30B4-C273-F78BE5C8F554}"/>
                </a:ext>
              </a:extLst>
            </p:cNvPr>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mn-ea"/>
                  <a:ea typeface="+mn-ea"/>
                  <a:cs typeface="Times New Roman" panose="02020603050405020304" pitchFamily="18" charset="0"/>
                </a:rPr>
                <a:t>策略评估：</a:t>
              </a:r>
              <a:r>
                <a:rPr lang="zh-CN" altLang="en-US" sz="1500" dirty="0">
                  <a:solidFill>
                    <a:srgbClr val="0070C0"/>
                  </a:solidFill>
                  <a:latin typeface="+mn-ea"/>
                  <a:ea typeface="+mn-ea"/>
                  <a:cs typeface="Times New Roman" panose="02020603050405020304" pitchFamily="18" charset="0"/>
                </a:rPr>
                <a:t>时序差分</a:t>
              </a:r>
            </a:p>
          </p:txBody>
        </p:sp>
      </p:grpSp>
      <p:sp>
        <p:nvSpPr>
          <p:cNvPr id="19" name="矩形 18">
            <a:extLst>
              <a:ext uri="{FF2B5EF4-FFF2-40B4-BE49-F238E27FC236}">
                <a16:creationId xmlns:a16="http://schemas.microsoft.com/office/drawing/2014/main" id="{38D47807-E923-4ACA-8D13-5174ADE01EB0}"/>
              </a:ext>
            </a:extLst>
          </p:cNvPr>
          <p:cNvSpPr/>
          <p:nvPr/>
        </p:nvSpPr>
        <p:spPr>
          <a:xfrm>
            <a:off x="157841" y="817417"/>
            <a:ext cx="8576022" cy="1156855"/>
          </a:xfrm>
          <a:prstGeom prst="rect">
            <a:avLst/>
          </a:prstGeom>
        </p:spPr>
        <p:txBody>
          <a:bodyPr wrap="square">
            <a:spAutoFit/>
          </a:bodyPr>
          <a:lstStyle/>
          <a:p>
            <a:pPr>
              <a:lnSpc>
                <a:spcPct val="150000"/>
              </a:lnSpc>
            </a:pPr>
            <a:r>
              <a:rPr lang="zh-CN" altLang="zh-CN" sz="1600" dirty="0" smtClean="0">
                <a:latin typeface="+mn-ea"/>
                <a:ea typeface="+mn-ea"/>
                <a:cs typeface="Times New Roman" panose="02020603050405020304" pitchFamily="18" charset="0"/>
              </a:rPr>
              <a:t>时序</a:t>
            </a:r>
            <a:r>
              <a:rPr lang="zh-CN" altLang="zh-CN" sz="1600" dirty="0">
                <a:latin typeface="+mn-ea"/>
                <a:ea typeface="+mn-ea"/>
                <a:cs typeface="Times New Roman" panose="02020603050405020304" pitchFamily="18" charset="0"/>
              </a:rPr>
              <a:t>差分法和蒙特卡洛法都是通过采样若干个片段来进行价值函数更新的，</a:t>
            </a:r>
            <a:r>
              <a:rPr lang="zh-CN" altLang="zh-CN" sz="1600" dirty="0" smtClean="0">
                <a:latin typeface="+mn-ea"/>
                <a:ea typeface="+mn-ea"/>
                <a:cs typeface="Times New Roman" panose="02020603050405020304" pitchFamily="18" charset="0"/>
              </a:rPr>
              <a:t>但时序</a:t>
            </a:r>
            <a:r>
              <a:rPr lang="zh-CN" altLang="zh-CN" sz="1600" dirty="0">
                <a:latin typeface="+mn-ea"/>
                <a:ea typeface="+mn-ea"/>
                <a:cs typeface="Times New Roman" panose="02020603050405020304" pitchFamily="18" charset="0"/>
              </a:rPr>
              <a:t>差分法并非使用一个</a:t>
            </a:r>
            <a:r>
              <a:rPr lang="zh-CN" altLang="zh-CN" sz="1600" dirty="0" smtClean="0">
                <a:latin typeface="+mn-ea"/>
                <a:ea typeface="+mn-ea"/>
                <a:cs typeface="Times New Roman" panose="02020603050405020304" pitchFamily="18" charset="0"/>
              </a:rPr>
              <a:t>片段终止状态</a:t>
            </a:r>
            <a:r>
              <a:rPr lang="zh-CN" altLang="zh-CN" sz="1600" dirty="0">
                <a:latin typeface="+mn-ea"/>
                <a:ea typeface="+mn-ea"/>
                <a:cs typeface="Times New Roman" panose="02020603050405020304" pitchFamily="18" charset="0"/>
              </a:rPr>
              <a:t>所提供的实际回报值来估计价值函数，而是</a:t>
            </a:r>
            <a:r>
              <a:rPr lang="zh-CN" altLang="zh-CN" sz="1600" dirty="0">
                <a:solidFill>
                  <a:srgbClr val="FF0000"/>
                </a:solidFill>
                <a:latin typeface="+mn-ea"/>
                <a:ea typeface="+mn-ea"/>
                <a:cs typeface="Times New Roman" panose="02020603050405020304" pitchFamily="18" charset="0"/>
              </a:rPr>
              <a:t>根据下一个状态的价值函数来估计</a:t>
            </a:r>
            <a:r>
              <a:rPr lang="zh-CN" altLang="zh-CN" sz="1600" dirty="0">
                <a:latin typeface="+mn-ea"/>
                <a:ea typeface="+mn-ea"/>
                <a:cs typeface="Times New Roman" panose="02020603050405020304" pitchFamily="18" charset="0"/>
              </a:rPr>
              <a:t>，</a:t>
            </a:r>
            <a:r>
              <a:rPr lang="zh-CN" altLang="zh-CN" sz="1600" dirty="0" smtClean="0">
                <a:latin typeface="+mn-ea"/>
                <a:ea typeface="+mn-ea"/>
                <a:cs typeface="Times New Roman" panose="02020603050405020304" pitchFamily="18" charset="0"/>
              </a:rPr>
              <a:t>这样克服</a:t>
            </a:r>
            <a:r>
              <a:rPr lang="zh-CN" altLang="zh-CN" sz="1600" dirty="0">
                <a:latin typeface="+mn-ea"/>
                <a:ea typeface="+mn-ea"/>
                <a:cs typeface="Times New Roman" panose="02020603050405020304" pitchFamily="18" charset="0"/>
              </a:rPr>
              <a:t>了采样轨迹的稀疏性可能带来样本方差较大的不足问题</a:t>
            </a:r>
            <a:r>
              <a:rPr lang="zh-CN" altLang="zh-CN" sz="1600" dirty="0" smtClean="0">
                <a:latin typeface="+mn-ea"/>
                <a:ea typeface="+mn-ea"/>
                <a:cs typeface="Times New Roman" panose="02020603050405020304" pitchFamily="18" charset="0"/>
              </a:rPr>
              <a:t>，缩短</a:t>
            </a:r>
            <a:r>
              <a:rPr lang="zh-CN" altLang="zh-CN" sz="1600" dirty="0">
                <a:latin typeface="+mn-ea"/>
                <a:ea typeface="+mn-ea"/>
                <a:cs typeface="Times New Roman" panose="02020603050405020304" pitchFamily="18" charset="0"/>
              </a:rPr>
              <a:t>了反馈周期</a:t>
            </a:r>
            <a:r>
              <a:rPr lang="zh-CN" altLang="zh-CN" sz="1600" dirty="0" smtClean="0">
                <a:latin typeface="+mn-ea"/>
                <a:ea typeface="+mn-ea"/>
                <a:cs typeface="Times New Roman" panose="02020603050405020304" pitchFamily="18" charset="0"/>
              </a:rPr>
              <a:t>。</a:t>
            </a:r>
            <a:endParaRPr lang="zh-CN" altLang="zh-CN" sz="1600" b="1" dirty="0">
              <a:latin typeface="+mn-ea"/>
              <a:ea typeface="+mn-ea"/>
              <a:cs typeface="Times New Roman" panose="02020603050405020304" pitchFamily="18" charset="0"/>
            </a:endParaRPr>
          </a:p>
        </p:txBody>
      </p:sp>
    </p:spTree>
    <p:extLst>
      <p:ext uri="{BB962C8B-B14F-4D97-AF65-F5344CB8AC3E}">
        <p14:creationId xmlns:p14="http://schemas.microsoft.com/office/powerpoint/2010/main" val="358441838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2902492" y="1195882"/>
            <a:ext cx="3339017" cy="3365886"/>
            <a:chOff x="3872379" y="1383943"/>
            <a:chExt cx="4452022" cy="4487848"/>
          </a:xfrm>
          <a:solidFill>
            <a:srgbClr val="24569D"/>
          </a:solidFill>
        </p:grpSpPr>
        <p:sp>
          <p:nvSpPr>
            <p:cNvPr id="3" name="Freeform 5"/>
            <p:cNvSpPr/>
            <p:nvPr>
              <p:custDataLst>
                <p:tags r:id="rId6"/>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4" name="Freeform 6"/>
            <p:cNvSpPr/>
            <p:nvPr>
              <p:custDataLst>
                <p:tags r:id="rId7"/>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5" name="Freeform 7"/>
            <p:cNvSpPr/>
            <p:nvPr>
              <p:custDataLst>
                <p:tags r:id="rId8"/>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6" name="Freeform 8"/>
            <p:cNvSpPr/>
            <p:nvPr>
              <p:custDataLst>
                <p:tags r:id="rId9"/>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nvGrpSpPr>
            <p:cNvPr id="7" name="Group 44"/>
            <p:cNvGrpSpPr/>
            <p:nvPr/>
          </p:nvGrpSpPr>
          <p:grpSpPr>
            <a:xfrm>
              <a:off x="4569798" y="4627422"/>
              <a:ext cx="527842" cy="535007"/>
              <a:chOff x="3557588" y="3654425"/>
              <a:chExt cx="350838" cy="355600"/>
            </a:xfrm>
            <a:grpFill/>
          </p:grpSpPr>
          <p:sp>
            <p:nvSpPr>
              <p:cNvPr id="20" name="Freeform 9"/>
              <p:cNvSpPr>
                <a:spLocks noEditPoints="1"/>
              </p:cNvSpPr>
              <p:nvPr>
                <p:custDataLst>
                  <p:tags r:id="rId20"/>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1" name="Freeform 10"/>
              <p:cNvSpPr>
                <a:spLocks noEditPoints="1"/>
              </p:cNvSpPr>
              <p:nvPr>
                <p:custDataLst>
                  <p:tags r:id="rId21"/>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2" name="Freeform 11"/>
              <p:cNvSpPr>
                <a:spLocks noEditPoints="1"/>
              </p:cNvSpPr>
              <p:nvPr>
                <p:custDataLst>
                  <p:tags r:id="rId22"/>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8" name="Group 48"/>
            <p:cNvGrpSpPr/>
            <p:nvPr/>
          </p:nvGrpSpPr>
          <p:grpSpPr>
            <a:xfrm>
              <a:off x="7025097" y="2098082"/>
              <a:ext cx="606660" cy="539784"/>
              <a:chOff x="5189538" y="1973263"/>
              <a:chExt cx="403225" cy="358775"/>
            </a:xfrm>
            <a:grpFill/>
          </p:grpSpPr>
          <p:sp>
            <p:nvSpPr>
              <p:cNvPr id="18" name="Freeform 12"/>
              <p:cNvSpPr>
                <a:spLocks noEditPoints="1"/>
              </p:cNvSpPr>
              <p:nvPr>
                <p:custDataLst>
                  <p:tags r:id="rId18"/>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9" name="Freeform 13"/>
              <p:cNvSpPr>
                <a:spLocks noEditPoints="1"/>
              </p:cNvSpPr>
              <p:nvPr>
                <p:custDataLst>
                  <p:tags r:id="rId19"/>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9" name="Group 51"/>
            <p:cNvGrpSpPr/>
            <p:nvPr/>
          </p:nvGrpSpPr>
          <p:grpSpPr>
            <a:xfrm>
              <a:off x="6984495" y="4601150"/>
              <a:ext cx="599495" cy="587552"/>
              <a:chOff x="5162551" y="3636963"/>
              <a:chExt cx="398463" cy="390525"/>
            </a:xfrm>
            <a:grpFill/>
          </p:grpSpPr>
          <p:sp>
            <p:nvSpPr>
              <p:cNvPr id="15" name="Freeform 14"/>
              <p:cNvSpPr>
                <a:spLocks noEditPoints="1"/>
              </p:cNvSpPr>
              <p:nvPr>
                <p:custDataLst>
                  <p:tags r:id="rId15"/>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6" name="Freeform 15"/>
              <p:cNvSpPr>
                <a:spLocks noEditPoints="1"/>
              </p:cNvSpPr>
              <p:nvPr>
                <p:custDataLst>
                  <p:tags r:id="rId16"/>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7" name="Freeform 16"/>
              <p:cNvSpPr>
                <a:spLocks noEditPoints="1"/>
              </p:cNvSpPr>
              <p:nvPr>
                <p:custDataLst>
                  <p:tags r:id="rId17"/>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sp>
          <p:nvSpPr>
            <p:cNvPr id="10" name="Freeform 17"/>
            <p:cNvSpPr>
              <a:spLocks noEditPoints="1"/>
            </p:cNvSpPr>
            <p:nvPr>
              <p:custDataLst>
                <p:tags r:id="rId10"/>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1" name="TextBox 56"/>
            <p:cNvSpPr txBox="1"/>
            <p:nvPr>
              <p:custDataLst>
                <p:tags r:id="rId11"/>
              </p:custDataLst>
            </p:nvPr>
          </p:nvSpPr>
          <p:spPr>
            <a:xfrm>
              <a:off x="5224365"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01</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2" name="TextBox 57"/>
            <p:cNvSpPr txBox="1"/>
            <p:nvPr>
              <p:custDataLst>
                <p:tags r:id="rId12"/>
              </p:custDataLst>
            </p:nvPr>
          </p:nvSpPr>
          <p:spPr>
            <a:xfrm>
              <a:off x="6297629"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02</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3" name="TextBox 58"/>
            <p:cNvSpPr txBox="1"/>
            <p:nvPr>
              <p:custDataLst>
                <p:tags r:id="rId13"/>
              </p:custDataLst>
            </p:nvPr>
          </p:nvSpPr>
          <p:spPr>
            <a:xfrm>
              <a:off x="5224365"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03</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4" name="TextBox 59"/>
            <p:cNvSpPr txBox="1"/>
            <p:nvPr>
              <p:custDataLst>
                <p:tags r:id="rId14"/>
              </p:custDataLst>
            </p:nvPr>
          </p:nvSpPr>
          <p:spPr>
            <a:xfrm>
              <a:off x="6297629"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04</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grpSp>
      <p:sp>
        <p:nvSpPr>
          <p:cNvPr id="24" name="文本框 23"/>
          <p:cNvSpPr txBox="1"/>
          <p:nvPr>
            <p:custDataLst>
              <p:tags r:id="rId2"/>
            </p:custDataLst>
          </p:nvPr>
        </p:nvSpPr>
        <p:spPr>
          <a:xfrm>
            <a:off x="597053" y="1891426"/>
            <a:ext cx="2492990" cy="369332"/>
          </a:xfrm>
          <a:prstGeom prst="rect">
            <a:avLst/>
          </a:prstGeom>
          <a:noFill/>
        </p:spPr>
        <p:txBody>
          <a:bodyPr wrap="none" rtlCol="0">
            <a:spAutoFit/>
          </a:bodyPr>
          <a:lstStyle/>
          <a:p>
            <a:r>
              <a:rPr lang="zh-CN" altLang="en-US" sz="1800" b="1" dirty="0">
                <a:solidFill>
                  <a:srgbClr val="24569D"/>
                </a:solidFill>
                <a:latin typeface="+mn-ea"/>
                <a:ea typeface="+mn-ea"/>
              </a:rPr>
              <a:t>强化学习策略迭代模式</a:t>
            </a:r>
          </a:p>
        </p:txBody>
      </p:sp>
      <p:sp>
        <p:nvSpPr>
          <p:cNvPr id="28" name="文本框 27"/>
          <p:cNvSpPr txBox="1"/>
          <p:nvPr>
            <p:custDataLst>
              <p:tags r:id="rId3"/>
            </p:custDataLst>
          </p:nvPr>
        </p:nvSpPr>
        <p:spPr>
          <a:xfrm>
            <a:off x="6241509" y="3683810"/>
            <a:ext cx="2614818" cy="369332"/>
          </a:xfrm>
          <a:prstGeom prst="rect">
            <a:avLst/>
          </a:prstGeom>
          <a:noFill/>
        </p:spPr>
        <p:txBody>
          <a:bodyPr wrap="none" rtlCol="0">
            <a:spAutoFit/>
          </a:bodyPr>
          <a:lstStyle/>
          <a:p>
            <a:pPr algn="ctr"/>
            <a:r>
              <a:rPr lang="zh-CN" altLang="en-US" sz="1800" b="1" dirty="0">
                <a:solidFill>
                  <a:srgbClr val="24569D"/>
                </a:solidFill>
                <a:latin typeface="+mn-ea"/>
                <a:ea typeface="+mn-ea"/>
              </a:rPr>
              <a:t>案例分析</a:t>
            </a:r>
            <a:r>
              <a:rPr lang="en-US" altLang="zh-CN" sz="1800" b="1" dirty="0">
                <a:solidFill>
                  <a:srgbClr val="24569D"/>
                </a:solidFill>
                <a:latin typeface="+mn-ea"/>
                <a:ea typeface="+mn-ea"/>
              </a:rPr>
              <a:t>——</a:t>
            </a:r>
            <a:r>
              <a:rPr lang="en-US" altLang="zh-CN" sz="1800" b="1" dirty="0" err="1">
                <a:solidFill>
                  <a:srgbClr val="24569D"/>
                </a:solidFill>
                <a:latin typeface="+mn-ea"/>
                <a:ea typeface="+mn-ea"/>
              </a:rPr>
              <a:t>AlphaGo</a:t>
            </a:r>
            <a:endParaRPr lang="zh-CN" altLang="en-US" sz="1800" b="1" dirty="0">
              <a:solidFill>
                <a:srgbClr val="24569D"/>
              </a:solidFill>
              <a:latin typeface="+mn-ea"/>
              <a:ea typeface="+mn-ea"/>
            </a:endParaRPr>
          </a:p>
        </p:txBody>
      </p:sp>
      <p:sp>
        <p:nvSpPr>
          <p:cNvPr id="34" name="文本框 33"/>
          <p:cNvSpPr txBox="1"/>
          <p:nvPr>
            <p:custDataLst>
              <p:tags r:id="rId4"/>
            </p:custDataLst>
          </p:nvPr>
        </p:nvSpPr>
        <p:spPr>
          <a:xfrm>
            <a:off x="6504831" y="1902894"/>
            <a:ext cx="1569660" cy="369332"/>
          </a:xfrm>
          <a:prstGeom prst="rect">
            <a:avLst/>
          </a:prstGeom>
          <a:noFill/>
        </p:spPr>
        <p:txBody>
          <a:bodyPr wrap="none" rtlCol="0">
            <a:spAutoFit/>
          </a:bodyPr>
          <a:lstStyle/>
          <a:p>
            <a:r>
              <a:rPr lang="zh-CN" altLang="en-US" sz="1800" b="1" dirty="0">
                <a:solidFill>
                  <a:srgbClr val="24569D"/>
                </a:solidFill>
                <a:latin typeface="+mn-ea"/>
                <a:ea typeface="+mn-ea"/>
              </a:rPr>
              <a:t>策略评估方法</a:t>
            </a:r>
          </a:p>
        </p:txBody>
      </p:sp>
      <p:sp>
        <p:nvSpPr>
          <p:cNvPr id="2" name="矩形 1"/>
          <p:cNvSpPr/>
          <p:nvPr/>
        </p:nvSpPr>
        <p:spPr>
          <a:xfrm>
            <a:off x="559205" y="676969"/>
            <a:ext cx="723275" cy="415498"/>
          </a:xfrm>
          <a:prstGeom prst="rect">
            <a:avLst/>
          </a:prstGeom>
        </p:spPr>
        <p:txBody>
          <a:bodyPr wrap="none">
            <a:spAutoFit/>
          </a:bodyPr>
          <a:lstStyle/>
          <a:p>
            <a:r>
              <a:rPr lang="zh-CN" altLang="en-US" sz="2100" dirty="0">
                <a:latin typeface="+mn-ea"/>
                <a:ea typeface="+mn-ea"/>
              </a:rPr>
              <a:t>目录</a:t>
            </a:r>
          </a:p>
        </p:txBody>
      </p:sp>
      <p:sp>
        <p:nvSpPr>
          <p:cNvPr id="29" name="文本框 28"/>
          <p:cNvSpPr txBox="1"/>
          <p:nvPr>
            <p:custDataLst>
              <p:tags r:id="rId5"/>
            </p:custDataLst>
          </p:nvPr>
        </p:nvSpPr>
        <p:spPr>
          <a:xfrm>
            <a:off x="519356" y="3592344"/>
            <a:ext cx="2723823" cy="369332"/>
          </a:xfrm>
          <a:prstGeom prst="rect">
            <a:avLst/>
          </a:prstGeom>
          <a:noFill/>
        </p:spPr>
        <p:txBody>
          <a:bodyPr wrap="none" rtlCol="0">
            <a:spAutoFit/>
          </a:bodyPr>
          <a:lstStyle/>
          <a:p>
            <a:r>
              <a:rPr lang="zh-CN" altLang="en-US" sz="1800" b="1" dirty="0" smtClean="0">
                <a:solidFill>
                  <a:srgbClr val="FF0000"/>
                </a:solidFill>
                <a:latin typeface="+mn-ea"/>
                <a:ea typeface="+mn-ea"/>
              </a:rPr>
              <a:t>基于价值的强化学习算法</a:t>
            </a:r>
            <a:endParaRPr lang="zh-CN" altLang="en-US" sz="1800" b="1" dirty="0">
              <a:solidFill>
                <a:srgbClr val="FF0000"/>
              </a:solidFill>
              <a:latin typeface="+mn-ea"/>
              <a:ea typeface="+mn-ea"/>
            </a:endParaRPr>
          </a:p>
        </p:txBody>
      </p:sp>
    </p:spTree>
    <p:extLst>
      <p:ext uri="{BB962C8B-B14F-4D97-AF65-F5344CB8AC3E}">
        <p14:creationId xmlns:p14="http://schemas.microsoft.com/office/powerpoint/2010/main" val="1507629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DD6EE8E7-BC57-4253-A310-EE088D3A2392}"/>
              </a:ext>
            </a:extLst>
          </p:cNvPr>
          <p:cNvSpPr/>
          <p:nvPr/>
        </p:nvSpPr>
        <p:spPr>
          <a:xfrm>
            <a:off x="600528" y="965606"/>
            <a:ext cx="7715888" cy="523220"/>
          </a:xfrm>
          <a:prstGeom prst="rect">
            <a:avLst/>
          </a:prstGeom>
        </p:spPr>
        <p:txBody>
          <a:bodyPr wrap="square">
            <a:spAutoFit/>
          </a:bodyPr>
          <a:lstStyle/>
          <a:p>
            <a:pPr algn="just"/>
            <a:r>
              <a:rPr lang="zh-CN" altLang="en-US" dirty="0">
                <a:latin typeface="+mn-ea"/>
                <a:ea typeface="+mn-ea"/>
                <a:cs typeface="Times New Roman" panose="02020603050405020304" pitchFamily="18" charset="0"/>
              </a:rPr>
              <a:t>在策略评估动态规划法的基础上，每次迭代只对一个状态进行策略评估和策略优化，就可以得到算法</a:t>
            </a:r>
            <a:r>
              <a:rPr lang="en-US" altLang="zh-CN" dirty="0">
                <a:latin typeface="+mn-ea"/>
                <a:ea typeface="+mn-ea"/>
                <a:cs typeface="Times New Roman" panose="02020603050405020304" pitchFamily="18" charset="0"/>
              </a:rPr>
              <a:t>6.5</a:t>
            </a:r>
            <a:r>
              <a:rPr lang="zh-CN" altLang="en-US" dirty="0">
                <a:latin typeface="+mn-ea"/>
                <a:ea typeface="+mn-ea"/>
                <a:cs typeface="Times New Roman" panose="02020603050405020304" pitchFamily="18" charset="0"/>
              </a:rPr>
              <a:t>，这个算法被称为价值迭代（</a:t>
            </a:r>
            <a:r>
              <a:rPr lang="en-US" altLang="zh-CN" dirty="0">
                <a:latin typeface="+mn-ea"/>
                <a:ea typeface="+mn-ea"/>
                <a:cs typeface="Times New Roman" panose="02020603050405020304" pitchFamily="18" charset="0"/>
              </a:rPr>
              <a:t>value iteration</a:t>
            </a:r>
            <a:r>
              <a:rPr lang="zh-CN" altLang="en-US" dirty="0">
                <a:latin typeface="+mn-ea"/>
                <a:ea typeface="+mn-ea"/>
                <a:cs typeface="Times New Roman" panose="02020603050405020304" pitchFamily="18" charset="0"/>
              </a:rPr>
              <a:t>）算法</a:t>
            </a:r>
          </a:p>
        </p:txBody>
      </p:sp>
      <p:pic>
        <p:nvPicPr>
          <p:cNvPr id="8" name="图片 7">
            <a:extLst>
              <a:ext uri="{FF2B5EF4-FFF2-40B4-BE49-F238E27FC236}">
                <a16:creationId xmlns:a16="http://schemas.microsoft.com/office/drawing/2014/main" id="{DB67C574-8779-486A-914A-0071215E74B6}"/>
              </a:ext>
            </a:extLst>
          </p:cNvPr>
          <p:cNvPicPr>
            <a:picLocks noChangeAspect="1"/>
          </p:cNvPicPr>
          <p:nvPr/>
        </p:nvPicPr>
        <p:blipFill rotWithShape="1">
          <a:blip r:embed="rId3"/>
          <a:srcRect r="28072"/>
          <a:stretch/>
        </p:blipFill>
        <p:spPr>
          <a:xfrm>
            <a:off x="3625695" y="1491202"/>
            <a:ext cx="5264977" cy="3652298"/>
          </a:xfrm>
          <a:prstGeom prst="rect">
            <a:avLst/>
          </a:prstGeom>
        </p:spPr>
      </p:pic>
      <p:grpSp>
        <p:nvGrpSpPr>
          <p:cNvPr id="10" name="组合 9">
            <a:extLst>
              <a:ext uri="{FF2B5EF4-FFF2-40B4-BE49-F238E27FC236}">
                <a16:creationId xmlns:a16="http://schemas.microsoft.com/office/drawing/2014/main" id="{1DFB6B1F-7C0D-D37F-549F-1CFEED7FCDFC}"/>
              </a:ext>
            </a:extLst>
          </p:cNvPr>
          <p:cNvGrpSpPr/>
          <p:nvPr/>
        </p:nvGrpSpPr>
        <p:grpSpPr>
          <a:xfrm>
            <a:off x="611560" y="483518"/>
            <a:ext cx="5598290" cy="373451"/>
            <a:chOff x="4099943" y="2819853"/>
            <a:chExt cx="2570275" cy="497934"/>
          </a:xfrm>
        </p:grpSpPr>
        <p:sp>
          <p:nvSpPr>
            <p:cNvPr id="11" name="平行四边形 10">
              <a:extLst>
                <a:ext uri="{FF2B5EF4-FFF2-40B4-BE49-F238E27FC236}">
                  <a16:creationId xmlns:a16="http://schemas.microsoft.com/office/drawing/2014/main" id="{0951D62B-D0AB-50EC-1AD0-A9FB316C4A4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2" name="平行四边形 11">
              <a:extLst>
                <a:ext uri="{FF2B5EF4-FFF2-40B4-BE49-F238E27FC236}">
                  <a16:creationId xmlns:a16="http://schemas.microsoft.com/office/drawing/2014/main" id="{B4BC20F4-B0D8-1558-F12A-6332E44C702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3" name="矩形 12">
              <a:extLst>
                <a:ext uri="{FF2B5EF4-FFF2-40B4-BE49-F238E27FC236}">
                  <a16:creationId xmlns:a16="http://schemas.microsoft.com/office/drawing/2014/main" id="{3D5AF94B-3A2A-FD94-C2FF-12F0BD7E6076}"/>
                </a:ext>
              </a:extLst>
            </p:cNvPr>
            <p:cNvSpPr/>
            <p:nvPr/>
          </p:nvSpPr>
          <p:spPr>
            <a:xfrm>
              <a:off x="4216534" y="2853798"/>
              <a:ext cx="2359684" cy="430886"/>
            </a:xfrm>
            <a:prstGeom prst="rect">
              <a:avLst/>
            </a:prstGeom>
          </p:spPr>
          <p:txBody>
            <a:bodyPr wrap="square">
              <a:spAutoFit/>
            </a:bodyPr>
            <a:lstStyle/>
            <a:p>
              <a:pPr algn="ctr"/>
              <a:r>
                <a:rPr lang="zh-CN" altLang="en-US" sz="15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基于</a:t>
              </a:r>
              <a:r>
                <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价值的强化学习算法</a:t>
              </a:r>
            </a:p>
          </p:txBody>
        </p:sp>
      </p:grpSp>
      <p:pic>
        <p:nvPicPr>
          <p:cNvPr id="9" name="图片 8">
            <a:extLst>
              <a:ext uri="{FF2B5EF4-FFF2-40B4-BE49-F238E27FC236}">
                <a16:creationId xmlns:a16="http://schemas.microsoft.com/office/drawing/2014/main" id="{5E40612E-05E3-4FBE-ADB3-A73207570049}"/>
              </a:ext>
            </a:extLst>
          </p:cNvPr>
          <p:cNvPicPr>
            <a:picLocks noChangeAspect="1"/>
          </p:cNvPicPr>
          <p:nvPr/>
        </p:nvPicPr>
        <p:blipFill rotWithShape="1">
          <a:blip r:embed="rId4"/>
          <a:srcRect r="44932"/>
          <a:stretch/>
        </p:blipFill>
        <p:spPr>
          <a:xfrm>
            <a:off x="107504" y="1619914"/>
            <a:ext cx="3605434" cy="3053219"/>
          </a:xfrm>
          <a:prstGeom prst="rect">
            <a:avLst/>
          </a:prstGeom>
        </p:spPr>
      </p:pic>
    </p:spTree>
    <p:extLst>
      <p:ext uri="{BB962C8B-B14F-4D97-AF65-F5344CB8AC3E}">
        <p14:creationId xmlns:p14="http://schemas.microsoft.com/office/powerpoint/2010/main" val="2838373884"/>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C035EA0-1A03-406C-A041-5FEC5AB5CDC7}"/>
              </a:ext>
            </a:extLst>
          </p:cNvPr>
          <p:cNvSpPr/>
          <p:nvPr/>
        </p:nvSpPr>
        <p:spPr>
          <a:xfrm>
            <a:off x="280757" y="2905965"/>
            <a:ext cx="3691533" cy="415498"/>
          </a:xfrm>
          <a:prstGeom prst="rect">
            <a:avLst/>
          </a:prstGeom>
        </p:spPr>
        <p:txBody>
          <a:bodyPr wrap="square">
            <a:spAutoFit/>
          </a:bodyPr>
          <a:lstStyle/>
          <a:p>
            <a:r>
              <a:rPr lang="en-US" altLang="zh-CN" sz="1050" dirty="0">
                <a:latin typeface="+mn-ea"/>
                <a:ea typeface="+mn-ea"/>
                <a:cs typeface="Times New Roman" panose="02020603050405020304" pitchFamily="18" charset="0"/>
              </a:rPr>
              <a:t/>
            </a:r>
            <a:br>
              <a:rPr lang="en-US" altLang="zh-CN" sz="1050" dirty="0">
                <a:latin typeface="+mn-ea"/>
                <a:ea typeface="+mn-ea"/>
                <a:cs typeface="Times New Roman" panose="02020603050405020304" pitchFamily="18" charset="0"/>
              </a:rPr>
            </a:br>
            <a:endParaRPr lang="en-US" altLang="zh-CN" sz="1050" dirty="0">
              <a:latin typeface="+mn-ea"/>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7C5802E1-E182-4AE6-9E66-86E7B998EF8B}"/>
                  </a:ext>
                </a:extLst>
              </p:cNvPr>
              <p:cNvSpPr/>
              <p:nvPr/>
            </p:nvSpPr>
            <p:spPr>
              <a:xfrm>
                <a:off x="395536" y="4529723"/>
                <a:ext cx="8410317" cy="548548"/>
              </a:xfrm>
              <a:prstGeom prst="rect">
                <a:avLst/>
              </a:prstGeom>
            </p:spPr>
            <p:txBody>
              <a:bodyPr wrap="square">
                <a:spAutoFit/>
              </a:bodyPr>
              <a:lstStyle/>
              <a:p>
                <a:pPr algn="ctr">
                  <a:lnSpc>
                    <a:spcPct val="150000"/>
                  </a:lnSpc>
                </a:pPr>
                <a:r>
                  <a:rPr lang="en-US" altLang="zh-CN" sz="1050" dirty="0">
                    <a:latin typeface="+mn-ea"/>
                    <a:ea typeface="+mn-ea"/>
                    <a:cs typeface="Times New Roman" panose="02020603050405020304" pitchFamily="18" charset="0"/>
                  </a:rPr>
                  <a:t>Q</a:t>
                </a:r>
                <a:r>
                  <a:rPr lang="zh-CN" altLang="zh-CN" sz="1050" dirty="0">
                    <a:latin typeface="+mn-ea"/>
                    <a:ea typeface="+mn-ea"/>
                    <a:cs typeface="Times New Roman" panose="02020603050405020304" pitchFamily="18" charset="0"/>
                  </a:rPr>
                  <a:t>学习中直接记录和更新动作</a:t>
                </a:r>
                <a:r>
                  <a:rPr lang="en-US" altLang="zh-CN" sz="1050" dirty="0">
                    <a:latin typeface="+mn-ea"/>
                    <a:ea typeface="+mn-ea"/>
                    <a:cs typeface="Times New Roman" panose="02020603050405020304" pitchFamily="18" charset="0"/>
                  </a:rPr>
                  <a:t>-</a:t>
                </a:r>
                <a:r>
                  <a:rPr lang="zh-CN" altLang="zh-CN" sz="1050" dirty="0">
                    <a:latin typeface="+mn-ea"/>
                    <a:ea typeface="+mn-ea"/>
                    <a:cs typeface="Times New Roman" panose="02020603050405020304" pitchFamily="18" charset="0"/>
                  </a:rPr>
                  <a:t>价值函数</a:t>
                </a:r>
                <a14:m>
                  <m:oMath xmlns:m="http://schemas.openxmlformats.org/officeDocument/2006/math">
                    <m:sSub>
                      <m:sSubPr>
                        <m:ctrlPr>
                          <a:rPr lang="zh-CN" altLang="zh-CN" sz="1050" i="1">
                            <a:latin typeface="Cambria Math" panose="02040503050406030204" pitchFamily="18" charset="0"/>
                            <a:ea typeface="+mn-ea"/>
                            <a:cs typeface="Times New Roman" panose="02020603050405020304" pitchFamily="18" charset="0"/>
                          </a:rPr>
                        </m:ctrlPr>
                      </m:sSubPr>
                      <m:e>
                        <m:r>
                          <m:rPr>
                            <m:sty m:val="p"/>
                          </m:rPr>
                          <a:rPr lang="en-US" altLang="zh-CN" sz="1050" b="0" i="1">
                            <a:latin typeface="Cambria Math" panose="02040503050406030204" pitchFamily="18" charset="0"/>
                            <a:ea typeface="+mn-ea"/>
                            <a:cs typeface="Times New Roman" panose="02020603050405020304" pitchFamily="18" charset="0"/>
                          </a:rPr>
                          <m:t>q</m:t>
                        </m:r>
                      </m:e>
                      <m:sub>
                        <m:r>
                          <m:rPr>
                            <m:sty m:val="p"/>
                          </m:rPr>
                          <a:rPr lang="en-US" altLang="zh-CN" sz="1050" b="0" i="1">
                            <a:latin typeface="Cambria Math" panose="02040503050406030204" pitchFamily="18" charset="0"/>
                            <a:ea typeface="+mn-ea"/>
                            <a:cs typeface="Times New Roman" panose="02020603050405020304" pitchFamily="18" charset="0"/>
                          </a:rPr>
                          <m:t>π</m:t>
                        </m:r>
                      </m:sub>
                    </m:sSub>
                  </m:oMath>
                </a14:m>
                <a:r>
                  <a:rPr lang="zh-CN" altLang="zh-CN" sz="1050" dirty="0">
                    <a:latin typeface="+mn-ea"/>
                    <a:ea typeface="+mn-ea"/>
                    <a:cs typeface="Times New Roman" panose="02020603050405020304" pitchFamily="18" charset="0"/>
                  </a:rPr>
                  <a:t>而不是价值函数</a:t>
                </a:r>
                <a14:m>
                  <m:oMath xmlns:m="http://schemas.openxmlformats.org/officeDocument/2006/math">
                    <m:sSub>
                      <m:sSubPr>
                        <m:ctrlPr>
                          <a:rPr lang="zh-CN" altLang="zh-CN" sz="1050" i="1">
                            <a:latin typeface="Cambria Math" panose="02040503050406030204" pitchFamily="18" charset="0"/>
                            <a:ea typeface="+mn-ea"/>
                            <a:cs typeface="Times New Roman" panose="02020603050405020304" pitchFamily="18" charset="0"/>
                          </a:rPr>
                        </m:ctrlPr>
                      </m:sSubPr>
                      <m:e>
                        <m:r>
                          <m:rPr>
                            <m:sty m:val="p"/>
                          </m:rPr>
                          <a:rPr lang="en-US" altLang="zh-CN" sz="1050" b="0" i="1">
                            <a:latin typeface="Cambria Math" panose="02040503050406030204" pitchFamily="18" charset="0"/>
                            <a:ea typeface="+mn-ea"/>
                            <a:cs typeface="Times New Roman" panose="02020603050405020304" pitchFamily="18" charset="0"/>
                          </a:rPr>
                          <m:t>V</m:t>
                        </m:r>
                      </m:e>
                      <m:sub>
                        <m:r>
                          <m:rPr>
                            <m:sty m:val="p"/>
                          </m:rPr>
                          <a:rPr lang="en-US" altLang="zh-CN" sz="1050" b="0" i="1">
                            <a:latin typeface="Cambria Math" panose="02040503050406030204" pitchFamily="18" charset="0"/>
                            <a:ea typeface="+mn-ea"/>
                            <a:cs typeface="Times New Roman" panose="02020603050405020304" pitchFamily="18" charset="0"/>
                          </a:rPr>
                          <m:t>π</m:t>
                        </m:r>
                      </m:sub>
                    </m:sSub>
                  </m:oMath>
                </a14:m>
                <a:r>
                  <a:rPr lang="zh-CN" altLang="zh-CN" sz="1050" dirty="0">
                    <a:latin typeface="+mn-ea"/>
                    <a:ea typeface="+mn-ea"/>
                    <a:cs typeface="Times New Roman" panose="02020603050405020304" pitchFamily="18" charset="0"/>
                  </a:rPr>
                  <a:t>，这是因为策略优化要求已知动作</a:t>
                </a:r>
                <a:r>
                  <a:rPr lang="en-US" altLang="zh-CN" sz="1050" dirty="0">
                    <a:latin typeface="+mn-ea"/>
                    <a:ea typeface="+mn-ea"/>
                    <a:cs typeface="Times New Roman" panose="02020603050405020304" pitchFamily="18" charset="0"/>
                  </a:rPr>
                  <a:t>-</a:t>
                </a:r>
                <a:r>
                  <a:rPr lang="zh-CN" altLang="zh-CN" sz="1050" dirty="0">
                    <a:latin typeface="+mn-ea"/>
                    <a:ea typeface="+mn-ea"/>
                    <a:cs typeface="Times New Roman" panose="02020603050405020304" pitchFamily="18" charset="0"/>
                  </a:rPr>
                  <a:t>价值函数</a:t>
                </a:r>
                <a14:m>
                  <m:oMath xmlns:m="http://schemas.openxmlformats.org/officeDocument/2006/math">
                    <m:sSub>
                      <m:sSubPr>
                        <m:ctrlPr>
                          <a:rPr lang="zh-CN" altLang="zh-CN" sz="1050" i="1">
                            <a:latin typeface="Cambria Math" panose="02040503050406030204" pitchFamily="18" charset="0"/>
                            <a:ea typeface="+mn-ea"/>
                            <a:cs typeface="Times New Roman" panose="02020603050405020304" pitchFamily="18" charset="0"/>
                          </a:rPr>
                        </m:ctrlPr>
                      </m:sSubPr>
                      <m:e>
                        <m:r>
                          <m:rPr>
                            <m:sty m:val="p"/>
                          </m:rPr>
                          <a:rPr lang="en-US" altLang="zh-CN" sz="1050" b="0" i="1">
                            <a:latin typeface="Cambria Math" panose="02040503050406030204" pitchFamily="18" charset="0"/>
                            <a:ea typeface="+mn-ea"/>
                            <a:cs typeface="Times New Roman" panose="02020603050405020304" pitchFamily="18" charset="0"/>
                          </a:rPr>
                          <m:t>q</m:t>
                        </m:r>
                      </m:e>
                      <m:sub>
                        <m:r>
                          <m:rPr>
                            <m:sty m:val="p"/>
                          </m:rPr>
                          <a:rPr lang="en-US" altLang="zh-CN" sz="1050" b="0" i="1">
                            <a:latin typeface="Cambria Math" panose="02040503050406030204" pitchFamily="18" charset="0"/>
                            <a:ea typeface="+mn-ea"/>
                            <a:cs typeface="Times New Roman" panose="02020603050405020304" pitchFamily="18" charset="0"/>
                          </a:rPr>
                          <m:t>π</m:t>
                        </m:r>
                      </m:sub>
                    </m:sSub>
                  </m:oMath>
                </a14:m>
                <a:r>
                  <a:rPr lang="zh-CN" altLang="zh-CN" sz="1050" dirty="0">
                    <a:latin typeface="+mn-ea"/>
                    <a:ea typeface="+mn-ea"/>
                    <a:cs typeface="Times New Roman" panose="02020603050405020304" pitchFamily="18" charset="0"/>
                  </a:rPr>
                  <a:t>，如果算法仍然记录价值函数</a:t>
                </a:r>
                <a14:m>
                  <m:oMath xmlns:m="http://schemas.openxmlformats.org/officeDocument/2006/math">
                    <m:sSub>
                      <m:sSubPr>
                        <m:ctrlPr>
                          <a:rPr lang="zh-CN" altLang="zh-CN" sz="1050" i="1">
                            <a:latin typeface="Cambria Math" panose="02040503050406030204" pitchFamily="18" charset="0"/>
                            <a:ea typeface="+mn-ea"/>
                            <a:cs typeface="Times New Roman" panose="02020603050405020304" pitchFamily="18" charset="0"/>
                          </a:rPr>
                        </m:ctrlPr>
                      </m:sSubPr>
                      <m:e>
                        <m:r>
                          <m:rPr>
                            <m:sty m:val="p"/>
                          </m:rPr>
                          <a:rPr lang="en-US" altLang="zh-CN" sz="1050" b="0" i="1">
                            <a:latin typeface="Cambria Math" panose="02040503050406030204" pitchFamily="18" charset="0"/>
                            <a:ea typeface="+mn-ea"/>
                            <a:cs typeface="Times New Roman" panose="02020603050405020304" pitchFamily="18" charset="0"/>
                          </a:rPr>
                          <m:t>V</m:t>
                        </m:r>
                      </m:e>
                      <m:sub>
                        <m:r>
                          <m:rPr>
                            <m:sty m:val="p"/>
                          </m:rPr>
                          <a:rPr lang="en-US" altLang="zh-CN" sz="1050" b="0" i="1">
                            <a:latin typeface="Cambria Math" panose="02040503050406030204" pitchFamily="18" charset="0"/>
                            <a:ea typeface="+mn-ea"/>
                            <a:cs typeface="Times New Roman" panose="02020603050405020304" pitchFamily="18" charset="0"/>
                          </a:rPr>
                          <m:t>π</m:t>
                        </m:r>
                      </m:sub>
                    </m:sSub>
                  </m:oMath>
                </a14:m>
                <a:r>
                  <a:rPr lang="zh-CN" altLang="zh-CN" sz="1050" dirty="0">
                    <a:latin typeface="+mn-ea"/>
                    <a:ea typeface="+mn-ea"/>
                    <a:cs typeface="Times New Roman" panose="02020603050405020304" pitchFamily="18" charset="0"/>
                  </a:rPr>
                  <a:t>，在不知道状态转移概率的情况下将无法求出</a:t>
                </a:r>
                <a14:m>
                  <m:oMath xmlns:m="http://schemas.openxmlformats.org/officeDocument/2006/math">
                    <m:sSub>
                      <m:sSubPr>
                        <m:ctrlPr>
                          <a:rPr lang="zh-CN" altLang="zh-CN" sz="1050" i="1">
                            <a:latin typeface="Cambria Math" panose="02040503050406030204" pitchFamily="18" charset="0"/>
                            <a:ea typeface="+mn-ea"/>
                            <a:cs typeface="Times New Roman" panose="02020603050405020304" pitchFamily="18" charset="0"/>
                          </a:rPr>
                        </m:ctrlPr>
                      </m:sSubPr>
                      <m:e>
                        <m:r>
                          <m:rPr>
                            <m:sty m:val="p"/>
                          </m:rPr>
                          <a:rPr lang="en-US" altLang="zh-CN" sz="1050" b="0" i="1">
                            <a:latin typeface="Cambria Math" panose="02040503050406030204" pitchFamily="18" charset="0"/>
                            <a:ea typeface="+mn-ea"/>
                            <a:cs typeface="Times New Roman" panose="02020603050405020304" pitchFamily="18" charset="0"/>
                          </a:rPr>
                          <m:t>q</m:t>
                        </m:r>
                      </m:e>
                      <m:sub>
                        <m:r>
                          <m:rPr>
                            <m:sty m:val="p"/>
                          </m:rPr>
                          <a:rPr lang="en-US" altLang="zh-CN" sz="1050" b="0" i="1">
                            <a:latin typeface="Cambria Math" panose="02040503050406030204" pitchFamily="18" charset="0"/>
                            <a:ea typeface="+mn-ea"/>
                            <a:cs typeface="Times New Roman" panose="02020603050405020304" pitchFamily="18" charset="0"/>
                          </a:rPr>
                          <m:t>π</m:t>
                        </m:r>
                      </m:sub>
                    </m:sSub>
                  </m:oMath>
                </a14:m>
                <a:r>
                  <a:rPr lang="zh-CN" altLang="zh-CN" sz="1050" dirty="0">
                    <a:latin typeface="+mn-ea"/>
                    <a:ea typeface="+mn-ea"/>
                    <a:cs typeface="Times New Roman" panose="02020603050405020304" pitchFamily="18" charset="0"/>
                  </a:rPr>
                  <a:t>。</a:t>
                </a:r>
                <a:r>
                  <a:rPr lang="zh-CN" altLang="en-US" sz="1050" dirty="0">
                    <a:latin typeface="+mn-ea"/>
                    <a:ea typeface="+mn-ea"/>
                    <a:cs typeface="Times New Roman" panose="02020603050405020304" pitchFamily="18" charset="0"/>
                  </a:rPr>
                  <a:t>于是，</a:t>
                </a:r>
                <a:r>
                  <a:rPr lang="en-US" altLang="zh-CN" sz="1050" dirty="0">
                    <a:latin typeface="+mn-ea"/>
                    <a:ea typeface="+mn-ea"/>
                    <a:cs typeface="Times New Roman" panose="02020603050405020304" pitchFamily="18" charset="0"/>
                  </a:rPr>
                  <a:t>Q</a:t>
                </a:r>
                <a:r>
                  <a:rPr lang="zh-CN" altLang="en-US" sz="1050" dirty="0">
                    <a:latin typeface="+mn-ea"/>
                    <a:ea typeface="+mn-ea"/>
                    <a:cs typeface="Times New Roman" panose="02020603050405020304" pitchFamily="18" charset="0"/>
                  </a:rPr>
                  <a:t>学习中，只有动作</a:t>
                </a:r>
                <a:r>
                  <a:rPr lang="en-US" altLang="zh-CN" sz="1050" dirty="0">
                    <a:latin typeface="+mn-ea"/>
                    <a:ea typeface="+mn-ea"/>
                    <a:cs typeface="Times New Roman" panose="02020603050405020304" pitchFamily="18" charset="0"/>
                  </a:rPr>
                  <a:t>-</a:t>
                </a:r>
                <a:r>
                  <a:rPr lang="zh-CN" altLang="en-US" sz="1050" dirty="0">
                    <a:latin typeface="+mn-ea"/>
                    <a:ea typeface="+mn-ea"/>
                    <a:cs typeface="Times New Roman" panose="02020603050405020304" pitchFamily="18" charset="0"/>
                  </a:rPr>
                  <a:t>价值函数（即</a:t>
                </a:r>
                <a:r>
                  <a:rPr lang="en-US" altLang="zh-CN" sz="1050" dirty="0">
                    <a:latin typeface="+mn-ea"/>
                    <a:ea typeface="+mn-ea"/>
                    <a:cs typeface="Times New Roman" panose="02020603050405020304" pitchFamily="18" charset="0"/>
                  </a:rPr>
                  <a:t>q</a:t>
                </a:r>
                <a:r>
                  <a:rPr lang="zh-CN" altLang="en-US" sz="1050" dirty="0">
                    <a:latin typeface="+mn-ea"/>
                    <a:ea typeface="+mn-ea"/>
                    <a:cs typeface="Times New Roman" panose="02020603050405020304" pitchFamily="18" charset="0"/>
                  </a:rPr>
                  <a:t>函数）参与计算。</a:t>
                </a:r>
                <a:endParaRPr lang="zh-CN" altLang="zh-CN" sz="1050" dirty="0">
                  <a:latin typeface="+mn-ea"/>
                  <a:ea typeface="+mn-ea"/>
                  <a:cs typeface="Times New Roman" panose="02020603050405020304" pitchFamily="18" charset="0"/>
                </a:endParaRPr>
              </a:p>
            </p:txBody>
          </p:sp>
        </mc:Choice>
        <mc:Fallback xmlns="">
          <p:sp>
            <p:nvSpPr>
              <p:cNvPr id="40" name="矩形 39">
                <a:extLst>
                  <a:ext uri="{FF2B5EF4-FFF2-40B4-BE49-F238E27FC236}">
                    <a16:creationId xmlns:a16="http://schemas.microsoft.com/office/drawing/2014/main" id="{7C5802E1-E182-4AE6-9E66-86E7B998EF8B}"/>
                  </a:ext>
                </a:extLst>
              </p:cNvPr>
              <p:cNvSpPr>
                <a:spLocks noRot="1" noChangeAspect="1" noMove="1" noResize="1" noEditPoints="1" noAdjustHandles="1" noChangeArrowheads="1" noChangeShapeType="1" noTextEdit="1"/>
              </p:cNvSpPr>
              <p:nvPr/>
            </p:nvSpPr>
            <p:spPr>
              <a:xfrm>
                <a:off x="395536" y="4529723"/>
                <a:ext cx="8410317" cy="548548"/>
              </a:xfrm>
              <a:prstGeom prst="rect">
                <a:avLst/>
              </a:prstGeom>
              <a:blipFill>
                <a:blip r:embed="rId3"/>
                <a:stretch>
                  <a:fillRect l="-652" r="-580" b="-5556"/>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419C79AE-DDB6-4970-8896-5BAA42704DC9}"/>
              </a:ext>
            </a:extLst>
          </p:cNvPr>
          <p:cNvPicPr>
            <a:picLocks noChangeAspect="1"/>
          </p:cNvPicPr>
          <p:nvPr/>
        </p:nvPicPr>
        <p:blipFill rotWithShape="1">
          <a:blip r:embed="rId4"/>
          <a:srcRect r="25643"/>
          <a:stretch/>
        </p:blipFill>
        <p:spPr>
          <a:xfrm>
            <a:off x="4208534" y="755967"/>
            <a:ext cx="4412118" cy="3844455"/>
          </a:xfrm>
          <a:prstGeom prst="rect">
            <a:avLst/>
          </a:prstGeom>
        </p:spPr>
      </p:pic>
      <p:grpSp>
        <p:nvGrpSpPr>
          <p:cNvPr id="7" name="组合 6">
            <a:extLst>
              <a:ext uri="{FF2B5EF4-FFF2-40B4-BE49-F238E27FC236}">
                <a16:creationId xmlns:a16="http://schemas.microsoft.com/office/drawing/2014/main" id="{39818CEC-AE16-363B-9D93-FB6CCF7CBA4A}"/>
              </a:ext>
            </a:extLst>
          </p:cNvPr>
          <p:cNvGrpSpPr/>
          <p:nvPr/>
        </p:nvGrpSpPr>
        <p:grpSpPr>
          <a:xfrm>
            <a:off x="611560" y="483518"/>
            <a:ext cx="5598290" cy="373451"/>
            <a:chOff x="4099943" y="2819853"/>
            <a:chExt cx="2570275" cy="497934"/>
          </a:xfrm>
        </p:grpSpPr>
        <p:sp>
          <p:nvSpPr>
            <p:cNvPr id="9" name="平行四边形 8">
              <a:extLst>
                <a:ext uri="{FF2B5EF4-FFF2-40B4-BE49-F238E27FC236}">
                  <a16:creationId xmlns:a16="http://schemas.microsoft.com/office/drawing/2014/main" id="{CABF8ED6-8D81-513E-406E-CA7BAF053D13}"/>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0" name="平行四边形 9">
              <a:extLst>
                <a:ext uri="{FF2B5EF4-FFF2-40B4-BE49-F238E27FC236}">
                  <a16:creationId xmlns:a16="http://schemas.microsoft.com/office/drawing/2014/main" id="{2B74CF10-664C-5E36-58D1-69D64E4CEC8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1" name="矩形 10">
              <a:extLst>
                <a:ext uri="{FF2B5EF4-FFF2-40B4-BE49-F238E27FC236}">
                  <a16:creationId xmlns:a16="http://schemas.microsoft.com/office/drawing/2014/main" id="{19C5085E-695B-C5FF-44D4-9791D89C2153}"/>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mn-ea"/>
                  <a:ea typeface="+mn-ea"/>
                  <a:cs typeface="Times New Roman" panose="02020603050405020304" pitchFamily="18" charset="0"/>
                </a:rPr>
                <a:t> </a:t>
              </a:r>
              <a:r>
                <a:rPr lang="en-US" altLang="zh-CN" sz="1500" dirty="0" smtClean="0">
                  <a:solidFill>
                    <a:srgbClr val="0070C0"/>
                  </a:solidFill>
                  <a:latin typeface="+mn-ea"/>
                  <a:ea typeface="+mn-ea"/>
                  <a:cs typeface="Times New Roman" panose="02020603050405020304" pitchFamily="18" charset="0"/>
                </a:rPr>
                <a:t>Q</a:t>
              </a:r>
              <a:r>
                <a:rPr lang="zh-CN" altLang="en-US" sz="1500" dirty="0">
                  <a:solidFill>
                    <a:srgbClr val="0070C0"/>
                  </a:solidFill>
                  <a:latin typeface="+mn-ea"/>
                  <a:ea typeface="+mn-ea"/>
                  <a:cs typeface="Times New Roman" panose="02020603050405020304" pitchFamily="18" charset="0"/>
                </a:rPr>
                <a:t>学习算法</a:t>
              </a:r>
            </a:p>
          </p:txBody>
        </p:sp>
      </p:grpSp>
      <p:pic>
        <p:nvPicPr>
          <p:cNvPr id="12" name="图片 11">
            <a:extLst>
              <a:ext uri="{FF2B5EF4-FFF2-40B4-BE49-F238E27FC236}">
                <a16:creationId xmlns:a16="http://schemas.microsoft.com/office/drawing/2014/main" id="{45F90B63-4C71-4AC0-9FF4-7C0ACE2EDC97}"/>
              </a:ext>
            </a:extLst>
          </p:cNvPr>
          <p:cNvPicPr>
            <a:picLocks noChangeAspect="1"/>
          </p:cNvPicPr>
          <p:nvPr/>
        </p:nvPicPr>
        <p:blipFill rotWithShape="1">
          <a:blip r:embed="rId5"/>
          <a:srcRect r="41828"/>
          <a:stretch/>
        </p:blipFill>
        <p:spPr>
          <a:xfrm>
            <a:off x="302371" y="897405"/>
            <a:ext cx="3906541" cy="3584366"/>
          </a:xfrm>
          <a:prstGeom prst="rect">
            <a:avLst/>
          </a:prstGeom>
        </p:spPr>
      </p:pic>
      <p:sp>
        <p:nvSpPr>
          <p:cNvPr id="2" name="矩形 1"/>
          <p:cNvSpPr/>
          <p:nvPr/>
        </p:nvSpPr>
        <p:spPr>
          <a:xfrm>
            <a:off x="6588224" y="3507854"/>
            <a:ext cx="1578509" cy="276999"/>
          </a:xfrm>
          <a:prstGeom prst="rect">
            <a:avLst/>
          </a:prstGeom>
        </p:spPr>
        <p:txBody>
          <a:bodyPr wrap="none">
            <a:spAutoFit/>
          </a:bodyPr>
          <a:lstStyle/>
          <a:p>
            <a:r>
              <a:rPr lang="en-US" altLang="zh-CN" sz="1200" b="1" dirty="0">
                <a:solidFill>
                  <a:srgbClr val="FF0000"/>
                </a:solidFill>
                <a:latin typeface="Microsoft YaHei" panose="020B0503020204020204" pitchFamily="34" charset="-122"/>
                <a:ea typeface="Microsoft YaHei" panose="020B0503020204020204" pitchFamily="34" charset="-122"/>
              </a:rPr>
              <a:t>Off-Policy (</a:t>
            </a:r>
            <a:r>
              <a:rPr lang="zh-CN" altLang="en-US" sz="1200" b="1" dirty="0">
                <a:solidFill>
                  <a:srgbClr val="FF0000"/>
                </a:solidFill>
                <a:latin typeface="Microsoft YaHei" panose="020B0503020204020204" pitchFamily="34" charset="-122"/>
                <a:ea typeface="Microsoft YaHei" panose="020B0503020204020204" pitchFamily="34" charset="-122"/>
              </a:rPr>
              <a:t>异策略</a:t>
            </a:r>
            <a:r>
              <a:rPr lang="en-US" altLang="zh-CN" sz="1200" b="1" dirty="0">
                <a:solidFill>
                  <a:srgbClr val="FF0000"/>
                </a:solidFill>
                <a:latin typeface="Microsoft YaHei" panose="020B0503020204020204" pitchFamily="34" charset="-122"/>
                <a:ea typeface="Microsoft YaHei" panose="020B0503020204020204" pitchFamily="34" charset="-122"/>
              </a:rPr>
              <a:t>)</a:t>
            </a:r>
            <a:endParaRPr lang="en-US" altLang="zh-CN" sz="1200" b="1" i="0" dirty="0">
              <a:solidFill>
                <a:srgbClr val="FF0000"/>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788888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F384184-6A19-4348-BA6E-F09E17659BA3}"/>
              </a:ext>
            </a:extLst>
          </p:cNvPr>
          <p:cNvPicPr>
            <a:picLocks noChangeAspect="1"/>
          </p:cNvPicPr>
          <p:nvPr/>
        </p:nvPicPr>
        <p:blipFill rotWithShape="1">
          <a:blip r:embed="rId3"/>
          <a:srcRect r="66333" b="53333"/>
          <a:stretch/>
        </p:blipFill>
        <p:spPr>
          <a:xfrm>
            <a:off x="6209850" y="1683551"/>
            <a:ext cx="2736304" cy="2611927"/>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A6F7826-0E49-4A7B-89C9-CF8AE80098F7}"/>
                  </a:ext>
                </a:extLst>
              </p:cNvPr>
              <p:cNvSpPr/>
              <p:nvPr/>
            </p:nvSpPr>
            <p:spPr>
              <a:xfrm>
                <a:off x="93538" y="1131590"/>
                <a:ext cx="3672408" cy="3367973"/>
              </a:xfrm>
              <a:prstGeom prst="rect">
                <a:avLst/>
              </a:prstGeom>
            </p:spPr>
            <p:txBody>
              <a:bodyPr wrap="square">
                <a:spAutoFit/>
              </a:bodyPr>
              <a:lstStyle/>
              <a:p>
                <a:pPr marL="214313" indent="-214313" algn="just">
                  <a:lnSpc>
                    <a:spcPct val="150000"/>
                  </a:lnSpc>
                  <a:buFont typeface="Wingdings" panose="05000000000000000000" pitchFamily="2" charset="2"/>
                  <a:buChar char="l"/>
                </a:pPr>
                <a:r>
                  <a:rPr lang="zh-CN" altLang="zh-CN" dirty="0">
                    <a:latin typeface="+mn-ea"/>
                    <a:ea typeface="+mn-ea"/>
                    <a:cs typeface="Times New Roman" panose="02020603050405020304" pitchFamily="18" charset="0"/>
                  </a:rPr>
                  <a:t>图</a:t>
                </a:r>
                <a:r>
                  <a:rPr lang="en-US" altLang="zh-CN" dirty="0">
                    <a:solidFill>
                      <a:srgbClr val="FF0000"/>
                    </a:solidFill>
                    <a:latin typeface="+mn-ea"/>
                    <a:ea typeface="+mn-ea"/>
                    <a:cs typeface="Times New Roman" panose="02020603050405020304" pitchFamily="18" charset="0"/>
                  </a:rPr>
                  <a:t>6.10(a)</a:t>
                </a:r>
                <a:r>
                  <a:rPr lang="zh-CN" altLang="zh-CN" dirty="0">
                    <a:solidFill>
                      <a:srgbClr val="FF0000"/>
                    </a:solidFill>
                    <a:latin typeface="+mn-ea"/>
                    <a:ea typeface="+mn-ea"/>
                    <a:cs typeface="Times New Roman" panose="02020603050405020304" pitchFamily="18" charset="0"/>
                  </a:rPr>
                  <a:t>表示算法的初始状态</a:t>
                </a:r>
                <a:r>
                  <a:rPr lang="zh-CN" altLang="zh-CN" dirty="0">
                    <a:latin typeface="+mn-ea"/>
                    <a:ea typeface="+mn-ea"/>
                    <a:cs typeface="Times New Roman" panose="02020603050405020304" pitchFamily="18" charset="0"/>
                  </a:rPr>
                  <a:t>，其中</a:t>
                </a:r>
                <a14:m>
                  <m:oMath xmlns:m="http://schemas.openxmlformats.org/officeDocument/2006/math">
                    <m:r>
                      <a:rPr lang="en-US" altLang="zh-CN" i="1">
                        <a:latin typeface="Cambria Math" panose="02040503050406030204" pitchFamily="18" charset="0"/>
                        <a:ea typeface="+mn-ea"/>
                        <a:cs typeface="Times New Roman" panose="02020603050405020304" pitchFamily="18" charset="0"/>
                      </a:rPr>
                      <m:t>𝑎</m:t>
                    </m:r>
                    <m:r>
                      <a:rPr lang="en-US" altLang="zh-CN" i="1">
                        <a:latin typeface="Cambria Math" panose="02040503050406030204" pitchFamily="18" charset="0"/>
                        <a:ea typeface="+mn-ea"/>
                        <a:cs typeface="Times New Roman" panose="02020603050405020304" pitchFamily="18" charset="0"/>
                      </a:rPr>
                      <m:t>/</m:t>
                    </m:r>
                    <m:r>
                      <a:rPr lang="en-US" altLang="zh-CN" i="1">
                        <a:latin typeface="Cambria Math" panose="02040503050406030204" pitchFamily="18" charset="0"/>
                        <a:ea typeface="+mn-ea"/>
                        <a:cs typeface="Times New Roman" panose="02020603050405020304" pitchFamily="18" charset="0"/>
                      </a:rPr>
                      <m:t>𝑏</m:t>
                    </m:r>
                  </m:oMath>
                </a14:m>
                <a:r>
                  <a:rPr lang="zh-CN" altLang="zh-CN" dirty="0">
                    <a:latin typeface="+mn-ea"/>
                    <a:ea typeface="+mn-ea"/>
                    <a:cs typeface="Times New Roman" panose="02020603050405020304" pitchFamily="18" charset="0"/>
                  </a:rPr>
                  <a:t>表示对应状态的动作</a:t>
                </a:r>
                <a:r>
                  <a:rPr lang="en-US" altLang="zh-CN" dirty="0">
                    <a:latin typeface="+mn-ea"/>
                    <a:ea typeface="+mn-ea"/>
                    <a:cs typeface="Times New Roman" panose="02020603050405020304" pitchFamily="18" charset="0"/>
                  </a:rPr>
                  <a:t>-</a:t>
                </a:r>
                <a:r>
                  <a:rPr lang="zh-CN" altLang="zh-CN" dirty="0">
                    <a:latin typeface="+mn-ea"/>
                    <a:ea typeface="+mn-ea"/>
                    <a:cs typeface="Times New Roman" panose="02020603050405020304" pitchFamily="18" charset="0"/>
                  </a:rPr>
                  <a:t>价值函数的取值，斜线上方的</a:t>
                </a:r>
                <a14:m>
                  <m:oMath xmlns:m="http://schemas.openxmlformats.org/officeDocument/2006/math">
                    <m:r>
                      <a:rPr lang="en-US" altLang="zh-CN" i="1">
                        <a:latin typeface="Cambria Math" panose="02040503050406030204" pitchFamily="18" charset="0"/>
                        <a:ea typeface="+mn-ea"/>
                        <a:cs typeface="Times New Roman" panose="02020603050405020304" pitchFamily="18" charset="0"/>
                      </a:rPr>
                      <m:t>𝑎</m:t>
                    </m:r>
                  </m:oMath>
                </a14:m>
                <a:r>
                  <a:rPr lang="zh-CN" altLang="zh-CN" dirty="0">
                    <a:latin typeface="+mn-ea"/>
                    <a:ea typeface="+mn-ea"/>
                    <a:cs typeface="Times New Roman" panose="02020603050405020304" pitchFamily="18" charset="0"/>
                  </a:rPr>
                  <a:t>表示</a:t>
                </a:r>
                <a14:m>
                  <m:oMath xmlns:m="http://schemas.openxmlformats.org/officeDocument/2006/math">
                    <m:sSub>
                      <m:sSubPr>
                        <m:ctrlPr>
                          <a:rPr lang="zh-CN" altLang="zh-CN" i="1">
                            <a:latin typeface="Cambria Math" panose="02040503050406030204" pitchFamily="18" charset="0"/>
                            <a:ea typeface="+mn-ea"/>
                            <a:cs typeface="Times New Roman" panose="02020603050405020304" pitchFamily="18" charset="0"/>
                          </a:rPr>
                        </m:ctrlPr>
                      </m:sSubPr>
                      <m:e>
                        <m:r>
                          <a:rPr lang="en-US" altLang="zh-CN" i="1">
                            <a:latin typeface="Cambria Math" panose="02040503050406030204" pitchFamily="18" charset="0"/>
                            <a:ea typeface="+mn-ea"/>
                            <a:cs typeface="Times New Roman" panose="02020603050405020304" pitchFamily="18" charset="0"/>
                          </a:rPr>
                          <m:t>𝑞</m:t>
                        </m:r>
                      </m:e>
                      <m:sub>
                        <m:r>
                          <a:rPr lang="en-US" altLang="zh-CN" i="1">
                            <a:latin typeface="Cambria Math" panose="02040503050406030204" pitchFamily="18" charset="0"/>
                            <a:ea typeface="+mn-ea"/>
                            <a:cs typeface="Times New Roman" panose="02020603050405020304" pitchFamily="18" charset="0"/>
                          </a:rPr>
                          <m:t>𝜋</m:t>
                        </m:r>
                      </m:sub>
                    </m:sSub>
                    <m:d>
                      <m:dPr>
                        <m:ctrlPr>
                          <a:rPr lang="zh-CN" altLang="zh-CN" i="1">
                            <a:latin typeface="Cambria Math" panose="02040503050406030204" pitchFamily="18" charset="0"/>
                            <a:ea typeface="+mn-ea"/>
                            <a:cs typeface="Times New Roman" panose="02020603050405020304" pitchFamily="18" charset="0"/>
                          </a:rPr>
                        </m:ctrlPr>
                      </m:dPr>
                      <m:e>
                        <m:r>
                          <a:rPr lang="en-US" altLang="zh-CN" i="1">
                            <a:latin typeface="Cambria Math" panose="02040503050406030204" pitchFamily="18" charset="0"/>
                            <a:ea typeface="+mn-ea"/>
                            <a:cs typeface="Times New Roman" panose="02020603050405020304" pitchFamily="18" charset="0"/>
                          </a:rPr>
                          <m:t>𝑠</m:t>
                        </m:r>
                        <m:r>
                          <a:rPr lang="en-US" altLang="zh-CN" i="1">
                            <a:latin typeface="Cambria Math" panose="02040503050406030204" pitchFamily="18" charset="0"/>
                            <a:ea typeface="+mn-ea"/>
                            <a:cs typeface="Times New Roman" panose="02020603050405020304" pitchFamily="18" charset="0"/>
                          </a:rPr>
                          <m:t>,</m:t>
                        </m:r>
                        <m:r>
                          <a:rPr lang="zh-CN" altLang="zh-CN">
                            <a:latin typeface="Cambria Math" panose="02040503050406030204" pitchFamily="18" charset="0"/>
                            <a:ea typeface="+mn-ea"/>
                            <a:cs typeface="Times New Roman" panose="02020603050405020304" pitchFamily="18" charset="0"/>
                          </a:rPr>
                          <m:t>上</m:t>
                        </m:r>
                      </m:e>
                    </m:d>
                  </m:oMath>
                </a14:m>
                <a:r>
                  <a:rPr lang="zh-CN" altLang="zh-CN" dirty="0">
                    <a:latin typeface="+mn-ea"/>
                    <a:ea typeface="+mn-ea"/>
                    <a:cs typeface="Times New Roman" panose="02020603050405020304" pitchFamily="18" charset="0"/>
                  </a:rPr>
                  <a:t>，斜线右侧的</a:t>
                </a:r>
                <a14:m>
                  <m:oMath xmlns:m="http://schemas.openxmlformats.org/officeDocument/2006/math">
                    <m:r>
                      <a:rPr lang="en-US" altLang="zh-CN" i="1">
                        <a:latin typeface="Cambria Math" panose="02040503050406030204" pitchFamily="18" charset="0"/>
                        <a:ea typeface="+mn-ea"/>
                        <a:cs typeface="Times New Roman" panose="02020603050405020304" pitchFamily="18" charset="0"/>
                      </a:rPr>
                      <m:t>𝑏</m:t>
                    </m:r>
                  </m:oMath>
                </a14:m>
                <a:r>
                  <a:rPr lang="zh-CN" altLang="zh-CN" dirty="0">
                    <a:latin typeface="+mn-ea"/>
                    <a:ea typeface="+mn-ea"/>
                    <a:cs typeface="Times New Roman" panose="02020603050405020304" pitchFamily="18" charset="0"/>
                  </a:rPr>
                  <a:t>表示</a:t>
                </a:r>
                <a14:m>
                  <m:oMath xmlns:m="http://schemas.openxmlformats.org/officeDocument/2006/math">
                    <m:sSub>
                      <m:sSubPr>
                        <m:ctrlPr>
                          <a:rPr lang="zh-CN" altLang="zh-CN" i="1">
                            <a:latin typeface="Cambria Math" panose="02040503050406030204" pitchFamily="18" charset="0"/>
                            <a:ea typeface="+mn-ea"/>
                            <a:cs typeface="Times New Roman" panose="02020603050405020304" pitchFamily="18" charset="0"/>
                          </a:rPr>
                        </m:ctrlPr>
                      </m:sSubPr>
                      <m:e>
                        <m:r>
                          <a:rPr lang="en-US" altLang="zh-CN" i="1">
                            <a:latin typeface="Cambria Math" panose="02040503050406030204" pitchFamily="18" charset="0"/>
                            <a:ea typeface="+mn-ea"/>
                            <a:cs typeface="Times New Roman" panose="02020603050405020304" pitchFamily="18" charset="0"/>
                          </a:rPr>
                          <m:t>𝑞</m:t>
                        </m:r>
                      </m:e>
                      <m:sub>
                        <m:r>
                          <a:rPr lang="en-US" altLang="zh-CN" i="1">
                            <a:latin typeface="Cambria Math" panose="02040503050406030204" pitchFamily="18" charset="0"/>
                            <a:ea typeface="+mn-ea"/>
                            <a:cs typeface="Times New Roman" panose="02020603050405020304" pitchFamily="18" charset="0"/>
                          </a:rPr>
                          <m:t>𝜋</m:t>
                        </m:r>
                      </m:sub>
                    </m:sSub>
                    <m:d>
                      <m:dPr>
                        <m:ctrlPr>
                          <a:rPr lang="zh-CN" altLang="zh-CN" i="1">
                            <a:latin typeface="Cambria Math" panose="02040503050406030204" pitchFamily="18" charset="0"/>
                            <a:ea typeface="+mn-ea"/>
                            <a:cs typeface="Times New Roman" panose="02020603050405020304" pitchFamily="18" charset="0"/>
                          </a:rPr>
                        </m:ctrlPr>
                      </m:dPr>
                      <m:e>
                        <m:r>
                          <a:rPr lang="en-US" altLang="zh-CN" i="1">
                            <a:latin typeface="Cambria Math" panose="02040503050406030204" pitchFamily="18" charset="0"/>
                            <a:ea typeface="+mn-ea"/>
                            <a:cs typeface="Times New Roman" panose="02020603050405020304" pitchFamily="18" charset="0"/>
                          </a:rPr>
                          <m:t>𝑠</m:t>
                        </m:r>
                        <m:r>
                          <a:rPr lang="en-US" altLang="zh-CN" i="1">
                            <a:latin typeface="Cambria Math" panose="02040503050406030204" pitchFamily="18" charset="0"/>
                            <a:ea typeface="+mn-ea"/>
                            <a:cs typeface="Times New Roman" panose="02020603050405020304" pitchFamily="18" charset="0"/>
                          </a:rPr>
                          <m:t>,</m:t>
                        </m:r>
                        <m:r>
                          <a:rPr lang="zh-CN" altLang="zh-CN">
                            <a:latin typeface="Cambria Math" panose="02040503050406030204" pitchFamily="18" charset="0"/>
                            <a:ea typeface="+mn-ea"/>
                            <a:cs typeface="Times New Roman" panose="02020603050405020304" pitchFamily="18" charset="0"/>
                          </a:rPr>
                          <m:t>右</m:t>
                        </m:r>
                      </m:e>
                    </m:d>
                  </m:oMath>
                </a14:m>
                <a:r>
                  <a:rPr lang="zh-CN" altLang="zh-CN" dirty="0">
                    <a:latin typeface="+mn-ea"/>
                    <a:ea typeface="+mn-ea"/>
                    <a:cs typeface="Times New Roman" panose="02020603050405020304" pitchFamily="18" charset="0"/>
                  </a:rPr>
                  <a:t>。</a:t>
                </a:r>
                <a:endParaRPr lang="en-US" altLang="zh-CN" dirty="0">
                  <a:latin typeface="+mn-ea"/>
                  <a:ea typeface="+mn-ea"/>
                  <a:cs typeface="Times New Roman" panose="02020603050405020304" pitchFamily="18" charset="0"/>
                </a:endParaRPr>
              </a:p>
              <a:p>
                <a:pPr marL="214313" indent="-214313" algn="just">
                  <a:lnSpc>
                    <a:spcPct val="150000"/>
                  </a:lnSpc>
                  <a:buFont typeface="Wingdings" panose="05000000000000000000" pitchFamily="2" charset="2"/>
                  <a:buChar char="l"/>
                </a:pPr>
                <a:r>
                  <a:rPr lang="zh-CN" altLang="zh-CN" dirty="0">
                    <a:latin typeface="+mn-ea"/>
                    <a:ea typeface="+mn-ea"/>
                    <a:cs typeface="Times New Roman" panose="02020603050405020304" pitchFamily="18" charset="0"/>
                  </a:rPr>
                  <a:t>图</a:t>
                </a:r>
                <a:r>
                  <a:rPr lang="en-US" altLang="zh-CN" dirty="0">
                    <a:latin typeface="+mn-ea"/>
                    <a:ea typeface="+mn-ea"/>
                    <a:cs typeface="Times New Roman" panose="02020603050405020304" pitchFamily="18" charset="0"/>
                  </a:rPr>
                  <a:t>6.10(a)</a:t>
                </a:r>
                <a:r>
                  <a:rPr lang="zh-CN" altLang="zh-CN" dirty="0">
                    <a:latin typeface="+mn-ea"/>
                    <a:ea typeface="+mn-ea"/>
                    <a:cs typeface="Times New Roman" panose="02020603050405020304" pitchFamily="18" charset="0"/>
                  </a:rPr>
                  <a:t>中显示除终止状态外的所有的向上的动作</a:t>
                </a:r>
                <a:r>
                  <a:rPr lang="en-US" altLang="zh-CN" dirty="0">
                    <a:latin typeface="+mn-ea"/>
                    <a:ea typeface="+mn-ea"/>
                    <a:cs typeface="Times New Roman" panose="02020603050405020304" pitchFamily="18" charset="0"/>
                  </a:rPr>
                  <a:t>-</a:t>
                </a:r>
                <a:r>
                  <a:rPr lang="zh-CN" altLang="zh-CN" dirty="0">
                    <a:latin typeface="+mn-ea"/>
                    <a:ea typeface="+mn-ea"/>
                    <a:cs typeface="Times New Roman" panose="02020603050405020304" pitchFamily="18" charset="0"/>
                  </a:rPr>
                  <a:t>价值函数值为</a:t>
                </a:r>
                <a14:m>
                  <m:oMath xmlns:m="http://schemas.openxmlformats.org/officeDocument/2006/math">
                    <m:r>
                      <a:rPr lang="en-US" altLang="zh-CN" i="1">
                        <a:latin typeface="Cambria Math" panose="02040503050406030204" pitchFamily="18" charset="0"/>
                        <a:ea typeface="+mn-ea"/>
                        <a:cs typeface="Times New Roman" panose="02020603050405020304" pitchFamily="18" charset="0"/>
                      </a:rPr>
                      <m:t>0.2</m:t>
                    </m:r>
                  </m:oMath>
                </a14:m>
                <a:r>
                  <a:rPr lang="zh-CN" altLang="zh-CN" dirty="0">
                    <a:latin typeface="+mn-ea"/>
                    <a:ea typeface="+mn-ea"/>
                    <a:cs typeface="Times New Roman" panose="02020603050405020304" pitchFamily="18" charset="0"/>
                  </a:rPr>
                  <a:t>，所有向右的动作</a:t>
                </a:r>
                <a:r>
                  <a:rPr lang="en-US" altLang="zh-CN" dirty="0">
                    <a:latin typeface="+mn-ea"/>
                    <a:ea typeface="+mn-ea"/>
                    <a:cs typeface="Times New Roman" panose="02020603050405020304" pitchFamily="18" charset="0"/>
                  </a:rPr>
                  <a:t>-</a:t>
                </a:r>
                <a:r>
                  <a:rPr lang="zh-CN" altLang="zh-CN" dirty="0">
                    <a:latin typeface="+mn-ea"/>
                    <a:ea typeface="+mn-ea"/>
                    <a:cs typeface="Times New Roman" panose="02020603050405020304" pitchFamily="18" charset="0"/>
                  </a:rPr>
                  <a:t>价值函数值为</a:t>
                </a:r>
                <a14:m>
                  <m:oMath xmlns:m="http://schemas.openxmlformats.org/officeDocument/2006/math">
                    <m:r>
                      <a:rPr lang="en-US" altLang="zh-CN" i="1">
                        <a:latin typeface="Cambria Math" panose="02040503050406030204" pitchFamily="18" charset="0"/>
                        <a:ea typeface="+mn-ea"/>
                        <a:cs typeface="Times New Roman" panose="02020603050405020304" pitchFamily="18" charset="0"/>
                      </a:rPr>
                      <m:t>0</m:t>
                    </m:r>
                  </m:oMath>
                </a14:m>
                <a:r>
                  <a:rPr lang="zh-CN" altLang="zh-CN" dirty="0">
                    <a:latin typeface="+mn-ea"/>
                    <a:ea typeface="+mn-ea"/>
                    <a:cs typeface="Times New Roman" panose="02020603050405020304" pitchFamily="18" charset="0"/>
                  </a:rPr>
                  <a:t>。当然，令这些动作</a:t>
                </a:r>
                <a:r>
                  <a:rPr lang="en-US" altLang="zh-CN" dirty="0">
                    <a:latin typeface="+mn-ea"/>
                    <a:ea typeface="+mn-ea"/>
                    <a:cs typeface="Times New Roman" panose="02020603050405020304" pitchFamily="18" charset="0"/>
                  </a:rPr>
                  <a:t>-</a:t>
                </a:r>
                <a:r>
                  <a:rPr lang="zh-CN" altLang="zh-CN" dirty="0">
                    <a:latin typeface="+mn-ea"/>
                    <a:ea typeface="+mn-ea"/>
                    <a:cs typeface="Times New Roman" panose="02020603050405020304" pitchFamily="18" charset="0"/>
                  </a:rPr>
                  <a:t>价值函数的初始值全部为</a:t>
                </a:r>
                <a14:m>
                  <m:oMath xmlns:m="http://schemas.openxmlformats.org/officeDocument/2006/math">
                    <m:r>
                      <a:rPr lang="en-US" altLang="zh-CN" i="1">
                        <a:latin typeface="Cambria Math" panose="02040503050406030204" pitchFamily="18" charset="0"/>
                        <a:ea typeface="+mn-ea"/>
                        <a:cs typeface="Times New Roman" panose="02020603050405020304" pitchFamily="18" charset="0"/>
                      </a:rPr>
                      <m:t>0</m:t>
                    </m:r>
                  </m:oMath>
                </a14:m>
                <a:r>
                  <a:rPr lang="zh-CN" altLang="zh-CN" dirty="0">
                    <a:latin typeface="+mn-ea"/>
                    <a:ea typeface="+mn-ea"/>
                    <a:cs typeface="Times New Roman" panose="02020603050405020304" pitchFamily="18" charset="0"/>
                  </a:rPr>
                  <a:t>也是可以的，图</a:t>
                </a:r>
                <a:r>
                  <a:rPr lang="en-US" altLang="zh-CN" dirty="0">
                    <a:latin typeface="+mn-ea"/>
                    <a:ea typeface="+mn-ea"/>
                    <a:cs typeface="Times New Roman" panose="02020603050405020304" pitchFamily="18" charset="0"/>
                  </a:rPr>
                  <a:t>6.10(a)</a:t>
                </a:r>
                <a:r>
                  <a:rPr lang="zh-CN" altLang="zh-CN" dirty="0">
                    <a:latin typeface="+mn-ea"/>
                    <a:ea typeface="+mn-ea"/>
                    <a:cs typeface="Times New Roman" panose="02020603050405020304" pitchFamily="18" charset="0"/>
                  </a:rPr>
                  <a:t>中所设置的初始值只是为了让这个例子更容易说明策略学习。 </a:t>
                </a:r>
                <a:endParaRPr lang="zh-CN" altLang="en-US" dirty="0">
                  <a:latin typeface="+mn-ea"/>
                  <a:ea typeface="+mn-ea"/>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8A6F7826-0E49-4A7B-89C9-CF8AE80098F7}"/>
                  </a:ext>
                </a:extLst>
              </p:cNvPr>
              <p:cNvSpPr>
                <a:spLocks noRot="1" noChangeAspect="1" noMove="1" noResize="1" noEditPoints="1" noAdjustHandles="1" noChangeArrowheads="1" noChangeShapeType="1" noTextEdit="1"/>
              </p:cNvSpPr>
              <p:nvPr/>
            </p:nvSpPr>
            <p:spPr>
              <a:xfrm>
                <a:off x="93538" y="1131590"/>
                <a:ext cx="3672408" cy="3367973"/>
              </a:xfrm>
              <a:prstGeom prst="rect">
                <a:avLst/>
              </a:prstGeom>
              <a:blipFill>
                <a:blip r:embed="rId4"/>
                <a:stretch>
                  <a:fillRect l="-166" r="-332"/>
                </a:stretch>
              </a:blipFill>
            </p:spPr>
            <p:txBody>
              <a:bodyPr/>
              <a:lstStyle/>
              <a:p>
                <a:r>
                  <a:rPr lang="zh-CN" altLang="en-US">
                    <a:noFill/>
                  </a:rPr>
                  <a:t> </a:t>
                </a:r>
              </a:p>
            </p:txBody>
          </p:sp>
        </mc:Fallback>
      </mc:AlternateContent>
      <p:grpSp>
        <p:nvGrpSpPr>
          <p:cNvPr id="8" name="组合 7">
            <a:extLst>
              <a:ext uri="{FF2B5EF4-FFF2-40B4-BE49-F238E27FC236}">
                <a16:creationId xmlns:a16="http://schemas.microsoft.com/office/drawing/2014/main" id="{44DC1F81-951B-9384-5658-C6A7C2DDF31D}"/>
              </a:ext>
            </a:extLst>
          </p:cNvPr>
          <p:cNvGrpSpPr/>
          <p:nvPr/>
        </p:nvGrpSpPr>
        <p:grpSpPr>
          <a:xfrm>
            <a:off x="611560" y="483518"/>
            <a:ext cx="5598290" cy="373451"/>
            <a:chOff x="4099943" y="2819853"/>
            <a:chExt cx="2570275" cy="497934"/>
          </a:xfrm>
        </p:grpSpPr>
        <p:sp>
          <p:nvSpPr>
            <p:cNvPr id="10" name="平行四边形 9">
              <a:extLst>
                <a:ext uri="{FF2B5EF4-FFF2-40B4-BE49-F238E27FC236}">
                  <a16:creationId xmlns:a16="http://schemas.microsoft.com/office/drawing/2014/main" id="{F71FE016-659C-0D6C-A32C-EF0FECB5B3D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1" name="平行四边形 10">
              <a:extLst>
                <a:ext uri="{FF2B5EF4-FFF2-40B4-BE49-F238E27FC236}">
                  <a16:creationId xmlns:a16="http://schemas.microsoft.com/office/drawing/2014/main" id="{6438B4C1-183C-D7EE-DF16-B5C84A22823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2" name="矩形 11">
              <a:extLst>
                <a:ext uri="{FF2B5EF4-FFF2-40B4-BE49-F238E27FC236}">
                  <a16:creationId xmlns:a16="http://schemas.microsoft.com/office/drawing/2014/main" id="{8A3E4384-6A3A-CF80-2367-2A42919F226F}"/>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mn-ea"/>
                  <a:ea typeface="+mn-ea"/>
                  <a:cs typeface="Times New Roman" panose="02020603050405020304" pitchFamily="18" charset="0"/>
                </a:rPr>
                <a:t> </a:t>
              </a:r>
              <a:r>
                <a:rPr lang="en-US" altLang="zh-CN" sz="1500" dirty="0" smtClean="0">
                  <a:solidFill>
                    <a:srgbClr val="0070C0"/>
                  </a:solidFill>
                  <a:latin typeface="+mn-ea"/>
                  <a:ea typeface="+mn-ea"/>
                  <a:cs typeface="Times New Roman" panose="02020603050405020304" pitchFamily="18" charset="0"/>
                </a:rPr>
                <a:t>Q</a:t>
              </a:r>
              <a:r>
                <a:rPr lang="zh-CN" altLang="en-US" sz="1500" dirty="0">
                  <a:solidFill>
                    <a:srgbClr val="0070C0"/>
                  </a:solidFill>
                  <a:latin typeface="+mn-ea"/>
                  <a:ea typeface="+mn-ea"/>
                  <a:cs typeface="Times New Roman" panose="02020603050405020304" pitchFamily="18" charset="0"/>
                </a:rPr>
                <a:t>学习算法</a:t>
              </a:r>
            </a:p>
          </p:txBody>
        </p:sp>
      </p:grpSp>
      <p:pic>
        <p:nvPicPr>
          <p:cNvPr id="13" name="图片 12">
            <a:extLst>
              <a:ext uri="{FF2B5EF4-FFF2-40B4-BE49-F238E27FC236}">
                <a16:creationId xmlns:a16="http://schemas.microsoft.com/office/drawing/2014/main" id="{1A9E3C52-A420-4586-9360-9430D1501FE1}"/>
              </a:ext>
            </a:extLst>
          </p:cNvPr>
          <p:cNvPicPr>
            <a:picLocks noChangeAspect="1"/>
          </p:cNvPicPr>
          <p:nvPr/>
        </p:nvPicPr>
        <p:blipFill>
          <a:blip r:embed="rId5"/>
          <a:stretch>
            <a:fillRect/>
          </a:stretch>
        </p:blipFill>
        <p:spPr>
          <a:xfrm>
            <a:off x="3732914" y="1683551"/>
            <a:ext cx="2427733" cy="2548117"/>
          </a:xfrm>
          <a:prstGeom prst="rect">
            <a:avLst/>
          </a:prstGeom>
        </p:spPr>
      </p:pic>
    </p:spTree>
    <p:extLst>
      <p:ext uri="{BB962C8B-B14F-4D97-AF65-F5344CB8AC3E}">
        <p14:creationId xmlns:p14="http://schemas.microsoft.com/office/powerpoint/2010/main" val="290551601"/>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F384184-6A19-4348-BA6E-F09E17659BA3}"/>
              </a:ext>
            </a:extLst>
          </p:cNvPr>
          <p:cNvPicPr>
            <a:picLocks noChangeAspect="1"/>
          </p:cNvPicPr>
          <p:nvPr/>
        </p:nvPicPr>
        <p:blipFill rotWithShape="1">
          <a:blip r:embed="rId3"/>
          <a:srcRect r="31994" b="52174"/>
          <a:stretch/>
        </p:blipFill>
        <p:spPr>
          <a:xfrm>
            <a:off x="3967421" y="2643758"/>
            <a:ext cx="5161621" cy="2499742"/>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0C8C11F-7513-4537-A52A-1949D7DDC294}"/>
                  </a:ext>
                </a:extLst>
              </p:cNvPr>
              <p:cNvSpPr/>
              <p:nvPr/>
            </p:nvSpPr>
            <p:spPr>
              <a:xfrm>
                <a:off x="35496" y="1131590"/>
                <a:ext cx="8640960" cy="1864485"/>
              </a:xfrm>
              <a:prstGeom prst="rect">
                <a:avLst/>
              </a:prstGeom>
            </p:spPr>
            <p:txBody>
              <a:bodyPr wrap="square">
                <a:spAutoFit/>
              </a:bodyPr>
              <a:lstStyle/>
              <a:p>
                <a:pPr indent="200025">
                  <a:lnSpc>
                    <a:spcPct val="150000"/>
                  </a:lnSpc>
                  <a:spcAft>
                    <a:spcPts val="0"/>
                  </a:spcAft>
                </a:pPr>
                <a:r>
                  <a:rPr lang="zh-CN" altLang="zh-CN" dirty="0" smtClean="0">
                    <a:solidFill>
                      <a:srgbClr val="000000"/>
                    </a:solidFill>
                    <a:latin typeface="+mn-ea"/>
                    <a:ea typeface="+mn-ea"/>
                    <a:cs typeface="Times New Roman" panose="02020603050405020304" pitchFamily="18" charset="0"/>
                  </a:rPr>
                  <a:t>算法</a:t>
                </a:r>
                <a:r>
                  <a:rPr lang="zh-CN" altLang="zh-CN" dirty="0">
                    <a:solidFill>
                      <a:srgbClr val="000000"/>
                    </a:solidFill>
                    <a:latin typeface="+mn-ea"/>
                    <a:ea typeface="+mn-ea"/>
                    <a:cs typeface="Times New Roman" panose="02020603050405020304" pitchFamily="18" charset="0"/>
                  </a:rPr>
                  <a:t>第</a:t>
                </a:r>
                <a:r>
                  <a:rPr lang="en-US" altLang="zh-CN" dirty="0">
                    <a:solidFill>
                      <a:srgbClr val="000000"/>
                    </a:solidFill>
                    <a:latin typeface="+mn-ea"/>
                    <a:ea typeface="+mn-ea"/>
                    <a:cs typeface="Times New Roman" panose="02020603050405020304" pitchFamily="18" charset="0"/>
                  </a:rPr>
                  <a:t>5</a:t>
                </a:r>
                <a:r>
                  <a:rPr lang="zh-CN" altLang="zh-CN" dirty="0">
                    <a:solidFill>
                      <a:srgbClr val="000000"/>
                    </a:solidFill>
                    <a:latin typeface="+mn-ea"/>
                    <a:ea typeface="+mn-ea"/>
                    <a:cs typeface="Times New Roman" panose="02020603050405020304" pitchFamily="18" charset="0"/>
                  </a:rPr>
                  <a:t>行，根据当前策略求出智能体应该采取的动作</a:t>
                </a:r>
                <a14:m>
                  <m:oMath xmlns:m="http://schemas.openxmlformats.org/officeDocument/2006/math">
                    <m:r>
                      <a:rPr lang="en-US" altLang="zh-CN" i="1">
                        <a:solidFill>
                          <a:srgbClr val="000000"/>
                        </a:solidFill>
                        <a:latin typeface="Cambria Math" panose="02040503050406030204" pitchFamily="18" charset="0"/>
                        <a:ea typeface="+mn-ea"/>
                        <a:cs typeface="Times New Roman" panose="02020603050405020304" pitchFamily="18" charset="0"/>
                      </a:rPr>
                      <m:t>𝑎</m:t>
                    </m:r>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m:rPr>
                            <m:sty m:val="p"/>
                          </m:rPr>
                          <a:rPr lang="en-US" altLang="zh-CN">
                            <a:solidFill>
                              <a:srgbClr val="000000"/>
                            </a:solidFill>
                            <a:latin typeface="Cambria Math" panose="02040503050406030204" pitchFamily="18" charset="0"/>
                            <a:ea typeface="+mn-ea"/>
                            <a:cs typeface="Times New Roman" panose="02020603050405020304" pitchFamily="18" charset="0"/>
                          </a:rPr>
                          <m:t>argmax</m:t>
                        </m:r>
                      </m:e>
                      <m:sub>
                        <m:r>
                          <a:rPr lang="en-US" altLang="zh-CN" i="1">
                            <a:solidFill>
                              <a:srgbClr val="000000"/>
                            </a:solidFill>
                            <a:latin typeface="Cambria Math" panose="02040503050406030204" pitchFamily="18" charset="0"/>
                            <a:ea typeface="+mn-ea"/>
                            <a:cs typeface="Times New Roman" panose="02020603050405020304" pitchFamily="18" charset="0"/>
                          </a:rPr>
                          <m:t>𝑎</m:t>
                        </m:r>
                      </m:sub>
                    </m:sSub>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𝑎</m:t>
                        </m:r>
                      </m:e>
                    </m:d>
                    <m:r>
                      <a:rPr lang="en-US" altLang="zh-CN" i="1">
                        <a:solidFill>
                          <a:srgbClr val="000000"/>
                        </a:solidFill>
                        <a:latin typeface="Cambria Math" panose="02040503050406030204" pitchFamily="18" charset="0"/>
                        <a:ea typeface="+mn-ea"/>
                        <a:cs typeface="Times New Roman" panose="02020603050405020304" pitchFamily="18" charset="0"/>
                      </a:rPr>
                      <m:t>=</m:t>
                    </m:r>
                    <m:r>
                      <a:rPr lang="zh-CN" altLang="zh-CN">
                        <a:solidFill>
                          <a:srgbClr val="000000"/>
                        </a:solidFill>
                        <a:latin typeface="Cambria Math" panose="02040503050406030204" pitchFamily="18" charset="0"/>
                        <a:ea typeface="+mn-ea"/>
                        <a:cs typeface="Times New Roman" panose="02020603050405020304" pitchFamily="18" charset="0"/>
                      </a:rPr>
                      <m:t>上</m:t>
                    </m:r>
                  </m:oMath>
                </a14:m>
                <a:r>
                  <a:rPr lang="zh-CN" altLang="zh-CN" dirty="0">
                    <a:solidFill>
                      <a:srgbClr val="000000"/>
                    </a:solidFill>
                    <a:latin typeface="+mn-ea"/>
                    <a:ea typeface="+mn-ea"/>
                    <a:cs typeface="Times New Roman" panose="02020603050405020304" pitchFamily="18" charset="0"/>
                  </a:rPr>
                  <a:t>，执行这个动作，得到奖励</a:t>
                </a:r>
                <a14:m>
                  <m:oMath xmlns:m="http://schemas.openxmlformats.org/officeDocument/2006/math">
                    <m:r>
                      <a:rPr lang="en-US" altLang="zh-CN" i="1">
                        <a:solidFill>
                          <a:srgbClr val="000000"/>
                        </a:solidFill>
                        <a:latin typeface="Cambria Math" panose="02040503050406030204" pitchFamily="18" charset="0"/>
                        <a:ea typeface="+mn-ea"/>
                        <a:cs typeface="Times New Roman" panose="02020603050405020304" pitchFamily="18" charset="0"/>
                      </a:rPr>
                      <m:t>𝑅</m:t>
                    </m:r>
                    <m:r>
                      <a:rPr lang="en-US" altLang="zh-CN" i="1">
                        <a:solidFill>
                          <a:srgbClr val="000000"/>
                        </a:solidFill>
                        <a:latin typeface="Cambria Math" panose="02040503050406030204" pitchFamily="18" charset="0"/>
                        <a:ea typeface="+mn-ea"/>
                        <a:cs typeface="Times New Roman" panose="02020603050405020304" pitchFamily="18" charset="0"/>
                      </a:rPr>
                      <m:t>=0</m:t>
                    </m:r>
                  </m:oMath>
                </a14:m>
                <a:r>
                  <a:rPr lang="zh-CN" altLang="zh-CN" dirty="0">
                    <a:solidFill>
                      <a:srgbClr val="000000"/>
                    </a:solidFill>
                    <a:latin typeface="+mn-ea"/>
                    <a:ea typeface="+mn-ea"/>
                    <a:cs typeface="Times New Roman" panose="02020603050405020304" pitchFamily="18" charset="0"/>
                  </a:rPr>
                  <a:t>和进入下一状态</a:t>
                </a:r>
                <a14:m>
                  <m:oMath xmlns:m="http://schemas.openxmlformats.org/officeDocument/2006/math">
                    <m:sSup>
                      <m:sSupPr>
                        <m:ctrlPr>
                          <a:rPr lang="zh-CN" altLang="zh-CN" i="1">
                            <a:solidFill>
                              <a:srgbClr val="000000"/>
                            </a:solidFill>
                            <a:latin typeface="Cambria Math" panose="02040503050406030204" pitchFamily="18" charset="0"/>
                            <a:ea typeface="+mn-ea"/>
                            <a:cs typeface="Times New Roman" panose="02020603050405020304" pitchFamily="18" charset="0"/>
                          </a:rPr>
                        </m:ctrlPr>
                      </m:sSupPr>
                      <m:e>
                        <m:r>
                          <a:rPr lang="en-US" altLang="zh-CN" i="1">
                            <a:solidFill>
                              <a:srgbClr val="000000"/>
                            </a:solidFill>
                            <a:latin typeface="Cambria Math" panose="02040503050406030204" pitchFamily="18" charset="0"/>
                            <a:ea typeface="+mn-ea"/>
                            <a:cs typeface="Times New Roman" panose="02020603050405020304" pitchFamily="18" charset="0"/>
                          </a:rPr>
                          <m:t>𝑠</m:t>
                        </m:r>
                      </m:e>
                      <m:sup>
                        <m:r>
                          <a:rPr lang="en-US" altLang="zh-CN" i="1">
                            <a:solidFill>
                              <a:srgbClr val="000000"/>
                            </a:solidFill>
                            <a:latin typeface="Cambria Math" panose="02040503050406030204" pitchFamily="18" charset="0"/>
                            <a:ea typeface="+mn-ea"/>
                            <a:cs typeface="Times New Roman" panose="02020603050405020304" pitchFamily="18" charset="0"/>
                          </a:rPr>
                          <m:t>′</m:t>
                        </m:r>
                      </m:sup>
                    </m:sSup>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4</m:t>
                        </m:r>
                      </m:sub>
                    </m:sSub>
                  </m:oMath>
                </a14:m>
                <a:r>
                  <a:rPr lang="zh-CN" altLang="zh-CN" dirty="0" smtClean="0">
                    <a:solidFill>
                      <a:srgbClr val="000000"/>
                    </a:solidFill>
                    <a:latin typeface="+mn-ea"/>
                    <a:ea typeface="+mn-ea"/>
                    <a:cs typeface="Times New Roman" panose="02020603050405020304" pitchFamily="18" charset="0"/>
                  </a:rPr>
                  <a:t>，更新动作</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价值函数：</a:t>
                </a:r>
                <a:r>
                  <a:rPr lang="en-US" altLang="zh-CN" dirty="0">
                    <a:solidFill>
                      <a:srgbClr val="000000"/>
                    </a:solidFill>
                    <a:latin typeface="+mn-ea"/>
                    <a:ea typeface="+mn-ea"/>
                    <a:cs typeface="Times New Roman" panose="02020603050405020304" pitchFamily="18" charset="0"/>
                  </a:rPr>
                  <a:t/>
                </a:r>
                <a:br>
                  <a:rPr lang="en-US" altLang="zh-CN" dirty="0">
                    <a:solidFill>
                      <a:srgbClr val="000000"/>
                    </a:solidFill>
                    <a:latin typeface="+mn-ea"/>
                    <a:ea typeface="+mn-ea"/>
                    <a:cs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r>
                            <a:rPr lang="zh-CN" altLang="zh-CN">
                              <a:solidFill>
                                <a:srgbClr val="000000"/>
                              </a:solidFill>
                              <a:latin typeface="Cambria Math" panose="02040503050406030204" pitchFamily="18" charset="0"/>
                              <a:ea typeface="+mn-ea"/>
                              <a:cs typeface="Times New Roman" panose="02020603050405020304" pitchFamily="18" charset="0"/>
                            </a:rPr>
                            <m:t>上</m:t>
                          </m:r>
                        </m:e>
                      </m:d>
                      <m:r>
                        <m:rPr>
                          <m:aln/>
                        </m:rP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r>
                            <a:rPr lang="zh-CN" altLang="zh-CN">
                              <a:solidFill>
                                <a:srgbClr val="000000"/>
                              </a:solidFill>
                              <a:latin typeface="Cambria Math" panose="02040503050406030204" pitchFamily="18" charset="0"/>
                              <a:ea typeface="+mn-ea"/>
                              <a:cs typeface="Times New Roman" panose="02020603050405020304" pitchFamily="18" charset="0"/>
                            </a:rPr>
                            <m:t>上</m:t>
                          </m:r>
                        </m:e>
                      </m:d>
                      <m: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𝛼</m:t>
                      </m:r>
                      <m: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𝑅</m:t>
                      </m:r>
                      <m: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𝛾</m:t>
                      </m:r>
                      <m:func>
                        <m:funcPr>
                          <m:ctrlPr>
                            <a:rPr lang="zh-CN" altLang="zh-CN" i="1">
                              <a:solidFill>
                                <a:srgbClr val="000000"/>
                              </a:solidFill>
                              <a:latin typeface="Cambria Math" panose="02040503050406030204" pitchFamily="18" charset="0"/>
                              <a:ea typeface="+mn-ea"/>
                              <a:cs typeface="Times New Roman" panose="02020603050405020304" pitchFamily="18" charset="0"/>
                            </a:rPr>
                          </m:ctrlPr>
                        </m:funcPr>
                        <m:fName>
                          <m:limLow>
                            <m:limLowPr>
                              <m:ctrlPr>
                                <a:rPr lang="zh-CN" altLang="zh-CN" i="1">
                                  <a:solidFill>
                                    <a:srgbClr val="000000"/>
                                  </a:solidFill>
                                  <a:latin typeface="Cambria Math" panose="02040503050406030204" pitchFamily="18" charset="0"/>
                                  <a:ea typeface="+mn-ea"/>
                                  <a:cs typeface="Times New Roman" panose="02020603050405020304" pitchFamily="18" charset="0"/>
                                </a:rPr>
                              </m:ctrlPr>
                            </m:limLowPr>
                            <m:e>
                              <m:r>
                                <m:rPr>
                                  <m:sty m:val="p"/>
                                </m:rPr>
                                <a:rPr lang="en-US" altLang="zh-CN">
                                  <a:solidFill>
                                    <a:srgbClr val="000000"/>
                                  </a:solidFill>
                                  <a:latin typeface="Cambria Math" panose="02040503050406030204" pitchFamily="18" charset="0"/>
                                  <a:ea typeface="+mn-ea"/>
                                  <a:cs typeface="Times New Roman" panose="02020603050405020304" pitchFamily="18" charset="0"/>
                                </a:rPr>
                                <m:t>max</m:t>
                              </m:r>
                            </m:e>
                            <m:lim>
                              <m:sSup>
                                <m:sSupPr>
                                  <m:ctrlPr>
                                    <a:rPr lang="zh-CN" altLang="zh-CN" i="1">
                                      <a:solidFill>
                                        <a:srgbClr val="000000"/>
                                      </a:solidFill>
                                      <a:latin typeface="Cambria Math" panose="02040503050406030204" pitchFamily="18" charset="0"/>
                                      <a:ea typeface="+mn-ea"/>
                                      <a:cs typeface="Times New Roman" panose="02020603050405020304" pitchFamily="18" charset="0"/>
                                    </a:rPr>
                                  </m:ctrlPr>
                                </m:sSupPr>
                                <m:e>
                                  <m:r>
                                    <a:rPr lang="en-US" altLang="zh-CN" i="1">
                                      <a:solidFill>
                                        <a:srgbClr val="000000"/>
                                      </a:solidFill>
                                      <a:latin typeface="Cambria Math" panose="02040503050406030204" pitchFamily="18" charset="0"/>
                                      <a:ea typeface="+mn-ea"/>
                                      <a:cs typeface="Times New Roman" panose="02020603050405020304" pitchFamily="18" charset="0"/>
                                    </a:rPr>
                                    <m:t>𝑎</m:t>
                                  </m:r>
                                </m:e>
                                <m:sup>
                                  <m:r>
                                    <a:rPr lang="en-US" altLang="zh-CN" i="1">
                                      <a:solidFill>
                                        <a:srgbClr val="000000"/>
                                      </a:solidFill>
                                      <a:latin typeface="Cambria Math" panose="02040503050406030204" pitchFamily="18" charset="0"/>
                                      <a:ea typeface="+mn-ea"/>
                                      <a:cs typeface="Times New Roman" panose="02020603050405020304" pitchFamily="18" charset="0"/>
                                    </a:rPr>
                                    <m:t>′</m:t>
                                  </m:r>
                                </m:sup>
                              </m:sSup>
                            </m:lim>
                          </m:limLow>
                        </m:fName>
                        <m:e>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p>
                                <m:sSupPr>
                                  <m:ctrlPr>
                                    <a:rPr lang="zh-CN" altLang="zh-CN" i="1">
                                      <a:solidFill>
                                        <a:srgbClr val="000000"/>
                                      </a:solidFill>
                                      <a:latin typeface="Cambria Math" panose="02040503050406030204" pitchFamily="18" charset="0"/>
                                      <a:ea typeface="+mn-ea"/>
                                      <a:cs typeface="Times New Roman" panose="02020603050405020304" pitchFamily="18" charset="0"/>
                                    </a:rPr>
                                  </m:ctrlPr>
                                </m:sSupPr>
                                <m:e>
                                  <m:r>
                                    <a:rPr lang="en-US" altLang="zh-CN" i="1">
                                      <a:solidFill>
                                        <a:srgbClr val="000000"/>
                                      </a:solidFill>
                                      <a:latin typeface="Cambria Math" panose="02040503050406030204" pitchFamily="18" charset="0"/>
                                      <a:ea typeface="+mn-ea"/>
                                      <a:cs typeface="Times New Roman" panose="02020603050405020304" pitchFamily="18" charset="0"/>
                                    </a:rPr>
                                    <m:t>𝑠</m:t>
                                  </m:r>
                                </m:e>
                                <m:sup>
                                  <m:r>
                                    <a:rPr lang="en-US" altLang="zh-CN" i="1">
                                      <a:solidFill>
                                        <a:srgbClr val="000000"/>
                                      </a:solidFill>
                                      <a:latin typeface="Cambria Math" panose="02040503050406030204" pitchFamily="18" charset="0"/>
                                      <a:ea typeface="+mn-ea"/>
                                      <a:cs typeface="Times New Roman" panose="02020603050405020304" pitchFamily="18" charset="0"/>
                                    </a:rPr>
                                    <m:t>′</m:t>
                                  </m:r>
                                </m:sup>
                              </m:sSup>
                              <m:r>
                                <a:rPr lang="en-US" altLang="zh-CN" i="1">
                                  <a:solidFill>
                                    <a:srgbClr val="000000"/>
                                  </a:solidFill>
                                  <a:latin typeface="Cambria Math" panose="02040503050406030204" pitchFamily="18" charset="0"/>
                                  <a:ea typeface="+mn-ea"/>
                                  <a:cs typeface="Times New Roman" panose="02020603050405020304" pitchFamily="18" charset="0"/>
                                </a:rPr>
                                <m:t>,</m:t>
                              </m:r>
                              <m:sSup>
                                <m:sSupPr>
                                  <m:ctrlPr>
                                    <a:rPr lang="zh-CN" altLang="zh-CN" i="1">
                                      <a:solidFill>
                                        <a:srgbClr val="000000"/>
                                      </a:solidFill>
                                      <a:latin typeface="Cambria Math" panose="02040503050406030204" pitchFamily="18" charset="0"/>
                                      <a:ea typeface="+mn-ea"/>
                                      <a:cs typeface="Times New Roman" panose="02020603050405020304" pitchFamily="18" charset="0"/>
                                    </a:rPr>
                                  </m:ctrlPr>
                                </m:sSupPr>
                                <m:e>
                                  <m:r>
                                    <a:rPr lang="en-US" altLang="zh-CN" i="1">
                                      <a:solidFill>
                                        <a:srgbClr val="000000"/>
                                      </a:solidFill>
                                      <a:latin typeface="Cambria Math" panose="02040503050406030204" pitchFamily="18" charset="0"/>
                                      <a:ea typeface="+mn-ea"/>
                                      <a:cs typeface="Times New Roman" panose="02020603050405020304" pitchFamily="18" charset="0"/>
                                    </a:rPr>
                                    <m:t>𝑎</m:t>
                                  </m:r>
                                </m:e>
                                <m:sup>
                                  <m:r>
                                    <a:rPr lang="en-US" altLang="zh-CN" i="1">
                                      <a:solidFill>
                                        <a:srgbClr val="000000"/>
                                      </a:solidFill>
                                      <a:latin typeface="Cambria Math" panose="02040503050406030204" pitchFamily="18" charset="0"/>
                                      <a:ea typeface="+mn-ea"/>
                                      <a:cs typeface="Times New Roman" panose="02020603050405020304" pitchFamily="18" charset="0"/>
                                    </a:rPr>
                                    <m:t>′</m:t>
                                  </m:r>
                                </m:sup>
                              </m:sSup>
                            </m:e>
                          </m:d>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𝑞</m:t>
                              </m:r>
                            </m:e>
                            <m:sub>
                              <m:r>
                                <a:rPr lang="en-US" altLang="zh-CN" i="1">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i="1">
                                  <a:solidFill>
                                    <a:srgbClr val="000000"/>
                                  </a:solidFill>
                                  <a:latin typeface="Cambria Math" panose="02040503050406030204" pitchFamily="18" charset="0"/>
                                  <a:ea typeface="+mn-ea"/>
                                  <a:cs typeface="Times New Roman" panose="02020603050405020304" pitchFamily="18" charset="0"/>
                                </a:rPr>
                              </m:ctrlPr>
                            </m:dPr>
                            <m:e>
                              <m:sSub>
                                <m:sSubPr>
                                  <m:ctrlPr>
                                    <a:rPr lang="zh-CN" altLang="zh-CN" i="1">
                                      <a:solidFill>
                                        <a:srgbClr val="000000"/>
                                      </a:solidFill>
                                      <a:latin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cs typeface="Times New Roman" panose="02020603050405020304" pitchFamily="18" charset="0"/>
                                    </a:rPr>
                                    <m:t>𝑠</m:t>
                                  </m:r>
                                </m:e>
                                <m:sub>
                                  <m:r>
                                    <a:rPr lang="en-US" altLang="zh-CN" i="1">
                                      <a:solidFill>
                                        <a:srgbClr val="000000"/>
                                      </a:solidFill>
                                      <a:latin typeface="Cambria Math" panose="02040503050406030204" pitchFamily="18" charset="0"/>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𝑎</m:t>
                              </m:r>
                            </m:e>
                          </m:d>
                        </m:e>
                      </m:func>
                      <m:r>
                        <a:rPr lang="en-US" altLang="zh-CN" i="1">
                          <a:solidFill>
                            <a:srgbClr val="000000"/>
                          </a:solidFill>
                          <a:latin typeface="Cambria Math" panose="02040503050406030204" pitchFamily="18" charset="0"/>
                          <a:ea typeface="+mn-ea"/>
                          <a:cs typeface="Times New Roman" panose="02020603050405020304" pitchFamily="18" charset="0"/>
                        </a:rPr>
                        <m:t>]</m:t>
                      </m:r>
                    </m:oMath>
                    <m:oMath xmlns:m="http://schemas.openxmlformats.org/officeDocument/2006/math">
                      <m:r>
                        <m:rPr>
                          <m:aln/>
                        </m:rPr>
                        <a:rPr lang="en-US" altLang="zh-CN" i="1">
                          <a:solidFill>
                            <a:srgbClr val="000000"/>
                          </a:solidFill>
                          <a:latin typeface="Cambria Math" panose="02040503050406030204" pitchFamily="18" charset="0"/>
                          <a:ea typeface="+mn-ea"/>
                          <a:cs typeface="Times New Roman" panose="02020603050405020304" pitchFamily="18" charset="0"/>
                        </a:rPr>
                        <m:t>=</m:t>
                      </m:r>
                      <m:r>
                        <a:rPr lang="en-US" altLang="zh-CN" i="1">
                          <a:solidFill>
                            <a:srgbClr val="000000"/>
                          </a:solidFill>
                          <a:latin typeface="Cambria Math" panose="02040503050406030204" pitchFamily="18" charset="0"/>
                          <a:ea typeface="+mn-ea"/>
                          <a:cs typeface="Times New Roman" panose="02020603050405020304" pitchFamily="18" charset="0"/>
                        </a:rPr>
                        <m:t>0.2+0.5×</m:t>
                      </m:r>
                      <m:d>
                        <m:dPr>
                          <m:begChr m:val="["/>
                          <m:endChr m:val="]"/>
                          <m:ctrlPr>
                            <a:rPr lang="zh-CN" altLang="zh-CN" i="1">
                              <a:solidFill>
                                <a:srgbClr val="000000"/>
                              </a:solidFill>
                              <a:latin typeface="Cambria Math" panose="02040503050406030204" pitchFamily="18" charset="0"/>
                              <a:ea typeface="+mn-ea"/>
                              <a:cs typeface="Times New Roman" panose="02020603050405020304" pitchFamily="18" charset="0"/>
                            </a:rPr>
                          </m:ctrlPr>
                        </m:dPr>
                        <m:e>
                          <m:r>
                            <a:rPr lang="en-US" altLang="zh-CN" i="1">
                              <a:solidFill>
                                <a:srgbClr val="000000"/>
                              </a:solidFill>
                              <a:latin typeface="Cambria Math" panose="02040503050406030204" pitchFamily="18" charset="0"/>
                              <a:ea typeface="+mn-ea"/>
                              <a:cs typeface="Times New Roman" panose="02020603050405020304" pitchFamily="18" charset="0"/>
                            </a:rPr>
                            <m:t>0+0.99×</m:t>
                          </m:r>
                          <m:func>
                            <m:funcPr>
                              <m:ctrlPr>
                                <a:rPr lang="zh-CN" altLang="zh-CN" i="1">
                                  <a:solidFill>
                                    <a:srgbClr val="000000"/>
                                  </a:solidFill>
                                  <a:latin typeface="Cambria Math" panose="02040503050406030204" pitchFamily="18" charset="0"/>
                                  <a:ea typeface="+mn-ea"/>
                                  <a:cs typeface="Times New Roman" panose="02020603050405020304" pitchFamily="18" charset="0"/>
                                </a:rPr>
                              </m:ctrlPr>
                            </m:funcPr>
                            <m:fName>
                              <m:r>
                                <m:rPr>
                                  <m:sty m:val="p"/>
                                </m:rPr>
                                <a:rPr lang="en-US" altLang="zh-CN">
                                  <a:solidFill>
                                    <a:srgbClr val="000000"/>
                                  </a:solidFill>
                                  <a:latin typeface="Cambria Math" panose="02040503050406030204" pitchFamily="18" charset="0"/>
                                  <a:ea typeface="+mn-ea"/>
                                  <a:cs typeface="Times New Roman" panose="02020603050405020304" pitchFamily="18" charset="0"/>
                                </a:rPr>
                                <m:t>max</m:t>
                              </m:r>
                            </m:fName>
                            <m:e>
                              <m:d>
                                <m:dPr>
                                  <m:begChr m:val="{"/>
                                  <m:endChr m:val="}"/>
                                  <m:ctrlPr>
                                    <a:rPr lang="zh-CN" altLang="zh-CN" i="1">
                                      <a:solidFill>
                                        <a:srgbClr val="000000"/>
                                      </a:solidFill>
                                      <a:latin typeface="Cambria Math" panose="02040503050406030204" pitchFamily="18" charset="0"/>
                                      <a:ea typeface="+mn-ea"/>
                                      <a:cs typeface="Times New Roman" panose="02020603050405020304" pitchFamily="18" charset="0"/>
                                    </a:rPr>
                                  </m:ctrlPr>
                                </m:dPr>
                                <m:e>
                                  <m:r>
                                    <a:rPr lang="en-US" altLang="zh-CN" i="1">
                                      <a:solidFill>
                                        <a:srgbClr val="000000"/>
                                      </a:solidFill>
                                      <a:latin typeface="Cambria Math" panose="02040503050406030204" pitchFamily="18" charset="0"/>
                                      <a:ea typeface="+mn-ea"/>
                                      <a:cs typeface="Times New Roman" panose="02020603050405020304" pitchFamily="18" charset="0"/>
                                    </a:rPr>
                                    <m:t>0,0.2</m:t>
                                  </m:r>
                                </m:e>
                              </m:d>
                            </m:e>
                          </m:func>
                          <m:r>
                            <a:rPr lang="en-US" altLang="zh-CN" i="1">
                              <a:solidFill>
                                <a:srgbClr val="000000"/>
                              </a:solidFill>
                              <a:latin typeface="Cambria Math" panose="02040503050406030204" pitchFamily="18" charset="0"/>
                              <a:ea typeface="+mn-ea"/>
                              <a:cs typeface="Times New Roman" panose="02020603050405020304" pitchFamily="18" charset="0"/>
                            </a:rPr>
                            <m:t>−0.2</m:t>
                          </m:r>
                        </m:e>
                      </m:d>
                      <m:r>
                        <a:rPr lang="en-US" altLang="zh-CN" i="1">
                          <a:solidFill>
                            <a:srgbClr val="000000"/>
                          </a:solidFill>
                          <a:latin typeface="Cambria Math" panose="02040503050406030204" pitchFamily="18" charset="0"/>
                          <a:ea typeface="+mn-ea"/>
                          <a:cs typeface="Times New Roman" panose="02020603050405020304" pitchFamily="18" charset="0"/>
                        </a:rPr>
                        <m:t>=0.199</m:t>
                      </m:r>
                    </m:oMath>
                  </m:oMathPara>
                </a14:m>
                <a:endParaRPr lang="zh-CN" altLang="zh-CN" dirty="0">
                  <a:solidFill>
                    <a:srgbClr val="000000"/>
                  </a:solidFill>
                  <a:latin typeface="+mn-ea"/>
                  <a:ea typeface="+mn-ea"/>
                  <a:cs typeface="Times New Roman" panose="02020603050405020304" pitchFamily="18" charset="0"/>
                </a:endParaRPr>
              </a:p>
              <a:p>
                <a:pPr indent="200025" algn="just">
                  <a:lnSpc>
                    <a:spcPct val="150000"/>
                  </a:lnSpc>
                  <a:spcAft>
                    <a:spcPts val="0"/>
                  </a:spcAft>
                </a:pPr>
                <a:r>
                  <a:rPr lang="zh-CN" altLang="zh-CN" dirty="0">
                    <a:solidFill>
                      <a:srgbClr val="000000"/>
                    </a:solidFill>
                    <a:latin typeface="+mn-ea"/>
                    <a:ea typeface="+mn-ea"/>
                    <a:cs typeface="Times New Roman" panose="02020603050405020304" pitchFamily="18" charset="0"/>
                  </a:rPr>
                  <a:t>同时令当前状态为</a:t>
                </a: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4</m:t>
                        </m:r>
                      </m:sub>
                    </m:sSub>
                  </m:oMath>
                </a14:m>
                <a:r>
                  <a:rPr lang="zh-CN" altLang="zh-CN" dirty="0">
                    <a:solidFill>
                      <a:srgbClr val="000000"/>
                    </a:solidFill>
                    <a:latin typeface="+mn-ea"/>
                    <a:ea typeface="+mn-ea"/>
                    <a:cs typeface="Times New Roman" panose="02020603050405020304" pitchFamily="18" charset="0"/>
                  </a:rPr>
                  <a:t>，由此得到了图</a:t>
                </a:r>
                <a:r>
                  <a:rPr lang="en-US" altLang="zh-CN" dirty="0">
                    <a:solidFill>
                      <a:srgbClr val="000000"/>
                    </a:solidFill>
                    <a:latin typeface="+mn-ea"/>
                    <a:ea typeface="+mn-ea"/>
                    <a:cs typeface="Times New Roman" panose="02020603050405020304" pitchFamily="18" charset="0"/>
                  </a:rPr>
                  <a:t>6.10(b)</a:t>
                </a:r>
                <a:r>
                  <a:rPr lang="zh-CN" altLang="zh-CN" dirty="0" smtClean="0">
                    <a:solidFill>
                      <a:srgbClr val="000000"/>
                    </a:solidFill>
                    <a:latin typeface="+mn-ea"/>
                    <a:ea typeface="+mn-ea"/>
                    <a:cs typeface="Times New Roman" panose="02020603050405020304" pitchFamily="18" charset="0"/>
                  </a:rPr>
                  <a:t>。</a:t>
                </a:r>
                <a:endParaRPr lang="zh-CN" altLang="zh-CN" dirty="0">
                  <a:solidFill>
                    <a:srgbClr val="000000"/>
                  </a:solidFill>
                  <a:latin typeface="+mn-ea"/>
                  <a:ea typeface="+mn-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A0C8C11F-7513-4537-A52A-1949D7DDC294}"/>
                  </a:ext>
                </a:extLst>
              </p:cNvPr>
              <p:cNvSpPr>
                <a:spLocks noRot="1" noChangeAspect="1" noMove="1" noResize="1" noEditPoints="1" noAdjustHandles="1" noChangeArrowheads="1" noChangeShapeType="1" noTextEdit="1"/>
              </p:cNvSpPr>
              <p:nvPr/>
            </p:nvSpPr>
            <p:spPr>
              <a:xfrm>
                <a:off x="35496" y="1131590"/>
                <a:ext cx="8640960" cy="1864485"/>
              </a:xfrm>
              <a:prstGeom prst="rect">
                <a:avLst/>
              </a:prstGeom>
              <a:blipFill>
                <a:blip r:embed="rId4"/>
                <a:stretch>
                  <a:fillRect l="-212" b="-656"/>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26C1574A-442C-800B-9CC2-2E5E8AED5E27}"/>
              </a:ext>
            </a:extLst>
          </p:cNvPr>
          <p:cNvGrpSpPr/>
          <p:nvPr/>
        </p:nvGrpSpPr>
        <p:grpSpPr>
          <a:xfrm>
            <a:off x="611560" y="483518"/>
            <a:ext cx="5598290" cy="373451"/>
            <a:chOff x="4099943" y="2819853"/>
            <a:chExt cx="2570275" cy="497934"/>
          </a:xfrm>
        </p:grpSpPr>
        <p:sp>
          <p:nvSpPr>
            <p:cNvPr id="10" name="平行四边形 9">
              <a:extLst>
                <a:ext uri="{FF2B5EF4-FFF2-40B4-BE49-F238E27FC236}">
                  <a16:creationId xmlns:a16="http://schemas.microsoft.com/office/drawing/2014/main" id="{978EBFAE-F2EA-0C64-7D34-03545B4D0B20}"/>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1" name="平行四边形 10">
              <a:extLst>
                <a:ext uri="{FF2B5EF4-FFF2-40B4-BE49-F238E27FC236}">
                  <a16:creationId xmlns:a16="http://schemas.microsoft.com/office/drawing/2014/main" id="{B58A5FC4-D09B-A1CB-CF66-06666A58A690}"/>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2" name="矩形 11">
              <a:extLst>
                <a:ext uri="{FF2B5EF4-FFF2-40B4-BE49-F238E27FC236}">
                  <a16:creationId xmlns:a16="http://schemas.microsoft.com/office/drawing/2014/main" id="{B3FD0171-A840-2293-82F5-74557D6C7B54}"/>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mn-ea"/>
                  <a:ea typeface="+mn-ea"/>
                  <a:cs typeface="Times New Roman" panose="02020603050405020304" pitchFamily="18" charset="0"/>
                </a:rPr>
                <a:t> </a:t>
              </a:r>
              <a:r>
                <a:rPr lang="en-US" altLang="zh-CN" sz="1500" dirty="0" smtClean="0">
                  <a:solidFill>
                    <a:srgbClr val="0070C0"/>
                  </a:solidFill>
                  <a:latin typeface="+mn-ea"/>
                  <a:ea typeface="+mn-ea"/>
                  <a:cs typeface="Times New Roman" panose="02020603050405020304" pitchFamily="18" charset="0"/>
                </a:rPr>
                <a:t>Q</a:t>
              </a:r>
              <a:r>
                <a:rPr lang="zh-CN" altLang="en-US" sz="1500" dirty="0">
                  <a:solidFill>
                    <a:srgbClr val="0070C0"/>
                  </a:solidFill>
                  <a:latin typeface="+mn-ea"/>
                  <a:ea typeface="+mn-ea"/>
                  <a:cs typeface="Times New Roman" panose="02020603050405020304" pitchFamily="18" charset="0"/>
                </a:rPr>
                <a:t>学习算法</a:t>
              </a:r>
            </a:p>
          </p:txBody>
        </p:sp>
      </p:grpSp>
    </p:spTree>
    <p:extLst>
      <p:ext uri="{BB962C8B-B14F-4D97-AF65-F5344CB8AC3E}">
        <p14:creationId xmlns:p14="http://schemas.microsoft.com/office/powerpoint/2010/main" val="1696170861"/>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F384184-6A19-4348-BA6E-F09E17659BA3}"/>
              </a:ext>
            </a:extLst>
          </p:cNvPr>
          <p:cNvPicPr>
            <a:picLocks noChangeAspect="1"/>
          </p:cNvPicPr>
          <p:nvPr/>
        </p:nvPicPr>
        <p:blipFill>
          <a:blip r:embed="rId3"/>
          <a:stretch>
            <a:fillRect/>
          </a:stretch>
        </p:blipFill>
        <p:spPr>
          <a:xfrm>
            <a:off x="3604363" y="1131590"/>
            <a:ext cx="5437450" cy="3744416"/>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0C8C11F-7513-4537-A52A-1949D7DDC294}"/>
                  </a:ext>
                </a:extLst>
              </p:cNvPr>
              <p:cNvSpPr/>
              <p:nvPr/>
            </p:nvSpPr>
            <p:spPr>
              <a:xfrm>
                <a:off x="179512" y="1148923"/>
                <a:ext cx="3226310" cy="3433248"/>
              </a:xfrm>
              <a:prstGeom prst="rect">
                <a:avLst/>
              </a:prstGeom>
            </p:spPr>
            <p:txBody>
              <a:bodyPr wrap="square">
                <a:spAutoFit/>
              </a:bodyPr>
              <a:lstStyle/>
              <a:p>
                <a:pPr indent="200025">
                  <a:lnSpc>
                    <a:spcPct val="150000"/>
                  </a:lnSpc>
                  <a:spcAft>
                    <a:spcPts val="0"/>
                  </a:spcAft>
                </a:pPr>
                <a:r>
                  <a:rPr lang="zh-CN" altLang="zh-CN" sz="1300" dirty="0" smtClean="0">
                    <a:solidFill>
                      <a:srgbClr val="000000"/>
                    </a:solidFill>
                    <a:latin typeface="+mn-ea"/>
                    <a:ea typeface="+mn-ea"/>
                    <a:cs typeface="Times New Roman" panose="02020603050405020304" pitchFamily="18" charset="0"/>
                  </a:rPr>
                  <a:t>同理</a:t>
                </a:r>
                <a:r>
                  <a:rPr lang="zh-CN" altLang="en-US" sz="1300" dirty="0" smtClean="0">
                    <a:solidFill>
                      <a:srgbClr val="000000"/>
                    </a:solidFill>
                    <a:latin typeface="+mn-ea"/>
                    <a:ea typeface="+mn-ea"/>
                    <a:cs typeface="Times New Roman" panose="02020603050405020304" pitchFamily="18" charset="0"/>
                  </a:rPr>
                  <a:t>，</a:t>
                </a:r>
                <a:r>
                  <a:rPr lang="zh-CN" altLang="zh-CN" sz="1300" dirty="0" smtClean="0">
                    <a:solidFill>
                      <a:srgbClr val="000000"/>
                    </a:solidFill>
                    <a:latin typeface="+mn-ea"/>
                    <a:ea typeface="+mn-ea"/>
                    <a:cs typeface="Times New Roman" panose="02020603050405020304" pitchFamily="18" charset="0"/>
                  </a:rPr>
                  <a:t>算法</a:t>
                </a:r>
                <a:r>
                  <a:rPr lang="zh-CN" altLang="zh-CN" sz="1300" dirty="0">
                    <a:solidFill>
                      <a:srgbClr val="000000"/>
                    </a:solidFill>
                    <a:latin typeface="+mn-ea"/>
                    <a:ea typeface="+mn-ea"/>
                    <a:cs typeface="Times New Roman" panose="02020603050405020304" pitchFamily="18" charset="0"/>
                  </a:rPr>
                  <a:t>再执行一次内层循环得到图</a:t>
                </a:r>
                <a:r>
                  <a:rPr lang="en-US" altLang="zh-CN" sz="1300" dirty="0">
                    <a:solidFill>
                      <a:srgbClr val="000000"/>
                    </a:solidFill>
                    <a:latin typeface="+mn-ea"/>
                    <a:ea typeface="+mn-ea"/>
                    <a:cs typeface="Times New Roman" panose="02020603050405020304" pitchFamily="18" charset="0"/>
                  </a:rPr>
                  <a:t>6.10(c)</a:t>
                </a:r>
                <a:r>
                  <a:rPr lang="zh-CN" altLang="zh-CN" sz="1300" dirty="0">
                    <a:solidFill>
                      <a:srgbClr val="000000"/>
                    </a:solidFill>
                    <a:latin typeface="+mn-ea"/>
                    <a:ea typeface="+mn-ea"/>
                    <a:cs typeface="Times New Roman" panose="02020603050405020304" pitchFamily="18" charset="0"/>
                  </a:rPr>
                  <a:t>，接着得到图</a:t>
                </a:r>
                <a:r>
                  <a:rPr lang="en-US" altLang="zh-CN" sz="1300" dirty="0">
                    <a:solidFill>
                      <a:srgbClr val="000000"/>
                    </a:solidFill>
                    <a:latin typeface="+mn-ea"/>
                    <a:ea typeface="+mn-ea"/>
                    <a:cs typeface="Times New Roman" panose="02020603050405020304" pitchFamily="18" charset="0"/>
                  </a:rPr>
                  <a:t>6.10(d)</a:t>
                </a:r>
                <a:r>
                  <a:rPr lang="zh-CN" altLang="zh-CN" sz="1300" dirty="0">
                    <a:solidFill>
                      <a:srgbClr val="000000"/>
                    </a:solidFill>
                    <a:latin typeface="+mn-ea"/>
                    <a:ea typeface="+mn-ea"/>
                    <a:cs typeface="Times New Roman" panose="02020603050405020304" pitchFamily="18" charset="0"/>
                  </a:rPr>
                  <a:t>。这个过程中每一步都通过后续状态的动作</a:t>
                </a:r>
                <a:r>
                  <a:rPr lang="en-US" altLang="zh-CN" sz="1300" dirty="0">
                    <a:solidFill>
                      <a:srgbClr val="000000"/>
                    </a:solidFill>
                    <a:latin typeface="+mn-ea"/>
                    <a:ea typeface="+mn-ea"/>
                    <a:cs typeface="Times New Roman" panose="02020603050405020304" pitchFamily="18" charset="0"/>
                  </a:rPr>
                  <a:t>-</a:t>
                </a:r>
                <a:r>
                  <a:rPr lang="zh-CN" altLang="zh-CN" sz="1300" dirty="0">
                    <a:solidFill>
                      <a:srgbClr val="000000"/>
                    </a:solidFill>
                    <a:latin typeface="+mn-ea"/>
                    <a:ea typeface="+mn-ea"/>
                    <a:cs typeface="Times New Roman" panose="02020603050405020304" pitchFamily="18" charset="0"/>
                  </a:rPr>
                  <a:t>价值函数更新当前状态的动作</a:t>
                </a:r>
                <a:r>
                  <a:rPr lang="en-US" altLang="zh-CN" sz="1300" dirty="0">
                    <a:solidFill>
                      <a:srgbClr val="000000"/>
                    </a:solidFill>
                    <a:latin typeface="+mn-ea"/>
                    <a:ea typeface="+mn-ea"/>
                    <a:cs typeface="Times New Roman" panose="02020603050405020304" pitchFamily="18" charset="0"/>
                  </a:rPr>
                  <a:t>-</a:t>
                </a:r>
                <a:r>
                  <a:rPr lang="zh-CN" altLang="zh-CN" sz="1300" dirty="0">
                    <a:solidFill>
                      <a:srgbClr val="000000"/>
                    </a:solidFill>
                    <a:latin typeface="+mn-ea"/>
                    <a:ea typeface="+mn-ea"/>
                    <a:cs typeface="Times New Roman" panose="02020603050405020304" pitchFamily="18" charset="0"/>
                  </a:rPr>
                  <a:t>价值函数，图</a:t>
                </a:r>
                <a:r>
                  <a:rPr lang="en-US" altLang="zh-CN" sz="1300" dirty="0">
                    <a:solidFill>
                      <a:srgbClr val="000000"/>
                    </a:solidFill>
                    <a:latin typeface="+mn-ea"/>
                    <a:ea typeface="+mn-ea"/>
                    <a:cs typeface="Times New Roman" panose="02020603050405020304" pitchFamily="18" charset="0"/>
                  </a:rPr>
                  <a:t>6.10(b)-(c)</a:t>
                </a:r>
                <a:r>
                  <a:rPr lang="zh-CN" altLang="zh-CN" sz="1300" dirty="0">
                    <a:solidFill>
                      <a:srgbClr val="000000"/>
                    </a:solidFill>
                    <a:latin typeface="+mn-ea"/>
                    <a:ea typeface="+mn-ea"/>
                    <a:cs typeface="Times New Roman" panose="02020603050405020304" pitchFamily="18" charset="0"/>
                  </a:rPr>
                  <a:t>都没有对策略产生影响。</a:t>
                </a:r>
              </a:p>
              <a:p>
                <a:pPr indent="200025" algn="just">
                  <a:lnSpc>
                    <a:spcPct val="150000"/>
                  </a:lnSpc>
                  <a:spcAft>
                    <a:spcPts val="0"/>
                  </a:spcAft>
                </a:pPr>
                <a:r>
                  <a:rPr lang="zh-CN" altLang="zh-CN" sz="1300" dirty="0">
                    <a:solidFill>
                      <a:srgbClr val="000000"/>
                    </a:solidFill>
                    <a:latin typeface="+mn-ea"/>
                    <a:ea typeface="+mn-ea"/>
                    <a:cs typeface="Times New Roman" panose="02020603050405020304" pitchFamily="18" charset="0"/>
                  </a:rPr>
                  <a:t>当智能体在</a:t>
                </a:r>
                <a:r>
                  <a:rPr lang="zh-CN" altLang="zh-CN" sz="1300" dirty="0" smtClean="0">
                    <a:solidFill>
                      <a:srgbClr val="FF0000"/>
                    </a:solidFill>
                    <a:latin typeface="+mn-ea"/>
                    <a:ea typeface="+mn-ea"/>
                    <a:cs typeface="Times New Roman" panose="02020603050405020304" pitchFamily="18" charset="0"/>
                  </a:rPr>
                  <a:t>图</a:t>
                </a:r>
                <a:r>
                  <a:rPr lang="en-US" altLang="zh-CN" sz="1300" dirty="0">
                    <a:solidFill>
                      <a:srgbClr val="FF0000"/>
                    </a:solidFill>
                    <a:latin typeface="+mn-ea"/>
                    <a:ea typeface="+mn-ea"/>
                    <a:cs typeface="Times New Roman" panose="02020603050405020304" pitchFamily="18" charset="0"/>
                  </a:rPr>
                  <a:t>6.10(d)</a:t>
                </a:r>
                <a:r>
                  <a:rPr lang="zh-CN" altLang="zh-CN" sz="1300" dirty="0">
                    <a:solidFill>
                      <a:srgbClr val="FF0000"/>
                    </a:solidFill>
                    <a:latin typeface="+mn-ea"/>
                    <a:ea typeface="+mn-ea"/>
                    <a:cs typeface="Times New Roman" panose="02020603050405020304" pitchFamily="18" charset="0"/>
                  </a:rPr>
                  <a:t>中到达了损坏状态</a:t>
                </a:r>
                <a14:m>
                  <m:oMath xmlns:m="http://schemas.openxmlformats.org/officeDocument/2006/math">
                    <m:sSub>
                      <m:sSubPr>
                        <m:ctrlPr>
                          <a:rPr lang="zh-CN" altLang="zh-CN" sz="1300" i="1">
                            <a:solidFill>
                              <a:srgbClr val="FF0000"/>
                            </a:solidFill>
                            <a:latin typeface="Cambria Math" panose="02040503050406030204" pitchFamily="18" charset="0"/>
                            <a:ea typeface="+mn-ea"/>
                            <a:cs typeface="Times New Roman" panose="02020603050405020304" pitchFamily="18" charset="0"/>
                          </a:rPr>
                        </m:ctrlPr>
                      </m:sSubPr>
                      <m:e>
                        <m:r>
                          <a:rPr lang="en-US" altLang="zh-CN" sz="1300" i="1">
                            <a:solidFill>
                              <a:srgbClr val="FF0000"/>
                            </a:solidFill>
                            <a:latin typeface="Cambria Math" panose="02040503050406030204" pitchFamily="18" charset="0"/>
                            <a:ea typeface="+mn-ea"/>
                            <a:cs typeface="Times New Roman" panose="02020603050405020304" pitchFamily="18" charset="0"/>
                          </a:rPr>
                          <m:t>𝑠</m:t>
                        </m:r>
                      </m:e>
                      <m:sub>
                        <m:r>
                          <a:rPr lang="en-US" altLang="zh-CN" sz="1300" i="1">
                            <a:solidFill>
                              <a:srgbClr val="FF0000"/>
                            </a:solidFill>
                            <a:latin typeface="Cambria Math" panose="02040503050406030204" pitchFamily="18" charset="0"/>
                            <a:ea typeface="+mn-ea"/>
                            <a:cs typeface="Times New Roman" panose="02020603050405020304" pitchFamily="18" charset="0"/>
                          </a:rPr>
                          <m:t>𝑑</m:t>
                        </m:r>
                      </m:sub>
                    </m:sSub>
                  </m:oMath>
                </a14:m>
                <a:r>
                  <a:rPr lang="zh-CN" altLang="zh-CN" sz="1300" dirty="0">
                    <a:solidFill>
                      <a:srgbClr val="FF0000"/>
                    </a:solidFill>
                    <a:latin typeface="+mn-ea"/>
                    <a:ea typeface="+mn-ea"/>
                    <a:cs typeface="Times New Roman" panose="02020603050405020304" pitchFamily="18" charset="0"/>
                  </a:rPr>
                  <a:t>，一个负的奖励（即奖励为</a:t>
                </a:r>
                <a:r>
                  <a:rPr lang="en-US" altLang="zh-CN" sz="1300" dirty="0">
                    <a:solidFill>
                      <a:srgbClr val="FF0000"/>
                    </a:solidFill>
                    <a:latin typeface="+mn-ea"/>
                    <a:ea typeface="+mn-ea"/>
                    <a:cs typeface="Times New Roman" panose="02020603050405020304" pitchFamily="18" charset="0"/>
                  </a:rPr>
                  <a:t>-1</a:t>
                </a:r>
                <a:r>
                  <a:rPr lang="zh-CN" altLang="zh-CN" sz="1300" dirty="0">
                    <a:solidFill>
                      <a:srgbClr val="FF0000"/>
                    </a:solidFill>
                    <a:latin typeface="+mn-ea"/>
                    <a:ea typeface="+mn-ea"/>
                    <a:cs typeface="Times New Roman" panose="02020603050405020304" pitchFamily="18" charset="0"/>
                  </a:rPr>
                  <a:t>）使</a:t>
                </a:r>
                <a14:m>
                  <m:oMath xmlns:m="http://schemas.openxmlformats.org/officeDocument/2006/math">
                    <m:sSub>
                      <m:sSubPr>
                        <m:ctrlPr>
                          <a:rPr lang="zh-CN" altLang="zh-CN" sz="1300" i="1">
                            <a:solidFill>
                              <a:srgbClr val="FF0000"/>
                            </a:solidFill>
                            <a:latin typeface="Cambria Math" panose="02040503050406030204" pitchFamily="18" charset="0"/>
                            <a:ea typeface="+mn-ea"/>
                            <a:cs typeface="Times New Roman" panose="02020603050405020304" pitchFamily="18" charset="0"/>
                          </a:rPr>
                        </m:ctrlPr>
                      </m:sSubPr>
                      <m:e>
                        <m:r>
                          <a:rPr lang="en-US" altLang="zh-CN" sz="1300" i="1">
                            <a:solidFill>
                              <a:srgbClr val="FF0000"/>
                            </a:solidFill>
                            <a:latin typeface="Cambria Math" panose="02040503050406030204" pitchFamily="18" charset="0"/>
                            <a:ea typeface="+mn-ea"/>
                            <a:cs typeface="Times New Roman" panose="02020603050405020304" pitchFamily="18" charset="0"/>
                          </a:rPr>
                          <m:t>𝑞</m:t>
                        </m:r>
                      </m:e>
                      <m:sub>
                        <m:r>
                          <a:rPr lang="en-US" altLang="zh-CN" sz="1300" i="1">
                            <a:solidFill>
                              <a:srgbClr val="FF0000"/>
                            </a:solidFill>
                            <a:latin typeface="Cambria Math" panose="02040503050406030204" pitchFamily="18" charset="0"/>
                            <a:ea typeface="+mn-ea"/>
                            <a:cs typeface="Times New Roman" panose="02020603050405020304" pitchFamily="18" charset="0"/>
                          </a:rPr>
                          <m:t>𝜋</m:t>
                        </m:r>
                      </m:sub>
                    </m:sSub>
                    <m:r>
                      <a:rPr lang="en-US" altLang="zh-CN" sz="1300" i="1">
                        <a:solidFill>
                          <a:srgbClr val="FF0000"/>
                        </a:solidFill>
                        <a:latin typeface="Cambria Math" panose="02040503050406030204" pitchFamily="18" charset="0"/>
                        <a:ea typeface="+mn-ea"/>
                        <a:cs typeface="Times New Roman" panose="02020603050405020304" pitchFamily="18" charset="0"/>
                      </a:rPr>
                      <m:t>(</m:t>
                    </m:r>
                    <m:sSub>
                      <m:sSubPr>
                        <m:ctrlPr>
                          <a:rPr lang="zh-CN" altLang="zh-CN" sz="1300" i="1">
                            <a:solidFill>
                              <a:srgbClr val="FF0000"/>
                            </a:solidFill>
                            <a:latin typeface="Cambria Math" panose="02040503050406030204" pitchFamily="18" charset="0"/>
                            <a:ea typeface="+mn-ea"/>
                            <a:cs typeface="Times New Roman" panose="02020603050405020304" pitchFamily="18" charset="0"/>
                          </a:rPr>
                        </m:ctrlPr>
                      </m:sSubPr>
                      <m:e>
                        <m:r>
                          <a:rPr lang="en-US" altLang="zh-CN" sz="1300" i="1">
                            <a:solidFill>
                              <a:srgbClr val="FF0000"/>
                            </a:solidFill>
                            <a:latin typeface="Cambria Math" panose="02040503050406030204" pitchFamily="18" charset="0"/>
                            <a:ea typeface="+mn-ea"/>
                            <a:cs typeface="Times New Roman" panose="02020603050405020304" pitchFamily="18" charset="0"/>
                          </a:rPr>
                          <m:t>𝑠</m:t>
                        </m:r>
                      </m:e>
                      <m:sub>
                        <m:r>
                          <a:rPr lang="en-US" altLang="zh-CN" sz="1300" i="1">
                            <a:solidFill>
                              <a:srgbClr val="FF0000"/>
                            </a:solidFill>
                            <a:latin typeface="Cambria Math" panose="02040503050406030204" pitchFamily="18" charset="0"/>
                            <a:ea typeface="+mn-ea"/>
                            <a:cs typeface="Times New Roman" panose="02020603050405020304" pitchFamily="18" charset="0"/>
                          </a:rPr>
                          <m:t>7</m:t>
                        </m:r>
                      </m:sub>
                    </m:sSub>
                    <m:r>
                      <a:rPr lang="en-US" altLang="zh-CN" sz="1300" i="1">
                        <a:solidFill>
                          <a:srgbClr val="FF0000"/>
                        </a:solidFill>
                        <a:latin typeface="Cambria Math" panose="02040503050406030204" pitchFamily="18" charset="0"/>
                        <a:ea typeface="+mn-ea"/>
                        <a:cs typeface="Times New Roman" panose="02020603050405020304" pitchFamily="18" charset="0"/>
                      </a:rPr>
                      <m:t>,</m:t>
                    </m:r>
                    <m:r>
                      <a:rPr lang="zh-CN" altLang="zh-CN" sz="1300">
                        <a:solidFill>
                          <a:srgbClr val="FF0000"/>
                        </a:solidFill>
                        <a:latin typeface="Cambria Math" panose="02040503050406030204" pitchFamily="18" charset="0"/>
                        <a:ea typeface="+mn-ea"/>
                        <a:cs typeface="Times New Roman" panose="02020603050405020304" pitchFamily="18" charset="0"/>
                      </a:rPr>
                      <m:t>上</m:t>
                    </m:r>
                    <m:r>
                      <a:rPr lang="en-US" altLang="zh-CN" sz="1300" i="1">
                        <a:solidFill>
                          <a:srgbClr val="FF0000"/>
                        </a:solidFill>
                        <a:latin typeface="Cambria Math" panose="02040503050406030204" pitchFamily="18" charset="0"/>
                        <a:ea typeface="+mn-ea"/>
                        <a:cs typeface="Times New Roman" panose="02020603050405020304" pitchFamily="18" charset="0"/>
                      </a:rPr>
                      <m:t>)</m:t>
                    </m:r>
                  </m:oMath>
                </a14:m>
                <a:r>
                  <a:rPr lang="zh-CN" altLang="zh-CN" sz="1300" dirty="0">
                    <a:solidFill>
                      <a:srgbClr val="FF0000"/>
                    </a:solidFill>
                    <a:latin typeface="+mn-ea"/>
                    <a:ea typeface="+mn-ea"/>
                    <a:cs typeface="Times New Roman" panose="02020603050405020304" pitchFamily="18" charset="0"/>
                  </a:rPr>
                  <a:t>变为负值</a:t>
                </a:r>
                <a:r>
                  <a:rPr lang="zh-CN" altLang="zh-CN" sz="1300" dirty="0">
                    <a:solidFill>
                      <a:srgbClr val="000000"/>
                    </a:solidFill>
                    <a:latin typeface="+mn-ea"/>
                    <a:ea typeface="+mn-ea"/>
                    <a:cs typeface="Times New Roman" panose="02020603050405020304" pitchFamily="18" charset="0"/>
                  </a:rPr>
                  <a:t>，此时策略</a:t>
                </a:r>
                <a14:m>
                  <m:oMath xmlns:m="http://schemas.openxmlformats.org/officeDocument/2006/math">
                    <m:r>
                      <a:rPr lang="en-US" altLang="zh-CN" sz="1300" i="1">
                        <a:solidFill>
                          <a:srgbClr val="000000"/>
                        </a:solidFill>
                        <a:latin typeface="Cambria Math" panose="02040503050406030204" pitchFamily="18" charset="0"/>
                        <a:ea typeface="+mn-ea"/>
                        <a:cs typeface="Times New Roman" panose="02020603050405020304" pitchFamily="18" charset="0"/>
                      </a:rPr>
                      <m:t>𝜋</m:t>
                    </m:r>
                    <m:r>
                      <a:rPr lang="en-US" altLang="zh-CN" sz="1300" i="1">
                        <a:solidFill>
                          <a:srgbClr val="000000"/>
                        </a:solidFill>
                        <a:latin typeface="Cambria Math" panose="02040503050406030204" pitchFamily="18" charset="0"/>
                        <a:ea typeface="+mn-ea"/>
                        <a:cs typeface="Times New Roman" panose="02020603050405020304" pitchFamily="18" charset="0"/>
                      </a:rPr>
                      <m:t>(</m:t>
                    </m:r>
                    <m:sSub>
                      <m:sSubPr>
                        <m:ctrlPr>
                          <a:rPr lang="zh-CN" altLang="zh-CN" sz="1300" i="1">
                            <a:solidFill>
                              <a:srgbClr val="000000"/>
                            </a:solidFill>
                            <a:latin typeface="Cambria Math" panose="02040503050406030204" pitchFamily="18" charset="0"/>
                            <a:ea typeface="+mn-ea"/>
                            <a:cs typeface="Times New Roman" panose="02020603050405020304" pitchFamily="18" charset="0"/>
                          </a:rPr>
                        </m:ctrlPr>
                      </m:sSubPr>
                      <m:e>
                        <m:r>
                          <a:rPr lang="en-US" altLang="zh-CN" sz="1300" i="1">
                            <a:solidFill>
                              <a:srgbClr val="000000"/>
                            </a:solidFill>
                            <a:latin typeface="Cambria Math" panose="02040503050406030204" pitchFamily="18" charset="0"/>
                            <a:ea typeface="+mn-ea"/>
                            <a:cs typeface="Times New Roman" panose="02020603050405020304" pitchFamily="18" charset="0"/>
                          </a:rPr>
                          <m:t>𝑠</m:t>
                        </m:r>
                      </m:e>
                      <m:sub>
                        <m:r>
                          <a:rPr lang="en-US" altLang="zh-CN" sz="1300" i="1">
                            <a:solidFill>
                              <a:srgbClr val="000000"/>
                            </a:solidFill>
                            <a:latin typeface="Cambria Math" panose="02040503050406030204" pitchFamily="18" charset="0"/>
                            <a:ea typeface="+mn-ea"/>
                            <a:cs typeface="Times New Roman" panose="02020603050405020304" pitchFamily="18" charset="0"/>
                          </a:rPr>
                          <m:t>7</m:t>
                        </m:r>
                      </m:sub>
                    </m:sSub>
                    <m:r>
                      <a:rPr lang="en-US" altLang="zh-CN" sz="1300" i="1">
                        <a:solidFill>
                          <a:srgbClr val="000000"/>
                        </a:solidFill>
                        <a:latin typeface="Cambria Math" panose="02040503050406030204" pitchFamily="18" charset="0"/>
                        <a:ea typeface="+mn-ea"/>
                        <a:cs typeface="Times New Roman" panose="02020603050405020304" pitchFamily="18" charset="0"/>
                      </a:rPr>
                      <m:t>)</m:t>
                    </m:r>
                  </m:oMath>
                </a14:m>
                <a:r>
                  <a:rPr lang="zh-CN" altLang="zh-CN" sz="1300" dirty="0">
                    <a:solidFill>
                      <a:srgbClr val="000000"/>
                    </a:solidFill>
                    <a:latin typeface="+mn-ea"/>
                    <a:ea typeface="+mn-ea"/>
                    <a:cs typeface="Times New Roman" panose="02020603050405020304" pitchFamily="18" charset="0"/>
                  </a:rPr>
                  <a:t>从</a:t>
                </a:r>
                <a:r>
                  <a:rPr lang="en-US" altLang="zh-CN" sz="1300" dirty="0">
                    <a:solidFill>
                      <a:srgbClr val="000000"/>
                    </a:solidFill>
                    <a:latin typeface="+mn-ea"/>
                    <a:ea typeface="+mn-ea"/>
                    <a:cs typeface="Times New Roman" panose="02020603050405020304" pitchFamily="18" charset="0"/>
                  </a:rPr>
                  <a:t>“</a:t>
                </a:r>
                <a:r>
                  <a:rPr lang="zh-CN" altLang="zh-CN" sz="1300" dirty="0">
                    <a:solidFill>
                      <a:srgbClr val="000000"/>
                    </a:solidFill>
                    <a:latin typeface="+mn-ea"/>
                    <a:ea typeface="+mn-ea"/>
                    <a:cs typeface="Times New Roman" panose="02020603050405020304" pitchFamily="18" charset="0"/>
                  </a:rPr>
                  <a:t>向上移动一个方格</a:t>
                </a:r>
                <a:r>
                  <a:rPr lang="en-US" altLang="zh-CN" sz="1300" dirty="0">
                    <a:solidFill>
                      <a:srgbClr val="000000"/>
                    </a:solidFill>
                    <a:latin typeface="+mn-ea"/>
                    <a:ea typeface="+mn-ea"/>
                    <a:cs typeface="Times New Roman" panose="02020603050405020304" pitchFamily="18" charset="0"/>
                  </a:rPr>
                  <a:t>”</a:t>
                </a:r>
                <a:r>
                  <a:rPr lang="zh-CN" altLang="zh-CN" sz="1300" dirty="0">
                    <a:solidFill>
                      <a:srgbClr val="000000"/>
                    </a:solidFill>
                    <a:latin typeface="+mn-ea"/>
                    <a:ea typeface="+mn-ea"/>
                    <a:cs typeface="Times New Roman" panose="02020603050405020304" pitchFamily="18" charset="0"/>
                  </a:rPr>
                  <a:t>变成了</a:t>
                </a:r>
                <a:r>
                  <a:rPr lang="en-US" altLang="zh-CN" sz="1300" dirty="0">
                    <a:solidFill>
                      <a:srgbClr val="000000"/>
                    </a:solidFill>
                    <a:latin typeface="+mn-ea"/>
                    <a:ea typeface="+mn-ea"/>
                    <a:cs typeface="Times New Roman" panose="02020603050405020304" pitchFamily="18" charset="0"/>
                  </a:rPr>
                  <a:t>“</a:t>
                </a:r>
                <a:r>
                  <a:rPr lang="zh-CN" altLang="zh-CN" sz="1300" dirty="0">
                    <a:solidFill>
                      <a:srgbClr val="000000"/>
                    </a:solidFill>
                    <a:latin typeface="+mn-ea"/>
                    <a:ea typeface="+mn-ea"/>
                    <a:cs typeface="Times New Roman" panose="02020603050405020304" pitchFamily="18" charset="0"/>
                  </a:rPr>
                  <a:t>向右移动一个方格</a:t>
                </a:r>
                <a:r>
                  <a:rPr lang="en-US" altLang="zh-CN" sz="1300" dirty="0">
                    <a:solidFill>
                      <a:srgbClr val="000000"/>
                    </a:solidFill>
                    <a:latin typeface="+mn-ea"/>
                    <a:ea typeface="+mn-ea"/>
                    <a:cs typeface="Times New Roman" panose="02020603050405020304" pitchFamily="18" charset="0"/>
                  </a:rPr>
                  <a:t>”</a:t>
                </a:r>
                <a:r>
                  <a:rPr lang="zh-CN" altLang="zh-CN" sz="1300" dirty="0">
                    <a:solidFill>
                      <a:srgbClr val="000000"/>
                    </a:solidFill>
                    <a:latin typeface="+mn-ea"/>
                    <a:ea typeface="+mn-ea"/>
                    <a:cs typeface="Times New Roman" panose="02020603050405020304" pitchFamily="18" charset="0"/>
                  </a:rPr>
                  <a:t>，至此智能体完成了一个片段（一次外层循环）的更新。</a:t>
                </a:r>
              </a:p>
            </p:txBody>
          </p:sp>
        </mc:Choice>
        <mc:Fallback xmlns="">
          <p:sp>
            <p:nvSpPr>
              <p:cNvPr id="7" name="矩形 6">
                <a:extLst>
                  <a:ext uri="{FF2B5EF4-FFF2-40B4-BE49-F238E27FC236}">
                    <a16:creationId xmlns:a16="http://schemas.microsoft.com/office/drawing/2014/main" id="{A0C8C11F-7513-4537-A52A-1949D7DDC294}"/>
                  </a:ext>
                </a:extLst>
              </p:cNvPr>
              <p:cNvSpPr>
                <a:spLocks noRot="1" noChangeAspect="1" noMove="1" noResize="1" noEditPoints="1" noAdjustHandles="1" noChangeArrowheads="1" noChangeShapeType="1" noTextEdit="1"/>
              </p:cNvSpPr>
              <p:nvPr/>
            </p:nvSpPr>
            <p:spPr>
              <a:xfrm>
                <a:off x="179512" y="1148923"/>
                <a:ext cx="3226310" cy="3433248"/>
              </a:xfrm>
              <a:prstGeom prst="rect">
                <a:avLst/>
              </a:prstGeom>
              <a:blipFill>
                <a:blip r:embed="rId4"/>
                <a:stretch>
                  <a:fillRect l="-189" r="-189"/>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26C1574A-442C-800B-9CC2-2E5E8AED5E27}"/>
              </a:ext>
            </a:extLst>
          </p:cNvPr>
          <p:cNvGrpSpPr/>
          <p:nvPr/>
        </p:nvGrpSpPr>
        <p:grpSpPr>
          <a:xfrm>
            <a:off x="611560" y="483518"/>
            <a:ext cx="5598290" cy="373451"/>
            <a:chOff x="4099943" y="2819853"/>
            <a:chExt cx="2570275" cy="497934"/>
          </a:xfrm>
        </p:grpSpPr>
        <p:sp>
          <p:nvSpPr>
            <p:cNvPr id="10" name="平行四边形 9">
              <a:extLst>
                <a:ext uri="{FF2B5EF4-FFF2-40B4-BE49-F238E27FC236}">
                  <a16:creationId xmlns:a16="http://schemas.microsoft.com/office/drawing/2014/main" id="{978EBFAE-F2EA-0C64-7D34-03545B4D0B20}"/>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1" name="平行四边形 10">
              <a:extLst>
                <a:ext uri="{FF2B5EF4-FFF2-40B4-BE49-F238E27FC236}">
                  <a16:creationId xmlns:a16="http://schemas.microsoft.com/office/drawing/2014/main" id="{B58A5FC4-D09B-A1CB-CF66-06666A58A690}"/>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2" name="矩形 11">
              <a:extLst>
                <a:ext uri="{FF2B5EF4-FFF2-40B4-BE49-F238E27FC236}">
                  <a16:creationId xmlns:a16="http://schemas.microsoft.com/office/drawing/2014/main" id="{B3FD0171-A840-2293-82F5-74557D6C7B54}"/>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mn-ea"/>
                  <a:ea typeface="+mn-ea"/>
                  <a:cs typeface="Times New Roman" panose="02020603050405020304" pitchFamily="18" charset="0"/>
                </a:rPr>
                <a:t> </a:t>
              </a:r>
              <a:r>
                <a:rPr lang="en-US" altLang="zh-CN" sz="1500" dirty="0" smtClean="0">
                  <a:solidFill>
                    <a:srgbClr val="0070C0"/>
                  </a:solidFill>
                  <a:latin typeface="+mn-ea"/>
                  <a:ea typeface="+mn-ea"/>
                  <a:cs typeface="Times New Roman" panose="02020603050405020304" pitchFamily="18" charset="0"/>
                </a:rPr>
                <a:t>Q</a:t>
              </a:r>
              <a:r>
                <a:rPr lang="zh-CN" altLang="en-US" sz="1500" dirty="0">
                  <a:solidFill>
                    <a:srgbClr val="0070C0"/>
                  </a:solidFill>
                  <a:latin typeface="+mn-ea"/>
                  <a:ea typeface="+mn-ea"/>
                  <a:cs typeface="Times New Roman" panose="02020603050405020304" pitchFamily="18" charset="0"/>
                </a:rPr>
                <a:t>学习算法</a:t>
              </a:r>
            </a:p>
          </p:txBody>
        </p:sp>
      </p:grpSp>
    </p:spTree>
    <p:extLst>
      <p:ext uri="{BB962C8B-B14F-4D97-AF65-F5344CB8AC3E}">
        <p14:creationId xmlns:p14="http://schemas.microsoft.com/office/powerpoint/2010/main" val="3215642545"/>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758B320-A401-484B-89CE-650A64BEE03C}"/>
              </a:ext>
            </a:extLst>
          </p:cNvPr>
          <p:cNvPicPr>
            <a:picLocks noChangeAspect="1"/>
          </p:cNvPicPr>
          <p:nvPr/>
        </p:nvPicPr>
        <p:blipFill>
          <a:blip r:embed="rId3"/>
          <a:stretch>
            <a:fillRect/>
          </a:stretch>
        </p:blipFill>
        <p:spPr>
          <a:xfrm>
            <a:off x="3266724" y="1203598"/>
            <a:ext cx="5787845" cy="3240360"/>
          </a:xfrm>
          <a:prstGeom prst="rect">
            <a:avLst/>
          </a:prstGeom>
        </p:spPr>
      </p:pic>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DBE72D0-C72B-43D7-8DBF-A52AD58BD881}"/>
                  </a:ext>
                </a:extLst>
              </p:cNvPr>
              <p:cNvSpPr/>
              <p:nvPr/>
            </p:nvSpPr>
            <p:spPr>
              <a:xfrm>
                <a:off x="131746" y="1335415"/>
                <a:ext cx="3168352" cy="3108543"/>
              </a:xfrm>
              <a:prstGeom prst="rect">
                <a:avLst/>
              </a:prstGeom>
            </p:spPr>
            <p:txBody>
              <a:bodyPr wrap="square">
                <a:spAutoFit/>
              </a:bodyPr>
              <a:lstStyle/>
              <a:p>
                <a:pPr indent="200025" algn="just">
                  <a:lnSpc>
                    <a:spcPct val="200000"/>
                  </a:lnSpc>
                  <a:spcAft>
                    <a:spcPts val="0"/>
                  </a:spcAft>
                </a:pPr>
                <a:r>
                  <a:rPr lang="zh-CN" altLang="zh-CN" dirty="0">
                    <a:solidFill>
                      <a:srgbClr val="000000"/>
                    </a:solidFill>
                    <a:latin typeface="+mn-ea"/>
                    <a:ea typeface="+mn-ea"/>
                    <a:cs typeface="Times New Roman" panose="02020603050405020304" pitchFamily="18" charset="0"/>
                  </a:rPr>
                  <a:t>图</a:t>
                </a:r>
                <a:r>
                  <a:rPr lang="en-US" altLang="zh-CN" dirty="0">
                    <a:solidFill>
                      <a:srgbClr val="000000"/>
                    </a:solidFill>
                    <a:latin typeface="+mn-ea"/>
                    <a:ea typeface="+mn-ea"/>
                    <a:cs typeface="Times New Roman" panose="02020603050405020304" pitchFamily="18" charset="0"/>
                  </a:rPr>
                  <a:t>6.11</a:t>
                </a:r>
                <a:r>
                  <a:rPr lang="zh-CN" altLang="zh-CN" dirty="0">
                    <a:solidFill>
                      <a:srgbClr val="000000"/>
                    </a:solidFill>
                    <a:latin typeface="+mn-ea"/>
                    <a:ea typeface="+mn-ea"/>
                    <a:cs typeface="Times New Roman" panose="02020603050405020304" pitchFamily="18" charset="0"/>
                  </a:rPr>
                  <a:t>展示了</a:t>
                </a:r>
                <a:r>
                  <a:rPr lang="en-US" altLang="zh-CN" dirty="0">
                    <a:solidFill>
                      <a:srgbClr val="000000"/>
                    </a:solidFill>
                    <a:latin typeface="+mn-ea"/>
                    <a:ea typeface="+mn-ea"/>
                    <a:cs typeface="Times New Roman" panose="02020603050405020304" pitchFamily="18" charset="0"/>
                  </a:rPr>
                  <a:t>Q</a:t>
                </a:r>
                <a:r>
                  <a:rPr lang="zh-CN" altLang="zh-CN" dirty="0">
                    <a:solidFill>
                      <a:srgbClr val="000000"/>
                    </a:solidFill>
                    <a:latin typeface="+mn-ea"/>
                    <a:ea typeface="+mn-ea"/>
                    <a:cs typeface="Times New Roman" panose="02020603050405020304" pitchFamily="18" charset="0"/>
                  </a:rPr>
                  <a:t>学习算法执行三个片段的过程，从第二个片段结束时起，算法已经学习得到了沿着轨迹</a:t>
                </a:r>
                <a14:m>
                  <m:oMath xmlns:m="http://schemas.openxmlformats.org/officeDocument/2006/math">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1</m:t>
                        </m:r>
                      </m:sub>
                    </m:sSub>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4</m:t>
                        </m:r>
                      </m:sub>
                    </m:sSub>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7</m:t>
                        </m:r>
                      </m:sub>
                    </m:sSub>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8</m:t>
                        </m:r>
                      </m:sub>
                    </m:sSub>
                    <m:r>
                      <a:rPr lang="en-US" altLang="zh-CN" i="1">
                        <a:solidFill>
                          <a:srgbClr val="000000"/>
                        </a:solidFill>
                        <a:latin typeface="Cambria Math" panose="02040503050406030204" pitchFamily="18" charset="0"/>
                        <a:ea typeface="+mn-ea"/>
                        <a:cs typeface="Times New Roman" panose="02020603050405020304" pitchFamily="18" charset="0"/>
                      </a:rPr>
                      <m:t>,</m:t>
                    </m:r>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9</m:t>
                        </m:r>
                      </m:sub>
                    </m:sSub>
                    <m:r>
                      <a:rPr lang="en-US" altLang="zh-CN" i="1">
                        <a:solidFill>
                          <a:srgbClr val="000000"/>
                        </a:solidFill>
                        <a:latin typeface="Cambria Math" panose="02040503050406030204" pitchFamily="18" charset="0"/>
                        <a:ea typeface="+mn-ea"/>
                        <a:cs typeface="Times New Roman" panose="02020603050405020304" pitchFamily="18" charset="0"/>
                      </a:rPr>
                      <m:t>)</m:t>
                    </m:r>
                  </m:oMath>
                </a14:m>
                <a:r>
                  <a:rPr lang="zh-CN" altLang="zh-CN" dirty="0">
                    <a:solidFill>
                      <a:srgbClr val="000000"/>
                    </a:solidFill>
                    <a:latin typeface="+mn-ea"/>
                    <a:ea typeface="+mn-ea"/>
                    <a:cs typeface="Times New Roman" panose="02020603050405020304" pitchFamily="18" charset="0"/>
                  </a:rPr>
                  <a:t>到达目标状态</a:t>
                </a:r>
                <a14:m>
                  <m:oMath xmlns:m="http://schemas.openxmlformats.org/officeDocument/2006/math">
                    <m:sSub>
                      <m:sSubPr>
                        <m:ctrlPr>
                          <a:rPr lang="zh-CN" altLang="zh-CN" i="1">
                            <a:solidFill>
                              <a:srgbClr val="000000"/>
                            </a:solidFill>
                            <a:latin typeface="Cambria Math" panose="02040503050406030204" pitchFamily="18" charset="0"/>
                            <a:ea typeface="+mn-ea"/>
                            <a:cs typeface="Times New Roman" panose="02020603050405020304" pitchFamily="18" charset="0"/>
                          </a:rPr>
                        </m:ctrlPr>
                      </m:sSubPr>
                      <m:e>
                        <m:r>
                          <a:rPr lang="en-US" altLang="zh-CN" i="1">
                            <a:solidFill>
                              <a:srgbClr val="000000"/>
                            </a:solidFill>
                            <a:latin typeface="Cambria Math" panose="02040503050406030204" pitchFamily="18" charset="0"/>
                            <a:ea typeface="+mn-ea"/>
                            <a:cs typeface="Times New Roman" panose="02020603050405020304" pitchFamily="18" charset="0"/>
                          </a:rPr>
                          <m:t>𝑠</m:t>
                        </m:r>
                      </m:e>
                      <m:sub>
                        <m:r>
                          <a:rPr lang="en-US" altLang="zh-CN" i="1">
                            <a:solidFill>
                              <a:srgbClr val="000000"/>
                            </a:solidFill>
                            <a:latin typeface="Cambria Math" panose="02040503050406030204" pitchFamily="18" charset="0"/>
                            <a:ea typeface="+mn-ea"/>
                            <a:cs typeface="Times New Roman" panose="02020603050405020304" pitchFamily="18" charset="0"/>
                          </a:rPr>
                          <m:t>9</m:t>
                        </m:r>
                      </m:sub>
                    </m:sSub>
                  </m:oMath>
                </a14:m>
                <a:r>
                  <a:rPr lang="zh-CN" altLang="zh-CN" dirty="0">
                    <a:solidFill>
                      <a:srgbClr val="000000"/>
                    </a:solidFill>
                    <a:latin typeface="+mn-ea"/>
                    <a:ea typeface="+mn-ea"/>
                    <a:cs typeface="Times New Roman" panose="02020603050405020304" pitchFamily="18" charset="0"/>
                  </a:rPr>
                  <a:t>的策略。实际上，虽然此时动作</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价值函数尚未收敛，但此后策略已经不会再发生变化了。</a:t>
                </a:r>
              </a:p>
            </p:txBody>
          </p:sp>
        </mc:Choice>
        <mc:Fallback xmlns="">
          <p:sp>
            <p:nvSpPr>
              <p:cNvPr id="9" name="矩形 8">
                <a:extLst>
                  <a:ext uri="{FF2B5EF4-FFF2-40B4-BE49-F238E27FC236}">
                    <a16:creationId xmlns:a16="http://schemas.microsoft.com/office/drawing/2014/main" id="{9DBE72D0-C72B-43D7-8DBF-A52AD58BD881}"/>
                  </a:ext>
                </a:extLst>
              </p:cNvPr>
              <p:cNvSpPr>
                <a:spLocks noRot="1" noChangeAspect="1" noMove="1" noResize="1" noEditPoints="1" noAdjustHandles="1" noChangeArrowheads="1" noChangeShapeType="1" noTextEdit="1"/>
              </p:cNvSpPr>
              <p:nvPr/>
            </p:nvSpPr>
            <p:spPr>
              <a:xfrm>
                <a:off x="131746" y="1335415"/>
                <a:ext cx="3168352" cy="3108543"/>
              </a:xfrm>
              <a:prstGeom prst="rect">
                <a:avLst/>
              </a:prstGeom>
              <a:blipFill>
                <a:blip r:embed="rId4"/>
                <a:stretch>
                  <a:fillRect l="-578" r="-6551"/>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799EC527-EF4E-7395-C271-C98FA22C2A1D}"/>
              </a:ext>
            </a:extLst>
          </p:cNvPr>
          <p:cNvGrpSpPr/>
          <p:nvPr/>
        </p:nvGrpSpPr>
        <p:grpSpPr>
          <a:xfrm>
            <a:off x="611560" y="483518"/>
            <a:ext cx="5598290" cy="373451"/>
            <a:chOff x="4099943" y="2819853"/>
            <a:chExt cx="2570275" cy="497934"/>
          </a:xfrm>
        </p:grpSpPr>
        <p:sp>
          <p:nvSpPr>
            <p:cNvPr id="10" name="平行四边形 9">
              <a:extLst>
                <a:ext uri="{FF2B5EF4-FFF2-40B4-BE49-F238E27FC236}">
                  <a16:creationId xmlns:a16="http://schemas.microsoft.com/office/drawing/2014/main" id="{A6414DA2-F26D-E548-D46F-7AE31EBF0C8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1" name="平行四边形 10">
              <a:extLst>
                <a:ext uri="{FF2B5EF4-FFF2-40B4-BE49-F238E27FC236}">
                  <a16:creationId xmlns:a16="http://schemas.microsoft.com/office/drawing/2014/main" id="{E3264507-06DD-3CED-B07D-45F6DB58A7D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2" name="矩形 11">
              <a:extLst>
                <a:ext uri="{FF2B5EF4-FFF2-40B4-BE49-F238E27FC236}">
                  <a16:creationId xmlns:a16="http://schemas.microsoft.com/office/drawing/2014/main" id="{8F2CCB4D-06DD-8875-0667-BCC84E1A7A49}"/>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5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学习算法</a:t>
              </a:r>
            </a:p>
          </p:txBody>
        </p:sp>
      </p:grpSp>
    </p:spTree>
    <p:extLst>
      <p:ext uri="{BB962C8B-B14F-4D97-AF65-F5344CB8AC3E}">
        <p14:creationId xmlns:p14="http://schemas.microsoft.com/office/powerpoint/2010/main" val="458867304"/>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文本框 12">
                <a:extLst>
                  <a:ext uri="{FF2B5EF4-FFF2-40B4-BE49-F238E27FC236}">
                    <a16:creationId xmlns:a16="http://schemas.microsoft.com/office/drawing/2014/main" id="{C9709322-CBFE-41F8-8440-DC71B46AFA38}"/>
                  </a:ext>
                </a:extLst>
              </p:cNvPr>
              <p:cNvSpPr txBox="1"/>
              <p:nvPr/>
            </p:nvSpPr>
            <p:spPr>
              <a:xfrm>
                <a:off x="1547664" y="987574"/>
                <a:ext cx="5397692" cy="2897075"/>
              </a:xfrm>
              <a:prstGeom prst="rect">
                <a:avLst/>
              </a:prstGeom>
              <a:noFill/>
              <a:ln>
                <a:solidFill>
                  <a:schemeClr val="tx1"/>
                </a:solidFill>
              </a:ln>
            </p:spPr>
            <p:txBody>
              <a:bodyPr wrap="square" rtlCol="0">
                <a:spAutoFit/>
              </a:bodyPr>
              <a:lstStyle/>
              <a:p>
                <a:r>
                  <a:rPr lang="zh-CN" altLang="en-US" sz="1200" dirty="0">
                    <a:latin typeface="+mn-ea"/>
                    <a:ea typeface="+mn-ea"/>
                    <a:cs typeface="Times New Roman" panose="02020603050405020304" pitchFamily="18" charset="0"/>
                  </a:rPr>
                  <a:t>初始化</a:t>
                </a:r>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𝑞</m:t>
                        </m:r>
                      </m:e>
                      <m:sub>
                        <m:r>
                          <a:rPr lang="en-US" altLang="zh-CN" sz="1200" b="0" i="1">
                            <a:latin typeface="Cambria Math" panose="02040503050406030204" pitchFamily="18" charset="0"/>
                            <a:ea typeface="+mn-ea"/>
                          </a:rPr>
                          <m:t>𝜋</m:t>
                        </m:r>
                      </m:sub>
                    </m:sSub>
                  </m:oMath>
                </a14:m>
                <a:r>
                  <a:rPr lang="zh-CN" altLang="en-US" sz="1200" dirty="0">
                    <a:latin typeface="+mn-ea"/>
                    <a:ea typeface="+mn-ea"/>
                    <a:cs typeface="Times New Roman" panose="02020603050405020304" pitchFamily="18" charset="0"/>
                  </a:rPr>
                  <a:t>函数</a:t>
                </a:r>
                <a:endParaRPr lang="en-US" altLang="zh-CN" sz="1200" dirty="0">
                  <a:latin typeface="+mn-ea"/>
                  <a:ea typeface="+mn-ea"/>
                  <a:cs typeface="Times New Roman" panose="02020603050405020304" pitchFamily="18" charset="0"/>
                </a:endParaRPr>
              </a:p>
              <a:p>
                <a:r>
                  <a:rPr lang="zh-CN" altLang="en-US" sz="1200" dirty="0">
                    <a:latin typeface="+mn-ea"/>
                    <a:ea typeface="+mn-ea"/>
                    <a:cs typeface="Times New Roman" panose="02020603050405020304" pitchFamily="18" charset="0"/>
                  </a:rPr>
                  <a:t>循环</a:t>
                </a:r>
                <a:endParaRPr lang="en-US" altLang="zh-CN" sz="1200" dirty="0">
                  <a:latin typeface="+mn-ea"/>
                  <a:ea typeface="+mn-ea"/>
                  <a:cs typeface="Times New Roman" panose="02020603050405020304" pitchFamily="18" charset="0"/>
                </a:endParaRPr>
              </a:p>
              <a:p>
                <a:r>
                  <a:rPr lang="en-US" altLang="zh-CN" sz="1200" dirty="0">
                    <a:latin typeface="+mn-ea"/>
                    <a:ea typeface="+mn-ea"/>
                    <a:cs typeface="Times New Roman" panose="02020603050405020304" pitchFamily="18" charset="0"/>
                  </a:rPr>
                  <a:t>        </a:t>
                </a:r>
                <a:r>
                  <a:rPr lang="zh-CN" altLang="en-US" sz="1200" dirty="0">
                    <a:latin typeface="+mn-ea"/>
                    <a:ea typeface="+mn-ea"/>
                    <a:cs typeface="Times New Roman" panose="02020603050405020304" pitchFamily="18" charset="0"/>
                  </a:rPr>
                  <a:t>初始化</a:t>
                </a:r>
                <a:r>
                  <a:rPr lang="en-US" altLang="zh-CN" sz="1200" dirty="0">
                    <a:latin typeface="+mn-ea"/>
                    <a:ea typeface="+mn-ea"/>
                    <a:cs typeface="Times New Roman" panose="02020603050405020304" pitchFamily="18" charset="0"/>
                  </a:rPr>
                  <a:t>s</a:t>
                </a:r>
              </a:p>
              <a:p>
                <a:r>
                  <a:rPr lang="en-US" altLang="zh-CN" sz="1200" dirty="0">
                    <a:latin typeface="+mn-ea"/>
                    <a:ea typeface="+mn-ea"/>
                    <a:cs typeface="Times New Roman" panose="02020603050405020304" pitchFamily="18" charset="0"/>
                  </a:rPr>
                  <a:t>        </a:t>
                </a:r>
                <a:r>
                  <a:rPr lang="zh-CN" altLang="en-US" sz="1200" dirty="0">
                    <a:latin typeface="+mn-ea"/>
                    <a:ea typeface="+mn-ea"/>
                    <a:cs typeface="Times New Roman" panose="02020603050405020304" pitchFamily="18" charset="0"/>
                  </a:rPr>
                  <a:t>循环</a:t>
                </a:r>
                <a:endParaRPr lang="en-US" altLang="zh-CN" sz="1200" dirty="0">
                  <a:latin typeface="+mn-ea"/>
                  <a:ea typeface="+mn-ea"/>
                  <a:cs typeface="Times New Roman" panose="02020603050405020304" pitchFamily="18" charset="0"/>
                </a:endParaRPr>
              </a:p>
              <a:p>
                <a:r>
                  <a:rPr lang="en-US" altLang="zh-CN" sz="1200" dirty="0">
                    <a:solidFill>
                      <a:srgbClr val="FF0000"/>
                    </a:solidFill>
                    <a:latin typeface="+mn-ea"/>
                    <a:ea typeface="+mn-ea"/>
                    <a:cs typeface="Times New Roman" panose="02020603050405020304" pitchFamily="18" charset="0"/>
                  </a:rPr>
                  <a:t>                </a:t>
                </a:r>
              </a:p>
              <a:p>
                <a:r>
                  <a:rPr lang="en-US" altLang="zh-CN" sz="1200" dirty="0">
                    <a:solidFill>
                      <a:srgbClr val="FF0000"/>
                    </a:solidFill>
                    <a:latin typeface="+mn-ea"/>
                    <a:ea typeface="+mn-ea"/>
                    <a:cs typeface="Times New Roman" panose="02020603050405020304" pitchFamily="18" charset="0"/>
                  </a:rPr>
                  <a:t>               </a:t>
                </a:r>
                <a14:m>
                  <m:oMath xmlns:m="http://schemas.openxmlformats.org/officeDocument/2006/math">
                    <m:r>
                      <a:rPr lang="en-US" altLang="zh-CN" sz="1050" b="0" i="1" dirty="0">
                        <a:solidFill>
                          <a:srgbClr val="FF0000"/>
                        </a:solidFill>
                        <a:latin typeface="Cambria Math" panose="02040503050406030204" pitchFamily="18" charset="0"/>
                        <a:ea typeface="+mn-ea"/>
                      </a:rPr>
                      <m:t>𝑎</m:t>
                    </m:r>
                    <m:r>
                      <a:rPr lang="en-US" altLang="zh-CN" sz="1050" b="0" i="1" dirty="0">
                        <a:solidFill>
                          <a:srgbClr val="FF0000"/>
                        </a:solidFill>
                        <a:latin typeface="Cambria Math" panose="02040503050406030204" pitchFamily="18" charset="0"/>
                        <a:ea typeface="+mn-ea"/>
                      </a:rPr>
                      <m:t>=</m:t>
                    </m:r>
                    <m:sSub>
                      <m:sSubPr>
                        <m:ctrlPr>
                          <a:rPr lang="en-US" altLang="zh-CN" sz="1050" i="1" dirty="0">
                            <a:solidFill>
                              <a:srgbClr val="FF0000"/>
                            </a:solidFill>
                            <a:latin typeface="Cambria Math" panose="02040503050406030204" pitchFamily="18" charset="0"/>
                            <a:ea typeface="+mn-ea"/>
                          </a:rPr>
                        </m:ctrlPr>
                      </m:sSubPr>
                      <m:e>
                        <m:r>
                          <m:rPr>
                            <m:sty m:val="p"/>
                          </m:rPr>
                          <a:rPr lang="en-US" altLang="zh-CN" sz="1050" b="0" i="1" dirty="0">
                            <a:solidFill>
                              <a:srgbClr val="FF0000"/>
                            </a:solidFill>
                            <a:latin typeface="Cambria Math" panose="02040503050406030204" pitchFamily="18" charset="0"/>
                            <a:ea typeface="+mn-ea"/>
                          </a:rPr>
                          <m:t>argmax</m:t>
                        </m:r>
                      </m:e>
                      <m:sub>
                        <m:sSup>
                          <m:sSupPr>
                            <m:ctrlPr>
                              <a:rPr lang="en-US" altLang="zh-CN" sz="1050" i="1" dirty="0">
                                <a:solidFill>
                                  <a:srgbClr val="FF0000"/>
                                </a:solidFill>
                                <a:latin typeface="Cambria Math" panose="02040503050406030204" pitchFamily="18" charset="0"/>
                                <a:ea typeface="+mn-ea"/>
                              </a:rPr>
                            </m:ctrlPr>
                          </m:sSupPr>
                          <m:e>
                            <m:r>
                              <a:rPr lang="en-US" altLang="zh-CN" sz="1050" b="0" i="1" dirty="0">
                                <a:solidFill>
                                  <a:srgbClr val="FF0000"/>
                                </a:solidFill>
                                <a:latin typeface="Cambria Math" panose="02040503050406030204" pitchFamily="18" charset="0"/>
                                <a:ea typeface="+mn-ea"/>
                              </a:rPr>
                              <m:t>𝑎</m:t>
                            </m:r>
                          </m:e>
                          <m:sup>
                            <m:r>
                              <a:rPr lang="en-US" altLang="zh-CN" sz="1050" b="0" i="1" dirty="0">
                                <a:solidFill>
                                  <a:srgbClr val="FF0000"/>
                                </a:solidFill>
                                <a:latin typeface="Cambria Math" panose="02040503050406030204" pitchFamily="18" charset="0"/>
                                <a:ea typeface="+mn-ea"/>
                              </a:rPr>
                              <m:t>′</m:t>
                            </m:r>
                          </m:sup>
                        </m:sSup>
                      </m:sub>
                    </m:sSub>
                    <m:sSub>
                      <m:sSubPr>
                        <m:ctrlPr>
                          <a:rPr lang="en-US" altLang="zh-CN" sz="1050" i="1" dirty="0">
                            <a:solidFill>
                              <a:srgbClr val="FF0000"/>
                            </a:solidFill>
                            <a:latin typeface="Cambria Math" panose="02040503050406030204" pitchFamily="18" charset="0"/>
                            <a:ea typeface="+mn-ea"/>
                          </a:rPr>
                        </m:ctrlPr>
                      </m:sSubPr>
                      <m:e>
                        <m:r>
                          <a:rPr lang="en-US" altLang="zh-CN" sz="1050" b="0" i="1" dirty="0">
                            <a:solidFill>
                              <a:srgbClr val="FF0000"/>
                            </a:solidFill>
                            <a:latin typeface="Cambria Math" panose="02040503050406030204" pitchFamily="18" charset="0"/>
                            <a:ea typeface="+mn-ea"/>
                          </a:rPr>
                          <m:t>𝑞</m:t>
                        </m:r>
                      </m:e>
                      <m:sub>
                        <m:r>
                          <a:rPr lang="en-US" altLang="zh-CN" sz="1050" b="0" i="1" dirty="0">
                            <a:solidFill>
                              <a:srgbClr val="FF0000"/>
                            </a:solidFill>
                            <a:latin typeface="Cambria Math" panose="02040503050406030204" pitchFamily="18" charset="0"/>
                            <a:ea typeface="+mn-ea"/>
                          </a:rPr>
                          <m:t>𝜋</m:t>
                        </m:r>
                      </m:sub>
                    </m:sSub>
                    <m:r>
                      <a:rPr lang="en-US" altLang="zh-CN" sz="1050" b="0" i="1" dirty="0">
                        <a:solidFill>
                          <a:srgbClr val="FF0000"/>
                        </a:solidFill>
                        <a:latin typeface="Cambria Math" panose="02040503050406030204" pitchFamily="18" charset="0"/>
                        <a:ea typeface="+mn-ea"/>
                      </a:rPr>
                      <m:t>(</m:t>
                    </m:r>
                    <m:r>
                      <a:rPr lang="en-US" altLang="zh-CN" sz="1050" b="0" i="1" dirty="0">
                        <a:solidFill>
                          <a:srgbClr val="FF0000"/>
                        </a:solidFill>
                        <a:latin typeface="Cambria Math" panose="02040503050406030204" pitchFamily="18" charset="0"/>
                        <a:ea typeface="+mn-ea"/>
                      </a:rPr>
                      <m:t>𝑠</m:t>
                    </m:r>
                    <m:r>
                      <a:rPr lang="en-US" altLang="zh-CN" sz="1050" b="0" i="1" dirty="0">
                        <a:solidFill>
                          <a:srgbClr val="FF0000"/>
                        </a:solidFill>
                        <a:latin typeface="Cambria Math" panose="02040503050406030204" pitchFamily="18" charset="0"/>
                        <a:ea typeface="+mn-ea"/>
                      </a:rPr>
                      <m:t>,</m:t>
                    </m:r>
                    <m:r>
                      <a:rPr lang="en-US" altLang="zh-CN" sz="1050" b="0" i="1" dirty="0">
                        <a:solidFill>
                          <a:srgbClr val="FF0000"/>
                        </a:solidFill>
                        <a:latin typeface="Cambria Math" panose="02040503050406030204" pitchFamily="18" charset="0"/>
                        <a:ea typeface="+mn-ea"/>
                      </a:rPr>
                      <m:t>𝑎</m:t>
                    </m:r>
                    <m:r>
                      <a:rPr lang="en-US" altLang="zh-CN" sz="1050" b="0" i="1" dirty="0">
                        <a:solidFill>
                          <a:srgbClr val="FF0000"/>
                        </a:solidFill>
                        <a:latin typeface="Cambria Math" panose="02040503050406030204" pitchFamily="18" charset="0"/>
                        <a:ea typeface="+mn-ea"/>
                      </a:rPr>
                      <m:t>′)</m:t>
                    </m:r>
                  </m:oMath>
                </a14:m>
                <a:endParaRPr lang="en-US" altLang="zh-CN" sz="1050" dirty="0">
                  <a:latin typeface="+mn-ea"/>
                  <a:ea typeface="+mn-ea"/>
                  <a:cs typeface="Times New Roman" panose="02020603050405020304" pitchFamily="18" charset="0"/>
                </a:endParaRPr>
              </a:p>
              <a:p>
                <a:r>
                  <a:rPr lang="en-US" altLang="zh-CN" sz="1200" dirty="0">
                    <a:solidFill>
                      <a:srgbClr val="FF0000"/>
                    </a:solidFill>
                    <a:latin typeface="+mn-ea"/>
                    <a:ea typeface="+mn-ea"/>
                    <a:cs typeface="Times New Roman" panose="02020603050405020304" pitchFamily="18" charset="0"/>
                  </a:rPr>
                  <a:t>               </a:t>
                </a:r>
              </a:p>
              <a:p>
                <a:r>
                  <a:rPr lang="en-US" altLang="zh-CN" sz="1200" dirty="0">
                    <a:solidFill>
                      <a:srgbClr val="FF0000"/>
                    </a:solidFill>
                    <a:latin typeface="+mn-ea"/>
                    <a:ea typeface="+mn-ea"/>
                    <a:cs typeface="Times New Roman" panose="02020603050405020304" pitchFamily="18" charset="0"/>
                  </a:rPr>
                  <a:t>               </a:t>
                </a:r>
                <a:r>
                  <a:rPr lang="zh-CN" altLang="en-US" sz="1200" dirty="0">
                    <a:solidFill>
                      <a:srgbClr val="FF0000"/>
                    </a:solidFill>
                    <a:latin typeface="+mn-ea"/>
                    <a:ea typeface="+mn-ea"/>
                    <a:cs typeface="Times New Roman" panose="02020603050405020304" pitchFamily="18" charset="0"/>
                  </a:rPr>
                  <a:t>执行动作</a:t>
                </a:r>
                <a14:m>
                  <m:oMath xmlns:m="http://schemas.openxmlformats.org/officeDocument/2006/math">
                    <m:r>
                      <a:rPr lang="en-US" altLang="zh-CN" sz="1200" b="0" i="1">
                        <a:solidFill>
                          <a:srgbClr val="FF0000"/>
                        </a:solidFill>
                        <a:latin typeface="Cambria Math" panose="02040503050406030204" pitchFamily="18" charset="0"/>
                        <a:ea typeface="+mn-ea"/>
                      </a:rPr>
                      <m:t>𝑎</m:t>
                    </m:r>
                  </m:oMath>
                </a14:m>
                <a:r>
                  <a:rPr lang="zh-CN" altLang="en-US" sz="1200" dirty="0">
                    <a:solidFill>
                      <a:srgbClr val="FF0000"/>
                    </a:solidFill>
                    <a:latin typeface="+mn-ea"/>
                    <a:ea typeface="+mn-ea"/>
                    <a:cs typeface="Times New Roman" panose="02020603050405020304" pitchFamily="18" charset="0"/>
                  </a:rPr>
                  <a:t>，观察奖励</a:t>
                </a:r>
                <a14:m>
                  <m:oMath xmlns:m="http://schemas.openxmlformats.org/officeDocument/2006/math">
                    <m:r>
                      <a:rPr lang="en-US" altLang="zh-CN" sz="1200" b="0" i="1">
                        <a:solidFill>
                          <a:srgbClr val="FF0000"/>
                        </a:solidFill>
                        <a:latin typeface="Cambria Math" panose="02040503050406030204" pitchFamily="18" charset="0"/>
                        <a:ea typeface="+mn-ea"/>
                      </a:rPr>
                      <m:t>𝑅</m:t>
                    </m:r>
                  </m:oMath>
                </a14:m>
                <a:r>
                  <a:rPr lang="zh-CN" altLang="en-US" sz="1200" dirty="0">
                    <a:solidFill>
                      <a:srgbClr val="FF0000"/>
                    </a:solidFill>
                    <a:latin typeface="+mn-ea"/>
                    <a:ea typeface="+mn-ea"/>
                    <a:cs typeface="Times New Roman" panose="02020603050405020304" pitchFamily="18" charset="0"/>
                  </a:rPr>
                  <a:t>和下一个状态</a:t>
                </a:r>
                <a14:m>
                  <m:oMath xmlns:m="http://schemas.openxmlformats.org/officeDocument/2006/math">
                    <m:r>
                      <a:rPr lang="en-US" altLang="zh-CN" sz="1200" b="0" i="1">
                        <a:solidFill>
                          <a:srgbClr val="FF0000"/>
                        </a:solidFill>
                        <a:latin typeface="Cambria Math" panose="02040503050406030204" pitchFamily="18" charset="0"/>
                        <a:ea typeface="+mn-ea"/>
                      </a:rPr>
                      <m:t>𝑠</m:t>
                    </m:r>
                    <m:r>
                      <a:rPr lang="en-US" altLang="zh-CN" sz="1200" b="0" i="1">
                        <a:solidFill>
                          <a:srgbClr val="FF0000"/>
                        </a:solidFill>
                        <a:latin typeface="Cambria Math" panose="02040503050406030204" pitchFamily="18" charset="0"/>
                        <a:ea typeface="+mn-ea"/>
                      </a:rPr>
                      <m:t>′</m:t>
                    </m:r>
                  </m:oMath>
                </a14:m>
                <a:endParaRPr lang="en-US" altLang="zh-CN" sz="1200" dirty="0">
                  <a:solidFill>
                    <a:srgbClr val="FF0000"/>
                  </a:solidFill>
                  <a:latin typeface="+mn-ea"/>
                  <a:ea typeface="+mn-ea"/>
                  <a:cs typeface="Times New Roman" panose="02020603050405020304" pitchFamily="18" charset="0"/>
                </a:endParaRPr>
              </a:p>
              <a:p>
                <a:r>
                  <a:rPr lang="zh-CN" altLang="en-US" sz="1200" dirty="0">
                    <a:solidFill>
                      <a:srgbClr val="FF0000"/>
                    </a:solidFill>
                    <a:latin typeface="+mn-ea"/>
                    <a:ea typeface="+mn-ea"/>
                    <a:cs typeface="Times New Roman" panose="02020603050405020304" pitchFamily="18" charset="0"/>
                  </a:rPr>
                  <a:t>                更新</a:t>
                </a:r>
                <a14:m>
                  <m:oMath xmlns:m="http://schemas.openxmlformats.org/officeDocument/2006/math">
                    <m:sSub>
                      <m:sSubPr>
                        <m:ctrlPr>
                          <a:rPr lang="en-US" altLang="zh-CN" sz="1200" i="1">
                            <a:solidFill>
                              <a:srgbClr val="FF0000"/>
                            </a:solidFill>
                            <a:latin typeface="Cambria Math" panose="02040503050406030204" pitchFamily="18" charset="0"/>
                            <a:ea typeface="+mn-ea"/>
                          </a:rPr>
                        </m:ctrlPr>
                      </m:sSubPr>
                      <m:e>
                        <m:r>
                          <a:rPr lang="en-US" altLang="zh-CN" sz="1200" b="0" i="1">
                            <a:solidFill>
                              <a:srgbClr val="FF0000"/>
                            </a:solidFill>
                            <a:latin typeface="Cambria Math" panose="02040503050406030204" pitchFamily="18" charset="0"/>
                            <a:ea typeface="+mn-ea"/>
                          </a:rPr>
                          <m:t>𝑞</m:t>
                        </m:r>
                      </m:e>
                      <m:sub>
                        <m:r>
                          <a:rPr lang="en-US" altLang="zh-CN" sz="1200" b="0" i="1">
                            <a:solidFill>
                              <a:srgbClr val="FF0000"/>
                            </a:solidFill>
                            <a:latin typeface="Cambria Math" panose="02040503050406030204" pitchFamily="18" charset="0"/>
                            <a:ea typeface="+mn-ea"/>
                          </a:rPr>
                          <m:t>𝜋</m:t>
                        </m:r>
                      </m:sub>
                    </m:sSub>
                    <m:d>
                      <m:dPr>
                        <m:ctrlPr>
                          <a:rPr lang="en-US" altLang="zh-CN" sz="1200" i="1">
                            <a:solidFill>
                              <a:srgbClr val="FF0000"/>
                            </a:solidFill>
                            <a:latin typeface="Cambria Math" panose="02040503050406030204" pitchFamily="18" charset="0"/>
                            <a:ea typeface="+mn-ea"/>
                          </a:rPr>
                        </m:ctrlPr>
                      </m:dPr>
                      <m:e>
                        <m:r>
                          <a:rPr lang="en-US" altLang="zh-CN" sz="1200" b="0" i="1">
                            <a:solidFill>
                              <a:srgbClr val="FF0000"/>
                            </a:solidFill>
                            <a:latin typeface="Cambria Math" panose="02040503050406030204" pitchFamily="18" charset="0"/>
                            <a:ea typeface="+mn-ea"/>
                          </a:rPr>
                          <m:t>𝑠</m:t>
                        </m:r>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𝑎</m:t>
                        </m:r>
                      </m:e>
                    </m:d>
                    <m:r>
                      <a:rPr lang="en-US" altLang="zh-CN" sz="1200" b="0" i="1">
                        <a:solidFill>
                          <a:srgbClr val="FF0000"/>
                        </a:solidFill>
                        <a:latin typeface="Cambria Math" panose="02040503050406030204" pitchFamily="18" charset="0"/>
                        <a:ea typeface="+mn-ea"/>
                      </a:rPr>
                      <m:t>←</m:t>
                    </m:r>
                    <m:sSub>
                      <m:sSubPr>
                        <m:ctrlPr>
                          <a:rPr lang="en-US" altLang="zh-CN" sz="1200" i="1">
                            <a:solidFill>
                              <a:srgbClr val="FF0000"/>
                            </a:solidFill>
                            <a:latin typeface="Cambria Math" panose="02040503050406030204" pitchFamily="18" charset="0"/>
                            <a:ea typeface="+mn-ea"/>
                          </a:rPr>
                        </m:ctrlPr>
                      </m:sSubPr>
                      <m:e>
                        <m:r>
                          <a:rPr lang="en-US" altLang="zh-CN" sz="1200" b="0" i="1">
                            <a:solidFill>
                              <a:srgbClr val="FF0000"/>
                            </a:solidFill>
                            <a:latin typeface="Cambria Math" panose="02040503050406030204" pitchFamily="18" charset="0"/>
                            <a:ea typeface="+mn-ea"/>
                          </a:rPr>
                          <m:t>𝑞</m:t>
                        </m:r>
                      </m:e>
                      <m:sub>
                        <m:r>
                          <a:rPr lang="en-US" altLang="zh-CN" sz="1200" b="0" i="1">
                            <a:solidFill>
                              <a:srgbClr val="FF0000"/>
                            </a:solidFill>
                            <a:latin typeface="Cambria Math" panose="02040503050406030204" pitchFamily="18" charset="0"/>
                            <a:ea typeface="+mn-ea"/>
                          </a:rPr>
                          <m:t>𝜋</m:t>
                        </m:r>
                      </m:sub>
                    </m:sSub>
                    <m:d>
                      <m:dPr>
                        <m:ctrlPr>
                          <a:rPr lang="en-US" altLang="zh-CN" sz="1200" i="1">
                            <a:solidFill>
                              <a:srgbClr val="FF0000"/>
                            </a:solidFill>
                            <a:latin typeface="Cambria Math" panose="02040503050406030204" pitchFamily="18" charset="0"/>
                            <a:ea typeface="+mn-ea"/>
                          </a:rPr>
                        </m:ctrlPr>
                      </m:dPr>
                      <m:e>
                        <m:r>
                          <a:rPr lang="en-US" altLang="zh-CN" sz="1200" b="0" i="1">
                            <a:solidFill>
                              <a:srgbClr val="FF0000"/>
                            </a:solidFill>
                            <a:latin typeface="Cambria Math" panose="02040503050406030204" pitchFamily="18" charset="0"/>
                            <a:ea typeface="+mn-ea"/>
                          </a:rPr>
                          <m:t>𝑠</m:t>
                        </m:r>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𝑎</m:t>
                        </m:r>
                      </m:e>
                    </m:d>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𝛼</m:t>
                    </m:r>
                    <m:d>
                      <m:dPr>
                        <m:begChr m:val="["/>
                        <m:endChr m:val="]"/>
                        <m:ctrlPr>
                          <a:rPr lang="en-US" altLang="zh-CN" sz="1200" i="1">
                            <a:solidFill>
                              <a:srgbClr val="FF0000"/>
                            </a:solidFill>
                            <a:latin typeface="Cambria Math" panose="02040503050406030204" pitchFamily="18" charset="0"/>
                            <a:ea typeface="+mn-ea"/>
                          </a:rPr>
                        </m:ctrlPr>
                      </m:dPr>
                      <m:e>
                        <m:r>
                          <a:rPr lang="en-US" altLang="zh-CN" sz="1200" b="0" i="1">
                            <a:solidFill>
                              <a:srgbClr val="FF0000"/>
                            </a:solidFill>
                            <a:latin typeface="Cambria Math" panose="02040503050406030204" pitchFamily="18" charset="0"/>
                            <a:ea typeface="+mn-ea"/>
                          </a:rPr>
                          <m:t>𝑅</m:t>
                        </m:r>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𝛾</m:t>
                        </m:r>
                        <m:sSub>
                          <m:sSubPr>
                            <m:ctrlPr>
                              <a:rPr lang="en-US" altLang="zh-CN" sz="1200" i="1">
                                <a:solidFill>
                                  <a:srgbClr val="FF0000"/>
                                </a:solidFill>
                                <a:latin typeface="Cambria Math" panose="02040503050406030204" pitchFamily="18" charset="0"/>
                                <a:ea typeface="+mn-ea"/>
                              </a:rPr>
                            </m:ctrlPr>
                          </m:sSubPr>
                          <m:e>
                            <m:r>
                              <a:rPr lang="en-US" altLang="zh-CN" sz="1200" b="0" i="1">
                                <a:solidFill>
                                  <a:srgbClr val="FF0000"/>
                                </a:solidFill>
                                <a:latin typeface="Cambria Math" panose="02040503050406030204" pitchFamily="18" charset="0"/>
                                <a:ea typeface="+mn-ea"/>
                              </a:rPr>
                              <m:t> </m:t>
                            </m:r>
                            <m:limLow>
                              <m:limLowPr>
                                <m:ctrlPr>
                                  <a:rPr lang="en-US" altLang="zh-CN" sz="1200" i="1">
                                    <a:solidFill>
                                      <a:srgbClr val="FF0000"/>
                                    </a:solidFill>
                                    <a:latin typeface="Cambria Math" panose="02040503050406030204" pitchFamily="18" charset="0"/>
                                    <a:ea typeface="+mn-ea"/>
                                  </a:rPr>
                                </m:ctrlPr>
                              </m:limLowPr>
                              <m:e>
                                <m:r>
                                  <m:rPr>
                                    <m:sty m:val="p"/>
                                  </m:rPr>
                                  <a:rPr lang="en-US" altLang="zh-CN" sz="1200" b="0" i="1">
                                    <a:solidFill>
                                      <a:srgbClr val="FF0000"/>
                                    </a:solidFill>
                                    <a:latin typeface="Cambria Math" panose="02040503050406030204" pitchFamily="18" charset="0"/>
                                    <a:ea typeface="+mn-ea"/>
                                  </a:rPr>
                                  <m:t>max</m:t>
                                </m:r>
                              </m:e>
                              <m:lim>
                                <m:sSup>
                                  <m:sSupPr>
                                    <m:ctrlPr>
                                      <a:rPr lang="en-US" altLang="zh-CN" sz="1200" i="1">
                                        <a:solidFill>
                                          <a:srgbClr val="FF0000"/>
                                        </a:solidFill>
                                        <a:latin typeface="Cambria Math" panose="02040503050406030204" pitchFamily="18" charset="0"/>
                                        <a:ea typeface="+mn-ea"/>
                                      </a:rPr>
                                    </m:ctrlPr>
                                  </m:sSupPr>
                                  <m:e>
                                    <m:r>
                                      <a:rPr lang="en-US" altLang="zh-CN" sz="1200" b="0" i="1">
                                        <a:solidFill>
                                          <a:srgbClr val="FF0000"/>
                                        </a:solidFill>
                                        <a:latin typeface="Cambria Math" panose="02040503050406030204" pitchFamily="18" charset="0"/>
                                        <a:ea typeface="+mn-ea"/>
                                      </a:rPr>
                                      <m:t>𝑎</m:t>
                                    </m:r>
                                  </m:e>
                                  <m:sup>
                                    <m:r>
                                      <a:rPr lang="en-US" altLang="zh-CN" sz="1200" b="0" i="1">
                                        <a:solidFill>
                                          <a:srgbClr val="FF0000"/>
                                        </a:solidFill>
                                        <a:latin typeface="Cambria Math" panose="02040503050406030204" pitchFamily="18" charset="0"/>
                                        <a:ea typeface="+mn-ea"/>
                                      </a:rPr>
                                      <m:t>′</m:t>
                                    </m:r>
                                  </m:sup>
                                </m:sSup>
                              </m:lim>
                            </m:limLow>
                            <m:r>
                              <a:rPr lang="en-US" altLang="zh-CN" sz="1200" b="0" i="1">
                                <a:solidFill>
                                  <a:srgbClr val="FF0000"/>
                                </a:solidFill>
                                <a:latin typeface="Cambria Math" panose="02040503050406030204" pitchFamily="18" charset="0"/>
                                <a:ea typeface="+mn-ea"/>
                              </a:rPr>
                              <m:t> </m:t>
                            </m:r>
                            <m:r>
                              <a:rPr lang="en-US" altLang="zh-CN" sz="1200" b="0" i="1">
                                <a:solidFill>
                                  <a:srgbClr val="FF0000"/>
                                </a:solidFill>
                                <a:latin typeface="Cambria Math" panose="02040503050406030204" pitchFamily="18" charset="0"/>
                                <a:ea typeface="+mn-ea"/>
                              </a:rPr>
                              <m:t>𝑞</m:t>
                            </m:r>
                          </m:e>
                          <m:sub>
                            <m:r>
                              <a:rPr lang="en-US" altLang="zh-CN" sz="1200" b="0" i="1">
                                <a:solidFill>
                                  <a:srgbClr val="FF0000"/>
                                </a:solidFill>
                                <a:latin typeface="Cambria Math" panose="02040503050406030204" pitchFamily="18" charset="0"/>
                                <a:ea typeface="+mn-ea"/>
                              </a:rPr>
                              <m:t>𝜋</m:t>
                            </m:r>
                          </m:sub>
                        </m:sSub>
                        <m:d>
                          <m:dPr>
                            <m:ctrlPr>
                              <a:rPr lang="en-US" altLang="zh-CN" sz="1200" i="1">
                                <a:solidFill>
                                  <a:srgbClr val="FF0000"/>
                                </a:solidFill>
                                <a:latin typeface="Cambria Math" panose="02040503050406030204" pitchFamily="18" charset="0"/>
                                <a:ea typeface="+mn-ea"/>
                              </a:rPr>
                            </m:ctrlPr>
                          </m:dPr>
                          <m:e>
                            <m:sSup>
                              <m:sSupPr>
                                <m:ctrlPr>
                                  <a:rPr lang="en-US" altLang="zh-CN" sz="1200" i="1">
                                    <a:solidFill>
                                      <a:srgbClr val="FF0000"/>
                                    </a:solidFill>
                                    <a:latin typeface="Cambria Math" panose="02040503050406030204" pitchFamily="18" charset="0"/>
                                    <a:ea typeface="+mn-ea"/>
                                  </a:rPr>
                                </m:ctrlPr>
                              </m:sSupPr>
                              <m:e>
                                <m:r>
                                  <a:rPr lang="en-US" altLang="zh-CN" sz="1200" b="0" i="1">
                                    <a:solidFill>
                                      <a:srgbClr val="FF0000"/>
                                    </a:solidFill>
                                    <a:latin typeface="Cambria Math" panose="02040503050406030204" pitchFamily="18" charset="0"/>
                                    <a:ea typeface="+mn-ea"/>
                                  </a:rPr>
                                  <m:t>𝑠</m:t>
                                </m:r>
                              </m:e>
                              <m:sup>
                                <m:r>
                                  <a:rPr lang="en-US" altLang="zh-CN" sz="1200" b="0" i="1">
                                    <a:solidFill>
                                      <a:srgbClr val="FF0000"/>
                                    </a:solidFill>
                                    <a:latin typeface="Cambria Math" panose="02040503050406030204" pitchFamily="18" charset="0"/>
                                    <a:ea typeface="+mn-ea"/>
                                  </a:rPr>
                                  <m:t>′</m:t>
                                </m:r>
                              </m:sup>
                            </m:sSup>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𝑎</m:t>
                            </m:r>
                            <m:r>
                              <a:rPr lang="en-US" altLang="zh-CN" sz="1200" b="0" i="1">
                                <a:solidFill>
                                  <a:srgbClr val="FF0000"/>
                                </a:solidFill>
                                <a:latin typeface="Cambria Math" panose="02040503050406030204" pitchFamily="18" charset="0"/>
                                <a:ea typeface="+mn-ea"/>
                              </a:rPr>
                              <m:t>′</m:t>
                            </m:r>
                          </m:e>
                        </m:d>
                        <m:r>
                          <a:rPr lang="en-US" altLang="zh-CN" sz="1200" b="0" i="1">
                            <a:solidFill>
                              <a:srgbClr val="FF0000"/>
                            </a:solidFill>
                            <a:latin typeface="Cambria Math" panose="02040503050406030204" pitchFamily="18" charset="0"/>
                            <a:ea typeface="+mn-ea"/>
                          </a:rPr>
                          <m:t>−</m:t>
                        </m:r>
                        <m:sSub>
                          <m:sSubPr>
                            <m:ctrlPr>
                              <a:rPr lang="en-US" altLang="zh-CN" sz="1200" i="1">
                                <a:solidFill>
                                  <a:srgbClr val="FF0000"/>
                                </a:solidFill>
                                <a:latin typeface="Cambria Math" panose="02040503050406030204" pitchFamily="18" charset="0"/>
                                <a:ea typeface="+mn-ea"/>
                              </a:rPr>
                            </m:ctrlPr>
                          </m:sSubPr>
                          <m:e>
                            <m:r>
                              <a:rPr lang="en-US" altLang="zh-CN" sz="1200" b="0" i="1">
                                <a:solidFill>
                                  <a:srgbClr val="FF0000"/>
                                </a:solidFill>
                                <a:latin typeface="Cambria Math" panose="02040503050406030204" pitchFamily="18" charset="0"/>
                                <a:ea typeface="+mn-ea"/>
                              </a:rPr>
                              <m:t>𝑞</m:t>
                            </m:r>
                          </m:e>
                          <m:sub>
                            <m:r>
                              <a:rPr lang="en-US" altLang="zh-CN" sz="1200" b="0" i="1">
                                <a:solidFill>
                                  <a:srgbClr val="FF0000"/>
                                </a:solidFill>
                                <a:latin typeface="Cambria Math" panose="02040503050406030204" pitchFamily="18" charset="0"/>
                                <a:ea typeface="+mn-ea"/>
                              </a:rPr>
                              <m:t>𝜋</m:t>
                            </m:r>
                          </m:sub>
                        </m:sSub>
                        <m:d>
                          <m:dPr>
                            <m:ctrlPr>
                              <a:rPr lang="en-US" altLang="zh-CN" sz="1200" i="1">
                                <a:solidFill>
                                  <a:srgbClr val="FF0000"/>
                                </a:solidFill>
                                <a:latin typeface="Cambria Math" panose="02040503050406030204" pitchFamily="18" charset="0"/>
                                <a:ea typeface="+mn-ea"/>
                              </a:rPr>
                            </m:ctrlPr>
                          </m:dPr>
                          <m:e>
                            <m:r>
                              <a:rPr lang="en-US" altLang="zh-CN" sz="1200" b="0" i="1">
                                <a:solidFill>
                                  <a:srgbClr val="FF0000"/>
                                </a:solidFill>
                                <a:latin typeface="Cambria Math" panose="02040503050406030204" pitchFamily="18" charset="0"/>
                                <a:ea typeface="+mn-ea"/>
                              </a:rPr>
                              <m:t>𝑠</m:t>
                            </m:r>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𝑎</m:t>
                            </m:r>
                          </m:e>
                        </m:d>
                      </m:e>
                    </m:d>
                  </m:oMath>
                </a14:m>
                <a:endParaRPr lang="en-US" altLang="zh-CN" sz="1200" dirty="0">
                  <a:solidFill>
                    <a:srgbClr val="FF0000"/>
                  </a:solidFill>
                  <a:latin typeface="+mn-ea"/>
                  <a:ea typeface="+mn-ea"/>
                  <a:cs typeface="Times New Roman" panose="02020603050405020304" pitchFamily="18" charset="0"/>
                </a:endParaRPr>
              </a:p>
              <a:p>
                <a:r>
                  <a:rPr lang="en-US" altLang="zh-CN" sz="1200" dirty="0">
                    <a:solidFill>
                      <a:srgbClr val="FF0000"/>
                    </a:solidFill>
                    <a:latin typeface="+mn-ea"/>
                    <a:ea typeface="+mn-ea"/>
                    <a:cs typeface="Times New Roman" panose="02020603050405020304" pitchFamily="18" charset="0"/>
                  </a:rPr>
                  <a:t>                </a:t>
                </a:r>
                <a14:m>
                  <m:oMath xmlns:m="http://schemas.openxmlformats.org/officeDocument/2006/math">
                    <m:r>
                      <a:rPr lang="en-US" altLang="zh-CN" sz="1200" b="0" i="1">
                        <a:solidFill>
                          <a:srgbClr val="FF0000"/>
                        </a:solidFill>
                        <a:latin typeface="Cambria Math" panose="02040503050406030204" pitchFamily="18" charset="0"/>
                        <a:ea typeface="+mn-ea"/>
                      </a:rPr>
                      <m:t>𝑠</m:t>
                    </m:r>
                    <m:r>
                      <a:rPr lang="en-US" altLang="zh-CN" sz="1200" b="0" i="1">
                        <a:solidFill>
                          <a:srgbClr val="FF0000"/>
                        </a:solidFill>
                        <a:latin typeface="Cambria Math" panose="02040503050406030204" pitchFamily="18" charset="0"/>
                        <a:ea typeface="+mn-ea"/>
                      </a:rPr>
                      <m:t>←</m:t>
                    </m:r>
                    <m:r>
                      <a:rPr lang="en-US" altLang="zh-CN" sz="1200" b="0" i="1">
                        <a:solidFill>
                          <a:srgbClr val="FF0000"/>
                        </a:solidFill>
                        <a:latin typeface="Cambria Math" panose="02040503050406030204" pitchFamily="18" charset="0"/>
                        <a:ea typeface="+mn-ea"/>
                      </a:rPr>
                      <m:t>𝑠</m:t>
                    </m:r>
                    <m:r>
                      <a:rPr lang="en-US" altLang="zh-CN" sz="1200" b="0" i="1">
                        <a:solidFill>
                          <a:srgbClr val="FF0000"/>
                        </a:solidFill>
                        <a:latin typeface="Cambria Math" panose="02040503050406030204" pitchFamily="18" charset="0"/>
                        <a:ea typeface="+mn-ea"/>
                      </a:rPr>
                      <m:t>′</m:t>
                    </m:r>
                  </m:oMath>
                </a14:m>
                <a:endParaRPr lang="en-US" altLang="zh-CN" sz="1200" dirty="0">
                  <a:solidFill>
                    <a:srgbClr val="FF0000"/>
                  </a:solidFill>
                  <a:latin typeface="+mn-ea"/>
                  <a:ea typeface="+mn-ea"/>
                  <a:cs typeface="Times New Roman" panose="02020603050405020304" pitchFamily="18" charset="0"/>
                </a:endParaRPr>
              </a:p>
              <a:p>
                <a:r>
                  <a:rPr lang="en-US" altLang="zh-CN" sz="1200" dirty="0">
                    <a:latin typeface="+mn-ea"/>
                    <a:ea typeface="+mn-ea"/>
                    <a:cs typeface="Times New Roman" panose="02020603050405020304" pitchFamily="18" charset="0"/>
                  </a:rPr>
                  <a:t>        </a:t>
                </a:r>
                <a:r>
                  <a:rPr lang="zh-CN" altLang="en-US" sz="1200" dirty="0">
                    <a:latin typeface="+mn-ea"/>
                    <a:ea typeface="+mn-ea"/>
                    <a:cs typeface="Times New Roman" panose="02020603050405020304" pitchFamily="18" charset="0"/>
                  </a:rPr>
                  <a:t>直到</a:t>
                </a:r>
                <a14:m>
                  <m:oMath xmlns:m="http://schemas.openxmlformats.org/officeDocument/2006/math">
                    <m:r>
                      <a:rPr lang="en-US" altLang="zh-CN" sz="1200" b="0" i="1">
                        <a:latin typeface="Cambria Math" panose="02040503050406030204" pitchFamily="18" charset="0"/>
                        <a:ea typeface="+mn-ea"/>
                      </a:rPr>
                      <m:t>𝑠</m:t>
                    </m:r>
                  </m:oMath>
                </a14:m>
                <a:r>
                  <a:rPr lang="zh-CN" altLang="en-US" sz="1200" dirty="0">
                    <a:latin typeface="+mn-ea"/>
                    <a:ea typeface="+mn-ea"/>
                    <a:cs typeface="Times New Roman" panose="02020603050405020304" pitchFamily="18" charset="0"/>
                  </a:rPr>
                  <a:t>是终止状态</a:t>
                </a:r>
                <a:endParaRPr lang="en-US" altLang="zh-CN" sz="1200" dirty="0">
                  <a:latin typeface="+mn-ea"/>
                  <a:ea typeface="+mn-ea"/>
                  <a:cs typeface="Times New Roman" panose="02020603050405020304" pitchFamily="18" charset="0"/>
                </a:endParaRPr>
              </a:p>
              <a:p>
                <a:r>
                  <a:rPr lang="zh-CN" altLang="en-US" sz="1200" dirty="0">
                    <a:latin typeface="+mn-ea"/>
                    <a:ea typeface="+mn-ea"/>
                    <a:cs typeface="Times New Roman" panose="02020603050405020304" pitchFamily="18" charset="0"/>
                  </a:rPr>
                  <a:t>直到</a:t>
                </a:r>
                <a14:m>
                  <m:oMath xmlns:m="http://schemas.openxmlformats.org/officeDocument/2006/math">
                    <m:sSub>
                      <m:sSubPr>
                        <m:ctrlPr>
                          <a:rPr lang="en-US" altLang="zh-CN" sz="1200" i="1">
                            <a:latin typeface="Cambria Math" panose="02040503050406030204" pitchFamily="18" charset="0"/>
                            <a:ea typeface="+mn-ea"/>
                          </a:rPr>
                        </m:ctrlPr>
                      </m:sSubPr>
                      <m:e>
                        <m:r>
                          <a:rPr lang="en-US" altLang="zh-CN" sz="1200" b="0" i="1">
                            <a:latin typeface="Cambria Math" panose="02040503050406030204" pitchFamily="18" charset="0"/>
                            <a:ea typeface="+mn-ea"/>
                          </a:rPr>
                          <m:t>𝑞</m:t>
                        </m:r>
                      </m:e>
                      <m:sub>
                        <m:r>
                          <a:rPr lang="en-US" altLang="zh-CN" sz="1200" b="0" i="1">
                            <a:latin typeface="Cambria Math" panose="02040503050406030204" pitchFamily="18" charset="0"/>
                            <a:ea typeface="+mn-ea"/>
                          </a:rPr>
                          <m:t>𝜋</m:t>
                        </m:r>
                      </m:sub>
                    </m:sSub>
                    <m:r>
                      <a:rPr lang="zh-CN" altLang="en-US" sz="1200" b="0" i="1">
                        <a:latin typeface="Cambria Math" panose="02040503050406030204" pitchFamily="18" charset="0"/>
                        <a:ea typeface="+mn-ea"/>
                      </a:rPr>
                      <m:t>收敛</m:t>
                    </m:r>
                  </m:oMath>
                </a14:m>
                <a:endParaRPr lang="en-US" altLang="zh-CN" sz="1200" dirty="0">
                  <a:latin typeface="+mn-ea"/>
                  <a:ea typeface="+mn-ea"/>
                  <a:cs typeface="Times New Roman" panose="02020603050405020304" pitchFamily="18" charset="0"/>
                </a:endParaRPr>
              </a:p>
            </p:txBody>
          </p:sp>
        </mc:Choice>
        <mc:Fallback xmlns="">
          <p:sp>
            <p:nvSpPr>
              <p:cNvPr id="11" name="文本框 12">
                <a:extLst>
                  <a:ext uri="{FF2B5EF4-FFF2-40B4-BE49-F238E27FC236}">
                    <a16:creationId xmlns:a16="http://schemas.microsoft.com/office/drawing/2014/main" id="{C9709322-CBFE-41F8-8440-DC71B46AFA38}"/>
                  </a:ext>
                </a:extLst>
              </p:cNvPr>
              <p:cNvSpPr txBox="1">
                <a:spLocks noRot="1" noChangeAspect="1" noMove="1" noResize="1" noEditPoints="1" noAdjustHandles="1" noChangeArrowheads="1" noChangeShapeType="1" noTextEdit="1"/>
              </p:cNvSpPr>
              <p:nvPr/>
            </p:nvSpPr>
            <p:spPr>
              <a:xfrm>
                <a:off x="1547664" y="987574"/>
                <a:ext cx="5397692" cy="2897075"/>
              </a:xfrm>
              <a:prstGeom prst="rect">
                <a:avLst/>
              </a:prstGeom>
              <a:blipFill>
                <a:blip r:embed="rId3"/>
                <a:stretch>
                  <a:fillRect/>
                </a:stretch>
              </a:blipFill>
              <a:ln>
                <a:solidFill>
                  <a:schemeClr val="tx1"/>
                </a:solidFill>
              </a:ln>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6862E26F-D571-49A7-82A3-14A8058C3E5E}"/>
              </a:ext>
            </a:extLst>
          </p:cNvPr>
          <p:cNvSpPr/>
          <p:nvPr/>
        </p:nvSpPr>
        <p:spPr>
          <a:xfrm>
            <a:off x="1769458" y="1675710"/>
            <a:ext cx="3691533" cy="646331"/>
          </a:xfrm>
          <a:prstGeom prst="rect">
            <a:avLst/>
          </a:prstGeom>
        </p:spPr>
        <p:txBody>
          <a:bodyPr wrap="square">
            <a:spAutoFit/>
          </a:bodyPr>
          <a:lstStyle/>
          <a:p>
            <a:r>
              <a:rPr lang="en-US" altLang="zh-CN" sz="1800" dirty="0">
                <a:latin typeface="+mn-ea"/>
                <a:ea typeface="+mn-ea"/>
                <a:cs typeface="Times New Roman" panose="02020603050405020304" pitchFamily="18" charset="0"/>
              </a:rPr>
              <a:t/>
            </a:r>
            <a:br>
              <a:rPr lang="en-US" altLang="zh-CN" sz="1800" dirty="0">
                <a:latin typeface="+mn-ea"/>
                <a:ea typeface="+mn-ea"/>
                <a:cs typeface="Times New Roman" panose="02020603050405020304" pitchFamily="18" charset="0"/>
              </a:rPr>
            </a:br>
            <a:endParaRPr lang="en-US" altLang="zh-CN" sz="1800" dirty="0">
              <a:latin typeface="+mn-ea"/>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7BFB403D-453C-4EDB-B0A7-B033DA383810}"/>
                  </a:ext>
                </a:extLst>
              </p:cNvPr>
              <p:cNvSpPr txBox="1"/>
              <p:nvPr/>
            </p:nvSpPr>
            <p:spPr>
              <a:xfrm>
                <a:off x="3365839" y="1082719"/>
                <a:ext cx="3490854" cy="869405"/>
              </a:xfrm>
              <a:prstGeom prst="rect">
                <a:avLst/>
              </a:prstGeom>
              <a:solidFill>
                <a:srgbClr val="FFFF00"/>
              </a:solidFill>
            </p:spPr>
            <p:txBody>
              <a:bodyPr wrap="square" rtlCol="0">
                <a:spAutoFit/>
              </a:bodyPr>
              <a:lstStyle>
                <a:defPPr>
                  <a:defRPr lang="zh-CN"/>
                </a:defPPr>
                <a:lvl1pPr>
                  <a:defRPr sz="2400" b="1">
                    <a:ea typeface="黑体" pitchFamily="49" charset="-122"/>
                  </a:defRPr>
                </a:lvl1pPr>
              </a:lstStyle>
              <a:p>
                <a14:m>
                  <m:oMath xmlns:m="http://schemas.openxmlformats.org/officeDocument/2006/math">
                    <m:r>
                      <a:rPr lang="en-US" altLang="zh-CN" sz="1200" b="0" i="1">
                        <a:latin typeface="Cambria Math" panose="02040503050406030204" pitchFamily="18" charset="0"/>
                        <a:ea typeface="+mn-ea"/>
                      </a:rPr>
                      <m:t>𝜖</m:t>
                    </m:r>
                  </m:oMath>
                </a14:m>
                <a:r>
                  <a:rPr lang="zh-CN" altLang="en-US" sz="1200" b="0" dirty="0">
                    <a:latin typeface="+mn-ea"/>
                    <a:ea typeface="+mn-ea"/>
                    <a:cs typeface="Times New Roman" panose="02020603050405020304" pitchFamily="18" charset="0"/>
                  </a:rPr>
                  <a:t>贪心（</a:t>
                </a:r>
                <a14:m>
                  <m:oMath xmlns:m="http://schemas.openxmlformats.org/officeDocument/2006/math">
                    <m:r>
                      <a:rPr lang="en-US" altLang="zh-CN" sz="1200" b="0" i="1">
                        <a:latin typeface="Cambria Math" panose="02040503050406030204" pitchFamily="18" charset="0"/>
                        <a:ea typeface="+mn-ea"/>
                      </a:rPr>
                      <m:t>𝜖</m:t>
                    </m:r>
                  </m:oMath>
                </a14:m>
                <a:r>
                  <a:rPr lang="en-US" altLang="zh-CN" sz="1200" b="0" dirty="0">
                    <a:latin typeface="+mn-ea"/>
                    <a:ea typeface="+mn-ea"/>
                    <a:cs typeface="Times New Roman" panose="02020603050405020304" pitchFamily="18" charset="0"/>
                  </a:rPr>
                  <a:t>-greedy</a:t>
                </a:r>
                <a:r>
                  <a:rPr lang="zh-CN" altLang="en-US" sz="1200" b="0" dirty="0">
                    <a:latin typeface="+mn-ea"/>
                    <a:ea typeface="+mn-ea"/>
                    <a:cs typeface="Times New Roman" panose="02020603050405020304" pitchFamily="18" charset="0"/>
                  </a:rPr>
                  <a:t>）策略</a:t>
                </a:r>
                <a:endParaRPr lang="en-US" altLang="zh-CN" sz="1200" b="0" dirty="0">
                  <a:latin typeface="+mn-ea"/>
                  <a:ea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200" b="0" i="1">
                          <a:latin typeface="Cambria Math" panose="02040503050406030204" pitchFamily="18" charset="0"/>
                          <a:ea typeface="+mn-ea"/>
                        </a:rPr>
                        <m:t>𝜖</m:t>
                      </m:r>
                      <m:r>
                        <m:rPr>
                          <m:nor/>
                        </m:rPr>
                        <a:rPr lang="en-US" altLang="zh-CN" sz="1200" b="0" dirty="0">
                          <a:latin typeface="+mn-ea"/>
                          <a:ea typeface="+mn-ea"/>
                          <a:cs typeface="Times New Roman" panose="02020603050405020304" pitchFamily="18" charset="0"/>
                        </a:rPr>
                        <m:t>−</m:t>
                      </m:r>
                      <m:r>
                        <a:rPr lang="en-US" altLang="zh-CN" sz="1200" b="0" i="1">
                          <a:latin typeface="Cambria Math" panose="02040503050406030204" pitchFamily="18" charset="0"/>
                          <a:ea typeface="+mn-ea"/>
                        </a:rPr>
                        <m:t>𝑔𝑟𝑒𝑒𝑑</m:t>
                      </m:r>
                      <m:sSub>
                        <m:sSubPr>
                          <m:ctrlPr>
                            <a:rPr lang="en-US" altLang="zh-CN" sz="1200" b="0" i="1">
                              <a:latin typeface="Cambria Math" panose="02040503050406030204" pitchFamily="18" charset="0"/>
                              <a:ea typeface="+mn-ea"/>
                            </a:rPr>
                          </m:ctrlPr>
                        </m:sSubPr>
                        <m:e>
                          <m:r>
                            <a:rPr lang="en-US" altLang="zh-CN" sz="1200" b="0" i="1">
                              <a:latin typeface="Cambria Math" panose="02040503050406030204" pitchFamily="18" charset="0"/>
                              <a:ea typeface="+mn-ea"/>
                            </a:rPr>
                            <m:t>𝑦</m:t>
                          </m:r>
                        </m:e>
                        <m:sub>
                          <m:r>
                            <a:rPr lang="en-US" altLang="zh-CN" sz="1200" b="0" i="1">
                              <a:latin typeface="Cambria Math" panose="02040503050406030204" pitchFamily="18" charset="0"/>
                              <a:ea typeface="+mn-ea"/>
                            </a:rPr>
                            <m:t>𝜋</m:t>
                          </m:r>
                        </m:sub>
                      </m:sSub>
                      <m:d>
                        <m:dPr>
                          <m:ctrlPr>
                            <a:rPr lang="en-US" altLang="zh-CN" sz="1200" b="0" i="1">
                              <a:latin typeface="Cambria Math" panose="02040503050406030204" pitchFamily="18" charset="0"/>
                              <a:ea typeface="+mn-ea"/>
                            </a:rPr>
                          </m:ctrlPr>
                        </m:dPr>
                        <m:e>
                          <m:r>
                            <a:rPr lang="en-US" altLang="zh-CN" sz="1200" b="0" i="1">
                              <a:latin typeface="Cambria Math" panose="02040503050406030204" pitchFamily="18" charset="0"/>
                              <a:ea typeface="+mn-ea"/>
                            </a:rPr>
                            <m:t>𝑠</m:t>
                          </m:r>
                        </m:e>
                      </m:d>
                      <m:r>
                        <a:rPr lang="en-US" altLang="zh-CN" sz="1200" b="0" i="1">
                          <a:latin typeface="Cambria Math" panose="02040503050406030204" pitchFamily="18" charset="0"/>
                          <a:ea typeface="+mn-ea"/>
                        </a:rPr>
                        <m:t>=</m:t>
                      </m:r>
                      <m:d>
                        <m:dPr>
                          <m:begChr m:val="{"/>
                          <m:endChr m:val=""/>
                          <m:ctrlPr>
                            <a:rPr lang="en-US" altLang="zh-CN" sz="1200" b="0" i="1">
                              <a:latin typeface="Cambria Math" panose="02040503050406030204" pitchFamily="18" charset="0"/>
                              <a:ea typeface="+mn-ea"/>
                            </a:rPr>
                          </m:ctrlPr>
                        </m:dPr>
                        <m:e>
                          <m:eqArr>
                            <m:eqArrPr>
                              <m:ctrlPr>
                                <a:rPr lang="en-US" altLang="zh-CN" sz="1200" b="0" i="1">
                                  <a:latin typeface="Cambria Math" panose="02040503050406030204" pitchFamily="18" charset="0"/>
                                  <a:ea typeface="+mn-ea"/>
                                </a:rPr>
                              </m:ctrlPr>
                            </m:eqArrPr>
                            <m:e>
                              <m:sSub>
                                <m:sSubPr>
                                  <m:ctrlPr>
                                    <a:rPr lang="en-US" altLang="zh-CN" sz="1200" b="0" i="1">
                                      <a:latin typeface="Cambria Math" panose="02040503050406030204" pitchFamily="18" charset="0"/>
                                      <a:ea typeface="+mn-ea"/>
                                    </a:rPr>
                                  </m:ctrlPr>
                                </m:sSubPr>
                                <m:e>
                                  <m:r>
                                    <m:rPr>
                                      <m:sty m:val="p"/>
                                    </m:rPr>
                                    <a:rPr lang="en-US" altLang="zh-CN" sz="1200" b="0">
                                      <a:latin typeface="Cambria Math" panose="02040503050406030204" pitchFamily="18" charset="0"/>
                                      <a:ea typeface="+mn-ea"/>
                                    </a:rPr>
                                    <m:t>argmax</m:t>
                                  </m:r>
                                </m:e>
                                <m:sub>
                                  <m:r>
                                    <a:rPr lang="en-US" altLang="zh-CN" sz="1200" b="0" i="1">
                                      <a:latin typeface="Cambria Math" panose="02040503050406030204" pitchFamily="18" charset="0"/>
                                      <a:ea typeface="+mn-ea"/>
                                    </a:rPr>
                                    <m:t>𝑎</m:t>
                                  </m:r>
                                </m:sub>
                              </m:sSub>
                              <m:sSub>
                                <m:sSubPr>
                                  <m:ctrlPr>
                                    <a:rPr lang="en-US" altLang="zh-CN" sz="1200" b="0" i="1">
                                      <a:latin typeface="Cambria Math" panose="02040503050406030204" pitchFamily="18" charset="0"/>
                                      <a:ea typeface="+mn-ea"/>
                                    </a:rPr>
                                  </m:ctrlPr>
                                </m:sSubPr>
                                <m:e>
                                  <m:r>
                                    <a:rPr lang="en-US" altLang="zh-CN" sz="1200" b="0" i="1">
                                      <a:latin typeface="Cambria Math" panose="02040503050406030204" pitchFamily="18" charset="0"/>
                                      <a:ea typeface="+mn-ea"/>
                                    </a:rPr>
                                    <m:t>𝑞</m:t>
                                  </m:r>
                                </m:e>
                                <m:sub>
                                  <m:r>
                                    <a:rPr lang="en-US" altLang="zh-CN" sz="1200" b="0" i="1">
                                      <a:latin typeface="Cambria Math" panose="02040503050406030204" pitchFamily="18" charset="0"/>
                                      <a:ea typeface="+mn-ea"/>
                                    </a:rPr>
                                    <m:t>𝜋</m:t>
                                  </m:r>
                                </m:sub>
                              </m:sSub>
                              <m:r>
                                <a:rPr lang="en-US" altLang="zh-CN" sz="1200" b="0" i="1">
                                  <a:latin typeface="Cambria Math" panose="02040503050406030204" pitchFamily="18" charset="0"/>
                                  <a:ea typeface="+mn-ea"/>
                                </a:rPr>
                                <m:t>(</m:t>
                              </m:r>
                              <m:r>
                                <a:rPr lang="en-US" altLang="zh-CN" sz="1200" b="0" i="1">
                                  <a:latin typeface="Cambria Math" panose="02040503050406030204" pitchFamily="18" charset="0"/>
                                  <a:ea typeface="+mn-ea"/>
                                </a:rPr>
                                <m:t>𝑠</m:t>
                              </m:r>
                              <m:r>
                                <a:rPr lang="en-US" altLang="zh-CN" sz="1200" b="0" i="1">
                                  <a:latin typeface="Cambria Math" panose="02040503050406030204" pitchFamily="18" charset="0"/>
                                  <a:ea typeface="+mn-ea"/>
                                </a:rPr>
                                <m:t>,</m:t>
                              </m:r>
                              <m:r>
                                <a:rPr lang="en-US" altLang="zh-CN" sz="1200" b="0" i="1">
                                  <a:latin typeface="Cambria Math" panose="02040503050406030204" pitchFamily="18" charset="0"/>
                                  <a:ea typeface="+mn-ea"/>
                                </a:rPr>
                                <m:t>𝑎</m:t>
                              </m:r>
                              <m:r>
                                <a:rPr lang="en-US" altLang="zh-CN" sz="1200" b="0" i="1">
                                  <a:latin typeface="Cambria Math" panose="02040503050406030204" pitchFamily="18" charset="0"/>
                                  <a:ea typeface="+mn-ea"/>
                                </a:rPr>
                                <m:t>)</m:t>
                              </m:r>
                            </m:e>
                            <m:e>
                              <m:r>
                                <a:rPr lang="zh-CN" altLang="en-US" sz="1200" b="0" i="1">
                                  <a:latin typeface="Cambria Math" panose="02040503050406030204" pitchFamily="18" charset="0"/>
                                  <a:ea typeface="+mn-ea"/>
                                </a:rPr>
                                <m:t>随机的</m:t>
                              </m:r>
                              <m:r>
                                <a:rPr lang="en-US" altLang="zh-CN" sz="1200" b="0" i="1">
                                  <a:latin typeface="Cambria Math" panose="02040503050406030204" pitchFamily="18" charset="0"/>
                                  <a:ea typeface="+mn-ea"/>
                                </a:rPr>
                                <m:t>𝑎</m:t>
                              </m:r>
                              <m:r>
                                <a:rPr lang="en-US" altLang="zh-CN" sz="1200" b="0" i="1">
                                  <a:latin typeface="Cambria Math" panose="02040503050406030204" pitchFamily="18" charset="0"/>
                                  <a:ea typeface="+mn-ea"/>
                                </a:rPr>
                                <m:t>∈</m:t>
                              </m:r>
                              <m:r>
                                <a:rPr lang="en-US" altLang="zh-CN" sz="1200" b="0" i="1">
                                  <a:latin typeface="Cambria Math" panose="02040503050406030204" pitchFamily="18" charset="0"/>
                                  <a:ea typeface="+mn-ea"/>
                                </a:rPr>
                                <m:t>𝐴</m:t>
                              </m:r>
                            </m:e>
                          </m:eqArr>
                          <m:m>
                            <m:mPr>
                              <m:mcs>
                                <m:mc>
                                  <m:mcPr>
                                    <m:count m:val="1"/>
                                    <m:mcJc m:val="center"/>
                                  </m:mcPr>
                                </m:mc>
                              </m:mcs>
                              <m:ctrlPr>
                                <a:rPr lang="en-US" altLang="zh-CN" sz="1200" b="0" i="1">
                                  <a:latin typeface="Cambria Math" panose="02040503050406030204" pitchFamily="18" charset="0"/>
                                  <a:ea typeface="+mn-ea"/>
                                </a:rPr>
                              </m:ctrlPr>
                            </m:mPr>
                            <m:mr>
                              <m:e>
                                <m:r>
                                  <m:rPr>
                                    <m:brk m:alnAt="7"/>
                                  </m:rPr>
                                  <a:rPr lang="en-US" altLang="zh-CN" sz="1200" b="0" i="1">
                                    <a:latin typeface="Cambria Math" panose="02040503050406030204" pitchFamily="18" charset="0"/>
                                    <a:ea typeface="+mn-ea"/>
                                  </a:rPr>
                                  <m:t>,</m:t>
                                </m:r>
                                <m:r>
                                  <a:rPr lang="en-US" altLang="zh-CN" sz="1200" b="0" i="1">
                                    <a:latin typeface="Cambria Math" panose="02040503050406030204" pitchFamily="18" charset="0"/>
                                    <a:ea typeface="+mn-ea"/>
                                  </a:rPr>
                                  <m:t>  </m:t>
                                </m:r>
                                <m:r>
                                  <m:rPr>
                                    <m:brk m:alnAt="7"/>
                                  </m:rPr>
                                  <a:rPr lang="zh-CN" altLang="en-US" sz="1200" b="0" i="1">
                                    <a:latin typeface="Cambria Math" panose="02040503050406030204" pitchFamily="18" charset="0"/>
                                    <a:ea typeface="+mn-ea"/>
                                  </a:rPr>
                                  <m:t>以</m:t>
                                </m:r>
                                <m:r>
                                  <m:rPr>
                                    <m:brk m:alnAt="7"/>
                                  </m:rPr>
                                  <a:rPr lang="en-US" altLang="zh-CN" sz="1200" b="0" i="1">
                                    <a:latin typeface="Cambria Math" panose="02040503050406030204" pitchFamily="18" charset="0"/>
                                    <a:ea typeface="+mn-ea"/>
                                  </a:rPr>
                                  <m:t>1</m:t>
                                </m:r>
                                <m:r>
                                  <a:rPr lang="en-US" altLang="zh-CN" sz="1200" b="0" i="1">
                                    <a:latin typeface="Cambria Math" panose="02040503050406030204" pitchFamily="18" charset="0"/>
                                    <a:ea typeface="+mn-ea"/>
                                  </a:rPr>
                                  <m:t>−</m:t>
                                </m:r>
                                <m:r>
                                  <a:rPr lang="en-US" altLang="zh-CN" sz="1200" b="0" i="1">
                                    <a:latin typeface="Cambria Math" panose="02040503050406030204" pitchFamily="18" charset="0"/>
                                    <a:ea typeface="+mn-ea"/>
                                  </a:rPr>
                                  <m:t>𝜖</m:t>
                                </m:r>
                                <m:r>
                                  <a:rPr lang="zh-CN" altLang="en-US" sz="1200" b="0" i="1">
                                    <a:latin typeface="Cambria Math" panose="02040503050406030204" pitchFamily="18" charset="0"/>
                                    <a:ea typeface="+mn-ea"/>
                                  </a:rPr>
                                  <m:t>的概率</m:t>
                                </m:r>
                              </m:e>
                            </m:mr>
                            <m:mr>
                              <m:e>
                                <m:r>
                                  <a:rPr lang="en-US" altLang="zh-CN" sz="1200" b="0" i="1">
                                    <a:latin typeface="Cambria Math" panose="02040503050406030204" pitchFamily="18" charset="0"/>
                                    <a:ea typeface="+mn-ea"/>
                                  </a:rPr>
                                  <m:t>,  </m:t>
                                </m:r>
                                <m:r>
                                  <a:rPr lang="zh-CN" altLang="en-US" sz="1200" b="0" i="1">
                                    <a:latin typeface="Cambria Math" panose="02040503050406030204" pitchFamily="18" charset="0"/>
                                    <a:ea typeface="+mn-ea"/>
                                  </a:rPr>
                                  <m:t>以</m:t>
                                </m:r>
                                <m:r>
                                  <a:rPr lang="en-US" altLang="zh-CN" sz="1200" b="0" i="1">
                                    <a:latin typeface="Cambria Math" panose="02040503050406030204" pitchFamily="18" charset="0"/>
                                    <a:ea typeface="+mn-ea"/>
                                  </a:rPr>
                                  <m:t>𝜖</m:t>
                                </m:r>
                                <m:r>
                                  <a:rPr lang="zh-CN" altLang="en-US" sz="1200" b="0" i="1">
                                    <a:latin typeface="Cambria Math" panose="02040503050406030204" pitchFamily="18" charset="0"/>
                                    <a:ea typeface="+mn-ea"/>
                                  </a:rPr>
                                  <m:t>的概率</m:t>
                                </m:r>
                                <m:r>
                                  <a:rPr lang="en-US" altLang="zh-CN" sz="1200" b="0" i="1">
                                    <a:latin typeface="Cambria Math" panose="02040503050406030204" pitchFamily="18" charset="0"/>
                                    <a:ea typeface="+mn-ea"/>
                                  </a:rPr>
                                  <m:t>        </m:t>
                                </m:r>
                              </m:e>
                            </m:mr>
                          </m:m>
                        </m:e>
                      </m:d>
                    </m:oMath>
                  </m:oMathPara>
                </a14:m>
                <a:endParaRPr lang="en-US" altLang="zh-CN" sz="1200" b="0" dirty="0">
                  <a:latin typeface="+mn-ea"/>
                  <a:ea typeface="+mn-ea"/>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7BFB403D-453C-4EDB-B0A7-B033DA383810}"/>
                  </a:ext>
                </a:extLst>
              </p:cNvPr>
              <p:cNvSpPr txBox="1">
                <a:spLocks noRot="1" noChangeAspect="1" noMove="1" noResize="1" noEditPoints="1" noAdjustHandles="1" noChangeArrowheads="1" noChangeShapeType="1" noTextEdit="1"/>
              </p:cNvSpPr>
              <p:nvPr/>
            </p:nvSpPr>
            <p:spPr>
              <a:xfrm>
                <a:off x="3365839" y="1082719"/>
                <a:ext cx="3490854" cy="869405"/>
              </a:xfrm>
              <a:prstGeom prst="rect">
                <a:avLst/>
              </a:prstGeom>
              <a:blipFill>
                <a:blip r:embed="rId4"/>
                <a:stretch>
                  <a:fillRect l="-4712" t="-60563" b="-150704"/>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A1EBE4E2-E383-49D0-8690-D26D54BE3E66}"/>
              </a:ext>
            </a:extLst>
          </p:cNvPr>
          <p:cNvCxnSpPr>
            <a:cxnSpLocks/>
            <a:stCxn id="10" idx="1"/>
            <a:endCxn id="14" idx="0"/>
          </p:cNvCxnSpPr>
          <p:nvPr/>
        </p:nvCxnSpPr>
        <p:spPr>
          <a:xfrm flipH="1">
            <a:off x="2972118" y="1517422"/>
            <a:ext cx="393721" cy="599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F9D0DAEE-B790-4E41-BCF5-A26CB6BB79B7}"/>
                  </a:ext>
                </a:extLst>
              </p:cNvPr>
              <p:cNvSpPr/>
              <p:nvPr/>
            </p:nvSpPr>
            <p:spPr>
              <a:xfrm>
                <a:off x="4246510" y="2034659"/>
                <a:ext cx="1767407" cy="465769"/>
              </a:xfrm>
              <a:prstGeom prst="rect">
                <a:avLst/>
              </a:prstGeom>
            </p:spPr>
            <p:txBody>
              <a:bodyPr wrap="none">
                <a:spAutoFit/>
              </a:bodyPr>
              <a:lstStyle/>
              <a:p>
                <a:r>
                  <a:rPr lang="zh-CN" altLang="en-US" sz="1050" dirty="0">
                    <a:latin typeface="+mn-ea"/>
                    <a:ea typeface="+mn-ea"/>
                    <a:cs typeface="Times New Roman" panose="02020603050405020304" pitchFamily="18" charset="0"/>
                  </a:rPr>
                  <a:t>用</a:t>
                </a:r>
                <a14:m>
                  <m:oMath xmlns:m="http://schemas.openxmlformats.org/officeDocument/2006/math">
                    <m:r>
                      <a:rPr lang="en-US" altLang="zh-CN" sz="1050" b="0" i="1">
                        <a:latin typeface="Cambria Math" panose="02040503050406030204" pitchFamily="18" charset="0"/>
                        <a:ea typeface="+mn-ea"/>
                      </a:rPr>
                      <m:t>𝜖</m:t>
                    </m:r>
                  </m:oMath>
                </a14:m>
                <a:r>
                  <a:rPr lang="zh-CN" altLang="en-US" sz="1050" dirty="0">
                    <a:latin typeface="+mn-ea"/>
                    <a:ea typeface="+mn-ea"/>
                    <a:cs typeface="Times New Roman" panose="02020603050405020304" pitchFamily="18" charset="0"/>
                  </a:rPr>
                  <a:t>贪心（</a:t>
                </a:r>
                <a14:m>
                  <m:oMath xmlns:m="http://schemas.openxmlformats.org/officeDocument/2006/math">
                    <m:r>
                      <a:rPr lang="en-US" altLang="zh-CN" sz="1050" b="0" i="1">
                        <a:latin typeface="Cambria Math" panose="02040503050406030204" pitchFamily="18" charset="0"/>
                        <a:ea typeface="+mn-ea"/>
                      </a:rPr>
                      <m:t>𝜖</m:t>
                    </m:r>
                  </m:oMath>
                </a14:m>
                <a:r>
                  <a:rPr lang="en-US" altLang="zh-CN" sz="1050" dirty="0">
                    <a:latin typeface="+mn-ea"/>
                    <a:ea typeface="+mn-ea"/>
                    <a:cs typeface="Times New Roman" panose="02020603050405020304" pitchFamily="18" charset="0"/>
                  </a:rPr>
                  <a:t>-greedy</a:t>
                </a:r>
                <a:r>
                  <a:rPr lang="zh-CN" altLang="en-US" sz="1050" dirty="0">
                    <a:latin typeface="+mn-ea"/>
                    <a:ea typeface="+mn-ea"/>
                    <a:cs typeface="Times New Roman" panose="02020603050405020304" pitchFamily="18" charset="0"/>
                  </a:rPr>
                  <a:t>）策略</a:t>
                </a:r>
                <a:endParaRPr lang="en-US" altLang="zh-CN" sz="1050" dirty="0">
                  <a:latin typeface="+mn-ea"/>
                  <a:ea typeface="+mn-ea"/>
                  <a:cs typeface="Times New Roman" panose="02020603050405020304" pitchFamily="18" charset="0"/>
                </a:endParaRPr>
              </a:p>
              <a:p>
                <a:r>
                  <a:rPr lang="zh-CN" altLang="en-US" sz="1050" dirty="0">
                    <a:latin typeface="+mn-ea"/>
                    <a:ea typeface="+mn-ea"/>
                    <a:cs typeface="Times New Roman" panose="02020603050405020304" pitchFamily="18" charset="0"/>
                  </a:rPr>
                  <a:t>代替</a:t>
                </a:r>
                <a14:m>
                  <m:oMath xmlns:m="http://schemas.openxmlformats.org/officeDocument/2006/math">
                    <m:r>
                      <a:rPr lang="en-US" altLang="zh-CN" sz="1050" b="0" i="1" dirty="0">
                        <a:solidFill>
                          <a:srgbClr val="FF0000"/>
                        </a:solidFill>
                        <a:latin typeface="Cambria Math" panose="02040503050406030204" pitchFamily="18" charset="0"/>
                        <a:ea typeface="+mn-ea"/>
                      </a:rPr>
                      <m:t>𝑎</m:t>
                    </m:r>
                    <m:r>
                      <a:rPr lang="en-US" altLang="zh-CN" sz="1050" b="0" i="1" dirty="0">
                        <a:solidFill>
                          <a:srgbClr val="FF0000"/>
                        </a:solidFill>
                        <a:latin typeface="Cambria Math" panose="02040503050406030204" pitchFamily="18" charset="0"/>
                        <a:ea typeface="+mn-ea"/>
                      </a:rPr>
                      <m:t>=</m:t>
                    </m:r>
                    <m:sSub>
                      <m:sSubPr>
                        <m:ctrlPr>
                          <a:rPr lang="en-US" altLang="zh-CN" sz="1050" i="1" dirty="0">
                            <a:solidFill>
                              <a:srgbClr val="FF0000"/>
                            </a:solidFill>
                            <a:latin typeface="Cambria Math" panose="02040503050406030204" pitchFamily="18" charset="0"/>
                            <a:ea typeface="+mn-ea"/>
                          </a:rPr>
                        </m:ctrlPr>
                      </m:sSubPr>
                      <m:e>
                        <m:r>
                          <m:rPr>
                            <m:sty m:val="p"/>
                          </m:rPr>
                          <a:rPr lang="en-US" altLang="zh-CN" sz="1050" b="0" dirty="0">
                            <a:solidFill>
                              <a:srgbClr val="FF0000"/>
                            </a:solidFill>
                            <a:latin typeface="Cambria Math" panose="02040503050406030204" pitchFamily="18" charset="0"/>
                            <a:ea typeface="+mn-ea"/>
                          </a:rPr>
                          <m:t>argmax</m:t>
                        </m:r>
                      </m:e>
                      <m:sub>
                        <m:sSup>
                          <m:sSupPr>
                            <m:ctrlPr>
                              <a:rPr lang="en-US" altLang="zh-CN" sz="1050" i="1" dirty="0">
                                <a:solidFill>
                                  <a:srgbClr val="FF0000"/>
                                </a:solidFill>
                                <a:latin typeface="Cambria Math" panose="02040503050406030204" pitchFamily="18" charset="0"/>
                                <a:ea typeface="+mn-ea"/>
                              </a:rPr>
                            </m:ctrlPr>
                          </m:sSupPr>
                          <m:e>
                            <m:r>
                              <a:rPr lang="en-US" altLang="zh-CN" sz="1050" b="0" i="1" dirty="0">
                                <a:solidFill>
                                  <a:srgbClr val="FF0000"/>
                                </a:solidFill>
                                <a:latin typeface="Cambria Math" panose="02040503050406030204" pitchFamily="18" charset="0"/>
                                <a:ea typeface="+mn-ea"/>
                              </a:rPr>
                              <m:t>𝑎</m:t>
                            </m:r>
                          </m:e>
                          <m:sup>
                            <m:r>
                              <a:rPr lang="en-US" altLang="zh-CN" sz="1050" b="0" i="1" dirty="0">
                                <a:solidFill>
                                  <a:srgbClr val="FF0000"/>
                                </a:solidFill>
                                <a:latin typeface="Cambria Math" panose="02040503050406030204" pitchFamily="18" charset="0"/>
                                <a:ea typeface="+mn-ea"/>
                              </a:rPr>
                              <m:t>′</m:t>
                            </m:r>
                          </m:sup>
                        </m:sSup>
                      </m:sub>
                    </m:sSub>
                    <m:sSub>
                      <m:sSubPr>
                        <m:ctrlPr>
                          <a:rPr lang="en-US" altLang="zh-CN" sz="1050" i="1" dirty="0">
                            <a:solidFill>
                              <a:srgbClr val="FF0000"/>
                            </a:solidFill>
                            <a:latin typeface="Cambria Math" panose="02040503050406030204" pitchFamily="18" charset="0"/>
                            <a:ea typeface="+mn-ea"/>
                          </a:rPr>
                        </m:ctrlPr>
                      </m:sSubPr>
                      <m:e>
                        <m:r>
                          <a:rPr lang="en-US" altLang="zh-CN" sz="1050" b="0" i="1" dirty="0">
                            <a:solidFill>
                              <a:srgbClr val="FF0000"/>
                            </a:solidFill>
                            <a:latin typeface="Cambria Math" panose="02040503050406030204" pitchFamily="18" charset="0"/>
                            <a:ea typeface="+mn-ea"/>
                          </a:rPr>
                          <m:t>𝑞</m:t>
                        </m:r>
                      </m:e>
                      <m:sub>
                        <m:r>
                          <a:rPr lang="en-US" altLang="zh-CN" sz="1050" b="0" i="1" dirty="0">
                            <a:solidFill>
                              <a:srgbClr val="FF0000"/>
                            </a:solidFill>
                            <a:latin typeface="Cambria Math" panose="02040503050406030204" pitchFamily="18" charset="0"/>
                            <a:ea typeface="+mn-ea"/>
                          </a:rPr>
                          <m:t>𝜋</m:t>
                        </m:r>
                      </m:sub>
                    </m:sSub>
                    <m:r>
                      <a:rPr lang="en-US" altLang="zh-CN" sz="1050" b="0" i="1" dirty="0">
                        <a:solidFill>
                          <a:srgbClr val="FF0000"/>
                        </a:solidFill>
                        <a:latin typeface="Cambria Math" panose="02040503050406030204" pitchFamily="18" charset="0"/>
                        <a:ea typeface="+mn-ea"/>
                      </a:rPr>
                      <m:t>(</m:t>
                    </m:r>
                    <m:r>
                      <a:rPr lang="en-US" altLang="zh-CN" sz="1050" b="0" i="1" dirty="0">
                        <a:solidFill>
                          <a:srgbClr val="FF0000"/>
                        </a:solidFill>
                        <a:latin typeface="Cambria Math" panose="02040503050406030204" pitchFamily="18" charset="0"/>
                        <a:ea typeface="+mn-ea"/>
                      </a:rPr>
                      <m:t>𝑠</m:t>
                    </m:r>
                    <m:r>
                      <a:rPr lang="en-US" altLang="zh-CN" sz="1050" b="0" i="1" dirty="0">
                        <a:solidFill>
                          <a:srgbClr val="FF0000"/>
                        </a:solidFill>
                        <a:latin typeface="Cambria Math" panose="02040503050406030204" pitchFamily="18" charset="0"/>
                        <a:ea typeface="+mn-ea"/>
                      </a:rPr>
                      <m:t>,</m:t>
                    </m:r>
                    <m:r>
                      <a:rPr lang="en-US" altLang="zh-CN" sz="1050" b="0" i="1" dirty="0">
                        <a:solidFill>
                          <a:srgbClr val="FF0000"/>
                        </a:solidFill>
                        <a:latin typeface="Cambria Math" panose="02040503050406030204" pitchFamily="18" charset="0"/>
                        <a:ea typeface="+mn-ea"/>
                      </a:rPr>
                      <m:t>𝑎</m:t>
                    </m:r>
                    <m:r>
                      <a:rPr lang="en-US" altLang="zh-CN" sz="1050" b="0" i="1" dirty="0">
                        <a:solidFill>
                          <a:srgbClr val="FF0000"/>
                        </a:solidFill>
                        <a:latin typeface="Cambria Math" panose="02040503050406030204" pitchFamily="18" charset="0"/>
                        <a:ea typeface="+mn-ea"/>
                      </a:rPr>
                      <m:t>′)</m:t>
                    </m:r>
                  </m:oMath>
                </a14:m>
                <a:endParaRPr lang="en-US" altLang="zh-CN" sz="1050" dirty="0">
                  <a:latin typeface="+mn-ea"/>
                  <a:ea typeface="+mn-ea"/>
                </a:endParaRPr>
              </a:p>
            </p:txBody>
          </p:sp>
        </mc:Choice>
        <mc:Fallback xmlns="">
          <p:sp>
            <p:nvSpPr>
              <p:cNvPr id="13" name="矩形 12">
                <a:extLst>
                  <a:ext uri="{FF2B5EF4-FFF2-40B4-BE49-F238E27FC236}">
                    <a16:creationId xmlns:a16="http://schemas.microsoft.com/office/drawing/2014/main" id="{F9D0DAEE-B790-4E41-BCF5-A26CB6BB79B7}"/>
                  </a:ext>
                </a:extLst>
              </p:cNvPr>
              <p:cNvSpPr>
                <a:spLocks noRot="1" noChangeAspect="1" noMove="1" noResize="1" noEditPoints="1" noAdjustHandles="1" noChangeArrowheads="1" noChangeShapeType="1" noTextEdit="1"/>
              </p:cNvSpPr>
              <p:nvPr/>
            </p:nvSpPr>
            <p:spPr>
              <a:xfrm>
                <a:off x="4246510" y="2034659"/>
                <a:ext cx="1767407" cy="465769"/>
              </a:xfrm>
              <a:prstGeom prst="rect">
                <a:avLst/>
              </a:prstGeom>
              <a:blipFill>
                <a:blip r:embed="rId5"/>
                <a:stretch>
                  <a:fillRect b="-2632"/>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6E71B95A-4F49-4F0E-A72E-90C5F10DD028}"/>
              </a:ext>
            </a:extLst>
          </p:cNvPr>
          <p:cNvSpPr/>
          <p:nvPr/>
        </p:nvSpPr>
        <p:spPr>
          <a:xfrm>
            <a:off x="2077694" y="2116598"/>
            <a:ext cx="1788848" cy="319514"/>
          </a:xfrm>
          <a:prstGeom prst="rect">
            <a:avLst/>
          </a:prstGeom>
          <a:solidFill>
            <a:schemeClr val="lt1">
              <a:alpha val="42000"/>
            </a:schemeClr>
          </a:solidFill>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050" dirty="0">
              <a:latin typeface="+mn-ea"/>
            </a:endParaRPr>
          </a:p>
        </p:txBody>
      </p:sp>
      <mc:AlternateContent xmlns:mc="http://schemas.openxmlformats.org/markup-compatibility/2006" xmlns:a14="http://schemas.microsoft.com/office/drawing/2010/main">
        <mc:Choice Requires="a14">
          <p:sp>
            <p:nvSpPr>
              <p:cNvPr id="15" name="文本框 162">
                <a:extLst>
                  <a:ext uri="{FF2B5EF4-FFF2-40B4-BE49-F238E27FC236}">
                    <a16:creationId xmlns:a16="http://schemas.microsoft.com/office/drawing/2014/main" id="{9B4AAD68-3E4B-4612-9052-588F7030C324}"/>
                  </a:ext>
                </a:extLst>
              </p:cNvPr>
              <p:cNvSpPr txBox="1"/>
              <p:nvPr/>
            </p:nvSpPr>
            <p:spPr>
              <a:xfrm>
                <a:off x="508196" y="4208050"/>
                <a:ext cx="8127608" cy="722890"/>
              </a:xfrm>
              <a:prstGeom prst="rect">
                <a:avLst/>
              </a:prstGeom>
              <a:noFill/>
            </p:spPr>
            <p:txBody>
              <a:bodyPr wrap="square" rtlCol="0">
                <a:spAutoFit/>
              </a:bodyPr>
              <a:lstStyle/>
              <a:p>
                <a:r>
                  <a:rPr lang="zh-CN" altLang="en-US" sz="1200" dirty="0">
                    <a:latin typeface="+mn-ea"/>
                    <a:ea typeface="+mn-ea"/>
                    <a:cs typeface="Times New Roman" panose="02020603050405020304" pitchFamily="18" charset="0"/>
                  </a:rPr>
                  <a:t>在</a:t>
                </a:r>
                <a:r>
                  <a:rPr lang="en-US" altLang="zh-CN" sz="1200" dirty="0">
                    <a:latin typeface="+mn-ea"/>
                    <a:ea typeface="+mn-ea"/>
                    <a:cs typeface="Times New Roman" panose="02020603050405020304" pitchFamily="18" charset="0"/>
                  </a:rPr>
                  <a:t>Q</a:t>
                </a:r>
                <a:r>
                  <a:rPr lang="zh-CN" altLang="en-US" sz="1200" dirty="0">
                    <a:latin typeface="+mn-ea"/>
                    <a:ea typeface="+mn-ea"/>
                    <a:cs typeface="Times New Roman" panose="02020603050405020304" pitchFamily="18" charset="0"/>
                  </a:rPr>
                  <a:t>学习中引入探索（</a:t>
                </a:r>
                <a:r>
                  <a:rPr lang="en-US" altLang="zh-CN" sz="1200" dirty="0">
                    <a:latin typeface="+mn-ea"/>
                    <a:ea typeface="+mn-ea"/>
                    <a:cs typeface="Times New Roman" panose="02020603050405020304" pitchFamily="18" charset="0"/>
                  </a:rPr>
                  <a:t>exploration</a:t>
                </a:r>
                <a:r>
                  <a:rPr lang="zh-CN" altLang="en-US" sz="1200" dirty="0">
                    <a:latin typeface="+mn-ea"/>
                    <a:ea typeface="+mn-ea"/>
                    <a:cs typeface="Times New Roman" panose="02020603050405020304" pitchFamily="18" charset="0"/>
                  </a:rPr>
                  <a:t>）与利用（</a:t>
                </a:r>
                <a:r>
                  <a:rPr lang="en-US" altLang="zh-CN" sz="1200" dirty="0">
                    <a:latin typeface="+mn-ea"/>
                    <a:ea typeface="+mn-ea"/>
                    <a:cs typeface="Times New Roman" panose="02020603050405020304" pitchFamily="18" charset="0"/>
                  </a:rPr>
                  <a:t>exploitation</a:t>
                </a:r>
                <a:r>
                  <a:rPr lang="zh-CN" altLang="en-US" sz="1200" dirty="0">
                    <a:latin typeface="+mn-ea"/>
                    <a:ea typeface="+mn-ea"/>
                    <a:cs typeface="Times New Roman" panose="02020603050405020304" pitchFamily="18" charset="0"/>
                  </a:rPr>
                  <a:t>）机制</a:t>
                </a:r>
                <a:r>
                  <a:rPr lang="zh-CN" altLang="en-US" sz="1200" dirty="0" smtClean="0">
                    <a:latin typeface="+mn-ea"/>
                    <a:ea typeface="+mn-ea"/>
                    <a:cs typeface="Times New Roman" panose="02020603050405020304" pitchFamily="18" charset="0"/>
                  </a:rPr>
                  <a:t>。</a:t>
                </a:r>
                <a:endParaRPr lang="en-US" altLang="zh-CN" sz="1200" dirty="0" smtClean="0">
                  <a:latin typeface="+mn-ea"/>
                  <a:ea typeface="+mn-ea"/>
                  <a:cs typeface="Times New Roman" panose="02020603050405020304" pitchFamily="18" charset="0"/>
                </a:endParaRPr>
              </a:p>
              <a:p>
                <a:endParaRPr lang="en-US" altLang="zh-CN" sz="1200" dirty="0">
                  <a:latin typeface="+mn-ea"/>
                  <a:ea typeface="+mn-ea"/>
                  <a:cs typeface="Times New Roman" panose="02020603050405020304" pitchFamily="18" charset="0"/>
                </a:endParaRPr>
              </a:p>
              <a:p>
                <a:r>
                  <a:rPr lang="zh-CN" altLang="en-US" sz="1200" dirty="0" smtClean="0">
                    <a:latin typeface="+mn-ea"/>
                    <a:ea typeface="+mn-ea"/>
                    <a:cs typeface="Times New Roman" panose="02020603050405020304" pitchFamily="18" charset="0"/>
                  </a:rPr>
                  <a:t>这</a:t>
                </a:r>
                <a:r>
                  <a:rPr lang="zh-CN" altLang="en-US" sz="1200" dirty="0">
                    <a:latin typeface="+mn-ea"/>
                    <a:ea typeface="+mn-ea"/>
                    <a:cs typeface="Times New Roman" panose="02020603050405020304" pitchFamily="18" charset="0"/>
                  </a:rPr>
                  <a:t>一机制用用</a:t>
                </a:r>
                <a14:m>
                  <m:oMath xmlns:m="http://schemas.openxmlformats.org/officeDocument/2006/math">
                    <m:r>
                      <m:rPr>
                        <m:sty m:val="p"/>
                      </m:rPr>
                      <a:rPr lang="en-US" altLang="zh-CN" sz="1200" b="0" i="1" smtClean="0">
                        <a:solidFill>
                          <a:srgbClr val="FF0000"/>
                        </a:solidFill>
                        <a:latin typeface="Cambria Math" panose="02040503050406030204" pitchFamily="18" charset="0"/>
                        <a:ea typeface="+mn-ea"/>
                        <a:cs typeface="Times New Roman" panose="02020603050405020304" pitchFamily="18" charset="0"/>
                      </a:rPr>
                      <m:t>ϵ</m:t>
                    </m:r>
                  </m:oMath>
                </a14:m>
                <a:r>
                  <a:rPr lang="zh-CN" altLang="en-US" sz="1200" dirty="0">
                    <a:solidFill>
                      <a:srgbClr val="FF0000"/>
                    </a:solidFill>
                    <a:latin typeface="+mn-ea"/>
                    <a:ea typeface="+mn-ea"/>
                    <a:cs typeface="Times New Roman" panose="02020603050405020304" pitchFamily="18" charset="0"/>
                  </a:rPr>
                  <a:t>贪心（</a:t>
                </a:r>
                <a14:m>
                  <m:oMath xmlns:m="http://schemas.openxmlformats.org/officeDocument/2006/math">
                    <m:r>
                      <m:rPr>
                        <m:sty m:val="p"/>
                      </m:rPr>
                      <a:rPr lang="en-US" altLang="zh-CN" sz="1200" b="0" i="1">
                        <a:solidFill>
                          <a:srgbClr val="FF0000"/>
                        </a:solidFill>
                        <a:latin typeface="Cambria Math" panose="02040503050406030204" pitchFamily="18" charset="0"/>
                        <a:ea typeface="+mn-ea"/>
                        <a:cs typeface="Times New Roman" panose="02020603050405020304" pitchFamily="18" charset="0"/>
                      </a:rPr>
                      <m:t>ϵ</m:t>
                    </m:r>
                  </m:oMath>
                </a14:m>
                <a:r>
                  <a:rPr lang="en-US" altLang="zh-CN" sz="1200" dirty="0">
                    <a:solidFill>
                      <a:srgbClr val="FF0000"/>
                    </a:solidFill>
                    <a:latin typeface="+mn-ea"/>
                    <a:ea typeface="+mn-ea"/>
                    <a:cs typeface="Times New Roman" panose="02020603050405020304" pitchFamily="18" charset="0"/>
                  </a:rPr>
                  <a:t>-greedy</a:t>
                </a:r>
                <a:r>
                  <a:rPr lang="zh-CN" altLang="en-US" sz="1200" dirty="0">
                    <a:solidFill>
                      <a:srgbClr val="FF0000"/>
                    </a:solidFill>
                    <a:latin typeface="+mn-ea"/>
                    <a:ea typeface="+mn-ea"/>
                    <a:cs typeface="Times New Roman" panose="02020603050405020304" pitchFamily="18" charset="0"/>
                  </a:rPr>
                  <a:t>）策略</a:t>
                </a:r>
                <a:r>
                  <a:rPr lang="zh-CN" altLang="en-US" sz="1200" dirty="0">
                    <a:latin typeface="+mn-ea"/>
                    <a:ea typeface="+mn-ea"/>
                    <a:cs typeface="Times New Roman" panose="02020603050405020304" pitchFamily="18" charset="0"/>
                  </a:rPr>
                  <a:t>来代替</a:t>
                </a:r>
                <a14:m>
                  <m:oMath xmlns:m="http://schemas.openxmlformats.org/officeDocument/2006/math">
                    <m:r>
                      <m:rPr>
                        <m:sty m:val="p"/>
                      </m:rPr>
                      <a:rPr lang="en-US" altLang="zh-CN" sz="1200" b="0" i="1" dirty="0">
                        <a:latin typeface="Cambria Math" panose="02040503050406030204" pitchFamily="18" charset="0"/>
                        <a:ea typeface="+mn-ea"/>
                        <a:cs typeface="Times New Roman" panose="02020603050405020304" pitchFamily="18" charset="0"/>
                      </a:rPr>
                      <m:t>a</m:t>
                    </m:r>
                    <m:r>
                      <a:rPr lang="en-US" altLang="zh-CN" sz="1200" b="0" dirty="0">
                        <a:latin typeface="Cambria Math" panose="02040503050406030204" pitchFamily="18" charset="0"/>
                        <a:ea typeface="+mn-ea"/>
                        <a:cs typeface="Times New Roman" panose="02020603050405020304" pitchFamily="18" charset="0"/>
                      </a:rPr>
                      <m:t>=</m:t>
                    </m:r>
                    <m:sSub>
                      <m:sSubPr>
                        <m:ctrlPr>
                          <a:rPr lang="en-US" altLang="zh-CN" sz="1200" i="1" dirty="0">
                            <a:latin typeface="Cambria Math" panose="02040503050406030204" pitchFamily="18" charset="0"/>
                            <a:ea typeface="+mn-ea"/>
                            <a:cs typeface="Times New Roman" panose="02020603050405020304" pitchFamily="18" charset="0"/>
                          </a:rPr>
                        </m:ctrlPr>
                      </m:sSubPr>
                      <m:e>
                        <m:r>
                          <m:rPr>
                            <m:sty m:val="p"/>
                          </m:rPr>
                          <a:rPr lang="en-US" altLang="zh-CN" sz="1200" b="0" dirty="0">
                            <a:latin typeface="Cambria Math" panose="02040503050406030204" pitchFamily="18" charset="0"/>
                            <a:ea typeface="+mn-ea"/>
                            <a:cs typeface="Times New Roman" panose="02020603050405020304" pitchFamily="18" charset="0"/>
                          </a:rPr>
                          <m:t>argmax</m:t>
                        </m:r>
                      </m:e>
                      <m:sub>
                        <m:sSup>
                          <m:sSupPr>
                            <m:ctrlPr>
                              <a:rPr lang="en-US" altLang="zh-CN" sz="1200" i="1" dirty="0">
                                <a:latin typeface="Cambria Math" panose="02040503050406030204" pitchFamily="18" charset="0"/>
                                <a:ea typeface="+mn-ea"/>
                                <a:cs typeface="Times New Roman" panose="02020603050405020304" pitchFamily="18" charset="0"/>
                              </a:rPr>
                            </m:ctrlPr>
                          </m:sSupPr>
                          <m:e>
                            <m:r>
                              <m:rPr>
                                <m:sty m:val="p"/>
                              </m:rPr>
                              <a:rPr lang="en-US" altLang="zh-CN" sz="1200" b="0" i="1" dirty="0">
                                <a:latin typeface="Cambria Math" panose="02040503050406030204" pitchFamily="18" charset="0"/>
                                <a:ea typeface="+mn-ea"/>
                                <a:cs typeface="Times New Roman" panose="02020603050405020304" pitchFamily="18" charset="0"/>
                              </a:rPr>
                              <m:t>a</m:t>
                            </m:r>
                          </m:e>
                          <m:sup>
                            <m:r>
                              <a:rPr lang="en-US" altLang="zh-CN" sz="1200" b="0" dirty="0">
                                <a:latin typeface="Cambria Math" panose="02040503050406030204" pitchFamily="18" charset="0"/>
                                <a:ea typeface="+mn-ea"/>
                                <a:cs typeface="Times New Roman" panose="02020603050405020304" pitchFamily="18" charset="0"/>
                              </a:rPr>
                              <m:t>′</m:t>
                            </m:r>
                          </m:sup>
                        </m:sSup>
                      </m:sub>
                    </m:sSub>
                    <m:sSub>
                      <m:sSubPr>
                        <m:ctrlPr>
                          <a:rPr lang="en-US" altLang="zh-CN" sz="1200" i="1" dirty="0">
                            <a:latin typeface="Cambria Math" panose="02040503050406030204" pitchFamily="18" charset="0"/>
                            <a:ea typeface="+mn-ea"/>
                            <a:cs typeface="Times New Roman" panose="02020603050405020304" pitchFamily="18" charset="0"/>
                          </a:rPr>
                        </m:ctrlPr>
                      </m:sSubPr>
                      <m:e>
                        <m:r>
                          <m:rPr>
                            <m:sty m:val="p"/>
                          </m:rPr>
                          <a:rPr lang="en-US" altLang="zh-CN" sz="1200" b="0" i="1" dirty="0">
                            <a:latin typeface="Cambria Math" panose="02040503050406030204" pitchFamily="18" charset="0"/>
                            <a:ea typeface="+mn-ea"/>
                            <a:cs typeface="Times New Roman" panose="02020603050405020304" pitchFamily="18" charset="0"/>
                          </a:rPr>
                          <m:t>q</m:t>
                        </m:r>
                      </m:e>
                      <m:sub>
                        <m:r>
                          <m:rPr>
                            <m:sty m:val="p"/>
                          </m:rPr>
                          <a:rPr lang="en-US" altLang="zh-CN" sz="1200" b="0" i="1" dirty="0">
                            <a:latin typeface="Cambria Math" panose="02040503050406030204" pitchFamily="18" charset="0"/>
                            <a:ea typeface="+mn-ea"/>
                            <a:cs typeface="Times New Roman" panose="02020603050405020304" pitchFamily="18" charset="0"/>
                          </a:rPr>
                          <m:t>π</m:t>
                        </m:r>
                      </m:sub>
                    </m:sSub>
                    <m:r>
                      <a:rPr lang="en-US" altLang="zh-CN" sz="1200" b="0" dirty="0">
                        <a:latin typeface="Cambria Math" panose="02040503050406030204" pitchFamily="18" charset="0"/>
                        <a:ea typeface="+mn-ea"/>
                        <a:cs typeface="Times New Roman" panose="02020603050405020304" pitchFamily="18" charset="0"/>
                      </a:rPr>
                      <m:t>(</m:t>
                    </m:r>
                    <m:r>
                      <m:rPr>
                        <m:sty m:val="p"/>
                      </m:rPr>
                      <a:rPr lang="en-US" altLang="zh-CN" sz="1200" b="0" i="1" dirty="0">
                        <a:latin typeface="Cambria Math" panose="02040503050406030204" pitchFamily="18" charset="0"/>
                        <a:ea typeface="+mn-ea"/>
                        <a:cs typeface="Times New Roman" panose="02020603050405020304" pitchFamily="18" charset="0"/>
                      </a:rPr>
                      <m:t>s</m:t>
                    </m:r>
                    <m:r>
                      <a:rPr lang="en-US" altLang="zh-CN" sz="1200" b="0" dirty="0">
                        <a:latin typeface="Cambria Math" panose="02040503050406030204" pitchFamily="18" charset="0"/>
                        <a:ea typeface="+mn-ea"/>
                        <a:cs typeface="Times New Roman" panose="02020603050405020304" pitchFamily="18" charset="0"/>
                      </a:rPr>
                      <m:t>,</m:t>
                    </m:r>
                    <m:r>
                      <m:rPr>
                        <m:sty m:val="p"/>
                      </m:rPr>
                      <a:rPr lang="en-US" altLang="zh-CN" sz="1200" b="0" i="1" dirty="0">
                        <a:latin typeface="Cambria Math" panose="02040503050406030204" pitchFamily="18" charset="0"/>
                        <a:ea typeface="+mn-ea"/>
                        <a:cs typeface="Times New Roman" panose="02020603050405020304" pitchFamily="18" charset="0"/>
                      </a:rPr>
                      <m:t>a</m:t>
                    </m:r>
                    <m:r>
                      <a:rPr lang="en-US" altLang="zh-CN" sz="1200" b="0" dirty="0">
                        <a:latin typeface="Cambria Math" panose="02040503050406030204" pitchFamily="18" charset="0"/>
                        <a:ea typeface="+mn-ea"/>
                        <a:cs typeface="Times New Roman" panose="02020603050405020304" pitchFamily="18" charset="0"/>
                      </a:rPr>
                      <m:t>′)</m:t>
                    </m:r>
                  </m:oMath>
                </a14:m>
                <a:r>
                  <a:rPr lang="zh-CN" altLang="en-US" sz="1200" dirty="0" smtClean="0">
                    <a:latin typeface="+mn-ea"/>
                    <a:ea typeface="+mn-ea"/>
                    <a:cs typeface="Times New Roman" panose="02020603050405020304" pitchFamily="18" charset="0"/>
                  </a:rPr>
                  <a:t>。</a:t>
                </a:r>
                <a:r>
                  <a:rPr lang="en-US" altLang="zh-CN" sz="1200" dirty="0" smtClean="0">
                    <a:latin typeface="+mn-ea"/>
                    <a:ea typeface="+mn-ea"/>
                    <a:cs typeface="Times New Roman" panose="02020603050405020304" pitchFamily="18" charset="0"/>
                  </a:rPr>
                  <a:t> </a:t>
                </a:r>
                <a:endParaRPr lang="en-US" altLang="zh-CN" sz="1200" dirty="0">
                  <a:latin typeface="+mn-ea"/>
                  <a:ea typeface="+mn-ea"/>
                  <a:cs typeface="Times New Roman" panose="02020603050405020304" pitchFamily="18" charset="0"/>
                </a:endParaRPr>
              </a:p>
            </p:txBody>
          </p:sp>
        </mc:Choice>
        <mc:Fallback xmlns="">
          <p:sp>
            <p:nvSpPr>
              <p:cNvPr id="15" name="文本框 162">
                <a:extLst>
                  <a:ext uri="{FF2B5EF4-FFF2-40B4-BE49-F238E27FC236}">
                    <a16:creationId xmlns:a16="http://schemas.microsoft.com/office/drawing/2014/main" id="{9B4AAD68-3E4B-4612-9052-588F7030C324}"/>
                  </a:ext>
                </a:extLst>
              </p:cNvPr>
              <p:cNvSpPr txBox="1">
                <a:spLocks noRot="1" noChangeAspect="1" noMove="1" noResize="1" noEditPoints="1" noAdjustHandles="1" noChangeArrowheads="1" noChangeShapeType="1" noTextEdit="1"/>
              </p:cNvSpPr>
              <p:nvPr/>
            </p:nvSpPr>
            <p:spPr>
              <a:xfrm>
                <a:off x="508196" y="4208050"/>
                <a:ext cx="8127608" cy="722890"/>
              </a:xfrm>
              <a:prstGeom prst="rect">
                <a:avLst/>
              </a:prstGeom>
              <a:blipFill>
                <a:blip r:embed="rId6"/>
                <a:stretch>
                  <a:fillRect b="-5042"/>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D9F0F910-AB9D-4EE0-99CF-443C03926A98}"/>
              </a:ext>
            </a:extLst>
          </p:cNvPr>
          <p:cNvPicPr>
            <a:picLocks noChangeAspect="1"/>
          </p:cNvPicPr>
          <p:nvPr/>
        </p:nvPicPr>
        <p:blipFill>
          <a:blip r:embed="rId7"/>
          <a:stretch>
            <a:fillRect/>
          </a:stretch>
        </p:blipFill>
        <p:spPr>
          <a:xfrm>
            <a:off x="1619343" y="2062722"/>
            <a:ext cx="386672" cy="393998"/>
          </a:xfrm>
          <a:prstGeom prst="rect">
            <a:avLst/>
          </a:prstGeom>
        </p:spPr>
      </p:pic>
      <p:grpSp>
        <p:nvGrpSpPr>
          <p:cNvPr id="7" name="组合 6">
            <a:extLst>
              <a:ext uri="{FF2B5EF4-FFF2-40B4-BE49-F238E27FC236}">
                <a16:creationId xmlns:a16="http://schemas.microsoft.com/office/drawing/2014/main" id="{1C03608C-A953-3BF9-F3B4-0B51016CC4D8}"/>
              </a:ext>
            </a:extLst>
          </p:cNvPr>
          <p:cNvGrpSpPr/>
          <p:nvPr/>
        </p:nvGrpSpPr>
        <p:grpSpPr>
          <a:xfrm>
            <a:off x="611560" y="483518"/>
            <a:ext cx="5598290" cy="373451"/>
            <a:chOff x="4099943" y="2819853"/>
            <a:chExt cx="2570275" cy="497934"/>
          </a:xfrm>
        </p:grpSpPr>
        <p:sp>
          <p:nvSpPr>
            <p:cNvPr id="8" name="平行四边形 7">
              <a:extLst>
                <a:ext uri="{FF2B5EF4-FFF2-40B4-BE49-F238E27FC236}">
                  <a16:creationId xmlns:a16="http://schemas.microsoft.com/office/drawing/2014/main" id="{874864BB-B700-5D58-7CEA-8AD1BDDB7929}"/>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7" name="平行四边形 16">
              <a:extLst>
                <a:ext uri="{FF2B5EF4-FFF2-40B4-BE49-F238E27FC236}">
                  <a16:creationId xmlns:a16="http://schemas.microsoft.com/office/drawing/2014/main" id="{8876A0A2-FDD9-3867-67B3-C921DC9B9376}"/>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8" name="矩形 17">
              <a:extLst>
                <a:ext uri="{FF2B5EF4-FFF2-40B4-BE49-F238E27FC236}">
                  <a16:creationId xmlns:a16="http://schemas.microsoft.com/office/drawing/2014/main" id="{5CA344E1-F174-519C-F0E0-A53A4FEB8EF2}"/>
                </a:ext>
              </a:extLst>
            </p:cNvPr>
            <p:cNvSpPr/>
            <p:nvPr/>
          </p:nvSpPr>
          <p:spPr>
            <a:xfrm>
              <a:off x="4216534" y="2853798"/>
              <a:ext cx="2359684" cy="430886"/>
            </a:xfrm>
            <a:prstGeom prst="rect">
              <a:avLst/>
            </a:prstGeom>
          </p:spPr>
          <p:txBody>
            <a:bodyPr wrap="square">
              <a:spAutoFit/>
            </a:bodyPr>
            <a:lstStyle/>
            <a:p>
              <a:pPr algn="ctr"/>
              <a:r>
                <a:rPr lang="zh-CN" altLang="en-US" sz="1500" dirty="0" smtClean="0">
                  <a:solidFill>
                    <a:srgbClr val="0070C0"/>
                  </a:solidFill>
                  <a:latin typeface="+mn-ea"/>
                  <a:ea typeface="+mn-ea"/>
                  <a:cs typeface="Times New Roman" panose="02020603050405020304" pitchFamily="18" charset="0"/>
                </a:rPr>
                <a:t>探索</a:t>
              </a:r>
              <a:r>
                <a:rPr lang="zh-CN" altLang="en-US" sz="1500" dirty="0">
                  <a:solidFill>
                    <a:srgbClr val="0070C0"/>
                  </a:solidFill>
                  <a:latin typeface="+mn-ea"/>
                  <a:ea typeface="+mn-ea"/>
                  <a:cs typeface="Times New Roman" panose="02020603050405020304" pitchFamily="18" charset="0"/>
                </a:rPr>
                <a:t>与利用</a:t>
              </a:r>
            </a:p>
          </p:txBody>
        </p:sp>
      </p:grpSp>
      <p:sp>
        <p:nvSpPr>
          <p:cNvPr id="2" name="矩形 1"/>
          <p:cNvSpPr/>
          <p:nvPr/>
        </p:nvSpPr>
        <p:spPr>
          <a:xfrm>
            <a:off x="5796136" y="4183223"/>
            <a:ext cx="2555776" cy="307777"/>
          </a:xfrm>
          <a:prstGeom prst="rect">
            <a:avLst/>
          </a:prstGeom>
        </p:spPr>
        <p:txBody>
          <a:bodyPr wrap="square">
            <a:spAutoFit/>
          </a:bodyPr>
          <a:lstStyle/>
          <a:p>
            <a:r>
              <a:rPr lang="zh-CN" altLang="en-US" kern="100" dirty="0" smtClean="0">
                <a:latin typeface="+mn-ea"/>
                <a:ea typeface="+mn-ea"/>
                <a:cs typeface="Times New Roman" panose="02020603050405020304" pitchFamily="18" charset="0"/>
              </a:rPr>
              <a:t>可以</a:t>
            </a:r>
            <a:r>
              <a:rPr lang="zh-CN" altLang="zh-CN" kern="100" dirty="0" smtClean="0">
                <a:latin typeface="+mn-ea"/>
                <a:ea typeface="+mn-ea"/>
                <a:cs typeface="Times New Roman" panose="02020603050405020304" pitchFamily="18" charset="0"/>
              </a:rPr>
              <a:t>在</a:t>
            </a:r>
            <a:r>
              <a:rPr lang="zh-CN" altLang="zh-CN" kern="100" dirty="0">
                <a:latin typeface="+mn-ea"/>
                <a:ea typeface="+mn-ea"/>
                <a:cs typeface="Times New Roman" panose="02020603050405020304" pitchFamily="18" charset="0"/>
              </a:rPr>
              <a:t>训练过程中逐渐衰减</a:t>
            </a:r>
            <a:r>
              <a:rPr lang="en-US" altLang="zh-CN" kern="100" dirty="0">
                <a:latin typeface="+mn-ea"/>
                <a:ea typeface="+mn-ea"/>
              </a:rPr>
              <a:t> </a:t>
            </a:r>
            <a:r>
              <a:rPr lang="en-US" altLang="zh-CN" kern="100" dirty="0" smtClean="0">
                <a:latin typeface="+mn-ea"/>
                <a:ea typeface="+mn-ea"/>
              </a:rPr>
              <a:t>ε</a:t>
            </a:r>
            <a:endParaRPr lang="zh-CN" altLang="en-US" dirty="0">
              <a:latin typeface="+mn-ea"/>
              <a:ea typeface="+mn-ea"/>
            </a:endParaRPr>
          </a:p>
        </p:txBody>
      </p:sp>
    </p:spTree>
    <p:extLst>
      <p:ext uri="{BB962C8B-B14F-4D97-AF65-F5344CB8AC3E}">
        <p14:creationId xmlns:p14="http://schemas.microsoft.com/office/powerpoint/2010/main" val="2782628766"/>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CDAD2E5-6C8D-4C6A-B11F-9F3EB217025D}"/>
                  </a:ext>
                </a:extLst>
              </p:cNvPr>
              <p:cNvSpPr/>
              <p:nvPr/>
            </p:nvSpPr>
            <p:spPr>
              <a:xfrm>
                <a:off x="107504" y="1275606"/>
                <a:ext cx="8496944" cy="2440668"/>
              </a:xfrm>
              <a:prstGeom prst="rect">
                <a:avLst/>
              </a:prstGeom>
            </p:spPr>
            <p:txBody>
              <a:bodyPr wrap="square">
                <a:spAutoFit/>
              </a:bodyPr>
              <a:lstStyle/>
              <a:p>
                <a:pPr marL="214313" indent="-214313" algn="just">
                  <a:lnSpc>
                    <a:spcPct val="150000"/>
                  </a:lnSpc>
                  <a:spcAft>
                    <a:spcPts val="0"/>
                  </a:spcAft>
                  <a:buFont typeface="Wingdings" panose="05000000000000000000" pitchFamily="2" charset="2"/>
                  <a:buChar char="l"/>
                </a:pPr>
                <a:r>
                  <a:rPr lang="en-US" altLang="zh-CN" dirty="0" smtClean="0">
                    <a:solidFill>
                      <a:srgbClr val="000000"/>
                    </a:solidFill>
                    <a:latin typeface="+mn-ea"/>
                    <a:ea typeface="+mn-ea"/>
                    <a:cs typeface="Times New Roman" panose="02020603050405020304" pitchFamily="18" charset="0"/>
                  </a:rPr>
                  <a:t>Q</a:t>
                </a:r>
                <a:r>
                  <a:rPr lang="zh-CN" altLang="zh-CN" dirty="0">
                    <a:solidFill>
                      <a:srgbClr val="000000"/>
                    </a:solidFill>
                    <a:latin typeface="+mn-ea"/>
                    <a:ea typeface="+mn-ea"/>
                    <a:cs typeface="Times New Roman" panose="02020603050405020304" pitchFamily="18" charset="0"/>
                  </a:rPr>
                  <a:t>学习</a:t>
                </a:r>
                <a:r>
                  <a:rPr lang="zh-CN" altLang="zh-CN" dirty="0" smtClean="0">
                    <a:solidFill>
                      <a:srgbClr val="000000"/>
                    </a:solidFill>
                    <a:latin typeface="+mn-ea"/>
                    <a:ea typeface="+mn-ea"/>
                    <a:cs typeface="Times New Roman" panose="02020603050405020304" pitchFamily="18" charset="0"/>
                  </a:rPr>
                  <a:t>算法算法</a:t>
                </a:r>
                <a:r>
                  <a:rPr lang="zh-CN" altLang="zh-CN" dirty="0">
                    <a:solidFill>
                      <a:srgbClr val="000000"/>
                    </a:solidFill>
                    <a:latin typeface="+mn-ea"/>
                    <a:ea typeface="+mn-ea"/>
                    <a:cs typeface="Times New Roman" panose="02020603050405020304" pitchFamily="18" charset="0"/>
                  </a:rPr>
                  <a:t>中，动作</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价值函数需要用一个数组来记录。但是在有些实际问题中，</a:t>
                </a:r>
                <a:r>
                  <a:rPr lang="zh-CN" altLang="zh-CN" dirty="0">
                    <a:solidFill>
                      <a:srgbClr val="FF0000"/>
                    </a:solidFill>
                    <a:latin typeface="+mn-ea"/>
                    <a:ea typeface="+mn-ea"/>
                    <a:cs typeface="Times New Roman" panose="02020603050405020304" pitchFamily="18" charset="0"/>
                  </a:rPr>
                  <a:t>状态数量会非常多甚至是无限的</a:t>
                </a:r>
                <a:r>
                  <a:rPr lang="zh-CN" altLang="zh-CN" dirty="0">
                    <a:solidFill>
                      <a:srgbClr val="000000"/>
                    </a:solidFill>
                    <a:latin typeface="+mn-ea"/>
                    <a:ea typeface="+mn-ea"/>
                    <a:cs typeface="Times New Roman" panose="02020603050405020304" pitchFamily="18" charset="0"/>
                  </a:rPr>
                  <a:t>，这样会造成如下两个问题</a:t>
                </a:r>
                <a:r>
                  <a:rPr lang="zh-CN" altLang="zh-CN" dirty="0" smtClean="0">
                    <a:solidFill>
                      <a:srgbClr val="000000"/>
                    </a:solidFill>
                    <a:latin typeface="+mn-ea"/>
                    <a:ea typeface="+mn-ea"/>
                    <a:cs typeface="Times New Roman" panose="02020603050405020304" pitchFamily="18" charset="0"/>
                  </a:rPr>
                  <a:t>：算法</a:t>
                </a:r>
                <a:r>
                  <a:rPr lang="zh-CN" altLang="zh-CN" dirty="0">
                    <a:solidFill>
                      <a:srgbClr val="000000"/>
                    </a:solidFill>
                    <a:latin typeface="+mn-ea"/>
                    <a:ea typeface="+mn-ea"/>
                    <a:cs typeface="Times New Roman" panose="02020603050405020304" pitchFamily="18" charset="0"/>
                  </a:rPr>
                  <a:t>很难用一个数组来存储动作</a:t>
                </a:r>
                <a:r>
                  <a:rPr lang="en-US" altLang="zh-CN" dirty="0">
                    <a:solidFill>
                      <a:srgbClr val="000000"/>
                    </a:solidFill>
                    <a:latin typeface="+mn-ea"/>
                    <a:ea typeface="+mn-ea"/>
                    <a:cs typeface="Times New Roman" panose="02020603050405020304" pitchFamily="18" charset="0"/>
                  </a:rPr>
                  <a:t>-</a:t>
                </a:r>
                <a:r>
                  <a:rPr lang="zh-CN" altLang="zh-CN" dirty="0">
                    <a:solidFill>
                      <a:srgbClr val="000000"/>
                    </a:solidFill>
                    <a:latin typeface="+mn-ea"/>
                    <a:ea typeface="+mn-ea"/>
                    <a:cs typeface="Times New Roman" panose="02020603050405020304" pitchFamily="18" charset="0"/>
                  </a:rPr>
                  <a:t>价值函数的值</a:t>
                </a:r>
                <a:r>
                  <a:rPr lang="zh-CN" altLang="zh-CN" dirty="0" smtClean="0">
                    <a:solidFill>
                      <a:srgbClr val="000000"/>
                    </a:solidFill>
                    <a:latin typeface="+mn-ea"/>
                    <a:ea typeface="+mn-ea"/>
                    <a:cs typeface="Times New Roman" panose="02020603050405020304" pitchFamily="18" charset="0"/>
                  </a:rPr>
                  <a:t>；有些状态可能</a:t>
                </a:r>
                <a:r>
                  <a:rPr lang="zh-CN" altLang="zh-CN" dirty="0">
                    <a:solidFill>
                      <a:srgbClr val="000000"/>
                    </a:solidFill>
                    <a:latin typeface="+mn-ea"/>
                    <a:ea typeface="+mn-ea"/>
                    <a:cs typeface="Times New Roman" panose="02020603050405020304" pitchFamily="18" charset="0"/>
                  </a:rPr>
                  <a:t>很少</a:t>
                </a:r>
                <a:r>
                  <a:rPr lang="zh-CN" altLang="zh-CN" dirty="0" smtClean="0">
                    <a:solidFill>
                      <a:srgbClr val="000000"/>
                    </a:solidFill>
                    <a:latin typeface="+mn-ea"/>
                    <a:ea typeface="+mn-ea"/>
                    <a:cs typeface="Times New Roman" panose="02020603050405020304" pitchFamily="18" charset="0"/>
                  </a:rPr>
                  <a:t>甚至没有</a:t>
                </a:r>
                <a:r>
                  <a:rPr lang="zh-CN" altLang="zh-CN" dirty="0">
                    <a:solidFill>
                      <a:srgbClr val="000000"/>
                    </a:solidFill>
                    <a:latin typeface="+mn-ea"/>
                    <a:ea typeface="+mn-ea"/>
                    <a:cs typeface="Times New Roman" panose="02020603050405020304" pitchFamily="18" charset="0"/>
                  </a:rPr>
                  <a:t>被访问过，这些状态的价值估计是不可靠的</a:t>
                </a:r>
                <a:r>
                  <a:rPr lang="zh-CN" altLang="zh-CN" dirty="0" smtClean="0">
                    <a:solidFill>
                      <a:srgbClr val="000000"/>
                    </a:solidFill>
                    <a:latin typeface="+mn-ea"/>
                    <a:ea typeface="+mn-ea"/>
                    <a:cs typeface="Times New Roman" panose="02020603050405020304" pitchFamily="18" charset="0"/>
                  </a:rPr>
                  <a:t>。</a:t>
                </a:r>
                <a:endParaRPr lang="en-US" altLang="zh-CN" dirty="0" smtClean="0">
                  <a:solidFill>
                    <a:srgbClr val="000000"/>
                  </a:solidFill>
                  <a:latin typeface="+mn-ea"/>
                  <a:ea typeface="+mn-ea"/>
                  <a:cs typeface="Times New Roman" panose="02020603050405020304" pitchFamily="18" charset="0"/>
                </a:endParaRPr>
              </a:p>
              <a:p>
                <a:pPr marL="214313" indent="-214313" algn="just">
                  <a:lnSpc>
                    <a:spcPct val="150000"/>
                  </a:lnSpc>
                  <a:spcAft>
                    <a:spcPts val="0"/>
                  </a:spcAft>
                  <a:buFont typeface="Wingdings" panose="05000000000000000000" pitchFamily="2" charset="2"/>
                  <a:buChar char="l"/>
                </a:pPr>
                <a:endParaRPr lang="zh-CN" altLang="zh-CN" dirty="0">
                  <a:solidFill>
                    <a:srgbClr val="000000"/>
                  </a:solidFill>
                  <a:latin typeface="+mn-ea"/>
                  <a:ea typeface="+mn-ea"/>
                  <a:cs typeface="Times New Roman" panose="02020603050405020304" pitchFamily="18" charset="0"/>
                </a:endParaRPr>
              </a:p>
              <a:p>
                <a:pPr marL="214313" indent="-214313" algn="just">
                  <a:lnSpc>
                    <a:spcPct val="150000"/>
                  </a:lnSpc>
                  <a:spcAft>
                    <a:spcPts val="0"/>
                  </a:spcAft>
                  <a:buFont typeface="Wingdings" panose="05000000000000000000" pitchFamily="2" charset="2"/>
                  <a:buChar char="l"/>
                </a:pPr>
                <a:r>
                  <a:rPr lang="zh-CN" altLang="zh-CN" dirty="0">
                    <a:solidFill>
                      <a:srgbClr val="000000"/>
                    </a:solidFill>
                    <a:latin typeface="+mn-ea"/>
                    <a:ea typeface="+mn-ea"/>
                    <a:cs typeface="Times New Roman" panose="02020603050405020304" pitchFamily="18" charset="0"/>
                  </a:rPr>
                  <a:t>为了解决这两个问题，一种</a:t>
                </a:r>
                <a:r>
                  <a:rPr lang="zh-CN" altLang="zh-CN" dirty="0" smtClean="0">
                    <a:solidFill>
                      <a:srgbClr val="FF0000"/>
                    </a:solidFill>
                    <a:latin typeface="+mn-ea"/>
                    <a:ea typeface="+mn-ea"/>
                    <a:cs typeface="Times New Roman" panose="02020603050405020304" pitchFamily="18" charset="0"/>
                  </a:rPr>
                  <a:t>解决方案是将动作</a:t>
                </a:r>
                <a:r>
                  <a:rPr lang="en-US" altLang="zh-CN" dirty="0">
                    <a:solidFill>
                      <a:srgbClr val="FF0000"/>
                    </a:solidFill>
                    <a:latin typeface="+mn-ea"/>
                    <a:ea typeface="+mn-ea"/>
                    <a:cs typeface="Times New Roman" panose="02020603050405020304" pitchFamily="18" charset="0"/>
                  </a:rPr>
                  <a:t>-</a:t>
                </a:r>
                <a:r>
                  <a:rPr lang="zh-CN" altLang="zh-CN" dirty="0">
                    <a:solidFill>
                      <a:srgbClr val="FF0000"/>
                    </a:solidFill>
                    <a:latin typeface="+mn-ea"/>
                    <a:ea typeface="+mn-ea"/>
                    <a:cs typeface="Times New Roman" panose="02020603050405020304" pitchFamily="18" charset="0"/>
                  </a:rPr>
                  <a:t>价值函数参数化（</a:t>
                </a:r>
                <a:r>
                  <a:rPr lang="en-US" altLang="zh-CN" dirty="0">
                    <a:solidFill>
                      <a:srgbClr val="FF0000"/>
                    </a:solidFill>
                    <a:latin typeface="+mn-ea"/>
                    <a:ea typeface="+mn-ea"/>
                    <a:cs typeface="Times New Roman" panose="02020603050405020304" pitchFamily="18" charset="0"/>
                  </a:rPr>
                  <a:t>parametrized</a:t>
                </a:r>
                <a:r>
                  <a:rPr lang="zh-CN" altLang="zh-CN" dirty="0">
                    <a:solidFill>
                      <a:srgbClr val="FF0000"/>
                    </a:solidFill>
                    <a:latin typeface="+mn-ea"/>
                    <a:ea typeface="+mn-ea"/>
                    <a:cs typeface="Times New Roman" panose="02020603050405020304" pitchFamily="18" charset="0"/>
                  </a:rPr>
                  <a:t>），即用一个回归模型来拟合</a:t>
                </a:r>
                <a14:m>
                  <m:oMath xmlns:m="http://schemas.openxmlformats.org/officeDocument/2006/math">
                    <m:sSub>
                      <m:sSubPr>
                        <m:ctrlPr>
                          <a:rPr lang="zh-CN" altLang="zh-CN" i="1">
                            <a:solidFill>
                              <a:srgbClr val="FF0000"/>
                            </a:solidFill>
                            <a:latin typeface="Cambria Math" panose="02040503050406030204" pitchFamily="18" charset="0"/>
                            <a:ea typeface="+mn-ea"/>
                            <a:cs typeface="Times New Roman" panose="02020603050405020304" pitchFamily="18" charset="0"/>
                          </a:rPr>
                        </m:ctrlPr>
                      </m:sSubPr>
                      <m:e>
                        <m:r>
                          <a:rPr lang="en-US" altLang="zh-CN" i="1">
                            <a:solidFill>
                              <a:srgbClr val="FF0000"/>
                            </a:solidFill>
                            <a:latin typeface="Cambria Math" panose="02040503050406030204" pitchFamily="18" charset="0"/>
                            <a:ea typeface="+mn-ea"/>
                            <a:cs typeface="Times New Roman" panose="02020603050405020304" pitchFamily="18" charset="0"/>
                          </a:rPr>
                          <m:t>𝑞</m:t>
                        </m:r>
                      </m:e>
                      <m:sub>
                        <m:r>
                          <a:rPr lang="en-US" altLang="zh-CN" i="1">
                            <a:solidFill>
                              <a:srgbClr val="FF0000"/>
                            </a:solidFill>
                            <a:latin typeface="Cambria Math" panose="02040503050406030204" pitchFamily="18" charset="0"/>
                            <a:ea typeface="+mn-ea"/>
                            <a:cs typeface="Times New Roman" panose="02020603050405020304" pitchFamily="18" charset="0"/>
                          </a:rPr>
                          <m:t>𝜋</m:t>
                        </m:r>
                      </m:sub>
                    </m:sSub>
                  </m:oMath>
                </a14:m>
                <a:r>
                  <a:rPr lang="zh-CN" altLang="zh-CN" dirty="0">
                    <a:solidFill>
                      <a:srgbClr val="FF0000"/>
                    </a:solidFill>
                    <a:latin typeface="+mn-ea"/>
                    <a:ea typeface="+mn-ea"/>
                    <a:cs typeface="Times New Roman" panose="02020603050405020304" pitchFamily="18" charset="0"/>
                  </a:rPr>
                  <a:t>函数</a:t>
                </a:r>
                <a:r>
                  <a:rPr lang="zh-CN" altLang="zh-CN" dirty="0">
                    <a:solidFill>
                      <a:srgbClr val="000000"/>
                    </a:solidFill>
                    <a:latin typeface="+mn-ea"/>
                    <a:ea typeface="+mn-ea"/>
                    <a:cs typeface="Times New Roman" panose="02020603050405020304" pitchFamily="18" charset="0"/>
                  </a:rPr>
                  <a:t>。如果回归模型是一个深度神经网络，那么这样的算法就被称为</a:t>
                </a:r>
                <a:r>
                  <a:rPr lang="zh-CN" altLang="zh-CN" b="1" dirty="0">
                    <a:solidFill>
                      <a:srgbClr val="000000"/>
                    </a:solidFill>
                    <a:latin typeface="+mn-ea"/>
                    <a:ea typeface="+mn-ea"/>
                    <a:cs typeface="Times New Roman" panose="02020603050405020304" pitchFamily="18" charset="0"/>
                  </a:rPr>
                  <a:t>深度强化学习</a:t>
                </a:r>
                <a:r>
                  <a:rPr lang="en-US" altLang="zh-CN" b="1" dirty="0">
                    <a:solidFill>
                      <a:srgbClr val="000000"/>
                    </a:solidFill>
                    <a:latin typeface="+mn-ea"/>
                    <a:ea typeface="+mn-ea"/>
                    <a:cs typeface="Times New Roman" panose="02020603050405020304" pitchFamily="18" charset="0"/>
                  </a:rPr>
                  <a:t>(deep reinforcement learning)</a:t>
                </a:r>
                <a:r>
                  <a:rPr lang="zh-CN" altLang="zh-CN" b="1" dirty="0">
                    <a:solidFill>
                      <a:srgbClr val="000000"/>
                    </a:solidFill>
                    <a:latin typeface="+mn-ea"/>
                    <a:ea typeface="+mn-ea"/>
                    <a:cs typeface="Times New Roman" panose="02020603050405020304" pitchFamily="18" charset="0"/>
                  </a:rPr>
                  <a:t>算法</a:t>
                </a:r>
                <a:r>
                  <a:rPr lang="zh-CN" altLang="zh-CN" dirty="0">
                    <a:solidFill>
                      <a:srgbClr val="000000"/>
                    </a:solidFill>
                    <a:latin typeface="+mn-ea"/>
                    <a:ea typeface="+mn-ea"/>
                    <a:cs typeface="Times New Roman" panose="02020603050405020304" pitchFamily="18" charset="0"/>
                  </a:rPr>
                  <a:t>。</a:t>
                </a:r>
              </a:p>
            </p:txBody>
          </p:sp>
        </mc:Choice>
        <mc:Fallback xmlns="">
          <p:sp>
            <p:nvSpPr>
              <p:cNvPr id="10" name="矩形 9">
                <a:extLst>
                  <a:ext uri="{FF2B5EF4-FFF2-40B4-BE49-F238E27FC236}">
                    <a16:creationId xmlns:a16="http://schemas.microsoft.com/office/drawing/2014/main" id="{7CDAD2E5-6C8D-4C6A-B11F-9F3EB217025D}"/>
                  </a:ext>
                </a:extLst>
              </p:cNvPr>
              <p:cNvSpPr>
                <a:spLocks noRot="1" noChangeAspect="1" noMove="1" noResize="1" noEditPoints="1" noAdjustHandles="1" noChangeArrowheads="1" noChangeShapeType="1" noTextEdit="1"/>
              </p:cNvSpPr>
              <p:nvPr/>
            </p:nvSpPr>
            <p:spPr>
              <a:xfrm>
                <a:off x="107504" y="1275606"/>
                <a:ext cx="8496944" cy="2440668"/>
              </a:xfrm>
              <a:prstGeom prst="rect">
                <a:avLst/>
              </a:prstGeom>
              <a:blipFill>
                <a:blip r:embed="rId3"/>
                <a:stretch>
                  <a:fillRect l="-144" r="-287"/>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290589CA-80A1-91E3-4428-90C7BB287986}"/>
              </a:ext>
            </a:extLst>
          </p:cNvPr>
          <p:cNvGrpSpPr/>
          <p:nvPr/>
        </p:nvGrpSpPr>
        <p:grpSpPr>
          <a:xfrm>
            <a:off x="611560" y="483518"/>
            <a:ext cx="5598290" cy="373451"/>
            <a:chOff x="4099943" y="2819853"/>
            <a:chExt cx="2570275" cy="497934"/>
          </a:xfrm>
        </p:grpSpPr>
        <p:sp>
          <p:nvSpPr>
            <p:cNvPr id="8" name="平行四边形 7">
              <a:extLst>
                <a:ext uri="{FF2B5EF4-FFF2-40B4-BE49-F238E27FC236}">
                  <a16:creationId xmlns:a16="http://schemas.microsoft.com/office/drawing/2014/main" id="{06AFE885-CBB2-F96D-7724-6F619DCFA471}"/>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1" name="平行四边形 10">
              <a:extLst>
                <a:ext uri="{FF2B5EF4-FFF2-40B4-BE49-F238E27FC236}">
                  <a16:creationId xmlns:a16="http://schemas.microsoft.com/office/drawing/2014/main" id="{DC48962A-0C7B-2BC3-7498-C1F804E999A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2" name="矩形 11">
              <a:extLst>
                <a:ext uri="{FF2B5EF4-FFF2-40B4-BE49-F238E27FC236}">
                  <a16:creationId xmlns:a16="http://schemas.microsoft.com/office/drawing/2014/main" id="{7C58EA79-0B49-DB6F-8C50-B4E8AD0B64AB}"/>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参数</a:t>
              </a:r>
              <a:r>
                <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化与深度强化学习</a:t>
              </a:r>
            </a:p>
          </p:txBody>
        </p:sp>
      </p:grpSp>
    </p:spTree>
    <p:extLst>
      <p:ext uri="{BB962C8B-B14F-4D97-AF65-F5344CB8AC3E}">
        <p14:creationId xmlns:p14="http://schemas.microsoft.com/office/powerpoint/2010/main" val="3198332140"/>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6409073-B04A-4F64-A410-7F2247BE203E}"/>
              </a:ext>
            </a:extLst>
          </p:cNvPr>
          <p:cNvPicPr>
            <a:picLocks noChangeAspect="1"/>
          </p:cNvPicPr>
          <p:nvPr/>
        </p:nvPicPr>
        <p:blipFill rotWithShape="1">
          <a:blip r:embed="rId3"/>
          <a:srcRect r="31180"/>
          <a:stretch/>
        </p:blipFill>
        <p:spPr>
          <a:xfrm>
            <a:off x="4778087" y="681469"/>
            <a:ext cx="4229725" cy="4493479"/>
          </a:xfrm>
          <a:prstGeom prst="rect">
            <a:avLst/>
          </a:prstGeom>
        </p:spPr>
      </p:pic>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7CDAD2E5-6C8D-4C6A-B11F-9F3EB217025D}"/>
                  </a:ext>
                </a:extLst>
              </p:cNvPr>
              <p:cNvSpPr/>
              <p:nvPr/>
            </p:nvSpPr>
            <p:spPr>
              <a:xfrm>
                <a:off x="251520" y="961697"/>
                <a:ext cx="4608512" cy="1384995"/>
              </a:xfrm>
              <a:prstGeom prst="rect">
                <a:avLst/>
              </a:prstGeom>
            </p:spPr>
            <p:txBody>
              <a:bodyPr wrap="square">
                <a:spAutoFit/>
              </a:bodyPr>
              <a:lstStyle/>
              <a:p>
                <a:pPr marL="214313" indent="-214313" algn="just">
                  <a:lnSpc>
                    <a:spcPct val="150000"/>
                  </a:lnSpc>
                  <a:spcAft>
                    <a:spcPts val="0"/>
                  </a:spcAft>
                  <a:buFont typeface="Wingdings" panose="05000000000000000000" pitchFamily="2" charset="2"/>
                  <a:buChar char="l"/>
                </a:pPr>
                <a:r>
                  <a:rPr lang="zh-CN" altLang="zh-CN" dirty="0" smtClean="0">
                    <a:solidFill>
                      <a:srgbClr val="FF0000"/>
                    </a:solidFill>
                    <a:latin typeface="+mn-ea"/>
                    <a:ea typeface="+mn-ea"/>
                    <a:cs typeface="Times New Roman" panose="02020603050405020304" pitchFamily="18" charset="0"/>
                  </a:rPr>
                  <a:t>将动作</a:t>
                </a:r>
                <a:r>
                  <a:rPr lang="en-US" altLang="zh-CN" dirty="0">
                    <a:solidFill>
                      <a:srgbClr val="FF0000"/>
                    </a:solidFill>
                    <a:latin typeface="+mn-ea"/>
                    <a:ea typeface="+mn-ea"/>
                    <a:cs typeface="Times New Roman" panose="02020603050405020304" pitchFamily="18" charset="0"/>
                  </a:rPr>
                  <a:t>-</a:t>
                </a:r>
                <a:r>
                  <a:rPr lang="zh-CN" altLang="zh-CN" dirty="0">
                    <a:solidFill>
                      <a:srgbClr val="FF0000"/>
                    </a:solidFill>
                    <a:latin typeface="+mn-ea"/>
                    <a:ea typeface="+mn-ea"/>
                    <a:cs typeface="Times New Roman" panose="02020603050405020304" pitchFamily="18" charset="0"/>
                  </a:rPr>
                  <a:t>价值函数参数化（</a:t>
                </a:r>
                <a:r>
                  <a:rPr lang="en-US" altLang="zh-CN" dirty="0">
                    <a:solidFill>
                      <a:srgbClr val="FF0000"/>
                    </a:solidFill>
                    <a:latin typeface="+mn-ea"/>
                    <a:ea typeface="+mn-ea"/>
                    <a:cs typeface="Times New Roman" panose="02020603050405020304" pitchFamily="18" charset="0"/>
                  </a:rPr>
                  <a:t>parametrized</a:t>
                </a:r>
                <a:r>
                  <a:rPr lang="zh-CN" altLang="zh-CN" dirty="0" smtClean="0">
                    <a:solidFill>
                      <a:srgbClr val="FF0000"/>
                    </a:solidFill>
                    <a:latin typeface="+mn-ea"/>
                    <a:ea typeface="+mn-ea"/>
                    <a:cs typeface="Times New Roman" panose="02020603050405020304" pitchFamily="18" charset="0"/>
                  </a:rPr>
                  <a:t>），用</a:t>
                </a:r>
                <a:r>
                  <a:rPr lang="zh-CN" altLang="zh-CN" dirty="0">
                    <a:solidFill>
                      <a:srgbClr val="FF0000"/>
                    </a:solidFill>
                    <a:latin typeface="+mn-ea"/>
                    <a:ea typeface="+mn-ea"/>
                    <a:cs typeface="Times New Roman" panose="02020603050405020304" pitchFamily="18" charset="0"/>
                  </a:rPr>
                  <a:t>一个回归模型来拟合</a:t>
                </a:r>
                <a14:m>
                  <m:oMath xmlns:m="http://schemas.openxmlformats.org/officeDocument/2006/math">
                    <m:sSub>
                      <m:sSubPr>
                        <m:ctrlPr>
                          <a:rPr lang="zh-CN" altLang="zh-CN" i="1">
                            <a:solidFill>
                              <a:srgbClr val="FF0000"/>
                            </a:solidFill>
                            <a:latin typeface="Cambria Math" panose="02040503050406030204" pitchFamily="18" charset="0"/>
                            <a:ea typeface="+mn-ea"/>
                            <a:cs typeface="Times New Roman" panose="02020603050405020304" pitchFamily="18" charset="0"/>
                          </a:rPr>
                        </m:ctrlPr>
                      </m:sSubPr>
                      <m:e>
                        <m:r>
                          <a:rPr lang="en-US" altLang="zh-CN" i="1">
                            <a:solidFill>
                              <a:srgbClr val="FF0000"/>
                            </a:solidFill>
                            <a:latin typeface="Cambria Math" panose="02040503050406030204" pitchFamily="18" charset="0"/>
                            <a:ea typeface="+mn-ea"/>
                            <a:cs typeface="Times New Roman" panose="02020603050405020304" pitchFamily="18" charset="0"/>
                          </a:rPr>
                          <m:t>𝑞</m:t>
                        </m:r>
                      </m:e>
                      <m:sub>
                        <m:r>
                          <a:rPr lang="en-US" altLang="zh-CN" i="1">
                            <a:solidFill>
                              <a:srgbClr val="FF0000"/>
                            </a:solidFill>
                            <a:latin typeface="Cambria Math" panose="02040503050406030204" pitchFamily="18" charset="0"/>
                            <a:ea typeface="+mn-ea"/>
                            <a:cs typeface="Times New Roman" panose="02020603050405020304" pitchFamily="18" charset="0"/>
                          </a:rPr>
                          <m:t>𝜋</m:t>
                        </m:r>
                      </m:sub>
                    </m:sSub>
                  </m:oMath>
                </a14:m>
                <a:r>
                  <a:rPr lang="zh-CN" altLang="zh-CN" dirty="0">
                    <a:solidFill>
                      <a:srgbClr val="FF0000"/>
                    </a:solidFill>
                    <a:latin typeface="+mn-ea"/>
                    <a:ea typeface="+mn-ea"/>
                    <a:cs typeface="Times New Roman" panose="02020603050405020304" pitchFamily="18" charset="0"/>
                  </a:rPr>
                  <a:t>函数</a:t>
                </a:r>
                <a:r>
                  <a:rPr lang="zh-CN" altLang="zh-CN" dirty="0">
                    <a:solidFill>
                      <a:srgbClr val="000000"/>
                    </a:solidFill>
                    <a:latin typeface="+mn-ea"/>
                    <a:ea typeface="+mn-ea"/>
                    <a:cs typeface="Times New Roman" panose="02020603050405020304" pitchFamily="18" charset="0"/>
                  </a:rPr>
                  <a:t>。如果回归模型是一个深度神经网络，那么这样的算法就被称为</a:t>
                </a:r>
                <a:r>
                  <a:rPr lang="zh-CN" altLang="zh-CN" b="1" dirty="0">
                    <a:solidFill>
                      <a:srgbClr val="000000"/>
                    </a:solidFill>
                    <a:latin typeface="+mn-ea"/>
                    <a:ea typeface="+mn-ea"/>
                    <a:cs typeface="Times New Roman" panose="02020603050405020304" pitchFamily="18" charset="0"/>
                  </a:rPr>
                  <a:t>深度强化学习</a:t>
                </a:r>
                <a:r>
                  <a:rPr lang="en-US" altLang="zh-CN" b="1" dirty="0">
                    <a:solidFill>
                      <a:srgbClr val="000000"/>
                    </a:solidFill>
                    <a:latin typeface="+mn-ea"/>
                    <a:ea typeface="+mn-ea"/>
                    <a:cs typeface="Times New Roman" panose="02020603050405020304" pitchFamily="18" charset="0"/>
                  </a:rPr>
                  <a:t>(deep reinforcement learning)</a:t>
                </a:r>
                <a:r>
                  <a:rPr lang="zh-CN" altLang="zh-CN" b="1" dirty="0">
                    <a:solidFill>
                      <a:srgbClr val="000000"/>
                    </a:solidFill>
                    <a:latin typeface="+mn-ea"/>
                    <a:ea typeface="+mn-ea"/>
                    <a:cs typeface="Times New Roman" panose="02020603050405020304" pitchFamily="18" charset="0"/>
                  </a:rPr>
                  <a:t>算法</a:t>
                </a:r>
                <a:r>
                  <a:rPr lang="zh-CN" altLang="zh-CN" dirty="0">
                    <a:solidFill>
                      <a:srgbClr val="000000"/>
                    </a:solidFill>
                    <a:latin typeface="+mn-ea"/>
                    <a:ea typeface="+mn-ea"/>
                    <a:cs typeface="Times New Roman" panose="02020603050405020304" pitchFamily="18" charset="0"/>
                  </a:rPr>
                  <a:t>。</a:t>
                </a:r>
              </a:p>
            </p:txBody>
          </p:sp>
        </mc:Choice>
        <mc:Fallback xmlns="">
          <p:sp>
            <p:nvSpPr>
              <p:cNvPr id="10" name="矩形 9">
                <a:extLst>
                  <a:ext uri="{FF2B5EF4-FFF2-40B4-BE49-F238E27FC236}">
                    <a16:creationId xmlns:a16="http://schemas.microsoft.com/office/drawing/2014/main" id="{7CDAD2E5-6C8D-4C6A-B11F-9F3EB217025D}"/>
                  </a:ext>
                </a:extLst>
              </p:cNvPr>
              <p:cNvSpPr>
                <a:spLocks noRot="1" noChangeAspect="1" noMove="1" noResize="1" noEditPoints="1" noAdjustHandles="1" noChangeArrowheads="1" noChangeShapeType="1" noTextEdit="1"/>
              </p:cNvSpPr>
              <p:nvPr/>
            </p:nvSpPr>
            <p:spPr>
              <a:xfrm>
                <a:off x="251520" y="961697"/>
                <a:ext cx="4608512" cy="1384995"/>
              </a:xfrm>
              <a:prstGeom prst="rect">
                <a:avLst/>
              </a:prstGeom>
              <a:blipFill>
                <a:blip r:embed="rId4"/>
                <a:stretch>
                  <a:fillRect l="-132" r="-397" b="-881"/>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290589CA-80A1-91E3-4428-90C7BB287986}"/>
              </a:ext>
            </a:extLst>
          </p:cNvPr>
          <p:cNvGrpSpPr/>
          <p:nvPr/>
        </p:nvGrpSpPr>
        <p:grpSpPr>
          <a:xfrm>
            <a:off x="611560" y="483518"/>
            <a:ext cx="5598290" cy="373451"/>
            <a:chOff x="4099943" y="2819853"/>
            <a:chExt cx="2570275" cy="497934"/>
          </a:xfrm>
        </p:grpSpPr>
        <p:sp>
          <p:nvSpPr>
            <p:cNvPr id="8" name="平行四边形 7">
              <a:extLst>
                <a:ext uri="{FF2B5EF4-FFF2-40B4-BE49-F238E27FC236}">
                  <a16:creationId xmlns:a16="http://schemas.microsoft.com/office/drawing/2014/main" id="{06AFE885-CBB2-F96D-7724-6F619DCFA471}"/>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1" name="平行四边形 10">
              <a:extLst>
                <a:ext uri="{FF2B5EF4-FFF2-40B4-BE49-F238E27FC236}">
                  <a16:creationId xmlns:a16="http://schemas.microsoft.com/office/drawing/2014/main" id="{DC48962A-0C7B-2BC3-7498-C1F804E999A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2" name="矩形 11">
              <a:extLst>
                <a:ext uri="{FF2B5EF4-FFF2-40B4-BE49-F238E27FC236}">
                  <a16:creationId xmlns:a16="http://schemas.microsoft.com/office/drawing/2014/main" id="{7C58EA79-0B49-DB6F-8C50-B4E8AD0B64AB}"/>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参数</a:t>
              </a:r>
              <a:r>
                <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化与深度强化学习</a:t>
              </a:r>
            </a:p>
          </p:txBody>
        </p:sp>
      </p:gr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7CDAD2E5-6C8D-4C6A-B11F-9F3EB217025D}"/>
                  </a:ext>
                </a:extLst>
              </p:cNvPr>
              <p:cNvSpPr/>
              <p:nvPr/>
            </p:nvSpPr>
            <p:spPr>
              <a:xfrm>
                <a:off x="143167" y="2454516"/>
                <a:ext cx="4825218" cy="2228110"/>
              </a:xfrm>
              <a:prstGeom prst="rect">
                <a:avLst/>
              </a:prstGeom>
            </p:spPr>
            <p:txBody>
              <a:bodyPr wrap="square">
                <a:spAutoFit/>
              </a:bodyPr>
              <a:lstStyle/>
              <a:p>
                <a:pPr marL="214313" indent="-214313" algn="just">
                  <a:lnSpc>
                    <a:spcPct val="150000"/>
                  </a:lnSpc>
                  <a:spcAft>
                    <a:spcPts val="0"/>
                  </a:spcAft>
                  <a:buFont typeface="Wingdings" panose="05000000000000000000" pitchFamily="2" charset="2"/>
                  <a:buChar char="l"/>
                </a:pPr>
                <a:r>
                  <a:rPr lang="zh-CN" altLang="zh-CN" dirty="0">
                    <a:latin typeface="+mn-ea"/>
                    <a:ea typeface="+mn-ea"/>
                    <a:cs typeface="Times New Roman" panose="02020603050405020304" pitchFamily="18" charset="0"/>
                  </a:rPr>
                  <a:t>和非参数化的算法</a:t>
                </a:r>
                <a:r>
                  <a:rPr lang="en-US" altLang="zh-CN" dirty="0">
                    <a:latin typeface="+mn-ea"/>
                    <a:ea typeface="+mn-ea"/>
                    <a:cs typeface="Times New Roman" panose="02020603050405020304" pitchFamily="18" charset="0"/>
                  </a:rPr>
                  <a:t>6.7</a:t>
                </a:r>
                <a:r>
                  <a:rPr lang="zh-CN" altLang="zh-CN" dirty="0">
                    <a:latin typeface="+mn-ea"/>
                    <a:ea typeface="+mn-ea"/>
                    <a:cs typeface="Times New Roman" panose="02020603050405020304" pitchFamily="18" charset="0"/>
                  </a:rPr>
                  <a:t>进行对比，不难发现，区别主要在算法</a:t>
                </a:r>
                <a:r>
                  <a:rPr lang="en-US" altLang="zh-CN" dirty="0">
                    <a:latin typeface="+mn-ea"/>
                    <a:ea typeface="+mn-ea"/>
                    <a:cs typeface="Times New Roman" panose="02020603050405020304" pitchFamily="18" charset="0"/>
                  </a:rPr>
                  <a:t>6.8</a:t>
                </a:r>
                <a:r>
                  <a:rPr lang="zh-CN" altLang="zh-CN" dirty="0">
                    <a:latin typeface="+mn-ea"/>
                    <a:ea typeface="+mn-ea"/>
                    <a:cs typeface="Times New Roman" panose="02020603050405020304" pitchFamily="18" charset="0"/>
                  </a:rPr>
                  <a:t>中</a:t>
                </a:r>
                <a:r>
                  <a:rPr lang="zh-CN" altLang="zh-CN" dirty="0">
                    <a:solidFill>
                      <a:srgbClr val="FF0000"/>
                    </a:solidFill>
                    <a:latin typeface="+mn-ea"/>
                    <a:ea typeface="+mn-ea"/>
                    <a:cs typeface="Times New Roman" panose="02020603050405020304" pitchFamily="18" charset="0"/>
                  </a:rPr>
                  <a:t>第</a:t>
                </a:r>
                <a:r>
                  <a:rPr lang="en-US" altLang="zh-CN" dirty="0">
                    <a:solidFill>
                      <a:srgbClr val="FF0000"/>
                    </a:solidFill>
                    <a:latin typeface="+mn-ea"/>
                    <a:ea typeface="+mn-ea"/>
                    <a:cs typeface="Times New Roman" panose="02020603050405020304" pitchFamily="18" charset="0"/>
                  </a:rPr>
                  <a:t>7</a:t>
                </a:r>
                <a:r>
                  <a:rPr lang="zh-CN" altLang="zh-CN" dirty="0">
                    <a:solidFill>
                      <a:srgbClr val="FF0000"/>
                    </a:solidFill>
                    <a:latin typeface="+mn-ea"/>
                    <a:ea typeface="+mn-ea"/>
                    <a:cs typeface="Times New Roman" panose="02020603050405020304" pitchFamily="18" charset="0"/>
                  </a:rPr>
                  <a:t>行和第</a:t>
                </a:r>
                <a:r>
                  <a:rPr lang="en-US" altLang="zh-CN" dirty="0">
                    <a:solidFill>
                      <a:srgbClr val="FF0000"/>
                    </a:solidFill>
                    <a:latin typeface="+mn-ea"/>
                    <a:ea typeface="+mn-ea"/>
                    <a:cs typeface="Times New Roman" panose="02020603050405020304" pitchFamily="18" charset="0"/>
                  </a:rPr>
                  <a:t>8</a:t>
                </a:r>
                <a:r>
                  <a:rPr lang="zh-CN" altLang="zh-CN" dirty="0">
                    <a:solidFill>
                      <a:srgbClr val="FF0000"/>
                    </a:solidFill>
                    <a:latin typeface="+mn-ea"/>
                    <a:ea typeface="+mn-ea"/>
                    <a:cs typeface="Times New Roman" panose="02020603050405020304" pitchFamily="18" charset="0"/>
                  </a:rPr>
                  <a:t>行的动作</a:t>
                </a:r>
                <a:r>
                  <a:rPr lang="en-US" altLang="zh-CN" dirty="0">
                    <a:solidFill>
                      <a:srgbClr val="FF0000"/>
                    </a:solidFill>
                    <a:latin typeface="+mn-ea"/>
                    <a:ea typeface="+mn-ea"/>
                    <a:cs typeface="Times New Roman" panose="02020603050405020304" pitchFamily="18" charset="0"/>
                  </a:rPr>
                  <a:t>-</a:t>
                </a:r>
                <a:r>
                  <a:rPr lang="zh-CN" altLang="zh-CN" dirty="0">
                    <a:solidFill>
                      <a:srgbClr val="FF0000"/>
                    </a:solidFill>
                    <a:latin typeface="+mn-ea"/>
                    <a:ea typeface="+mn-ea"/>
                    <a:cs typeface="Times New Roman" panose="02020603050405020304" pitchFamily="18" charset="0"/>
                  </a:rPr>
                  <a:t>价值函数更新</a:t>
                </a:r>
                <a:r>
                  <a:rPr lang="zh-CN" altLang="zh-CN" dirty="0">
                    <a:latin typeface="+mn-ea"/>
                    <a:ea typeface="+mn-ea"/>
                    <a:cs typeface="Times New Roman" panose="02020603050405020304" pitchFamily="18" charset="0"/>
                  </a:rPr>
                  <a:t>。</a:t>
                </a:r>
                <a:endParaRPr lang="en-US" altLang="zh-CN" dirty="0">
                  <a:latin typeface="+mn-ea"/>
                  <a:ea typeface="+mn-ea"/>
                  <a:cs typeface="Times New Roman" panose="02020603050405020304" pitchFamily="18" charset="0"/>
                </a:endParaRPr>
              </a:p>
              <a:p>
                <a:pPr marL="214313" indent="-214313" algn="just">
                  <a:lnSpc>
                    <a:spcPct val="150000"/>
                  </a:lnSpc>
                  <a:spcAft>
                    <a:spcPts val="0"/>
                  </a:spcAft>
                  <a:buFont typeface="Wingdings" panose="05000000000000000000" pitchFamily="2" charset="2"/>
                  <a:buChar char="l"/>
                </a:pPr>
                <a:r>
                  <a:rPr lang="zh-CN" altLang="zh-CN" dirty="0" smtClean="0">
                    <a:latin typeface="+mn-ea"/>
                    <a:ea typeface="+mn-ea"/>
                    <a:cs typeface="Times New Roman" panose="02020603050405020304" pitchFamily="18" charset="0"/>
                  </a:rPr>
                  <a:t>类似时序</a:t>
                </a:r>
                <a:r>
                  <a:rPr lang="zh-CN" altLang="zh-CN" dirty="0">
                    <a:latin typeface="+mn-ea"/>
                    <a:ea typeface="+mn-ea"/>
                    <a:cs typeface="Times New Roman" panose="02020603050405020304" pitchFamily="18" charset="0"/>
                  </a:rPr>
                  <a:t>差分法的分析，</a:t>
                </a:r>
                <a14:m>
                  <m:oMath xmlns:m="http://schemas.openxmlformats.org/officeDocument/2006/math">
                    <m:r>
                      <a:rPr lang="en-US" altLang="zh-CN" i="1">
                        <a:latin typeface="Cambria Math" panose="02040503050406030204" pitchFamily="18" charset="0"/>
                        <a:ea typeface="+mn-ea"/>
                      </a:rPr>
                      <m:t>𝑅</m:t>
                    </m:r>
                    <m:r>
                      <a:rPr lang="en-US" altLang="zh-CN" i="1">
                        <a:latin typeface="Cambria Math" panose="02040503050406030204" pitchFamily="18" charset="0"/>
                        <a:ea typeface="+mn-ea"/>
                      </a:rPr>
                      <m:t>+</m:t>
                    </m:r>
                    <m:func>
                      <m:funcPr>
                        <m:ctrlPr>
                          <a:rPr lang="zh-CN" altLang="zh-CN" i="1">
                            <a:latin typeface="Cambria Math" panose="02040503050406030204" pitchFamily="18" charset="0"/>
                            <a:ea typeface="+mn-ea"/>
                          </a:rPr>
                        </m:ctrlPr>
                      </m:funcPr>
                      <m:fName>
                        <m:limLow>
                          <m:limLowPr>
                            <m:ctrlPr>
                              <a:rPr lang="zh-CN" altLang="zh-CN" i="1">
                                <a:latin typeface="Cambria Math" panose="02040503050406030204" pitchFamily="18" charset="0"/>
                                <a:ea typeface="+mn-ea"/>
                              </a:rPr>
                            </m:ctrlPr>
                          </m:limLowPr>
                          <m:e>
                            <m:r>
                              <m:rPr>
                                <m:sty m:val="p"/>
                              </m:rPr>
                              <a:rPr lang="en-US" altLang="zh-CN">
                                <a:latin typeface="Cambria Math" panose="02040503050406030204" pitchFamily="18" charset="0"/>
                                <a:ea typeface="+mn-ea"/>
                              </a:rPr>
                              <m:t>max</m:t>
                            </m:r>
                          </m:e>
                          <m:lim>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𝑎</m:t>
                                </m:r>
                              </m:e>
                              <m:sup>
                                <m:r>
                                  <a:rPr lang="en-US" altLang="zh-CN" i="1">
                                    <a:latin typeface="Cambria Math" panose="02040503050406030204" pitchFamily="18" charset="0"/>
                                    <a:ea typeface="+mn-ea"/>
                                  </a:rPr>
                                  <m:t>′</m:t>
                                </m:r>
                              </m:sup>
                            </m:sSup>
                          </m:lim>
                        </m:limLow>
                      </m:fName>
                      <m:e>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𝑞</m:t>
                            </m:r>
                          </m:e>
                          <m:sub>
                            <m:r>
                              <a:rPr lang="en-US" altLang="zh-CN" i="1">
                                <a:latin typeface="Cambria Math" panose="02040503050406030204" pitchFamily="18" charset="0"/>
                                <a:ea typeface="+mn-ea"/>
                              </a:rPr>
                              <m:t>𝜋</m:t>
                            </m:r>
                          </m:sub>
                        </m:sSub>
                        <m:r>
                          <a:rPr lang="en-US" altLang="zh-CN" i="1">
                            <a:latin typeface="Cambria Math" panose="02040503050406030204" pitchFamily="18" charset="0"/>
                            <a:ea typeface="+mn-ea"/>
                          </a:rPr>
                          <m:t>(</m:t>
                        </m:r>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𝑠</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sSup>
                          <m:sSupPr>
                            <m:ctrlPr>
                              <a:rPr lang="zh-CN" altLang="zh-CN" i="1">
                                <a:latin typeface="Cambria Math" panose="02040503050406030204" pitchFamily="18" charset="0"/>
                                <a:ea typeface="+mn-ea"/>
                              </a:rPr>
                            </m:ctrlPr>
                          </m:sSupPr>
                          <m:e>
                            <m:r>
                              <a:rPr lang="en-US" altLang="zh-CN" i="1">
                                <a:latin typeface="Cambria Math" panose="02040503050406030204" pitchFamily="18" charset="0"/>
                                <a:ea typeface="+mn-ea"/>
                              </a:rPr>
                              <m:t>𝑎</m:t>
                            </m:r>
                          </m:e>
                          <m:sup>
                            <m:r>
                              <a:rPr lang="en-US" altLang="zh-CN" i="1">
                                <a:latin typeface="Cambria Math" panose="02040503050406030204" pitchFamily="18" charset="0"/>
                                <a:ea typeface="+mn-ea"/>
                              </a:rPr>
                              <m:t>′</m:t>
                            </m:r>
                          </m:sup>
                        </m:sSup>
                        <m:r>
                          <a:rPr lang="en-US" altLang="zh-CN" i="1">
                            <a:latin typeface="Cambria Math" panose="02040503050406030204" pitchFamily="18" charset="0"/>
                            <a:ea typeface="+mn-ea"/>
                          </a:rPr>
                          <m:t>;</m:t>
                        </m:r>
                        <m:r>
                          <a:rPr lang="en-US" altLang="zh-CN" b="1" i="1">
                            <a:latin typeface="Cambria Math" panose="02040503050406030204" pitchFamily="18" charset="0"/>
                            <a:ea typeface="+mn-ea"/>
                          </a:rPr>
                          <m:t>𝜽</m:t>
                        </m:r>
                      </m:e>
                    </m:func>
                    <m:r>
                      <a:rPr lang="en-US" altLang="zh-CN" i="1">
                        <a:latin typeface="Cambria Math" panose="02040503050406030204" pitchFamily="18" charset="0"/>
                        <a:ea typeface="+mn-ea"/>
                      </a:rPr>
                      <m:t>)</m:t>
                    </m:r>
                  </m:oMath>
                </a14:m>
                <a:r>
                  <a:rPr lang="zh-CN" altLang="zh-CN" dirty="0">
                    <a:latin typeface="+mn-ea"/>
                    <a:ea typeface="+mn-ea"/>
                    <a:cs typeface="Times New Roman" panose="02020603050405020304" pitchFamily="18" charset="0"/>
                  </a:rPr>
                  <a:t>是对</a:t>
                </a:r>
                <a14:m>
                  <m:oMath xmlns:m="http://schemas.openxmlformats.org/officeDocument/2006/math">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𝑞</m:t>
                        </m:r>
                      </m:e>
                      <m:sub>
                        <m:r>
                          <a:rPr lang="en-US" altLang="zh-CN" i="1">
                            <a:latin typeface="Cambria Math" panose="02040503050406030204" pitchFamily="18" charset="0"/>
                            <a:ea typeface="+mn-ea"/>
                          </a:rPr>
                          <m:t>𝜋</m:t>
                        </m:r>
                      </m:sub>
                    </m:sSub>
                    <m:r>
                      <a:rPr lang="en-US" altLang="zh-CN" i="1">
                        <a:latin typeface="Cambria Math" panose="02040503050406030204" pitchFamily="18" charset="0"/>
                        <a:ea typeface="+mn-ea"/>
                      </a:rPr>
                      <m:t>(</m:t>
                    </m:r>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oMath>
                </a14:m>
                <a:r>
                  <a:rPr lang="zh-CN" altLang="zh-CN" dirty="0">
                    <a:latin typeface="+mn-ea"/>
                    <a:ea typeface="+mn-ea"/>
                    <a:cs typeface="Times New Roman" panose="02020603050405020304" pitchFamily="18" charset="0"/>
                  </a:rPr>
                  <a:t>的估计值，</a:t>
                </a:r>
                <a:r>
                  <a:rPr lang="zh-CN" altLang="zh-CN" dirty="0" smtClean="0">
                    <a:latin typeface="+mn-ea"/>
                    <a:ea typeface="+mn-ea"/>
                    <a:cs typeface="Times New Roman" panose="02020603050405020304" pitchFamily="18" charset="0"/>
                  </a:rPr>
                  <a:t>因此第</a:t>
                </a:r>
                <a:r>
                  <a:rPr lang="en-US" altLang="zh-CN" dirty="0">
                    <a:latin typeface="+mn-ea"/>
                    <a:ea typeface="+mn-ea"/>
                    <a:cs typeface="Times New Roman" panose="02020603050405020304" pitchFamily="18" charset="0"/>
                  </a:rPr>
                  <a:t>7</a:t>
                </a:r>
                <a:r>
                  <a:rPr lang="zh-CN" altLang="zh-CN" dirty="0">
                    <a:latin typeface="+mn-ea"/>
                    <a:ea typeface="+mn-ea"/>
                    <a:cs typeface="Times New Roman" panose="02020603050405020304" pitchFamily="18" charset="0"/>
                  </a:rPr>
                  <a:t>行计算的是</a:t>
                </a:r>
                <a14:m>
                  <m:oMath xmlns:m="http://schemas.openxmlformats.org/officeDocument/2006/math">
                    <m:sSub>
                      <m:sSubPr>
                        <m:ctrlPr>
                          <a:rPr lang="zh-CN" altLang="zh-CN" i="1">
                            <a:latin typeface="Cambria Math" panose="02040503050406030204" pitchFamily="18" charset="0"/>
                            <a:ea typeface="+mn-ea"/>
                          </a:rPr>
                        </m:ctrlPr>
                      </m:sSubPr>
                      <m:e>
                        <m:r>
                          <a:rPr lang="en-US" altLang="zh-CN" i="1">
                            <a:latin typeface="Cambria Math" panose="02040503050406030204" pitchFamily="18" charset="0"/>
                            <a:ea typeface="+mn-ea"/>
                          </a:rPr>
                          <m:t>𝑞</m:t>
                        </m:r>
                      </m:e>
                      <m:sub>
                        <m:r>
                          <a:rPr lang="en-US" altLang="zh-CN" i="1">
                            <a:latin typeface="Cambria Math" panose="02040503050406030204" pitchFamily="18" charset="0"/>
                            <a:ea typeface="+mn-ea"/>
                          </a:rPr>
                          <m:t>𝜋</m:t>
                        </m:r>
                      </m:sub>
                    </m:sSub>
                    <m:r>
                      <a:rPr lang="en-US" altLang="zh-CN" i="1">
                        <a:latin typeface="Cambria Math" panose="02040503050406030204" pitchFamily="18" charset="0"/>
                        <a:ea typeface="+mn-ea"/>
                      </a:rPr>
                      <m:t>(</m:t>
                    </m:r>
                    <m:r>
                      <a:rPr lang="en-US" altLang="zh-CN" i="1">
                        <a:latin typeface="Cambria Math" panose="02040503050406030204" pitchFamily="18" charset="0"/>
                        <a:ea typeface="+mn-ea"/>
                      </a:rPr>
                      <m:t>𝑠</m:t>
                    </m:r>
                    <m:r>
                      <a:rPr lang="en-US" altLang="zh-CN" i="1">
                        <a:latin typeface="Cambria Math" panose="02040503050406030204" pitchFamily="18" charset="0"/>
                        <a:ea typeface="+mn-ea"/>
                      </a:rPr>
                      <m:t>,</m:t>
                    </m:r>
                    <m:r>
                      <a:rPr lang="en-US" altLang="zh-CN" i="1">
                        <a:latin typeface="Cambria Math" panose="02040503050406030204" pitchFamily="18" charset="0"/>
                        <a:ea typeface="+mn-ea"/>
                      </a:rPr>
                      <m:t>𝑎</m:t>
                    </m:r>
                    <m:r>
                      <a:rPr lang="en-US" altLang="zh-CN" i="1">
                        <a:latin typeface="Cambria Math" panose="02040503050406030204" pitchFamily="18" charset="0"/>
                        <a:ea typeface="+mn-ea"/>
                      </a:rPr>
                      <m:t>)</m:t>
                    </m:r>
                  </m:oMath>
                </a14:m>
                <a:r>
                  <a:rPr lang="zh-CN" altLang="zh-CN" dirty="0">
                    <a:latin typeface="+mn-ea"/>
                    <a:ea typeface="+mn-ea"/>
                    <a:cs typeface="Times New Roman" panose="02020603050405020304" pitchFamily="18" charset="0"/>
                  </a:rPr>
                  <a:t>的估计值和当前值之间误差的平方，第</a:t>
                </a:r>
                <a:r>
                  <a:rPr lang="en-US" altLang="zh-CN" dirty="0">
                    <a:latin typeface="+mn-ea"/>
                    <a:ea typeface="+mn-ea"/>
                    <a:cs typeface="Times New Roman" panose="02020603050405020304" pitchFamily="18" charset="0"/>
                  </a:rPr>
                  <a:t>8</a:t>
                </a:r>
                <a:r>
                  <a:rPr lang="zh-CN" altLang="zh-CN" dirty="0">
                    <a:latin typeface="+mn-ea"/>
                    <a:ea typeface="+mn-ea"/>
                    <a:cs typeface="Times New Roman" panose="02020603050405020304" pitchFamily="18" charset="0"/>
                  </a:rPr>
                  <a:t>行则是将该值作为损失函数，利用梯度下降法来更新参数</a:t>
                </a:r>
                <a14:m>
                  <m:oMath xmlns:m="http://schemas.openxmlformats.org/officeDocument/2006/math">
                    <m:r>
                      <a:rPr lang="en-US" altLang="zh-CN" b="1" i="1">
                        <a:latin typeface="Cambria Math" panose="02040503050406030204" pitchFamily="18" charset="0"/>
                        <a:ea typeface="+mn-ea"/>
                      </a:rPr>
                      <m:t>𝜽</m:t>
                    </m:r>
                  </m:oMath>
                </a14:m>
                <a:r>
                  <a:rPr lang="zh-CN" altLang="zh-CN" dirty="0">
                    <a:latin typeface="+mn-ea"/>
                    <a:ea typeface="+mn-ea"/>
                    <a:cs typeface="Times New Roman" panose="02020603050405020304" pitchFamily="18" charset="0"/>
                  </a:rPr>
                  <a:t>。</a:t>
                </a:r>
                <a:endParaRPr lang="zh-CN" altLang="zh-CN" dirty="0">
                  <a:solidFill>
                    <a:srgbClr val="000000"/>
                  </a:solidFill>
                  <a:latin typeface="+mn-ea"/>
                  <a:ea typeface="+mn-ea"/>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7CDAD2E5-6C8D-4C6A-B11F-9F3EB217025D}"/>
                  </a:ext>
                </a:extLst>
              </p:cNvPr>
              <p:cNvSpPr>
                <a:spLocks noRot="1" noChangeAspect="1" noMove="1" noResize="1" noEditPoints="1" noAdjustHandles="1" noChangeArrowheads="1" noChangeShapeType="1" noTextEdit="1"/>
              </p:cNvSpPr>
              <p:nvPr/>
            </p:nvSpPr>
            <p:spPr>
              <a:xfrm>
                <a:off x="143167" y="2454516"/>
                <a:ext cx="4825218" cy="2228110"/>
              </a:xfrm>
              <a:prstGeom prst="rect">
                <a:avLst/>
              </a:prstGeom>
              <a:blipFill>
                <a:blip r:embed="rId5"/>
                <a:stretch>
                  <a:fillRect l="-126" r="-253"/>
                </a:stretch>
              </a:blipFill>
            </p:spPr>
            <p:txBody>
              <a:bodyPr/>
              <a:lstStyle/>
              <a:p>
                <a:r>
                  <a:rPr lang="zh-CN" altLang="en-US">
                    <a:noFill/>
                  </a:rPr>
                  <a:t> </a:t>
                </a:r>
              </a:p>
            </p:txBody>
          </p:sp>
        </mc:Fallback>
      </mc:AlternateContent>
      <p:pic>
        <p:nvPicPr>
          <p:cNvPr id="3" name="图片 2"/>
          <p:cNvPicPr>
            <a:picLocks noChangeAspect="1"/>
          </p:cNvPicPr>
          <p:nvPr/>
        </p:nvPicPr>
        <p:blipFill>
          <a:blip r:embed="rId6"/>
          <a:stretch>
            <a:fillRect/>
          </a:stretch>
        </p:blipFill>
        <p:spPr>
          <a:xfrm>
            <a:off x="7877334" y="3226856"/>
            <a:ext cx="836027" cy="218094"/>
          </a:xfrm>
          <a:prstGeom prst="rect">
            <a:avLst/>
          </a:prstGeom>
        </p:spPr>
      </p:pic>
    </p:spTree>
    <p:extLst>
      <p:ext uri="{BB962C8B-B14F-4D97-AF65-F5344CB8AC3E}">
        <p14:creationId xmlns:p14="http://schemas.microsoft.com/office/powerpoint/2010/main" val="3988085976"/>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FD7935F-C8CC-4DBB-BDE5-459491E1C66C}"/>
              </a:ext>
            </a:extLst>
          </p:cNvPr>
          <p:cNvPicPr>
            <a:picLocks noChangeAspect="1"/>
          </p:cNvPicPr>
          <p:nvPr/>
        </p:nvPicPr>
        <p:blipFill>
          <a:blip r:embed="rId3"/>
          <a:stretch>
            <a:fillRect/>
          </a:stretch>
        </p:blipFill>
        <p:spPr>
          <a:xfrm>
            <a:off x="608909" y="2715766"/>
            <a:ext cx="2998867" cy="1995472"/>
          </a:xfrm>
          <a:prstGeom prst="rect">
            <a:avLst/>
          </a:prstGeom>
        </p:spPr>
      </p:pic>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A6019CD-B9C3-4B9D-A0A6-32788B995064}"/>
                  </a:ext>
                </a:extLst>
              </p:cNvPr>
              <p:cNvSpPr/>
              <p:nvPr/>
            </p:nvSpPr>
            <p:spPr>
              <a:xfrm>
                <a:off x="179512" y="1131590"/>
                <a:ext cx="8568952" cy="1477328"/>
              </a:xfrm>
              <a:prstGeom prst="rect">
                <a:avLst/>
              </a:prstGeom>
            </p:spPr>
            <p:txBody>
              <a:bodyPr wrap="square">
                <a:spAutoFit/>
              </a:bodyPr>
              <a:lstStyle/>
              <a:p>
                <a:pPr indent="200025" algn="just">
                  <a:lnSpc>
                    <a:spcPct val="150000"/>
                  </a:lnSpc>
                  <a:spcAft>
                    <a:spcPts val="0"/>
                  </a:spcAft>
                </a:pPr>
                <a:r>
                  <a:rPr lang="zh-CN" altLang="zh-CN" sz="1200" dirty="0">
                    <a:solidFill>
                      <a:srgbClr val="000000"/>
                    </a:solidFill>
                    <a:latin typeface="+mn-ea"/>
                    <a:ea typeface="+mn-ea"/>
                    <a:cs typeface="Times New Roman" panose="02020603050405020304" pitchFamily="18" charset="0"/>
                  </a:rPr>
                  <a:t>对于</a:t>
                </a:r>
                <a:r>
                  <a:rPr lang="zh-CN" altLang="zh-CN" sz="1200" b="1" dirty="0">
                    <a:solidFill>
                      <a:srgbClr val="000000"/>
                    </a:solidFill>
                    <a:latin typeface="+mn-ea"/>
                    <a:ea typeface="+mn-ea"/>
                    <a:cs typeface="Times New Roman" panose="02020603050405020304" pitchFamily="18" charset="0"/>
                  </a:rPr>
                  <a:t>样本相关性太强</a:t>
                </a:r>
                <a:r>
                  <a:rPr lang="zh-CN" altLang="zh-CN" sz="1200" dirty="0">
                    <a:solidFill>
                      <a:srgbClr val="000000"/>
                    </a:solidFill>
                    <a:latin typeface="+mn-ea"/>
                    <a:ea typeface="+mn-ea"/>
                    <a:cs typeface="Times New Roman" panose="02020603050405020304" pitchFamily="18" charset="0"/>
                  </a:rPr>
                  <a:t>的问题，</a:t>
                </a:r>
                <a:r>
                  <a:rPr lang="en-US" altLang="zh-CN" sz="1200" dirty="0">
                    <a:solidFill>
                      <a:srgbClr val="000000"/>
                    </a:solidFill>
                    <a:latin typeface="+mn-ea"/>
                    <a:ea typeface="+mn-ea"/>
                    <a:cs typeface="Times New Roman" panose="02020603050405020304" pitchFamily="18" charset="0"/>
                  </a:rPr>
                  <a:t>DQN</a:t>
                </a:r>
                <a:r>
                  <a:rPr lang="zh-CN" altLang="zh-CN" sz="1200" dirty="0">
                    <a:solidFill>
                      <a:srgbClr val="000000"/>
                    </a:solidFill>
                    <a:latin typeface="+mn-ea"/>
                    <a:ea typeface="+mn-ea"/>
                    <a:cs typeface="Times New Roman" panose="02020603050405020304" pitchFamily="18" charset="0"/>
                  </a:rPr>
                  <a:t>采用</a:t>
                </a:r>
                <a:r>
                  <a:rPr lang="zh-CN" altLang="zh-CN" sz="1200" dirty="0">
                    <a:solidFill>
                      <a:srgbClr val="FF0000"/>
                    </a:solidFill>
                    <a:latin typeface="+mn-ea"/>
                    <a:ea typeface="+mn-ea"/>
                    <a:cs typeface="Times New Roman" panose="02020603050405020304" pitchFamily="18" charset="0"/>
                  </a:rPr>
                  <a:t>经验重现（</a:t>
                </a:r>
                <a:r>
                  <a:rPr lang="en-US" altLang="zh-CN" sz="1200" dirty="0">
                    <a:solidFill>
                      <a:srgbClr val="FF0000"/>
                    </a:solidFill>
                    <a:latin typeface="+mn-ea"/>
                    <a:ea typeface="+mn-ea"/>
                    <a:cs typeface="Times New Roman" panose="02020603050405020304" pitchFamily="18" charset="0"/>
                  </a:rPr>
                  <a:t>experience replay</a:t>
                </a:r>
                <a:r>
                  <a:rPr lang="zh-CN" altLang="zh-CN" sz="1200" dirty="0">
                    <a:solidFill>
                      <a:srgbClr val="FF0000"/>
                    </a:solidFill>
                    <a:latin typeface="+mn-ea"/>
                    <a:ea typeface="+mn-ea"/>
                    <a:cs typeface="Times New Roman" panose="02020603050405020304" pitchFamily="18" charset="0"/>
                  </a:rPr>
                  <a:t>）的方法</a:t>
                </a:r>
                <a:r>
                  <a:rPr lang="zh-CN" altLang="zh-CN" sz="1200" dirty="0">
                    <a:solidFill>
                      <a:srgbClr val="000000"/>
                    </a:solidFill>
                    <a:latin typeface="+mn-ea"/>
                    <a:ea typeface="+mn-ea"/>
                    <a:cs typeface="Times New Roman" panose="02020603050405020304" pitchFamily="18" charset="0"/>
                  </a:rPr>
                  <a:t>来应对（如图</a:t>
                </a:r>
                <a:r>
                  <a:rPr lang="en-US" altLang="zh-CN" sz="1200" dirty="0">
                    <a:solidFill>
                      <a:srgbClr val="000000"/>
                    </a:solidFill>
                    <a:latin typeface="+mn-ea"/>
                    <a:ea typeface="+mn-ea"/>
                    <a:cs typeface="Times New Roman" panose="02020603050405020304" pitchFamily="18" charset="0"/>
                  </a:rPr>
                  <a:t>6.15</a:t>
                </a:r>
                <a:r>
                  <a:rPr lang="zh-CN" altLang="zh-CN" sz="1200" dirty="0">
                    <a:solidFill>
                      <a:srgbClr val="000000"/>
                    </a:solidFill>
                    <a:latin typeface="+mn-ea"/>
                    <a:ea typeface="+mn-ea"/>
                    <a:cs typeface="Times New Roman" panose="02020603050405020304" pitchFamily="18" charset="0"/>
                  </a:rPr>
                  <a:t>）。经验重现将算法探索的片段以</a:t>
                </a:r>
                <a14:m>
                  <m:oMath xmlns:m="http://schemas.openxmlformats.org/officeDocument/2006/math">
                    <m:r>
                      <a:rPr lang="en-US" altLang="zh-CN" sz="1200" i="1">
                        <a:solidFill>
                          <a:srgbClr val="000000"/>
                        </a:solidFill>
                        <a:latin typeface="Cambria Math" panose="02040503050406030204" pitchFamily="18" charset="0"/>
                        <a:ea typeface="+mn-ea"/>
                        <a:cs typeface="Times New Roman" panose="02020603050405020304" pitchFamily="18" charset="0"/>
                      </a:rPr>
                      <m:t>(</m:t>
                    </m:r>
                    <m:r>
                      <a:rPr lang="en-US" altLang="zh-CN" sz="1200" i="1">
                        <a:solidFill>
                          <a:srgbClr val="000000"/>
                        </a:solidFill>
                        <a:latin typeface="Cambria Math" panose="02040503050406030204" pitchFamily="18" charset="0"/>
                        <a:ea typeface="+mn-ea"/>
                        <a:cs typeface="Times New Roman" panose="02020603050405020304" pitchFamily="18" charset="0"/>
                      </a:rPr>
                      <m:t>𝑠</m:t>
                    </m:r>
                    <m:r>
                      <a:rPr lang="en-US" altLang="zh-CN" sz="1200" i="1">
                        <a:solidFill>
                          <a:srgbClr val="000000"/>
                        </a:solidFill>
                        <a:latin typeface="Cambria Math" panose="02040503050406030204" pitchFamily="18" charset="0"/>
                        <a:ea typeface="+mn-ea"/>
                        <a:cs typeface="Times New Roman" panose="02020603050405020304" pitchFamily="18" charset="0"/>
                      </a:rPr>
                      <m:t>,</m:t>
                    </m:r>
                    <m:r>
                      <a:rPr lang="en-US" altLang="zh-CN" sz="1200" i="1">
                        <a:solidFill>
                          <a:srgbClr val="000000"/>
                        </a:solidFill>
                        <a:latin typeface="Cambria Math" panose="02040503050406030204" pitchFamily="18" charset="0"/>
                        <a:ea typeface="+mn-ea"/>
                        <a:cs typeface="Times New Roman" panose="02020603050405020304" pitchFamily="18" charset="0"/>
                      </a:rPr>
                      <m:t>𝑎</m:t>
                    </m:r>
                    <m:r>
                      <a:rPr lang="en-US" altLang="zh-CN" sz="1200" i="1">
                        <a:solidFill>
                          <a:srgbClr val="000000"/>
                        </a:solidFill>
                        <a:latin typeface="Cambria Math" panose="02040503050406030204" pitchFamily="18" charset="0"/>
                        <a:ea typeface="+mn-ea"/>
                        <a:cs typeface="Times New Roman" panose="02020603050405020304" pitchFamily="18" charset="0"/>
                      </a:rPr>
                      <m:t>,</m:t>
                    </m:r>
                    <m:r>
                      <a:rPr lang="en-US" altLang="zh-CN" sz="1200" i="1">
                        <a:solidFill>
                          <a:srgbClr val="000000"/>
                        </a:solidFill>
                        <a:latin typeface="Cambria Math" panose="02040503050406030204" pitchFamily="18" charset="0"/>
                        <a:ea typeface="+mn-ea"/>
                        <a:cs typeface="Times New Roman" panose="02020603050405020304" pitchFamily="18" charset="0"/>
                      </a:rPr>
                      <m:t>𝑅</m:t>
                    </m:r>
                    <m:r>
                      <a:rPr lang="en-US" altLang="zh-CN" sz="1200" i="1">
                        <a:solidFill>
                          <a:srgbClr val="000000"/>
                        </a:solidFill>
                        <a:latin typeface="Cambria Math" panose="02040503050406030204" pitchFamily="18" charset="0"/>
                        <a:ea typeface="+mn-ea"/>
                        <a:cs typeface="Times New Roman" panose="02020603050405020304" pitchFamily="18" charset="0"/>
                      </a:rPr>
                      <m:t>,</m:t>
                    </m:r>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i="1">
                            <a:solidFill>
                              <a:srgbClr val="000000"/>
                            </a:solidFill>
                            <a:latin typeface="Cambria Math" panose="02040503050406030204" pitchFamily="18" charset="0"/>
                            <a:ea typeface="+mn-ea"/>
                            <a:cs typeface="Times New Roman" panose="02020603050405020304" pitchFamily="18" charset="0"/>
                          </a:rPr>
                          <m:t>𝑠</m:t>
                        </m:r>
                      </m:e>
                      <m:sup>
                        <m:r>
                          <a:rPr lang="en-US" altLang="zh-CN" sz="1200" i="1">
                            <a:solidFill>
                              <a:srgbClr val="000000"/>
                            </a:solidFill>
                            <a:latin typeface="Cambria Math" panose="02040503050406030204" pitchFamily="18" charset="0"/>
                            <a:ea typeface="+mn-ea"/>
                            <a:cs typeface="Times New Roman" panose="02020603050405020304" pitchFamily="18" charset="0"/>
                          </a:rPr>
                          <m:t>′</m:t>
                        </m:r>
                      </m:sup>
                    </m:sSup>
                    <m:r>
                      <a:rPr lang="en-US" altLang="zh-CN" sz="1200" i="1">
                        <a:solidFill>
                          <a:srgbClr val="000000"/>
                        </a:solidFill>
                        <a:latin typeface="Cambria Math" panose="02040503050406030204" pitchFamily="18" charset="0"/>
                        <a:ea typeface="+mn-ea"/>
                        <a:cs typeface="Times New Roman" panose="02020603050405020304" pitchFamily="18" charset="0"/>
                      </a:rPr>
                      <m:t>)</m:t>
                    </m:r>
                  </m:oMath>
                </a14:m>
                <a:r>
                  <a:rPr lang="zh-CN" altLang="zh-CN" sz="1200" dirty="0">
                    <a:solidFill>
                      <a:srgbClr val="000000"/>
                    </a:solidFill>
                    <a:latin typeface="+mn-ea"/>
                    <a:ea typeface="+mn-ea"/>
                    <a:cs typeface="Times New Roman" panose="02020603050405020304" pitchFamily="18" charset="0"/>
                  </a:rPr>
                  <a:t>的四元组形式存在一张表中，每当算法探索得到一个新的四元组，便将该四元组加入经验重现表；而在算法对参数</a:t>
                </a:r>
                <a14:m>
                  <m:oMath xmlns:m="http://schemas.openxmlformats.org/officeDocument/2006/math">
                    <m:r>
                      <a:rPr lang="en-US" altLang="zh-CN" sz="1200" i="1">
                        <a:solidFill>
                          <a:srgbClr val="000000"/>
                        </a:solidFill>
                        <a:latin typeface="Cambria Math" panose="02040503050406030204" pitchFamily="18" charset="0"/>
                        <a:ea typeface="+mn-ea"/>
                        <a:cs typeface="Times New Roman" panose="02020603050405020304" pitchFamily="18" charset="0"/>
                      </a:rPr>
                      <m:t>𝜃</m:t>
                    </m:r>
                  </m:oMath>
                </a14:m>
                <a:r>
                  <a:rPr lang="zh-CN" altLang="zh-CN" sz="1200" dirty="0">
                    <a:solidFill>
                      <a:srgbClr val="000000"/>
                    </a:solidFill>
                    <a:latin typeface="+mn-ea"/>
                    <a:ea typeface="+mn-ea"/>
                    <a:cs typeface="Times New Roman" panose="02020603050405020304" pitchFamily="18" charset="0"/>
                  </a:rPr>
                  <a:t>进行更新时，则从经验重现表中随机选取一批样本用于计算损失函数。使用经验重现主要有两个好处，一方面是样本之间的相关性显著减弱，因为</a:t>
                </a:r>
                <a:r>
                  <a:rPr lang="zh-CN" altLang="zh-CN" sz="1200" b="1" dirty="0">
                    <a:solidFill>
                      <a:srgbClr val="000000"/>
                    </a:solidFill>
                    <a:latin typeface="+mn-ea"/>
                    <a:ea typeface="+mn-ea"/>
                    <a:cs typeface="Times New Roman" panose="02020603050405020304" pitchFamily="18" charset="0"/>
                  </a:rPr>
                  <a:t>随机采样得到的样本状态会更均匀地分布在已探索的样本空间中</a:t>
                </a:r>
                <a:r>
                  <a:rPr lang="zh-CN" altLang="zh-CN" sz="1200" dirty="0">
                    <a:solidFill>
                      <a:srgbClr val="000000"/>
                    </a:solidFill>
                    <a:latin typeface="+mn-ea"/>
                    <a:ea typeface="+mn-ea"/>
                    <a:cs typeface="Times New Roman" panose="02020603050405020304" pitchFamily="18" charset="0"/>
                  </a:rPr>
                  <a:t>。另一方面是</a:t>
                </a:r>
                <a:r>
                  <a:rPr lang="zh-CN" altLang="zh-CN" sz="1200" b="1" dirty="0">
                    <a:solidFill>
                      <a:srgbClr val="000000"/>
                    </a:solidFill>
                    <a:latin typeface="+mn-ea"/>
                    <a:ea typeface="+mn-ea"/>
                    <a:cs typeface="Times New Roman" panose="02020603050405020304" pitchFamily="18" charset="0"/>
                  </a:rPr>
                  <a:t>过去的经验可以被重复利用</a:t>
                </a:r>
                <a:r>
                  <a:rPr lang="zh-CN" altLang="zh-CN" sz="1200" dirty="0">
                    <a:solidFill>
                      <a:srgbClr val="000000"/>
                    </a:solidFill>
                    <a:latin typeface="+mn-ea"/>
                    <a:ea typeface="+mn-ea"/>
                    <a:cs typeface="Times New Roman" panose="02020603050405020304" pitchFamily="18" charset="0"/>
                  </a:rPr>
                  <a:t>，因此提高了信息利用的效率</a:t>
                </a:r>
                <a:r>
                  <a:rPr lang="zh-CN" altLang="zh-CN" sz="1200" dirty="0" smtClean="0">
                    <a:solidFill>
                      <a:srgbClr val="000000"/>
                    </a:solidFill>
                    <a:latin typeface="+mn-ea"/>
                    <a:ea typeface="+mn-ea"/>
                    <a:cs typeface="Times New Roman" panose="02020603050405020304" pitchFamily="18" charset="0"/>
                  </a:rPr>
                  <a:t>。</a:t>
                </a:r>
                <a:endParaRPr lang="en-US" altLang="zh-CN" sz="1200" dirty="0">
                  <a:solidFill>
                    <a:srgbClr val="000000"/>
                  </a:solidFill>
                  <a:latin typeface="+mn-ea"/>
                  <a:ea typeface="+mn-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6A6019CD-B9C3-4B9D-A0A6-32788B995064}"/>
                  </a:ext>
                </a:extLst>
              </p:cNvPr>
              <p:cNvSpPr>
                <a:spLocks noRot="1" noChangeAspect="1" noMove="1" noResize="1" noEditPoints="1" noAdjustHandles="1" noChangeArrowheads="1" noChangeShapeType="1" noTextEdit="1"/>
              </p:cNvSpPr>
              <p:nvPr/>
            </p:nvSpPr>
            <p:spPr>
              <a:xfrm>
                <a:off x="179512" y="1131590"/>
                <a:ext cx="8568952" cy="1477328"/>
              </a:xfrm>
              <a:prstGeom prst="rect">
                <a:avLst/>
              </a:prstGeom>
              <a:blipFill>
                <a:blip r:embed="rId4"/>
                <a:stretch>
                  <a:fillRect r="-71" b="-413"/>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23F11115-5B87-554A-52D5-AFD8491AA209}"/>
              </a:ext>
            </a:extLst>
          </p:cNvPr>
          <p:cNvGrpSpPr/>
          <p:nvPr/>
        </p:nvGrpSpPr>
        <p:grpSpPr>
          <a:xfrm>
            <a:off x="611560" y="483518"/>
            <a:ext cx="5598290" cy="373451"/>
            <a:chOff x="4099943" y="2819853"/>
            <a:chExt cx="2570275" cy="497934"/>
          </a:xfrm>
        </p:grpSpPr>
        <p:sp>
          <p:nvSpPr>
            <p:cNvPr id="14" name="平行四边形 13">
              <a:extLst>
                <a:ext uri="{FF2B5EF4-FFF2-40B4-BE49-F238E27FC236}">
                  <a16:creationId xmlns:a16="http://schemas.microsoft.com/office/drawing/2014/main" id="{E17CA45F-347D-EEDE-FF5E-F09866501F3E}"/>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5" name="平行四边形 14">
              <a:extLst>
                <a:ext uri="{FF2B5EF4-FFF2-40B4-BE49-F238E27FC236}">
                  <a16:creationId xmlns:a16="http://schemas.microsoft.com/office/drawing/2014/main" id="{2A504D4F-BD42-1976-B511-4EA2631A286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6" name="矩形 15">
              <a:extLst>
                <a:ext uri="{FF2B5EF4-FFF2-40B4-BE49-F238E27FC236}">
                  <a16:creationId xmlns:a16="http://schemas.microsoft.com/office/drawing/2014/main" id="{3E012593-E7B0-3A81-EB6F-422D7CE3F5ED}"/>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5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深度</a:t>
              </a:r>
              <a:r>
                <a:rPr lang="en-US"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Deep Q-Network</a:t>
              </a:r>
              <a:r>
                <a:rPr lang="zh-CN"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DQN</a:t>
              </a:r>
              <a:r>
                <a:rPr lang="zh-CN"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pic>
        <p:nvPicPr>
          <p:cNvPr id="10" name="图片 9"/>
          <p:cNvPicPr>
            <a:picLocks noChangeAspect="1"/>
          </p:cNvPicPr>
          <p:nvPr/>
        </p:nvPicPr>
        <p:blipFill>
          <a:blip r:embed="rId5"/>
          <a:stretch>
            <a:fillRect/>
          </a:stretch>
        </p:blipFill>
        <p:spPr>
          <a:xfrm>
            <a:off x="4139952" y="2355726"/>
            <a:ext cx="4423333" cy="2868688"/>
          </a:xfrm>
          <a:prstGeom prst="rect">
            <a:avLst/>
          </a:prstGeom>
        </p:spPr>
      </p:pic>
    </p:spTree>
    <p:extLst>
      <p:ext uri="{BB962C8B-B14F-4D97-AF65-F5344CB8AC3E}">
        <p14:creationId xmlns:p14="http://schemas.microsoft.com/office/powerpoint/2010/main" val="1376450296"/>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A6019CD-B9C3-4B9D-A0A6-32788B995064}"/>
                  </a:ext>
                </a:extLst>
              </p:cNvPr>
              <p:cNvSpPr/>
              <p:nvPr/>
            </p:nvSpPr>
            <p:spPr>
              <a:xfrm>
                <a:off x="251520" y="1275606"/>
                <a:ext cx="3672408" cy="3214663"/>
              </a:xfrm>
              <a:prstGeom prst="rect">
                <a:avLst/>
              </a:prstGeom>
            </p:spPr>
            <p:txBody>
              <a:bodyPr wrap="square">
                <a:spAutoFit/>
              </a:bodyPr>
              <a:lstStyle/>
              <a:p>
                <a:pPr indent="200025" algn="just">
                  <a:lnSpc>
                    <a:spcPct val="150000"/>
                  </a:lnSpc>
                  <a:spcAft>
                    <a:spcPts val="0"/>
                  </a:spcAft>
                </a:pPr>
                <a:r>
                  <a:rPr lang="zh-CN" altLang="en-US" sz="1200" dirty="0" smtClean="0">
                    <a:solidFill>
                      <a:srgbClr val="000000"/>
                    </a:solidFill>
                    <a:latin typeface="+mn-ea"/>
                    <a:ea typeface="+mn-ea"/>
                    <a:cs typeface="Times New Roman" panose="02020603050405020304" pitchFamily="18" charset="0"/>
                  </a:rPr>
                  <a:t>对于</a:t>
                </a:r>
                <a:r>
                  <a:rPr lang="zh-CN" altLang="en-US" sz="1200" b="1" dirty="0">
                    <a:solidFill>
                      <a:srgbClr val="000000"/>
                    </a:solidFill>
                    <a:latin typeface="+mn-ea"/>
                    <a:ea typeface="+mn-ea"/>
                    <a:cs typeface="Times New Roman" panose="02020603050405020304" pitchFamily="18" charset="0"/>
                  </a:rPr>
                  <a:t>难以收敛</a:t>
                </a:r>
                <a:r>
                  <a:rPr lang="zh-CN" altLang="en-US" sz="1200" dirty="0" smtClean="0">
                    <a:solidFill>
                      <a:srgbClr val="000000"/>
                    </a:solidFill>
                    <a:latin typeface="+mn-ea"/>
                    <a:ea typeface="+mn-ea"/>
                    <a:cs typeface="Times New Roman" panose="02020603050405020304" pitchFamily="18" charset="0"/>
                  </a:rPr>
                  <a:t>的</a:t>
                </a:r>
                <a:r>
                  <a:rPr lang="zh-CN" altLang="en-US" sz="1200" dirty="0">
                    <a:solidFill>
                      <a:srgbClr val="000000"/>
                    </a:solidFill>
                    <a:latin typeface="+mn-ea"/>
                    <a:ea typeface="+mn-ea"/>
                    <a:cs typeface="Times New Roman" panose="02020603050405020304" pitchFamily="18" charset="0"/>
                  </a:rPr>
                  <a:t>问题，</a:t>
                </a:r>
                <a:r>
                  <a:rPr lang="zh-CN" altLang="zh-CN" sz="1200" dirty="0" smtClean="0">
                    <a:solidFill>
                      <a:srgbClr val="000000"/>
                    </a:solidFill>
                    <a:latin typeface="+mn-ea"/>
                    <a:ea typeface="+mn-ea"/>
                    <a:cs typeface="Times New Roman" panose="02020603050405020304" pitchFamily="18" charset="0"/>
                  </a:rPr>
                  <a:t>用</a:t>
                </a:r>
                <a:r>
                  <a:rPr lang="zh-CN" altLang="zh-CN" sz="1200" dirty="0" smtClean="0">
                    <a:solidFill>
                      <a:srgbClr val="FF0000"/>
                    </a:solidFill>
                    <a:latin typeface="+mn-ea"/>
                    <a:ea typeface="+mn-ea"/>
                    <a:cs typeface="Times New Roman" panose="02020603050405020304" pitchFamily="18" charset="0"/>
                  </a:rPr>
                  <a:t>另一组参数</a:t>
                </a:r>
                <a14:m>
                  <m:oMath xmlns:m="http://schemas.openxmlformats.org/officeDocument/2006/math">
                    <m:sSup>
                      <m:sSupPr>
                        <m:ctrlPr>
                          <a:rPr lang="zh-CN" altLang="zh-CN" sz="1200" i="1">
                            <a:solidFill>
                              <a:srgbClr val="FF0000"/>
                            </a:solidFill>
                            <a:latin typeface="Cambria Math" panose="02040503050406030204" pitchFamily="18" charset="0"/>
                            <a:ea typeface="+mn-ea"/>
                            <a:cs typeface="Times New Roman" panose="02020603050405020304" pitchFamily="18" charset="0"/>
                          </a:rPr>
                        </m:ctrlPr>
                      </m:sSupPr>
                      <m:e>
                        <m:r>
                          <a:rPr lang="en-US" altLang="zh-CN" sz="1200">
                            <a:solidFill>
                              <a:srgbClr val="FF0000"/>
                            </a:solidFill>
                            <a:latin typeface="Cambria Math" panose="02040503050406030204" pitchFamily="18" charset="0"/>
                            <a:ea typeface="+mn-ea"/>
                            <a:cs typeface="Times New Roman" panose="02020603050405020304" pitchFamily="18" charset="0"/>
                          </a:rPr>
                          <m:t>𝜽</m:t>
                        </m:r>
                      </m:e>
                      <m:sup>
                        <m:r>
                          <a:rPr lang="en-US" altLang="zh-CN" sz="1200">
                            <a:solidFill>
                              <a:srgbClr val="FF0000"/>
                            </a:solidFill>
                            <a:latin typeface="Cambria Math" panose="02040503050406030204" pitchFamily="18" charset="0"/>
                            <a:ea typeface="+mn-ea"/>
                            <a:cs typeface="Times New Roman" panose="02020603050405020304" pitchFamily="18" charset="0"/>
                          </a:rPr>
                          <m:t>−</m:t>
                        </m:r>
                      </m:sup>
                    </m:sSup>
                  </m:oMath>
                </a14:m>
                <a:r>
                  <a:rPr lang="zh-CN" altLang="zh-CN" sz="1200" dirty="0">
                    <a:solidFill>
                      <a:srgbClr val="FF0000"/>
                    </a:solidFill>
                    <a:latin typeface="+mn-ea"/>
                    <a:ea typeface="+mn-ea"/>
                    <a:cs typeface="Times New Roman" panose="02020603050405020304" pitchFamily="18" charset="0"/>
                  </a:rPr>
                  <a:t>来计算动作</a:t>
                </a:r>
                <a:r>
                  <a:rPr lang="en-US" altLang="zh-CN" sz="1200" dirty="0">
                    <a:solidFill>
                      <a:srgbClr val="FF0000"/>
                    </a:solidFill>
                    <a:latin typeface="+mn-ea"/>
                    <a:ea typeface="+mn-ea"/>
                    <a:cs typeface="Times New Roman" panose="02020603050405020304" pitchFamily="18" charset="0"/>
                  </a:rPr>
                  <a:t>-</a:t>
                </a:r>
                <a:r>
                  <a:rPr lang="zh-CN" altLang="zh-CN" sz="1200" dirty="0">
                    <a:solidFill>
                      <a:srgbClr val="FF0000"/>
                    </a:solidFill>
                    <a:latin typeface="+mn-ea"/>
                    <a:ea typeface="+mn-ea"/>
                    <a:cs typeface="Times New Roman" panose="02020603050405020304" pitchFamily="18" charset="0"/>
                  </a:rPr>
                  <a:t>价值函数的预测值</a:t>
                </a:r>
                <a:r>
                  <a:rPr lang="zh-CN" altLang="zh-CN" sz="1200" dirty="0">
                    <a:solidFill>
                      <a:srgbClr val="000000"/>
                    </a:solidFill>
                    <a:latin typeface="+mn-ea"/>
                    <a:ea typeface="+mn-ea"/>
                    <a:cs typeface="Times New Roman" panose="02020603050405020304" pitchFamily="18" charset="0"/>
                  </a:rPr>
                  <a:t>。具体来说，对损失函数进行了如下修改</a:t>
                </a:r>
                <a:r>
                  <a:rPr lang="zh-CN" altLang="zh-CN" sz="1200" dirty="0" smtClean="0">
                    <a:solidFill>
                      <a:srgbClr val="000000"/>
                    </a:solidFill>
                    <a:latin typeface="+mn-ea"/>
                    <a:ea typeface="+mn-ea"/>
                    <a:cs typeface="Times New Roman" panose="02020603050405020304" pitchFamily="18" charset="0"/>
                  </a:rPr>
                  <a:t>：</a:t>
                </a:r>
                <a:endParaRPr lang="en-US" altLang="zh-CN" sz="1200" dirty="0" smtClean="0">
                  <a:solidFill>
                    <a:srgbClr val="000000"/>
                  </a:solidFill>
                  <a:latin typeface="+mn-ea"/>
                  <a:ea typeface="+mn-ea"/>
                  <a:cs typeface="Times New Roman" panose="02020603050405020304" pitchFamily="18" charset="0"/>
                </a:endParaRPr>
              </a:p>
              <a:p>
                <a:pPr indent="200025" algn="just">
                  <a:lnSpc>
                    <a:spcPct val="150000"/>
                  </a:lnSpc>
                  <a:spcAft>
                    <a:spcPts val="0"/>
                  </a:spcAft>
                </a:pPr>
                <a:r>
                  <a:rPr lang="en-US" altLang="zh-CN" sz="1200" dirty="0">
                    <a:solidFill>
                      <a:srgbClr val="000000"/>
                    </a:solidFill>
                    <a:latin typeface="+mn-ea"/>
                    <a:ea typeface="+mn-ea"/>
                    <a:cs typeface="Times New Roman" panose="02020603050405020304" pitchFamily="18" charset="0"/>
                  </a:rPr>
                  <a:t/>
                </a:r>
                <a:br>
                  <a:rPr lang="en-US" altLang="zh-CN" sz="1200" dirty="0">
                    <a:solidFill>
                      <a:srgbClr val="000000"/>
                    </a:solidFill>
                    <a:latin typeface="+mn-ea"/>
                    <a:ea typeface="+mn-ea"/>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altLang="zh-CN" sz="1200">
                          <a:solidFill>
                            <a:srgbClr val="000000"/>
                          </a:solidFill>
                          <a:latin typeface="Cambria Math" panose="02040503050406030204" pitchFamily="18" charset="0"/>
                          <a:ea typeface="+mn-ea"/>
                          <a:cs typeface="Times New Roman" panose="02020603050405020304" pitchFamily="18" charset="0"/>
                        </a:rPr>
                        <m:t>𝐿</m:t>
                      </m:r>
                      <m:d>
                        <m:dPr>
                          <m:ctrlPr>
                            <a:rPr lang="zh-CN" altLang="zh-CN" sz="1200" i="1">
                              <a:solidFill>
                                <a:srgbClr val="000000"/>
                              </a:solidFill>
                              <a:latin typeface="Cambria Math" panose="02040503050406030204" pitchFamily="18" charset="0"/>
                              <a:ea typeface="+mn-ea"/>
                              <a:cs typeface="Times New Roman" panose="02020603050405020304" pitchFamily="18" charset="0"/>
                            </a:rPr>
                          </m:ctrlPr>
                        </m:dPr>
                        <m:e>
                          <m:r>
                            <a:rPr lang="en-US" altLang="zh-CN" sz="1200">
                              <a:solidFill>
                                <a:srgbClr val="000000"/>
                              </a:solidFill>
                              <a:latin typeface="Cambria Math" panose="02040503050406030204" pitchFamily="18" charset="0"/>
                              <a:ea typeface="+mn-ea"/>
                              <a:cs typeface="Times New Roman" panose="02020603050405020304" pitchFamily="18" charset="0"/>
                            </a:rPr>
                            <m:t>𝜽</m:t>
                          </m:r>
                        </m:e>
                      </m:d>
                      <m:r>
                        <a:rPr lang="en-US" altLang="zh-CN" sz="1200">
                          <a:solidFill>
                            <a:srgbClr val="000000"/>
                          </a:solidFill>
                          <a:latin typeface="Cambria Math" panose="02040503050406030204" pitchFamily="18" charset="0"/>
                          <a:ea typeface="+mn-ea"/>
                          <a:cs typeface="Times New Roman" panose="02020603050405020304" pitchFamily="18" charset="0"/>
                        </a:rPr>
                        <m:t>=</m:t>
                      </m:r>
                      <m:f>
                        <m:fPr>
                          <m:ctrlPr>
                            <a:rPr lang="zh-CN" altLang="zh-CN" sz="1200" i="1">
                              <a:solidFill>
                                <a:srgbClr val="000000"/>
                              </a:solidFill>
                              <a:latin typeface="Cambria Math" panose="02040503050406030204" pitchFamily="18" charset="0"/>
                              <a:ea typeface="+mn-ea"/>
                              <a:cs typeface="Times New Roman" panose="02020603050405020304" pitchFamily="18" charset="0"/>
                            </a:rPr>
                          </m:ctrlPr>
                        </m:fPr>
                        <m:num>
                          <m:r>
                            <a:rPr lang="en-US" altLang="zh-CN" sz="1200">
                              <a:solidFill>
                                <a:srgbClr val="000000"/>
                              </a:solidFill>
                              <a:latin typeface="Cambria Math" panose="02040503050406030204" pitchFamily="18" charset="0"/>
                              <a:ea typeface="+mn-ea"/>
                              <a:cs typeface="Times New Roman" panose="02020603050405020304" pitchFamily="18" charset="0"/>
                            </a:rPr>
                            <m:t>1</m:t>
                          </m:r>
                        </m:num>
                        <m:den>
                          <m:r>
                            <a:rPr lang="en-US" altLang="zh-CN" sz="1200">
                              <a:solidFill>
                                <a:srgbClr val="000000"/>
                              </a:solidFill>
                              <a:latin typeface="Cambria Math" panose="02040503050406030204" pitchFamily="18" charset="0"/>
                              <a:ea typeface="+mn-ea"/>
                              <a:cs typeface="Times New Roman" panose="02020603050405020304" pitchFamily="18" charset="0"/>
                            </a:rPr>
                            <m:t>2</m:t>
                          </m:r>
                        </m:den>
                      </m:f>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d>
                            <m:dPr>
                              <m:begChr m:val="["/>
                              <m:endChr m:val="]"/>
                              <m:ctrlPr>
                                <a:rPr lang="zh-CN" altLang="zh-CN" sz="1200" i="1">
                                  <a:solidFill>
                                    <a:srgbClr val="000000"/>
                                  </a:solidFill>
                                  <a:latin typeface="Cambria Math" panose="02040503050406030204" pitchFamily="18" charset="0"/>
                                  <a:ea typeface="+mn-ea"/>
                                  <a:cs typeface="Times New Roman" panose="02020603050405020304" pitchFamily="18" charset="0"/>
                                </a:rPr>
                              </m:ctrlPr>
                            </m:dPr>
                            <m:e>
                              <m:r>
                                <a:rPr lang="en-US" altLang="zh-CN" sz="1200">
                                  <a:solidFill>
                                    <a:srgbClr val="000000"/>
                                  </a:solidFill>
                                  <a:latin typeface="Cambria Math" panose="02040503050406030204" pitchFamily="18" charset="0"/>
                                  <a:ea typeface="+mn-ea"/>
                                  <a:cs typeface="Times New Roman" panose="02020603050405020304" pitchFamily="18" charset="0"/>
                                </a:rPr>
                                <m:t>𝑅</m:t>
                              </m:r>
                              <m:r>
                                <a:rPr lang="en-US" altLang="zh-CN" sz="1200">
                                  <a:solidFill>
                                    <a:srgbClr val="000000"/>
                                  </a:solidFill>
                                  <a:latin typeface="Cambria Math" panose="02040503050406030204" pitchFamily="18" charset="0"/>
                                  <a:ea typeface="+mn-ea"/>
                                  <a:cs typeface="Times New Roman" panose="02020603050405020304" pitchFamily="18" charset="0"/>
                                </a:rPr>
                                <m:t>+</m:t>
                              </m:r>
                              <m:r>
                                <a:rPr lang="en-US" altLang="zh-CN" sz="1200">
                                  <a:solidFill>
                                    <a:srgbClr val="000000"/>
                                  </a:solidFill>
                                  <a:latin typeface="Cambria Math" panose="02040503050406030204" pitchFamily="18" charset="0"/>
                                  <a:ea typeface="+mn-ea"/>
                                  <a:cs typeface="Times New Roman" panose="02020603050405020304" pitchFamily="18" charset="0"/>
                                </a:rPr>
                                <m:t>𝛾</m:t>
                              </m:r>
                              <m:func>
                                <m:funcPr>
                                  <m:ctrlPr>
                                    <a:rPr lang="zh-CN" altLang="zh-CN" sz="1200" i="1">
                                      <a:solidFill>
                                        <a:srgbClr val="000000"/>
                                      </a:solidFill>
                                      <a:latin typeface="Cambria Math" panose="02040503050406030204" pitchFamily="18" charset="0"/>
                                      <a:ea typeface="+mn-ea"/>
                                      <a:cs typeface="Times New Roman" panose="02020603050405020304" pitchFamily="18" charset="0"/>
                                    </a:rPr>
                                  </m:ctrlPr>
                                </m:funcPr>
                                <m:fName>
                                  <m:limLow>
                                    <m:limLowPr>
                                      <m:ctrlPr>
                                        <a:rPr lang="zh-CN" altLang="zh-CN" sz="1200" i="1">
                                          <a:solidFill>
                                            <a:srgbClr val="000000"/>
                                          </a:solidFill>
                                          <a:latin typeface="Cambria Math" panose="02040503050406030204" pitchFamily="18" charset="0"/>
                                          <a:ea typeface="+mn-ea"/>
                                          <a:cs typeface="Times New Roman" panose="02020603050405020304" pitchFamily="18" charset="0"/>
                                        </a:rPr>
                                      </m:ctrlPr>
                                    </m:limLowPr>
                                    <m:e>
                                      <m:r>
                                        <m:rPr>
                                          <m:sty m:val="p"/>
                                        </m:rPr>
                                        <a:rPr lang="en-US" altLang="zh-CN" sz="1200">
                                          <a:solidFill>
                                            <a:srgbClr val="000000"/>
                                          </a:solidFill>
                                          <a:latin typeface="Cambria Math" panose="02040503050406030204" pitchFamily="18" charset="0"/>
                                          <a:ea typeface="+mn-ea"/>
                                          <a:cs typeface="Times New Roman" panose="02020603050405020304" pitchFamily="18" charset="0"/>
                                        </a:rPr>
                                        <m:t>max</m:t>
                                      </m:r>
                                    </m:e>
                                    <m:lim>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a:solidFill>
                                                <a:srgbClr val="000000"/>
                                              </a:solidFill>
                                              <a:latin typeface="Cambria Math" panose="02040503050406030204" pitchFamily="18" charset="0"/>
                                              <a:ea typeface="+mn-ea"/>
                                              <a:cs typeface="Times New Roman" panose="02020603050405020304" pitchFamily="18" charset="0"/>
                                            </a:rPr>
                                            <m:t>𝑎</m:t>
                                          </m:r>
                                        </m:e>
                                        <m:sup>
                                          <m:r>
                                            <a:rPr lang="en-US" altLang="zh-CN" sz="1200">
                                              <a:solidFill>
                                                <a:srgbClr val="000000"/>
                                              </a:solidFill>
                                              <a:latin typeface="Cambria Math" panose="02040503050406030204" pitchFamily="18" charset="0"/>
                                              <a:ea typeface="+mn-ea"/>
                                              <a:cs typeface="Times New Roman" panose="02020603050405020304" pitchFamily="18" charset="0"/>
                                            </a:rPr>
                                            <m:t>′</m:t>
                                          </m:r>
                                        </m:sup>
                                      </m:sSup>
                                    </m:lim>
                                  </m:limLow>
                                </m:fName>
                                <m:e>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a:solidFill>
                                            <a:srgbClr val="000000"/>
                                          </a:solidFill>
                                          <a:latin typeface="Cambria Math" panose="02040503050406030204" pitchFamily="18" charset="0"/>
                                          <a:ea typeface="+mn-ea"/>
                                          <a:cs typeface="Times New Roman" panose="02020603050405020304" pitchFamily="18" charset="0"/>
                                        </a:rPr>
                                        <m:t>𝑞</m:t>
                                      </m:r>
                                    </m:e>
                                    <m:sub>
                                      <m:r>
                                        <a:rPr lang="en-US" altLang="zh-CN" sz="1200">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sz="1200" i="1">
                                          <a:solidFill>
                                            <a:srgbClr val="000000"/>
                                          </a:solidFill>
                                          <a:latin typeface="Cambria Math" panose="02040503050406030204" pitchFamily="18" charset="0"/>
                                          <a:ea typeface="+mn-ea"/>
                                          <a:cs typeface="Times New Roman" panose="02020603050405020304" pitchFamily="18" charset="0"/>
                                        </a:rPr>
                                      </m:ctrlPr>
                                    </m:dPr>
                                    <m:e>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a:solidFill>
                                                <a:srgbClr val="000000"/>
                                              </a:solidFill>
                                              <a:latin typeface="Cambria Math" panose="02040503050406030204" pitchFamily="18" charset="0"/>
                                              <a:ea typeface="+mn-ea"/>
                                              <a:cs typeface="Times New Roman" panose="02020603050405020304" pitchFamily="18" charset="0"/>
                                            </a:rPr>
                                            <m:t>𝑠</m:t>
                                          </m:r>
                                        </m:e>
                                        <m:sup>
                                          <m:r>
                                            <a:rPr lang="en-US" altLang="zh-CN" sz="1200">
                                              <a:solidFill>
                                                <a:srgbClr val="000000"/>
                                              </a:solidFill>
                                              <a:latin typeface="Cambria Math" panose="02040503050406030204" pitchFamily="18" charset="0"/>
                                              <a:ea typeface="+mn-ea"/>
                                              <a:cs typeface="Times New Roman" panose="02020603050405020304" pitchFamily="18" charset="0"/>
                                            </a:rPr>
                                            <m:t>′</m:t>
                                          </m:r>
                                        </m:sup>
                                      </m:sSup>
                                      <m:r>
                                        <a:rPr lang="en-US" altLang="zh-CN" sz="1200">
                                          <a:solidFill>
                                            <a:srgbClr val="000000"/>
                                          </a:solidFill>
                                          <a:latin typeface="Cambria Math" panose="02040503050406030204" pitchFamily="18" charset="0"/>
                                          <a:ea typeface="+mn-ea"/>
                                          <a:cs typeface="Times New Roman" panose="02020603050405020304" pitchFamily="18" charset="0"/>
                                        </a:rPr>
                                        <m:t>,</m:t>
                                      </m:r>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a:solidFill>
                                                <a:srgbClr val="000000"/>
                                              </a:solidFill>
                                              <a:latin typeface="Cambria Math" panose="02040503050406030204" pitchFamily="18" charset="0"/>
                                              <a:ea typeface="+mn-ea"/>
                                              <a:cs typeface="Times New Roman" panose="02020603050405020304" pitchFamily="18" charset="0"/>
                                            </a:rPr>
                                            <m:t>𝑎</m:t>
                                          </m:r>
                                        </m:e>
                                        <m:sup>
                                          <m:r>
                                            <a:rPr lang="en-US" altLang="zh-CN" sz="1200">
                                              <a:solidFill>
                                                <a:srgbClr val="000000"/>
                                              </a:solidFill>
                                              <a:latin typeface="Cambria Math" panose="02040503050406030204" pitchFamily="18" charset="0"/>
                                              <a:ea typeface="+mn-ea"/>
                                              <a:cs typeface="Times New Roman" panose="02020603050405020304" pitchFamily="18" charset="0"/>
                                            </a:rPr>
                                            <m:t>′</m:t>
                                          </m:r>
                                        </m:sup>
                                      </m:sSup>
                                      <m:r>
                                        <a:rPr lang="en-US" altLang="zh-CN" sz="1200">
                                          <a:solidFill>
                                            <a:srgbClr val="000000"/>
                                          </a:solidFill>
                                          <a:latin typeface="Cambria Math" panose="02040503050406030204" pitchFamily="18" charset="0"/>
                                          <a:ea typeface="+mn-ea"/>
                                          <a:cs typeface="Times New Roman" panose="02020603050405020304" pitchFamily="18" charset="0"/>
                                        </a:rPr>
                                        <m:t>;</m:t>
                                      </m:r>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a:solidFill>
                                                <a:srgbClr val="000000"/>
                                              </a:solidFill>
                                              <a:latin typeface="Cambria Math" panose="02040503050406030204" pitchFamily="18" charset="0"/>
                                              <a:ea typeface="+mn-ea"/>
                                              <a:cs typeface="Times New Roman" panose="02020603050405020304" pitchFamily="18" charset="0"/>
                                            </a:rPr>
                                            <m:t>𝜽</m:t>
                                          </m:r>
                                        </m:e>
                                        <m:sup>
                                          <m:r>
                                            <a:rPr lang="en-US" altLang="zh-CN" sz="1200">
                                              <a:solidFill>
                                                <a:srgbClr val="000000"/>
                                              </a:solidFill>
                                              <a:latin typeface="Cambria Math" panose="02040503050406030204" pitchFamily="18" charset="0"/>
                                              <a:ea typeface="+mn-ea"/>
                                              <a:cs typeface="Times New Roman" panose="02020603050405020304" pitchFamily="18" charset="0"/>
                                            </a:rPr>
                                            <m:t>−</m:t>
                                          </m:r>
                                        </m:sup>
                                      </m:sSup>
                                    </m:e>
                                  </m:d>
                                </m:e>
                              </m:func>
                              <m:r>
                                <a:rPr lang="en-US" altLang="zh-CN" sz="1200">
                                  <a:solidFill>
                                    <a:srgbClr val="000000"/>
                                  </a:solidFill>
                                  <a:latin typeface="Cambria Math" panose="02040503050406030204" pitchFamily="18" charset="0"/>
                                  <a:ea typeface="+mn-ea"/>
                                  <a:cs typeface="Times New Roman" panose="02020603050405020304" pitchFamily="18" charset="0"/>
                                </a:rPr>
                                <m:t>−</m:t>
                              </m:r>
                              <m:sSub>
                                <m:sSubPr>
                                  <m:ctrlPr>
                                    <a:rPr lang="zh-CN" altLang="zh-CN" sz="1200" i="1">
                                      <a:solidFill>
                                        <a:srgbClr val="000000"/>
                                      </a:solidFill>
                                      <a:latin typeface="Cambria Math" panose="02040503050406030204" pitchFamily="18" charset="0"/>
                                      <a:ea typeface="+mn-ea"/>
                                      <a:cs typeface="Times New Roman" panose="02020603050405020304" pitchFamily="18" charset="0"/>
                                    </a:rPr>
                                  </m:ctrlPr>
                                </m:sSubPr>
                                <m:e>
                                  <m:r>
                                    <a:rPr lang="en-US" altLang="zh-CN" sz="1200">
                                      <a:solidFill>
                                        <a:srgbClr val="000000"/>
                                      </a:solidFill>
                                      <a:latin typeface="Cambria Math" panose="02040503050406030204" pitchFamily="18" charset="0"/>
                                      <a:ea typeface="+mn-ea"/>
                                      <a:cs typeface="Times New Roman" panose="02020603050405020304" pitchFamily="18" charset="0"/>
                                    </a:rPr>
                                    <m:t>𝑞</m:t>
                                  </m:r>
                                </m:e>
                                <m:sub>
                                  <m:r>
                                    <a:rPr lang="en-US" altLang="zh-CN" sz="1200">
                                      <a:solidFill>
                                        <a:srgbClr val="000000"/>
                                      </a:solidFill>
                                      <a:latin typeface="Cambria Math" panose="02040503050406030204" pitchFamily="18" charset="0"/>
                                      <a:ea typeface="+mn-ea"/>
                                      <a:cs typeface="Times New Roman" panose="02020603050405020304" pitchFamily="18" charset="0"/>
                                    </a:rPr>
                                    <m:t>𝜋</m:t>
                                  </m:r>
                                </m:sub>
                              </m:sSub>
                              <m:d>
                                <m:dPr>
                                  <m:ctrlPr>
                                    <a:rPr lang="zh-CN" altLang="zh-CN" sz="1200" i="1">
                                      <a:solidFill>
                                        <a:srgbClr val="000000"/>
                                      </a:solidFill>
                                      <a:latin typeface="Cambria Math" panose="02040503050406030204" pitchFamily="18" charset="0"/>
                                      <a:ea typeface="+mn-ea"/>
                                      <a:cs typeface="Times New Roman" panose="02020603050405020304" pitchFamily="18" charset="0"/>
                                    </a:rPr>
                                  </m:ctrlPr>
                                </m:dPr>
                                <m:e>
                                  <m:r>
                                    <a:rPr lang="en-US" altLang="zh-CN" sz="1200">
                                      <a:solidFill>
                                        <a:srgbClr val="000000"/>
                                      </a:solidFill>
                                      <a:latin typeface="Cambria Math" panose="02040503050406030204" pitchFamily="18" charset="0"/>
                                      <a:ea typeface="+mn-ea"/>
                                      <a:cs typeface="Times New Roman" panose="02020603050405020304" pitchFamily="18" charset="0"/>
                                    </a:rPr>
                                    <m:t>𝑠</m:t>
                                  </m:r>
                                  <m:r>
                                    <a:rPr lang="en-US" altLang="zh-CN" sz="1200">
                                      <a:solidFill>
                                        <a:srgbClr val="000000"/>
                                      </a:solidFill>
                                      <a:latin typeface="Cambria Math" panose="02040503050406030204" pitchFamily="18" charset="0"/>
                                      <a:ea typeface="+mn-ea"/>
                                      <a:cs typeface="Times New Roman" panose="02020603050405020304" pitchFamily="18" charset="0"/>
                                    </a:rPr>
                                    <m:t>,</m:t>
                                  </m:r>
                                  <m:r>
                                    <a:rPr lang="en-US" altLang="zh-CN" sz="1200">
                                      <a:solidFill>
                                        <a:srgbClr val="000000"/>
                                      </a:solidFill>
                                      <a:latin typeface="Cambria Math" panose="02040503050406030204" pitchFamily="18" charset="0"/>
                                      <a:ea typeface="+mn-ea"/>
                                      <a:cs typeface="Times New Roman" panose="02020603050405020304" pitchFamily="18" charset="0"/>
                                    </a:rPr>
                                    <m:t>𝑎</m:t>
                                  </m:r>
                                  <m:r>
                                    <a:rPr lang="en-US" altLang="zh-CN" sz="1200">
                                      <a:solidFill>
                                        <a:srgbClr val="000000"/>
                                      </a:solidFill>
                                      <a:latin typeface="Cambria Math" panose="02040503050406030204" pitchFamily="18" charset="0"/>
                                      <a:ea typeface="+mn-ea"/>
                                      <a:cs typeface="Times New Roman" panose="02020603050405020304" pitchFamily="18" charset="0"/>
                                    </a:rPr>
                                    <m:t>;</m:t>
                                  </m:r>
                                  <m:r>
                                    <a:rPr lang="en-US" altLang="zh-CN" sz="1200">
                                      <a:solidFill>
                                        <a:srgbClr val="000000"/>
                                      </a:solidFill>
                                      <a:latin typeface="Cambria Math" panose="02040503050406030204" pitchFamily="18" charset="0"/>
                                      <a:ea typeface="+mn-ea"/>
                                      <a:cs typeface="Times New Roman" panose="02020603050405020304" pitchFamily="18" charset="0"/>
                                    </a:rPr>
                                    <m:t>𝜽</m:t>
                                  </m:r>
                                </m:e>
                              </m:d>
                            </m:e>
                          </m:d>
                        </m:e>
                        <m:sup>
                          <m:r>
                            <a:rPr lang="en-US" altLang="zh-CN" sz="1200">
                              <a:solidFill>
                                <a:srgbClr val="000000"/>
                              </a:solidFill>
                              <a:latin typeface="Cambria Math" panose="02040503050406030204" pitchFamily="18" charset="0"/>
                              <a:ea typeface="+mn-ea"/>
                              <a:cs typeface="Times New Roman" panose="02020603050405020304" pitchFamily="18" charset="0"/>
                            </a:rPr>
                            <m:t>2</m:t>
                          </m:r>
                        </m:sup>
                      </m:sSup>
                    </m:oMath>
                  </m:oMathPara>
                </a14:m>
                <a:endParaRPr lang="en-US" altLang="zh-CN" sz="1200" dirty="0" smtClean="0">
                  <a:solidFill>
                    <a:srgbClr val="000000"/>
                  </a:solidFill>
                  <a:latin typeface="+mn-ea"/>
                  <a:ea typeface="+mn-ea"/>
                  <a:cs typeface="Times New Roman" panose="02020603050405020304" pitchFamily="18" charset="0"/>
                </a:endParaRPr>
              </a:p>
              <a:p>
                <a:pPr>
                  <a:lnSpc>
                    <a:spcPct val="150000"/>
                  </a:lnSpc>
                </a:pPr>
                <a:endParaRPr lang="en-US" altLang="zh-CN" sz="1200" dirty="0">
                  <a:solidFill>
                    <a:srgbClr val="000000"/>
                  </a:solidFill>
                  <a:latin typeface="+mn-ea"/>
                  <a:ea typeface="+mn-ea"/>
                  <a:cs typeface="Times New Roman" panose="02020603050405020304" pitchFamily="18" charset="0"/>
                </a:endParaRPr>
              </a:p>
              <a:p>
                <a:pPr>
                  <a:lnSpc>
                    <a:spcPct val="150000"/>
                  </a:lnSpc>
                </a:pPr>
                <a:r>
                  <a:rPr lang="zh-CN" altLang="zh-CN" sz="1200" dirty="0" smtClean="0">
                    <a:solidFill>
                      <a:srgbClr val="000000"/>
                    </a:solidFill>
                    <a:latin typeface="+mn-ea"/>
                    <a:ea typeface="+mn-ea"/>
                    <a:cs typeface="Times New Roman" panose="02020603050405020304" pitchFamily="18" charset="0"/>
                  </a:rPr>
                  <a:t>参数</a:t>
                </a:r>
                <a14:m>
                  <m:oMath xmlns:m="http://schemas.openxmlformats.org/officeDocument/2006/math">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a:solidFill>
                              <a:srgbClr val="000000"/>
                            </a:solidFill>
                            <a:latin typeface="Cambria Math" panose="02040503050406030204" pitchFamily="18" charset="0"/>
                            <a:ea typeface="+mn-ea"/>
                            <a:cs typeface="Times New Roman" panose="02020603050405020304" pitchFamily="18" charset="0"/>
                          </a:rPr>
                          <m:t>𝜽</m:t>
                        </m:r>
                      </m:e>
                      <m:sup>
                        <m:r>
                          <a:rPr lang="en-US" altLang="zh-CN" sz="1200">
                            <a:solidFill>
                              <a:srgbClr val="000000"/>
                            </a:solidFill>
                            <a:latin typeface="Cambria Math" panose="02040503050406030204" pitchFamily="18" charset="0"/>
                            <a:ea typeface="+mn-ea"/>
                            <a:cs typeface="Times New Roman" panose="02020603050405020304" pitchFamily="18" charset="0"/>
                          </a:rPr>
                          <m:t>−</m:t>
                        </m:r>
                      </m:sup>
                    </m:sSup>
                  </m:oMath>
                </a14:m>
                <a:r>
                  <a:rPr lang="zh-CN" altLang="zh-CN" sz="1200" dirty="0">
                    <a:solidFill>
                      <a:srgbClr val="000000"/>
                    </a:solidFill>
                    <a:latin typeface="+mn-ea"/>
                    <a:ea typeface="+mn-ea"/>
                    <a:cs typeface="Times New Roman" panose="02020603050405020304" pitchFamily="18" charset="0"/>
                  </a:rPr>
                  <a:t>保持相对稳定，以较低的频率更新</a:t>
                </a:r>
                <a14:m>
                  <m:oMath xmlns:m="http://schemas.openxmlformats.org/officeDocument/2006/math">
                    <m:sSup>
                      <m:sSupPr>
                        <m:ctrlPr>
                          <a:rPr lang="zh-CN" altLang="zh-CN" sz="1200" i="1">
                            <a:solidFill>
                              <a:srgbClr val="000000"/>
                            </a:solidFill>
                            <a:latin typeface="Cambria Math" panose="02040503050406030204" pitchFamily="18" charset="0"/>
                            <a:ea typeface="+mn-ea"/>
                            <a:cs typeface="Times New Roman" panose="02020603050405020304" pitchFamily="18" charset="0"/>
                          </a:rPr>
                        </m:ctrlPr>
                      </m:sSupPr>
                      <m:e>
                        <m:r>
                          <a:rPr lang="en-US" altLang="zh-CN" sz="1200">
                            <a:solidFill>
                              <a:srgbClr val="000000"/>
                            </a:solidFill>
                            <a:latin typeface="Cambria Math" panose="02040503050406030204" pitchFamily="18" charset="0"/>
                            <a:ea typeface="+mn-ea"/>
                            <a:cs typeface="Times New Roman" panose="02020603050405020304" pitchFamily="18" charset="0"/>
                          </a:rPr>
                          <m:t>𝜽</m:t>
                        </m:r>
                      </m:e>
                      <m:sup>
                        <m:r>
                          <a:rPr lang="en-US" altLang="zh-CN" sz="1200">
                            <a:solidFill>
                              <a:srgbClr val="000000"/>
                            </a:solidFill>
                            <a:latin typeface="Cambria Math" panose="02040503050406030204" pitchFamily="18" charset="0"/>
                            <a:ea typeface="+mn-ea"/>
                            <a:cs typeface="Times New Roman" panose="02020603050405020304" pitchFamily="18" charset="0"/>
                          </a:rPr>
                          <m:t>−</m:t>
                        </m:r>
                      </m:sup>
                    </m:sSup>
                    <m:r>
                      <a:rPr lang="en-US" altLang="zh-CN" sz="1200">
                        <a:solidFill>
                          <a:srgbClr val="000000"/>
                        </a:solidFill>
                        <a:latin typeface="Cambria Math" panose="02040503050406030204" pitchFamily="18" charset="0"/>
                        <a:ea typeface="+mn-ea"/>
                        <a:cs typeface="Times New Roman" panose="02020603050405020304" pitchFamily="18" charset="0"/>
                      </a:rPr>
                      <m:t>←</m:t>
                    </m:r>
                    <m:r>
                      <a:rPr lang="en-US" altLang="zh-CN" sz="1200">
                        <a:solidFill>
                          <a:srgbClr val="000000"/>
                        </a:solidFill>
                        <a:latin typeface="Cambria Math" panose="02040503050406030204" pitchFamily="18" charset="0"/>
                        <a:ea typeface="+mn-ea"/>
                        <a:cs typeface="Times New Roman" panose="02020603050405020304" pitchFamily="18" charset="0"/>
                      </a:rPr>
                      <m:t>𝜽</m:t>
                    </m:r>
                  </m:oMath>
                </a14:m>
                <a:r>
                  <a:rPr lang="zh-CN" altLang="zh-CN" sz="1200" dirty="0">
                    <a:solidFill>
                      <a:srgbClr val="000000"/>
                    </a:solidFill>
                    <a:latin typeface="+mn-ea"/>
                    <a:ea typeface="+mn-ea"/>
                    <a:cs typeface="Times New Roman" panose="02020603050405020304" pitchFamily="18" charset="0"/>
                  </a:rPr>
                  <a:t>。因此在算法更新</a:t>
                </a:r>
                <a14:m>
                  <m:oMath xmlns:m="http://schemas.openxmlformats.org/officeDocument/2006/math">
                    <m:r>
                      <a:rPr lang="en-US" altLang="zh-CN" sz="1200">
                        <a:solidFill>
                          <a:srgbClr val="000000"/>
                        </a:solidFill>
                        <a:latin typeface="Cambria Math" panose="02040503050406030204" pitchFamily="18" charset="0"/>
                        <a:ea typeface="+mn-ea"/>
                        <a:cs typeface="Times New Roman" panose="02020603050405020304" pitchFamily="18" charset="0"/>
                      </a:rPr>
                      <m:t>𝜃</m:t>
                    </m:r>
                  </m:oMath>
                </a14:m>
                <a:r>
                  <a:rPr lang="zh-CN" altLang="zh-CN" sz="1200" dirty="0">
                    <a:solidFill>
                      <a:srgbClr val="000000"/>
                    </a:solidFill>
                    <a:latin typeface="+mn-ea"/>
                    <a:ea typeface="+mn-ea"/>
                    <a:cs typeface="Times New Roman" panose="02020603050405020304" pitchFamily="18" charset="0"/>
                  </a:rPr>
                  <a:t>时，目标值可以看作一个常数，求解目标变成了一个普通的回归问题，这样使得算法更加</a:t>
                </a:r>
                <a:r>
                  <a:rPr lang="zh-CN" altLang="zh-CN" sz="1200" dirty="0" smtClean="0">
                    <a:solidFill>
                      <a:srgbClr val="000000"/>
                    </a:solidFill>
                    <a:latin typeface="+mn-ea"/>
                    <a:ea typeface="+mn-ea"/>
                    <a:cs typeface="Times New Roman" panose="02020603050405020304" pitchFamily="18" charset="0"/>
                  </a:rPr>
                  <a:t>稳定</a:t>
                </a:r>
                <a:r>
                  <a:rPr lang="zh-CN" altLang="en-US" sz="1200" dirty="0" smtClean="0">
                    <a:solidFill>
                      <a:srgbClr val="000000"/>
                    </a:solidFill>
                    <a:latin typeface="+mn-ea"/>
                    <a:ea typeface="+mn-ea"/>
                    <a:cs typeface="Times New Roman" panose="02020603050405020304" pitchFamily="18" charset="0"/>
                  </a:rPr>
                  <a:t>。</a:t>
                </a:r>
                <a:endParaRPr lang="zh-CN" altLang="zh-CN" sz="1200" dirty="0">
                  <a:solidFill>
                    <a:srgbClr val="000000"/>
                  </a:solidFill>
                  <a:latin typeface="+mn-ea"/>
                  <a:ea typeface="+mn-ea"/>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6A6019CD-B9C3-4B9D-A0A6-32788B995064}"/>
                  </a:ext>
                </a:extLst>
              </p:cNvPr>
              <p:cNvSpPr>
                <a:spLocks noRot="1" noChangeAspect="1" noMove="1" noResize="1" noEditPoints="1" noAdjustHandles="1" noChangeArrowheads="1" noChangeShapeType="1" noTextEdit="1"/>
              </p:cNvSpPr>
              <p:nvPr/>
            </p:nvSpPr>
            <p:spPr>
              <a:xfrm>
                <a:off x="251520" y="1275606"/>
                <a:ext cx="3672408" cy="3214663"/>
              </a:xfrm>
              <a:prstGeom prst="rect">
                <a:avLst/>
              </a:prstGeom>
              <a:blipFill>
                <a:blip r:embed="rId3"/>
                <a:stretch>
                  <a:fillRect/>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23F11115-5B87-554A-52D5-AFD8491AA209}"/>
              </a:ext>
            </a:extLst>
          </p:cNvPr>
          <p:cNvGrpSpPr/>
          <p:nvPr/>
        </p:nvGrpSpPr>
        <p:grpSpPr>
          <a:xfrm>
            <a:off x="611560" y="483518"/>
            <a:ext cx="5598290" cy="373451"/>
            <a:chOff x="4099943" y="2819853"/>
            <a:chExt cx="2570275" cy="497934"/>
          </a:xfrm>
        </p:grpSpPr>
        <p:sp>
          <p:nvSpPr>
            <p:cNvPr id="14" name="平行四边形 13">
              <a:extLst>
                <a:ext uri="{FF2B5EF4-FFF2-40B4-BE49-F238E27FC236}">
                  <a16:creationId xmlns:a16="http://schemas.microsoft.com/office/drawing/2014/main" id="{E17CA45F-347D-EEDE-FF5E-F09866501F3E}"/>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5" name="平行四边形 14">
              <a:extLst>
                <a:ext uri="{FF2B5EF4-FFF2-40B4-BE49-F238E27FC236}">
                  <a16:creationId xmlns:a16="http://schemas.microsoft.com/office/drawing/2014/main" id="{2A504D4F-BD42-1976-B511-4EA2631A286B}"/>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6" name="矩形 15">
              <a:extLst>
                <a:ext uri="{FF2B5EF4-FFF2-40B4-BE49-F238E27FC236}">
                  <a16:creationId xmlns:a16="http://schemas.microsoft.com/office/drawing/2014/main" id="{3E012593-E7B0-3A81-EB6F-422D7CE3F5ED}"/>
                </a:ext>
              </a:extLst>
            </p:cNvPr>
            <p:cNvSpPr/>
            <p:nvPr/>
          </p:nvSpPr>
          <p:spPr>
            <a:xfrm>
              <a:off x="4216534" y="2853798"/>
              <a:ext cx="2359684" cy="430886"/>
            </a:xfrm>
            <a:prstGeom prst="rect">
              <a:avLst/>
            </a:prstGeom>
          </p:spPr>
          <p:txBody>
            <a:bodyPr wrap="square">
              <a:spAutoFit/>
            </a:bodyPr>
            <a:lstStyle/>
            <a:p>
              <a:pPr algn="ctr"/>
              <a:r>
                <a:rPr lang="zh-CN" altLang="en-US" sz="1500" b="1" dirty="0" smtClean="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500" dirty="0" smtClean="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深度</a:t>
              </a:r>
              <a:r>
                <a:rPr lang="en-US"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Q</a:t>
              </a:r>
              <a:r>
                <a:rPr lang="zh-CN"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网络（</a:t>
              </a:r>
              <a:r>
                <a:rPr lang="en-US"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Deep Q-Network</a:t>
              </a:r>
              <a:r>
                <a:rPr lang="zh-CN"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DQN</a:t>
              </a:r>
              <a:r>
                <a:rPr lang="zh-CN" altLang="zh-CN"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grpSp>
      <p:pic>
        <p:nvPicPr>
          <p:cNvPr id="9" name="图片 8"/>
          <p:cNvPicPr>
            <a:picLocks noChangeAspect="1"/>
          </p:cNvPicPr>
          <p:nvPr/>
        </p:nvPicPr>
        <p:blipFill>
          <a:blip r:embed="rId4"/>
          <a:stretch>
            <a:fillRect/>
          </a:stretch>
        </p:blipFill>
        <p:spPr>
          <a:xfrm>
            <a:off x="3995936" y="1563638"/>
            <a:ext cx="4992554" cy="3237848"/>
          </a:xfrm>
          <a:prstGeom prst="rect">
            <a:avLst/>
          </a:prstGeom>
        </p:spPr>
      </p:pic>
    </p:spTree>
    <p:extLst>
      <p:ext uri="{BB962C8B-B14F-4D97-AF65-F5344CB8AC3E}">
        <p14:creationId xmlns:p14="http://schemas.microsoft.com/office/powerpoint/2010/main" val="1577303114"/>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custDataLst>
              <p:tags r:id="rId1"/>
            </p:custDataLst>
          </p:nvPr>
        </p:nvGrpSpPr>
        <p:grpSpPr>
          <a:xfrm>
            <a:off x="2902492" y="1195882"/>
            <a:ext cx="3339017" cy="3365886"/>
            <a:chOff x="3872379" y="1383943"/>
            <a:chExt cx="4452022" cy="4487848"/>
          </a:xfrm>
          <a:solidFill>
            <a:srgbClr val="24569D"/>
          </a:solidFill>
        </p:grpSpPr>
        <p:sp>
          <p:nvSpPr>
            <p:cNvPr id="3" name="Freeform 5"/>
            <p:cNvSpPr/>
            <p:nvPr>
              <p:custDataLst>
                <p:tags r:id="rId6"/>
              </p:custDataLst>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4" name="Freeform 6"/>
            <p:cNvSpPr/>
            <p:nvPr>
              <p:custDataLst>
                <p:tags r:id="rId7"/>
              </p:custDataLst>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5" name="Freeform 7"/>
            <p:cNvSpPr/>
            <p:nvPr>
              <p:custDataLst>
                <p:tags r:id="rId8"/>
              </p:custDataLst>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6" name="Freeform 8"/>
            <p:cNvSpPr/>
            <p:nvPr>
              <p:custDataLst>
                <p:tags r:id="rId9"/>
              </p:custDataLst>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nvGrpSpPr>
            <p:cNvPr id="7" name="Group 44"/>
            <p:cNvGrpSpPr/>
            <p:nvPr/>
          </p:nvGrpSpPr>
          <p:grpSpPr>
            <a:xfrm>
              <a:off x="4569798" y="4627422"/>
              <a:ext cx="527842" cy="535007"/>
              <a:chOff x="3557588" y="3654425"/>
              <a:chExt cx="350838" cy="355600"/>
            </a:xfrm>
            <a:grpFill/>
          </p:grpSpPr>
          <p:sp>
            <p:nvSpPr>
              <p:cNvPr id="20" name="Freeform 9"/>
              <p:cNvSpPr>
                <a:spLocks noEditPoints="1"/>
              </p:cNvSpPr>
              <p:nvPr>
                <p:custDataLst>
                  <p:tags r:id="rId20"/>
                </p:custDataLst>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1" name="Freeform 10"/>
              <p:cNvSpPr>
                <a:spLocks noEditPoints="1"/>
              </p:cNvSpPr>
              <p:nvPr>
                <p:custDataLst>
                  <p:tags r:id="rId21"/>
                </p:custDataLst>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22" name="Freeform 11"/>
              <p:cNvSpPr>
                <a:spLocks noEditPoints="1"/>
              </p:cNvSpPr>
              <p:nvPr>
                <p:custDataLst>
                  <p:tags r:id="rId22"/>
                </p:custDataLst>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8" name="Group 48"/>
            <p:cNvGrpSpPr/>
            <p:nvPr/>
          </p:nvGrpSpPr>
          <p:grpSpPr>
            <a:xfrm>
              <a:off x="7025097" y="2098082"/>
              <a:ext cx="606660" cy="539784"/>
              <a:chOff x="5189538" y="1973263"/>
              <a:chExt cx="403225" cy="358775"/>
            </a:xfrm>
            <a:grpFill/>
          </p:grpSpPr>
          <p:sp>
            <p:nvSpPr>
              <p:cNvPr id="18" name="Freeform 12"/>
              <p:cNvSpPr>
                <a:spLocks noEditPoints="1"/>
              </p:cNvSpPr>
              <p:nvPr>
                <p:custDataLst>
                  <p:tags r:id="rId18"/>
                </p:custDataLst>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9" name="Freeform 13"/>
              <p:cNvSpPr>
                <a:spLocks noEditPoints="1"/>
              </p:cNvSpPr>
              <p:nvPr>
                <p:custDataLst>
                  <p:tags r:id="rId19"/>
                </p:custDataLst>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grpSp>
          <p:nvGrpSpPr>
            <p:cNvPr id="9" name="Group 51"/>
            <p:cNvGrpSpPr/>
            <p:nvPr/>
          </p:nvGrpSpPr>
          <p:grpSpPr>
            <a:xfrm>
              <a:off x="6984495" y="4601150"/>
              <a:ext cx="599495" cy="587552"/>
              <a:chOff x="5162551" y="3636963"/>
              <a:chExt cx="398463" cy="390525"/>
            </a:xfrm>
            <a:grpFill/>
          </p:grpSpPr>
          <p:sp>
            <p:nvSpPr>
              <p:cNvPr id="15" name="Freeform 14"/>
              <p:cNvSpPr>
                <a:spLocks noEditPoints="1"/>
              </p:cNvSpPr>
              <p:nvPr>
                <p:custDataLst>
                  <p:tags r:id="rId15"/>
                </p:custDataLst>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6" name="Freeform 15"/>
              <p:cNvSpPr>
                <a:spLocks noEditPoints="1"/>
              </p:cNvSpPr>
              <p:nvPr>
                <p:custDataLst>
                  <p:tags r:id="rId16"/>
                </p:custDataLst>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7" name="Freeform 16"/>
              <p:cNvSpPr>
                <a:spLocks noEditPoints="1"/>
              </p:cNvSpPr>
              <p:nvPr>
                <p:custDataLst>
                  <p:tags r:id="rId17"/>
                </p:custDataLst>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grpSp>
        <p:sp>
          <p:nvSpPr>
            <p:cNvPr id="10" name="Freeform 17"/>
            <p:cNvSpPr>
              <a:spLocks noEditPoints="1"/>
            </p:cNvSpPr>
            <p:nvPr>
              <p:custDataLst>
                <p:tags r:id="rId10"/>
              </p:custDataLst>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grpFill/>
            <a:ln w="9525">
              <a:noFill/>
              <a:round/>
            </a:ln>
          </p:spPr>
          <p:txBody>
            <a:bodyPr vert="horz" wrap="square" lIns="68580" tIns="34290" rIns="68580" bIns="34290" numCol="1" anchor="t" anchorCtr="0" compatLnSpc="1"/>
            <a:lstStyle/>
            <a:p>
              <a:pPr defTabSz="342900" fontAlgn="auto">
                <a:spcBef>
                  <a:spcPts val="0"/>
                </a:spcBef>
                <a:spcAft>
                  <a:spcPts val="0"/>
                </a:spcAft>
                <a:defRPr/>
              </a:pPr>
              <a:endParaRPr lang="en-US" sz="1350" kern="0">
                <a:solidFill>
                  <a:prstClr val="black"/>
                </a:solidFill>
                <a:latin typeface="+mn-ea"/>
                <a:ea typeface="+mn-ea"/>
                <a:sym typeface="+mn-lt"/>
              </a:endParaRPr>
            </a:p>
          </p:txBody>
        </p:sp>
        <p:sp>
          <p:nvSpPr>
            <p:cNvPr id="11" name="TextBox 56"/>
            <p:cNvSpPr txBox="1"/>
            <p:nvPr>
              <p:custDataLst>
                <p:tags r:id="rId11"/>
              </p:custDataLst>
            </p:nvPr>
          </p:nvSpPr>
          <p:spPr>
            <a:xfrm>
              <a:off x="5224365"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01</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2" name="TextBox 57"/>
            <p:cNvSpPr txBox="1"/>
            <p:nvPr>
              <p:custDataLst>
                <p:tags r:id="rId12"/>
              </p:custDataLst>
            </p:nvPr>
          </p:nvSpPr>
          <p:spPr>
            <a:xfrm>
              <a:off x="6297629" y="2496032"/>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02</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3" name="TextBox 58"/>
            <p:cNvSpPr txBox="1"/>
            <p:nvPr>
              <p:custDataLst>
                <p:tags r:id="rId13"/>
              </p:custDataLst>
            </p:nvPr>
          </p:nvSpPr>
          <p:spPr>
            <a:xfrm>
              <a:off x="5224365"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03</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sp>
          <p:nvSpPr>
            <p:cNvPr id="14" name="TextBox 59"/>
            <p:cNvSpPr txBox="1"/>
            <p:nvPr>
              <p:custDataLst>
                <p:tags r:id="rId14"/>
              </p:custDataLst>
            </p:nvPr>
          </p:nvSpPr>
          <p:spPr>
            <a:xfrm>
              <a:off x="6297629" y="4095994"/>
              <a:ext cx="665140" cy="738664"/>
            </a:xfrm>
            <a:prstGeom prst="rect">
              <a:avLst/>
            </a:prstGeom>
            <a:grpFill/>
          </p:spPr>
          <p:txBody>
            <a:bodyPr wrap="none" rtlCol="0">
              <a:spAutoFit/>
            </a:bodyPr>
            <a:lstStyle/>
            <a:p>
              <a:pPr algn="ctr" defTabSz="342900" fontAlgn="auto">
                <a:spcBef>
                  <a:spcPts val="0"/>
                </a:spcBef>
                <a:spcAft>
                  <a:spcPts val="0"/>
                </a:spcAft>
                <a:defRPr/>
              </a:pPr>
              <a:r>
                <a:rPr lang="en-US" sz="2100" b="1" kern="0" dirty="0">
                  <a:solidFill>
                    <a:prstClr val="white"/>
                  </a:solidFill>
                  <a:latin typeface="+mn-ea"/>
                  <a:ea typeface="+mn-ea"/>
                  <a:sym typeface="+mn-lt"/>
                </a:rPr>
                <a:t>04</a:t>
              </a:r>
              <a:r>
                <a:rPr lang="en-US" sz="900" kern="0" dirty="0">
                  <a:solidFill>
                    <a:prstClr val="white"/>
                  </a:solidFill>
                  <a:latin typeface="+mn-ea"/>
                  <a:ea typeface="+mn-ea"/>
                  <a:sym typeface="+mn-lt"/>
                </a:rPr>
                <a:t/>
              </a:r>
              <a:br>
                <a:rPr lang="en-US" sz="900" kern="0" dirty="0">
                  <a:solidFill>
                    <a:prstClr val="white"/>
                  </a:solidFill>
                  <a:latin typeface="+mn-ea"/>
                  <a:ea typeface="+mn-ea"/>
                  <a:sym typeface="+mn-lt"/>
                </a:rPr>
              </a:br>
              <a:endParaRPr lang="en-US" sz="900" b="1" kern="0" dirty="0">
                <a:solidFill>
                  <a:prstClr val="white"/>
                </a:solidFill>
                <a:latin typeface="+mn-ea"/>
                <a:ea typeface="+mn-ea"/>
                <a:sym typeface="+mn-lt"/>
              </a:endParaRPr>
            </a:p>
          </p:txBody>
        </p:sp>
      </p:grpSp>
      <p:sp>
        <p:nvSpPr>
          <p:cNvPr id="24" name="文本框 23"/>
          <p:cNvSpPr txBox="1"/>
          <p:nvPr>
            <p:custDataLst>
              <p:tags r:id="rId2"/>
            </p:custDataLst>
          </p:nvPr>
        </p:nvSpPr>
        <p:spPr>
          <a:xfrm>
            <a:off x="597053" y="1891426"/>
            <a:ext cx="2492990" cy="369332"/>
          </a:xfrm>
          <a:prstGeom prst="rect">
            <a:avLst/>
          </a:prstGeom>
          <a:noFill/>
        </p:spPr>
        <p:txBody>
          <a:bodyPr wrap="none" rtlCol="0">
            <a:spAutoFit/>
          </a:bodyPr>
          <a:lstStyle/>
          <a:p>
            <a:r>
              <a:rPr lang="zh-CN" altLang="en-US" sz="1800" b="1" dirty="0">
                <a:solidFill>
                  <a:srgbClr val="24569D"/>
                </a:solidFill>
                <a:latin typeface="+mn-ea"/>
                <a:ea typeface="+mn-ea"/>
              </a:rPr>
              <a:t>强化学习策略迭代模式</a:t>
            </a:r>
          </a:p>
        </p:txBody>
      </p:sp>
      <p:sp>
        <p:nvSpPr>
          <p:cNvPr id="28" name="文本框 27"/>
          <p:cNvSpPr txBox="1"/>
          <p:nvPr>
            <p:custDataLst>
              <p:tags r:id="rId3"/>
            </p:custDataLst>
          </p:nvPr>
        </p:nvSpPr>
        <p:spPr>
          <a:xfrm>
            <a:off x="6241509" y="3683810"/>
            <a:ext cx="2614818" cy="369332"/>
          </a:xfrm>
          <a:prstGeom prst="rect">
            <a:avLst/>
          </a:prstGeom>
          <a:noFill/>
        </p:spPr>
        <p:txBody>
          <a:bodyPr wrap="none" rtlCol="0">
            <a:spAutoFit/>
          </a:bodyPr>
          <a:lstStyle/>
          <a:p>
            <a:pPr algn="ctr"/>
            <a:r>
              <a:rPr lang="zh-CN" altLang="en-US" sz="1800" b="1" dirty="0">
                <a:solidFill>
                  <a:srgbClr val="FF0000"/>
                </a:solidFill>
                <a:latin typeface="+mn-ea"/>
                <a:ea typeface="+mn-ea"/>
              </a:rPr>
              <a:t>案例分析</a:t>
            </a:r>
            <a:r>
              <a:rPr lang="en-US" altLang="zh-CN" sz="1800" b="1" dirty="0">
                <a:solidFill>
                  <a:srgbClr val="FF0000"/>
                </a:solidFill>
                <a:latin typeface="+mn-ea"/>
                <a:ea typeface="+mn-ea"/>
              </a:rPr>
              <a:t>——</a:t>
            </a:r>
            <a:r>
              <a:rPr lang="en-US" altLang="zh-CN" sz="1800" b="1" dirty="0" err="1">
                <a:solidFill>
                  <a:srgbClr val="FF0000"/>
                </a:solidFill>
                <a:latin typeface="+mn-ea"/>
                <a:ea typeface="+mn-ea"/>
              </a:rPr>
              <a:t>AlphaGo</a:t>
            </a:r>
            <a:endParaRPr lang="zh-CN" altLang="en-US" sz="1800" b="1" dirty="0">
              <a:solidFill>
                <a:srgbClr val="FF0000"/>
              </a:solidFill>
              <a:latin typeface="+mn-ea"/>
              <a:ea typeface="+mn-ea"/>
            </a:endParaRPr>
          </a:p>
        </p:txBody>
      </p:sp>
      <p:sp>
        <p:nvSpPr>
          <p:cNvPr id="34" name="文本框 33"/>
          <p:cNvSpPr txBox="1"/>
          <p:nvPr>
            <p:custDataLst>
              <p:tags r:id="rId4"/>
            </p:custDataLst>
          </p:nvPr>
        </p:nvSpPr>
        <p:spPr>
          <a:xfrm>
            <a:off x="6504831" y="1902894"/>
            <a:ext cx="1569660" cy="369332"/>
          </a:xfrm>
          <a:prstGeom prst="rect">
            <a:avLst/>
          </a:prstGeom>
          <a:noFill/>
        </p:spPr>
        <p:txBody>
          <a:bodyPr wrap="none" rtlCol="0">
            <a:spAutoFit/>
          </a:bodyPr>
          <a:lstStyle/>
          <a:p>
            <a:r>
              <a:rPr lang="zh-CN" altLang="en-US" sz="1800" b="1" dirty="0">
                <a:solidFill>
                  <a:srgbClr val="24569D"/>
                </a:solidFill>
                <a:latin typeface="+mn-ea"/>
                <a:ea typeface="+mn-ea"/>
              </a:rPr>
              <a:t>策略评估方法</a:t>
            </a:r>
          </a:p>
        </p:txBody>
      </p:sp>
      <p:sp>
        <p:nvSpPr>
          <p:cNvPr id="2" name="矩形 1"/>
          <p:cNvSpPr/>
          <p:nvPr/>
        </p:nvSpPr>
        <p:spPr>
          <a:xfrm>
            <a:off x="559205" y="676969"/>
            <a:ext cx="723275" cy="415498"/>
          </a:xfrm>
          <a:prstGeom prst="rect">
            <a:avLst/>
          </a:prstGeom>
        </p:spPr>
        <p:txBody>
          <a:bodyPr wrap="none">
            <a:spAutoFit/>
          </a:bodyPr>
          <a:lstStyle/>
          <a:p>
            <a:r>
              <a:rPr lang="zh-CN" altLang="en-US" sz="2100" dirty="0">
                <a:latin typeface="+mn-ea"/>
                <a:ea typeface="+mn-ea"/>
              </a:rPr>
              <a:t>目录</a:t>
            </a:r>
          </a:p>
        </p:txBody>
      </p:sp>
      <p:sp>
        <p:nvSpPr>
          <p:cNvPr id="29" name="文本框 28"/>
          <p:cNvSpPr txBox="1"/>
          <p:nvPr>
            <p:custDataLst>
              <p:tags r:id="rId5"/>
            </p:custDataLst>
          </p:nvPr>
        </p:nvSpPr>
        <p:spPr>
          <a:xfrm>
            <a:off x="519356" y="3592344"/>
            <a:ext cx="2723823" cy="369332"/>
          </a:xfrm>
          <a:prstGeom prst="rect">
            <a:avLst/>
          </a:prstGeom>
          <a:noFill/>
        </p:spPr>
        <p:txBody>
          <a:bodyPr wrap="none" rtlCol="0">
            <a:spAutoFit/>
          </a:bodyPr>
          <a:lstStyle/>
          <a:p>
            <a:r>
              <a:rPr lang="zh-CN" altLang="en-US" sz="1800" b="1" dirty="0">
                <a:solidFill>
                  <a:srgbClr val="24569D"/>
                </a:solidFill>
                <a:latin typeface="+mn-ea"/>
                <a:ea typeface="+mn-ea"/>
              </a:rPr>
              <a:t>基于价值的强化学习算法</a:t>
            </a:r>
          </a:p>
        </p:txBody>
      </p:sp>
    </p:spTree>
    <p:extLst>
      <p:ext uri="{BB962C8B-B14F-4D97-AF65-F5344CB8AC3E}">
        <p14:creationId xmlns:p14="http://schemas.microsoft.com/office/powerpoint/2010/main" val="261451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5C6801-5715-F847-9808-450D191B52B2}"/>
              </a:ext>
            </a:extLst>
          </p:cNvPr>
          <p:cNvSpPr txBox="1"/>
          <p:nvPr/>
        </p:nvSpPr>
        <p:spPr>
          <a:xfrm>
            <a:off x="539552" y="1014367"/>
            <a:ext cx="5045162" cy="1131079"/>
          </a:xfrm>
          <a:prstGeom prst="rect">
            <a:avLst/>
          </a:prstGeom>
          <a:noFill/>
        </p:spPr>
        <p:txBody>
          <a:bodyPr wrap="square" rtlCol="0">
            <a:spAutoFit/>
          </a:bodyPr>
          <a:lstStyle/>
          <a:p>
            <a:pPr defTabSz="685800" fontAlgn="auto">
              <a:spcBef>
                <a:spcPts val="0"/>
              </a:spcBef>
              <a:spcAft>
                <a:spcPts val="0"/>
              </a:spcAft>
            </a:pPr>
            <a:r>
              <a:rPr kumimoji="1" lang="en-US" altLang="zh-CN" sz="1350" dirty="0" smtClean="0">
                <a:solidFill>
                  <a:prstClr val="black"/>
                </a:solidFill>
                <a:latin typeface="+mn-ea"/>
                <a:ea typeface="+mn-ea"/>
              </a:rPr>
              <a:t>2016</a:t>
            </a:r>
            <a:r>
              <a:rPr kumimoji="1" lang="zh-CN" altLang="en-US" sz="1350" dirty="0">
                <a:solidFill>
                  <a:prstClr val="black"/>
                </a:solidFill>
                <a:latin typeface="+mn-ea"/>
                <a:ea typeface="+mn-ea"/>
              </a:rPr>
              <a:t>年，</a:t>
            </a:r>
            <a:r>
              <a:rPr kumimoji="1" lang="en-US" altLang="zh-CN" sz="1350" dirty="0" err="1">
                <a:solidFill>
                  <a:prstClr val="black"/>
                </a:solidFill>
                <a:latin typeface="+mn-ea"/>
                <a:ea typeface="+mn-ea"/>
              </a:rPr>
              <a:t>AlphaGo</a:t>
            </a:r>
            <a:r>
              <a:rPr kumimoji="1" lang="zh-CN" altLang="en-US" sz="1350" dirty="0">
                <a:solidFill>
                  <a:prstClr val="black"/>
                </a:solidFill>
                <a:latin typeface="+mn-ea"/>
                <a:ea typeface="+mn-ea"/>
              </a:rPr>
              <a:t>在人机围棋大战中连胜世界围棋冠军李世石</a:t>
            </a:r>
            <a:r>
              <a:rPr kumimoji="1" lang="en-US" altLang="zh-CN" sz="1350" dirty="0">
                <a:solidFill>
                  <a:prstClr val="black"/>
                </a:solidFill>
                <a:latin typeface="+mn-ea"/>
                <a:ea typeface="+mn-ea"/>
              </a:rPr>
              <a:t>3</a:t>
            </a:r>
            <a:r>
              <a:rPr kumimoji="1" lang="zh-CN" altLang="en-US" sz="1350" dirty="0">
                <a:solidFill>
                  <a:prstClr val="black"/>
                </a:solidFill>
                <a:latin typeface="+mn-ea"/>
                <a:ea typeface="+mn-ea"/>
              </a:rPr>
              <a:t>局，成为人工智能里程碑的事件</a:t>
            </a:r>
            <a:r>
              <a:rPr kumimoji="1" lang="zh-CN" altLang="en-US" sz="1350" dirty="0" smtClean="0">
                <a:solidFill>
                  <a:prstClr val="black"/>
                </a:solidFill>
                <a:latin typeface="+mn-ea"/>
                <a:ea typeface="+mn-ea"/>
              </a:rPr>
              <a:t>。</a:t>
            </a:r>
            <a:r>
              <a:rPr kumimoji="1" lang="en-US" altLang="zh-CN" sz="1350" dirty="0" smtClean="0">
                <a:solidFill>
                  <a:prstClr val="black"/>
                </a:solidFill>
                <a:latin typeface="+mn-ea"/>
                <a:ea typeface="+mn-ea"/>
              </a:rPr>
              <a:t>2017 </a:t>
            </a:r>
            <a:r>
              <a:rPr kumimoji="1" lang="zh-CN" altLang="en-US" sz="1350" dirty="0">
                <a:solidFill>
                  <a:prstClr val="black"/>
                </a:solidFill>
                <a:latin typeface="+mn-ea"/>
                <a:ea typeface="+mn-ea"/>
              </a:rPr>
              <a:t>年，</a:t>
            </a:r>
            <a:r>
              <a:rPr kumimoji="1" lang="en" altLang="zh-CN" sz="1350" dirty="0">
                <a:solidFill>
                  <a:prstClr val="black"/>
                </a:solidFill>
                <a:latin typeface="+mn-ea"/>
                <a:ea typeface="+mn-ea"/>
              </a:rPr>
              <a:t>AlphaGo </a:t>
            </a:r>
            <a:r>
              <a:rPr kumimoji="1" lang="zh-CN" altLang="en-US" sz="1350" dirty="0">
                <a:solidFill>
                  <a:prstClr val="black"/>
                </a:solidFill>
                <a:latin typeface="+mn-ea"/>
                <a:ea typeface="+mn-ea"/>
              </a:rPr>
              <a:t>打败了世界排名第一围棋手柯洁。</a:t>
            </a:r>
            <a:endParaRPr kumimoji="1" lang="en-US" altLang="zh-CN" sz="1350" dirty="0">
              <a:solidFill>
                <a:prstClr val="black"/>
              </a:solidFill>
              <a:latin typeface="+mn-ea"/>
              <a:ea typeface="+mn-ea"/>
            </a:endParaRPr>
          </a:p>
          <a:p>
            <a:pPr defTabSz="685800" fontAlgn="auto">
              <a:spcBef>
                <a:spcPts val="0"/>
              </a:spcBef>
              <a:spcAft>
                <a:spcPts val="0"/>
              </a:spcAft>
            </a:pPr>
            <a:endParaRPr kumimoji="1" lang="en-US" altLang="zh-CN" sz="1350" dirty="0">
              <a:solidFill>
                <a:prstClr val="black"/>
              </a:solidFill>
              <a:latin typeface="+mn-ea"/>
              <a:ea typeface="+mn-ea"/>
            </a:endParaRPr>
          </a:p>
          <a:p>
            <a:pPr defTabSz="685800" fontAlgn="auto">
              <a:spcBef>
                <a:spcPts val="0"/>
              </a:spcBef>
              <a:spcAft>
                <a:spcPts val="0"/>
              </a:spcAft>
            </a:pPr>
            <a:r>
              <a:rPr kumimoji="1" lang="en-US" altLang="zh-CN" sz="1350" dirty="0" err="1">
                <a:solidFill>
                  <a:srgbClr val="FF0000"/>
                </a:solidFill>
                <a:latin typeface="+mn-ea"/>
                <a:ea typeface="+mn-ea"/>
              </a:rPr>
              <a:t>AlphaGo</a:t>
            </a:r>
            <a:r>
              <a:rPr kumimoji="1" lang="zh-CN" altLang="en-US" sz="1350" dirty="0">
                <a:solidFill>
                  <a:srgbClr val="FF0000"/>
                </a:solidFill>
                <a:latin typeface="+mn-ea"/>
                <a:ea typeface="+mn-ea"/>
              </a:rPr>
              <a:t>如何实现下棋？</a:t>
            </a:r>
            <a:endParaRPr kumimoji="1" lang="en-US" altLang="zh-CN" sz="1350" dirty="0">
              <a:solidFill>
                <a:srgbClr val="FF0000"/>
              </a:solidFill>
              <a:latin typeface="+mn-ea"/>
              <a:ea typeface="+mn-ea"/>
            </a:endParaRPr>
          </a:p>
        </p:txBody>
      </p:sp>
      <p:pic>
        <p:nvPicPr>
          <p:cNvPr id="5" name="图片 4"/>
          <p:cNvPicPr>
            <a:picLocks noChangeAspect="1"/>
          </p:cNvPicPr>
          <p:nvPr/>
        </p:nvPicPr>
        <p:blipFill>
          <a:blip r:embed="rId2"/>
          <a:stretch>
            <a:fillRect/>
          </a:stretch>
        </p:blipFill>
        <p:spPr>
          <a:xfrm>
            <a:off x="5816482" y="980756"/>
            <a:ext cx="2540236" cy="1613797"/>
          </a:xfrm>
          <a:prstGeom prst="rect">
            <a:avLst/>
          </a:prstGeom>
        </p:spPr>
      </p:pic>
      <p:sp>
        <p:nvSpPr>
          <p:cNvPr id="7" name="圆角矩形 6"/>
          <p:cNvSpPr/>
          <p:nvPr/>
        </p:nvSpPr>
        <p:spPr>
          <a:xfrm>
            <a:off x="681810" y="2692287"/>
            <a:ext cx="1537776" cy="44892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sp>
        <p:nvSpPr>
          <p:cNvPr id="8" name="文本框 7"/>
          <p:cNvSpPr txBox="1"/>
          <p:nvPr/>
        </p:nvSpPr>
        <p:spPr>
          <a:xfrm>
            <a:off x="517503" y="2260346"/>
            <a:ext cx="2089033" cy="300082"/>
          </a:xfrm>
          <a:prstGeom prst="rect">
            <a:avLst/>
          </a:prstGeom>
          <a:noFill/>
        </p:spPr>
        <p:txBody>
          <a:bodyPr wrap="none" rtlCol="0">
            <a:spAutoFit/>
          </a:bodyPr>
          <a:lstStyle/>
          <a:p>
            <a:pPr defTabSz="685800" fontAlgn="auto">
              <a:spcBef>
                <a:spcPts val="0"/>
              </a:spcBef>
              <a:spcAft>
                <a:spcPts val="0"/>
              </a:spcAft>
            </a:pPr>
            <a:r>
              <a:rPr kumimoji="1" lang="zh-CN" altLang="en-US" sz="1350" dirty="0">
                <a:solidFill>
                  <a:prstClr val="black"/>
                </a:solidFill>
                <a:latin typeface="+mn-ea"/>
                <a:ea typeface="+mn-ea"/>
              </a:rPr>
              <a:t>借鉴专业围棋棋手的思维</a:t>
            </a:r>
            <a:endParaRPr lang="zh-CN" altLang="en-US" sz="1350" dirty="0">
              <a:solidFill>
                <a:prstClr val="black"/>
              </a:solidFill>
              <a:latin typeface="+mn-ea"/>
              <a:ea typeface="+mn-ea"/>
            </a:endParaRPr>
          </a:p>
        </p:txBody>
      </p:sp>
      <p:sp>
        <p:nvSpPr>
          <p:cNvPr id="9" name="文本框 8"/>
          <p:cNvSpPr txBox="1"/>
          <p:nvPr/>
        </p:nvSpPr>
        <p:spPr>
          <a:xfrm>
            <a:off x="600368" y="2761161"/>
            <a:ext cx="1742785" cy="300082"/>
          </a:xfrm>
          <a:prstGeom prst="rect">
            <a:avLst/>
          </a:prstGeom>
          <a:noFill/>
        </p:spPr>
        <p:txBody>
          <a:bodyPr wrap="none" rtlCol="0">
            <a:spAutoFit/>
          </a:bodyPr>
          <a:lstStyle/>
          <a:p>
            <a:pPr defTabSz="685800" fontAlgn="auto">
              <a:spcBef>
                <a:spcPts val="0"/>
              </a:spcBef>
              <a:spcAft>
                <a:spcPts val="0"/>
              </a:spcAft>
            </a:pPr>
            <a:r>
              <a:rPr lang="zh-CN" altLang="en-US" sz="1350" dirty="0">
                <a:solidFill>
                  <a:prstClr val="black"/>
                </a:solidFill>
                <a:latin typeface="+mn-ea"/>
                <a:ea typeface="+mn-ea"/>
              </a:rPr>
              <a:t>“走一步、看三步”</a:t>
            </a:r>
          </a:p>
        </p:txBody>
      </p:sp>
      <p:cxnSp>
        <p:nvCxnSpPr>
          <p:cNvPr id="10" name="直接箭头连接符 9"/>
          <p:cNvCxnSpPr/>
          <p:nvPr/>
        </p:nvCxnSpPr>
        <p:spPr>
          <a:xfrm flipV="1">
            <a:off x="2220949" y="2644488"/>
            <a:ext cx="756084" cy="1816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220949" y="2996724"/>
            <a:ext cx="756084" cy="289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082252" y="2839497"/>
            <a:ext cx="2781531" cy="300082"/>
          </a:xfrm>
          <a:prstGeom prst="rect">
            <a:avLst/>
          </a:prstGeom>
          <a:noFill/>
        </p:spPr>
        <p:txBody>
          <a:bodyPr wrap="none" rtlCol="0">
            <a:spAutoFit/>
          </a:bodyPr>
          <a:lstStyle/>
          <a:p>
            <a:pPr defTabSz="685800" fontAlgn="auto">
              <a:spcBef>
                <a:spcPts val="0"/>
              </a:spcBef>
              <a:spcAft>
                <a:spcPts val="0"/>
              </a:spcAft>
            </a:pPr>
            <a:r>
              <a:rPr lang="zh-CN" altLang="en-US" sz="1350" dirty="0">
                <a:solidFill>
                  <a:prstClr val="black"/>
                </a:solidFill>
                <a:latin typeface="+mn-ea"/>
                <a:ea typeface="+mn-ea"/>
              </a:rPr>
              <a:t>判断棋局，选出几个可能的落子点</a:t>
            </a:r>
          </a:p>
        </p:txBody>
      </p:sp>
      <p:sp>
        <p:nvSpPr>
          <p:cNvPr id="13" name="文本框 12"/>
          <p:cNvSpPr txBox="1"/>
          <p:nvPr/>
        </p:nvSpPr>
        <p:spPr>
          <a:xfrm>
            <a:off x="3058475" y="3232347"/>
            <a:ext cx="3647152" cy="300082"/>
          </a:xfrm>
          <a:prstGeom prst="rect">
            <a:avLst/>
          </a:prstGeom>
          <a:noFill/>
        </p:spPr>
        <p:txBody>
          <a:bodyPr wrap="none" rtlCol="0">
            <a:spAutoFit/>
          </a:bodyPr>
          <a:lstStyle/>
          <a:p>
            <a:pPr defTabSz="685800" fontAlgn="auto">
              <a:spcBef>
                <a:spcPts val="0"/>
              </a:spcBef>
              <a:spcAft>
                <a:spcPts val="0"/>
              </a:spcAft>
            </a:pPr>
            <a:r>
              <a:rPr lang="zh-CN" altLang="en-US" sz="1350" dirty="0">
                <a:solidFill>
                  <a:prstClr val="black"/>
                </a:solidFill>
                <a:latin typeface="+mn-ea"/>
                <a:ea typeface="+mn-ea"/>
              </a:rPr>
              <a:t>预测接下来几步棋局的变化，判断最佳落子点</a:t>
            </a:r>
          </a:p>
        </p:txBody>
      </p:sp>
      <p:cxnSp>
        <p:nvCxnSpPr>
          <p:cNvPr id="14" name="直接箭头连接符 13"/>
          <p:cNvCxnSpPr/>
          <p:nvPr/>
        </p:nvCxnSpPr>
        <p:spPr>
          <a:xfrm flipV="1">
            <a:off x="2219586" y="2916148"/>
            <a:ext cx="757447" cy="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3082252" y="2491178"/>
            <a:ext cx="1742785" cy="300082"/>
          </a:xfrm>
          <a:prstGeom prst="rect">
            <a:avLst/>
          </a:prstGeom>
          <a:noFill/>
        </p:spPr>
        <p:txBody>
          <a:bodyPr wrap="none" rtlCol="0">
            <a:spAutoFit/>
          </a:bodyPr>
          <a:lstStyle/>
          <a:p>
            <a:pPr defTabSz="685800" fontAlgn="auto">
              <a:spcBef>
                <a:spcPts val="0"/>
              </a:spcBef>
              <a:spcAft>
                <a:spcPts val="0"/>
              </a:spcAft>
            </a:pPr>
            <a:r>
              <a:rPr lang="zh-CN" altLang="en-US" sz="1350" dirty="0">
                <a:solidFill>
                  <a:prstClr val="black"/>
                </a:solidFill>
                <a:latin typeface="+mn-ea"/>
                <a:ea typeface="+mn-ea"/>
              </a:rPr>
              <a:t>分析全局和局部形势</a:t>
            </a:r>
          </a:p>
        </p:txBody>
      </p:sp>
      <p:grpSp>
        <p:nvGrpSpPr>
          <p:cNvPr id="18" name="组合 17">
            <a:extLst>
              <a:ext uri="{FF2B5EF4-FFF2-40B4-BE49-F238E27FC236}">
                <a16:creationId xmlns:a16="http://schemas.microsoft.com/office/drawing/2014/main" id="{7455F510-A679-D844-3355-5B5B23B86387}"/>
              </a:ext>
            </a:extLst>
          </p:cNvPr>
          <p:cNvGrpSpPr/>
          <p:nvPr/>
        </p:nvGrpSpPr>
        <p:grpSpPr>
          <a:xfrm>
            <a:off x="611560" y="483518"/>
            <a:ext cx="5598290" cy="373451"/>
            <a:chOff x="4099943" y="2819853"/>
            <a:chExt cx="2570275" cy="497934"/>
          </a:xfrm>
        </p:grpSpPr>
        <p:sp>
          <p:nvSpPr>
            <p:cNvPr id="19" name="平行四边形 18">
              <a:extLst>
                <a:ext uri="{FF2B5EF4-FFF2-40B4-BE49-F238E27FC236}">
                  <a16:creationId xmlns:a16="http://schemas.microsoft.com/office/drawing/2014/main" id="{936C257B-8107-BB4D-12E7-9AF69017E5B3}"/>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b="1" dirty="0">
                <a:latin typeface="+mn-ea"/>
              </a:endParaRPr>
            </a:p>
          </p:txBody>
        </p:sp>
        <p:sp>
          <p:nvSpPr>
            <p:cNvPr id="20" name="平行四边形 19">
              <a:extLst>
                <a:ext uri="{FF2B5EF4-FFF2-40B4-BE49-F238E27FC236}">
                  <a16:creationId xmlns:a16="http://schemas.microsoft.com/office/drawing/2014/main" id="{3826E3FF-0150-1D8E-0851-1504EDCED82C}"/>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b="1" dirty="0">
                <a:latin typeface="+mn-ea"/>
              </a:endParaRPr>
            </a:p>
          </p:txBody>
        </p:sp>
        <p:sp>
          <p:nvSpPr>
            <p:cNvPr id="21" name="矩形 20">
              <a:extLst>
                <a:ext uri="{FF2B5EF4-FFF2-40B4-BE49-F238E27FC236}">
                  <a16:creationId xmlns:a16="http://schemas.microsoft.com/office/drawing/2014/main" id="{C98231FB-5C6C-8E76-5744-EF15776EF1A8}"/>
                </a:ext>
              </a:extLst>
            </p:cNvPr>
            <p:cNvSpPr/>
            <p:nvPr/>
          </p:nvSpPr>
          <p:spPr>
            <a:xfrm>
              <a:off x="4216534" y="2853798"/>
              <a:ext cx="2359684" cy="430886"/>
            </a:xfrm>
            <a:prstGeom prst="rect">
              <a:avLst/>
            </a:prstGeom>
          </p:spPr>
          <p:txBody>
            <a:bodyPr wrap="square">
              <a:spAutoFit/>
            </a:bodyPr>
            <a:lstStyle/>
            <a:p>
              <a:pPr algn="ctr"/>
              <a:r>
                <a:rPr lang="zh-CN" altLang="en-US" sz="1500" b="1" dirty="0">
                  <a:solidFill>
                    <a:srgbClr val="0070C0"/>
                  </a:solidFill>
                  <a:latin typeface="+mn-ea"/>
                  <a:ea typeface="+mn-ea"/>
                  <a:cs typeface="Times New Roman" panose="02020603050405020304" pitchFamily="18" charset="0"/>
                </a:rPr>
                <a:t>案例分析</a:t>
              </a:r>
              <a:r>
                <a:rPr lang="en-US" altLang="zh-CN" sz="1500" b="1" dirty="0">
                  <a:solidFill>
                    <a:srgbClr val="0070C0"/>
                  </a:solidFill>
                  <a:latin typeface="+mn-ea"/>
                  <a:ea typeface="+mn-ea"/>
                  <a:cs typeface="Times New Roman" panose="02020603050405020304" pitchFamily="18" charset="0"/>
                </a:rPr>
                <a:t>——AlphaGo</a:t>
              </a:r>
              <a:endParaRPr lang="zh-CN" altLang="en-US" sz="1500" b="1" dirty="0">
                <a:solidFill>
                  <a:srgbClr val="0070C0"/>
                </a:solidFill>
                <a:latin typeface="+mn-ea"/>
                <a:ea typeface="+mn-ea"/>
                <a:cs typeface="Times New Roman" panose="02020603050405020304" pitchFamily="18" charset="0"/>
              </a:endParaRPr>
            </a:p>
          </p:txBody>
        </p:sp>
      </p:grpSp>
      <p:sp>
        <p:nvSpPr>
          <p:cNvPr id="23" name="文本框 22">
            <a:extLst>
              <a:ext uri="{FF2B5EF4-FFF2-40B4-BE49-F238E27FC236}">
                <a16:creationId xmlns:a16="http://schemas.microsoft.com/office/drawing/2014/main" id="{B4589CEA-2813-460E-377C-D3E5F46CE225}"/>
              </a:ext>
            </a:extLst>
          </p:cNvPr>
          <p:cNvSpPr txBox="1"/>
          <p:nvPr/>
        </p:nvSpPr>
        <p:spPr>
          <a:xfrm>
            <a:off x="517503" y="3859652"/>
            <a:ext cx="7637449" cy="1027204"/>
          </a:xfrm>
          <a:prstGeom prst="rect">
            <a:avLst/>
          </a:prstGeom>
          <a:noFill/>
        </p:spPr>
        <p:txBody>
          <a:bodyPr wrap="square" rtlCol="0">
            <a:spAutoFit/>
          </a:bodyPr>
          <a:lstStyle>
            <a:defPPr>
              <a:defRPr lang="fi-FI"/>
            </a:defPPr>
            <a:lvl1pPr defTabSz="685800" fontAlgn="auto">
              <a:spcBef>
                <a:spcPts val="0"/>
              </a:spcBef>
              <a:spcAft>
                <a:spcPts val="0"/>
              </a:spcAft>
              <a:defRPr sz="1350">
                <a:solidFill>
                  <a:prstClr val="black"/>
                </a:solidFill>
                <a:latin typeface="Arial"/>
                <a:ea typeface="宋体"/>
              </a:defRPr>
            </a:lvl1pPr>
          </a:lstStyle>
          <a:p>
            <a:pPr algn="just">
              <a:lnSpc>
                <a:spcPct val="150000"/>
              </a:lnSpc>
            </a:pPr>
            <a:r>
              <a:rPr lang="zh-CN" altLang="en-US" dirty="0">
                <a:latin typeface="+mn-ea"/>
                <a:ea typeface="+mn-ea"/>
              </a:rPr>
              <a:t>A</a:t>
            </a:r>
            <a:r>
              <a:rPr lang="en-US" altLang="zh-CN" dirty="0" err="1">
                <a:latin typeface="+mn-ea"/>
                <a:ea typeface="+mn-ea"/>
              </a:rPr>
              <a:t>lp</a:t>
            </a:r>
            <a:r>
              <a:rPr lang="zh-CN" altLang="en-US" dirty="0">
                <a:latin typeface="+mn-ea"/>
                <a:ea typeface="+mn-ea"/>
              </a:rPr>
              <a:t>haGo 的主要创新点在于用</a:t>
            </a:r>
            <a:r>
              <a:rPr lang="zh-CN" altLang="en-US" b="1" dirty="0">
                <a:latin typeface="+mn-ea"/>
                <a:ea typeface="+mn-ea"/>
              </a:rPr>
              <a:t>改进的MCTS</a:t>
            </a:r>
            <a:r>
              <a:rPr lang="zh-CN" altLang="en-US" dirty="0">
                <a:latin typeface="+mn-ea"/>
                <a:ea typeface="+mn-ea"/>
              </a:rPr>
              <a:t>（异步策略和价值 </a:t>
            </a:r>
            <a:r>
              <a:rPr lang="en" altLang="zh-CN" dirty="0">
                <a:latin typeface="+mn-ea"/>
                <a:ea typeface="+mn-ea"/>
              </a:rPr>
              <a:t>MCTS</a:t>
            </a:r>
            <a:r>
              <a:rPr lang="zh-CN" altLang="en-US" dirty="0">
                <a:latin typeface="+mn-ea"/>
                <a:ea typeface="+mn-ea"/>
              </a:rPr>
              <a:t>，简称</a:t>
            </a:r>
            <a:r>
              <a:rPr lang="en-US" altLang="zh-CN" dirty="0">
                <a:latin typeface="+mn-ea"/>
                <a:ea typeface="+mn-ea"/>
              </a:rPr>
              <a:t>APV-MCTS</a:t>
            </a:r>
            <a:r>
              <a:rPr lang="zh-CN" altLang="en-US" dirty="0">
                <a:latin typeface="+mn-ea"/>
                <a:ea typeface="+mn-ea"/>
              </a:rPr>
              <a:t>）进行走子，这个改进版本的MCTS使用</a:t>
            </a:r>
            <a:r>
              <a:rPr lang="zh-CN" altLang="en-US" b="1" dirty="0">
                <a:latin typeface="+mn-ea"/>
                <a:ea typeface="+mn-ea"/>
              </a:rPr>
              <a:t>强化学习</a:t>
            </a:r>
            <a:r>
              <a:rPr lang="zh-CN" altLang="en-US" dirty="0">
                <a:latin typeface="+mn-ea"/>
                <a:ea typeface="+mn-ea"/>
              </a:rPr>
              <a:t>得到的策略和价值函数做指导，其中函数逼近使用了</a:t>
            </a:r>
            <a:r>
              <a:rPr lang="zh-CN" altLang="en-US" b="1" dirty="0">
                <a:latin typeface="+mn-ea"/>
                <a:ea typeface="+mn-ea"/>
              </a:rPr>
              <a:t>深度卷积神经网络</a:t>
            </a:r>
            <a:r>
              <a:rPr lang="zh-CN" altLang="en-US" dirty="0">
                <a:latin typeface="+mn-ea"/>
                <a:ea typeface="+mn-ea"/>
              </a:rPr>
              <a:t>，且该神经网络参数用人工标记的对局数据进行预训练，而不是随机初始化网络参数。</a:t>
            </a:r>
          </a:p>
        </p:txBody>
      </p:sp>
    </p:spTree>
    <p:extLst>
      <p:ext uri="{BB962C8B-B14F-4D97-AF65-F5344CB8AC3E}">
        <p14:creationId xmlns:p14="http://schemas.microsoft.com/office/powerpoint/2010/main" val="28376555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2" grpId="0"/>
      <p:bldP spid="13" grpId="0"/>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F8B31FF-8C4D-4D60-87B5-7DF42F5D2ABC}"/>
              </a:ext>
            </a:extLst>
          </p:cNvPr>
          <p:cNvPicPr>
            <a:picLocks noChangeAspect="1"/>
          </p:cNvPicPr>
          <p:nvPr/>
        </p:nvPicPr>
        <p:blipFill>
          <a:blip r:embed="rId3"/>
          <a:stretch>
            <a:fillRect/>
          </a:stretch>
        </p:blipFill>
        <p:spPr>
          <a:xfrm>
            <a:off x="0" y="1851670"/>
            <a:ext cx="3885918" cy="1476432"/>
          </a:xfrm>
          <a:prstGeom prst="rect">
            <a:avLst/>
          </a:prstGeom>
        </p:spPr>
      </p:pic>
      <p:pic>
        <p:nvPicPr>
          <p:cNvPr id="8" name="图片 7">
            <a:extLst>
              <a:ext uri="{FF2B5EF4-FFF2-40B4-BE49-F238E27FC236}">
                <a16:creationId xmlns:a16="http://schemas.microsoft.com/office/drawing/2014/main" id="{FF6415C7-BAC0-476C-8180-80F5D7EB455F}"/>
              </a:ext>
            </a:extLst>
          </p:cNvPr>
          <p:cNvPicPr>
            <a:picLocks noChangeAspect="1"/>
          </p:cNvPicPr>
          <p:nvPr/>
        </p:nvPicPr>
        <p:blipFill>
          <a:blip r:embed="rId4"/>
          <a:stretch>
            <a:fillRect/>
          </a:stretch>
        </p:blipFill>
        <p:spPr>
          <a:xfrm>
            <a:off x="3707904" y="903096"/>
            <a:ext cx="5282289" cy="4227934"/>
          </a:xfrm>
          <a:prstGeom prst="rect">
            <a:avLst/>
          </a:prstGeom>
        </p:spPr>
      </p:pic>
      <p:grpSp>
        <p:nvGrpSpPr>
          <p:cNvPr id="9" name="组合 8">
            <a:extLst>
              <a:ext uri="{FF2B5EF4-FFF2-40B4-BE49-F238E27FC236}">
                <a16:creationId xmlns:a16="http://schemas.microsoft.com/office/drawing/2014/main" id="{DF920BE9-F88A-4EF8-C844-8C626EA875AC}"/>
              </a:ext>
            </a:extLst>
          </p:cNvPr>
          <p:cNvGrpSpPr/>
          <p:nvPr/>
        </p:nvGrpSpPr>
        <p:grpSpPr>
          <a:xfrm>
            <a:off x="611560" y="483518"/>
            <a:ext cx="5598290" cy="373451"/>
            <a:chOff x="4099943" y="2819853"/>
            <a:chExt cx="2570275" cy="497934"/>
          </a:xfrm>
        </p:grpSpPr>
        <p:sp>
          <p:nvSpPr>
            <p:cNvPr id="10" name="平行四边形 9">
              <a:extLst>
                <a:ext uri="{FF2B5EF4-FFF2-40B4-BE49-F238E27FC236}">
                  <a16:creationId xmlns:a16="http://schemas.microsoft.com/office/drawing/2014/main" id="{E4543DD5-3BC6-78A1-B2D2-75CDE9C74D44}"/>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1" name="平行四边形 10">
              <a:extLst>
                <a:ext uri="{FF2B5EF4-FFF2-40B4-BE49-F238E27FC236}">
                  <a16:creationId xmlns:a16="http://schemas.microsoft.com/office/drawing/2014/main" id="{4BADB27E-E9D9-F317-D6AD-03580D0DA06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12" name="矩形 11">
              <a:extLst>
                <a:ext uri="{FF2B5EF4-FFF2-40B4-BE49-F238E27FC236}">
                  <a16:creationId xmlns:a16="http://schemas.microsoft.com/office/drawing/2014/main" id="{4B67F00C-C425-8BAF-2E39-4B232C699BAF}"/>
                </a:ext>
              </a:extLst>
            </p:cNvPr>
            <p:cNvSpPr/>
            <p:nvPr/>
          </p:nvSpPr>
          <p:spPr>
            <a:xfrm>
              <a:off x="4216534" y="2853798"/>
              <a:ext cx="2359684" cy="430886"/>
            </a:xfrm>
            <a:prstGeom prst="rect">
              <a:avLst/>
            </a:prstGeom>
          </p:spPr>
          <p:txBody>
            <a:bodyPr wrap="square">
              <a:spAutoFit/>
            </a:bodyPr>
            <a:lstStyle/>
            <a:p>
              <a:pPr algn="ctr"/>
              <a:r>
                <a:rPr lang="zh-CN" altLang="en-US" sz="15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深度强化学习在围棋游戏中的应用</a:t>
              </a:r>
            </a:p>
          </p:txBody>
        </p:sp>
      </p:grpSp>
    </p:spTree>
    <p:extLst>
      <p:ext uri="{BB962C8B-B14F-4D97-AF65-F5344CB8AC3E}">
        <p14:creationId xmlns:p14="http://schemas.microsoft.com/office/powerpoint/2010/main" val="1925947621"/>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482316" y="1463347"/>
            <a:ext cx="2959782" cy="2811793"/>
          </a:xfrm>
          <a:prstGeom prst="rect">
            <a:avLst/>
          </a:prstGeom>
        </p:spPr>
      </p:pic>
      <p:cxnSp>
        <p:nvCxnSpPr>
          <p:cNvPr id="7" name="直接箭头连接符 6"/>
          <p:cNvCxnSpPr/>
          <p:nvPr/>
        </p:nvCxnSpPr>
        <p:spPr>
          <a:xfrm>
            <a:off x="1684463" y="3815770"/>
            <a:ext cx="605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81736" y="3665729"/>
            <a:ext cx="1009606" cy="300082"/>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棋局状态</a:t>
            </a:r>
          </a:p>
        </p:txBody>
      </p:sp>
      <p:sp>
        <p:nvSpPr>
          <p:cNvPr id="9" name="文本框 8"/>
          <p:cNvSpPr txBox="1"/>
          <p:nvPr/>
        </p:nvSpPr>
        <p:spPr>
          <a:xfrm>
            <a:off x="580688" y="1766225"/>
            <a:ext cx="1767704" cy="507831"/>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输出：在状态</a:t>
            </a:r>
            <a:r>
              <a:rPr lang="en-US" altLang="zh-CN" sz="1350" dirty="0">
                <a:solidFill>
                  <a:prstClr val="black"/>
                </a:solidFill>
                <a:latin typeface="+mn-ea"/>
                <a:ea typeface="+mn-ea"/>
              </a:rPr>
              <a:t>S</a:t>
            </a:r>
            <a:r>
              <a:rPr lang="zh-CN" altLang="en-US" sz="1350" dirty="0">
                <a:solidFill>
                  <a:prstClr val="black"/>
                </a:solidFill>
                <a:latin typeface="+mn-ea"/>
                <a:ea typeface="+mn-ea"/>
              </a:rPr>
              <a:t>下，下棋动作</a:t>
            </a:r>
            <a:r>
              <a:rPr lang="en-US" altLang="zh-CN" sz="1350" dirty="0">
                <a:solidFill>
                  <a:prstClr val="black"/>
                </a:solidFill>
                <a:latin typeface="+mn-ea"/>
                <a:ea typeface="+mn-ea"/>
              </a:rPr>
              <a:t>a</a:t>
            </a:r>
            <a:r>
              <a:rPr lang="zh-CN" altLang="en-US" sz="1350" dirty="0">
                <a:solidFill>
                  <a:prstClr val="black"/>
                </a:solidFill>
                <a:latin typeface="+mn-ea"/>
                <a:ea typeface="+mn-ea"/>
              </a:rPr>
              <a:t>的概率</a:t>
            </a:r>
          </a:p>
        </p:txBody>
      </p:sp>
      <p:cxnSp>
        <p:nvCxnSpPr>
          <p:cNvPr id="10" name="直接箭头连接符 9"/>
          <p:cNvCxnSpPr/>
          <p:nvPr/>
        </p:nvCxnSpPr>
        <p:spPr>
          <a:xfrm>
            <a:off x="2147792" y="2001294"/>
            <a:ext cx="605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630237" y="1851253"/>
            <a:ext cx="2470155" cy="300082"/>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预测棋局状态</a:t>
            </a:r>
            <a:r>
              <a:rPr lang="en-US" altLang="zh-CN" sz="1350" dirty="0">
                <a:solidFill>
                  <a:prstClr val="black"/>
                </a:solidFill>
                <a:latin typeface="+mn-ea"/>
                <a:ea typeface="+mn-ea"/>
              </a:rPr>
              <a:t>S’</a:t>
            </a:r>
            <a:r>
              <a:rPr lang="zh-CN" altLang="en-US" sz="1350" dirty="0" smtClean="0">
                <a:solidFill>
                  <a:prstClr val="black"/>
                </a:solidFill>
                <a:latin typeface="+mn-ea"/>
                <a:ea typeface="+mn-ea"/>
              </a:rPr>
              <a:t>的价值</a:t>
            </a:r>
            <a:endParaRPr lang="zh-CN" altLang="en-US" sz="1350" dirty="0">
              <a:solidFill>
                <a:prstClr val="black"/>
              </a:solidFill>
              <a:latin typeface="+mn-ea"/>
              <a:ea typeface="+mn-ea"/>
            </a:endParaRPr>
          </a:p>
        </p:txBody>
      </p:sp>
      <p:cxnSp>
        <p:nvCxnSpPr>
          <p:cNvPr id="12" name="直接箭头连接符 11"/>
          <p:cNvCxnSpPr>
            <a:cxnSpLocks/>
            <a:stCxn id="11" idx="1"/>
          </p:cNvCxnSpPr>
          <p:nvPr/>
        </p:nvCxnSpPr>
        <p:spPr>
          <a:xfrm flipH="1">
            <a:off x="5108587" y="2001294"/>
            <a:ext cx="5216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125C6801-5715-F847-9808-450D191B52B2}"/>
              </a:ext>
            </a:extLst>
          </p:cNvPr>
          <p:cNvSpPr txBox="1"/>
          <p:nvPr/>
        </p:nvSpPr>
        <p:spPr>
          <a:xfrm>
            <a:off x="6164005" y="3354105"/>
            <a:ext cx="2690711" cy="923330"/>
          </a:xfrm>
          <a:prstGeom prst="rect">
            <a:avLst/>
          </a:prstGeom>
          <a:noFill/>
        </p:spPr>
        <p:txBody>
          <a:bodyPr wrap="square" rtlCol="0">
            <a:spAutoFit/>
          </a:bodyPr>
          <a:lstStyle/>
          <a:p>
            <a:pPr defTabSz="685800" fontAlgn="auto">
              <a:spcBef>
                <a:spcPts val="0"/>
              </a:spcBef>
              <a:spcAft>
                <a:spcPts val="0"/>
              </a:spcAft>
            </a:pPr>
            <a:r>
              <a:rPr kumimoji="1" lang="zh-CN" altLang="en-US" sz="1350" dirty="0">
                <a:solidFill>
                  <a:srgbClr val="FF0000"/>
                </a:solidFill>
                <a:latin typeface="+mn-ea"/>
                <a:ea typeface="+mn-ea"/>
              </a:rPr>
              <a:t>状态</a:t>
            </a:r>
            <a:r>
              <a:rPr kumimoji="1" lang="en-US" altLang="zh-CN" sz="1350" dirty="0">
                <a:solidFill>
                  <a:srgbClr val="FF0000"/>
                </a:solidFill>
                <a:latin typeface="+mn-ea"/>
                <a:ea typeface="+mn-ea"/>
              </a:rPr>
              <a:t>S</a:t>
            </a:r>
            <a:r>
              <a:rPr kumimoji="1" lang="zh-CN" altLang="en-US" sz="1350" dirty="0">
                <a:solidFill>
                  <a:srgbClr val="FF0000"/>
                </a:solidFill>
                <a:latin typeface="+mn-ea"/>
                <a:ea typeface="+mn-ea"/>
              </a:rPr>
              <a:t>：</a:t>
            </a:r>
            <a:r>
              <a:rPr kumimoji="1" lang="zh-CN" altLang="en-US" sz="1350" dirty="0">
                <a:solidFill>
                  <a:prstClr val="black"/>
                </a:solidFill>
                <a:latin typeface="+mn-ea"/>
                <a:ea typeface="+mn-ea"/>
              </a:rPr>
              <a:t>棋盘中每个落子点的状态（黑、白、空）</a:t>
            </a:r>
            <a:endParaRPr kumimoji="1" lang="en-US" altLang="zh-CN" sz="1350" dirty="0">
              <a:solidFill>
                <a:prstClr val="black"/>
              </a:solidFill>
              <a:latin typeface="+mn-ea"/>
              <a:ea typeface="+mn-ea"/>
            </a:endParaRPr>
          </a:p>
          <a:p>
            <a:pPr defTabSz="685800" fontAlgn="auto">
              <a:spcBef>
                <a:spcPts val="0"/>
              </a:spcBef>
              <a:spcAft>
                <a:spcPts val="0"/>
              </a:spcAft>
            </a:pPr>
            <a:r>
              <a:rPr kumimoji="1" lang="zh-CN" altLang="en-US" sz="1350" dirty="0">
                <a:solidFill>
                  <a:srgbClr val="FF0000"/>
                </a:solidFill>
                <a:latin typeface="+mn-ea"/>
                <a:ea typeface="+mn-ea"/>
              </a:rPr>
              <a:t>动作</a:t>
            </a:r>
            <a:r>
              <a:rPr kumimoji="1" lang="en-US" altLang="zh-CN" sz="1350" dirty="0">
                <a:solidFill>
                  <a:srgbClr val="FF0000"/>
                </a:solidFill>
                <a:latin typeface="+mn-ea"/>
                <a:ea typeface="+mn-ea"/>
              </a:rPr>
              <a:t>A</a:t>
            </a:r>
            <a:r>
              <a:rPr kumimoji="1" lang="zh-CN" altLang="en-US" sz="1350" dirty="0">
                <a:solidFill>
                  <a:srgbClr val="FF0000"/>
                </a:solidFill>
                <a:latin typeface="+mn-ea"/>
                <a:ea typeface="+mn-ea"/>
              </a:rPr>
              <a:t>：</a:t>
            </a:r>
            <a:r>
              <a:rPr kumimoji="1" lang="zh-CN" altLang="en-US" sz="1350" dirty="0">
                <a:solidFill>
                  <a:prstClr val="black"/>
                </a:solidFill>
                <a:latin typeface="+mn-ea"/>
                <a:ea typeface="+mn-ea"/>
              </a:rPr>
              <a:t>下棋，确定落子点位置</a:t>
            </a:r>
            <a:endParaRPr kumimoji="1" lang="en-US" altLang="zh-CN" sz="1350" dirty="0">
              <a:solidFill>
                <a:prstClr val="black"/>
              </a:solidFill>
              <a:latin typeface="+mn-ea"/>
              <a:ea typeface="+mn-ea"/>
            </a:endParaRPr>
          </a:p>
          <a:p>
            <a:pPr defTabSz="685800" fontAlgn="auto">
              <a:spcBef>
                <a:spcPts val="0"/>
              </a:spcBef>
              <a:spcAft>
                <a:spcPts val="0"/>
              </a:spcAft>
            </a:pPr>
            <a:r>
              <a:rPr kumimoji="1" lang="zh-CN" altLang="en-US" sz="1350" dirty="0">
                <a:solidFill>
                  <a:srgbClr val="FF0000"/>
                </a:solidFill>
                <a:latin typeface="+mn-ea"/>
                <a:ea typeface="+mn-ea"/>
              </a:rPr>
              <a:t>奖励</a:t>
            </a:r>
            <a:r>
              <a:rPr kumimoji="1" lang="en-US" altLang="zh-CN" sz="1350" dirty="0">
                <a:solidFill>
                  <a:srgbClr val="FF0000"/>
                </a:solidFill>
                <a:latin typeface="+mn-ea"/>
                <a:ea typeface="+mn-ea"/>
              </a:rPr>
              <a:t>R</a:t>
            </a:r>
            <a:r>
              <a:rPr kumimoji="1" lang="zh-CN" altLang="en-US" sz="1350" dirty="0">
                <a:solidFill>
                  <a:srgbClr val="FF0000"/>
                </a:solidFill>
                <a:latin typeface="+mn-ea"/>
                <a:ea typeface="+mn-ea"/>
              </a:rPr>
              <a:t>：</a:t>
            </a:r>
            <a:r>
              <a:rPr kumimoji="1" lang="zh-CN" altLang="en-US" sz="1350" dirty="0">
                <a:solidFill>
                  <a:prstClr val="black"/>
                </a:solidFill>
                <a:latin typeface="+mn-ea"/>
                <a:ea typeface="+mn-ea"/>
              </a:rPr>
              <a:t>最终赢棋</a:t>
            </a:r>
            <a:endParaRPr kumimoji="1" lang="en-US" altLang="zh-CN" sz="1350" dirty="0">
              <a:solidFill>
                <a:prstClr val="black"/>
              </a:solidFill>
              <a:latin typeface="+mn-ea"/>
              <a:ea typeface="+mn-ea"/>
            </a:endParaRPr>
          </a:p>
        </p:txBody>
      </p:sp>
      <p:grpSp>
        <p:nvGrpSpPr>
          <p:cNvPr id="3" name="组合 2">
            <a:extLst>
              <a:ext uri="{FF2B5EF4-FFF2-40B4-BE49-F238E27FC236}">
                <a16:creationId xmlns:a16="http://schemas.microsoft.com/office/drawing/2014/main" id="{BAE29F72-390E-4E1A-7D58-2A9DA2BE2A5F}"/>
              </a:ext>
            </a:extLst>
          </p:cNvPr>
          <p:cNvGrpSpPr/>
          <p:nvPr/>
        </p:nvGrpSpPr>
        <p:grpSpPr>
          <a:xfrm>
            <a:off x="611560" y="483518"/>
            <a:ext cx="5598290" cy="373451"/>
            <a:chOff x="4099943" y="2819853"/>
            <a:chExt cx="2570275" cy="497934"/>
          </a:xfrm>
        </p:grpSpPr>
        <p:sp>
          <p:nvSpPr>
            <p:cNvPr id="14" name="平行四边形 13">
              <a:extLst>
                <a:ext uri="{FF2B5EF4-FFF2-40B4-BE49-F238E27FC236}">
                  <a16:creationId xmlns:a16="http://schemas.microsoft.com/office/drawing/2014/main" id="{420B229C-C16A-3F37-B652-96E7424BA327}"/>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5" name="平行四边形 14">
              <a:extLst>
                <a:ext uri="{FF2B5EF4-FFF2-40B4-BE49-F238E27FC236}">
                  <a16:creationId xmlns:a16="http://schemas.microsoft.com/office/drawing/2014/main" id="{E0AF7BE3-A268-C5D1-C3CA-7A64A6C90284}"/>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latin typeface="+mn-ea"/>
              </a:endParaRPr>
            </a:p>
          </p:txBody>
        </p:sp>
        <p:sp>
          <p:nvSpPr>
            <p:cNvPr id="16" name="矩形 15">
              <a:extLst>
                <a:ext uri="{FF2B5EF4-FFF2-40B4-BE49-F238E27FC236}">
                  <a16:creationId xmlns:a16="http://schemas.microsoft.com/office/drawing/2014/main" id="{293C8E51-5C05-3C97-D04A-75336E0E9D00}"/>
                </a:ext>
              </a:extLst>
            </p:cNvPr>
            <p:cNvSpPr/>
            <p:nvPr/>
          </p:nvSpPr>
          <p:spPr>
            <a:xfrm>
              <a:off x="4216534" y="2853798"/>
              <a:ext cx="2359684" cy="430886"/>
            </a:xfrm>
            <a:prstGeom prst="rect">
              <a:avLst/>
            </a:prstGeom>
          </p:spPr>
          <p:txBody>
            <a:bodyPr wrap="square">
              <a:spAutoFit/>
            </a:bodyPr>
            <a:lstStyle/>
            <a:p>
              <a:pPr algn="ctr"/>
              <a:r>
                <a:rPr lang="zh-CN" altLang="en-US" sz="1500" b="1" dirty="0">
                  <a:solidFill>
                    <a:srgbClr val="0070C0"/>
                  </a:solidFill>
                  <a:latin typeface="+mn-ea"/>
                  <a:ea typeface="+mn-ea"/>
                  <a:cs typeface="Times New Roman" panose="02020603050405020304" pitchFamily="18" charset="0"/>
                </a:rPr>
                <a:t>案例分析</a:t>
              </a:r>
              <a:r>
                <a:rPr lang="en-US" altLang="zh-CN" sz="1500" b="1" dirty="0">
                  <a:solidFill>
                    <a:srgbClr val="0070C0"/>
                  </a:solidFill>
                  <a:latin typeface="+mn-ea"/>
                  <a:ea typeface="+mn-ea"/>
                  <a:cs typeface="Times New Roman" panose="02020603050405020304" pitchFamily="18" charset="0"/>
                </a:rPr>
                <a:t>——AlphaGo</a:t>
              </a:r>
              <a:endParaRPr lang="zh-CN" altLang="en-US" sz="1500" b="1" dirty="0">
                <a:solidFill>
                  <a:srgbClr val="0070C0"/>
                </a:solidFill>
                <a:latin typeface="+mn-ea"/>
                <a:ea typeface="+mn-ea"/>
                <a:cs typeface="Times New Roman" panose="02020603050405020304" pitchFamily="18" charset="0"/>
              </a:endParaRPr>
            </a:p>
          </p:txBody>
        </p:sp>
      </p:grpSp>
    </p:spTree>
    <p:extLst>
      <p:ext uri="{BB962C8B-B14F-4D97-AF65-F5344CB8AC3E}">
        <p14:creationId xmlns:p14="http://schemas.microsoft.com/office/powerpoint/2010/main" val="2824674092"/>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917242" y="1773230"/>
            <a:ext cx="4402148" cy="2441390"/>
          </a:xfrm>
          <a:prstGeom prst="rect">
            <a:avLst/>
          </a:prstGeom>
        </p:spPr>
      </p:pic>
      <p:cxnSp>
        <p:nvCxnSpPr>
          <p:cNvPr id="7" name="直接箭头连接符 6"/>
          <p:cNvCxnSpPr/>
          <p:nvPr/>
        </p:nvCxnSpPr>
        <p:spPr>
          <a:xfrm>
            <a:off x="1502406" y="3836022"/>
            <a:ext cx="5400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67275" y="3712531"/>
            <a:ext cx="1396536" cy="300082"/>
          </a:xfrm>
          <a:prstGeom prst="rect">
            <a:avLst/>
          </a:prstGeom>
          <a:noFill/>
        </p:spPr>
        <p:txBody>
          <a:bodyPr wrap="none" rtlCol="0">
            <a:spAutoFit/>
          </a:bodyPr>
          <a:lstStyle/>
          <a:p>
            <a:pPr defTabSz="685800" fontAlgn="auto">
              <a:spcBef>
                <a:spcPts val="0"/>
              </a:spcBef>
              <a:spcAft>
                <a:spcPts val="0"/>
              </a:spcAft>
            </a:pPr>
            <a:r>
              <a:rPr lang="zh-CN" altLang="en-US" sz="1350" dirty="0">
                <a:solidFill>
                  <a:prstClr val="black"/>
                </a:solidFill>
                <a:latin typeface="+mn-ea"/>
                <a:ea typeface="+mn-ea"/>
              </a:rPr>
              <a:t>输入：当前棋局</a:t>
            </a:r>
          </a:p>
        </p:txBody>
      </p:sp>
      <p:cxnSp>
        <p:nvCxnSpPr>
          <p:cNvPr id="9" name="直接箭头连接符 8"/>
          <p:cNvCxnSpPr/>
          <p:nvPr/>
        </p:nvCxnSpPr>
        <p:spPr>
          <a:xfrm>
            <a:off x="1610417" y="2276116"/>
            <a:ext cx="5400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23987" y="2006988"/>
            <a:ext cx="1567440" cy="507831"/>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输出：预测人类专家下一步走棋位置</a:t>
            </a:r>
          </a:p>
        </p:txBody>
      </p:sp>
      <p:cxnSp>
        <p:nvCxnSpPr>
          <p:cNvPr id="11" name="直接箭头连接符 10"/>
          <p:cNvCxnSpPr/>
          <p:nvPr/>
        </p:nvCxnSpPr>
        <p:spPr>
          <a:xfrm>
            <a:off x="6092935" y="3356885"/>
            <a:ext cx="7752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6914702" y="3095979"/>
            <a:ext cx="2088233" cy="1546577"/>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为了提高策略的质量，通过自我对弈进行强化学习，其中对局双方中的待更新的网络使用当前的强化学习策略网络，对手使用的是从早期迭代得到的版本中随机选择的策略</a:t>
            </a:r>
          </a:p>
        </p:txBody>
      </p:sp>
      <p:sp>
        <p:nvSpPr>
          <p:cNvPr id="13" name="矩形 12"/>
          <p:cNvSpPr/>
          <p:nvPr/>
        </p:nvSpPr>
        <p:spPr>
          <a:xfrm>
            <a:off x="5237642" y="1815902"/>
            <a:ext cx="703364" cy="2337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cxnSp>
        <p:nvCxnSpPr>
          <p:cNvPr id="14" name="直接箭头连接符 13"/>
          <p:cNvCxnSpPr>
            <a:stCxn id="13" idx="3"/>
          </p:cNvCxnSpPr>
          <p:nvPr/>
        </p:nvCxnSpPr>
        <p:spPr>
          <a:xfrm flipV="1">
            <a:off x="5941006" y="1868065"/>
            <a:ext cx="469419" cy="64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379129" y="1531100"/>
            <a:ext cx="2623806" cy="507831"/>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对每一个可能的落子点一个分数，选择分数最大的那个落子点</a:t>
            </a:r>
          </a:p>
        </p:txBody>
      </p:sp>
      <p:sp>
        <p:nvSpPr>
          <p:cNvPr id="3" name="文本框 2"/>
          <p:cNvSpPr txBox="1"/>
          <p:nvPr/>
        </p:nvSpPr>
        <p:spPr>
          <a:xfrm>
            <a:off x="2411760" y="1504770"/>
            <a:ext cx="2178802" cy="230832"/>
          </a:xfrm>
          <a:prstGeom prst="rect">
            <a:avLst/>
          </a:prstGeom>
          <a:noFill/>
        </p:spPr>
        <p:txBody>
          <a:bodyPr wrap="none" rtlCol="0">
            <a:spAutoFit/>
          </a:bodyPr>
          <a:lstStyle/>
          <a:p>
            <a:pPr defTabSz="685800" fontAlgn="auto">
              <a:spcBef>
                <a:spcPts val="0"/>
              </a:spcBef>
              <a:spcAft>
                <a:spcPts val="0"/>
              </a:spcAft>
            </a:pPr>
            <a:r>
              <a:rPr lang="en-US" altLang="zh-CN" sz="900" dirty="0">
                <a:solidFill>
                  <a:prstClr val="black"/>
                </a:solidFill>
                <a:latin typeface="+mn-ea"/>
                <a:ea typeface="+mn-ea"/>
              </a:rPr>
              <a:t>(</a:t>
            </a:r>
            <a:r>
              <a:rPr lang="en-US" altLang="zh-CN" sz="900" dirty="0">
                <a:solidFill>
                  <a:srgbClr val="FF0000"/>
                </a:solidFill>
                <a:latin typeface="+mn-ea"/>
                <a:ea typeface="+mn-ea"/>
              </a:rPr>
              <a:t>supervised learning policy network</a:t>
            </a:r>
            <a:r>
              <a:rPr lang="en-US" altLang="zh-CN" sz="900" dirty="0">
                <a:solidFill>
                  <a:prstClr val="black"/>
                </a:solidFill>
                <a:latin typeface="+mn-ea"/>
                <a:ea typeface="+mn-ea"/>
              </a:rPr>
              <a:t>)</a:t>
            </a:r>
            <a:endParaRPr lang="zh-CN" altLang="en-US" sz="900" dirty="0">
              <a:solidFill>
                <a:prstClr val="black"/>
              </a:solidFill>
              <a:latin typeface="+mn-ea"/>
              <a:ea typeface="+mn-ea"/>
            </a:endParaRPr>
          </a:p>
        </p:txBody>
      </p:sp>
      <p:cxnSp>
        <p:nvCxnSpPr>
          <p:cNvPr id="17" name="直接箭头连接符 16"/>
          <p:cNvCxnSpPr/>
          <p:nvPr/>
        </p:nvCxnSpPr>
        <p:spPr>
          <a:xfrm flipV="1">
            <a:off x="3203848" y="1714631"/>
            <a:ext cx="87284" cy="116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AD3F74B0-4826-0838-C051-E00CF823769E}"/>
              </a:ext>
            </a:extLst>
          </p:cNvPr>
          <p:cNvGrpSpPr/>
          <p:nvPr/>
        </p:nvGrpSpPr>
        <p:grpSpPr>
          <a:xfrm>
            <a:off x="611560" y="483518"/>
            <a:ext cx="5598290" cy="373451"/>
            <a:chOff x="4099943" y="2819853"/>
            <a:chExt cx="2570275" cy="497934"/>
          </a:xfrm>
        </p:grpSpPr>
        <p:sp>
          <p:nvSpPr>
            <p:cNvPr id="19" name="平行四边形 18">
              <a:extLst>
                <a:ext uri="{FF2B5EF4-FFF2-40B4-BE49-F238E27FC236}">
                  <a16:creationId xmlns:a16="http://schemas.microsoft.com/office/drawing/2014/main" id="{EE5FC570-DECE-F700-CE3B-AE3FA9C3B4AF}"/>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b="1" dirty="0">
                <a:latin typeface="+mn-ea"/>
              </a:endParaRPr>
            </a:p>
          </p:txBody>
        </p:sp>
        <p:sp>
          <p:nvSpPr>
            <p:cNvPr id="20" name="平行四边形 19">
              <a:extLst>
                <a:ext uri="{FF2B5EF4-FFF2-40B4-BE49-F238E27FC236}">
                  <a16:creationId xmlns:a16="http://schemas.microsoft.com/office/drawing/2014/main" id="{66450053-536E-4F38-D509-41FA9F3B903E}"/>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b="1" dirty="0">
                <a:latin typeface="+mn-ea"/>
              </a:endParaRPr>
            </a:p>
          </p:txBody>
        </p:sp>
        <p:sp>
          <p:nvSpPr>
            <p:cNvPr id="21" name="矩形 20">
              <a:extLst>
                <a:ext uri="{FF2B5EF4-FFF2-40B4-BE49-F238E27FC236}">
                  <a16:creationId xmlns:a16="http://schemas.microsoft.com/office/drawing/2014/main" id="{6B211EC3-7965-5148-7A80-9398FCB6B362}"/>
                </a:ext>
              </a:extLst>
            </p:cNvPr>
            <p:cNvSpPr/>
            <p:nvPr/>
          </p:nvSpPr>
          <p:spPr>
            <a:xfrm>
              <a:off x="4216534" y="2853798"/>
              <a:ext cx="2359684" cy="430886"/>
            </a:xfrm>
            <a:prstGeom prst="rect">
              <a:avLst/>
            </a:prstGeom>
          </p:spPr>
          <p:txBody>
            <a:bodyPr wrap="square">
              <a:spAutoFit/>
            </a:bodyPr>
            <a:lstStyle/>
            <a:p>
              <a:pPr algn="ctr"/>
              <a:r>
                <a:rPr lang="zh-CN" altLang="en-US" sz="1500" b="1" dirty="0">
                  <a:solidFill>
                    <a:srgbClr val="0070C0"/>
                  </a:solidFill>
                  <a:latin typeface="+mn-ea"/>
                  <a:ea typeface="+mn-ea"/>
                  <a:cs typeface="Times New Roman" panose="02020603050405020304" pitchFamily="18" charset="0"/>
                </a:rPr>
                <a:t>案例分析</a:t>
              </a:r>
              <a:r>
                <a:rPr lang="en-US" altLang="zh-CN" sz="1500" b="1" dirty="0">
                  <a:solidFill>
                    <a:srgbClr val="0070C0"/>
                  </a:solidFill>
                  <a:latin typeface="+mn-ea"/>
                  <a:ea typeface="+mn-ea"/>
                  <a:cs typeface="Times New Roman" panose="02020603050405020304" pitchFamily="18" charset="0"/>
                </a:rPr>
                <a:t>——AlphaGo</a:t>
              </a:r>
              <a:endParaRPr lang="zh-CN" altLang="en-US" sz="1500" b="1" dirty="0">
                <a:solidFill>
                  <a:srgbClr val="0070C0"/>
                </a:solidFill>
                <a:latin typeface="+mn-ea"/>
                <a:ea typeface="+mn-ea"/>
                <a:cs typeface="Times New Roman" panose="02020603050405020304" pitchFamily="18" charset="0"/>
              </a:endParaRPr>
            </a:p>
          </p:txBody>
        </p:sp>
      </p:grpSp>
      <p:sp>
        <p:nvSpPr>
          <p:cNvPr id="26" name="文本框 25">
            <a:extLst>
              <a:ext uri="{FF2B5EF4-FFF2-40B4-BE49-F238E27FC236}">
                <a16:creationId xmlns:a16="http://schemas.microsoft.com/office/drawing/2014/main" id="{36593566-8811-78EB-2027-3FA22EAFB2C8}"/>
              </a:ext>
            </a:extLst>
          </p:cNvPr>
          <p:cNvSpPr txBox="1"/>
          <p:nvPr/>
        </p:nvSpPr>
        <p:spPr>
          <a:xfrm>
            <a:off x="865506" y="4416626"/>
            <a:ext cx="5620413" cy="523220"/>
          </a:xfrm>
          <a:prstGeom prst="rect">
            <a:avLst/>
          </a:prstGeom>
          <a:noFill/>
        </p:spPr>
        <p:txBody>
          <a:bodyPr wrap="square">
            <a:spAutoFit/>
          </a:bodyPr>
          <a:lstStyle/>
          <a:p>
            <a:r>
              <a:rPr lang="zh-CN" altLang="en-US" dirty="0">
                <a:latin typeface="+mn-ea"/>
                <a:ea typeface="+mn-ea"/>
              </a:rPr>
              <a:t>如果当前策略赢，收益信号就是+1，如果输就是</a:t>
            </a:r>
            <a:r>
              <a:rPr lang="en-US" altLang="zh-CN" dirty="0">
                <a:latin typeface="+mn-ea"/>
                <a:ea typeface="+mn-ea"/>
              </a:rPr>
              <a:t>-1</a:t>
            </a:r>
            <a:r>
              <a:rPr lang="zh-CN" altLang="en-US" dirty="0">
                <a:latin typeface="+mn-ea"/>
                <a:ea typeface="+mn-ea"/>
              </a:rPr>
              <a:t>，其他情况就是 0。这些对局过程是直接依据两个策略网络进行落子的，没有涉及 MCST。</a:t>
            </a:r>
          </a:p>
        </p:txBody>
      </p:sp>
      <p:cxnSp>
        <p:nvCxnSpPr>
          <p:cNvPr id="27" name="直接箭头连接符 10">
            <a:extLst>
              <a:ext uri="{FF2B5EF4-FFF2-40B4-BE49-F238E27FC236}">
                <a16:creationId xmlns:a16="http://schemas.microsoft.com/office/drawing/2014/main" id="{0D917FAD-9AF4-C026-250D-740A4E6CC567}"/>
              </a:ext>
            </a:extLst>
          </p:cNvPr>
          <p:cNvCxnSpPr>
            <a:cxnSpLocks/>
          </p:cNvCxnSpPr>
          <p:nvPr/>
        </p:nvCxnSpPr>
        <p:spPr>
          <a:xfrm flipH="1">
            <a:off x="6393495" y="4315819"/>
            <a:ext cx="521207" cy="3267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2797797" y="1831322"/>
            <a:ext cx="949186" cy="2337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sp>
        <p:nvSpPr>
          <p:cNvPr id="23" name="矩形 22"/>
          <p:cNvSpPr/>
          <p:nvPr/>
        </p:nvSpPr>
        <p:spPr>
          <a:xfrm>
            <a:off x="4117961" y="1813987"/>
            <a:ext cx="949186" cy="2337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spTree>
    <p:extLst>
      <p:ext uri="{BB962C8B-B14F-4D97-AF65-F5344CB8AC3E}">
        <p14:creationId xmlns:p14="http://schemas.microsoft.com/office/powerpoint/2010/main" val="2384202907"/>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5C6801-5715-F847-9808-450D191B52B2}"/>
              </a:ext>
            </a:extLst>
          </p:cNvPr>
          <p:cNvSpPr txBox="1"/>
          <p:nvPr/>
        </p:nvSpPr>
        <p:spPr>
          <a:xfrm>
            <a:off x="656348" y="923646"/>
            <a:ext cx="7876092" cy="1131079"/>
          </a:xfrm>
          <a:prstGeom prst="rect">
            <a:avLst/>
          </a:prstGeom>
          <a:noFill/>
        </p:spPr>
        <p:txBody>
          <a:bodyPr wrap="square" rtlCol="0">
            <a:spAutoFit/>
          </a:bodyPr>
          <a:lstStyle/>
          <a:p>
            <a:pPr defTabSz="685800" fontAlgn="auto">
              <a:spcBef>
                <a:spcPts val="0"/>
              </a:spcBef>
              <a:spcAft>
                <a:spcPts val="0"/>
              </a:spcAft>
            </a:pPr>
            <a:r>
              <a:rPr kumimoji="1" lang="en-US" altLang="zh-CN" sz="1350" dirty="0">
                <a:solidFill>
                  <a:prstClr val="black"/>
                </a:solidFill>
                <a:latin typeface="+mn-ea"/>
                <a:ea typeface="+mn-ea"/>
              </a:rPr>
              <a:t>3. </a:t>
            </a:r>
            <a:r>
              <a:rPr kumimoji="1" lang="zh-CN" altLang="en-US" sz="1350" dirty="0">
                <a:solidFill>
                  <a:prstClr val="black"/>
                </a:solidFill>
                <a:latin typeface="+mn-ea"/>
                <a:ea typeface="+mn-ea"/>
              </a:rPr>
              <a:t>判断最佳落子点</a:t>
            </a:r>
            <a:endParaRPr kumimoji="1" lang="en-US" altLang="zh-CN" sz="1350" dirty="0">
              <a:solidFill>
                <a:prstClr val="black"/>
              </a:solidFill>
              <a:latin typeface="+mn-ea"/>
              <a:ea typeface="+mn-ea"/>
            </a:endParaRPr>
          </a:p>
          <a:p>
            <a:pPr defTabSz="685800" fontAlgn="auto">
              <a:spcBef>
                <a:spcPts val="0"/>
              </a:spcBef>
              <a:spcAft>
                <a:spcPts val="0"/>
              </a:spcAft>
            </a:pPr>
            <a:endParaRPr kumimoji="1" lang="en-US" altLang="zh-CN" sz="1350" dirty="0">
              <a:solidFill>
                <a:prstClr val="black"/>
              </a:solidFill>
              <a:latin typeface="+mn-ea"/>
              <a:ea typeface="+mn-ea"/>
            </a:endParaRPr>
          </a:p>
          <a:p>
            <a:pPr defTabSz="685800" fontAlgn="auto">
              <a:spcBef>
                <a:spcPts val="0"/>
              </a:spcBef>
              <a:spcAft>
                <a:spcPts val="0"/>
              </a:spcAft>
            </a:pPr>
            <a:r>
              <a:rPr kumimoji="1" lang="zh-CN" altLang="en-US" sz="1350" dirty="0">
                <a:solidFill>
                  <a:prstClr val="black"/>
                </a:solidFill>
                <a:latin typeface="+mn-ea"/>
                <a:ea typeface="+mn-ea"/>
              </a:rPr>
              <a:t>利用蒙特卡洛搜索树（</a:t>
            </a:r>
            <a:r>
              <a:rPr lang="en-US" altLang="zh-CN" sz="1350" dirty="0">
                <a:solidFill>
                  <a:prstClr val="black"/>
                </a:solidFill>
                <a:latin typeface="+mn-ea"/>
                <a:ea typeface="+mn-ea"/>
              </a:rPr>
              <a:t>Monte Carlo Tree Search, </a:t>
            </a:r>
            <a:r>
              <a:rPr kumimoji="1" lang="en-US" altLang="zh-CN" sz="1350" dirty="0">
                <a:solidFill>
                  <a:prstClr val="black"/>
                </a:solidFill>
                <a:latin typeface="+mn-ea"/>
                <a:ea typeface="+mn-ea"/>
              </a:rPr>
              <a:t>MCTS</a:t>
            </a:r>
            <a:r>
              <a:rPr kumimoji="1" lang="zh-CN" altLang="en-US" sz="1350" dirty="0">
                <a:solidFill>
                  <a:prstClr val="black"/>
                </a:solidFill>
                <a:latin typeface="+mn-ea"/>
                <a:ea typeface="+mn-ea"/>
              </a:rPr>
              <a:t>）将以上两个步骤联系起来，判断最佳落子策略。策略⽹络⽤于缩⼩搜索空间，给出可能的好棋步，⽽价值⽹络⽤于评估在各种棋步后的棋局状态。</a:t>
            </a:r>
            <a:endParaRPr kumimoji="1" lang="en-US" altLang="zh-CN" sz="1350" dirty="0">
              <a:solidFill>
                <a:prstClr val="black"/>
              </a:solidFill>
              <a:latin typeface="+mn-ea"/>
              <a:ea typeface="+mn-ea"/>
            </a:endParaRPr>
          </a:p>
        </p:txBody>
      </p:sp>
      <p:pic>
        <p:nvPicPr>
          <p:cNvPr id="5" name="图片 4"/>
          <p:cNvPicPr>
            <a:picLocks noChangeAspect="1"/>
          </p:cNvPicPr>
          <p:nvPr/>
        </p:nvPicPr>
        <p:blipFill>
          <a:blip r:embed="rId2"/>
          <a:stretch>
            <a:fillRect/>
          </a:stretch>
        </p:blipFill>
        <p:spPr>
          <a:xfrm>
            <a:off x="1192959" y="1995686"/>
            <a:ext cx="6836350" cy="2270449"/>
          </a:xfrm>
          <a:prstGeom prst="rect">
            <a:avLst/>
          </a:prstGeom>
        </p:spPr>
      </p:pic>
      <p:sp>
        <p:nvSpPr>
          <p:cNvPr id="7" name="文本框 6"/>
          <p:cNvSpPr txBox="1"/>
          <p:nvPr/>
        </p:nvSpPr>
        <p:spPr>
          <a:xfrm>
            <a:off x="5850444" y="4418216"/>
            <a:ext cx="2201357" cy="300082"/>
          </a:xfrm>
          <a:prstGeom prst="rect">
            <a:avLst/>
          </a:prstGeom>
          <a:noFill/>
        </p:spPr>
        <p:txBody>
          <a:bodyPr wrap="square" rtlCol="0">
            <a:spAutoFit/>
          </a:bodyPr>
          <a:lstStyle/>
          <a:p>
            <a:pPr defTabSz="685800" fontAlgn="auto">
              <a:spcBef>
                <a:spcPts val="0"/>
              </a:spcBef>
              <a:spcAft>
                <a:spcPts val="0"/>
              </a:spcAft>
            </a:pPr>
            <a:r>
              <a:rPr lang="zh-CN" altLang="en-US" sz="1350" dirty="0">
                <a:solidFill>
                  <a:prstClr val="black"/>
                </a:solidFill>
                <a:latin typeface="+mn-ea"/>
                <a:ea typeface="+mn-ea"/>
              </a:rPr>
              <a:t>选择访问次数最大的策略</a:t>
            </a:r>
            <a:r>
              <a:rPr lang="en-US" altLang="zh-CN" sz="1350">
                <a:solidFill>
                  <a:prstClr val="black"/>
                </a:solidFill>
                <a:latin typeface="+mn-ea"/>
                <a:ea typeface="+mn-ea"/>
              </a:rPr>
              <a:t>a</a:t>
            </a:r>
            <a:endParaRPr lang="zh-CN" altLang="en-US" sz="1350" dirty="0">
              <a:solidFill>
                <a:prstClr val="black"/>
              </a:solidFill>
              <a:latin typeface="+mn-ea"/>
              <a:ea typeface="+mn-ea"/>
            </a:endParaRPr>
          </a:p>
        </p:txBody>
      </p:sp>
      <p:sp>
        <p:nvSpPr>
          <p:cNvPr id="8" name="圆角矩形 7"/>
          <p:cNvSpPr/>
          <p:nvPr/>
        </p:nvSpPr>
        <p:spPr>
          <a:xfrm>
            <a:off x="2929727" y="3245488"/>
            <a:ext cx="682117" cy="28364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cxnSp>
        <p:nvCxnSpPr>
          <p:cNvPr id="9" name="直接箭头连接符 8"/>
          <p:cNvCxnSpPr/>
          <p:nvPr/>
        </p:nvCxnSpPr>
        <p:spPr>
          <a:xfrm>
            <a:off x="2993460" y="3536273"/>
            <a:ext cx="0" cy="452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216583" y="3996497"/>
            <a:ext cx="1553754" cy="507831"/>
          </a:xfrm>
          <a:prstGeom prst="rect">
            <a:avLst/>
          </a:prstGeom>
          <a:noFill/>
        </p:spPr>
        <p:txBody>
          <a:bodyPr wrap="square" rtlCol="0">
            <a:spAutoFit/>
          </a:bodyPr>
          <a:lstStyle/>
          <a:p>
            <a:pPr defTabSz="685800" fontAlgn="auto">
              <a:spcBef>
                <a:spcPts val="0"/>
              </a:spcBef>
              <a:spcAft>
                <a:spcPts val="0"/>
              </a:spcAft>
            </a:pPr>
            <a:r>
              <a:rPr lang="en-US" altLang="zh-CN" sz="1350" dirty="0">
                <a:solidFill>
                  <a:prstClr val="black"/>
                </a:solidFill>
                <a:latin typeface="+mn-ea"/>
                <a:ea typeface="+mn-ea"/>
              </a:rPr>
              <a:t>SL Policy network</a:t>
            </a:r>
            <a:endParaRPr lang="zh-CN" altLang="en-US" sz="1350" dirty="0">
              <a:solidFill>
                <a:prstClr val="black"/>
              </a:solidFill>
              <a:latin typeface="+mn-ea"/>
              <a:ea typeface="+mn-ea"/>
            </a:endParaRPr>
          </a:p>
        </p:txBody>
      </p:sp>
      <p:sp>
        <p:nvSpPr>
          <p:cNvPr id="11" name="圆角矩形 10"/>
          <p:cNvSpPr/>
          <p:nvPr/>
        </p:nvSpPr>
        <p:spPr>
          <a:xfrm>
            <a:off x="4666806" y="3190395"/>
            <a:ext cx="682117" cy="28364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cxnSp>
        <p:nvCxnSpPr>
          <p:cNvPr id="12" name="直接箭头连接符 11"/>
          <p:cNvCxnSpPr/>
          <p:nvPr/>
        </p:nvCxnSpPr>
        <p:spPr>
          <a:xfrm flipH="1">
            <a:off x="4537112" y="3520566"/>
            <a:ext cx="165260" cy="645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35040" y="4259610"/>
            <a:ext cx="1253070" cy="507831"/>
          </a:xfrm>
          <a:prstGeom prst="rect">
            <a:avLst/>
          </a:prstGeom>
          <a:noFill/>
        </p:spPr>
        <p:txBody>
          <a:bodyPr wrap="square" rtlCol="0">
            <a:spAutoFit/>
          </a:bodyPr>
          <a:lstStyle/>
          <a:p>
            <a:pPr defTabSz="685800" fontAlgn="auto">
              <a:spcBef>
                <a:spcPts val="0"/>
              </a:spcBef>
              <a:spcAft>
                <a:spcPts val="0"/>
              </a:spcAft>
            </a:pPr>
            <a:r>
              <a:rPr lang="en-US" altLang="zh-CN" sz="1350" dirty="0">
                <a:solidFill>
                  <a:prstClr val="black"/>
                </a:solidFill>
                <a:latin typeface="+mn-ea"/>
                <a:ea typeface="+mn-ea"/>
              </a:rPr>
              <a:t>Value network</a:t>
            </a:r>
            <a:endParaRPr lang="zh-CN" altLang="en-US" sz="1350" dirty="0">
              <a:solidFill>
                <a:prstClr val="black"/>
              </a:solidFill>
              <a:latin typeface="+mn-ea"/>
              <a:ea typeface="+mn-ea"/>
            </a:endParaRPr>
          </a:p>
        </p:txBody>
      </p:sp>
      <p:sp>
        <p:nvSpPr>
          <p:cNvPr id="3" name="圆角矩形 2"/>
          <p:cNvSpPr/>
          <p:nvPr/>
        </p:nvSpPr>
        <p:spPr>
          <a:xfrm>
            <a:off x="1271379" y="2579096"/>
            <a:ext cx="523702" cy="18080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zh-CN" altLang="en-US" sz="1350">
              <a:solidFill>
                <a:prstClr val="white"/>
              </a:solidFill>
              <a:latin typeface="+mn-ea"/>
            </a:endParaRPr>
          </a:p>
        </p:txBody>
      </p:sp>
      <p:cxnSp>
        <p:nvCxnSpPr>
          <p:cNvPr id="15" name="直接箭头连接符 14"/>
          <p:cNvCxnSpPr/>
          <p:nvPr/>
        </p:nvCxnSpPr>
        <p:spPr>
          <a:xfrm flipH="1">
            <a:off x="1140452" y="2759898"/>
            <a:ext cx="236913" cy="230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89764" y="2968983"/>
            <a:ext cx="877163" cy="300082"/>
          </a:xfrm>
          <a:prstGeom prst="rect">
            <a:avLst/>
          </a:prstGeom>
          <a:noFill/>
        </p:spPr>
        <p:txBody>
          <a:bodyPr wrap="none" rtlCol="0">
            <a:spAutoFit/>
          </a:bodyPr>
          <a:lstStyle/>
          <a:p>
            <a:pPr defTabSz="685800" fontAlgn="auto">
              <a:spcBef>
                <a:spcPts val="0"/>
              </a:spcBef>
              <a:spcAft>
                <a:spcPts val="0"/>
              </a:spcAft>
            </a:pPr>
            <a:r>
              <a:rPr lang="zh-CN" altLang="en-US" sz="1350" dirty="0">
                <a:solidFill>
                  <a:prstClr val="black"/>
                </a:solidFill>
                <a:latin typeface="+mn-ea"/>
                <a:ea typeface="+mn-ea"/>
              </a:rPr>
              <a:t>决策奖励</a:t>
            </a:r>
          </a:p>
        </p:txBody>
      </p:sp>
      <p:grpSp>
        <p:nvGrpSpPr>
          <p:cNvPr id="14" name="组合 13">
            <a:extLst>
              <a:ext uri="{FF2B5EF4-FFF2-40B4-BE49-F238E27FC236}">
                <a16:creationId xmlns:a16="http://schemas.microsoft.com/office/drawing/2014/main" id="{4E663A6B-8968-FA38-68D5-B5B9D9DE4550}"/>
              </a:ext>
            </a:extLst>
          </p:cNvPr>
          <p:cNvGrpSpPr/>
          <p:nvPr/>
        </p:nvGrpSpPr>
        <p:grpSpPr>
          <a:xfrm>
            <a:off x="611560" y="483518"/>
            <a:ext cx="5598290" cy="373451"/>
            <a:chOff x="4099943" y="2819853"/>
            <a:chExt cx="2570275" cy="497934"/>
          </a:xfrm>
        </p:grpSpPr>
        <p:sp>
          <p:nvSpPr>
            <p:cNvPr id="17" name="平行四边形 16">
              <a:extLst>
                <a:ext uri="{FF2B5EF4-FFF2-40B4-BE49-F238E27FC236}">
                  <a16:creationId xmlns:a16="http://schemas.microsoft.com/office/drawing/2014/main" id="{C281BD52-7C74-147D-3E91-821523B708A3}"/>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b="1" dirty="0">
                <a:latin typeface="+mn-ea"/>
              </a:endParaRPr>
            </a:p>
          </p:txBody>
        </p:sp>
        <p:sp>
          <p:nvSpPr>
            <p:cNvPr id="18" name="平行四边形 17">
              <a:extLst>
                <a:ext uri="{FF2B5EF4-FFF2-40B4-BE49-F238E27FC236}">
                  <a16:creationId xmlns:a16="http://schemas.microsoft.com/office/drawing/2014/main" id="{4D0AD1FE-5D9E-0D94-6065-EBB212D0B8BC}"/>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b="1" dirty="0">
                <a:latin typeface="+mn-ea"/>
              </a:endParaRPr>
            </a:p>
          </p:txBody>
        </p:sp>
        <p:sp>
          <p:nvSpPr>
            <p:cNvPr id="19" name="矩形 18">
              <a:extLst>
                <a:ext uri="{FF2B5EF4-FFF2-40B4-BE49-F238E27FC236}">
                  <a16:creationId xmlns:a16="http://schemas.microsoft.com/office/drawing/2014/main" id="{CF6023DF-2DBB-B88B-2ACA-1F6C695F676D}"/>
                </a:ext>
              </a:extLst>
            </p:cNvPr>
            <p:cNvSpPr/>
            <p:nvPr/>
          </p:nvSpPr>
          <p:spPr>
            <a:xfrm>
              <a:off x="4216534" y="2853798"/>
              <a:ext cx="2359684" cy="430886"/>
            </a:xfrm>
            <a:prstGeom prst="rect">
              <a:avLst/>
            </a:prstGeom>
          </p:spPr>
          <p:txBody>
            <a:bodyPr wrap="square">
              <a:spAutoFit/>
            </a:bodyPr>
            <a:lstStyle/>
            <a:p>
              <a:pPr algn="ctr"/>
              <a:r>
                <a:rPr lang="zh-CN" altLang="en-US" sz="1500" b="1" dirty="0">
                  <a:solidFill>
                    <a:srgbClr val="0070C0"/>
                  </a:solidFill>
                  <a:latin typeface="+mn-ea"/>
                  <a:ea typeface="+mn-ea"/>
                  <a:cs typeface="Times New Roman" panose="02020603050405020304" pitchFamily="18" charset="0"/>
                </a:rPr>
                <a:t>案例分析</a:t>
              </a:r>
              <a:r>
                <a:rPr lang="en-US" altLang="zh-CN" sz="1500" b="1" dirty="0">
                  <a:solidFill>
                    <a:srgbClr val="0070C0"/>
                  </a:solidFill>
                  <a:latin typeface="+mn-ea"/>
                  <a:ea typeface="+mn-ea"/>
                  <a:cs typeface="Times New Roman" panose="02020603050405020304" pitchFamily="18" charset="0"/>
                </a:rPr>
                <a:t>——AlphaGo</a:t>
              </a:r>
              <a:endParaRPr lang="zh-CN" altLang="en-US" sz="1500" b="1" dirty="0">
                <a:solidFill>
                  <a:srgbClr val="0070C0"/>
                </a:solidFill>
                <a:latin typeface="+mn-ea"/>
                <a:ea typeface="+mn-ea"/>
                <a:cs typeface="Times New Roman" panose="02020603050405020304" pitchFamily="18" charset="0"/>
              </a:endParaRPr>
            </a:p>
          </p:txBody>
        </p:sp>
      </p:grpSp>
    </p:spTree>
    <p:extLst>
      <p:ext uri="{BB962C8B-B14F-4D97-AF65-F5344CB8AC3E}">
        <p14:creationId xmlns:p14="http://schemas.microsoft.com/office/powerpoint/2010/main" val="625563062"/>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70420" y="474414"/>
            <a:ext cx="3708105" cy="373451"/>
            <a:chOff x="4099943" y="2819853"/>
            <a:chExt cx="2570275"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4" name="平行四边形 3"/>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sz="1050" dirty="0"/>
            </a:p>
          </p:txBody>
        </p:sp>
        <p:sp>
          <p:nvSpPr>
            <p:cNvPr id="5" name="矩形 4"/>
            <p:cNvSpPr/>
            <p:nvPr/>
          </p:nvSpPr>
          <p:spPr>
            <a:xfrm>
              <a:off x="4216534" y="2853798"/>
              <a:ext cx="2359684" cy="430886"/>
            </a:xfrm>
            <a:prstGeom prst="rect">
              <a:avLst/>
            </a:prstGeom>
          </p:spPr>
          <p:txBody>
            <a:bodyPr wrap="square">
              <a:spAutoFit/>
            </a:bodyPr>
            <a:lstStyle/>
            <a:p>
              <a:pPr algn="ctr">
                <a:spcBef>
                  <a:spcPct val="50000"/>
                </a:spcBef>
              </a:pPr>
              <a:r>
                <a:rPr lang="zh-CN" altLang="en-US" sz="1500" b="1" dirty="0">
                  <a:solidFill>
                    <a:schemeClr val="tx1">
                      <a:lumMod val="95000"/>
                      <a:lumOff val="5000"/>
                    </a:schemeClr>
                  </a:solidFill>
                  <a:latin typeface="微软雅黑" panose="020B0503020204020204" pitchFamily="34" charset="-122"/>
                  <a:ea typeface="微软雅黑" panose="020B0503020204020204" pitchFamily="34" charset="-122"/>
                </a:rPr>
                <a:t>人工智能的模型与方法</a:t>
              </a:r>
            </a:p>
          </p:txBody>
        </p:sp>
      </p:grpSp>
      <p:sp>
        <p:nvSpPr>
          <p:cNvPr id="18" name="矩形: 圆角 6">
            <a:extLst>
              <a:ext uri="{FF2B5EF4-FFF2-40B4-BE49-F238E27FC236}">
                <a16:creationId xmlns:a16="http://schemas.microsoft.com/office/drawing/2014/main" id="{B17979E7-611B-467E-81A3-54BF3064D5F2}"/>
              </a:ext>
            </a:extLst>
          </p:cNvPr>
          <p:cNvSpPr/>
          <p:nvPr/>
        </p:nvSpPr>
        <p:spPr>
          <a:xfrm>
            <a:off x="2123728" y="1131590"/>
            <a:ext cx="4392488" cy="360165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8C8EEDAF-310E-4F94-80D9-36FD24991D71}"/>
              </a:ext>
            </a:extLst>
          </p:cNvPr>
          <p:cNvSpPr txBox="1"/>
          <p:nvPr/>
        </p:nvSpPr>
        <p:spPr>
          <a:xfrm>
            <a:off x="2733145" y="1163795"/>
            <a:ext cx="3086519" cy="481350"/>
          </a:xfrm>
          <a:prstGeom prst="rect">
            <a:avLst/>
          </a:prstGeom>
          <a:noFill/>
          <a:ln>
            <a:noFill/>
          </a:ln>
        </p:spPr>
        <p:txBody>
          <a:bodyPr wrap="square" rtlCol="0">
            <a:spAutoFit/>
          </a:bodyPr>
          <a:lstStyle/>
          <a:p>
            <a:pPr marL="214313" indent="-214313" algn="just">
              <a:lnSpc>
                <a:spcPct val="200000"/>
              </a:lnSpc>
              <a:buFont typeface="Wingdings" panose="05000000000000000000" pitchFamily="2" charset="2"/>
              <a:buChar char="u"/>
            </a:pPr>
            <a:r>
              <a:rPr lang="zh-CN"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以符号主义为核心的逻辑推理</a:t>
            </a:r>
            <a:endParaRPr lang="en-US"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3" name="矩形 22">
            <a:extLst>
              <a:ext uri="{FF2B5EF4-FFF2-40B4-BE49-F238E27FC236}">
                <a16:creationId xmlns:a16="http://schemas.microsoft.com/office/drawing/2014/main" id="{FA4A1C13-C289-4C29-95EE-3F4BC7CB8DF3}"/>
              </a:ext>
            </a:extLst>
          </p:cNvPr>
          <p:cNvSpPr/>
          <p:nvPr/>
        </p:nvSpPr>
        <p:spPr>
          <a:xfrm>
            <a:off x="2733146" y="1245907"/>
            <a:ext cx="2805275" cy="374165"/>
          </a:xfrm>
          <a:prstGeom prst="rect">
            <a:avLst/>
          </a:prstGeom>
          <a:noFill/>
          <a:ln w="19050">
            <a:solidFill>
              <a:srgbClr val="81C7C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9" name="文本框 28">
            <a:extLst>
              <a:ext uri="{FF2B5EF4-FFF2-40B4-BE49-F238E27FC236}">
                <a16:creationId xmlns:a16="http://schemas.microsoft.com/office/drawing/2014/main" id="{0CE0D93B-A7AA-4FEF-A27A-25A3C6892ABD}"/>
              </a:ext>
            </a:extLst>
          </p:cNvPr>
          <p:cNvSpPr txBox="1"/>
          <p:nvPr/>
        </p:nvSpPr>
        <p:spPr>
          <a:xfrm>
            <a:off x="2704248" y="1846535"/>
            <a:ext cx="3086519" cy="553998"/>
          </a:xfrm>
          <a:prstGeom prst="rect">
            <a:avLst/>
          </a:prstGeom>
          <a:noFill/>
          <a:ln>
            <a:noFill/>
          </a:ln>
        </p:spPr>
        <p:txBody>
          <a:bodyPr wrap="square" rtlCol="0">
            <a:spAutoFit/>
          </a:bodyPr>
          <a:lstStyle/>
          <a:p>
            <a:pPr marL="214313" indent="-214313" algn="just">
              <a:lnSpc>
                <a:spcPct val="200000"/>
              </a:lnSpc>
              <a:buFont typeface="Wingdings" panose="05000000000000000000" pitchFamily="2" charset="2"/>
              <a:buChar char="u"/>
            </a:pPr>
            <a:r>
              <a:rPr lang="zh-CN"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以问题求解为核心的探寻搜索</a:t>
            </a:r>
            <a:endParaRPr lang="en-US"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 name="矩形 29">
            <a:extLst>
              <a:ext uri="{FF2B5EF4-FFF2-40B4-BE49-F238E27FC236}">
                <a16:creationId xmlns:a16="http://schemas.microsoft.com/office/drawing/2014/main" id="{D4F478B2-8C84-44D5-89D6-123183BD759B}"/>
              </a:ext>
            </a:extLst>
          </p:cNvPr>
          <p:cNvSpPr/>
          <p:nvPr/>
        </p:nvSpPr>
        <p:spPr>
          <a:xfrm>
            <a:off x="2733831" y="1972676"/>
            <a:ext cx="2805275" cy="374165"/>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 name="文本框 30">
            <a:extLst>
              <a:ext uri="{FF2B5EF4-FFF2-40B4-BE49-F238E27FC236}">
                <a16:creationId xmlns:a16="http://schemas.microsoft.com/office/drawing/2014/main" id="{718EA4F3-0AD7-440C-82B7-B3E8620F1FAF}"/>
              </a:ext>
            </a:extLst>
          </p:cNvPr>
          <p:cNvSpPr txBox="1"/>
          <p:nvPr/>
        </p:nvSpPr>
        <p:spPr>
          <a:xfrm>
            <a:off x="2733145" y="2655417"/>
            <a:ext cx="3086519" cy="553998"/>
          </a:xfrm>
          <a:prstGeom prst="rect">
            <a:avLst/>
          </a:prstGeom>
          <a:noFill/>
          <a:ln>
            <a:noFill/>
          </a:ln>
        </p:spPr>
        <p:txBody>
          <a:bodyPr wrap="square" rtlCol="0">
            <a:spAutoFit/>
          </a:bodyPr>
          <a:lstStyle/>
          <a:p>
            <a:pPr marL="214313" indent="-214313" algn="just">
              <a:lnSpc>
                <a:spcPct val="200000"/>
              </a:lnSpc>
              <a:buFont typeface="Wingdings" panose="05000000000000000000" pitchFamily="2" charset="2"/>
              <a:buChar char="u"/>
            </a:pPr>
            <a:r>
              <a:rPr lang="zh-CN"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以数据驱动为核心的机器学习</a:t>
            </a:r>
            <a:endParaRPr lang="en-US"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2" name="矩形 31">
            <a:extLst>
              <a:ext uri="{FF2B5EF4-FFF2-40B4-BE49-F238E27FC236}">
                <a16:creationId xmlns:a16="http://schemas.microsoft.com/office/drawing/2014/main" id="{D71FC157-7A3F-4C2A-AB95-8AB755E2B908}"/>
              </a:ext>
            </a:extLst>
          </p:cNvPr>
          <p:cNvSpPr/>
          <p:nvPr/>
        </p:nvSpPr>
        <p:spPr>
          <a:xfrm>
            <a:off x="2733146" y="2737529"/>
            <a:ext cx="2805275" cy="374165"/>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 name="文本框 32">
            <a:extLst>
              <a:ext uri="{FF2B5EF4-FFF2-40B4-BE49-F238E27FC236}">
                <a16:creationId xmlns:a16="http://schemas.microsoft.com/office/drawing/2014/main" id="{BCE6CEC3-74AF-48C7-8793-8F7609F15893}"/>
              </a:ext>
            </a:extLst>
          </p:cNvPr>
          <p:cNvSpPr txBox="1"/>
          <p:nvPr/>
        </p:nvSpPr>
        <p:spPr>
          <a:xfrm>
            <a:off x="2766863" y="3382187"/>
            <a:ext cx="3086519" cy="553998"/>
          </a:xfrm>
          <a:prstGeom prst="rect">
            <a:avLst/>
          </a:prstGeom>
          <a:noFill/>
          <a:ln>
            <a:noFill/>
          </a:ln>
        </p:spPr>
        <p:txBody>
          <a:bodyPr wrap="square" rtlCol="0">
            <a:spAutoFit/>
          </a:bodyPr>
          <a:lstStyle/>
          <a:p>
            <a:pPr marL="214313" indent="-214313" algn="just">
              <a:lnSpc>
                <a:spcPct val="200000"/>
              </a:lnSpc>
              <a:buFont typeface="Wingdings" panose="05000000000000000000" pitchFamily="2" charset="2"/>
              <a:buChar char="u"/>
            </a:pPr>
            <a:r>
              <a:rPr lang="zh-CN"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以行为主义为核心的强化学习</a:t>
            </a:r>
            <a:endParaRPr lang="en-US"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4" name="矩形 33">
            <a:extLst>
              <a:ext uri="{FF2B5EF4-FFF2-40B4-BE49-F238E27FC236}">
                <a16:creationId xmlns:a16="http://schemas.microsoft.com/office/drawing/2014/main" id="{B1B1331A-ABB3-4DAE-A3B7-4A668E412766}"/>
              </a:ext>
            </a:extLst>
          </p:cNvPr>
          <p:cNvSpPr/>
          <p:nvPr/>
        </p:nvSpPr>
        <p:spPr>
          <a:xfrm>
            <a:off x="2766863" y="3464299"/>
            <a:ext cx="2805275" cy="374165"/>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5" name="文本框 34">
            <a:extLst>
              <a:ext uri="{FF2B5EF4-FFF2-40B4-BE49-F238E27FC236}">
                <a16:creationId xmlns:a16="http://schemas.microsoft.com/office/drawing/2014/main" id="{58D8934E-E6E9-4DEE-89AF-C807EFC35E97}"/>
              </a:ext>
            </a:extLst>
          </p:cNvPr>
          <p:cNvSpPr txBox="1"/>
          <p:nvPr/>
        </p:nvSpPr>
        <p:spPr>
          <a:xfrm>
            <a:off x="2733145" y="4021963"/>
            <a:ext cx="3000129" cy="553998"/>
          </a:xfrm>
          <a:prstGeom prst="rect">
            <a:avLst/>
          </a:prstGeom>
          <a:noFill/>
          <a:ln>
            <a:noFill/>
          </a:ln>
        </p:spPr>
        <p:txBody>
          <a:bodyPr wrap="square" rtlCol="0">
            <a:spAutoFit/>
          </a:bodyPr>
          <a:lstStyle/>
          <a:p>
            <a:pPr marL="214313" indent="-214313" algn="just">
              <a:lnSpc>
                <a:spcPct val="200000"/>
              </a:lnSpc>
              <a:buFont typeface="Wingdings" panose="05000000000000000000" pitchFamily="2" charset="2"/>
              <a:buChar char="u"/>
            </a:pPr>
            <a:r>
              <a:rPr lang="zh-CN"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以博弈对抗为核心的决策智能</a:t>
            </a:r>
            <a:endParaRPr lang="en-US" altLang="zh-CN" sz="1500"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7" name="矩形 36">
            <a:extLst>
              <a:ext uri="{FF2B5EF4-FFF2-40B4-BE49-F238E27FC236}">
                <a16:creationId xmlns:a16="http://schemas.microsoft.com/office/drawing/2014/main" id="{54D905CE-8A1F-4FFD-8051-32117BA3A287}"/>
              </a:ext>
            </a:extLst>
          </p:cNvPr>
          <p:cNvSpPr/>
          <p:nvPr/>
        </p:nvSpPr>
        <p:spPr>
          <a:xfrm>
            <a:off x="2756362" y="4100569"/>
            <a:ext cx="2815777" cy="391776"/>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Tree>
    <p:extLst>
      <p:ext uri="{BB962C8B-B14F-4D97-AF65-F5344CB8AC3E}">
        <p14:creationId xmlns:p14="http://schemas.microsoft.com/office/powerpoint/2010/main" val="34092066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 name="表格 118">
            <a:extLst>
              <a:ext uri="{FF2B5EF4-FFF2-40B4-BE49-F238E27FC236}">
                <a16:creationId xmlns:a16="http://schemas.microsoft.com/office/drawing/2014/main" id="{4AD77ECA-65C5-4933-BC61-E5B08AE20B40}"/>
              </a:ext>
            </a:extLst>
          </p:cNvPr>
          <p:cNvGraphicFramePr>
            <a:graphicFrameLocks noGrp="1"/>
          </p:cNvGraphicFramePr>
          <p:nvPr>
            <p:extLst>
              <p:ext uri="{D42A27DB-BD31-4B8C-83A1-F6EECF244321}">
                <p14:modId xmlns:p14="http://schemas.microsoft.com/office/powerpoint/2010/main" val="2809102859"/>
              </p:ext>
            </p:extLst>
          </p:nvPr>
        </p:nvGraphicFramePr>
        <p:xfrm>
          <a:off x="263416" y="818568"/>
          <a:ext cx="8730428" cy="4206312"/>
        </p:xfrm>
        <a:graphic>
          <a:graphicData uri="http://schemas.openxmlformats.org/drawingml/2006/table">
            <a:tbl>
              <a:tblPr firstRow="1" firstCol="1" bandRow="1">
                <a:tableStyleId>{5C22544A-7EE6-4342-B048-85BDC9FD1C3A}</a:tableStyleId>
              </a:tblPr>
              <a:tblGrid>
                <a:gridCol w="2298228">
                  <a:extLst>
                    <a:ext uri="{9D8B030D-6E8A-4147-A177-3AD203B41FA5}">
                      <a16:colId xmlns:a16="http://schemas.microsoft.com/office/drawing/2014/main" val="2065257137"/>
                    </a:ext>
                  </a:extLst>
                </a:gridCol>
                <a:gridCol w="6432200">
                  <a:extLst>
                    <a:ext uri="{9D8B030D-6E8A-4147-A177-3AD203B41FA5}">
                      <a16:colId xmlns:a16="http://schemas.microsoft.com/office/drawing/2014/main" val="2358511980"/>
                    </a:ext>
                  </a:extLst>
                </a:gridCol>
              </a:tblGrid>
              <a:tr h="508938">
                <a:tc>
                  <a:txBody>
                    <a:bodyPr/>
                    <a:lstStyle/>
                    <a:p>
                      <a:pPr algn="ctr">
                        <a:lnSpc>
                          <a:spcPct val="150000"/>
                        </a:lnSpc>
                        <a:spcAft>
                          <a:spcPts val="0"/>
                        </a:spcAft>
                      </a:pPr>
                      <a:r>
                        <a:rPr lang="zh-CN" sz="1200" kern="100" dirty="0">
                          <a:effectLst/>
                          <a:latin typeface="Times New Roman" panose="02020603050405020304" pitchFamily="18" charset="0"/>
                          <a:ea typeface="微软雅黑" panose="020B0503020204020204" pitchFamily="34" charset="-122"/>
                          <a:cs typeface="Times New Roman" panose="02020603050405020304" pitchFamily="18" charset="0"/>
                        </a:rPr>
                        <a:t>模块</a:t>
                      </a:r>
                    </a:p>
                  </a:txBody>
                  <a:tcPr marL="51435" marR="51435" marT="0" marB="0" anchor="ctr">
                    <a:solidFill>
                      <a:srgbClr val="182B6C"/>
                    </a:solidFill>
                  </a:tcPr>
                </a:tc>
                <a:tc>
                  <a:txBody>
                    <a:bodyPr/>
                    <a:lstStyle/>
                    <a:p>
                      <a:pPr algn="ctr">
                        <a:lnSpc>
                          <a:spcPct val="150000"/>
                        </a:lnSpc>
                        <a:spcAft>
                          <a:spcPts val="0"/>
                        </a:spcAft>
                      </a:pPr>
                      <a:r>
                        <a:rPr lang="zh-CN" altLang="en-US" sz="1200" kern="100" dirty="0">
                          <a:effectLst/>
                          <a:latin typeface="Times New Roman" panose="02020603050405020304" pitchFamily="18" charset="0"/>
                          <a:ea typeface="微软雅黑" panose="020B0503020204020204" pitchFamily="34" charset="-122"/>
                          <a:cs typeface="Times New Roman" panose="02020603050405020304" pitchFamily="18" charset="0"/>
                        </a:rPr>
                        <a:t>大纲</a:t>
                      </a:r>
                      <a:endParaRPr lang="zh-CN" sz="12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rgbClr val="182B6C"/>
                    </a:solidFill>
                  </a:tcPr>
                </a:tc>
                <a:extLst>
                  <a:ext uri="{0D108BD9-81ED-4DB2-BD59-A6C34878D82A}">
                    <a16:rowId xmlns:a16="http://schemas.microsoft.com/office/drawing/2014/main" val="2345055042"/>
                  </a:ext>
                </a:extLst>
              </a:tr>
              <a:tr h="659443">
                <a:tc>
                  <a:txBody>
                    <a:bodyPr/>
                    <a:lstStyle/>
                    <a:p>
                      <a:pPr algn="l">
                        <a:lnSpc>
                          <a:spcPct val="114000"/>
                        </a:lnSpc>
                        <a:spcAft>
                          <a:spcPts val="0"/>
                        </a:spcAft>
                      </a:pP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模块</a:t>
                      </a:r>
                      <a:r>
                        <a:rPr lang="en-US"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：人工智能发展历史</a:t>
                      </a:r>
                    </a:p>
                  </a:txBody>
                  <a:tcPr marL="51435" marR="51435" marT="0" marB="0" anchor="ctr">
                    <a:solidFill>
                      <a:schemeClr val="bg1">
                        <a:lumMod val="95000"/>
                      </a:schemeClr>
                    </a:solidFill>
                  </a:tcPr>
                </a:tc>
                <a:tc>
                  <a:txBody>
                    <a:bodyPr/>
                    <a:lstStyle/>
                    <a:p>
                      <a:pPr algn="l">
                        <a:lnSpc>
                          <a:spcPct val="114000"/>
                        </a:lnSpc>
                        <a:spcAft>
                          <a:spcPts val="0"/>
                        </a:spcAft>
                      </a:pP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图灵机</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模型和图灵测试、人工智能主流算法（符号主义、连接主义和行为主义）</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国内外</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人工智能</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发展重要事件</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kern="100" dirty="0" smtClean="0">
                          <a:solidFill>
                            <a:srgbClr val="FF0000"/>
                          </a:solidFill>
                          <a:latin typeface="Times New Roman" panose="02020603050405020304" pitchFamily="18" charset="0"/>
                          <a:ea typeface="+mn-ea"/>
                          <a:cs typeface="Times New Roman" panose="02020603050405020304" pitchFamily="18" charset="0"/>
                        </a:rPr>
                        <a:t>第</a:t>
                      </a:r>
                      <a:r>
                        <a:rPr lang="en-US" altLang="zh-CN" sz="1200" kern="100" dirty="0" smtClean="0">
                          <a:solidFill>
                            <a:srgbClr val="FF0000"/>
                          </a:solidFill>
                          <a:latin typeface="Times New Roman" panose="02020603050405020304" pitchFamily="18" charset="0"/>
                          <a:ea typeface="+mn-ea"/>
                          <a:cs typeface="Times New Roman" panose="02020603050405020304" pitchFamily="18" charset="0"/>
                        </a:rPr>
                        <a:t>1</a:t>
                      </a:r>
                      <a:r>
                        <a:rPr lang="zh-CN" altLang="en-US" sz="1200" kern="100" dirty="0" smtClean="0">
                          <a:solidFill>
                            <a:srgbClr val="FF0000"/>
                          </a:solidFill>
                          <a:latin typeface="Times New Roman" panose="02020603050405020304" pitchFamily="18" charset="0"/>
                          <a:ea typeface="+mn-ea"/>
                          <a:cs typeface="Times New Roman" panose="02020603050405020304" pitchFamily="18" charset="0"/>
                        </a:rPr>
                        <a:t>章</a:t>
                      </a:r>
                      <a:endParaRPr lang="zh-CN" altLang="en-US"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extLst>
                  <a:ext uri="{0D108BD9-81ED-4DB2-BD59-A6C34878D82A}">
                    <a16:rowId xmlns:a16="http://schemas.microsoft.com/office/drawing/2014/main" val="1788699111"/>
                  </a:ext>
                </a:extLst>
              </a:tr>
              <a:tr h="452237">
                <a:tc>
                  <a:txBody>
                    <a:bodyPr/>
                    <a:lstStyle/>
                    <a:p>
                      <a:pPr algn="l">
                        <a:lnSpc>
                          <a:spcPct val="114000"/>
                        </a:lnSpc>
                        <a:spcAft>
                          <a:spcPts val="0"/>
                        </a:spcAft>
                      </a:pP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模块</a:t>
                      </a:r>
                      <a:r>
                        <a:rPr lang="en-US"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：知识表达与推理</a:t>
                      </a:r>
                    </a:p>
                  </a:txBody>
                  <a:tcPr marL="51435" marR="51435" marT="0" marB="0" anchor="ctr">
                    <a:solidFill>
                      <a:schemeClr val="bg1">
                        <a:lumMod val="95000"/>
                      </a:schemeClr>
                    </a:solidFill>
                  </a:tcPr>
                </a:tc>
                <a:tc>
                  <a:txBody>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知识表示</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方法</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命题逻辑、</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一阶谓词逻辑推理</a:t>
                      </a: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、贝叶斯网络。</a:t>
                      </a:r>
                      <a:r>
                        <a:rPr lang="en-US" altLang="zh-CN"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2.1-2.3, 2.5.1</a:t>
                      </a:r>
                      <a:endParaRPr lang="zh-CN" altLang="zh-CN" sz="12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extLst>
                  <a:ext uri="{0D108BD9-81ED-4DB2-BD59-A6C34878D82A}">
                    <a16:rowId xmlns:a16="http://schemas.microsoft.com/office/drawing/2014/main" val="2873094434"/>
                  </a:ext>
                </a:extLst>
              </a:tr>
              <a:tr h="771901">
                <a:tc>
                  <a:txBody>
                    <a:bodyPr/>
                    <a:lstStyle/>
                    <a:p>
                      <a:pPr algn="l">
                        <a:lnSpc>
                          <a:spcPct val="114000"/>
                        </a:lnSpc>
                        <a:spcAft>
                          <a:spcPts val="0"/>
                        </a:spcAft>
                      </a:pP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模块</a:t>
                      </a:r>
                      <a:r>
                        <a:rPr lang="en-US"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：搜索探寻与问题求解</a:t>
                      </a:r>
                    </a:p>
                  </a:txBody>
                  <a:tcPr marL="51435" marR="51435" marT="0" marB="0" anchor="ctr">
                    <a:solidFill>
                      <a:schemeClr val="bg1">
                        <a:lumMod val="95000"/>
                      </a:schemeClr>
                    </a:solidFill>
                  </a:tcPr>
                </a:tc>
                <a:tc>
                  <a:txBody>
                    <a:bodyPr/>
                    <a:lstStyle/>
                    <a:p>
                      <a:pPr algn="l">
                        <a:lnSpc>
                          <a:spcPct val="114000"/>
                        </a:lnSpc>
                        <a:spcAft>
                          <a:spcPts val="0"/>
                        </a:spcAft>
                      </a:pP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贪婪</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最佳优先搜索、启发式搜索</a:t>
                      </a:r>
                      <a:r>
                        <a:rPr lang="en-US"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搜索、搜索算法的性能</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分析</a:t>
                      </a:r>
                      <a:endPar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gn="l">
                        <a:lnSpc>
                          <a:spcPct val="114000"/>
                        </a:lnSpc>
                        <a:spcAft>
                          <a:spcPts val="0"/>
                        </a:spcAft>
                      </a:pP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Minimax</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搜索、</a:t>
                      </a:r>
                      <a:r>
                        <a:rPr lang="en-US"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Alpha-Beta</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剪枝</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搜索。</a:t>
                      </a: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3.1-3.5</a:t>
                      </a:r>
                      <a:endParaRPr lang="zh-CN" altLang="en-US" sz="12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extLst>
                  <a:ext uri="{0D108BD9-81ED-4DB2-BD59-A6C34878D82A}">
                    <a16:rowId xmlns:a16="http://schemas.microsoft.com/office/drawing/2014/main" val="3263063873"/>
                  </a:ext>
                </a:extLst>
              </a:tr>
              <a:tr h="494907">
                <a:tc>
                  <a:txBody>
                    <a:bodyPr/>
                    <a:lstStyle/>
                    <a:p>
                      <a:pPr algn="l">
                        <a:lnSpc>
                          <a:spcPct val="114000"/>
                        </a:lnSpc>
                        <a:spcAft>
                          <a:spcPts val="0"/>
                        </a:spcAft>
                      </a:pPr>
                      <a:r>
                        <a:rPr lang="zh-CN"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模块</a:t>
                      </a:r>
                      <a:r>
                        <a:rPr lang="en-US"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4</a:t>
                      </a:r>
                      <a:r>
                        <a:rPr lang="zh-CN"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：机器学习</a:t>
                      </a:r>
                      <a:endPar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tc>
                  <a:txBody>
                    <a:bodyPr/>
                    <a:lstStyle/>
                    <a:p>
                      <a:pPr algn="l">
                        <a:lnSpc>
                          <a:spcPct val="114000"/>
                        </a:lnSpc>
                        <a:spcAft>
                          <a:spcPts val="0"/>
                        </a:spcAft>
                      </a:pP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机器学习</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原理</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线性回归</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模型</a:t>
                      </a:r>
                      <a:r>
                        <a:rPr lang="zh-CN" altLang="en-US" sz="1200" kern="100" dirty="0" smtClean="0">
                          <a:solidFill>
                            <a:schemeClr val="dk1"/>
                          </a:solidFill>
                          <a:latin typeface="Times New Roman" panose="02020603050405020304" pitchFamily="18" charset="0"/>
                          <a:ea typeface="+mn-ea"/>
                          <a:cs typeface="Times New Roman" panose="02020603050405020304" pitchFamily="18" charset="0"/>
                        </a:rPr>
                        <a:t>、决策树算法</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、有监督、</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无</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监督</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kern="100" dirty="0" smtClean="0">
                          <a:solidFill>
                            <a:schemeClr val="dk1"/>
                          </a:solidFill>
                          <a:latin typeface="Times New Roman" panose="02020603050405020304" pitchFamily="18" charset="0"/>
                          <a:ea typeface="+mn-ea"/>
                          <a:cs typeface="Times New Roman" panose="02020603050405020304" pitchFamily="18" charset="0"/>
                        </a:rPr>
                        <a:t>聚类</a:t>
                      </a:r>
                      <a:r>
                        <a:rPr lang="zh-CN" altLang="en-US" sz="1200" kern="100" dirty="0" smtClean="0">
                          <a:solidFill>
                            <a:schemeClr val="dk1"/>
                          </a:solidFill>
                          <a:latin typeface="Times New Roman" panose="02020603050405020304" pitchFamily="18" charset="0"/>
                          <a:ea typeface="+mn-ea"/>
                          <a:cs typeface="Times New Roman" panose="02020603050405020304" pitchFamily="18" charset="0"/>
                        </a:rPr>
                        <a:t>降维</a:t>
                      </a:r>
                      <a:r>
                        <a:rPr lang="zh-CN" altLang="zh-CN" sz="1200" kern="100" dirty="0" smtClean="0">
                          <a:solidFill>
                            <a:schemeClr val="dk1"/>
                          </a:solidFill>
                          <a:latin typeface="Times New Roman" panose="02020603050405020304" pitchFamily="18" charset="0"/>
                          <a:ea typeface="+mn-ea"/>
                          <a:cs typeface="Times New Roman" panose="02020603050405020304" pitchFamily="18" charset="0"/>
                        </a:rPr>
                        <a:t>、</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遗传算法。</a:t>
                      </a:r>
                      <a:r>
                        <a:rPr lang="zh-CN" altLang="en-US"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章</a:t>
                      </a:r>
                      <a:endParaRPr lang="zh-CN" altLang="en-US" sz="12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extLst>
                  <a:ext uri="{0D108BD9-81ED-4DB2-BD59-A6C34878D82A}">
                    <a16:rowId xmlns:a16="http://schemas.microsoft.com/office/drawing/2014/main" val="3505470982"/>
                  </a:ext>
                </a:extLst>
              </a:tr>
              <a:tr h="659443">
                <a:tc>
                  <a:txBody>
                    <a:bodyPr/>
                    <a:lstStyle/>
                    <a:p>
                      <a:pPr algn="l">
                        <a:lnSpc>
                          <a:spcPct val="114000"/>
                        </a:lnSpc>
                        <a:spcAft>
                          <a:spcPts val="0"/>
                        </a:spcAft>
                      </a:pP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模块</a:t>
                      </a:r>
                      <a:r>
                        <a:rPr lang="en-US"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5</a:t>
                      </a:r>
                      <a:r>
                        <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：深度学习</a:t>
                      </a:r>
                    </a:p>
                  </a:txBody>
                  <a:tcPr marL="51435" marR="51435" marT="0" marB="0" anchor="ctr">
                    <a:solidFill>
                      <a:schemeClr val="bg1">
                        <a:lumMod val="95000"/>
                      </a:schemeClr>
                    </a:solidFill>
                  </a:tcPr>
                </a:tc>
                <a:tc>
                  <a:txBody>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感知</a:t>
                      </a:r>
                      <a:r>
                        <a:rPr lang="zh-CN" altLang="zh-CN" sz="1200" kern="1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器模型、反向传播算法、卷积神经网络、循环神经网络、注意力</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机制</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、正则化与优化</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5.1-5.7</a:t>
                      </a:r>
                      <a:endParaRPr lang="zh-CN" altLang="zh-CN" sz="12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extLst>
                  <a:ext uri="{0D108BD9-81ED-4DB2-BD59-A6C34878D82A}">
                    <a16:rowId xmlns:a16="http://schemas.microsoft.com/office/drawing/2014/main" val="718987779"/>
                  </a:ext>
                </a:extLst>
              </a:tr>
              <a:tr h="659443">
                <a:tc>
                  <a:txBody>
                    <a:bodyPr/>
                    <a:lstStyle/>
                    <a:p>
                      <a:pPr algn="l">
                        <a:lnSpc>
                          <a:spcPct val="114000"/>
                        </a:lnSpc>
                        <a:spcAft>
                          <a:spcPts val="0"/>
                        </a:spcAft>
                      </a:pPr>
                      <a:r>
                        <a:rPr lang="zh-CN"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模块</a:t>
                      </a:r>
                      <a:r>
                        <a:rPr lang="en-US"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6</a:t>
                      </a:r>
                      <a:r>
                        <a:rPr lang="zh-CN"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0" kern="100" dirty="0" smtClean="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强化学习</a:t>
                      </a:r>
                      <a:endParaRPr lang="zh-CN" sz="1200" b="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tc>
                  <a:txBody>
                    <a:bodyPr/>
                    <a:lstStyle/>
                    <a:p>
                      <a:pPr algn="l">
                        <a:lnSpc>
                          <a:spcPct val="114000"/>
                        </a:lnSpc>
                        <a:spcAft>
                          <a:spcPts val="0"/>
                        </a:spcAft>
                      </a:pPr>
                      <a:r>
                        <a:rPr lang="en-US"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强化学习的数学基础、问题定义和基本算法</a:t>
                      </a:r>
                      <a:r>
                        <a:rPr lang="zh-CN" altLang="zh-CN" sz="1200" kern="100" dirty="0" smtClean="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6.1-6.2, 6.4.1</a:t>
                      </a:r>
                      <a:endParaRPr lang="zh-CN" altLang="en-US" sz="12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51435" marR="51435" marT="0" marB="0" anchor="ctr">
                    <a:solidFill>
                      <a:schemeClr val="bg1">
                        <a:lumMod val="95000"/>
                      </a:schemeClr>
                    </a:solidFill>
                  </a:tcPr>
                </a:tc>
                <a:extLst>
                  <a:ext uri="{0D108BD9-81ED-4DB2-BD59-A6C34878D82A}">
                    <a16:rowId xmlns:a16="http://schemas.microsoft.com/office/drawing/2014/main" val="233282342"/>
                  </a:ext>
                </a:extLst>
              </a:tr>
            </a:tbl>
          </a:graphicData>
        </a:graphic>
      </p:graphicFrame>
      <p:sp>
        <p:nvSpPr>
          <p:cNvPr id="120" name="文本框 119">
            <a:extLst>
              <a:ext uri="{FF2B5EF4-FFF2-40B4-BE49-F238E27FC236}">
                <a16:creationId xmlns:a16="http://schemas.microsoft.com/office/drawing/2014/main" id="{9AB6ACB5-DE79-465C-B1BB-39174DA91FD7}"/>
              </a:ext>
            </a:extLst>
          </p:cNvPr>
          <p:cNvSpPr txBox="1"/>
          <p:nvPr/>
        </p:nvSpPr>
        <p:spPr>
          <a:xfrm>
            <a:off x="105187" y="329467"/>
            <a:ext cx="8191703" cy="438582"/>
          </a:xfrm>
          <a:prstGeom prst="rect">
            <a:avLst/>
          </a:prstGeom>
          <a:noFill/>
        </p:spPr>
        <p:txBody>
          <a:bodyPr wrap="square">
            <a:spAutoFit/>
          </a:bodyPr>
          <a:lstStyle/>
          <a:p>
            <a:pPr indent="200025" algn="just">
              <a:spcAft>
                <a:spcPts val="0"/>
              </a:spcAft>
            </a:pPr>
            <a:r>
              <a:rPr lang="zh-CN" altLang="en-US" sz="2250" kern="100" dirty="0" smtClean="0">
                <a:latin typeface="微软雅黑" panose="020B0503020204020204" pitchFamily="34" charset="-122"/>
                <a:ea typeface="微软雅黑" panose="020B0503020204020204" pitchFamily="34" charset="-122"/>
                <a:cs typeface="Times New Roman" panose="02020603050405020304" pitchFamily="18" charset="0"/>
              </a:rPr>
              <a:t>教学</a:t>
            </a:r>
            <a:r>
              <a:rPr lang="zh-CN" altLang="en-US" sz="2250" kern="100" dirty="0">
                <a:latin typeface="微软雅黑" panose="020B0503020204020204" pitchFamily="34" charset="-122"/>
                <a:ea typeface="微软雅黑" panose="020B0503020204020204" pitchFamily="34" charset="-122"/>
                <a:cs typeface="Times New Roman" panose="02020603050405020304" pitchFamily="18" charset="0"/>
              </a:rPr>
              <a:t>内容</a:t>
            </a:r>
            <a:endParaRPr lang="zh-CN" altLang="zh-CN" sz="225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7278436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2735982" y="1447579"/>
            <a:ext cx="5855963" cy="3610334"/>
          </a:xfrm>
        </p:spPr>
        <p:txBody>
          <a:bodyPr>
            <a:normAutofit fontScale="85000" lnSpcReduction="10000"/>
          </a:bodyPr>
          <a:lstStyle/>
          <a:p>
            <a:pPr marL="0" indent="0">
              <a:lnSpc>
                <a:spcPct val="200000"/>
              </a:lnSpc>
              <a:buNone/>
            </a:pPr>
            <a:r>
              <a:rPr lang="zh-CN" altLang="en-US" sz="3000" dirty="0"/>
              <a:t>我们的目光所及，只是不远的前方，但是可以看到，</a:t>
            </a:r>
            <a:r>
              <a:rPr lang="zh-CN" altLang="en-US" sz="3000" dirty="0">
                <a:solidFill>
                  <a:schemeClr val="tx1">
                    <a:lumMod val="95000"/>
                    <a:lumOff val="5000"/>
                  </a:schemeClr>
                </a:solidFill>
              </a:rPr>
              <a:t>那里有许多工作要做。 </a:t>
            </a:r>
          </a:p>
          <a:p>
            <a:pPr algn="r">
              <a:lnSpc>
                <a:spcPct val="200000"/>
              </a:lnSpc>
              <a:buFontTx/>
              <a:buNone/>
            </a:pPr>
            <a:r>
              <a:rPr lang="en-US" altLang="zh-CN" sz="3000" dirty="0">
                <a:ea typeface="黑体" pitchFamily="49" charset="-122"/>
              </a:rPr>
              <a:t>				</a:t>
            </a:r>
            <a:r>
              <a:rPr lang="en-US" altLang="zh-CN" sz="3000" b="1" dirty="0">
                <a:ea typeface="黑体" pitchFamily="49" charset="-122"/>
              </a:rPr>
              <a:t>Alan Turing</a:t>
            </a:r>
          </a:p>
          <a:p>
            <a:pPr algn="r">
              <a:lnSpc>
                <a:spcPct val="200000"/>
              </a:lnSpc>
              <a:buFontTx/>
              <a:buNone/>
            </a:pPr>
            <a:r>
              <a:rPr lang="en-US" altLang="zh-CN" sz="3000" dirty="0"/>
              <a:t>“</a:t>
            </a:r>
            <a:r>
              <a:rPr lang="zh-CN" altLang="en-US" sz="3000" dirty="0"/>
              <a:t>计算机器与智能</a:t>
            </a:r>
            <a:r>
              <a:rPr lang="en-US" altLang="zh-CN" sz="3000" dirty="0"/>
              <a:t>” (1950)</a:t>
            </a:r>
            <a:endParaRPr lang="en-US" altLang="zh-CN" sz="3000" b="1" dirty="0">
              <a:ea typeface="黑体" pitchFamily="49" charset="-122"/>
            </a:endParaRPr>
          </a:p>
        </p:txBody>
      </p:sp>
      <p:pic>
        <p:nvPicPr>
          <p:cNvPr id="3" name="Picture 11" descr="old01_2">
            <a:extLst>
              <a:ext uri="{FF2B5EF4-FFF2-40B4-BE49-F238E27FC236}">
                <a16:creationId xmlns:a16="http://schemas.microsoft.com/office/drawing/2014/main" id="{9D060D13-47F1-4821-9260-2A1D6F054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4514" y="1694484"/>
            <a:ext cx="1732768" cy="2149509"/>
          </a:xfrm>
          <a:prstGeom prst="rect">
            <a:avLst/>
          </a:prstGeom>
          <a:noFill/>
        </p:spPr>
      </p:pic>
      <p:sp>
        <p:nvSpPr>
          <p:cNvPr id="4" name="标题 1"/>
          <p:cNvSpPr>
            <a:spLocks noGrp="1"/>
          </p:cNvSpPr>
          <p:nvPr>
            <p:ph type="title"/>
          </p:nvPr>
        </p:nvSpPr>
        <p:spPr>
          <a:xfrm>
            <a:off x="323528" y="195486"/>
            <a:ext cx="7886700" cy="994172"/>
          </a:xfrm>
        </p:spPr>
        <p:txBody>
          <a:bodyPr/>
          <a:lstStyle/>
          <a:p>
            <a:r>
              <a:rPr lang="zh-CN" altLang="en-US" b="1" dirty="0" smtClean="0"/>
              <a:t>结束语</a:t>
            </a:r>
            <a:endParaRPr lang="zh-CN" altLang="en-US" b="1" dirty="0"/>
          </a:p>
        </p:txBody>
      </p:sp>
    </p:spTree>
    <p:extLst>
      <p:ext uri="{BB962C8B-B14F-4D97-AF65-F5344CB8AC3E}">
        <p14:creationId xmlns:p14="http://schemas.microsoft.com/office/powerpoint/2010/main" val="2423982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53.37385826771646,&quot;left&quot;:113.8115748031496,&quot;top&quot;:125.55188976377954,&quot;width&quot;:709.0992913385826}"/>
</p:tagLst>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40596</TotalTime>
  <Words>5502</Words>
  <Application>Microsoft Office PowerPoint</Application>
  <PresentationFormat>全屏显示(16:9)</PresentationFormat>
  <Paragraphs>307</Paragraphs>
  <Slides>35</Slides>
  <Notes>27</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35</vt:i4>
      </vt:variant>
    </vt:vector>
  </HeadingPairs>
  <TitlesOfParts>
    <vt:vector size="50" baseType="lpstr">
      <vt:lpstr>黑体</vt:lpstr>
      <vt:lpstr>华文楷体</vt:lpstr>
      <vt:lpstr>楷体</vt:lpstr>
      <vt:lpstr>宋体</vt:lpstr>
      <vt:lpstr>微软雅黑</vt:lpstr>
      <vt:lpstr>微软雅黑</vt:lpstr>
      <vt:lpstr>Arial</vt:lpstr>
      <vt:lpstr>Arial Black</vt:lpstr>
      <vt:lpstr>Cambria Math</vt:lpstr>
      <vt:lpstr>Consolas</vt:lpstr>
      <vt:lpstr>Times New Roman</vt:lpstr>
      <vt:lpstr>Trebuchet MS</vt:lpstr>
      <vt:lpstr>Verdana</vt:lpstr>
      <vt:lpstr>Wingdings</vt:lpstr>
      <vt:lpstr>默认设计模板</vt:lpstr>
      <vt:lpstr>课程《人工智能原理与技术》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结束语</vt:lpstr>
    </vt:vector>
  </TitlesOfParts>
  <Company>Global Intelligence 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Creating System Analysis</dc:title>
  <dc:creator>Jessie Wang</dc:creator>
  <cp:lastModifiedBy>WJL</cp:lastModifiedBy>
  <cp:revision>1835</cp:revision>
  <cp:lastPrinted>2025-03-20T05:22:56Z</cp:lastPrinted>
  <dcterms:created xsi:type="dcterms:W3CDTF">2020-10-28T02:31:00Z</dcterms:created>
  <dcterms:modified xsi:type="dcterms:W3CDTF">2026-06-09T12:43:49Z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