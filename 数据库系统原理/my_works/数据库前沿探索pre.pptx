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80FBB58-3BE8-4B5C-A600-9E700CB244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8FF"/>
    <a:srgbClr val="F1FCF8"/>
    <a:srgbClr val="F1F7FD"/>
    <a:srgbClr val="FEFBF2"/>
    <a:srgbClr val="F8FBFE"/>
    <a:srgbClr val="E98F03"/>
    <a:srgbClr val="EBA637"/>
    <a:srgbClr val="059794"/>
    <a:srgbClr val="029693"/>
    <a:srgbClr val="F6F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16" autoAdjust="0"/>
  </p:normalViewPr>
  <p:slideViewPr>
    <p:cSldViewPr snapToGrid="0" snapToObjects="1">
      <p:cViewPr varScale="1">
        <p:scale>
          <a:sx n="58" d="100"/>
          <a:sy n="58" d="100"/>
        </p:scale>
        <p:origin x="396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AE9F0-A02B-475D-819A-9211DEF3009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54F2-EA17-4E03-AD76-04A36C0CB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10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54F2-EA17-4E03-AD76-04A36C0CB1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83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54F2-EA17-4E03-AD76-04A36C0CB1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910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54F2-EA17-4E03-AD76-04A36C0CB1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589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54F2-EA17-4E03-AD76-04A36C0CB1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38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54F2-EA17-4E03-AD76-04A36C0CB1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810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30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3.png"/><Relationship Id="rId4" Type="http://schemas.openxmlformats.org/officeDocument/2006/relationships/image" Target="../media/image99.pn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0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F549AF7-05AC-4A37-9FFB-8E6076A12DD3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679534" y="2814106"/>
            <a:ext cx="8747587" cy="178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800" b="1">
                <a:solidFill>
                  <a:srgbClr val="001961"/>
                </a:solidFill>
                <a:latin typeface="Microsoft YaHei"/>
              </a:rPr>
              <a:t>RAG 中的向量检索：</a:t>
            </a:r>
            <a:endParaRPr lang="en-US" sz="3800" b="1">
              <a:solidFill>
                <a:srgbClr val="001961"/>
              </a:solidFill>
              <a:latin typeface="Microsoft YaHei"/>
            </a:endParaRPr>
          </a:p>
          <a:p>
            <a:pPr algn="ctr"/>
            <a:r>
              <a:rPr lang="zh-CN" altLang="en-US" sz="4000" b="1">
                <a:solidFill>
                  <a:srgbClr val="0019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向量数据库如何为大模型找到外部知识</a:t>
            </a:r>
          </a:p>
          <a:p>
            <a:pPr algn="ctr"/>
            <a:endParaRPr sz="3800" b="1">
              <a:solidFill>
                <a:srgbClr val="001961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8348" y="4103410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005AD6"/>
                </a:solidFill>
                <a:latin typeface="Microsoft YaHei"/>
              </a:rPr>
              <a:t>以向量数据库为核心的数据存储、索引与检索机制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1812" y="4727043"/>
            <a:ext cx="1056132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003036" y="4695039"/>
            <a:ext cx="68580" cy="68580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7972" y="4873347"/>
            <a:ext cx="3429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0">
                <a:solidFill>
                  <a:srgbClr val="7D7D7D"/>
                </a:solidFill>
                <a:latin typeface="Microsoft YaHei"/>
              </a:rPr>
              <a:t>数据库系统原理   |   前沿探索汇报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5700" y="8676396"/>
            <a:ext cx="53035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>
                <a:solidFill>
                  <a:srgbClr val="005AD6"/>
                </a:solidFill>
                <a:latin typeface="Microsoft YaHei"/>
              </a:rPr>
              <a:t>1 / 12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ABF3423-BDB9-4AAB-B928-00BB0F942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53" y="119433"/>
            <a:ext cx="3649877" cy="2384763"/>
          </a:xfrm>
          <a:prstGeom prst="rect">
            <a:avLst/>
          </a:prstGeom>
        </p:spPr>
      </p:pic>
      <p:sp>
        <p:nvSpPr>
          <p:cNvPr id="46" name="TextBox 6">
            <a:extLst>
              <a:ext uri="{FF2B5EF4-FFF2-40B4-BE49-F238E27FC236}">
                <a16:creationId xmlns:a16="http://schemas.microsoft.com/office/drawing/2014/main" id="{CB76DF05-6FB8-4CBE-B86E-18F3909629AE}"/>
              </a:ext>
            </a:extLst>
          </p:cNvPr>
          <p:cNvSpPr txBox="1"/>
          <p:nvPr/>
        </p:nvSpPr>
        <p:spPr>
          <a:xfrm>
            <a:off x="3885586" y="5386077"/>
            <a:ext cx="430348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2452769 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幸可函（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1-12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页） 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2452285 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庞家宝</a:t>
            </a:r>
            <a:endParaRPr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2F8E504-CCC8-4E2E-8E63-2A7793D9FC93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095B841B-28D9-4496-BC5D-00E39393A208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27E50785-1966-4213-B73B-B621257F9058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DDAB5C4C-82AA-4B8A-BD79-D5DDD4360559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>
            <a:extLst>
              <a:ext uri="{FF2B5EF4-FFF2-40B4-BE49-F238E27FC236}">
                <a16:creationId xmlns:a16="http://schemas.microsoft.com/office/drawing/2014/main" id="{658082F6-B0D8-4EDB-A29C-335F67D66CCA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>
            <a:extLst>
              <a:ext uri="{FF2B5EF4-FFF2-40B4-BE49-F238E27FC236}">
                <a16:creationId xmlns:a16="http://schemas.microsoft.com/office/drawing/2014/main" id="{67309402-E77B-41E6-86E7-202456890C14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2553A246-2CEF-4CD9-9FE8-5BF8004E8742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43761" y="94660"/>
            <a:ext cx="2260421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normalizeH="0" noProof="0">
                <a:ln>
                  <a:noFill/>
                </a:ln>
                <a:solidFill>
                  <a:srgbClr val="02185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5220" y="1034894"/>
            <a:ext cx="189583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normalizeH="0" noProof="0">
                <a:ln>
                  <a:noFill/>
                </a:ln>
                <a:solidFill>
                  <a:srgbClr val="0053E5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汇报结构总览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7923" y="1187942"/>
            <a:ext cx="1837505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0433" y="1187942"/>
            <a:ext cx="1859379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11465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983354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5210" y="1596070"/>
            <a:ext cx="4921886" cy="2011485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73972" y="1596070"/>
            <a:ext cx="4921886" cy="2011485"/>
          </a:xfrm>
          <a:prstGeom prst="roundRect">
            <a:avLst/>
          </a:prstGeom>
          <a:solidFill>
            <a:srgbClr val="FCFEFE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55210" y="3848059"/>
            <a:ext cx="4921886" cy="2011485"/>
          </a:xfrm>
          <a:prstGeom prst="roundRect">
            <a:avLst/>
          </a:prstGeom>
          <a:solidFill>
            <a:srgbClr val="F9FBFE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73972" y="3848059"/>
            <a:ext cx="4921886" cy="2011485"/>
          </a:xfrm>
          <a:prstGeom prst="roundRect">
            <a:avLst/>
          </a:prstGeom>
          <a:solidFill>
            <a:srgbClr val="FCFDFD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166669" y="2893332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78139" y="2893332"/>
            <a:ext cx="3150008" cy="0"/>
          </a:xfrm>
          <a:prstGeom prst="line">
            <a:avLst/>
          </a:prstGeom>
          <a:ln w="17780">
            <a:solidFill>
              <a:srgbClr val="00A0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66669" y="5130746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78139" y="5130746"/>
            <a:ext cx="3157299" cy="0"/>
          </a:xfrm>
          <a:prstGeom prst="line">
            <a:avLst/>
          </a:prstGeom>
          <a:ln w="17780">
            <a:solidFill>
              <a:srgbClr val="0098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nu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10" y="1814709"/>
            <a:ext cx="743751" cy="728799"/>
          </a:xfrm>
          <a:prstGeom prst="rect">
            <a:avLst/>
          </a:prstGeom>
        </p:spPr>
      </p:pic>
      <p:pic>
        <p:nvPicPr>
          <p:cNvPr id="19" name="Picture 18" descr="nu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97" y="1814709"/>
            <a:ext cx="743751" cy="728799"/>
          </a:xfrm>
          <a:prstGeom prst="rect">
            <a:avLst/>
          </a:prstGeom>
        </p:spPr>
      </p:pic>
      <p:pic>
        <p:nvPicPr>
          <p:cNvPr id="20" name="Picture 19" descr="nu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210" y="4044835"/>
            <a:ext cx="743751" cy="728799"/>
          </a:xfrm>
          <a:prstGeom prst="rect">
            <a:avLst/>
          </a:prstGeom>
        </p:spPr>
      </p:pic>
      <p:pic>
        <p:nvPicPr>
          <p:cNvPr id="21" name="Picture 20" descr="nu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97" y="4044835"/>
            <a:ext cx="743751" cy="728799"/>
          </a:xfrm>
          <a:prstGeom prst="rect">
            <a:avLst/>
          </a:prstGeom>
        </p:spPr>
      </p:pic>
      <p:pic>
        <p:nvPicPr>
          <p:cNvPr id="22" name="Picture 21" descr="d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281" y="1953181"/>
            <a:ext cx="1316148" cy="1384718"/>
          </a:xfrm>
          <a:prstGeom prst="rect">
            <a:avLst/>
          </a:prstGeom>
        </p:spPr>
      </p:pic>
      <p:pic>
        <p:nvPicPr>
          <p:cNvPr id="25" name="Picture 24" descr="chart_comp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22" y="4183307"/>
            <a:ext cx="1414586" cy="15450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85421" y="1781747"/>
            <a:ext cx="218750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spc="100">
                <a:solidFill>
                  <a:srgbClr val="00195C"/>
                </a:solidFill>
                <a:latin typeface="Microsoft YaHei"/>
              </a:rPr>
              <a:t>从 </a:t>
            </a:r>
            <a:r>
              <a:rPr sz="2800" b="1" spc="100">
                <a:solidFill>
                  <a:srgbClr val="0019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sz="2800" b="1" spc="100">
                <a:solidFill>
                  <a:srgbClr val="0019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endParaRPr lang="en-US" altLang="zh-CN" sz="2800" b="1" spc="100">
              <a:solidFill>
                <a:srgbClr val="0019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spc="100">
                <a:solidFill>
                  <a:srgbClr val="0019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8752" y="3141125"/>
            <a:ext cx="16112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spc="100">
                <a:solidFill>
                  <a:srgbClr val="0019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背景与动机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7724" y="1825504"/>
            <a:ext cx="304150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100" normalizeH="0" noProof="0">
                <a:ln>
                  <a:noFill/>
                </a:ln>
                <a:solidFill>
                  <a:srgbClr val="00195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向量数据库</a:t>
            </a:r>
            <a:endParaRPr kumimoji="0" lang="en-US" sz="2800" b="1" i="0" u="none" strike="noStrike" kern="1200" cap="none" spc="100" normalizeH="0" noProof="0">
              <a:ln>
                <a:noFill/>
              </a:ln>
              <a:solidFill>
                <a:srgbClr val="00195C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100" normalizeH="0" noProof="0">
                <a:ln>
                  <a:noFill/>
                </a:ln>
                <a:solidFill>
                  <a:srgbClr val="00195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基本概念与系统架构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181" y="3141124"/>
            <a:ext cx="265417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spc="100">
                <a:solidFill>
                  <a:srgbClr val="0019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系统组成与核心能力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9344" y="4032587"/>
            <a:ext cx="234792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100" normalizeH="0" noProof="0">
                <a:ln>
                  <a:noFill/>
                </a:ln>
                <a:solidFill>
                  <a:srgbClr val="00195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向量检索与
索引机制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8752" y="5393113"/>
            <a:ext cx="27992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spc="100">
                <a:solidFill>
                  <a:srgbClr val="0019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ANN 与相似度计算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3628" y="4032586"/>
            <a:ext cx="276089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100" normalizeH="0" noProof="0">
                <a:ln>
                  <a:noFill/>
                </a:ln>
                <a:solidFill>
                  <a:srgbClr val="00195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应用、对比与
前沿挑战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9181" y="5393113"/>
            <a:ext cx="299688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spc="100">
                <a:solidFill>
                  <a:srgbClr val="0019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RAG 工作流与发展趋势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CE042ED-0CA1-4CF0-A93F-E496417B7E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7120" y="1910123"/>
            <a:ext cx="1148538" cy="1266770"/>
          </a:xfrm>
          <a:prstGeom prst="rect">
            <a:avLst/>
          </a:prstGeom>
        </p:spPr>
      </p:pic>
      <p:cxnSp>
        <p:nvCxnSpPr>
          <p:cNvPr id="36" name="Connector 35"/>
          <p:cNvCxnSpPr>
            <a:cxnSpLocks/>
          </p:cNvCxnSpPr>
          <p:nvPr/>
        </p:nvCxnSpPr>
        <p:spPr>
          <a:xfrm>
            <a:off x="5490637" y="6369704"/>
            <a:ext cx="5723972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05209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1185442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FD6B979-2799-4CBB-A04A-4C9869876A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174" y="4084764"/>
            <a:ext cx="1536747" cy="1585644"/>
          </a:xfrm>
          <a:prstGeom prst="rect">
            <a:avLst/>
          </a:prstGeom>
        </p:spPr>
      </p:pic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6FC890AC-ECA3-484D-AF8E-E519B7F6DE9A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直角三角形 40">
            <a:extLst>
              <a:ext uri="{FF2B5EF4-FFF2-40B4-BE49-F238E27FC236}">
                <a16:creationId xmlns:a16="http://schemas.microsoft.com/office/drawing/2014/main" id="{4119429A-0930-4915-9D2A-5CE0AA164364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直角三角形 41">
            <a:extLst>
              <a:ext uri="{FF2B5EF4-FFF2-40B4-BE49-F238E27FC236}">
                <a16:creationId xmlns:a16="http://schemas.microsoft.com/office/drawing/2014/main" id="{FBF03C1B-9996-4E0C-92C3-751A3B503062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直角三角形 42">
            <a:extLst>
              <a:ext uri="{FF2B5EF4-FFF2-40B4-BE49-F238E27FC236}">
                <a16:creationId xmlns:a16="http://schemas.microsoft.com/office/drawing/2014/main" id="{E3EB78F3-0F44-4820-A805-FF25D8D6E990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直角三角形 43">
            <a:extLst>
              <a:ext uri="{FF2B5EF4-FFF2-40B4-BE49-F238E27FC236}">
                <a16:creationId xmlns:a16="http://schemas.microsoft.com/office/drawing/2014/main" id="{79D8EF92-8A75-42F0-8727-0292DDD36EEB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B620EF88-D176-4819-ABB3-A668726C53D4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直角三角形 46">
            <a:extLst>
              <a:ext uri="{FF2B5EF4-FFF2-40B4-BE49-F238E27FC236}">
                <a16:creationId xmlns:a16="http://schemas.microsoft.com/office/drawing/2014/main" id="{D2B9A3C8-A99C-4E08-80A7-7DE991F899C3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直角三角形 47">
            <a:extLst>
              <a:ext uri="{FF2B5EF4-FFF2-40B4-BE49-F238E27FC236}">
                <a16:creationId xmlns:a16="http://schemas.microsoft.com/office/drawing/2014/main" id="{0CB7B33A-91BE-479D-B85B-CA3737AF1E87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634376" y="6369704"/>
            <a:ext cx="4856261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5760" y="146304"/>
            <a:ext cx="1147572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700" b="1">
                <a:solidFill>
                  <a:srgbClr val="001A69"/>
                </a:solidFill>
                <a:latin typeface="Microsoft YaHei"/>
              </a:rPr>
              <a:t>传统 LLM 的局限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0260" y="1024128"/>
            <a:ext cx="3590727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 spc="100">
                <a:solidFill>
                  <a:srgbClr val="1260DE"/>
                </a:solidFill>
                <a:latin typeface="Microsoft YaHei"/>
              </a:rPr>
              <a:t>为什么需要引入外部知识检索？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1101852"/>
            <a:ext cx="1097279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48356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065008" y="1101852"/>
            <a:ext cx="1188720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253728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1879990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1A69"/>
                </a:solidFill>
                <a:latin typeface="Microsoft YaHei"/>
              </a:rPr>
              <a:t>幻觉</a:t>
            </a:r>
          </a:p>
        </p:txBody>
      </p:sp>
      <p:pic>
        <p:nvPicPr>
          <p:cNvPr id="18" name="Picture 17" descr="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49" y="2419613"/>
            <a:ext cx="1472956" cy="1209806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987552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47118" y="4069080"/>
            <a:ext cx="1564531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可能生成看似合理</a:t>
            </a:r>
          </a:p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但不真实的内容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529584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9584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6848" y="1878644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1A69"/>
                </a:solidFill>
                <a:latin typeface="Microsoft YaHei"/>
              </a:rPr>
              <a:t>知识过时</a:t>
            </a:r>
          </a:p>
        </p:txBody>
      </p:sp>
      <p:pic>
        <p:nvPicPr>
          <p:cNvPr id="26" name="Picture 25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88" y="2456053"/>
            <a:ext cx="1494832" cy="1195230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3621024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76157" y="4069080"/>
            <a:ext cx="1173398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参数知识更新</a:t>
            </a:r>
          </a:p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成本高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1636776"/>
            <a:ext cx="2633472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72200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1892808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01A69"/>
                </a:solidFill>
                <a:latin typeface="Microsoft YaHei"/>
              </a:rPr>
              <a:t>无法访问私有知识</a:t>
            </a:r>
          </a:p>
        </p:txBody>
      </p:sp>
      <p:pic>
        <p:nvPicPr>
          <p:cNvPr id="34" name="Picture 33" descr="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79" y="2507069"/>
            <a:ext cx="1458373" cy="1107774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6263640" y="3831335"/>
            <a:ext cx="2084831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32419" y="4069080"/>
            <a:ext cx="1747273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难以直接利用</a:t>
            </a:r>
          </a:p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企业/课程/本地文档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1392" y="1636776"/>
            <a:ext cx="2578608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3427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3427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0885" y="1894680"/>
            <a:ext cx="143629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01A69"/>
                </a:solidFill>
                <a:latin typeface="Microsoft YaHei"/>
              </a:rPr>
              <a:t>缺乏来源可追溯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25712" y="3831335"/>
            <a:ext cx="2029968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49563" y="4069080"/>
            <a:ext cx="782265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答案难以</a:t>
            </a:r>
          </a:p>
          <a:p>
            <a:pPr algn="ctr">
              <a:spcAft>
                <a:spcPts val="200"/>
              </a:spcAft>
            </a:pPr>
            <a:r>
              <a:rPr sz="1520">
                <a:solidFill>
                  <a:srgbClr val="121212"/>
                </a:solidFill>
                <a:latin typeface="Microsoft YaHei"/>
              </a:rPr>
              <a:t>给出依据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5029200"/>
            <a:ext cx="8363712" cy="1133856"/>
          </a:xfrm>
          <a:prstGeom prst="roundRect">
            <a:avLst/>
          </a:prstGeom>
          <a:solidFill>
            <a:srgbClr val="F3F8FD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96512" y="527608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01A69"/>
                </a:solidFill>
                <a:latin typeface="Microsoft YaHei"/>
              </a:rPr>
              <a:t>核心矛盾：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660136"/>
            <a:ext cx="2834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Microsoft YaHei"/>
              </a:rPr>
              <a:t>仅靠参数记忆，难以同时满足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5660136"/>
            <a:ext cx="290779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EE6C14"/>
                </a:solidFill>
                <a:latin typeface="Microsoft YaHei"/>
              </a:rPr>
              <a:t>准确性、时效性与可追溯性。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174F8407-0B3B-4C05-A9A3-229C40F89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85" y="5092343"/>
            <a:ext cx="1646854" cy="10075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7674AF-1666-42FF-B4D0-DD1A8E0F3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5856" y="2288088"/>
            <a:ext cx="1529679" cy="1458861"/>
          </a:xfrm>
          <a:prstGeom prst="rect">
            <a:avLst/>
          </a:prstGeom>
        </p:spPr>
      </p:pic>
      <p:sp>
        <p:nvSpPr>
          <p:cNvPr id="46" name="直角三角形 45">
            <a:extLst>
              <a:ext uri="{FF2B5EF4-FFF2-40B4-BE49-F238E27FC236}">
                <a16:creationId xmlns:a16="http://schemas.microsoft.com/office/drawing/2014/main" id="{C0C591E0-D370-4BE2-A1E9-216460EE8FD4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直角三角形 46">
            <a:extLst>
              <a:ext uri="{FF2B5EF4-FFF2-40B4-BE49-F238E27FC236}">
                <a16:creationId xmlns:a16="http://schemas.microsoft.com/office/drawing/2014/main" id="{E3B728E6-A462-4C52-8E66-ECF3FDAFE4D3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直角三角形 47">
            <a:extLst>
              <a:ext uri="{FF2B5EF4-FFF2-40B4-BE49-F238E27FC236}">
                <a16:creationId xmlns:a16="http://schemas.microsoft.com/office/drawing/2014/main" id="{F737DC95-AE24-4566-8123-CD31AA9F5E9E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62BFC826-F8F8-4368-AB64-0D55D35D39A5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F22744D9-28D2-4B1A-937D-489CBBE1B29B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直角三角形 55">
            <a:extLst>
              <a:ext uri="{FF2B5EF4-FFF2-40B4-BE49-F238E27FC236}">
                <a16:creationId xmlns:a16="http://schemas.microsoft.com/office/drawing/2014/main" id="{C673F456-E4AA-4E6E-8373-B1F45AF9DB75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直角三角形 56">
            <a:extLst>
              <a:ext uri="{FF2B5EF4-FFF2-40B4-BE49-F238E27FC236}">
                <a16:creationId xmlns:a16="http://schemas.microsoft.com/office/drawing/2014/main" id="{F41396B8-8E40-4A91-88AF-63ED550B4F1C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直角三角形 57">
            <a:extLst>
              <a:ext uri="{FF2B5EF4-FFF2-40B4-BE49-F238E27FC236}">
                <a16:creationId xmlns:a16="http://schemas.microsoft.com/office/drawing/2014/main" id="{6CE2BDA9-89BE-4D32-A000-D81C3F296680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圆顶角 89">
            <a:extLst>
              <a:ext uri="{FF2B5EF4-FFF2-40B4-BE49-F238E27FC236}">
                <a16:creationId xmlns:a16="http://schemas.microsoft.com/office/drawing/2014/main" id="{548DC032-8E1F-4947-BCD3-985254686C8B}"/>
              </a:ext>
            </a:extLst>
          </p:cNvPr>
          <p:cNvSpPr/>
          <p:nvPr/>
        </p:nvSpPr>
        <p:spPr>
          <a:xfrm rot="10800000">
            <a:off x="1552710" y="4440966"/>
            <a:ext cx="8962157" cy="1533619"/>
          </a:xfrm>
          <a:prstGeom prst="round2SameRect">
            <a:avLst>
              <a:gd name="adj1" fmla="val 11761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Picture 49" descr="tbl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669" y="4485713"/>
            <a:ext cx="339680" cy="313384"/>
          </a:xfrm>
          <a:prstGeom prst="rect">
            <a:avLst/>
          </a:prstGeom>
        </p:spPr>
      </p:pic>
      <p:sp>
        <p:nvSpPr>
          <p:cNvPr id="87" name="矩形: 单圆角 86">
            <a:extLst>
              <a:ext uri="{FF2B5EF4-FFF2-40B4-BE49-F238E27FC236}">
                <a16:creationId xmlns:a16="http://schemas.microsoft.com/office/drawing/2014/main" id="{935D95A3-8B7A-4FF7-9ED3-169D77B3E0B2}"/>
              </a:ext>
            </a:extLst>
          </p:cNvPr>
          <p:cNvSpPr/>
          <p:nvPr/>
        </p:nvSpPr>
        <p:spPr>
          <a:xfrm rot="10800000" flipV="1">
            <a:off x="1550468" y="4151022"/>
            <a:ext cx="4347396" cy="306089"/>
          </a:xfrm>
          <a:prstGeom prst="round1Rect">
            <a:avLst>
              <a:gd name="adj" fmla="val 50000"/>
            </a:avLst>
          </a:prstGeom>
          <a:solidFill>
            <a:srgbClr val="F1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6" name="矩形: 单圆角 85">
            <a:extLst>
              <a:ext uri="{FF2B5EF4-FFF2-40B4-BE49-F238E27FC236}">
                <a16:creationId xmlns:a16="http://schemas.microsoft.com/office/drawing/2014/main" id="{F0EC7D0D-5B98-4757-BAB4-2482334EC55D}"/>
              </a:ext>
            </a:extLst>
          </p:cNvPr>
          <p:cNvSpPr/>
          <p:nvPr/>
        </p:nvSpPr>
        <p:spPr>
          <a:xfrm>
            <a:off x="5891826" y="4151022"/>
            <a:ext cx="4623044" cy="297786"/>
          </a:xfrm>
          <a:prstGeom prst="round1Rect">
            <a:avLst>
              <a:gd name="adj" fmla="val 50000"/>
            </a:avLst>
          </a:prstGeom>
          <a:solidFill>
            <a:srgbClr val="F2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" name="Picture 2" descr="dots_top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96" y="204063"/>
            <a:ext cx="1348995" cy="524735"/>
          </a:xfrm>
          <a:prstGeom prst="rect">
            <a:avLst/>
          </a:prstGeom>
        </p:spPr>
      </p:pic>
      <p:pic>
        <p:nvPicPr>
          <p:cNvPr id="4" name="Picture 3" descr="green_lines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80" y="750663"/>
            <a:ext cx="838564" cy="204063"/>
          </a:xfrm>
          <a:prstGeom prst="rect">
            <a:avLst/>
          </a:prstGeom>
        </p:spPr>
      </p:pic>
      <p:pic>
        <p:nvPicPr>
          <p:cNvPr id="5" name="Picture 4" descr="cloud_top_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8430" y="160335"/>
            <a:ext cx="845856" cy="670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6460" y="38746"/>
            <a:ext cx="12191999" cy="5830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RAG 是什么？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9718" y="866338"/>
            <a:ext cx="1290661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64109" y="874791"/>
            <a:ext cx="1312536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10551" y="837187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54769" y="845640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9251" y="771595"/>
            <a:ext cx="4958468" cy="2769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900" b="1">
                <a:solidFill>
                  <a:srgbClr val="1260DE"/>
                </a:solidFill>
                <a:latin typeface="Microsoft YaHei"/>
              </a:rPr>
              <a:t>Retrieval-Augmented Generation（检索增强生成）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7129" y="1134619"/>
            <a:ext cx="8750239" cy="70924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06315" y="1218259"/>
            <a:ext cx="7291865" cy="5101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100" normalizeH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在生成回答之前，先从外部知识库中检索相关信息，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100" normalizeH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再将检索结果与用户问题一起输入大模型，生成更可靠的答案。</a:t>
            </a:r>
          </a:p>
        </p:txBody>
      </p:sp>
      <p:pic>
        <p:nvPicPr>
          <p:cNvPr id="14" name="Picture 13" descr="flow_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23" y="2084365"/>
            <a:ext cx="1254200" cy="976590"/>
          </a:xfrm>
          <a:prstGeom prst="rect">
            <a:avLst/>
          </a:prstGeom>
        </p:spPr>
      </p:pic>
      <p:pic>
        <p:nvPicPr>
          <p:cNvPr id="15" name="Picture 14" descr="flow_retrie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492" y="2142669"/>
            <a:ext cx="1181282" cy="889134"/>
          </a:xfrm>
          <a:prstGeom prst="rect">
            <a:avLst/>
          </a:prstGeom>
        </p:spPr>
      </p:pic>
      <p:pic>
        <p:nvPicPr>
          <p:cNvPr id="17" name="Picture 16" descr="flow_ll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8124" y="1996909"/>
            <a:ext cx="1254200" cy="9911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8994" y="3082820"/>
            <a:ext cx="1166698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用户问题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124" y="3082820"/>
            <a:ext cx="765645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检索器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828" y="3088654"/>
            <a:ext cx="1385454" cy="60704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外部知识库 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向量数据库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801" y="3115616"/>
            <a:ext cx="838564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大模型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8190" y="3082820"/>
            <a:ext cx="1020861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最终答案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6618" y="3473934"/>
            <a:ext cx="1605600" cy="525600"/>
          </a:xfrm>
          <a:prstGeom prst="roundRect">
            <a:avLst/>
          </a:prstGeom>
          <a:solidFill>
            <a:srgbClr val="E5F3FD"/>
          </a:solidFill>
          <a:ln w="1270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54892" y="3567643"/>
            <a:ext cx="860440" cy="327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100" normalizeH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参数记忆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100" normalizeH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(模型内部知识)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7473" y="3469085"/>
            <a:ext cx="1604210" cy="524735"/>
          </a:xfrm>
          <a:prstGeom prst="roundRect">
            <a:avLst/>
          </a:prstGeom>
          <a:solidFill>
            <a:srgbClr val="EAF8EF"/>
          </a:solidFill>
          <a:ln w="12700">
            <a:solidFill>
              <a:srgbClr val="0C8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42908" y="3563829"/>
            <a:ext cx="802105" cy="3133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100" normalizeH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外部知识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100" normalizeH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(检索到的文档)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875" y="4139579"/>
            <a:ext cx="8968994" cy="1858437"/>
          </a:xfrm>
          <a:prstGeom prst="roundRect">
            <a:avLst>
              <a:gd name="adj" fmla="val 9451"/>
            </a:avLst>
          </a:prstGeom>
          <a:noFill/>
          <a:ln w="12700">
            <a:solidFill>
              <a:srgbClr val="158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1545875" y="4460250"/>
            <a:ext cx="8968995" cy="0"/>
          </a:xfrm>
          <a:prstGeom prst="line">
            <a:avLst/>
          </a:prstGeom>
          <a:ln w="1016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91827" y="4139579"/>
            <a:ext cx="0" cy="1858438"/>
          </a:xfrm>
          <a:prstGeom prst="line">
            <a:avLst/>
          </a:prstGeom>
          <a:ln w="762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45875" y="4810074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45875" y="520362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45875" y="560446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661531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传统 LLM 的问题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1865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RAG 的解决方案</a:t>
            </a:r>
          </a:p>
        </p:txBody>
      </p:sp>
      <p:pic>
        <p:nvPicPr>
          <p:cNvPr id="52" name="Picture 51" descr="tbl_puzz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6644" y="5233759"/>
            <a:ext cx="360915" cy="341047"/>
          </a:xfrm>
          <a:prstGeom prst="rect">
            <a:avLst/>
          </a:prstGeom>
        </p:spPr>
      </p:pic>
      <p:pic>
        <p:nvPicPr>
          <p:cNvPr id="53" name="Picture 52" descr="tbl_d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9213" y="5640904"/>
            <a:ext cx="338346" cy="29152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679779" y="4533130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幻觉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9779" y="4919394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知识更新困难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79779" y="5327521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外部知识缺失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79779" y="5706497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缺乏可追溯性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2258" y="4562282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基于检索证据生成，降低事实性错误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2258" y="4948546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知识库可单独更新，无需重新训练整个模型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2258" y="5356673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可接入企业 / 课程 / 私有知识库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2258" y="5735649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>
                <a:solidFill>
                  <a:srgbClr val="021A6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可返回参考文档或信息来源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25476" y="6140132"/>
            <a:ext cx="6097948" cy="517445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07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36247" y="6253599"/>
            <a:ext cx="5585571" cy="4154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21A6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核心思想：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让模型从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07D1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“只靠记忆回答”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转向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07D1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“开卷考试”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07D18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A1F47608-2129-4784-A64D-FD41B4F7486D}"/>
              </a:ext>
            </a:extLst>
          </p:cNvPr>
          <p:cNvCxnSpPr>
            <a:cxnSpLocks/>
            <a:stCxn id="37" idx="0"/>
          </p:cNvCxnSpPr>
          <p:nvPr/>
        </p:nvCxnSpPr>
        <p:spPr>
          <a:xfrm rot="5400000" flipH="1" flipV="1">
            <a:off x="7443291" y="3033516"/>
            <a:ext cx="451856" cy="419283"/>
          </a:xfrm>
          <a:prstGeom prst="curvedConnector3">
            <a:avLst/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图片 80">
            <a:extLst>
              <a:ext uri="{FF2B5EF4-FFF2-40B4-BE49-F238E27FC236}">
                <a16:creationId xmlns:a16="http://schemas.microsoft.com/office/drawing/2014/main" id="{05E6341B-99A0-4216-8406-1E085215E4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994" y="3518023"/>
            <a:ext cx="507377" cy="402917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59A6D416-D87D-4AB7-BA43-33C4D09200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9828" y="1890000"/>
            <a:ext cx="1385909" cy="1184078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EA53B7A3-BA57-4C76-876E-1051540042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0370" y="2019940"/>
            <a:ext cx="1426607" cy="905896"/>
          </a:xfrm>
          <a:prstGeom prst="rect">
            <a:avLst/>
          </a:prstGeom>
        </p:spPr>
      </p:pic>
      <p:pic>
        <p:nvPicPr>
          <p:cNvPr id="89" name="图形 88" descr="箭头循环 纯色填充">
            <a:extLst>
              <a:ext uri="{FF2B5EF4-FFF2-40B4-BE49-F238E27FC236}">
                <a16:creationId xmlns:a16="http://schemas.microsoft.com/office/drawing/2014/main" id="{7E22A158-0BCC-4640-BCBC-9A6F4611D2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75558" y="4800912"/>
            <a:ext cx="419289" cy="419289"/>
          </a:xfrm>
          <a:prstGeom prst="rect">
            <a:avLst/>
          </a:prstGeom>
        </p:spPr>
      </p:pic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9C87807F-8B29-45DA-A504-63E61E8D836F}"/>
              </a:ext>
            </a:extLst>
          </p:cNvPr>
          <p:cNvCxnSpPr>
            <a:cxnSpLocks/>
          </p:cNvCxnSpPr>
          <p:nvPr/>
        </p:nvCxnSpPr>
        <p:spPr>
          <a:xfrm>
            <a:off x="5497949" y="4639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4DBB8E3-48F3-41B0-9129-DB076039D233}"/>
              </a:ext>
            </a:extLst>
          </p:cNvPr>
          <p:cNvCxnSpPr>
            <a:cxnSpLocks/>
          </p:cNvCxnSpPr>
          <p:nvPr/>
        </p:nvCxnSpPr>
        <p:spPr>
          <a:xfrm>
            <a:off x="5497949" y="5020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BB6BF98-1135-4613-990F-0C4FBE6166DD}"/>
              </a:ext>
            </a:extLst>
          </p:cNvPr>
          <p:cNvCxnSpPr>
            <a:cxnSpLocks/>
          </p:cNvCxnSpPr>
          <p:nvPr/>
        </p:nvCxnSpPr>
        <p:spPr>
          <a:xfrm>
            <a:off x="5497949" y="543169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54AF637-BE3D-4283-840A-9618D3BBA9C9}"/>
              </a:ext>
            </a:extLst>
          </p:cNvPr>
          <p:cNvCxnSpPr>
            <a:cxnSpLocks/>
          </p:cNvCxnSpPr>
          <p:nvPr/>
        </p:nvCxnSpPr>
        <p:spPr>
          <a:xfrm>
            <a:off x="5497949" y="581650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8D4DE28A-544B-4BDF-A5D6-A0C6937CC0E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9701" y="3503744"/>
            <a:ext cx="356088" cy="447004"/>
          </a:xfrm>
          <a:prstGeom prst="rect">
            <a:avLst/>
          </a:prstGeom>
        </p:spPr>
      </p:pic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50A2164F-7ECF-4DF7-8958-BACC7B9EF1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626396" y="3033516"/>
            <a:ext cx="451856" cy="419283"/>
          </a:xfrm>
          <a:prstGeom prst="curvedConnector3">
            <a:avLst/>
          </a:prstGeom>
          <a:ln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曲线 83">
            <a:extLst>
              <a:ext uri="{FF2B5EF4-FFF2-40B4-BE49-F238E27FC236}">
                <a16:creationId xmlns:a16="http://schemas.microsoft.com/office/drawing/2014/main" id="{ED60F340-3AC7-4702-A57B-5C9CA00C264C}"/>
              </a:ext>
            </a:extLst>
          </p:cNvPr>
          <p:cNvCxnSpPr>
            <a:cxnSpLocks/>
            <a:stCxn id="27" idx="3"/>
            <a:endCxn id="81" idx="1"/>
          </p:cNvCxnSpPr>
          <p:nvPr/>
        </p:nvCxnSpPr>
        <p:spPr>
          <a:xfrm>
            <a:off x="6515282" y="3392177"/>
            <a:ext cx="167712" cy="327305"/>
          </a:xfrm>
          <a:prstGeom prst="curvedConnector3">
            <a:avLst>
              <a:gd name="adj1" fmla="val 50000"/>
            </a:avLst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35C2DF04-E204-4D85-B76C-C773A918E737}"/>
              </a:ext>
            </a:extLst>
          </p:cNvPr>
          <p:cNvCxnSpPr>
            <a:cxnSpLocks/>
          </p:cNvCxnSpPr>
          <p:nvPr/>
        </p:nvCxnSpPr>
        <p:spPr>
          <a:xfrm>
            <a:off x="2194847" y="250946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F914104-B7AB-4FC0-8554-DCA1160E43C1}"/>
              </a:ext>
            </a:extLst>
          </p:cNvPr>
          <p:cNvCxnSpPr>
            <a:cxnSpLocks/>
          </p:cNvCxnSpPr>
          <p:nvPr/>
        </p:nvCxnSpPr>
        <p:spPr>
          <a:xfrm>
            <a:off x="3974066" y="2551332"/>
            <a:ext cx="1065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DB67CFD-1177-4012-B4D0-0E6C7C639ACD}"/>
              </a:ext>
            </a:extLst>
          </p:cNvPr>
          <p:cNvCxnSpPr>
            <a:cxnSpLocks/>
          </p:cNvCxnSpPr>
          <p:nvPr/>
        </p:nvCxnSpPr>
        <p:spPr>
          <a:xfrm>
            <a:off x="6515737" y="2567744"/>
            <a:ext cx="1029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A5E43F1-489F-4E94-A38E-D628B7A023F3}"/>
              </a:ext>
            </a:extLst>
          </p:cNvPr>
          <p:cNvCxnSpPr>
            <a:cxnSpLocks/>
          </p:cNvCxnSpPr>
          <p:nvPr/>
        </p:nvCxnSpPr>
        <p:spPr>
          <a:xfrm>
            <a:off x="8943666" y="2594316"/>
            <a:ext cx="840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图形 96" descr="灯泡 纯色填充">
            <a:extLst>
              <a:ext uri="{FF2B5EF4-FFF2-40B4-BE49-F238E27FC236}">
                <a16:creationId xmlns:a16="http://schemas.microsoft.com/office/drawing/2014/main" id="{FA54A4E1-0A1E-47D1-B122-B50A6B0001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313298">
            <a:off x="2580636" y="5996550"/>
            <a:ext cx="600933" cy="600933"/>
          </a:xfrm>
          <a:prstGeom prst="rect">
            <a:avLst/>
          </a:prstGeom>
        </p:spPr>
      </p:pic>
      <p:sp>
        <p:nvSpPr>
          <p:cNvPr id="98" name="直角三角形 97">
            <a:extLst>
              <a:ext uri="{FF2B5EF4-FFF2-40B4-BE49-F238E27FC236}">
                <a16:creationId xmlns:a16="http://schemas.microsoft.com/office/drawing/2014/main" id="{C45F5090-34EA-4D56-8924-EA386872C457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直角三角形 98">
            <a:extLst>
              <a:ext uri="{FF2B5EF4-FFF2-40B4-BE49-F238E27FC236}">
                <a16:creationId xmlns:a16="http://schemas.microsoft.com/office/drawing/2014/main" id="{C930EA8B-97B0-44AE-A862-86734028F589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直角三角形 99">
            <a:extLst>
              <a:ext uri="{FF2B5EF4-FFF2-40B4-BE49-F238E27FC236}">
                <a16:creationId xmlns:a16="http://schemas.microsoft.com/office/drawing/2014/main" id="{79C08F98-75FC-4295-81E8-A997AABBE896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直角三角形 100">
            <a:extLst>
              <a:ext uri="{FF2B5EF4-FFF2-40B4-BE49-F238E27FC236}">
                <a16:creationId xmlns:a16="http://schemas.microsoft.com/office/drawing/2014/main" id="{2E9CD465-43F2-4F95-B61D-3BC19007CF2C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直角三角形 101">
            <a:extLst>
              <a:ext uri="{FF2B5EF4-FFF2-40B4-BE49-F238E27FC236}">
                <a16:creationId xmlns:a16="http://schemas.microsoft.com/office/drawing/2014/main" id="{F46FDAF3-100A-40C9-8FA9-67C7EEC1FA55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直角三角形 102">
            <a:extLst>
              <a:ext uri="{FF2B5EF4-FFF2-40B4-BE49-F238E27FC236}">
                <a16:creationId xmlns:a16="http://schemas.microsoft.com/office/drawing/2014/main" id="{DD710B56-57E7-408B-83C5-AACBE2829396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直角三角形 103">
            <a:extLst>
              <a:ext uri="{FF2B5EF4-FFF2-40B4-BE49-F238E27FC236}">
                <a16:creationId xmlns:a16="http://schemas.microsoft.com/office/drawing/2014/main" id="{327E02A1-8A9F-40C2-B7B9-03CFF82658E7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直角三角形 104">
            <a:extLst>
              <a:ext uri="{FF2B5EF4-FFF2-40B4-BE49-F238E27FC236}">
                <a16:creationId xmlns:a16="http://schemas.microsoft.com/office/drawing/2014/main" id="{CCF6D9C7-36BD-48B2-A82C-D1750C26FF77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69079" y="228600"/>
            <a:ext cx="3669082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RAG 基本流程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6081" y="1024128"/>
            <a:ext cx="323165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100" normalizeH="0" noProof="0">
                <a:ln>
                  <a:noFill/>
                </a:ln>
                <a:solidFill>
                  <a:srgbClr val="0C5EE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从查询到答案的三阶段过程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8" y="1179576"/>
            <a:ext cx="1627632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18120" y="1179576"/>
            <a:ext cx="1554480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9748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37260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1267" y="1511860"/>
            <a:ext cx="3639312" cy="457200"/>
          </a:xfrm>
          <a:prstGeom prst="roundRect">
            <a:avLst/>
          </a:prstGeom>
          <a:solidFill>
            <a:srgbClr val="E5F0FE"/>
          </a:solidFill>
          <a:ln w="1143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14215" y="1518472"/>
            <a:ext cx="3401568" cy="457200"/>
          </a:xfrm>
          <a:prstGeom prst="roundRect">
            <a:avLst/>
          </a:prstGeom>
          <a:solidFill>
            <a:srgbClr val="E9F8EF"/>
          </a:solidFill>
          <a:ln w="11430">
            <a:solidFill>
              <a:srgbClr val="087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79792" y="1536192"/>
            <a:ext cx="3867912" cy="457200"/>
          </a:xfrm>
          <a:prstGeom prst="roundRect">
            <a:avLst/>
          </a:prstGeom>
          <a:solidFill>
            <a:srgbClr val="FEF2DE"/>
          </a:solidFill>
          <a:ln w="11430">
            <a:solidFill>
              <a:srgbClr val="D08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5794" y="1626809"/>
            <a:ext cx="20967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50" normalizeH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Indexing（索引构建）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764" y="1647204"/>
            <a:ext cx="1702582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50" normalizeH="0" noProof="0">
                <a:ln>
                  <a:noFill/>
                </a:ln>
                <a:solidFill>
                  <a:srgbClr val="007A6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Retrieval（检索）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575" y="1648260"/>
            <a:ext cx="222768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50" normalizeH="0" noProof="0">
                <a:ln>
                  <a:noFill/>
                </a:ln>
                <a:solidFill>
                  <a:srgbClr val="C66B1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Generation（生成）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249424"/>
            <a:ext cx="3401568" cy="1078992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0C5E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08986" y="2312012"/>
            <a:ext cx="208390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离线预处理（构建知识索引）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056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9867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切分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4081" y="3090672"/>
            <a:ext cx="40395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8940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入库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389888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2148840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090672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19456" y="3675887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103120" y="3675887"/>
            <a:ext cx="1280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886200" y="3675887"/>
            <a:ext cx="1581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852160" y="3675887"/>
            <a:ext cx="1216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479792" y="3675887"/>
            <a:ext cx="110642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961120" y="3675887"/>
            <a:ext cx="122529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552176" y="3675887"/>
            <a:ext cx="1097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164592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ight Arrow 53"/>
          <p:cNvSpPr/>
          <p:nvPr/>
        </p:nvSpPr>
        <p:spPr>
          <a:xfrm>
            <a:off x="3468585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ight Arrow 54"/>
          <p:cNvSpPr/>
          <p:nvPr/>
        </p:nvSpPr>
        <p:spPr>
          <a:xfrm>
            <a:off x="548640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100316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8604504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ight Arrow 57"/>
          <p:cNvSpPr/>
          <p:nvPr/>
        </p:nvSpPr>
        <p:spPr>
          <a:xfrm>
            <a:off x="10186416" y="4149987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91352" y="4434840"/>
            <a:ext cx="10369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User Query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799" y="4718304"/>
            <a:ext cx="64120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用户查询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6651" y="4392167"/>
            <a:ext cx="1013099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0" sz="130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Query</a:t>
            </a:r>
            <a:endParaRPr kumimoji="0" lang="en-US" sz="130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altLang="zh-CN" sz="130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Embedding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65078" y="4857753"/>
            <a:ext cx="73738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查询向量化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60579" y="4384547"/>
            <a:ext cx="145007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0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Vector Database</a:t>
            </a:r>
            <a:r>
              <a:rPr kumimoji="0" lang="en-US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</a:p>
          <a:p>
            <a:pPr algn="ctr">
              <a:defRPr/>
            </a:pPr>
            <a:r>
              <a:rPr kumimoji="0" lang="en-US" altLang="zh-CN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Retrieval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83533" y="4857753"/>
            <a:ext cx="98745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向量数据库检索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8113" y="4392167"/>
            <a:ext cx="78675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0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Relevant</a:t>
            </a:r>
            <a:r>
              <a:rPr kumimoji="0" lang="en-US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</a:p>
          <a:p>
            <a:pPr algn="ctr">
              <a:defRPr/>
            </a:pPr>
            <a:r>
              <a:rPr kumimoji="0" lang="en-US" altLang="zh-CN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Chunks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059646" y="4857752"/>
            <a:ext cx="846386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50" b="1" spc="50">
                <a:solidFill>
                  <a:srgbClr val="06145F"/>
                </a:solidFill>
                <a:latin typeface="Microsoft YaHei"/>
              </a:rPr>
              <a:t>相关文本片段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03964" y="4384547"/>
            <a:ext cx="86722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0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Prompt</a:t>
            </a:r>
            <a:endParaRPr kumimoji="0" lang="en-US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en-US" altLang="zh-CN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Assembly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89487" y="4853443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提示词组装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3285" y="4395977"/>
            <a:ext cx="100668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0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LLM</a:t>
            </a:r>
            <a:endParaRPr kumimoji="0" lang="en-US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en-US" altLang="zh-CN" sz="13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Generation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50" normalizeH="0" noProof="0">
              <a:ln>
                <a:noFill/>
              </a:ln>
              <a:solidFill>
                <a:srgbClr val="06145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239395" y="4846319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大模型生成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74612" y="4544568"/>
            <a:ext cx="6706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Answer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32403" y="4846320"/>
            <a:ext cx="56425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最终答案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632821" y="5355637"/>
            <a:ext cx="6941597" cy="1237009"/>
          </a:xfrm>
          <a:prstGeom prst="roundRect">
            <a:avLst/>
          </a:prstGeom>
          <a:solidFill>
            <a:srgbClr val="EEF5FD"/>
          </a:solidFill>
          <a:ln w="1270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218038" y="5484997"/>
            <a:ext cx="868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C5EE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流程说明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8893" y="5776262"/>
            <a:ext cx="6365525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C5EE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 </a:t>
            </a: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Indexing：离线构建知识索引，将文档切分并向量化后入库。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C5EE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 </a:t>
            </a: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Retrieval：将用户查询转为向量，在向量数据库中检索最相关的文本片段。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C5EEB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 </a:t>
            </a: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Generation：将相关片段与指令组成提示词，交由大模型生成答案并返回。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72748" y="2877666"/>
            <a:ext cx="402693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RAG </a:t>
            </a:r>
            <a:r>
              <a:rPr lang="zh-CN" altLang="en-US" sz="2000" b="1">
                <a:solidFill>
                  <a:srgbClr val="0614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知识存储</a:t>
            </a: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与 </a:t>
            </a: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Microsoft YaHei"/>
              </a:rPr>
              <a:t>语言生成</a:t>
            </a: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latin typeface="Microsoft YaHei"/>
              </a:rPr>
              <a:t> </a:t>
            </a: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6145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解耦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2FE4A552-8F19-4E2E-8541-D003B52E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14" y="1525613"/>
            <a:ext cx="454235" cy="407245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14F04643-4345-4C23-A691-306B6AEB5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44" y="1520208"/>
            <a:ext cx="485943" cy="394829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3B9F16E3-2499-44D9-B0BD-92C23F6C9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590" y="1561268"/>
            <a:ext cx="442363" cy="407048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2D01A4F9-7C2D-4FA9-ACD8-9FE6A0560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2543421"/>
            <a:ext cx="432000" cy="479472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51193D65-5C4A-4344-AC7C-506E6F4A47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840" y="2530469"/>
            <a:ext cx="341718" cy="538641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2A700886-754F-45FC-ADC6-189B3D92EE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6021" y="2512971"/>
            <a:ext cx="634651" cy="523741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2ACB55AF-88F3-4197-A8F5-5127C888B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584" y="2519738"/>
            <a:ext cx="505886" cy="523741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D1AB8F4E-A52E-451A-B48D-A1D84B22AF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3921" y="5404735"/>
            <a:ext cx="453201" cy="487022"/>
          </a:xfrm>
          <a:prstGeom prst="rect">
            <a:avLst/>
          </a:prstGeom>
        </p:spPr>
      </p:pic>
      <p:pic>
        <p:nvPicPr>
          <p:cNvPr id="112" name="图形 111" descr="用户 纯色填充">
            <a:extLst>
              <a:ext uri="{FF2B5EF4-FFF2-40B4-BE49-F238E27FC236}">
                <a16:creationId xmlns:a16="http://schemas.microsoft.com/office/drawing/2014/main" id="{BD27E08B-4109-444A-984A-FFE8B80C7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858" y="3712465"/>
            <a:ext cx="749808" cy="749808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1B021189-F2E8-446D-A002-C3121909A1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959" y="3817294"/>
            <a:ext cx="777289" cy="540150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23CC1AC9-875E-4329-AAE2-DB15236516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018" y="3756029"/>
            <a:ext cx="807215" cy="646807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EF8E8243-C9C3-46A2-B8D0-8035184D2D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03620" y="3753535"/>
            <a:ext cx="679398" cy="603909"/>
          </a:xfrm>
          <a:prstGeom prst="rect">
            <a:avLst/>
          </a:prstGeom>
        </p:spPr>
      </p:pic>
      <p:pic>
        <p:nvPicPr>
          <p:cNvPr id="119" name="Picture 51" descr="tbl_puzzle.png">
            <a:extLst>
              <a:ext uri="{FF2B5EF4-FFF2-40B4-BE49-F238E27FC236}">
                <a16:creationId xmlns:a16="http://schemas.microsoft.com/office/drawing/2014/main" id="{56B42858-D095-497F-8B12-BFA52C641EE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1367" y="3756029"/>
            <a:ext cx="637105" cy="602033"/>
          </a:xfrm>
          <a:prstGeom prst="rect">
            <a:avLst/>
          </a:prstGeom>
        </p:spPr>
      </p:pic>
      <p:pic>
        <p:nvPicPr>
          <p:cNvPr id="121" name="图片 120">
            <a:extLst>
              <a:ext uri="{FF2B5EF4-FFF2-40B4-BE49-F238E27FC236}">
                <a16:creationId xmlns:a16="http://schemas.microsoft.com/office/drawing/2014/main" id="{7AA98379-D68B-4A3F-8E31-FD423A716D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95257" y="3739379"/>
            <a:ext cx="808279" cy="618683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251E674A-ADD7-4CBA-8C71-E048696256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16377" y="3766444"/>
            <a:ext cx="728932" cy="571178"/>
          </a:xfrm>
          <a:prstGeom prst="rect">
            <a:avLst/>
          </a:prstGeom>
        </p:spPr>
      </p:pic>
      <p:cxnSp>
        <p:nvCxnSpPr>
          <p:cNvPr id="125" name="连接符: 曲线 124">
            <a:extLst>
              <a:ext uri="{FF2B5EF4-FFF2-40B4-BE49-F238E27FC236}">
                <a16:creationId xmlns:a16="http://schemas.microsoft.com/office/drawing/2014/main" id="{C1DBA857-64BD-4269-909C-149773DA9E1C}"/>
              </a:ext>
            </a:extLst>
          </p:cNvPr>
          <p:cNvCxnSpPr>
            <a:cxnSpLocks/>
            <a:stCxn id="21" idx="3"/>
            <a:endCxn id="41" idx="0"/>
          </p:cNvCxnSpPr>
          <p:nvPr/>
        </p:nvCxnSpPr>
        <p:spPr>
          <a:xfrm>
            <a:off x="4114800" y="2788920"/>
            <a:ext cx="562356" cy="886967"/>
          </a:xfrm>
          <a:prstGeom prst="curvedConnector2">
            <a:avLst/>
          </a:prstGeom>
          <a:ln>
            <a:solidFill>
              <a:srgbClr val="0C5E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B7E225D4-CE5D-4731-AA16-92BD7BBBA096}"/>
              </a:ext>
            </a:extLst>
          </p:cNvPr>
          <p:cNvCxnSpPr/>
          <p:nvPr/>
        </p:nvCxnSpPr>
        <p:spPr>
          <a:xfrm rot="5400000" flipH="1" flipV="1">
            <a:off x="6270440" y="2812705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99A5EB69-CB9A-4200-8F07-CD0BFB1E3B51}"/>
              </a:ext>
            </a:extLst>
          </p:cNvPr>
          <p:cNvCxnSpPr>
            <a:cxnSpLocks/>
          </p:cNvCxnSpPr>
          <p:nvPr/>
        </p:nvCxnSpPr>
        <p:spPr>
          <a:xfrm rot="5400000">
            <a:off x="10289993" y="2916207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直角三角形 134">
            <a:extLst>
              <a:ext uri="{FF2B5EF4-FFF2-40B4-BE49-F238E27FC236}">
                <a16:creationId xmlns:a16="http://schemas.microsoft.com/office/drawing/2014/main" id="{E3130978-E50E-40F2-8646-9267447F0C01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直角三角形 135">
            <a:extLst>
              <a:ext uri="{FF2B5EF4-FFF2-40B4-BE49-F238E27FC236}">
                <a16:creationId xmlns:a16="http://schemas.microsoft.com/office/drawing/2014/main" id="{D4F580BB-3DED-46C0-A592-0C24B44FD66F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直角三角形 136">
            <a:extLst>
              <a:ext uri="{FF2B5EF4-FFF2-40B4-BE49-F238E27FC236}">
                <a16:creationId xmlns:a16="http://schemas.microsoft.com/office/drawing/2014/main" id="{D9DF726C-2494-43F7-9BCC-FEB8C71EBE94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直角三角形 137">
            <a:extLst>
              <a:ext uri="{FF2B5EF4-FFF2-40B4-BE49-F238E27FC236}">
                <a16:creationId xmlns:a16="http://schemas.microsoft.com/office/drawing/2014/main" id="{595C5968-1FE2-475B-B1DD-FFAED0318C64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直角三角形 138">
            <a:extLst>
              <a:ext uri="{FF2B5EF4-FFF2-40B4-BE49-F238E27FC236}">
                <a16:creationId xmlns:a16="http://schemas.microsoft.com/office/drawing/2014/main" id="{B30EC10C-CD80-405A-B6A4-6840FCD67BFC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直角三角形 139">
            <a:extLst>
              <a:ext uri="{FF2B5EF4-FFF2-40B4-BE49-F238E27FC236}">
                <a16:creationId xmlns:a16="http://schemas.microsoft.com/office/drawing/2014/main" id="{95446788-4471-404E-AF7C-D6180CD6FB6F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直角三角形 140">
            <a:extLst>
              <a:ext uri="{FF2B5EF4-FFF2-40B4-BE49-F238E27FC236}">
                <a16:creationId xmlns:a16="http://schemas.microsoft.com/office/drawing/2014/main" id="{225DDC52-3980-464E-B401-5F3794F363F5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直角三角形 141">
            <a:extLst>
              <a:ext uri="{FF2B5EF4-FFF2-40B4-BE49-F238E27FC236}">
                <a16:creationId xmlns:a16="http://schemas.microsoft.com/office/drawing/2014/main" id="{E1390BE6-61C5-4093-B9C5-A9E6308D0D18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直角三角形 85">
            <a:extLst>
              <a:ext uri="{FF2B5EF4-FFF2-40B4-BE49-F238E27FC236}">
                <a16:creationId xmlns:a16="http://schemas.microsoft.com/office/drawing/2014/main" id="{A5D94742-7809-4B81-B681-81A84B5F5432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ed Rectangle 58"/>
          <p:cNvSpPr/>
          <p:nvPr/>
        </p:nvSpPr>
        <p:spPr>
          <a:xfrm>
            <a:off x="1356287" y="3828626"/>
            <a:ext cx="9784346" cy="2536221"/>
          </a:xfrm>
          <a:prstGeom prst="roundRect">
            <a:avLst>
              <a:gd name="adj" fmla="val 3764"/>
            </a:avLst>
          </a:prstGeom>
          <a:solidFill>
            <a:srgbClr val="FDFDFD"/>
          </a:solidFill>
          <a:ln w="12700">
            <a:solidFill>
              <a:srgbClr val="3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3474ACED-6B3C-4A35-80AA-A5C83C72B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25" y="4153982"/>
            <a:ext cx="4622579" cy="2159231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2517769" y="1007242"/>
            <a:ext cx="1179576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63820" y="995602"/>
            <a:ext cx="1051560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76620" y="97523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683376" y="96359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1180" y="888428"/>
            <a:ext cx="46294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100" normalizeH="0" noProof="0">
                <a:ln>
                  <a:noFill/>
                </a:ln>
                <a:solidFill>
                  <a:srgbClr val="004CE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把文本、图片、音频等对象映射为高维向量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4620" y="1282686"/>
            <a:ext cx="2124000" cy="539311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4440" y="14174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文本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4620" y="1865725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84440" y="2000525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图片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4620" y="2441477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84440" y="257627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音频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4620" y="3017228"/>
            <a:ext cx="2124000" cy="524735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84440" y="3152028"/>
            <a:ext cx="107240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PDF/网页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4076" y="1370142"/>
            <a:ext cx="2231310" cy="2186397"/>
          </a:xfrm>
          <a:prstGeom prst="roundRect">
            <a:avLst/>
          </a:prstGeom>
          <a:solidFill>
            <a:srgbClr val="EDF5FD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Picture 28" descr="embedding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388" y="1463022"/>
            <a:ext cx="1429205" cy="11587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68519" y="2575905"/>
            <a:ext cx="180872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Embedding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51A6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377" y="3192140"/>
            <a:ext cx="1516708" cy="284231"/>
          </a:xfrm>
          <a:prstGeom prst="roundRect">
            <a:avLst/>
          </a:prstGeom>
          <a:solidFill>
            <a:srgbClr val="FA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98530" y="3260210"/>
            <a:ext cx="12824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将对象映射为向量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0200" y="138471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14792" y="144872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⋮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34248" y="1457870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35416" y="150359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[0.12, -0.48, 0.23, ..., 0.91]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0689" y="153470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高维向量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50200" y="1894877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14792" y="1958885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⋮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34248" y="1968029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35416" y="2013749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[-0.31, 0.77, -0.11, ..., 0.05]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0689" y="2044860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高维向量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50200" y="2390461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14792" y="2454469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⋮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34248" y="2463613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935416" y="2509333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[0.08, -0.22, 0.61, ..., -0.33]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0689" y="2540444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高维向量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50200" y="290790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14792" y="297191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⋮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734248" y="2981060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935416" y="302678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[0.47, -0.15, 0.34, ..., 0.66]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0689" y="305789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高维向量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3429000"/>
            <a:ext cx="2743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⋮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56287" y="3840480"/>
            <a:ext cx="1750047" cy="278382"/>
          </a:xfrm>
          <a:prstGeom prst="roundRect">
            <a:avLst/>
          </a:prstGeom>
          <a:solidFill>
            <a:srgbClr val="005DE8"/>
          </a:solidFill>
          <a:ln>
            <a:solidFill>
              <a:srgbClr val="005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513164" y="3857778"/>
            <a:ext cx="143629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二维向量空间示意</a:t>
            </a:r>
          </a:p>
        </p:txBody>
      </p:sp>
      <p:pic>
        <p:nvPicPr>
          <p:cNvPr id="64" name="Picture 63" descr="right_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35" y="3945723"/>
            <a:ext cx="772937" cy="772527"/>
          </a:xfrm>
          <a:prstGeom prst="rect">
            <a:avLst/>
          </a:prstGeom>
        </p:spPr>
      </p:pic>
      <p:pic>
        <p:nvPicPr>
          <p:cNvPr id="65" name="Picture 64" descr="right_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251" y="4674522"/>
            <a:ext cx="787521" cy="787103"/>
          </a:xfrm>
          <a:prstGeom prst="rect">
            <a:avLst/>
          </a:prstGeom>
        </p:spPr>
      </p:pic>
      <p:pic>
        <p:nvPicPr>
          <p:cNvPr id="66" name="Picture 65" descr="right_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543" y="5410609"/>
            <a:ext cx="772937" cy="77252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991411" y="4220810"/>
            <a:ext cx="3751027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向量不是原始内容，而是</a:t>
            </a:r>
            <a:r>
              <a:rPr kumimoji="0" sz="1900" b="1" i="0" u="none" strike="noStrike" kern="1200" cap="none" spc="50" normalizeH="0" noProof="0">
                <a:ln>
                  <a:noFill/>
                </a:ln>
                <a:solidFill>
                  <a:srgbClr val="0096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语义表示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2622" y="4966203"/>
            <a:ext cx="40331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语义相近的数据在向量空间中</a:t>
            </a:r>
            <a:r>
              <a:rPr kumimoji="0" sz="1800" b="1" i="0" u="none" strike="noStrike" kern="1200" cap="none" spc="50" normalizeH="0" noProof="0">
                <a:ln>
                  <a:noFill/>
                </a:ln>
                <a:solidFill>
                  <a:srgbClr val="004CE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距离更近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2622" y="5708609"/>
            <a:ext cx="30841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向量化是后续</a:t>
            </a:r>
            <a:r>
              <a:rPr kumimoji="0" sz="1800" b="1" i="0" u="none" strike="noStrike" kern="1200" cap="none" spc="50" normalizeH="0" noProof="0">
                <a:ln>
                  <a:noFill/>
                </a:ln>
                <a:solidFill>
                  <a:srgbClr val="00969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相似检索</a:t>
            </a:r>
            <a:r>
              <a:rPr kumimoji="0" sz="1800" b="1" i="0" u="none" strike="noStrike" kern="1200" cap="none" spc="50" normalizeH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的基础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5FD69C1-6076-4496-887B-8B6CAC922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633" y="1308284"/>
            <a:ext cx="624079" cy="47723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B8B6338-284F-403E-91D0-BF727A74D8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395" y="1907478"/>
            <a:ext cx="580553" cy="45761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51A623B-AD74-4350-8F19-AC2B8A28B2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1971" y="2476946"/>
            <a:ext cx="641400" cy="43922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A01E42FB-2AAE-42F5-A77C-868B67E934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9360" y="3026780"/>
            <a:ext cx="473913" cy="495578"/>
          </a:xfrm>
          <a:prstGeom prst="rect">
            <a:avLst/>
          </a:prstGeom>
        </p:spPr>
      </p:pic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E8AB1A89-B9E1-4643-A09A-A610A32FA8D6}"/>
              </a:ext>
            </a:extLst>
          </p:cNvPr>
          <p:cNvCxnSpPr>
            <a:cxnSpLocks/>
          </p:cNvCxnSpPr>
          <p:nvPr/>
        </p:nvCxnSpPr>
        <p:spPr>
          <a:xfrm>
            <a:off x="3635895" y="15347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22F91DA6-23A8-4891-B7D4-ECC574E866EE}"/>
              </a:ext>
            </a:extLst>
          </p:cNvPr>
          <p:cNvCxnSpPr>
            <a:cxnSpLocks/>
          </p:cNvCxnSpPr>
          <p:nvPr/>
        </p:nvCxnSpPr>
        <p:spPr>
          <a:xfrm>
            <a:off x="3635895" y="214261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9793E3D4-7960-4941-BCCA-5A1EF92B2262}"/>
              </a:ext>
            </a:extLst>
          </p:cNvPr>
          <p:cNvCxnSpPr>
            <a:cxnSpLocks/>
          </p:cNvCxnSpPr>
          <p:nvPr/>
        </p:nvCxnSpPr>
        <p:spPr>
          <a:xfrm>
            <a:off x="3635895" y="27170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E457F3A-20C1-4EC5-AD42-9B026AE890B7}"/>
              </a:ext>
            </a:extLst>
          </p:cNvPr>
          <p:cNvCxnSpPr>
            <a:cxnSpLocks/>
          </p:cNvCxnSpPr>
          <p:nvPr/>
        </p:nvCxnSpPr>
        <p:spPr>
          <a:xfrm>
            <a:off x="3635895" y="3291956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646236B-505E-40F2-92C1-1430D2E04872}"/>
              </a:ext>
            </a:extLst>
          </p:cNvPr>
          <p:cNvCxnSpPr>
            <a:cxnSpLocks/>
          </p:cNvCxnSpPr>
          <p:nvPr/>
        </p:nvCxnSpPr>
        <p:spPr>
          <a:xfrm>
            <a:off x="6618017" y="159693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78F9F49-B9B1-406D-9D49-95DCCD955066}"/>
              </a:ext>
            </a:extLst>
          </p:cNvPr>
          <p:cNvCxnSpPr>
            <a:cxnSpLocks/>
          </p:cNvCxnSpPr>
          <p:nvPr/>
        </p:nvCxnSpPr>
        <p:spPr>
          <a:xfrm>
            <a:off x="6625309" y="2085234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EDED387-BA39-472C-8E5E-5189E8AEA476}"/>
              </a:ext>
            </a:extLst>
          </p:cNvPr>
          <p:cNvCxnSpPr>
            <a:cxnSpLocks/>
          </p:cNvCxnSpPr>
          <p:nvPr/>
        </p:nvCxnSpPr>
        <p:spPr>
          <a:xfrm>
            <a:off x="6625309" y="2617185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35543E5-76D4-431D-9B0B-5088A88E5CFB}"/>
              </a:ext>
            </a:extLst>
          </p:cNvPr>
          <p:cNvCxnSpPr>
            <a:cxnSpLocks/>
          </p:cNvCxnSpPr>
          <p:nvPr/>
        </p:nvCxnSpPr>
        <p:spPr>
          <a:xfrm>
            <a:off x="6625309" y="3152028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49">
            <a:extLst>
              <a:ext uri="{FF2B5EF4-FFF2-40B4-BE49-F238E27FC236}">
                <a16:creationId xmlns:a16="http://schemas.microsoft.com/office/drawing/2014/main" id="{CE718401-CB1E-4E07-8205-A0A0D6B7F3A5}"/>
              </a:ext>
            </a:extLst>
          </p:cNvPr>
          <p:cNvCxnSpPr>
            <a:cxnSpLocks/>
          </p:cNvCxnSpPr>
          <p:nvPr/>
        </p:nvCxnSpPr>
        <p:spPr>
          <a:xfrm>
            <a:off x="6080932" y="3965500"/>
            <a:ext cx="0" cy="2250804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直角三角形 81">
            <a:extLst>
              <a:ext uri="{FF2B5EF4-FFF2-40B4-BE49-F238E27FC236}">
                <a16:creationId xmlns:a16="http://schemas.microsoft.com/office/drawing/2014/main" id="{9F0ED60C-62F5-40F1-ACB1-9BD8BC3E71B1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直角三角形 82">
            <a:extLst>
              <a:ext uri="{FF2B5EF4-FFF2-40B4-BE49-F238E27FC236}">
                <a16:creationId xmlns:a16="http://schemas.microsoft.com/office/drawing/2014/main" id="{5C388B97-68BB-40BE-AF48-7DC24CA93056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直角三角形 83">
            <a:extLst>
              <a:ext uri="{FF2B5EF4-FFF2-40B4-BE49-F238E27FC236}">
                <a16:creationId xmlns:a16="http://schemas.microsoft.com/office/drawing/2014/main" id="{D72A0C5E-F704-4D70-ADAB-E9E366DDF76D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直角三角形 84">
            <a:extLst>
              <a:ext uri="{FF2B5EF4-FFF2-40B4-BE49-F238E27FC236}">
                <a16:creationId xmlns:a16="http://schemas.microsoft.com/office/drawing/2014/main" id="{112A248D-55D4-4081-8F76-69C9D6BCC154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直角三角形 86">
            <a:extLst>
              <a:ext uri="{FF2B5EF4-FFF2-40B4-BE49-F238E27FC236}">
                <a16:creationId xmlns:a16="http://schemas.microsoft.com/office/drawing/2014/main" id="{E93A7AD1-F7B9-4F6A-8A1C-42018D9F09B6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直角三角形 87">
            <a:extLst>
              <a:ext uri="{FF2B5EF4-FFF2-40B4-BE49-F238E27FC236}">
                <a16:creationId xmlns:a16="http://schemas.microsoft.com/office/drawing/2014/main" id="{900B9F09-B86A-4706-AB88-667E9C0FB6F0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直角三角形 88">
            <a:extLst>
              <a:ext uri="{FF2B5EF4-FFF2-40B4-BE49-F238E27FC236}">
                <a16:creationId xmlns:a16="http://schemas.microsoft.com/office/drawing/2014/main" id="{E67B2EAE-4896-4E83-BA39-63C09265B14D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1095" y="274320"/>
            <a:ext cx="84124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051A6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Embedding：非结构化数据如何进入数据库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989590" y="174911"/>
            <a:ext cx="6197931" cy="6559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从 RAG 引出向量数据库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5841" y="896422"/>
            <a:ext cx="4958344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100" normalizeH="0" noProof="0">
                <a:ln>
                  <a:noFill/>
                </a:ln>
                <a:solidFill>
                  <a:srgbClr val="1A5CE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为什么 RAG 需要专门的向量存储与检索系统？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87505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13562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5833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99689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2084" y="1676238"/>
            <a:ext cx="132708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58338" y="1676238"/>
            <a:ext cx="1319794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71884" y="1676238"/>
            <a:ext cx="1312503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7519" y="1676238"/>
            <a:ext cx="137083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938564" y="1676238"/>
            <a:ext cx="1385419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251" y="1807421"/>
            <a:ext cx="94791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文档切分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(chunking)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5213" y="1909453"/>
            <a:ext cx="984377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301" y="1807421"/>
            <a:ext cx="984377" cy="473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大量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chunk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6686" y="1840280"/>
            <a:ext cx="765626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相似检索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0023" y="1829285"/>
            <a:ext cx="947918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返回相关片段</a:t>
            </a:r>
          </a:p>
        </p:txBody>
      </p:sp>
      <p:pic>
        <p:nvPicPr>
          <p:cNvPr id="23" name="Picture 22" descr="embedding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540" y="2237414"/>
            <a:ext cx="1050002" cy="976590"/>
          </a:xfrm>
          <a:prstGeom prst="rect">
            <a:avLst/>
          </a:prstGeom>
        </p:spPr>
      </p:pic>
      <p:pic>
        <p:nvPicPr>
          <p:cNvPr id="24" name="Picture 23" descr="chunk_vector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01" y="2266565"/>
            <a:ext cx="1050002" cy="976590"/>
          </a:xfrm>
          <a:prstGeom prst="rect">
            <a:avLst/>
          </a:prstGeom>
        </p:spPr>
      </p:pic>
      <p:sp>
        <p:nvSpPr>
          <p:cNvPr id="28" name="Right Arrow 27"/>
          <p:cNvSpPr/>
          <p:nvPr/>
        </p:nvSpPr>
        <p:spPr>
          <a:xfrm>
            <a:off x="1786462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514591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5198970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7729184" y="2383173"/>
            <a:ext cx="342709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537522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01042" y="3942803"/>
            <a:ext cx="3791676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31268" y="3942803"/>
            <a:ext cx="3777092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96885" y="3797043"/>
            <a:ext cx="3427091" cy="3060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100" normalizeH="0" noProof="0">
                <a:ln>
                  <a:noFill/>
                </a:ln>
                <a:solidFill>
                  <a:srgbClr val="1A5CE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为什么需要专门的向量数据库？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084" y="4292626"/>
            <a:ext cx="2573964" cy="10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295841" y="4292626"/>
            <a:ext cx="2515630" cy="10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059389" y="4292626"/>
            <a:ext cx="2537505" cy="10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866687" y="4292626"/>
            <a:ext cx="2727089" cy="10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85419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50" normalizeH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 数据量大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00003" y="4715330"/>
            <a:ext cx="1341670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00003" y="4846515"/>
            <a:ext cx="1589587" cy="42270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defRPr/>
            </a:pPr>
            <a:r>
              <a:rPr sz="1250">
                <a:solidFill>
                  <a:srgbClr val="2D32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</a:t>
            </a:r>
            <a:r>
              <a:rPr lang="zh-CN" altLang="en-US" sz="1250">
                <a:solidFill>
                  <a:srgbClr val="2D32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00">
                <a:solidFill>
                  <a:srgbClr val="2D32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chunk embedding</a:t>
            </a:r>
            <a:endParaRPr lang="en-US" sz="1250">
              <a:solidFill>
                <a:srgbClr val="2D32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250">
                <a:solidFill>
                  <a:srgbClr val="2D32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需要持久化保存。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1250">
              <a:solidFill>
                <a:srgbClr val="2D32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87510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50" normalizeH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 查询频繁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287510" y="4715330"/>
            <a:ext cx="1319794" cy="0"/>
          </a:xfrm>
          <a:prstGeom prst="line">
            <a:avLst/>
          </a:prstGeom>
          <a:ln w="10160">
            <a:solidFill>
              <a:srgbClr val="008B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94801" y="4846514"/>
            <a:ext cx="1312503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每次问答都要进行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4801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近邻检索。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2933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50" normalizeH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 需要高效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72933" y="4715330"/>
            <a:ext cx="1327086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72933" y="4846514"/>
            <a:ext cx="1093752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不能暴力扫描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72933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全部向量。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2939" y="4445674"/>
            <a:ext cx="1494795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50" normalizeH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 需要结合元数据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87523" y="4715330"/>
            <a:ext cx="1523962" cy="0"/>
          </a:xfrm>
          <a:prstGeom prst="line">
            <a:avLst/>
          </a:prstGeom>
          <a:ln w="10160">
            <a:solidFill>
              <a:srgbClr val="007D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880231" y="4846514"/>
            <a:ext cx="1348961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文档来源、时间、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80231" y="5043290"/>
            <a:ext cx="1494795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D32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标签等需联合管理。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89590" y="5808530"/>
            <a:ext cx="6073387" cy="6087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27091" y="5917849"/>
            <a:ext cx="5169803" cy="3644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sng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向量数据库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41457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RAG 检索层的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07814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基础设施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CABA9E66-763C-46EB-A019-DBB407E77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991" y="1454653"/>
            <a:ext cx="2169678" cy="2152902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351C7FAA-BA29-459F-A334-C89E68026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78" y="2154124"/>
            <a:ext cx="1235975" cy="1151154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E786C551-68F1-42B7-9026-5D27F9C1D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982" y="2207784"/>
            <a:ext cx="947918" cy="1021269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2C6A9437-A1C2-49D4-A86D-2303F7433E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954" y="2266565"/>
            <a:ext cx="884924" cy="910207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AD177AA6-9ED3-4230-83EB-0FA3FFF3F5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99" y="4350154"/>
            <a:ext cx="849891" cy="869061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5A18938D-179E-4D33-B03C-E1006212D2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4334" y="4444971"/>
            <a:ext cx="810056" cy="798056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4B5602A5-3C15-4994-8356-AD02543D26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6769" y="4445674"/>
            <a:ext cx="771268" cy="729089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FAF0456B-123D-4F6C-9444-DB257A4DB3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8259" y="4347339"/>
            <a:ext cx="788702" cy="834424"/>
          </a:xfrm>
          <a:prstGeom prst="rect">
            <a:avLst/>
          </a:prstGeom>
        </p:spPr>
      </p:pic>
      <p:pic>
        <p:nvPicPr>
          <p:cNvPr id="80" name="图形 79" descr="灯泡 纯色填充">
            <a:extLst>
              <a:ext uri="{FF2B5EF4-FFF2-40B4-BE49-F238E27FC236}">
                <a16:creationId xmlns:a16="http://schemas.microsoft.com/office/drawing/2014/main" id="{2D4B94E3-3D28-4763-AE0B-3FBE0D698D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313298">
            <a:off x="2725582" y="5537216"/>
            <a:ext cx="600933" cy="600933"/>
          </a:xfrm>
          <a:prstGeom prst="rect">
            <a:avLst/>
          </a:prstGeom>
        </p:spPr>
      </p:pic>
      <p:sp>
        <p:nvSpPr>
          <p:cNvPr id="81" name="直角三角形 80">
            <a:extLst>
              <a:ext uri="{FF2B5EF4-FFF2-40B4-BE49-F238E27FC236}">
                <a16:creationId xmlns:a16="http://schemas.microsoft.com/office/drawing/2014/main" id="{452479D6-71CB-4976-ACA4-A5706E826D7F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直角三角形 81">
            <a:extLst>
              <a:ext uri="{FF2B5EF4-FFF2-40B4-BE49-F238E27FC236}">
                <a16:creationId xmlns:a16="http://schemas.microsoft.com/office/drawing/2014/main" id="{FE3B86B1-FFD3-4DDC-92CA-4F9FC2FCF467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直角三角形 82">
            <a:extLst>
              <a:ext uri="{FF2B5EF4-FFF2-40B4-BE49-F238E27FC236}">
                <a16:creationId xmlns:a16="http://schemas.microsoft.com/office/drawing/2014/main" id="{4381C65B-6E08-492F-B91F-635A06354C7A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直角三角形 83">
            <a:extLst>
              <a:ext uri="{FF2B5EF4-FFF2-40B4-BE49-F238E27FC236}">
                <a16:creationId xmlns:a16="http://schemas.microsoft.com/office/drawing/2014/main" id="{66021D86-F156-47C4-90B2-39E9DB240AAB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直角三角形 84">
            <a:extLst>
              <a:ext uri="{FF2B5EF4-FFF2-40B4-BE49-F238E27FC236}">
                <a16:creationId xmlns:a16="http://schemas.microsoft.com/office/drawing/2014/main" id="{FE5E6FF8-2460-4828-B1E2-C478EC85BBDB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直角三角形 85">
            <a:extLst>
              <a:ext uri="{FF2B5EF4-FFF2-40B4-BE49-F238E27FC236}">
                <a16:creationId xmlns:a16="http://schemas.microsoft.com/office/drawing/2014/main" id="{1E4A07F2-3B3A-4F79-BC91-ECE296EDC742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直角三角形 86">
            <a:extLst>
              <a:ext uri="{FF2B5EF4-FFF2-40B4-BE49-F238E27FC236}">
                <a16:creationId xmlns:a16="http://schemas.microsoft.com/office/drawing/2014/main" id="{C001EC00-A306-4EDB-8941-DE352CD4A4FC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直角三角形 87">
            <a:extLst>
              <a:ext uri="{FF2B5EF4-FFF2-40B4-BE49-F238E27FC236}">
                <a16:creationId xmlns:a16="http://schemas.microsoft.com/office/drawing/2014/main" id="{08EC698B-F788-4A8F-94BB-4AAC56BD5246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" y="164592"/>
            <a:ext cx="113842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什么是向量数据库？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66544" y="941832"/>
            <a:ext cx="123444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83823" y="941832"/>
            <a:ext cx="109728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39112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935383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3631" y="841248"/>
            <a:ext cx="5539978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100" normalizeH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面向高维向量数据存储、索引与相似检索的数据库系统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1188720"/>
            <a:ext cx="9162288" cy="822960"/>
          </a:xfrm>
          <a:prstGeom prst="roundRect">
            <a:avLst/>
          </a:prstGeom>
          <a:solidFill>
            <a:srgbClr val="E5F0FE"/>
          </a:solidFill>
          <a:ln w="1524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1444752"/>
            <a:ext cx="713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定义：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335024"/>
            <a:ext cx="6508192" cy="5360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5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向量数据库用于管理 embedding 等高维向量数据，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5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支持高效近邻搜索，并结合元数据、过滤、更新与系统管理能力。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2148840"/>
            <a:ext cx="4069080" cy="2578608"/>
          </a:xfrm>
          <a:prstGeom prst="roundRect">
            <a:avLst>
              <a:gd name="adj" fmla="val 7408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559552" y="2123584"/>
            <a:ext cx="5522976" cy="2578608"/>
          </a:xfrm>
          <a:prstGeom prst="roundRect">
            <a:avLst>
              <a:gd name="adj" fmla="val 4650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84743" y="2267712"/>
            <a:ext cx="7694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100" normalizeH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数据对象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2286000"/>
            <a:ext cx="112851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（一个向量记录）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0704" y="2514600"/>
            <a:ext cx="4069080" cy="0"/>
          </a:xfrm>
          <a:prstGeom prst="line">
            <a:avLst/>
          </a:prstGeom>
          <a:ln w="10160">
            <a:solidFill>
              <a:srgbClr val="87B4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36408" y="2267712"/>
            <a:ext cx="868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核心定位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2395728"/>
            <a:ext cx="1874520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87968" y="2395728"/>
            <a:ext cx="1993392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72768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vector（向量）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874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metadata（元数据）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2898648"/>
            <a:ext cx="1856231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57723" y="3063240"/>
            <a:ext cx="149079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[0.12, -0.35, 0.81, ..., 0.07]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5712" y="3364992"/>
            <a:ext cx="4696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维度：d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880360"/>
            <a:ext cx="166420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E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56432" y="2999232"/>
            <a:ext cx="998671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• 文本：今天天气不错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• 类别：天气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• 时间：2024-05-20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• 来源：新闻网站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• 其他键值对 ...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39112" y="3712463"/>
            <a:ext cx="0" cy="256033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>
          <a:xfrm>
            <a:off x="3822191" y="3886200"/>
            <a:ext cx="0" cy="82296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72184" y="4160520"/>
            <a:ext cx="3200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560320" y="4224528"/>
            <a:ext cx="104241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6E50D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id（唯一标识）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443984"/>
            <a:ext cx="26060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550e8400-e29b-41d4-a716-446655440000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212080" y="3364992"/>
            <a:ext cx="320040" cy="22860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687568" y="2596896"/>
            <a:ext cx="1600200" cy="2029968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452360" y="2596896"/>
            <a:ext cx="1627632" cy="202996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008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281160" y="2596896"/>
            <a:ext cx="1627632" cy="2029968"/>
          </a:xfrm>
          <a:prstGeom prst="roundRect">
            <a:avLst/>
          </a:prstGeom>
          <a:solidFill>
            <a:srgbClr val="F8F5FE"/>
          </a:solidFill>
          <a:ln w="12700">
            <a:solidFill>
              <a:srgbClr val="583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97880" y="3355848"/>
            <a:ext cx="1143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59D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存储（Storage）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657600"/>
            <a:ext cx="1498808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持久化存储高维向量与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元数据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支持高并发写入与读取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保证数据可靠性与可用性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3355848"/>
            <a:ext cx="1234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874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索引（Indexing）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3657600"/>
            <a:ext cx="1580561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构建近邻搜索索引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（如 HNSW、IVF、PQ 等）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支持增量构建与更新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平衡性能、精度与成本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3355848"/>
            <a:ext cx="12801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36B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检索（Retrieval）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652800"/>
            <a:ext cx="1353312" cy="654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高效近邻/相似性搜索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支持相似度度量（如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余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弦相似度、L2 等）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• 结合过滤与条件查询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43000" y="4965192"/>
            <a:ext cx="3886200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92240" y="4965192"/>
            <a:ext cx="4507992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115568" y="4956048"/>
            <a:ext cx="9921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353312" y="5148072"/>
            <a:ext cx="2514600" cy="1033271"/>
          </a:xfrm>
          <a:prstGeom prst="roundRect">
            <a:avLst/>
          </a:prstGeom>
          <a:solidFill>
            <a:srgbClr val="FEF9F9"/>
          </a:solidFill>
          <a:ln w="11430">
            <a:solidFill>
              <a:srgbClr val="A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343400" y="5148072"/>
            <a:ext cx="2423160" cy="1033271"/>
          </a:xfrm>
          <a:prstGeom prst="roundRect">
            <a:avLst/>
          </a:prstGeom>
          <a:solidFill>
            <a:srgbClr val="FEF9F8"/>
          </a:solidFill>
          <a:ln w="11430">
            <a:solidFill>
              <a:srgbClr val="D2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242048" y="5148072"/>
            <a:ext cx="3474720" cy="1033271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32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3950208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6858000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51633" y="5340096"/>
            <a:ext cx="1331775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不是仅仅一个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embedding</a:t>
            </a:r>
            <a:r>
              <a:rPr kumimoji="0" sz="11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81757" y="577204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模型负责“生成向量”，而非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存储、索引与系统管理。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2653" y="5283843"/>
            <a:ext cx="820738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不是单纯的</a:t>
            </a:r>
            <a:endParaRPr kumimoji="0" sz="1100" b="1" i="0" u="none" strike="noStrike" kern="1200" cap="none" spc="8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ANN 算法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9931" y="577639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算法是“方法”，而非完整的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数据平台与工程体系。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97536" y="5309440"/>
            <a:ext cx="2333972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而是把存储</a:t>
            </a:r>
            <a:r>
              <a:rPr kumimoji="0" sz="11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、索引、查询、过滤、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工程能力整合起来的系统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8240" y="5779802"/>
            <a:ext cx="2318583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提供端到端能力，面向生产可用性、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8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可扩展性与可运维性。</a:t>
            </a:r>
          </a:p>
        </p:txBody>
      </p:sp>
      <p:cxnSp>
        <p:nvCxnSpPr>
          <p:cNvPr id="70" name="Connector 29">
            <a:extLst>
              <a:ext uri="{FF2B5EF4-FFF2-40B4-BE49-F238E27FC236}">
                <a16:creationId xmlns:a16="http://schemas.microsoft.com/office/drawing/2014/main" id="{54D6EBB2-0210-4531-A0D7-9F6DE9E5B74D}"/>
              </a:ext>
            </a:extLst>
          </p:cNvPr>
          <p:cNvCxnSpPr>
            <a:cxnSpLocks/>
          </p:cNvCxnSpPr>
          <p:nvPr/>
        </p:nvCxnSpPr>
        <p:spPr>
          <a:xfrm>
            <a:off x="2039112" y="3968496"/>
            <a:ext cx="950976" cy="0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30">
            <a:extLst>
              <a:ext uri="{FF2B5EF4-FFF2-40B4-BE49-F238E27FC236}">
                <a16:creationId xmlns:a16="http://schemas.microsoft.com/office/drawing/2014/main" id="{6747AF0D-0621-41FB-8640-8999E082A417}"/>
              </a:ext>
            </a:extLst>
          </p:cNvPr>
          <p:cNvCxnSpPr>
            <a:cxnSpLocks/>
          </p:cNvCxnSpPr>
          <p:nvPr/>
        </p:nvCxnSpPr>
        <p:spPr>
          <a:xfrm>
            <a:off x="2990088" y="3968496"/>
            <a:ext cx="832103" cy="0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29">
            <a:extLst>
              <a:ext uri="{FF2B5EF4-FFF2-40B4-BE49-F238E27FC236}">
                <a16:creationId xmlns:a16="http://schemas.microsoft.com/office/drawing/2014/main" id="{98FA5515-EF5B-4B5B-9667-5D4D5812B6D9}"/>
              </a:ext>
            </a:extLst>
          </p:cNvPr>
          <p:cNvCxnSpPr>
            <a:cxnSpLocks/>
          </p:cNvCxnSpPr>
          <p:nvPr/>
        </p:nvCxnSpPr>
        <p:spPr>
          <a:xfrm flipV="1">
            <a:off x="2966719" y="3968496"/>
            <a:ext cx="1" cy="192024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图片 82">
            <a:extLst>
              <a:ext uri="{FF2B5EF4-FFF2-40B4-BE49-F238E27FC236}">
                <a16:creationId xmlns:a16="http://schemas.microsoft.com/office/drawing/2014/main" id="{831E0A89-F83B-41B6-8390-F3424B08C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85" y="2744082"/>
            <a:ext cx="581106" cy="485843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5A9DBE6A-BA68-42C0-997D-F2FB3D2ED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533" y="2639626"/>
            <a:ext cx="766421" cy="702552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C248E8F0-5DF7-4468-956B-92671A00E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810" y="2731882"/>
            <a:ext cx="620332" cy="550813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FA12FD01-5150-4EF1-8D8E-4508F8808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640" y="5290284"/>
            <a:ext cx="706063" cy="787292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CEFB696D-9136-42EF-9B71-CE543A30A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613" y="5201474"/>
            <a:ext cx="250195" cy="277243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427508A9-7913-4A44-B769-3F106F903C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3157" y="5219049"/>
            <a:ext cx="568619" cy="577941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9B2A0B30-3260-41E3-8F79-20DA7F1E52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5618" y="5286297"/>
            <a:ext cx="602985" cy="674525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C0D5D5D0-31EA-446E-B5B9-623B6EBC61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2382" y="5217555"/>
            <a:ext cx="242179" cy="44162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95C9889D-7208-481B-AA6D-BD3481E38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8430" y="5219049"/>
            <a:ext cx="242179" cy="441620"/>
          </a:xfrm>
          <a:prstGeom prst="rect">
            <a:avLst/>
          </a:prstGeom>
        </p:spPr>
      </p:pic>
      <p:sp>
        <p:nvSpPr>
          <p:cNvPr id="99" name="直角三角形 98">
            <a:extLst>
              <a:ext uri="{FF2B5EF4-FFF2-40B4-BE49-F238E27FC236}">
                <a16:creationId xmlns:a16="http://schemas.microsoft.com/office/drawing/2014/main" id="{A8C79914-37FF-4FA8-B699-B827988D0A9D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直角三角形 99">
            <a:extLst>
              <a:ext uri="{FF2B5EF4-FFF2-40B4-BE49-F238E27FC236}">
                <a16:creationId xmlns:a16="http://schemas.microsoft.com/office/drawing/2014/main" id="{C0070255-46E4-4B9E-9E1D-C03DE4F8D7FD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直角三角形 100">
            <a:extLst>
              <a:ext uri="{FF2B5EF4-FFF2-40B4-BE49-F238E27FC236}">
                <a16:creationId xmlns:a16="http://schemas.microsoft.com/office/drawing/2014/main" id="{C108CEE5-2E6D-4EBC-A15B-B47483CE51B7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直角三角形 101">
            <a:extLst>
              <a:ext uri="{FF2B5EF4-FFF2-40B4-BE49-F238E27FC236}">
                <a16:creationId xmlns:a16="http://schemas.microsoft.com/office/drawing/2014/main" id="{73E93921-CE6C-4213-96C8-BCC285E154F7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直角三角形 102">
            <a:extLst>
              <a:ext uri="{FF2B5EF4-FFF2-40B4-BE49-F238E27FC236}">
                <a16:creationId xmlns:a16="http://schemas.microsoft.com/office/drawing/2014/main" id="{14BC7806-88A9-4429-B75C-CB4FEC7590A5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直角三角形 103">
            <a:extLst>
              <a:ext uri="{FF2B5EF4-FFF2-40B4-BE49-F238E27FC236}">
                <a16:creationId xmlns:a16="http://schemas.microsoft.com/office/drawing/2014/main" id="{F4FEFA79-5B65-47A6-A57C-5AA79DC6F2A4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直角三角形 104">
            <a:extLst>
              <a:ext uri="{FF2B5EF4-FFF2-40B4-BE49-F238E27FC236}">
                <a16:creationId xmlns:a16="http://schemas.microsoft.com/office/drawing/2014/main" id="{C668D26E-0F01-4DD9-BE9F-275E0089411C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直角三角形 105">
            <a:extLst>
              <a:ext uri="{FF2B5EF4-FFF2-40B4-BE49-F238E27FC236}">
                <a16:creationId xmlns:a16="http://schemas.microsoft.com/office/drawing/2014/main" id="{B122703D-C424-457F-AFC8-E23B22FDDE89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424" y="160335"/>
            <a:ext cx="5979180" cy="5684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04155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向量数据库系统架构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6259" y="838119"/>
            <a:ext cx="3937509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100" normalizeH="0" noProof="0">
                <a:ln>
                  <a:noFill/>
                </a:ln>
                <a:solidFill>
                  <a:srgbClr val="1C5CE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从数据接入到检索服务的完整系统视角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79172" y="969302"/>
            <a:ext cx="1421878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39602" y="969302"/>
            <a:ext cx="1458337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50005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68772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8751" y="1464886"/>
            <a:ext cx="1348961" cy="4052123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585" y="1632510"/>
            <a:ext cx="1057294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50" normalizeH="0" noProof="0">
                <a:ln>
                  <a:noFill/>
                </a:ln>
                <a:solidFill>
                  <a:srgbClr val="1C5CE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数据写入流程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18" y="2397749"/>
            <a:ext cx="765626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50" normalizeH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原始文档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2294" y="2594524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5729" y="3323324"/>
            <a:ext cx="875002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50" normalizeH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清洗 / 切分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2294" y="3512811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1251" y="4289116"/>
            <a:ext cx="838543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50" normalizeH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2294" y="4493046"/>
            <a:ext cx="0" cy="18220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5419" y="5210913"/>
            <a:ext cx="422917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50" normalizeH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写入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8356" y="1435734"/>
            <a:ext cx="1312503" cy="431449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150023" y="1588782"/>
            <a:ext cx="729168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100" normalizeH="0" noProof="0">
                <a:ln>
                  <a:noFill/>
                </a:ln>
                <a:solidFill>
                  <a:srgbClr val="1C5CE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查询流程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8357" y="2375885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（用户查询）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47940" y="2375885"/>
            <a:ext cx="947918" cy="3133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10521899" y="2703844"/>
            <a:ext cx="0" cy="153048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35440" y="3352476"/>
            <a:ext cx="802085" cy="408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（向量化）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10521899" y="3716875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794132" y="4348197"/>
            <a:ext cx="1470118" cy="34192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Similarity Search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(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检索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)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521899" y="4700754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150023" y="5276505"/>
            <a:ext cx="743751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返回结果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1065" y="5436841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（结果集）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09380" y="1260822"/>
            <a:ext cx="7218766" cy="10203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209380" y="1260822"/>
            <a:ext cx="1079169" cy="1020318"/>
          </a:xfrm>
          <a:prstGeom prst="rect">
            <a:avLst/>
          </a:prstGeom>
          <a:solidFill>
            <a:srgbClr val="2675EE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450005" y="1381360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应用层</a:t>
            </a:r>
          </a:p>
        </p:txBody>
      </p:sp>
      <p:pic>
        <p:nvPicPr>
          <p:cNvPr id="47" name="Picture 46" descr="label_icon_1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961" y="1651015"/>
            <a:ext cx="525001" cy="524735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2209380" y="2623676"/>
            <a:ext cx="7218766" cy="1013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209380" y="2623676"/>
            <a:ext cx="1079169" cy="1013030"/>
          </a:xfrm>
          <a:prstGeom prst="rect">
            <a:avLst/>
          </a:prstGeom>
          <a:solidFill>
            <a:srgbClr val="029693"/>
          </a:solidFill>
          <a:ln>
            <a:solidFill>
              <a:srgbClr val="059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84380" y="2703844"/>
            <a:ext cx="72916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查询与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服务层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09380" y="3993819"/>
            <a:ext cx="7218766" cy="9037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209380" y="3993819"/>
            <a:ext cx="1079169" cy="903710"/>
          </a:xfrm>
          <a:prstGeom prst="rect">
            <a:avLst/>
          </a:prstGeom>
          <a:solidFill>
            <a:srgbClr val="E98F03"/>
          </a:solidFill>
          <a:ln>
            <a:solidFill>
              <a:srgbClr val="EC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50005" y="4139579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检索引擎层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09380" y="5232777"/>
            <a:ext cx="7218766" cy="896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209380" y="5232777"/>
            <a:ext cx="1079169" cy="896422"/>
          </a:xfrm>
          <a:prstGeom prst="rect">
            <a:avLst/>
          </a:prstGeom>
          <a:solidFill>
            <a:srgbClr val="1C5CE0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50005" y="5378537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存储层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41674" y="1413870"/>
            <a:ext cx="1844795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Picture 60" descr="app_rag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071" y="1433347"/>
            <a:ext cx="627084" cy="56846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021156" y="1559063"/>
            <a:ext cx="1192190" cy="5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RAG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（检索增强生成）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39596" y="1413870"/>
            <a:ext cx="1837504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4" name="Picture 63" descr="app_semantic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450" y="1424801"/>
            <a:ext cx="612501" cy="61947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263866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语义搜索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30225" y="1413870"/>
            <a:ext cx="1852087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7" name="Picture 66" descr="app_rec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087" y="1428444"/>
            <a:ext cx="612501" cy="61219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273713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推荐系统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48966" y="2798588"/>
            <a:ext cx="133437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0" name="Picture 69" descr="svc_api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006" y="2832229"/>
            <a:ext cx="641668" cy="553887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128674" y="3050023"/>
            <a:ext cx="619793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API 接口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52615" y="2798588"/>
            <a:ext cx="129062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72408" y="3053667"/>
            <a:ext cx="583334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查询解析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25939" y="2798588"/>
            <a:ext cx="1626045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752098" y="2999009"/>
            <a:ext cx="1006252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Metadata Filter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（元数据过滤）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2310" y="2798588"/>
            <a:ext cx="1392711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569655" y="2999009"/>
            <a:ext cx="663543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Reranker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（重排序）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44896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901050" y="4321778"/>
            <a:ext cx="1319794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ANN Index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（近似最近邻索引）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3959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52097" y="4321778"/>
            <a:ext cx="1203127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Similarity Search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（相似检索）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30225" y="4146867"/>
            <a:ext cx="1852087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2102" y="4321778"/>
            <a:ext cx="1093752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Query Planner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（查询规划）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48967" y="5393113"/>
            <a:ext cx="172501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068758" y="5535228"/>
            <a:ext cx="98437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Vector Storage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（向量存储）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273663" y="5390364"/>
            <a:ext cx="2009720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029213" y="5547055"/>
            <a:ext cx="114028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Metadata Store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ge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282D3C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（元数据存储）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64600" y="5393113"/>
            <a:ext cx="192500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93768" y="5551087"/>
            <a:ext cx="1057294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Persistent Storage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82D3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（持久化存储）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19271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19271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19271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19271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19271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19271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2813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92813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92813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92813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2813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92813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670851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670851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670851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670851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670851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670851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图片 121">
            <a:extLst>
              <a:ext uri="{FF2B5EF4-FFF2-40B4-BE49-F238E27FC236}">
                <a16:creationId xmlns:a16="http://schemas.microsoft.com/office/drawing/2014/main" id="{1812557F-7FC8-4E42-B0FA-D44F859EEF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68" y="1855448"/>
            <a:ext cx="592125" cy="495583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5D9FC53A-2D0E-40B0-A326-4ABE0E22AE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21" y="2776724"/>
            <a:ext cx="619759" cy="488295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6D8B967E-E8DB-41E5-83C2-7215D92B48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06" y="3775180"/>
            <a:ext cx="600283" cy="495582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FB969816-3CE9-41BB-94D5-A4A5EE49B9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914" y="4692773"/>
            <a:ext cx="543215" cy="476076"/>
          </a:xfrm>
          <a:prstGeom prst="rect">
            <a:avLst/>
          </a:prstGeom>
        </p:spPr>
      </p:pic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BD50DA3A-09E8-4F26-A7E7-FD547500C9EC}"/>
              </a:ext>
            </a:extLst>
          </p:cNvPr>
          <p:cNvCxnSpPr>
            <a:stCxn id="12" idx="2"/>
            <a:endCxn id="57" idx="1"/>
          </p:cNvCxnSpPr>
          <p:nvPr/>
        </p:nvCxnSpPr>
        <p:spPr>
          <a:xfrm rot="16200000" flipH="1">
            <a:off x="1644317" y="5115924"/>
            <a:ext cx="163979" cy="966148"/>
          </a:xfrm>
          <a:prstGeom prst="bentConnector2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B19B4B5D-59C4-463E-A296-02FB4A9FCC7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9428146" y="3130191"/>
            <a:ext cx="430210" cy="10932"/>
          </a:xfrm>
          <a:prstGeom prst="straightConnector1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图片 136">
            <a:extLst>
              <a:ext uri="{FF2B5EF4-FFF2-40B4-BE49-F238E27FC236}">
                <a16:creationId xmlns:a16="http://schemas.microsoft.com/office/drawing/2014/main" id="{BFC4BA42-8F51-40D8-9E9C-7173BF7574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3024" y="2895152"/>
            <a:ext cx="448352" cy="491941"/>
          </a:xfrm>
          <a:prstGeom prst="rect">
            <a:avLst/>
          </a:prstGeom>
        </p:spPr>
      </p:pic>
      <p:pic>
        <p:nvPicPr>
          <p:cNvPr id="139" name="图片 138">
            <a:extLst>
              <a:ext uri="{FF2B5EF4-FFF2-40B4-BE49-F238E27FC236}">
                <a16:creationId xmlns:a16="http://schemas.microsoft.com/office/drawing/2014/main" id="{A28D58E4-EF0E-457F-B61C-9D67259728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8314" y="3156410"/>
            <a:ext cx="617569" cy="459411"/>
          </a:xfrm>
          <a:prstGeom prst="rect">
            <a:avLst/>
          </a:prstGeom>
        </p:spPr>
      </p:pic>
      <p:pic>
        <p:nvPicPr>
          <p:cNvPr id="141" name="图片 140">
            <a:extLst>
              <a:ext uri="{FF2B5EF4-FFF2-40B4-BE49-F238E27FC236}">
                <a16:creationId xmlns:a16="http://schemas.microsoft.com/office/drawing/2014/main" id="{70AEF882-A645-4275-A8F4-D3E87AFB77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314" y="4409234"/>
            <a:ext cx="562128" cy="488807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BFAFB190-9B4B-4BBC-9708-E01DEEED66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6190" y="5625957"/>
            <a:ext cx="437267" cy="460903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E7932641-FC3E-42D4-AD82-48B19939FB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9603" y="2832930"/>
            <a:ext cx="621874" cy="594539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7E69AF5D-A540-4876-A883-46C4BF05AD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355" y="2915003"/>
            <a:ext cx="446920" cy="452240"/>
          </a:xfrm>
          <a:prstGeom prst="rect">
            <a:avLst/>
          </a:prstGeom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2B0C9E05-CC84-4CA4-B0E3-38EB399DE56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75589" y="4239193"/>
            <a:ext cx="592322" cy="507705"/>
          </a:xfrm>
          <a:prstGeom prst="rect">
            <a:avLst/>
          </a:prstGeom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A4B451E1-36EE-43B4-A257-73745587C3E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0392" y="5466132"/>
            <a:ext cx="627085" cy="421661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1FE3A48F-DFD0-42A8-A336-E97B9D10451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4732" y="5439177"/>
            <a:ext cx="558991" cy="483621"/>
          </a:xfrm>
          <a:prstGeom prst="rect">
            <a:avLst/>
          </a:prstGeom>
        </p:spPr>
      </p:pic>
      <p:pic>
        <p:nvPicPr>
          <p:cNvPr id="155" name="图片 154">
            <a:extLst>
              <a:ext uri="{FF2B5EF4-FFF2-40B4-BE49-F238E27FC236}">
                <a16:creationId xmlns:a16="http://schemas.microsoft.com/office/drawing/2014/main" id="{41CFD9C6-CA8A-42B1-A444-B5513F644CC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8361" y="5427808"/>
            <a:ext cx="444516" cy="479154"/>
          </a:xfrm>
          <a:prstGeom prst="rect">
            <a:avLst/>
          </a:prstGeom>
        </p:spPr>
      </p:pic>
      <p:sp>
        <p:nvSpPr>
          <p:cNvPr id="156" name="AutoShape 2" descr="下载绿色图标改橙色版">
            <a:extLst>
              <a:ext uri="{FF2B5EF4-FFF2-40B4-BE49-F238E27FC236}">
                <a16:creationId xmlns:a16="http://schemas.microsoft.com/office/drawing/2014/main" id="{1FE8F792-0F45-4F03-A175-4B7283736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8" name="图片 157">
            <a:extLst>
              <a:ext uri="{FF2B5EF4-FFF2-40B4-BE49-F238E27FC236}">
                <a16:creationId xmlns:a16="http://schemas.microsoft.com/office/drawing/2014/main" id="{FBB1C77A-AB64-4ACD-888A-3F590D0BF2B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6053" y="4195256"/>
            <a:ext cx="591520" cy="551642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42D6286B-9BC4-4CD6-8F8B-A02B7A5C70F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12001"/>
          <a:stretch/>
        </p:blipFill>
        <p:spPr>
          <a:xfrm>
            <a:off x="7508088" y="4220718"/>
            <a:ext cx="534640" cy="515769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EB717F71-49CD-4A68-95F6-9E060B367DC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39353" y="1792845"/>
            <a:ext cx="798172" cy="582000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a16:creationId xmlns:a16="http://schemas.microsoft.com/office/drawing/2014/main" id="{B8B41851-2B8D-473D-8C57-02C065087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8617" y="2849605"/>
            <a:ext cx="600283" cy="495582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6399DC69-8D04-4CC5-A41F-00A459DC309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82007" y="3957011"/>
            <a:ext cx="519209" cy="396385"/>
          </a:xfrm>
          <a:prstGeom prst="rect">
            <a:avLst/>
          </a:prstGeom>
        </p:spPr>
      </p:pic>
      <p:pic>
        <p:nvPicPr>
          <p:cNvPr id="167" name="图片 166">
            <a:extLst>
              <a:ext uri="{FF2B5EF4-FFF2-40B4-BE49-F238E27FC236}">
                <a16:creationId xmlns:a16="http://schemas.microsoft.com/office/drawing/2014/main" id="{B501A3E5-EA23-438E-911A-5B81FAEDD20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9922" y="4848663"/>
            <a:ext cx="443952" cy="419288"/>
          </a:xfrm>
          <a:prstGeom prst="rect">
            <a:avLst/>
          </a:prstGeom>
        </p:spPr>
      </p:pic>
      <p:sp>
        <p:nvSpPr>
          <p:cNvPr id="168" name="直角三角形 167">
            <a:extLst>
              <a:ext uri="{FF2B5EF4-FFF2-40B4-BE49-F238E27FC236}">
                <a16:creationId xmlns:a16="http://schemas.microsoft.com/office/drawing/2014/main" id="{2E39E84A-9F67-4BDD-8330-D3073B2BF532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直角三角形 168">
            <a:extLst>
              <a:ext uri="{FF2B5EF4-FFF2-40B4-BE49-F238E27FC236}">
                <a16:creationId xmlns:a16="http://schemas.microsoft.com/office/drawing/2014/main" id="{85C1BD0B-78BC-40E6-8A7E-D92D8FEBAEFB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直角三角形 169">
            <a:extLst>
              <a:ext uri="{FF2B5EF4-FFF2-40B4-BE49-F238E27FC236}">
                <a16:creationId xmlns:a16="http://schemas.microsoft.com/office/drawing/2014/main" id="{CFE55BAB-8FEC-49A6-B0FE-F24BEA25A01A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直角三角形 170">
            <a:extLst>
              <a:ext uri="{FF2B5EF4-FFF2-40B4-BE49-F238E27FC236}">
                <a16:creationId xmlns:a16="http://schemas.microsoft.com/office/drawing/2014/main" id="{06C21BC7-58F5-4ACA-B35C-96679C61565B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直角三角形 171">
            <a:extLst>
              <a:ext uri="{FF2B5EF4-FFF2-40B4-BE49-F238E27FC236}">
                <a16:creationId xmlns:a16="http://schemas.microsoft.com/office/drawing/2014/main" id="{6CA2DDB6-0678-42FF-8F68-126CFD68514D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直角三角形 172">
            <a:extLst>
              <a:ext uri="{FF2B5EF4-FFF2-40B4-BE49-F238E27FC236}">
                <a16:creationId xmlns:a16="http://schemas.microsoft.com/office/drawing/2014/main" id="{186B7EAA-FAB6-4E50-91CF-0B7E96A18A07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直角三角形 173">
            <a:extLst>
              <a:ext uri="{FF2B5EF4-FFF2-40B4-BE49-F238E27FC236}">
                <a16:creationId xmlns:a16="http://schemas.microsoft.com/office/drawing/2014/main" id="{1714F475-69D4-43A5-BCDC-7A862060801E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直角三角形 174">
            <a:extLst>
              <a:ext uri="{FF2B5EF4-FFF2-40B4-BE49-F238E27FC236}">
                <a16:creationId xmlns:a16="http://schemas.microsoft.com/office/drawing/2014/main" id="{083F32EA-F6D8-4B31-9F6D-6A367E269F81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22960" y="182880"/>
            <a:ext cx="1056132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向量数据库的核心功能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6236" y="1051560"/>
            <a:ext cx="4231928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100" normalizeH="0" noProof="0">
                <a:ln>
                  <a:noFill/>
                </a:ln>
                <a:solidFill>
                  <a:srgbClr val="005AD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不仅能存，还要能快、能准、能管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24486" y="1133856"/>
            <a:ext cx="155448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99901" y="1128170"/>
            <a:ext cx="1490473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60478" y="1101852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835510" y="1096166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42415" y="1591056"/>
            <a:ext cx="3118104" cy="1783080"/>
          </a:xfrm>
          <a:prstGeom prst="roundRect">
            <a:avLst/>
          </a:prstGeom>
          <a:solidFill>
            <a:srgbClr val="F6F8FE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43584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7028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5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向量存储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40863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39090" y="2459736"/>
            <a:ext cx="148277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保存 embedding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及对象标识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09159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32603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相似检索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imi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10" y="2244701"/>
            <a:ext cx="962526" cy="9255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07610" y="2371338"/>
            <a:ext cx="1187826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支持 Top-K 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kNN / Range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156448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9892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19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向量索引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53728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index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971" y="2259277"/>
            <a:ext cx="1108363" cy="8891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31517" y="2368076"/>
            <a:ext cx="1300036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利用 ANN 索引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加速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415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243584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67028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9655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元数据过滤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40863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539090" y="4443984"/>
            <a:ext cx="130163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按来源、时间、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标签等筛选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07992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709159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32603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1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更新与删除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06440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upd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334" y="4285339"/>
            <a:ext cx="1093779" cy="94743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80762" y="4355586"/>
            <a:ext cx="929742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支持插入、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更新、删除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156448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79892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19" y="3803904"/>
            <a:ext cx="2051844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100" normalizeH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可扩展与工程能力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53728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971" y="4285339"/>
            <a:ext cx="1152114" cy="96201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09759" y="4443984"/>
            <a:ext cx="1487587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分布式、持久化、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0" normalizeH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容错、多租户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49997" y="5767171"/>
            <a:ext cx="6427113" cy="71323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F2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71800" y="5971032"/>
            <a:ext cx="5841343" cy="1015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  =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19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E86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向量检索能力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E86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87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数据库系统能力</a:t>
            </a:r>
          </a:p>
          <a:p>
            <a:pPr>
              <a:defRPr/>
            </a:pP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rgbClr val="E86A1A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200" b="1" i="0" u="none" strike="noStrike" kern="1200" cap="none" spc="0" normalizeH="0" baseline="0" noProof="0">
              <a:ln>
                <a:noFill/>
              </a:ln>
              <a:solidFill>
                <a:srgbClr val="001961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ADA1503-4096-44FC-A3F1-AB074A226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3" y="2175004"/>
            <a:ext cx="1068012" cy="1029673"/>
          </a:xfrm>
          <a:prstGeom prst="rect">
            <a:avLst/>
          </a:prstGeom>
        </p:spPr>
      </p:pic>
      <p:pic>
        <p:nvPicPr>
          <p:cNvPr id="63" name="图形 62" descr="灯泡 纯色填充">
            <a:extLst>
              <a:ext uri="{FF2B5EF4-FFF2-40B4-BE49-F238E27FC236}">
                <a16:creationId xmlns:a16="http://schemas.microsoft.com/office/drawing/2014/main" id="{1AB95AEF-6F54-4281-AE6B-B1CB3ABDC2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313298">
            <a:off x="2317688" y="5568635"/>
            <a:ext cx="600933" cy="60093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9EC21D83-3E73-4BF6-8DD4-2D40E8801C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310" y="4192523"/>
            <a:ext cx="1105207" cy="977289"/>
          </a:xfrm>
          <a:prstGeom prst="rect">
            <a:avLst/>
          </a:prstGeom>
        </p:spPr>
      </p:pic>
      <p:sp>
        <p:nvSpPr>
          <p:cNvPr id="66" name="直角三角形 65">
            <a:extLst>
              <a:ext uri="{FF2B5EF4-FFF2-40B4-BE49-F238E27FC236}">
                <a16:creationId xmlns:a16="http://schemas.microsoft.com/office/drawing/2014/main" id="{E73FA21B-07F0-44AD-9A2B-4C3038736900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直角三角形 66">
            <a:extLst>
              <a:ext uri="{FF2B5EF4-FFF2-40B4-BE49-F238E27FC236}">
                <a16:creationId xmlns:a16="http://schemas.microsoft.com/office/drawing/2014/main" id="{2C8DDDA5-29D6-44F6-93C2-D1048CDB2C3C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直角三角形 67">
            <a:extLst>
              <a:ext uri="{FF2B5EF4-FFF2-40B4-BE49-F238E27FC236}">
                <a16:creationId xmlns:a16="http://schemas.microsoft.com/office/drawing/2014/main" id="{DB03D0BA-6628-49C2-A628-A317712E0BDE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直角三角形 68">
            <a:extLst>
              <a:ext uri="{FF2B5EF4-FFF2-40B4-BE49-F238E27FC236}">
                <a16:creationId xmlns:a16="http://schemas.microsoft.com/office/drawing/2014/main" id="{8C69011F-3C42-4AA0-90AA-FC19527B98A2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直角三角形 69">
            <a:extLst>
              <a:ext uri="{FF2B5EF4-FFF2-40B4-BE49-F238E27FC236}">
                <a16:creationId xmlns:a16="http://schemas.microsoft.com/office/drawing/2014/main" id="{975829DF-3C67-42D9-B61B-047CA1B81C44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直角三角形 70">
            <a:extLst>
              <a:ext uri="{FF2B5EF4-FFF2-40B4-BE49-F238E27FC236}">
                <a16:creationId xmlns:a16="http://schemas.microsoft.com/office/drawing/2014/main" id="{CDEFF8BE-D301-4DF2-8139-CB9DA75FD56F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直角三角形 71">
            <a:extLst>
              <a:ext uri="{FF2B5EF4-FFF2-40B4-BE49-F238E27FC236}">
                <a16:creationId xmlns:a16="http://schemas.microsoft.com/office/drawing/2014/main" id="{6A2C316D-3707-445A-93F3-77FE65B68A0E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直角三角形 72">
            <a:extLst>
              <a:ext uri="{FF2B5EF4-FFF2-40B4-BE49-F238E27FC236}">
                <a16:creationId xmlns:a16="http://schemas.microsoft.com/office/drawing/2014/main" id="{0A7C4357-B3B8-47ED-A964-BAB2BA19EFB2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EC171E39-D1E6-404D-B18C-E479F12E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424" y="1553021"/>
            <a:ext cx="2762073" cy="166293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EE691EF0-0DA0-4B4D-B97C-4DA4CC4A1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028" y="1566915"/>
            <a:ext cx="2820604" cy="1523126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8AAC0E6F-A018-4156-B501-276E6A64E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43" y="3709584"/>
            <a:ext cx="2964889" cy="1602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35424" y="182199"/>
            <a:ext cx="5979180" cy="6413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00D5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向量检索的查询类型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2093" y="932862"/>
            <a:ext cx="3937509" cy="2769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100" normalizeH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不同任务对应不同的相似性查询形式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8130" y="1071333"/>
            <a:ext cx="1968754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8494811" y="1056758"/>
            <a:ext cx="1806990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041671" y="1034893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301801" y="103489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5002" y="141386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61472" y="141386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5002" y="355653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1472" y="355653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62502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0002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6285431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2931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962502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0002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6285431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72931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9378" y="1603357"/>
            <a:ext cx="1895837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Top-K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0210" y="2368596"/>
            <a:ext cx="1895837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返回最相似的 K 个结果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1733" y="1603357"/>
            <a:ext cx="1895837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kNN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6681" y="2368596"/>
            <a:ext cx="1348961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寻找最近邻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的结果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32324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94795" y="3836726"/>
            <a:ext cx="2041671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Range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0210" y="4584145"/>
            <a:ext cx="2041671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返回距离阈值内的对象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55" y="3789754"/>
            <a:ext cx="1994344" cy="65591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Hybrid /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55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Filtered 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55D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2098" y="4729905"/>
            <a:ext cx="1130210" cy="21863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相似检索与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2098" y="4992273"/>
            <a:ext cx="1239586" cy="21863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2324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条件过滤结合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36082" y="5886274"/>
            <a:ext cx="8936358" cy="677783"/>
          </a:xfrm>
          <a:prstGeom prst="roundRect">
            <a:avLst/>
          </a:prstGeom>
          <a:noFill/>
          <a:ln w="12700">
            <a:solidFill>
              <a:srgbClr val="EF7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54558" y="6085471"/>
            <a:ext cx="8740912" cy="43727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defRPr/>
            </a:pPr>
            <a:r>
              <a:rPr kumimoji="0" sz="2000" b="1" i="0" u="none" strike="noStrike" kern="1200" cap="none" spc="50" normalizeH="0" noProof="0">
                <a:ln>
                  <a:noFill/>
                </a:ln>
                <a:solidFill>
                  <a:srgbClr val="EF701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RAG 中最常见的场景：</a:t>
            </a:r>
            <a:r>
              <a:rPr kumimoji="0" lang="zh-CN" altLang="en-US" sz="2000" b="1" i="0" u="none" strike="noStrike" kern="1200" cap="none" spc="50" normalizeH="0" noProof="0">
                <a:ln>
                  <a:noFill/>
                </a:ln>
                <a:solidFill>
                  <a:srgbClr val="14141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给定 </a:t>
            </a:r>
            <a:r>
              <a:rPr kumimoji="0" lang="en-US" altLang="zh-CN" sz="2000" b="1" i="0" u="none" strike="noStrike" kern="1200" cap="none" spc="50" normalizeH="0" noProof="0">
                <a:ln>
                  <a:noFill/>
                </a:ln>
                <a:solidFill>
                  <a:srgbClr val="14141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query vector</a:t>
            </a:r>
            <a:r>
              <a:rPr kumimoji="0" lang="zh-CN" altLang="en-US" sz="2000" b="1" i="0" u="none" strike="noStrike" kern="1200" cap="none" spc="50" normalizeH="0" noProof="0">
                <a:ln>
                  <a:noFill/>
                </a:ln>
                <a:solidFill>
                  <a:srgbClr val="14141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，找到最相关的 </a:t>
            </a:r>
            <a:r>
              <a:rPr kumimoji="0" lang="en-US" altLang="zh-CN" sz="2000" b="1" i="0" u="none" strike="noStrike" kern="1200" cap="none" spc="50" normalizeH="0" noProof="0">
                <a:ln>
                  <a:noFill/>
                </a:ln>
                <a:solidFill>
                  <a:srgbClr val="14141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Top-K chunks</a:t>
            </a:r>
            <a:endParaRPr kumimoji="0" lang="zh-CN" altLang="en-US" sz="2000" b="1" i="0" u="none" strike="noStrike" kern="1200" cap="none" spc="50" normalizeH="0" noProof="0">
              <a:ln>
                <a:noFill/>
              </a:ln>
              <a:solidFill>
                <a:srgbClr val="14141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1" i="0" u="none" strike="noStrike" kern="1200" cap="none" spc="50" normalizeH="0" noProof="0">
              <a:ln>
                <a:noFill/>
              </a:ln>
              <a:solidFill>
                <a:srgbClr val="EF701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A4DC9D17-DC52-4D1B-9F25-F471F3440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9047" y="3818906"/>
            <a:ext cx="2668450" cy="1392006"/>
          </a:xfrm>
          <a:prstGeom prst="rect">
            <a:avLst/>
          </a:prstGeom>
        </p:spPr>
      </p:pic>
      <p:pic>
        <p:nvPicPr>
          <p:cNvPr id="52" name="图形 51" descr="灯泡 纯色填充">
            <a:extLst>
              <a:ext uri="{FF2B5EF4-FFF2-40B4-BE49-F238E27FC236}">
                <a16:creationId xmlns:a16="http://schemas.microsoft.com/office/drawing/2014/main" id="{C0ED903D-1A76-44AD-B4E5-CB70E7C420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313298">
            <a:off x="1194329" y="5717792"/>
            <a:ext cx="600933" cy="600933"/>
          </a:xfrm>
          <a:prstGeom prst="rect">
            <a:avLst/>
          </a:prstGeom>
        </p:spPr>
      </p:pic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93F26DAC-7B20-4271-9C71-0CE697A84528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直角三角形 53">
            <a:extLst>
              <a:ext uri="{FF2B5EF4-FFF2-40B4-BE49-F238E27FC236}">
                <a16:creationId xmlns:a16="http://schemas.microsoft.com/office/drawing/2014/main" id="{D370E3F1-3860-4B8D-B2DB-2DA3BB161303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直角三角形 54">
            <a:extLst>
              <a:ext uri="{FF2B5EF4-FFF2-40B4-BE49-F238E27FC236}">
                <a16:creationId xmlns:a16="http://schemas.microsoft.com/office/drawing/2014/main" id="{7A465A50-FDC5-40E1-BCB5-8A82BCFA51C0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直角三角形 55">
            <a:extLst>
              <a:ext uri="{FF2B5EF4-FFF2-40B4-BE49-F238E27FC236}">
                <a16:creationId xmlns:a16="http://schemas.microsoft.com/office/drawing/2014/main" id="{FB5BD5E7-A5F6-48D0-887B-5CA2D0246854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直角三角形 56">
            <a:extLst>
              <a:ext uri="{FF2B5EF4-FFF2-40B4-BE49-F238E27FC236}">
                <a16:creationId xmlns:a16="http://schemas.microsoft.com/office/drawing/2014/main" id="{17C32BE4-FA0C-48A3-A382-CD18E58D910C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直角三角形 57">
            <a:extLst>
              <a:ext uri="{FF2B5EF4-FFF2-40B4-BE49-F238E27FC236}">
                <a16:creationId xmlns:a16="http://schemas.microsoft.com/office/drawing/2014/main" id="{BBF01815-6498-494B-99E4-262EEC318CD2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直角三角形 58">
            <a:extLst>
              <a:ext uri="{FF2B5EF4-FFF2-40B4-BE49-F238E27FC236}">
                <a16:creationId xmlns:a16="http://schemas.microsoft.com/office/drawing/2014/main" id="{AA34DFD7-E5D3-4D2F-8B6A-BC9E7BF67012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直角三角形 59">
            <a:extLst>
              <a:ext uri="{FF2B5EF4-FFF2-40B4-BE49-F238E27FC236}">
                <a16:creationId xmlns:a16="http://schemas.microsoft.com/office/drawing/2014/main" id="{51D846BF-2008-40BA-B7E1-D26B9547C856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>
            <a:extLst>
              <a:ext uri="{FF2B5EF4-FFF2-40B4-BE49-F238E27FC236}">
                <a16:creationId xmlns:a16="http://schemas.microsoft.com/office/drawing/2014/main" id="{A1333858-214B-484B-9F80-D8DF590B69AA}"/>
              </a:ext>
            </a:extLst>
          </p:cNvPr>
          <p:cNvSpPr/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04088" y="166225"/>
            <a:ext cx="1095451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01A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相似度如何度量？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0716" y="883955"/>
            <a:ext cx="377026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10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向量检索中的三种常见度量方式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3710" y="951930"/>
            <a:ext cx="1069848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28431" y="950976"/>
            <a:ext cx="960121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77134" y="915354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961120" y="914400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4088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4088" y="1252728"/>
            <a:ext cx="3438144" cy="530352"/>
          </a:xfrm>
          <a:prstGeom prst="rect">
            <a:avLst/>
          </a:prstGeom>
          <a:solidFill>
            <a:srgbClr val="F3F8FF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04088" y="1783080"/>
            <a:ext cx="3438143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" y="2339445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" y="2944889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5612" y="3534918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00200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42816" y="1264883"/>
            <a:ext cx="3438144" cy="3414318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1270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42816" y="1252728"/>
            <a:ext cx="3438144" cy="530352"/>
          </a:xfrm>
          <a:prstGeom prst="rect">
            <a:avLst/>
          </a:prstGeom>
          <a:solidFill>
            <a:srgbClr val="F1FCF8"/>
          </a:solidFill>
          <a:ln w="889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242816" y="1783080"/>
            <a:ext cx="3438143" cy="0"/>
          </a:xfrm>
          <a:prstGeom prst="line">
            <a:avLst/>
          </a:prstGeom>
          <a:ln w="8890">
            <a:solidFill>
              <a:srgbClr val="0B8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67741" y="233944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42816" y="291956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59791" y="3578961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38927" y="1783080"/>
            <a:ext cx="0" cy="2907792"/>
          </a:xfrm>
          <a:prstGeom prst="line">
            <a:avLst/>
          </a:prstGeom>
          <a:ln w="7620">
            <a:solidFill>
              <a:srgbClr val="BF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72983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872983" y="1252728"/>
            <a:ext cx="3438144" cy="530352"/>
          </a:xfrm>
          <a:prstGeom prst="rect">
            <a:avLst/>
          </a:prstGeom>
          <a:solidFill>
            <a:srgbClr val="F1F7FD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7872983" y="1783080"/>
            <a:ext cx="3438145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91271" y="2409254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91270" y="2971800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91269" y="3534918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69096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icon_cosin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1" y="1297262"/>
            <a:ext cx="481263" cy="393551"/>
          </a:xfrm>
          <a:prstGeom prst="rect">
            <a:avLst/>
          </a:prstGeom>
        </p:spPr>
      </p:pic>
      <p:pic>
        <p:nvPicPr>
          <p:cNvPr id="34" name="Picture 33" descr="icon_l2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40" y="1304550"/>
            <a:ext cx="459387" cy="3935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91640" y="142646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Cosine Similarity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1426464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Euclidean Distance (L2)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1426464"/>
            <a:ext cx="16459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Inner Product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0998" y="199390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定义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429" y="2586647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公式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077" y="3187042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直观解释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281" y="4034476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二维示意图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4296" y="200549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定义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79380" y="2507441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公式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62570" y="3172684"/>
            <a:ext cx="551433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50" normalizeH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直观解释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52544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50" normalizeH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二维示意图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19072" y="1883664"/>
            <a:ext cx="2000548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衡量两个向量夹角的余弦值，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只关注方向，不受长度影响。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1883664"/>
            <a:ext cx="2410916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衡量两个向量在空间中的直线距离，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关注绝对位置差异。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3364" y="1912527"/>
            <a:ext cx="2154436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衡量两个向量的点积，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同时考虑方向与长度（幅值）。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122" y="3092320"/>
            <a:ext cx="2308324" cy="3549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7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余弦相似度关注方向夹角，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7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夹角越小（越接近），相似度越高。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94876" y="3075702"/>
            <a:ext cx="1577355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L2 距离关注空间距离，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距离越小，越相似。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3090672"/>
            <a:ext cx="2164054" cy="358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内积兼顾方向与长度，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0" u="none" strike="noStrike" kern="1200" cap="none" spc="50" normalizeH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方向一致且长度越大，得分越高。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" y="4855464"/>
            <a:ext cx="10515600" cy="1655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832104" y="5230368"/>
            <a:ext cx="10396728" cy="0"/>
          </a:xfrm>
          <a:prstGeom prst="line">
            <a:avLst/>
          </a:prstGeom>
          <a:ln w="1016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90856" y="4915482"/>
            <a:ext cx="778097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100" normalizeH="0" noProof="0">
                <a:ln>
                  <a:noFill/>
                </a:ln>
                <a:solidFill>
                  <a:srgbClr val="001A6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在 embedding 检索中，选择何种度量方式，往往与向量是否归一化及模型训练目标有关</a:t>
            </a:r>
          </a:p>
        </p:txBody>
      </p:sp>
      <p:cxnSp>
        <p:nvCxnSpPr>
          <p:cNvPr id="76" name="Connector 75"/>
          <p:cNvCxnSpPr>
            <a:cxnSpLocks/>
          </p:cNvCxnSpPr>
          <p:nvPr/>
        </p:nvCxnSpPr>
        <p:spPr>
          <a:xfrm>
            <a:off x="2679191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cxnSpLocks/>
          </p:cNvCxnSpPr>
          <p:nvPr/>
        </p:nvCxnSpPr>
        <p:spPr>
          <a:xfrm>
            <a:off x="546811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cxnSpLocks/>
          </p:cNvCxnSpPr>
          <p:nvPr/>
        </p:nvCxnSpPr>
        <p:spPr>
          <a:xfrm>
            <a:off x="793699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96112" y="5532120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96112" y="5824728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96112" y="6117336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505523" y="5308872"/>
            <a:ext cx="56425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0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度量方式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2293" y="5308872"/>
            <a:ext cx="102271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0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适用场景 / 特点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67763" y="5308872"/>
            <a:ext cx="126957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00" normalizeH="0" noProof="0">
                <a:ln>
                  <a:noFill/>
                </a:ln>
                <a:solidFill>
                  <a:srgbClr val="0B8C86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是否需要向量归一化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52265" y="5308872"/>
            <a:ext cx="158697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0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常见训练目标 / 模型倾向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983" y="5602930"/>
            <a:ext cx="1141338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1A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Cosine Similarity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98064" y="5610624"/>
            <a:ext cx="24365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关注语义方向，适合语义检索、文本匹配等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81951" y="5610624"/>
            <a:ext cx="64120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建议归一化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90976" y="5610624"/>
            <a:ext cx="210955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对比学习（如 InfoNCE）、角度损失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2563" y="5895538"/>
            <a:ext cx="159017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1A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Euclidean Distance (L2)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98064" y="5903232"/>
            <a:ext cx="256480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关注绝对差异，适合需要度量真实距离的任务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90965" y="5897101"/>
            <a:ext cx="17953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不强制，但受向量尺度影响较大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62361" y="5903232"/>
            <a:ext cx="276678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回归/重构类目标、度量学习（如 Triplet Loss）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29192" y="6188146"/>
            <a:ext cx="91691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1A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Inner Product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8064" y="6195840"/>
            <a:ext cx="230832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兼顾方向与长度，适合推荐、排序等场景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97231" y="6195840"/>
            <a:ext cx="141064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不强制，长度会影响得分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29687" y="6195840"/>
            <a:ext cx="263213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点积 Softmax、推荐模型（如矩阵因子分解）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3ED83188-5FED-4BF0-B592-D3A8B4B7C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766" y="1301029"/>
            <a:ext cx="517330" cy="420331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01713F0B-6E4F-40B2-81FD-1EADED877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639" y="2472388"/>
            <a:ext cx="1865903" cy="450186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3D55EC03-F9D8-4DAB-B073-C632B6BE1B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11" y="1844695"/>
            <a:ext cx="347988" cy="482212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1E4C9C91-3204-4029-B09D-1D4F016F8A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559" y="2413444"/>
            <a:ext cx="346293" cy="506121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9E44419E-7D9D-411B-A7FE-7BEBC6F0BE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7" y="3075702"/>
            <a:ext cx="237744" cy="322973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A7C2969C-633A-43AE-AB0A-280222B243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320" y="3578961"/>
            <a:ext cx="2332219" cy="1044053"/>
          </a:xfrm>
          <a:prstGeom prst="rect">
            <a:avLst/>
          </a:prstGeom>
        </p:spPr>
      </p:pic>
      <p:sp>
        <p:nvSpPr>
          <p:cNvPr id="118" name="TextBox 47">
            <a:extLst>
              <a:ext uri="{FF2B5EF4-FFF2-40B4-BE49-F238E27FC236}">
                <a16:creationId xmlns:a16="http://schemas.microsoft.com/office/drawing/2014/main" id="{B5B5A96C-04EF-42FA-A17A-5A6E90C82F74}"/>
              </a:ext>
            </a:extLst>
          </p:cNvPr>
          <p:cNvSpPr txBox="1"/>
          <p:nvPr/>
        </p:nvSpPr>
        <p:spPr>
          <a:xfrm>
            <a:off x="8378411" y="2019174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定义</a:t>
            </a:r>
          </a:p>
        </p:txBody>
      </p:sp>
      <p:sp>
        <p:nvSpPr>
          <p:cNvPr id="119" name="TextBox 48">
            <a:extLst>
              <a:ext uri="{FF2B5EF4-FFF2-40B4-BE49-F238E27FC236}">
                <a16:creationId xmlns:a16="http://schemas.microsoft.com/office/drawing/2014/main" id="{160C6F7C-55F3-45FF-9988-D6910E5A7C60}"/>
              </a:ext>
            </a:extLst>
          </p:cNvPr>
          <p:cNvSpPr txBox="1"/>
          <p:nvPr/>
        </p:nvSpPr>
        <p:spPr>
          <a:xfrm>
            <a:off x="8379842" y="2611921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公式</a:t>
            </a:r>
          </a:p>
        </p:txBody>
      </p:sp>
      <p:sp>
        <p:nvSpPr>
          <p:cNvPr id="120" name="TextBox 49">
            <a:extLst>
              <a:ext uri="{FF2B5EF4-FFF2-40B4-BE49-F238E27FC236}">
                <a16:creationId xmlns:a16="http://schemas.microsoft.com/office/drawing/2014/main" id="{7FCAA9DA-A678-4EDD-BB24-FC05309D7DDF}"/>
              </a:ext>
            </a:extLst>
          </p:cNvPr>
          <p:cNvSpPr txBox="1"/>
          <p:nvPr/>
        </p:nvSpPr>
        <p:spPr>
          <a:xfrm>
            <a:off x="8169975" y="3212316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直观解释</a:t>
            </a:r>
          </a:p>
        </p:txBody>
      </p:sp>
      <p:sp>
        <p:nvSpPr>
          <p:cNvPr id="121" name="TextBox 50">
            <a:extLst>
              <a:ext uri="{FF2B5EF4-FFF2-40B4-BE49-F238E27FC236}">
                <a16:creationId xmlns:a16="http://schemas.microsoft.com/office/drawing/2014/main" id="{E0E65D68-E989-4100-ABB7-9F639A07B6BE}"/>
              </a:ext>
            </a:extLst>
          </p:cNvPr>
          <p:cNvSpPr txBox="1"/>
          <p:nvPr/>
        </p:nvSpPr>
        <p:spPr>
          <a:xfrm>
            <a:off x="8014051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50" normalizeH="0" noProof="0">
                <a:ln>
                  <a:noFill/>
                </a:ln>
                <a:solidFill>
                  <a:srgbClr val="045EE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二维示意图</a:t>
            </a:r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F87C45A6-C36E-4D02-A42F-F0C595E73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024" y="1869969"/>
            <a:ext cx="347988" cy="482212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BFAB4918-54C6-4ABA-ACB5-990D78B614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972" y="2438718"/>
            <a:ext cx="346293" cy="506121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76E3AFDF-CFA3-492E-A417-BDE6A9A06D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6135" y="3100976"/>
            <a:ext cx="237744" cy="322973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B17E573F-BB47-41D8-AD37-601868A546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5872" y="2447104"/>
            <a:ext cx="1965168" cy="512360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49CE8CED-306B-4A97-B89F-ACD5CC4C82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3042" y="3659722"/>
            <a:ext cx="2292153" cy="976287"/>
          </a:xfrm>
          <a:prstGeom prst="rect">
            <a:avLst/>
          </a:prstGeom>
        </p:spPr>
      </p:pic>
      <p:pic>
        <p:nvPicPr>
          <p:cNvPr id="130" name="图片 129">
            <a:extLst>
              <a:ext uri="{FF2B5EF4-FFF2-40B4-BE49-F238E27FC236}">
                <a16:creationId xmlns:a16="http://schemas.microsoft.com/office/drawing/2014/main" id="{0C959A0A-C5F0-492E-A0F1-8A674CD7CC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5870" y="1861070"/>
            <a:ext cx="349147" cy="416453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D287A22A-E943-4CDD-9261-B5C2A99D03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9791" y="2387913"/>
            <a:ext cx="380514" cy="416028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3EB2174B-31D6-46DA-B6D5-C6C4346C719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9316" y="3066502"/>
            <a:ext cx="287078" cy="398719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74AF97FF-F399-46E1-B249-274ED1F9E9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7163" y="2370553"/>
            <a:ext cx="1929151" cy="543856"/>
          </a:xfrm>
          <a:prstGeom prst="rect">
            <a:avLst/>
          </a:prstGeom>
        </p:spPr>
      </p:pic>
      <p:pic>
        <p:nvPicPr>
          <p:cNvPr id="138" name="图片 137">
            <a:extLst>
              <a:ext uri="{FF2B5EF4-FFF2-40B4-BE49-F238E27FC236}">
                <a16:creationId xmlns:a16="http://schemas.microsoft.com/office/drawing/2014/main" id="{4418A1BE-9A08-49AC-8008-53291EA7F0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94876" y="3690662"/>
            <a:ext cx="2223524" cy="942232"/>
          </a:xfrm>
          <a:prstGeom prst="rect">
            <a:avLst/>
          </a:prstGeom>
        </p:spPr>
      </p:pic>
      <p:sp>
        <p:nvSpPr>
          <p:cNvPr id="148" name="直角三角形 147">
            <a:extLst>
              <a:ext uri="{FF2B5EF4-FFF2-40B4-BE49-F238E27FC236}">
                <a16:creationId xmlns:a16="http://schemas.microsoft.com/office/drawing/2014/main" id="{181329B8-0F7F-470C-9EA9-C432CBCB5AE9}"/>
              </a:ext>
            </a:extLst>
          </p:cNvPr>
          <p:cNvSpPr/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直角三角形 148">
            <a:extLst>
              <a:ext uri="{FF2B5EF4-FFF2-40B4-BE49-F238E27FC236}">
                <a16:creationId xmlns:a16="http://schemas.microsoft.com/office/drawing/2014/main" id="{96AC1D84-302E-4073-8108-0F4360F550EC}"/>
              </a:ext>
            </a:extLst>
          </p:cNvPr>
          <p:cNvSpPr/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直角三角形 149">
            <a:extLst>
              <a:ext uri="{FF2B5EF4-FFF2-40B4-BE49-F238E27FC236}">
                <a16:creationId xmlns:a16="http://schemas.microsoft.com/office/drawing/2014/main" id="{FCEAC921-F2D3-4E01-952C-6B9EFA3D9509}"/>
              </a:ext>
            </a:extLst>
          </p:cNvPr>
          <p:cNvSpPr/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直角三角形 150">
            <a:extLst>
              <a:ext uri="{FF2B5EF4-FFF2-40B4-BE49-F238E27FC236}">
                <a16:creationId xmlns:a16="http://schemas.microsoft.com/office/drawing/2014/main" id="{935F0B57-E6A9-4F34-8BC8-E464068E0D9F}"/>
              </a:ext>
            </a:extLst>
          </p:cNvPr>
          <p:cNvSpPr/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直角三角形 152">
            <a:extLst>
              <a:ext uri="{FF2B5EF4-FFF2-40B4-BE49-F238E27FC236}">
                <a16:creationId xmlns:a16="http://schemas.microsoft.com/office/drawing/2014/main" id="{66B5781E-8BF1-45B6-9EAD-E36F22D3215C}"/>
              </a:ext>
            </a:extLst>
          </p:cNvPr>
          <p:cNvSpPr/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直角三角形 153">
            <a:extLst>
              <a:ext uri="{FF2B5EF4-FFF2-40B4-BE49-F238E27FC236}">
                <a16:creationId xmlns:a16="http://schemas.microsoft.com/office/drawing/2014/main" id="{F2094674-16B3-4671-BF4B-63ED20550A58}"/>
              </a:ext>
            </a:extLst>
          </p:cNvPr>
          <p:cNvSpPr/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直角三角形 154">
            <a:extLst>
              <a:ext uri="{FF2B5EF4-FFF2-40B4-BE49-F238E27FC236}">
                <a16:creationId xmlns:a16="http://schemas.microsoft.com/office/drawing/2014/main" id="{B0B48673-2728-4BD0-9465-2F3AA7E25A90}"/>
              </a:ext>
            </a:extLst>
          </p:cNvPr>
          <p:cNvSpPr/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824</Words>
  <Application>Microsoft Office PowerPoint</Application>
  <PresentationFormat>宽屏</PresentationFormat>
  <Paragraphs>333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kunlun</dc:creator>
  <cp:keywords/>
  <cp:lastModifiedBy>可函 幸</cp:lastModifiedBy>
  <cp:revision>27</cp:revision>
  <dcterms:created xsi:type="dcterms:W3CDTF">2013-01-27T09:14:16Z</dcterms:created>
  <dcterms:modified xsi:type="dcterms:W3CDTF">2026-05-24T13:07:54Z</dcterms:modified>
  <cp:category/>
</cp:coreProperties>
</file>