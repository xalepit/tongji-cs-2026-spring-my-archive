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  <p:sldMasterId id="2147483735" r:id="rId2"/>
  </p:sldMasterIdLst>
  <p:notesMasterIdLst>
    <p:notesMasterId r:id="rId13"/>
  </p:notesMasterIdLst>
  <p:handoutMasterIdLst>
    <p:handoutMasterId r:id="rId14"/>
  </p:handoutMasterIdLst>
  <p:sldIdLst>
    <p:sldId id="5182" r:id="rId3"/>
    <p:sldId id="5158" r:id="rId4"/>
    <p:sldId id="5183" r:id="rId5"/>
    <p:sldId id="5155" r:id="rId6"/>
    <p:sldId id="5184" r:id="rId7"/>
    <p:sldId id="5185" r:id="rId8"/>
    <p:sldId id="5186" r:id="rId9"/>
    <p:sldId id="5187" r:id="rId10"/>
    <p:sldId id="5188" r:id="rId11"/>
    <p:sldId id="2657" r:id="rId12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5182"/>
            <p14:sldId id="5158"/>
            <p14:sldId id="5183"/>
            <p14:sldId id="5155"/>
            <p14:sldId id="5184"/>
            <p14:sldId id="5185"/>
            <p14:sldId id="5186"/>
            <p14:sldId id="5187"/>
            <p14:sldId id="5188"/>
            <p14:sldId id="26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70" autoAdjust="0"/>
    <p:restoredTop sz="93834" autoAdjust="0"/>
  </p:normalViewPr>
  <p:slideViewPr>
    <p:cSldViewPr>
      <p:cViewPr varScale="1">
        <p:scale>
          <a:sx n="145" d="100"/>
          <a:sy n="145" d="100"/>
        </p:scale>
        <p:origin x="552" y="184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1</a:t>
            </a:fld>
            <a:endParaRPr lang="fi-FI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10</a:t>
            </a:fld>
            <a:endParaRPr lang="fi-FI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400">
                <a:latin typeface="微软雅黑" pitchFamily="34" charset="-122"/>
                <a:ea typeface="微软雅黑" pitchFamily="34" charset="-122"/>
              </a:defRPr>
            </a:lvl1pPr>
            <a:lvl2pPr>
              <a:defRPr sz="2000">
                <a:latin typeface="微软雅黑" pitchFamily="34" charset="-122"/>
                <a:ea typeface="微软雅黑" pitchFamily="34" charset="-122"/>
              </a:defRPr>
            </a:lvl2pPr>
            <a:lvl3pPr>
              <a:defRPr sz="1800">
                <a:latin typeface="微软雅黑" pitchFamily="34" charset="-122"/>
                <a:ea typeface="微软雅黑" pitchFamily="34" charset="-122"/>
              </a:defRPr>
            </a:lvl3pPr>
            <a:lvl4pPr>
              <a:defRPr sz="1600">
                <a:latin typeface="微软雅黑" pitchFamily="34" charset="-122"/>
                <a:ea typeface="微软雅黑" pitchFamily="34" charset="-122"/>
              </a:defRPr>
            </a:lvl4pPr>
            <a:lvl5pPr>
              <a:defRPr sz="16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9525" y="3072"/>
            <a:ext cx="9144000" cy="583072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17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7024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040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2026/4/7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492431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16752D73-FCE0-4C91-9046-B443BB0E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81265A1D-E753-4B73-A145-8601358CF94C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A2112050-F8FB-4C93-9752-2D3FE7B75F9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5BBE3BC9-B6A4-42F2-9408-BD266AA0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E2368EDB-C388-4E28-BBE5-4F255162B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9872EB7-0880-4D4B-AB94-8A492573263B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8DF600F-69D6-4B54-9FE0-7418FD2F14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9F403212-3DFD-47AC-9FCD-43C4135BB6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07A37F3F-9709-495C-A02A-28A1719A37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4092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A5457454-CD41-4EC0-92FC-4BEB76B0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35396A89-02DC-47BF-A242-E77FB2856038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E84470B1-7E26-445E-8261-EF124C84FCB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DC54CF8F-955A-4A75-ADB5-E00F1353F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8367A01C-6193-475C-8106-FED3AEAAA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FEFBF47-4E4E-4907-8B9A-381E7A293BE9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8C9D253A-10DE-481D-988E-6BEC0CDA20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B2901E17-58DF-49C4-9DE2-A12586FCDA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27DC25B2-A5E5-4F2C-BA98-D1B72330E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282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31A94-F931-4AAA-8DB5-6ED9F850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88E0AB-1C0D-42C7-851F-DD65AD7B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48D610-C3FB-43EF-84BB-9022A474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1D823-BC15-486B-873C-13E261F2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1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CABCC62-743F-4022-8159-B19A201B0B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EE9B879-BEBD-4844-945E-D696D6281B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95541F1-4DC5-4655-B057-934C72C68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2026/4/7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D41541A6-4A6E-4EAB-92E4-324E52AD6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00D96588-48D9-48F6-8566-84A7CB18E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4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40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62903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7pPr>
      <a:lvl8pPr marL="1088231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8pPr>
      <a:lvl9pPr marL="1451134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589360" indent="-22621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06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20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347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488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6pPr>
      <a:lvl7pPr marL="2358390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7pPr>
      <a:lvl8pPr marL="2721293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8pPr>
      <a:lvl9pPr marL="3084195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62903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08823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4pPr>
      <a:lvl5pPr marL="145113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5pPr>
      <a:lvl6pPr marL="1814036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6pPr>
      <a:lvl7pPr marL="2176939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7pPr>
      <a:lvl8pPr marL="253984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8pPr>
      <a:lvl9pPr marL="290274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952590" y="2037292"/>
            <a:ext cx="5238583" cy="53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51"/>
              </a:spcBef>
              <a:defRPr/>
            </a:pPr>
            <a:r>
              <a:rPr lang="en-US" altLang="zh-CN" sz="2847" b="1" spc="225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SQL</a:t>
            </a:r>
            <a:r>
              <a:rPr lang="zh-CN" altLang="en-US" sz="2847" b="1" spc="225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综合实验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2007096" y="2661306"/>
            <a:ext cx="5238582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0"/>
            <a:ext cx="1836204" cy="505332"/>
          </a:xfrm>
          <a:prstGeom prst="rect">
            <a:avLst/>
          </a:prstGeom>
        </p:spPr>
      </p:pic>
      <p:sp>
        <p:nvSpPr>
          <p:cNvPr id="14" name="文本框 11"/>
          <p:cNvSpPr txBox="1">
            <a:spLocks noChangeArrowheads="1"/>
          </p:cNvSpPr>
          <p:nvPr/>
        </p:nvSpPr>
        <p:spPr bwMode="auto">
          <a:xfrm>
            <a:off x="2438105" y="3475869"/>
            <a:ext cx="42862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2026.4.14</a:t>
            </a:r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sp>
        <p:nvSpPr>
          <p:cNvPr id="22" name="副标题 3074"/>
          <p:cNvSpPr txBox="1">
            <a:spLocks noChangeArrowheads="1"/>
          </p:cNvSpPr>
          <p:nvPr/>
        </p:nvSpPr>
        <p:spPr bwMode="auto">
          <a:xfrm>
            <a:off x="2428730" y="2868543"/>
            <a:ext cx="4286249" cy="4000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168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数据库第四次实验</a:t>
            </a:r>
          </a:p>
        </p:txBody>
      </p:sp>
      <p:pic>
        <p:nvPicPr>
          <p:cNvPr id="2" name="图形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5534" y="99466"/>
            <a:ext cx="3556248" cy="3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sym typeface="+mn-ea"/>
              </a:rPr>
              <a:t>SQL</a:t>
            </a:r>
            <a:r>
              <a:rPr lang="zh-CN" altLang="en-US" dirty="0">
                <a:sym typeface="+mn-ea"/>
              </a:rPr>
              <a:t>综合实验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95536" y="617153"/>
            <a:ext cx="8352928" cy="44988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defTabSz="482163" fontAlgn="auto"/>
            <a:r>
              <a:rPr lang="zh-CN" altLang="en-US" sz="1898" b="1" dirty="0">
                <a:latin typeface="Times New Roman" panose="02020603050405020304" charset="0"/>
                <a:sym typeface="+mn-ea"/>
              </a:rPr>
              <a:t>实验目的</a:t>
            </a:r>
            <a:endParaRPr lang="zh-CN" altLang="en-US" sz="1898" b="1" dirty="0">
              <a:latin typeface="Times New Roman" panose="02020603050405020304" charset="0"/>
            </a:endParaRPr>
          </a:p>
          <a:p>
            <a:pPr marL="241082" indent="482163" algn="just" defTabSz="482163" fontAlgn="auto"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xmlns="" val="200" checksum="797548545"/>
                </a:ext>
              </a:extLst>
            </a:pPr>
            <a:r>
              <a:rPr lang="zh-CN" altLang="zh-CN" sz="1600" dirty="0">
                <a:latin typeface="Times New Roman" panose="02020603050405020304" charset="0"/>
              </a:rPr>
              <a:t>熟练运用基础的SQL语句，包括数据库的创建，数据的插入、修改、删除、查询操作，数据库表的完整性，存储过程的创建和调用、数据库表索引的创建(*)</a:t>
            </a:r>
            <a:endParaRPr lang="en-US" altLang="zh-CN" sz="1600" dirty="0">
              <a:latin typeface="Times New Roman" panose="02020603050405020304" charset="0"/>
            </a:endParaRPr>
          </a:p>
          <a:p>
            <a:pPr marL="241082" indent="482163" algn="just" defTabSz="482163" fontAlgn="auto"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xmlns="" val="200" checksum="797548545"/>
                </a:ext>
              </a:extLst>
            </a:pPr>
            <a:r>
              <a:rPr lang="zh-CN" altLang="zh-CN" sz="1600" dirty="0">
                <a:latin typeface="Times New Roman" panose="02020603050405020304" charset="0"/>
              </a:rPr>
              <a:t>掌握SQL语句常见语法错误的调试方法</a:t>
            </a:r>
            <a:endParaRPr lang="zh-CN" altLang="en-US" sz="1600" dirty="0">
              <a:latin typeface="Times New Roman" panose="02020603050405020304" charset="0"/>
            </a:endParaRPr>
          </a:p>
          <a:p>
            <a:pPr algn="just" defTabSz="482163" fontAlgn="auto"/>
            <a:r>
              <a:rPr lang="zh-CN" altLang="en-US" sz="1898" b="1" dirty="0">
                <a:latin typeface="Times New Roman" panose="02020603050405020304" charset="0"/>
                <a:sym typeface="+mn-ea"/>
              </a:rPr>
              <a:t>实验要求</a:t>
            </a:r>
            <a:endParaRPr lang="zh-CN" altLang="en-US" sz="1898" b="1" dirty="0">
              <a:latin typeface="Times New Roman" panose="02020603050405020304" charset="0"/>
            </a:endParaRPr>
          </a:p>
          <a:p>
            <a:pPr marL="241082" indent="428589" algn="just" defTabSz="482163" fontAlgn="auto"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3877492575"/>
                </a:ext>
              </a:extLst>
            </a:pPr>
            <a:r>
              <a:rPr lang="zh-CN" altLang="en-US" sz="1600" dirty="0">
                <a:latin typeface="Times New Roman" panose="02020603050405020304" charset="0"/>
                <a:sym typeface="+mn-ea"/>
              </a:rPr>
              <a:t>本次实验使用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OceanBase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数据库</a:t>
            </a:r>
            <a:r>
              <a:rPr lang="zh-CN" altLang="en-US" sz="1600" dirty="0">
                <a:latin typeface="Times New Roman" panose="02020603050405020304" charset="0"/>
                <a:sym typeface="+mn-ea"/>
              </a:rPr>
              <a:t>完成</a:t>
            </a:r>
            <a:endParaRPr lang="zh-CN" altLang="en-US" sz="1600" dirty="0">
              <a:latin typeface="Times New Roman" panose="02020603050405020304" charset="0"/>
            </a:endParaRPr>
          </a:p>
          <a:p>
            <a:pPr marL="241082" indent="428589" algn="just" defTabSz="482163" fontAlgn="auto"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3877492575"/>
                </a:ext>
              </a:extLst>
            </a:pPr>
            <a:r>
              <a:rPr lang="en-US" altLang="zh-CN" sz="1600" dirty="0">
                <a:latin typeface="Times New Roman" panose="02020603050405020304" charset="0"/>
                <a:sym typeface="+mn-ea"/>
              </a:rPr>
              <a:t>OceanBase</a:t>
            </a:r>
            <a:r>
              <a:rPr lang="zh-CN" altLang="en-US" sz="1600" dirty="0">
                <a:latin typeface="Times New Roman" panose="02020603050405020304" charset="0"/>
                <a:sym typeface="+mn-ea"/>
              </a:rPr>
              <a:t>数据库版本要求</a:t>
            </a:r>
            <a:r>
              <a:rPr lang="en-US" altLang="zh-CN" sz="1600" dirty="0">
                <a:latin typeface="Times New Roman" panose="02020603050405020304" charset="0"/>
                <a:sym typeface="+mn-ea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≥ 4.2.2.0</a:t>
            </a:r>
          </a:p>
          <a:p>
            <a:pPr marL="241082" indent="428589" algn="just" defTabSz="482163" fontAlgn="auto">
              <a:buFont typeface="Arial" panose="020B0604020202020204" pitchFamily="34" charset="0"/>
              <a:buChar char="•"/>
              <a:extLst>
                <a:ext uri="{35155182-B16C-46BC-9424-99874614C6A1}">
                  <wpsdc:indentchars xmlns:lc="http://schemas.openxmlformats.org/drawingml/2006/lockedCanvas" xmlns:wpsdc="http://www.wps.cn/officeDocument/2017/drawingmlCustomData" xmlns="" val="200" checksum="3877492575"/>
                </a:ext>
              </a:extLst>
            </a:pP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数据库表的表名、字段名要求与提供的表格和附录一中的代码片段保持一致，表内的字段类型自行设计，满足要求合理即可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41082" indent="428589" algn="just" defTabSz="482163" fontAlgn="auto">
              <a:buFont typeface="Arial" panose="020B0604020202020204" pitchFamily="34" charset="0"/>
              <a:buChar char="•"/>
              <a:extLst>
                <a:ext uri="{35155182-B16C-46BC-9424-99874614C6A1}">
                  <wpsdc:indentchars xmlns:lc="http://schemas.openxmlformats.org/drawingml/2006/lockedCanvas" xmlns:wpsdc="http://www.wps.cn/officeDocument/2017/drawingmlCustomData" xmlns="" val="200" checksum="3877492575"/>
                </a:ext>
              </a:extLst>
            </a:pP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插入数据请参考附录二中的代码片段</a:t>
            </a:r>
            <a:endParaRPr lang="en-US" altLang="zh-CN" sz="1600" dirty="0">
              <a:latin typeface="Times New Roman" panose="02020603050405020304" charset="0"/>
            </a:endParaRPr>
          </a:p>
          <a:p>
            <a:pPr algn="just" defTabSz="482163" fontAlgn="auto"/>
            <a:r>
              <a:rPr lang="zh-CN" altLang="en-US" sz="2000" b="1" dirty="0">
                <a:latin typeface="Times New Roman" panose="02020603050405020304" charset="0"/>
                <a:sym typeface="+mn-ea"/>
              </a:rPr>
              <a:t>报告要求</a:t>
            </a:r>
            <a:endParaRPr lang="zh-CN" altLang="en-US" sz="2000" b="1" dirty="0">
              <a:latin typeface="Times New Roman" panose="02020603050405020304" charset="0"/>
            </a:endParaRPr>
          </a:p>
          <a:p>
            <a:pPr marL="241082" indent="428589" algn="just" defTabSz="482163" fontAlgn="auto">
              <a:buFont typeface="Arial" panose="020B0604020202020204" pitchFamily="34" charset="0"/>
              <a:buChar char="•"/>
              <a:extLst>
                <a:ext uri="{35155182-B16C-46BC-9424-99874614C6A1}">
                  <wpsdc:indentchars xmlns:lc="http://schemas.openxmlformats.org/drawingml/2006/lockedCanvas" xmlns:wpsdc="http://www.wps.cn/officeDocument/2017/drawingmlCustomData" xmlns="" val="200" checksum="3877492575"/>
                </a:ext>
              </a:extLst>
            </a:pPr>
            <a:r>
              <a:rPr lang="zh-CN" altLang="en-US" sz="1600" dirty="0">
                <a:latin typeface="Times New Roman" panose="02020603050405020304" charset="0"/>
                <a:sym typeface="+mn-ea"/>
              </a:rPr>
              <a:t>完成下列</a:t>
            </a:r>
            <a:r>
              <a:rPr lang="en-US" altLang="zh-CN" sz="1600" dirty="0">
                <a:latin typeface="Times New Roman" panose="02020603050405020304" charset="0"/>
                <a:sym typeface="+mn-ea"/>
              </a:rPr>
              <a:t>SQL</a:t>
            </a:r>
            <a:r>
              <a:rPr lang="zh-CN" altLang="en-US" sz="1600" dirty="0">
                <a:latin typeface="Times New Roman" panose="02020603050405020304" charset="0"/>
                <a:sym typeface="+mn-ea"/>
              </a:rPr>
              <a:t>综合实验的所有小题内容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（序号后标有</a:t>
            </a:r>
            <a:r>
              <a:rPr lang="zh-CN" altLang="zh-CN" dirty="0">
                <a:effectLst/>
                <a:ea typeface="Times New Roman" panose="02020603050405020304" pitchFamily="18" charset="0"/>
              </a:rPr>
              <a:t>*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的小题是选做题，不强制要求完成）</a:t>
            </a:r>
            <a:r>
              <a:rPr lang="zh-CN" altLang="en-US" sz="1600" dirty="0">
                <a:latin typeface="Times New Roman" panose="02020603050405020304" charset="0"/>
                <a:sym typeface="+mn-ea"/>
              </a:rPr>
              <a:t>，要求提交的实验报告中包含每个小题的题干和相应的实验结果截图</a:t>
            </a:r>
            <a:endParaRPr lang="zh-CN" altLang="en-US" sz="1600" dirty="0">
              <a:latin typeface="Times New Roman" panose="02020603050405020304" charset="0"/>
            </a:endParaRPr>
          </a:p>
          <a:p>
            <a:pPr marL="241082" indent="428589" algn="just" defTabSz="482163" fontAlgn="auto">
              <a:buFont typeface="Arial" panose="020B0604020202020204" pitchFamily="34" charset="0"/>
              <a:buChar char="•"/>
              <a:extLst>
                <a:ext uri="{35155182-B16C-46BC-9424-99874614C6A1}">
                  <wpsdc:indentchars xmlns:lc="http://schemas.openxmlformats.org/drawingml/2006/lockedCanvas" xmlns:wpsdc="http://www.wps.cn/officeDocument/2017/drawingmlCustomData" xmlns="" val="200" checksum="3877492575"/>
                </a:ext>
              </a:extLst>
            </a:pPr>
            <a:r>
              <a:rPr lang="zh-CN" altLang="en-US" sz="1600" dirty="0">
                <a:latin typeface="Times New Roman" panose="02020603050405020304" charset="0"/>
                <a:sym typeface="+mn-ea"/>
              </a:rPr>
              <a:t>实验截图中应该包含有完整的</a:t>
            </a:r>
            <a:r>
              <a:rPr lang="en-US" altLang="zh-CN" sz="1600" dirty="0">
                <a:latin typeface="Times New Roman" panose="02020603050405020304" charset="0"/>
                <a:sym typeface="+mn-ea"/>
              </a:rPr>
              <a:t> SQL </a:t>
            </a:r>
            <a:r>
              <a:rPr lang="zh-CN" altLang="en-US" sz="1600" dirty="0">
                <a:latin typeface="Times New Roman" panose="02020603050405020304" charset="0"/>
                <a:sym typeface="+mn-ea"/>
              </a:rPr>
              <a:t>执行语句和输出的实验结果</a:t>
            </a:r>
            <a:endParaRPr lang="en-US" altLang="zh-CN" sz="1600" dirty="0">
              <a:latin typeface="Times New Roman" panose="02020603050405020304" charset="0"/>
              <a:sym typeface="+mn-ea"/>
            </a:endParaRPr>
          </a:p>
          <a:p>
            <a:pPr marL="241082" indent="428589" algn="just" defTabSz="482163" fontAlgn="auto">
              <a:buFont typeface="Arial" panose="020B0604020202020204" pitchFamily="34" charset="0"/>
              <a:buChar char="•"/>
              <a:extLst>
                <a:ext uri="{35155182-B16C-46BC-9424-99874614C6A1}">
                  <wpsdc:indentchars xmlns:lc="http://schemas.openxmlformats.org/drawingml/2006/lockedCanvas" xmlns:wpsdc="http://www.wps.cn/officeDocument/2017/drawingmlCustomData" xmlns="" val="200" checksum="3877492575"/>
                </a:ext>
              </a:extLst>
            </a:pPr>
            <a:r>
              <a:rPr lang="zh-CN" altLang="en-US" sz="1600" dirty="0">
                <a:latin typeface="Times New Roman" panose="02020603050405020304" charset="0"/>
                <a:sym typeface="+mn-ea"/>
              </a:rPr>
              <a:t>记录你遇到的问题及解决方案</a:t>
            </a:r>
            <a:endParaRPr lang="zh-CN" altLang="en-US" sz="1600" dirty="0">
              <a:latin typeface="Times New Roman" panose="02020603050405020304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1687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9532" y="629895"/>
            <a:ext cx="8424936" cy="720080"/>
          </a:xfrm>
        </p:spPr>
        <p:txBody>
          <a:bodyPr>
            <a:normAutofit fontScale="55000" lnSpcReduction="20000"/>
          </a:bodyPr>
          <a:lstStyle/>
          <a:p>
            <a:pPr marL="0" indent="0" algn="just" defTabSz="482163">
              <a:lnSpc>
                <a:spcPct val="120000"/>
              </a:lnSpc>
              <a:buNone/>
            </a:pPr>
            <a:r>
              <a:rPr lang="en-US" altLang="zh-CN" sz="3300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3300" dirty="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zh-CN" altLang="zh-CN" sz="33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建表（见附录一），表内字段的类型可以自行定义（合理即可），注意建表时不要忽略各表的主键约束和表间的外键约束；</a:t>
            </a:r>
            <a:endParaRPr lang="zh-CN" altLang="zh-CN" sz="33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 algn="just" defTabSz="482163">
              <a:lnSpc>
                <a:spcPct val="170000"/>
              </a:lnSpc>
              <a:buNone/>
            </a:pPr>
            <a:endParaRPr lang="en-US" altLang="zh-CN" sz="18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 algn="just" defTabSz="482163">
              <a:lnSpc>
                <a:spcPct val="170000"/>
              </a:lnSpc>
              <a:buNone/>
            </a:pPr>
            <a:endParaRPr lang="zh-CN" altLang="en-US" sz="18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289FD8-7AF6-B092-8560-5D9E219C4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0" y="1275606"/>
            <a:ext cx="4608512" cy="19501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F18F8EA-0EA7-3A93-8E9B-2F7949DA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12" y="1275606"/>
            <a:ext cx="4392488" cy="15641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18155E2-0680-02D1-C465-8DF8464F0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12" y="2827551"/>
            <a:ext cx="4392488" cy="223664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5FC4A86-63D1-3895-9A49-A2C662805539}"/>
              </a:ext>
            </a:extLst>
          </p:cNvPr>
          <p:cNvSpPr txBox="1"/>
          <p:nvPr/>
        </p:nvSpPr>
        <p:spPr>
          <a:xfrm>
            <a:off x="89085" y="4587974"/>
            <a:ext cx="4752020" cy="78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FB0007"/>
                </a:solidFill>
                <a:effectLst/>
                <a:latin typeface="Helvetica" pitchFamily="2" charset="0"/>
              </a:rPr>
              <a:t>P.S. Borrow </a:t>
            </a:r>
            <a:r>
              <a:rPr lang="zh-CN" altLang="en-US" dirty="0">
                <a:solidFill>
                  <a:srgbClr val="FB0007"/>
                </a:solidFill>
                <a:effectLst/>
                <a:latin typeface="Helvetica" pitchFamily="2" charset="0"/>
              </a:rPr>
              <a:t>表的 </a:t>
            </a:r>
            <a:r>
              <a:rPr lang="en" altLang="zh-CN" dirty="0">
                <a:solidFill>
                  <a:srgbClr val="FB0007"/>
                </a:solidFill>
                <a:effectLst/>
                <a:latin typeface="Helvetica" pitchFamily="2" charset="0"/>
              </a:rPr>
              <a:t>borrow</a:t>
            </a:r>
            <a:r>
              <a:rPr lang="en-US" altLang="zh-CN" dirty="0">
                <a:solidFill>
                  <a:srgbClr val="FB0007"/>
                </a:solidFill>
                <a:latin typeface="Helvetica" pitchFamily="2" charset="0"/>
              </a:rPr>
              <a:t>_</a:t>
            </a:r>
            <a:r>
              <a:rPr lang="en" altLang="zh-CN" dirty="0">
                <a:solidFill>
                  <a:srgbClr val="FB0007"/>
                </a:solidFill>
                <a:effectLst/>
                <a:latin typeface="Helvetica" pitchFamily="2" charset="0"/>
              </a:rPr>
              <a:t>state </a:t>
            </a:r>
            <a:r>
              <a:rPr lang="zh-CN" altLang="en-US" dirty="0">
                <a:solidFill>
                  <a:srgbClr val="FB0007"/>
                </a:solidFill>
                <a:effectLst/>
                <a:latin typeface="Helvetica" pitchFamily="2" charset="0"/>
              </a:rPr>
              <a:t>字段（用灰色标注的）是第 </a:t>
            </a:r>
            <a:r>
              <a:rPr lang="en-US" altLang="zh-CN" dirty="0">
                <a:solidFill>
                  <a:srgbClr val="FB0007"/>
                </a:solidFill>
                <a:effectLst/>
                <a:latin typeface="Helvetica" pitchFamily="2" charset="0"/>
              </a:rPr>
              <a:t>9 </a:t>
            </a:r>
            <a:r>
              <a:rPr lang="zh-CN" altLang="en-US" dirty="0">
                <a:solidFill>
                  <a:srgbClr val="FB0007"/>
                </a:solidFill>
                <a:effectLst/>
                <a:latin typeface="Helvetica" pitchFamily="2" charset="0"/>
              </a:rPr>
              <a:t>小题需要额外添加的字段，此处建表时可暂时忽略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2AD42E1-F96A-7090-6FAE-8C17DBE65BA0}"/>
              </a:ext>
            </a:extLst>
          </p:cNvPr>
          <p:cNvSpPr txBox="1">
            <a:spLocks/>
          </p:cNvSpPr>
          <p:nvPr/>
        </p:nvSpPr>
        <p:spPr bwMode="auto">
          <a:xfrm>
            <a:off x="539552" y="843558"/>
            <a:ext cx="8208912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插入样例数据（见附录二）；</a:t>
            </a:r>
            <a:endParaRPr lang="zh-CN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查询书名中包含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程序设计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的图书信息，输出所有信息（包括书名、书号、作者、单价），并按照单价降序排列；</a:t>
            </a:r>
            <a:endParaRPr lang="zh-CN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查询借阅了书名为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数据库原理及应用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的学生信息，输出该学生的学号、姓名和年级，并按照学号升序排列；</a:t>
            </a:r>
            <a:endParaRPr lang="zh-CN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统计每个学生借书信息，输出每个学生的学号、借书书名和还书日期；</a:t>
            </a:r>
            <a:endParaRPr lang="zh-CN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查询所有借阅已过期图书的信息，输出学生学号、姓名、书名和还书日期，</a:t>
            </a:r>
            <a:r>
              <a:rPr lang="zh-CN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并按还书日期降序排列；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" altLang="zh-CN" sz="17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P.S. 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借阅已过期图书指的是“现实日期”大于还书截止日期字段的图书，“现实日期”以 </a:t>
            </a:r>
            <a:r>
              <a:rPr lang="en-US" altLang="zh-CN" sz="17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月 </a:t>
            </a:r>
            <a:r>
              <a:rPr lang="en-US" altLang="zh-CN" sz="17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 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日为例；</a:t>
            </a:r>
          </a:p>
          <a:p>
            <a:pPr marL="0" lvl="0" indent="0">
              <a:lnSpc>
                <a:spcPct val="150000"/>
              </a:lnSpc>
              <a:buNone/>
            </a:pPr>
            <a:endParaRPr lang="zh-CN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 algn="just" defTabSz="482163">
              <a:lnSpc>
                <a:spcPct val="170000"/>
              </a:lnSpc>
              <a:buFontTx/>
              <a:buNone/>
            </a:pPr>
            <a:endParaRPr lang="en-US" altLang="zh-CN" sz="1800" kern="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 algn="just" defTabSz="482163">
              <a:lnSpc>
                <a:spcPct val="170000"/>
              </a:lnSpc>
              <a:buFontTx/>
              <a:buNone/>
            </a:pPr>
            <a:endParaRPr lang="zh-CN" altLang="en-US" sz="1800" kern="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929078"/>
            <a:ext cx="8316924" cy="3285344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查询没有借阅过书的学生信息，输出学生姓名和学号；</a:t>
            </a:r>
            <a:endParaRPr lang="zh-CN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查询借了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"Java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程序设计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"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但没有借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"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数据库原理及应用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"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的读者信息，输出这些学生的学号，并按照学号升序排列；</a:t>
            </a:r>
            <a:endParaRPr lang="zh-CN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创建一个过程，使之能够实现如下功能：</a:t>
            </a:r>
            <a:endParaRPr lang="zh-CN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修改借阅表，增加字段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借阅状态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（字段名为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”Borrow_state”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），字段含义为表示图书的借阅状态是否已经过期；</a:t>
            </a:r>
            <a:endParaRPr lang="zh-CN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287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968" y="555664"/>
            <a:ext cx="8316924" cy="2160102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并根据表中已有数据为该字段赋值（所赋的值与表定义时的数据类型保持一致即可，比如可以定义已到期图书的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借阅状态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True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，未到期图书的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借阅状态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False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），要求使用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if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语句进行条件判断；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zh-CN" altLang="zh-CN" sz="16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P.S.创建存储过程的语法可参考如下代码片段，其中存储过程的名称、是否带参数、参数的名称类型自行决定，合理即可；</a:t>
            </a:r>
            <a:endParaRPr lang="en-US" altLang="zh-CN" sz="1600" dirty="0"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1600" dirty="0"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584200" indent="266700">
              <a:lnSpc>
                <a:spcPct val="150000"/>
              </a:lnSpc>
            </a:pPr>
            <a:endParaRPr lang="en-US" altLang="zh-CN" sz="1800" dirty="0"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63268B-7FE0-4DB1-1357-C329E240A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571750"/>
            <a:ext cx="5040560" cy="4733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5A7D49D-06CD-7C32-93FC-E64754981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848" y="3043694"/>
            <a:ext cx="4993456" cy="10712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F91F98-25B6-F706-F12A-7FF4E9912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966" y="4097430"/>
            <a:ext cx="4711305" cy="104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80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实验内容（选做）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3538" y="915566"/>
            <a:ext cx="8316924" cy="21601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12</a:t>
            </a:r>
            <a:r>
              <a:rPr lang="zh-CN" alt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、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(*)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修改图书表，在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Book_name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列上增加唯一性索引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Book_name_index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，并按</a:t>
            </a:r>
            <a:r>
              <a:rPr lang="zh-CN" altLang="zh-CN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Book_name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降序排列；</a:t>
            </a:r>
            <a:endParaRPr lang="zh-CN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1600" dirty="0"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584200" indent="266700">
              <a:lnSpc>
                <a:spcPct val="150000"/>
              </a:lnSpc>
            </a:pPr>
            <a:endParaRPr lang="en-US" altLang="zh-CN" sz="1800" dirty="0"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0941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附录一：建表样例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021250-10A1-71B6-1532-A0586C08B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771550"/>
            <a:ext cx="6766520" cy="422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39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附录二：插入数据样例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A5FA82-94E3-16B4-A31F-4C75397ED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768006"/>
            <a:ext cx="4919957" cy="425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10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20188"/>
            <a:ext cx="3428145" cy="39240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15516" y="3579862"/>
            <a:ext cx="8712968" cy="12961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https://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www.oceanbase.com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/docs/common-oceanbase-database-cn-1000000004475544</a:t>
            </a:r>
          </a:p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https://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mariadb.com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/docs/server/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mariadb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-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quickstart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-guides/basics-guide</a:t>
            </a:r>
          </a:p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请大家完成实验，有问题先去上面两个官方文档里找解决方案，没找到再在会议室里问</a:t>
            </a:r>
            <a:endParaRPr lang="en-US" altLang="zh-CN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实验报告的模板在实验准备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.zip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里面</a:t>
            </a:r>
          </a:p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所有班级：请在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4/19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前，在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canvas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上提交实验报告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19" y="20188"/>
            <a:ext cx="1836204" cy="5053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E80E2D2-9360-5197-2A23-361BF48C3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6" y="742718"/>
            <a:ext cx="4588094" cy="5053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B4A4A7B-4F14-46CF-E7D2-2D18F4E5A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96" y="1249910"/>
            <a:ext cx="4534294" cy="20143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179C9D2-E783-9505-67D0-33C9A7CB65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739" y="743994"/>
            <a:ext cx="4407526" cy="20984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1A85189-D448-E472-64F2-B53F57D8A2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6556" y="2842457"/>
            <a:ext cx="4364249" cy="44937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0EE88DA-3C51-CFF8-AE8F-24F9944DB5FF}"/>
              </a:ext>
            </a:extLst>
          </p:cNvPr>
          <p:cNvSpPr txBox="1"/>
          <p:nvPr/>
        </p:nvSpPr>
        <p:spPr>
          <a:xfrm>
            <a:off x="6012160" y="3035361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FF0000"/>
                </a:solidFill>
              </a:rPr>
              <a:t>（本小题选做）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 绪论.potx" id="{A4F0AC33-72D4-4097-837F-93641403082A}" vid="{4062CE69-8121-4E25-9D20-76EC1D6FDB85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22449</TotalTime>
  <Words>781</Words>
  <Application>Microsoft Macintosh PowerPoint</Application>
  <PresentationFormat>全屏显示(16:9)</PresentationFormat>
  <Paragraphs>47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微软雅黑</vt:lpstr>
      <vt:lpstr>Arial</vt:lpstr>
      <vt:lpstr>Calibri</vt:lpstr>
      <vt:lpstr>Helvetica</vt:lpstr>
      <vt:lpstr>Times New Roman</vt:lpstr>
      <vt:lpstr>Trebuchet MS</vt:lpstr>
      <vt:lpstr>Wingdings</vt:lpstr>
      <vt:lpstr>默认设计模板</vt:lpstr>
      <vt:lpstr>2_Office 主题</vt:lpstr>
      <vt:lpstr>PowerPoint 演示文稿</vt:lpstr>
      <vt:lpstr>SQL综合实验</vt:lpstr>
      <vt:lpstr>实验内容</vt:lpstr>
      <vt:lpstr>实验内容</vt:lpstr>
      <vt:lpstr>实验内容</vt:lpstr>
      <vt:lpstr>实验内容</vt:lpstr>
      <vt:lpstr>实验内容（选做）</vt:lpstr>
      <vt:lpstr>附录一：建表样例</vt:lpstr>
      <vt:lpstr>附录二：插入数据样例</vt:lpstr>
      <vt:lpstr>PowerPoint 演示文稿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Bill Han</cp:lastModifiedBy>
  <cp:revision>1685</cp:revision>
  <dcterms:created xsi:type="dcterms:W3CDTF">2007-09-26T12:04:45Z</dcterms:created>
  <dcterms:modified xsi:type="dcterms:W3CDTF">2026-04-07T12:52:23Z</dcterms:modified>
</cp:coreProperties>
</file>