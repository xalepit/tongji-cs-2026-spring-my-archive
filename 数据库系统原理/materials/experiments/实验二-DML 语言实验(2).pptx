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9"/>
  </p:handoutMasterIdLst>
  <p:sldIdLst>
    <p:sldId id="1587" r:id="rId3"/>
    <p:sldId id="5158" r:id="rId5"/>
    <p:sldId id="5159" r:id="rId6"/>
    <p:sldId id="5160" r:id="rId7"/>
    <p:sldId id="5161" r:id="rId8"/>
    <p:sldId id="5162" r:id="rId9"/>
    <p:sldId id="5163" r:id="rId10"/>
    <p:sldId id="5164" r:id="rId11"/>
    <p:sldId id="5165" r:id="rId12"/>
    <p:sldId id="5166" r:id="rId13"/>
    <p:sldId id="5167" r:id="rId14"/>
    <p:sldId id="5168" r:id="rId15"/>
    <p:sldId id="5169" r:id="rId16"/>
    <p:sldId id="5170" r:id="rId17"/>
    <p:sldId id="5171" r:id="rId18"/>
    <p:sldId id="5172" r:id="rId19"/>
    <p:sldId id="5173" r:id="rId20"/>
    <p:sldId id="5174" r:id="rId21"/>
    <p:sldId id="5175" r:id="rId22"/>
    <p:sldId id="5176" r:id="rId23"/>
    <p:sldId id="5177" r:id="rId24"/>
    <p:sldId id="5143" r:id="rId25"/>
    <p:sldId id="5155" r:id="rId26"/>
    <p:sldId id="5156" r:id="rId27"/>
    <p:sldId id="2657" r:id="rId28"/>
  </p:sldIdLst>
  <p:sldSz cx="13004800" cy="9753600"/>
  <p:notesSz cx="6858000" cy="9144000"/>
  <p:defaultTextStyle>
    <a:defPPr>
      <a:defRPr lang="zh-CN"/>
    </a:defPPr>
    <a:lvl1pPr marL="0" algn="l" defTabSz="130048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1pPr>
    <a:lvl2pPr marL="650240" algn="l" defTabSz="130048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2pPr>
    <a:lvl3pPr marL="1300480" algn="l" defTabSz="130048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3pPr>
    <a:lvl4pPr marL="1950720" algn="l" defTabSz="130048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4pPr>
    <a:lvl5pPr marL="2600960" algn="l" defTabSz="130048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5pPr>
    <a:lvl6pPr marL="3251200" algn="l" defTabSz="130048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6pPr>
    <a:lvl7pPr marL="3901440" algn="l" defTabSz="130048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7pPr>
    <a:lvl8pPr marL="4551680" algn="l" defTabSz="130048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8pPr>
    <a:lvl9pPr marL="5201920" algn="l" defTabSz="130048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孔 令百" initials="孔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629" autoAdjust="0"/>
    <p:restoredTop sz="93842" autoAdjust="0"/>
  </p:normalViewPr>
  <p:slideViewPr>
    <p:cSldViewPr snapToGrid="0">
      <p:cViewPr varScale="1">
        <p:scale>
          <a:sx n="80" d="100"/>
          <a:sy n="80" d="100"/>
        </p:scale>
        <p:origin x="112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commentAuthors" Target="commentAuthors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handoutMaster" Target="handoutMasters/handoutMaster1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2C4076-FEB5-441C-9D19-C28296E5F21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C2E6E1-F492-4354-9348-52045CAB75A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</a:fld>
            <a:endParaRPr lang="fi-FI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</a:fld>
            <a:endParaRPr lang="fi-FI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3D25-D777-4FE4-B115-16F55A657C9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58BAA-A03D-4E09-A4B9-596B5667A1F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0" y="-38946"/>
            <a:ext cx="13004800" cy="1209041"/>
          </a:xfrm>
          <a:prstGeom prst="rect">
            <a:avLst/>
          </a:prstGeom>
          <a:solidFill>
            <a:srgbClr val="0070C0"/>
          </a:solidFill>
        </p:spPr>
        <p:txBody>
          <a:bodyPr rtlCol="0">
            <a:noAutofit/>
          </a:bodyPr>
          <a:lstStyle>
            <a:lvl1pPr algn="l">
              <a:defRPr sz="4550" b="1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717" y="1497227"/>
            <a:ext cx="12186954" cy="7215540"/>
          </a:xfrm>
        </p:spPr>
        <p:txBody>
          <a:bodyPr/>
          <a:lstStyle>
            <a:lvl1pPr>
              <a:defRPr sz="3415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845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56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2275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2275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50240" y="390596"/>
            <a:ext cx="11704320" cy="1625600"/>
          </a:xfrm>
          <a:prstGeom prst="rect">
            <a:avLst/>
          </a:prstGeom>
        </p:spPr>
        <p:txBody>
          <a:bodyPr vert="horz" lIns="130046" tIns="65023" rIns="130046" bIns="65023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50240" y="2275843"/>
            <a:ext cx="11704320" cy="6436925"/>
          </a:xfrm>
          <a:prstGeom prst="rect">
            <a:avLst/>
          </a:prstGeom>
        </p:spPr>
        <p:txBody>
          <a:bodyPr vert="horz" lIns="130046" tIns="65023" rIns="130046" bIns="65023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0241" y="9040145"/>
            <a:ext cx="3034453" cy="519289"/>
          </a:xfrm>
          <a:prstGeom prst="rect">
            <a:avLst/>
          </a:prstGeom>
        </p:spPr>
        <p:txBody>
          <a:bodyPr vert="horz" lIns="130046" tIns="65023" rIns="130046" bIns="65023" rtlCol="0" anchor="ctr"/>
          <a:lstStyle>
            <a:lvl1pPr algn="l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1C3D25-D777-4FE4-B115-16F55A657C9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443308" y="9040145"/>
            <a:ext cx="4118187" cy="519289"/>
          </a:xfrm>
          <a:prstGeom prst="rect">
            <a:avLst/>
          </a:prstGeom>
        </p:spPr>
        <p:txBody>
          <a:bodyPr vert="horz" lIns="130046" tIns="65023" rIns="130046" bIns="65023" rtlCol="0" anchor="ctr"/>
          <a:lstStyle>
            <a:lvl1pPr algn="ctr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320108" y="9040145"/>
            <a:ext cx="3034453" cy="519289"/>
          </a:xfrm>
          <a:prstGeom prst="rect">
            <a:avLst/>
          </a:prstGeom>
        </p:spPr>
        <p:txBody>
          <a:bodyPr vert="horz" lIns="130046" tIns="65023" rIns="130046" bIns="65023" rtlCol="0" anchor="ctr"/>
          <a:lstStyle>
            <a:lvl1pPr algn="r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C58BAA-A03D-4E09-A4B9-596B5667A1F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defTabSz="1300480" rtl="0" eaLnBrk="1" latinLnBrk="0" hangingPunct="1">
        <a:spcBef>
          <a:spcPct val="0"/>
        </a:spcBef>
        <a:buNone/>
        <a:defRPr sz="6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7680" indent="-487680" algn="l" defTabSz="1300480" rtl="0" eaLnBrk="1" latinLnBrk="0" hangingPunct="1">
        <a:spcBef>
          <a:spcPct val="20000"/>
        </a:spcBef>
        <a:buFont typeface="Arial" panose="020B0604020202020204" pitchFamily="34" charset="0"/>
        <a:buChar char="•"/>
        <a:defRPr sz="4600" kern="1200">
          <a:solidFill>
            <a:schemeClr val="tx1"/>
          </a:solidFill>
          <a:latin typeface="+mn-lt"/>
          <a:ea typeface="+mn-ea"/>
          <a:cs typeface="+mn-cs"/>
        </a:defRPr>
      </a:lvl1pPr>
      <a:lvl2pPr marL="1056640" indent="-406400" algn="l" defTabSz="1300480" rtl="0" eaLnBrk="1" latinLnBrk="0" hangingPunct="1">
        <a:spcBef>
          <a:spcPct val="20000"/>
        </a:spcBef>
        <a:buFont typeface="Arial" panose="020B0604020202020204" pitchFamily="34" charset="0"/>
        <a:buChar char="–"/>
        <a:defRPr sz="4000" kern="1200">
          <a:solidFill>
            <a:schemeClr val="tx1"/>
          </a:solidFill>
          <a:latin typeface="+mn-lt"/>
          <a:ea typeface="+mn-ea"/>
          <a:cs typeface="+mn-cs"/>
        </a:defRPr>
      </a:lvl2pPr>
      <a:lvl3pPr marL="1625600" indent="-325120" algn="l" defTabSz="1300480" rtl="0" eaLnBrk="1" latinLnBrk="0" hangingPunct="1">
        <a:spcBef>
          <a:spcPct val="20000"/>
        </a:spcBef>
        <a:buFont typeface="Arial" panose="020B0604020202020204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3pPr>
      <a:lvl4pPr marL="2275840" indent="-325120" algn="l" defTabSz="130048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926080" indent="-325120" algn="l" defTabSz="1300480" rtl="0" eaLnBrk="1" latinLnBrk="0" hangingPunct="1">
        <a:spcBef>
          <a:spcPct val="20000"/>
        </a:spcBef>
        <a:buFont typeface="Arial" panose="020B0604020202020204" pitchFamily="34" charset="0"/>
        <a:buChar char="»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3576320" indent="-325120" algn="l" defTabSz="130048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4226560" indent="-325120" algn="l" defTabSz="130048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4876800" indent="-325120" algn="l" defTabSz="130048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5527040" indent="-325120" algn="l" defTabSz="130048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3004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50240" algn="l" defTabSz="13004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00480" algn="l" defTabSz="13004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50720" algn="l" defTabSz="13004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00960" algn="l" defTabSz="13004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251200" algn="l" defTabSz="13004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01440" algn="l" defTabSz="13004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551680" algn="l" defTabSz="13004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01920" algn="l" defTabSz="13004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1535222" y="3863310"/>
            <a:ext cx="9933905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55"/>
              </a:spcBef>
              <a:defRPr/>
            </a:pPr>
            <a:r>
              <a:rPr lang="en-US" altLang="zh-CN" sz="5400" b="1" spc="427" dirty="0">
                <a:latin typeface="微软雅黑" panose="020B0503020204020204" pitchFamily="34" charset="-122"/>
                <a:ea typeface="微软雅黑" panose="020B0503020204020204" pitchFamily="34" charset="-122"/>
                <a:cs typeface="Heiti SC Medium" panose="02000000000000000000" charset="-122"/>
              </a:rPr>
              <a:t>DML</a:t>
            </a:r>
            <a:r>
              <a:rPr lang="zh-CN" altLang="en-US" sz="5400" b="1" spc="427" dirty="0">
                <a:latin typeface="微软雅黑" panose="020B0503020204020204" pitchFamily="34" charset="-122"/>
                <a:ea typeface="微软雅黑" panose="020B0503020204020204" pitchFamily="34" charset="-122"/>
                <a:cs typeface="Heiti SC Medium" panose="02000000000000000000" charset="-122"/>
              </a:rPr>
              <a:t>语言实验</a:t>
            </a:r>
            <a:endParaRPr lang="zh-CN" altLang="en-US" sz="5400" b="1" spc="427" dirty="0">
              <a:latin typeface="微软雅黑" panose="020B0503020204020204" pitchFamily="34" charset="-122"/>
              <a:ea typeface="微软雅黑" panose="020B0503020204020204" pitchFamily="34" charset="-122"/>
              <a:cs typeface="Heiti SC Medium" panose="02000000000000000000" charset="-122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1638582" y="5046625"/>
            <a:ext cx="9933904" cy="0"/>
          </a:xfrm>
          <a:prstGeom prst="line">
            <a:avLst/>
          </a:prstGeom>
          <a:ln w="12700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2"/>
            <a:ext cx="3481987" cy="958259"/>
          </a:xfrm>
          <a:prstGeom prst="rect">
            <a:avLst/>
          </a:prstGeom>
        </p:spPr>
      </p:pic>
      <p:sp>
        <p:nvSpPr>
          <p:cNvPr id="14" name="文本框 11"/>
          <p:cNvSpPr txBox="1">
            <a:spLocks noChangeArrowheads="1"/>
          </p:cNvSpPr>
          <p:nvPr/>
        </p:nvSpPr>
        <p:spPr bwMode="auto">
          <a:xfrm>
            <a:off x="2455903" y="6591278"/>
            <a:ext cx="8128000" cy="485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560" b="1" dirty="0">
                <a:latin typeface="微软雅黑" panose="020B0503020204020204" pitchFamily="34" charset="-122"/>
                <a:ea typeface="微软雅黑" panose="020B0503020204020204" pitchFamily="34" charset="-122"/>
                <a:cs typeface="Heiti SC Medium" panose="02000000000000000000" charset="-122"/>
              </a:rPr>
              <a:t>2026.3.31</a:t>
            </a:r>
            <a:endParaRPr lang="zh-CN" altLang="en-US" sz="2560" b="1" dirty="0">
              <a:latin typeface="微软雅黑" panose="020B0503020204020204" pitchFamily="34" charset="-122"/>
              <a:ea typeface="微软雅黑" panose="020B0503020204020204" pitchFamily="34" charset="-122"/>
              <a:cs typeface="Heiti SC Medium" panose="02000000000000000000" charset="-122"/>
            </a:endParaRPr>
          </a:p>
        </p:txBody>
      </p:sp>
      <p:sp>
        <p:nvSpPr>
          <p:cNvPr id="22" name="副标题 3074"/>
          <p:cNvSpPr txBox="1">
            <a:spLocks noChangeArrowheads="1"/>
          </p:cNvSpPr>
          <p:nvPr/>
        </p:nvSpPr>
        <p:spPr bwMode="auto">
          <a:xfrm>
            <a:off x="2438125" y="5439606"/>
            <a:ext cx="8127999" cy="758521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171450" indent="-171450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14350" indent="-17145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857250" indent="-17145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200150" indent="-17145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543050" indent="-17145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000250" indent="-17145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457450" indent="-17145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2914650" indent="-17145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371850" indent="-17145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数据库第</a:t>
            </a:r>
            <a:r>
              <a:rPr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二次实验</a:t>
            </a:r>
            <a:endParaRPr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形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31240" y="116634"/>
            <a:ext cx="6743700" cy="5810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ym typeface="+mn-ea"/>
              </a:rPr>
              <a:t>DML</a:t>
            </a:r>
            <a:r>
              <a:rPr lang="zh-CN" altLang="en-US" dirty="0">
                <a:sym typeface="+mn-ea"/>
              </a:rPr>
              <a:t>语言实验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715645" y="1170305"/>
            <a:ext cx="11287760" cy="85312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just" defTabSz="914400" fontAlgn="auto">
              <a:lnSpc>
                <a:spcPct val="150000"/>
              </a:lnSpc>
              <a:buNone/>
            </a:pPr>
            <a:r>
              <a:rPr lang="zh-CN" altLang="en-US" sz="3600" b="1" dirty="0">
                <a:latin typeface="Times New Roman" panose="02020603050405020304" charset="0"/>
                <a:sym typeface="+mn-ea"/>
              </a:rPr>
              <a:t>实验目的</a:t>
            </a:r>
            <a:endParaRPr lang="zh-CN" altLang="en-US" sz="3600" b="1" dirty="0">
              <a:latin typeface="Times New Roman" panose="02020603050405020304" charset="0"/>
            </a:endParaRPr>
          </a:p>
          <a:p>
            <a:pPr marL="457200" indent="914400" algn="just" defTabSz="914400" fontAlgn="auto">
              <a:lnSpc>
                <a:spcPct val="150000"/>
              </a:lnSpc>
              <a:buFont typeface="Arial" panose="020B0604020202020204" pitchFamily="34" charset="0"/>
              <a:buChar char="•"/>
              <a:extLst>
                <a:ext uri="{35155182-B16C-46BC-9424-99874614C6A1}">
                  <wpsdc:indentchars xmlns:wpsdc="http://www.wps.cn/officeDocument/2017/drawingmlCustomData" val="200" checksum="797548545"/>
                </a:ext>
              </a:extLst>
            </a:pPr>
            <a:r>
              <a:rPr lang="zh-CN" altLang="en-US" sz="3600" dirty="0">
                <a:solidFill>
                  <a:schemeClr val="tx1"/>
                </a:solidFill>
                <a:uFillTx/>
                <a:latin typeface="Times New Roman" panose="02020603050405020304" charset="0"/>
              </a:rPr>
              <a:t>练习数据库模式操作语言</a:t>
            </a:r>
            <a:r>
              <a:rPr lang="en-US" altLang="zh-CN" sz="3600" dirty="0">
                <a:solidFill>
                  <a:schemeClr val="tx1"/>
                </a:solidFill>
                <a:uFillTx/>
                <a:latin typeface="Times New Roman" panose="02020603050405020304" charset="0"/>
              </a:rPr>
              <a:t>DML</a:t>
            </a:r>
            <a:r>
              <a:rPr lang="zh-CN" altLang="en-US" sz="3600" dirty="0">
                <a:solidFill>
                  <a:schemeClr val="tx1"/>
                </a:solidFill>
                <a:uFillTx/>
                <a:latin typeface="Times New Roman" panose="02020603050405020304" charset="0"/>
              </a:rPr>
              <a:t>的实际使用</a:t>
            </a:r>
            <a:endParaRPr lang="zh-CN" altLang="en-US" sz="3600" dirty="0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pPr indent="0" algn="just" defTabSz="914400" fontAlgn="auto">
              <a:lnSpc>
                <a:spcPct val="150000"/>
              </a:lnSpc>
              <a:buNone/>
            </a:pPr>
            <a:r>
              <a:rPr lang="zh-CN" altLang="en-US" sz="3600" b="1" dirty="0">
                <a:latin typeface="Times New Roman" panose="02020603050405020304" charset="0"/>
                <a:sym typeface="+mn-ea"/>
              </a:rPr>
              <a:t>实验要求</a:t>
            </a:r>
            <a:endParaRPr lang="zh-CN" altLang="en-US" sz="3600" b="1" dirty="0">
              <a:latin typeface="Times New Roman" panose="02020603050405020304" charset="0"/>
            </a:endParaRPr>
          </a:p>
          <a:p>
            <a:pPr marL="457200" indent="812800" algn="just" defTabSz="914400" fontAlgn="auto">
              <a:lnSpc>
                <a:spcPct val="150000"/>
              </a:lnSpc>
              <a:buFont typeface="Arial" panose="020B0604020202020204" pitchFamily="34" charset="0"/>
              <a:buChar char="•"/>
              <a:extLst>
                <a:ext uri="{35155182-B16C-46BC-9424-99874614C6A1}">
                  <wpsdc:indentchars xmlns:wpsdc="http://www.wps.cn/officeDocument/2017/drawingmlCustomData" val="200" checksum="3877492575"/>
                </a:ext>
              </a:extLst>
            </a:pPr>
            <a:r>
              <a:rPr lang="zh-CN" altLang="en-US" sz="3200" dirty="0">
                <a:uFillTx/>
                <a:latin typeface="Times New Roman" panose="02020603050405020304" charset="0"/>
                <a:sym typeface="+mn-ea"/>
              </a:rPr>
              <a:t>本次实验使用</a:t>
            </a:r>
            <a:r>
              <a:rPr lang="en-US" altLang="zh-CN" sz="3200" dirty="0">
                <a:solidFill>
                  <a:srgbClr val="FF0000"/>
                </a:solidFill>
                <a:uFillTx/>
                <a:latin typeface="Times New Roman" panose="02020603050405020304" charset="0"/>
                <a:sym typeface="+mn-ea"/>
              </a:rPr>
              <a:t>OceanBase</a:t>
            </a:r>
            <a:r>
              <a:rPr lang="zh-CN" altLang="en-US" sz="3200" dirty="0">
                <a:solidFill>
                  <a:srgbClr val="FF0000"/>
                </a:solidFill>
                <a:uFillTx/>
                <a:latin typeface="Times New Roman" panose="02020603050405020304" charset="0"/>
                <a:sym typeface="+mn-ea"/>
              </a:rPr>
              <a:t>数据库</a:t>
            </a:r>
            <a:r>
              <a:rPr lang="zh-CN" altLang="en-US" sz="3200" dirty="0">
                <a:uFillTx/>
                <a:latin typeface="Times New Roman" panose="02020603050405020304" charset="0"/>
                <a:sym typeface="+mn-ea"/>
              </a:rPr>
              <a:t>完成</a:t>
            </a:r>
            <a:endParaRPr lang="zh-CN" altLang="en-US" sz="3200" dirty="0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pPr marL="457200" indent="812800" algn="just" defTabSz="914400" fontAlgn="auto">
              <a:lnSpc>
                <a:spcPct val="150000"/>
              </a:lnSpc>
              <a:buFont typeface="Arial" panose="020B0604020202020204" pitchFamily="34" charset="0"/>
              <a:buChar char="•"/>
              <a:extLst>
                <a:ext uri="{35155182-B16C-46BC-9424-99874614C6A1}">
                  <wpsdc:indentchars xmlns:wpsdc="http://www.wps.cn/officeDocument/2017/drawingmlCustomData" val="200" checksum="3877492575"/>
                </a:ext>
              </a:extLst>
            </a:pPr>
            <a:r>
              <a:rPr lang="en-US" altLang="zh-CN" sz="3200" dirty="0">
                <a:uFillTx/>
                <a:latin typeface="Times New Roman" panose="02020603050405020304" charset="0"/>
                <a:sym typeface="+mn-ea"/>
              </a:rPr>
              <a:t>OceanBase</a:t>
            </a:r>
            <a:r>
              <a:rPr lang="zh-CN" altLang="en-US" sz="3200" dirty="0">
                <a:uFillTx/>
                <a:latin typeface="Times New Roman" panose="02020603050405020304" charset="0"/>
                <a:sym typeface="+mn-ea"/>
              </a:rPr>
              <a:t>数据库</a:t>
            </a:r>
            <a:r>
              <a:rPr lang="zh-CN" altLang="en-US" sz="3200" dirty="0">
                <a:uFillTx/>
                <a:latin typeface="Times New Roman" panose="02020603050405020304" charset="0"/>
                <a:sym typeface="+mn-ea"/>
              </a:rPr>
              <a:t>版本要求</a:t>
            </a:r>
            <a:r>
              <a:rPr lang="en-US" altLang="zh-CN" sz="3200" dirty="0">
                <a:uFillTx/>
                <a:latin typeface="Times New Roman" panose="02020603050405020304" charset="0"/>
                <a:sym typeface="+mn-ea"/>
              </a:rPr>
              <a:t> </a:t>
            </a:r>
            <a:r>
              <a:rPr lang="en-US" altLang="zh-CN" sz="3200" dirty="0">
                <a:solidFill>
                  <a:srgbClr val="FF0000"/>
                </a:solidFill>
                <a:uFillTx/>
                <a:latin typeface="Times New Roman" panose="02020603050405020304" charset="0"/>
                <a:sym typeface="+mn-ea"/>
              </a:rPr>
              <a:t>≥ 4.2.2.0</a:t>
            </a:r>
            <a:endParaRPr lang="en-US" altLang="zh-CN" sz="3200" dirty="0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pPr indent="0" algn="just" defTabSz="914400" fontAlgn="auto">
              <a:lnSpc>
                <a:spcPct val="150000"/>
              </a:lnSpc>
              <a:buNone/>
            </a:pPr>
            <a:r>
              <a:rPr lang="zh-CN" altLang="en-US" sz="3600" b="1" dirty="0">
                <a:latin typeface="Times New Roman" panose="02020603050405020304" charset="0"/>
                <a:sym typeface="+mn-ea"/>
              </a:rPr>
              <a:t>报告要求</a:t>
            </a:r>
            <a:endParaRPr lang="en-US" altLang="zh-CN" sz="3600" b="1" dirty="0">
              <a:latin typeface="Times New Roman" panose="02020603050405020304" charset="0"/>
            </a:endParaRPr>
          </a:p>
          <a:p>
            <a:pPr marL="457200" indent="812800" algn="just" defTabSz="914400" fontAlgn="auto">
              <a:lnSpc>
                <a:spcPct val="150000"/>
              </a:lnSpc>
              <a:buFont typeface="Arial" panose="020B0604020202020204" pitchFamily="34" charset="0"/>
              <a:buChar char="•"/>
              <a:extLst>
                <a:ext uri="{35155182-B16C-46BC-9424-99874614C6A1}">
                  <wpsdc:indentchars xmlns:wpsdc="http://www.wps.cn/officeDocument/2017/drawingmlCustomData" val="200" checksum="3877492575"/>
                </a:ext>
              </a:extLst>
            </a:pPr>
            <a:r>
              <a:rPr lang="zh-CN" altLang="en-US" sz="3200">
                <a:latin typeface="Times New Roman" panose="02020603050405020304" charset="0"/>
                <a:sym typeface="+mn-ea"/>
              </a:rPr>
              <a:t>完成下列</a:t>
            </a:r>
            <a:r>
              <a:rPr lang="en-US" altLang="zh-CN" sz="3200">
                <a:latin typeface="Times New Roman" panose="02020603050405020304" charset="0"/>
                <a:sym typeface="+mn-ea"/>
              </a:rPr>
              <a:t>DML</a:t>
            </a:r>
            <a:r>
              <a:rPr lang="zh-CN" altLang="en-US" sz="3200">
                <a:latin typeface="Times New Roman" panose="02020603050405020304" charset="0"/>
                <a:sym typeface="+mn-ea"/>
              </a:rPr>
              <a:t>练习的所有小题内容，要求提交的实验报告中包含每个小题的题干和相应的实验结果截图；</a:t>
            </a:r>
            <a:endParaRPr lang="zh-CN" altLang="en-US" sz="3200">
              <a:latin typeface="Times New Roman" panose="02020603050405020304" charset="0"/>
            </a:endParaRPr>
          </a:p>
          <a:p>
            <a:pPr marL="457200" indent="812800" algn="just" defTabSz="914400" fontAlgn="auto">
              <a:lnSpc>
                <a:spcPct val="150000"/>
              </a:lnSpc>
              <a:buFont typeface="Arial" panose="020B0604020202020204" pitchFamily="34" charset="0"/>
              <a:buChar char="•"/>
              <a:extLst>
                <a:ext uri="{35155182-B16C-46BC-9424-99874614C6A1}">
                  <wpsdc:indentchars xmlns:wpsdc="http://www.wps.cn/officeDocument/2017/drawingmlCustomData" val="200" checksum="3877492575"/>
                </a:ext>
              </a:extLst>
            </a:pPr>
            <a:r>
              <a:rPr lang="zh-CN" altLang="en-US" sz="3200">
                <a:latin typeface="Times New Roman" panose="02020603050405020304" charset="0"/>
                <a:sym typeface="+mn-ea"/>
              </a:rPr>
              <a:t>实验截图中应该包含有完整的</a:t>
            </a:r>
            <a:r>
              <a:rPr lang="en-US" altLang="zh-CN" sz="3200">
                <a:latin typeface="Times New Roman" panose="02020603050405020304" charset="0"/>
                <a:sym typeface="+mn-ea"/>
              </a:rPr>
              <a:t> SQL </a:t>
            </a:r>
            <a:r>
              <a:rPr lang="zh-CN" altLang="en-US" sz="3200">
                <a:latin typeface="Times New Roman" panose="02020603050405020304" charset="0"/>
                <a:sym typeface="+mn-ea"/>
              </a:rPr>
              <a:t>执行语句和输出的实验结果；</a:t>
            </a:r>
            <a:endParaRPr lang="zh-CN" altLang="en-US" sz="3200">
              <a:latin typeface="Times New Roman" panose="02020603050405020304" charset="0"/>
              <a:sym typeface="+mn-ea"/>
            </a:endParaRPr>
          </a:p>
          <a:p>
            <a:pPr marL="457200" indent="812800" algn="just" defTabSz="914400" fontAlgn="auto">
              <a:lnSpc>
                <a:spcPct val="150000"/>
              </a:lnSpc>
              <a:buFont typeface="Arial" panose="020B0604020202020204" pitchFamily="34" charset="0"/>
              <a:buChar char="•"/>
              <a:extLst>
                <a:ext uri="{35155182-B16C-46BC-9424-99874614C6A1}">
                  <wpsdc:indentchars xmlns:wpsdc="http://www.wps.cn/officeDocument/2017/drawingmlCustomData" val="200" checksum="3877492575"/>
                </a:ext>
              </a:extLst>
            </a:pPr>
            <a:r>
              <a:rPr lang="zh-CN" altLang="en-US" sz="3200">
                <a:latin typeface="Times New Roman" panose="02020603050405020304" charset="0"/>
                <a:sym typeface="+mn-ea"/>
              </a:rPr>
              <a:t>记录你遇到的问题及解决方案。</a:t>
            </a:r>
            <a:endParaRPr lang="zh-CN" altLang="en-US" sz="3200" dirty="0">
              <a:latin typeface="Times New Roman" panose="02020603050405020304" charset="0"/>
            </a:endParaRPr>
          </a:p>
          <a:p>
            <a:pPr fontAlgn="auto">
              <a:lnSpc>
                <a:spcPct val="150000"/>
              </a:lnSpc>
            </a:pPr>
            <a:endParaRPr lang="zh-CN" altLang="en-US" sz="3200" dirty="0">
              <a:latin typeface="Times New Roman" panose="02020603050405020304" charset="0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DDL</a:t>
            </a:r>
            <a:r>
              <a:rPr lang="zh-CN" altLang="en-US" dirty="0"/>
              <a:t>和</a:t>
            </a:r>
            <a:r>
              <a:rPr lang="en-US" altLang="zh-CN" dirty="0"/>
              <a:t>DML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972186" y="2043077"/>
            <a:ext cx="8602556" cy="4813335"/>
          </a:xfrm>
        </p:spPr>
        <p:txBody>
          <a:bodyPr>
            <a:no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DDL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(Data Definition Language)</a:t>
            </a:r>
            <a:b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</a:b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create/alter/check/constraints…</a:t>
            </a:r>
            <a:endParaRPr lang="en-US" altLang="zh-CN" sz="32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r>
              <a:rPr lang="en-US" altLang="zh-CN" sz="3200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DML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(Data Manipulation Language)</a:t>
            </a:r>
            <a:b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</a:br>
            <a:r>
              <a:rPr lang="en-US" altLang="zh-CN" sz="3200" dirty="0">
                <a:solidFill>
                  <a:srgbClr val="0070C0"/>
                </a:solidFill>
                <a:latin typeface="Times New Roman" panose="02020603050405020304" charset="0"/>
                <a:ea typeface="宋体" panose="02010600030101010101" pitchFamily="2" charset="-122"/>
              </a:rPr>
              <a:t>select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查询</a:t>
            </a:r>
            <a:b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</a:br>
            <a:r>
              <a:rPr lang="en-US" altLang="zh-CN" sz="3200" dirty="0">
                <a:solidFill>
                  <a:srgbClr val="0070C0"/>
                </a:solidFill>
                <a:latin typeface="Times New Roman" panose="02020603050405020304" charset="0"/>
                <a:ea typeface="宋体" panose="02010600030101010101" pitchFamily="2" charset="-122"/>
              </a:rPr>
              <a:t>insert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  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添加</a:t>
            </a:r>
            <a:b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</a:br>
            <a:r>
              <a:rPr lang="en-US" altLang="zh-CN" sz="3200" dirty="0">
                <a:solidFill>
                  <a:srgbClr val="0070C0"/>
                </a:solidFill>
                <a:latin typeface="Times New Roman" panose="02020603050405020304" charset="0"/>
                <a:ea typeface="宋体" panose="02010600030101010101" pitchFamily="2" charset="-122"/>
              </a:rPr>
              <a:t>delete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删除</a:t>
            </a:r>
            <a:b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</a:br>
            <a:r>
              <a:rPr lang="en-US" altLang="zh-CN" sz="3200" dirty="0">
                <a:solidFill>
                  <a:srgbClr val="0070C0"/>
                </a:solidFill>
                <a:latin typeface="Times New Roman" panose="02020603050405020304" charset="0"/>
                <a:ea typeface="宋体" panose="02010600030101010101" pitchFamily="2" charset="-122"/>
              </a:rPr>
              <a:t>update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更新</a:t>
            </a:r>
            <a:b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</a:br>
            <a:r>
              <a:rPr lang="en-US" altLang="zh-CN" sz="3200" dirty="0">
                <a:solidFill>
                  <a:schemeClr val="bg1">
                    <a:lumMod val="75000"/>
                  </a:schemeClr>
                </a:solidFill>
                <a:latin typeface="Times New Roman" panose="02020603050405020304" charset="0"/>
                <a:ea typeface="宋体" panose="02010600030101010101" pitchFamily="2" charset="-122"/>
              </a:rPr>
              <a:t>lock table </a:t>
            </a:r>
            <a:r>
              <a:rPr lang="zh-CN" altLang="en-US" sz="3200" dirty="0">
                <a:solidFill>
                  <a:schemeClr val="bg1">
                    <a:lumMod val="75000"/>
                  </a:schemeClr>
                </a:solidFill>
                <a:latin typeface="Times New Roman" panose="02020603050405020304" charset="0"/>
                <a:ea typeface="宋体" panose="02010600030101010101" pitchFamily="2" charset="-122"/>
              </a:rPr>
              <a:t>锁定表（并发控制）</a:t>
            </a:r>
            <a:endParaRPr lang="zh-CN" altLang="en-US" sz="3200" dirty="0">
              <a:solidFill>
                <a:schemeClr val="bg1">
                  <a:lumMod val="75000"/>
                </a:schemeClr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SELECT</a:t>
            </a:r>
            <a:endParaRPr lang="zh-CN" altLang="en-US" dirty="0"/>
          </a:p>
        </p:txBody>
      </p:sp>
      <p:sp>
        <p:nvSpPr>
          <p:cNvPr id="6" name="内容占位符 2"/>
          <p:cNvSpPr txBox="1"/>
          <p:nvPr/>
        </p:nvSpPr>
        <p:spPr bwMode="auto">
          <a:xfrm>
            <a:off x="894080" y="2159635"/>
            <a:ext cx="12000865" cy="430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30048" tIns="65024" rIns="130048" bIns="65024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FontTx/>
            </a:pPr>
            <a:r>
              <a:rPr lang="zh-CN" altLang="en-US" sz="3200" kern="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一般形式：</a:t>
            </a:r>
            <a:endParaRPr lang="zh-CN" altLang="en-US" sz="3200" kern="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>
              <a:buFontTx/>
              <a:buNone/>
            </a:pPr>
            <a:r>
              <a:rPr lang="en-US" altLang="zh-CN" sz="3200" kern="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SELECT   [ALL | DISTINCT] &lt;</a:t>
            </a:r>
            <a:r>
              <a:rPr lang="zh-CN" altLang="en-US" sz="3200" kern="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目标表达式</a:t>
            </a:r>
            <a:r>
              <a:rPr lang="en-US" altLang="zh-CN" sz="3200" kern="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&gt; [, &lt;</a:t>
            </a:r>
            <a:r>
              <a:rPr lang="zh-CN" altLang="en-US" sz="3200" kern="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目标表达式</a:t>
            </a:r>
            <a:r>
              <a:rPr lang="en-US" altLang="zh-CN" sz="3200" kern="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&gt; ]…</a:t>
            </a:r>
            <a:endParaRPr lang="en-US" altLang="zh-CN" sz="3200" kern="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>
              <a:buFontTx/>
              <a:buNone/>
            </a:pPr>
            <a:r>
              <a:rPr lang="en-US" altLang="zh-CN" sz="3200" kern="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FROM      &lt;</a:t>
            </a:r>
            <a:r>
              <a:rPr lang="zh-CN" altLang="en-US" sz="3200" kern="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表名或视图名</a:t>
            </a:r>
            <a:r>
              <a:rPr lang="en-US" altLang="zh-CN" sz="3200" kern="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&gt; [, &lt;</a:t>
            </a:r>
            <a:r>
              <a:rPr lang="zh-CN" altLang="en-US" sz="3200" kern="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表名或视图名</a:t>
            </a:r>
            <a:r>
              <a:rPr lang="en-US" altLang="zh-CN" sz="3200" kern="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&gt;  ]…</a:t>
            </a:r>
            <a:endParaRPr lang="en-US" altLang="zh-CN" sz="3200" kern="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>
              <a:buFontTx/>
              <a:buNone/>
            </a:pPr>
            <a:r>
              <a:rPr lang="en-US" altLang="zh-CN" sz="3200" kern="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[  WHERE   &lt;</a:t>
            </a:r>
            <a:r>
              <a:rPr lang="zh-CN" altLang="en-US" sz="3200" kern="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条件表达式</a:t>
            </a:r>
            <a:r>
              <a:rPr lang="en-US" altLang="zh-CN" sz="3200" kern="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&gt;   ]</a:t>
            </a:r>
            <a:endParaRPr lang="en-US" altLang="zh-CN" sz="3200" kern="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>
              <a:buFontTx/>
              <a:buNone/>
            </a:pPr>
            <a:r>
              <a:rPr lang="en-US" altLang="zh-CN" sz="3200" kern="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[  GROUP BY  &lt;</a:t>
            </a:r>
            <a:r>
              <a:rPr lang="zh-CN" altLang="en-US" sz="3200" kern="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列名</a:t>
            </a:r>
            <a:r>
              <a:rPr lang="en-US" altLang="zh-CN" sz="3200" kern="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1&gt;</a:t>
            </a:r>
            <a:endParaRPr lang="en-US" altLang="zh-CN" sz="3200" kern="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>
              <a:buFontTx/>
              <a:buNone/>
            </a:pPr>
            <a:r>
              <a:rPr lang="en-US" altLang="zh-CN" sz="3200" kern="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[   HAVING  &lt;</a:t>
            </a:r>
            <a:r>
              <a:rPr lang="zh-CN" altLang="en-US" sz="3200" kern="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条件表达式</a:t>
            </a:r>
            <a:r>
              <a:rPr lang="en-US" altLang="zh-CN" sz="3200" kern="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&gt;   ] ]</a:t>
            </a:r>
            <a:endParaRPr lang="en-US" altLang="zh-CN" sz="3200" kern="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>
              <a:buFontTx/>
              <a:buNone/>
            </a:pPr>
            <a:r>
              <a:rPr lang="en-US" altLang="zh-CN" sz="3200" kern="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[  ORDER BY  &lt;</a:t>
            </a:r>
            <a:r>
              <a:rPr lang="zh-CN" altLang="en-US" sz="3200" kern="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列名</a:t>
            </a:r>
            <a:r>
              <a:rPr lang="en-US" altLang="zh-CN" sz="3200" kern="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2&gt;  [ASC | DESC] ];</a:t>
            </a:r>
            <a:endParaRPr lang="en-US" altLang="zh-CN" sz="3200" kern="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pPr>
              <a:buFontTx/>
            </a:pPr>
            <a:endParaRPr lang="en-US" altLang="zh-CN" sz="3200" kern="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SELECT</a:t>
            </a:r>
            <a:endParaRPr lang="zh-CN" altLang="en-US" dirty="0"/>
          </a:p>
        </p:txBody>
      </p:sp>
      <p:sp>
        <p:nvSpPr>
          <p:cNvPr id="6" name="内容占位符 2"/>
          <p:cNvSpPr txBox="1"/>
          <p:nvPr/>
        </p:nvSpPr>
        <p:spPr bwMode="auto">
          <a:xfrm>
            <a:off x="894080" y="1997005"/>
            <a:ext cx="11216640" cy="6188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30048" tIns="65024" rIns="130048" bIns="65024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例</a:t>
            </a:r>
            <a:endParaRPr lang="en-US" altLang="zh-CN" sz="32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student(no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，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name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，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gender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，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age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，</a:t>
            </a:r>
            <a:r>
              <a:rPr lang="en-US" altLang="zh-CN" sz="3200" dirty="0" err="1">
                <a:latin typeface="Times New Roman" panose="02020603050405020304" charset="0"/>
                <a:ea typeface="宋体" panose="02010600030101010101" pitchFamily="2" charset="-122"/>
              </a:rPr>
              <a:t>d_no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)</a:t>
            </a:r>
            <a:endParaRPr lang="en-US" altLang="zh-CN" sz="32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course(no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，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name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，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credit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，</a:t>
            </a:r>
            <a:r>
              <a:rPr lang="en-US" altLang="zh-CN" sz="3200" dirty="0" err="1">
                <a:latin typeface="Times New Roman" panose="02020603050405020304" charset="0"/>
                <a:ea typeface="宋体" panose="02010600030101010101" pitchFamily="2" charset="-122"/>
              </a:rPr>
              <a:t>d_no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)</a:t>
            </a:r>
            <a:endParaRPr lang="en-US" altLang="zh-CN" sz="32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score(</a:t>
            </a:r>
            <a:r>
              <a:rPr lang="en-US" altLang="zh-CN" sz="3200" dirty="0" err="1">
                <a:latin typeface="Times New Roman" panose="02020603050405020304" charset="0"/>
                <a:ea typeface="宋体" panose="02010600030101010101" pitchFamily="2" charset="-122"/>
              </a:rPr>
              <a:t>s_no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，</a:t>
            </a:r>
            <a:r>
              <a:rPr lang="en-US" altLang="zh-CN" sz="3200" dirty="0" err="1">
                <a:latin typeface="Times New Roman" panose="02020603050405020304" charset="0"/>
                <a:ea typeface="宋体" panose="02010600030101010101" pitchFamily="2" charset="-122"/>
              </a:rPr>
              <a:t>c_no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，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score)</a:t>
            </a:r>
            <a:endParaRPr lang="en-US" altLang="zh-CN" sz="32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dept(no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，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name) </a:t>
            </a:r>
            <a:endParaRPr lang="en-US" altLang="zh-CN" sz="32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查考试成绩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&gt;80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的学号</a:t>
            </a:r>
            <a:endParaRPr lang="zh-CN" altLang="en-US" sz="32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SELECT 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DISTINCT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r>
              <a:rPr lang="en-US" altLang="zh-CN" sz="3200" dirty="0" err="1">
                <a:latin typeface="Times New Roman" panose="02020603050405020304" charset="0"/>
                <a:ea typeface="宋体" panose="02010600030101010101" pitchFamily="2" charset="-122"/>
              </a:rPr>
              <a:t>s_no</a:t>
            </a:r>
            <a:endParaRPr lang="en-US" altLang="zh-CN" sz="32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FROM score</a:t>
            </a:r>
            <a:endParaRPr lang="en-US" altLang="zh-CN" sz="32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WHERE  score &gt; 80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；</a:t>
            </a:r>
            <a:endParaRPr lang="zh-CN" altLang="en-US" sz="32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SELECT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1074597" y="1370331"/>
            <a:ext cx="11367663" cy="6262016"/>
          </a:xfrm>
        </p:spPr>
        <p:txBody>
          <a:bodyPr>
            <a:noAutofit/>
          </a:bodyPr>
          <a:lstStyle/>
          <a:p>
            <a:r>
              <a:rPr lang="zh-CN" altLang="en-US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常用的查询条件：</a:t>
            </a:r>
            <a:endParaRPr lang="zh-CN" altLang="en-US" sz="300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查询条件               谓 词</a:t>
            </a:r>
            <a:endParaRPr lang="zh-CN" altLang="en-US" sz="300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比较                      比较运算符</a:t>
            </a:r>
            <a:endParaRPr lang="zh-CN" altLang="en-US" sz="300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确定范围               </a:t>
            </a:r>
            <a:r>
              <a:rPr lang="en-US" altLang="zh-CN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BETWEEN AND, NOT BETWEEN AND</a:t>
            </a:r>
            <a:endParaRPr lang="en-US" altLang="zh-CN" sz="300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确定集合               </a:t>
            </a:r>
            <a:r>
              <a:rPr lang="en-US" altLang="zh-CN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IN, NOT  IN</a:t>
            </a:r>
            <a:endParaRPr lang="en-US" altLang="zh-CN" sz="300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字符匹配               </a:t>
            </a:r>
            <a:r>
              <a:rPr lang="en-US" altLang="zh-CN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LIKE, NOT LIKE</a:t>
            </a:r>
            <a:endParaRPr lang="en-US" altLang="zh-CN" sz="300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空值                      </a:t>
            </a:r>
            <a:r>
              <a:rPr lang="en-US" altLang="zh-CN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IS NULL, IS NOT NULL</a:t>
            </a:r>
            <a:endParaRPr lang="en-US" altLang="zh-CN" sz="300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多重条件               </a:t>
            </a:r>
            <a:r>
              <a:rPr lang="en-US" altLang="zh-CN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AND, OR</a:t>
            </a:r>
            <a:endParaRPr lang="en-US" altLang="zh-CN" sz="300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r>
              <a:rPr lang="zh-CN" altLang="en-US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使用集函数：</a:t>
            </a:r>
            <a:endParaRPr lang="zh-CN" altLang="en-US" sz="300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COUNT([DISTINCT | ALL] * )    </a:t>
            </a:r>
            <a:r>
              <a:rPr lang="zh-CN" altLang="en-US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统计元组个数</a:t>
            </a:r>
            <a:endParaRPr lang="zh-CN" altLang="en-US" sz="300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COUNT([DISTINCT | ALL]&lt;</a:t>
            </a:r>
            <a:r>
              <a:rPr lang="zh-CN" altLang="en-US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列名</a:t>
            </a:r>
            <a:r>
              <a:rPr lang="en-US" altLang="zh-CN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&gt;)  </a:t>
            </a:r>
            <a:r>
              <a:rPr lang="zh-CN" altLang="en-US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统计一列中值的个数</a:t>
            </a:r>
            <a:endParaRPr lang="zh-CN" altLang="en-US" sz="300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SUM([DISTINCT | ALL]&lt;</a:t>
            </a:r>
            <a:r>
              <a:rPr lang="zh-CN" altLang="en-US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列名</a:t>
            </a:r>
            <a:r>
              <a:rPr lang="en-US" altLang="zh-CN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&gt; )  </a:t>
            </a:r>
            <a:r>
              <a:rPr lang="zh-CN" altLang="en-US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计算一数值型列值的总和</a:t>
            </a:r>
            <a:endParaRPr lang="zh-CN" altLang="en-US" sz="300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AVG([DISTINCT | ALL]&lt;</a:t>
            </a:r>
            <a:r>
              <a:rPr lang="zh-CN" altLang="en-US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列名</a:t>
            </a:r>
            <a:r>
              <a:rPr lang="en-US" altLang="zh-CN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&gt; )  </a:t>
            </a:r>
            <a:r>
              <a:rPr lang="zh-CN" altLang="en-US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计算一数值型列值的平均值</a:t>
            </a:r>
            <a:endParaRPr lang="zh-CN" altLang="en-US" sz="300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MAX([DISTINCT | ALL]&lt;</a:t>
            </a:r>
            <a:r>
              <a:rPr lang="zh-CN" altLang="en-US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列名</a:t>
            </a:r>
            <a:r>
              <a:rPr lang="en-US" altLang="zh-CN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&gt; )  </a:t>
            </a:r>
            <a:r>
              <a:rPr lang="zh-CN" altLang="en-US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求一列值的最大值</a:t>
            </a:r>
            <a:endParaRPr lang="zh-CN" altLang="en-US" sz="300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MIN([DISTINCT | ALL]&lt;</a:t>
            </a:r>
            <a:r>
              <a:rPr lang="zh-CN" altLang="en-US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列名</a:t>
            </a:r>
            <a:r>
              <a:rPr lang="en-US" altLang="zh-CN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&gt; )  </a:t>
            </a:r>
            <a:r>
              <a:rPr lang="zh-CN" altLang="en-US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求一列值的最小值</a:t>
            </a:r>
            <a:endParaRPr lang="zh-CN" altLang="en-US" sz="300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SELECT-LIKE</a:t>
            </a:r>
            <a:endParaRPr lang="zh-CN" altLang="en-US" dirty="0"/>
          </a:p>
        </p:txBody>
      </p:sp>
      <p:sp>
        <p:nvSpPr>
          <p:cNvPr id="6" name="内容占位符 2"/>
          <p:cNvSpPr txBox="1"/>
          <p:nvPr/>
        </p:nvSpPr>
        <p:spPr bwMode="auto">
          <a:xfrm>
            <a:off x="1177290" y="1495425"/>
            <a:ext cx="9612630" cy="6188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30048" tIns="65024" rIns="130048" bIns="65024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  <a:defRPr/>
            </a:pP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匹配串可含：</a:t>
            </a:r>
            <a:endParaRPr lang="zh-CN" altLang="en-US" sz="32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>
              <a:buNone/>
              <a:defRPr/>
            </a:pP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    ％：代表任意长度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(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可为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0)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的字符串。  </a:t>
            </a:r>
            <a:endParaRPr lang="zh-CN" altLang="en-US" sz="32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>
              <a:buNone/>
              <a:defRPr/>
            </a:pP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    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_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：代表任意单个字符。</a:t>
            </a:r>
            <a:endParaRPr lang="zh-CN" altLang="en-US" sz="32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例</a:t>
            </a:r>
            <a:endParaRPr lang="en-US" altLang="zh-CN" sz="32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student(no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，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name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，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gender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，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age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，</a:t>
            </a:r>
            <a:r>
              <a:rPr lang="en-US" altLang="zh-CN" sz="3200" dirty="0" err="1">
                <a:latin typeface="Times New Roman" panose="02020603050405020304" charset="0"/>
                <a:ea typeface="宋体" panose="02010600030101010101" pitchFamily="2" charset="-122"/>
              </a:rPr>
              <a:t>d_no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)</a:t>
            </a:r>
            <a:endParaRPr lang="en-US" altLang="zh-CN" sz="32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course(no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，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name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，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credit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，</a:t>
            </a:r>
            <a:r>
              <a:rPr lang="en-US" altLang="zh-CN" sz="3200" dirty="0" err="1">
                <a:latin typeface="Times New Roman" panose="02020603050405020304" charset="0"/>
                <a:ea typeface="宋体" panose="02010600030101010101" pitchFamily="2" charset="-122"/>
              </a:rPr>
              <a:t>d_no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)</a:t>
            </a:r>
            <a:endParaRPr lang="en-US" altLang="zh-CN" sz="32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score(</a:t>
            </a:r>
            <a:r>
              <a:rPr lang="en-US" altLang="zh-CN" sz="3200" dirty="0" err="1">
                <a:latin typeface="Times New Roman" panose="02020603050405020304" charset="0"/>
                <a:ea typeface="宋体" panose="02010600030101010101" pitchFamily="2" charset="-122"/>
              </a:rPr>
              <a:t>s_no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，</a:t>
            </a:r>
            <a:r>
              <a:rPr lang="en-US" altLang="zh-CN" sz="3200" dirty="0" err="1">
                <a:latin typeface="Times New Roman" panose="02020603050405020304" charset="0"/>
                <a:ea typeface="宋体" panose="02010600030101010101" pitchFamily="2" charset="-122"/>
              </a:rPr>
              <a:t>c_no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，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score)</a:t>
            </a:r>
            <a:endParaRPr lang="en-US" altLang="zh-CN" sz="32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dept(no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，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name) </a:t>
            </a:r>
            <a:endParaRPr lang="en-US" altLang="zh-CN" sz="32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>
              <a:buNone/>
              <a:defRPr/>
            </a:pP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查所有姓名为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P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开头的学生姓名</a:t>
            </a:r>
            <a:endParaRPr lang="zh-CN" altLang="en-US" sz="32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>
              <a:buNone/>
              <a:defRPr/>
            </a:pP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SELECT name</a:t>
            </a:r>
            <a:endParaRPr lang="en-US" altLang="zh-CN" sz="32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>
              <a:buNone/>
              <a:defRPr/>
            </a:pP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FROM student</a:t>
            </a:r>
            <a:endParaRPr lang="en-US" altLang="zh-CN" sz="32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>
              <a:buNone/>
              <a:defRPr/>
            </a:pP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WHERE name  </a:t>
            </a:r>
            <a:r>
              <a:rPr lang="en-US" altLang="zh-CN" sz="32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charset="0"/>
                <a:ea typeface="宋体" panose="02010600030101010101" pitchFamily="2" charset="-122"/>
              </a:rPr>
              <a:t>LIKE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 ‘P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％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’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 ；</a:t>
            </a:r>
            <a:endParaRPr lang="zh-CN" altLang="en-US" sz="32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>
              <a:buNone/>
              <a:defRPr/>
            </a:pPr>
            <a:endParaRPr lang="zh-CN" altLang="en-US" sz="32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SELECT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869950" y="1221740"/>
            <a:ext cx="11249660" cy="583755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查询块：</a:t>
            </a:r>
            <a:endParaRPr lang="zh-CN" altLang="en-US" sz="32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SELECT &lt;A&gt;</a:t>
            </a:r>
            <a:endParaRPr lang="en-US" altLang="zh-CN" sz="32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FROM  &lt;R&gt;</a:t>
            </a:r>
            <a:endParaRPr lang="en-US" altLang="zh-CN" sz="32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WHERE &lt;F&gt;</a:t>
            </a:r>
            <a:endParaRPr lang="en-US" altLang="zh-CN" sz="32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子查询（嵌套查询）：一个查询块嵌套在另一查询块的条件之中。上层的查询块又称为外层查询或父查询或主查询，下层查询块又称为内层查询或子查询。</a:t>
            </a:r>
            <a:endParaRPr lang="zh-CN" altLang="en-US" sz="32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3200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子查询一般跟在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IN</a:t>
            </a:r>
            <a:r>
              <a:rPr lang="zh-CN" altLang="en-US" sz="3200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、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SOME</a:t>
            </a:r>
            <a:r>
              <a:rPr lang="zh-CN" altLang="en-US" sz="3200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（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ANY</a:t>
            </a:r>
            <a:r>
              <a:rPr lang="zh-CN" altLang="en-US" sz="3200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）、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ALL</a:t>
            </a:r>
            <a:r>
              <a:rPr lang="zh-CN" altLang="en-US" sz="3200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和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EXIST</a:t>
            </a:r>
            <a:r>
              <a:rPr lang="zh-CN" altLang="en-US" sz="3200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等谓词后面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。</a:t>
            </a:r>
            <a:endParaRPr lang="zh-CN" altLang="en-US" sz="32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SQL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语言允许多层嵌套查询。</a:t>
            </a:r>
            <a:endParaRPr lang="zh-CN" altLang="en-US" sz="32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嵌套查询的求解方法是由里向外处理。即每个子查询在其上一级查询处理之前求解，子查询的结果用于建立其父查询的查找条件。</a:t>
            </a:r>
            <a:endParaRPr lang="zh-CN" altLang="en-US" sz="32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endParaRPr lang="zh-CN" altLang="en-US" sz="32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SELECT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869774" y="1817582"/>
            <a:ext cx="10548372" cy="5837449"/>
          </a:xfrm>
        </p:spPr>
        <p:txBody>
          <a:bodyPr>
            <a:noAutofit/>
          </a:bodyPr>
          <a:lstStyle/>
          <a:p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例</a:t>
            </a:r>
            <a:endParaRPr lang="en-US" altLang="zh-CN" sz="32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student(no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，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name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，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gender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，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age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，</a:t>
            </a:r>
            <a:r>
              <a:rPr lang="en-US" altLang="zh-CN" sz="3200" dirty="0" err="1">
                <a:latin typeface="Times New Roman" panose="02020603050405020304" charset="0"/>
                <a:ea typeface="宋体" panose="02010600030101010101" pitchFamily="2" charset="-122"/>
              </a:rPr>
              <a:t>d_no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)</a:t>
            </a:r>
            <a:endParaRPr lang="en-US" altLang="zh-CN" sz="32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course(no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，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name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，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credit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，</a:t>
            </a:r>
            <a:r>
              <a:rPr lang="en-US" altLang="zh-CN" sz="3200" dirty="0" err="1">
                <a:latin typeface="Times New Roman" panose="02020603050405020304" charset="0"/>
                <a:ea typeface="宋体" panose="02010600030101010101" pitchFamily="2" charset="-122"/>
              </a:rPr>
              <a:t>d_no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)</a:t>
            </a:r>
            <a:endParaRPr lang="en-US" altLang="zh-CN" sz="32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score(</a:t>
            </a:r>
            <a:r>
              <a:rPr lang="en-US" altLang="zh-CN" sz="3200" dirty="0" err="1">
                <a:latin typeface="Times New Roman" panose="02020603050405020304" charset="0"/>
                <a:ea typeface="宋体" panose="02010600030101010101" pitchFamily="2" charset="-122"/>
              </a:rPr>
              <a:t>s_no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，</a:t>
            </a:r>
            <a:r>
              <a:rPr lang="en-US" altLang="zh-CN" sz="3200" dirty="0" err="1">
                <a:latin typeface="Times New Roman" panose="02020603050405020304" charset="0"/>
                <a:ea typeface="宋体" panose="02010600030101010101" pitchFamily="2" charset="-122"/>
              </a:rPr>
              <a:t>c_no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，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score)</a:t>
            </a:r>
            <a:endParaRPr lang="en-US" altLang="zh-CN" sz="32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dept(no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，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name) </a:t>
            </a:r>
            <a:endParaRPr lang="en-US" altLang="zh-CN" sz="32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查询选修了数据库课程的学生号、成绩</a:t>
            </a:r>
            <a:endParaRPr lang="en-US" altLang="zh-CN" sz="32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SELECT </a:t>
            </a:r>
            <a:r>
              <a:rPr lang="en-US" altLang="zh-CN" sz="3200" dirty="0" err="1">
                <a:latin typeface="Times New Roman" panose="02020603050405020304" charset="0"/>
                <a:ea typeface="宋体" panose="02010600030101010101" pitchFamily="2" charset="-122"/>
              </a:rPr>
              <a:t>s_no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， 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score</a:t>
            </a:r>
            <a:endParaRPr lang="en-US" altLang="zh-CN" sz="32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      	FROM score</a:t>
            </a:r>
            <a:endParaRPr lang="en-US" altLang="zh-CN" sz="32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       	WHERE  </a:t>
            </a:r>
            <a:r>
              <a:rPr lang="en-US" altLang="zh-CN" sz="3200" dirty="0" err="1">
                <a:latin typeface="Times New Roman" panose="02020603050405020304" charset="0"/>
                <a:ea typeface="宋体" panose="02010600030101010101" pitchFamily="2" charset="-122"/>
              </a:rPr>
              <a:t>c_no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 IN</a:t>
            </a:r>
            <a:endParaRPr lang="en-US" altLang="zh-CN" sz="32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          		(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SELECT no</a:t>
            </a:r>
            <a:endParaRPr lang="en-US" altLang="zh-CN" sz="3200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3200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            		FROM  course</a:t>
            </a:r>
            <a:endParaRPr lang="en-US" altLang="zh-CN" sz="3200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3200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            		 WHERE name=‘Database’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)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；</a:t>
            </a:r>
            <a:endParaRPr lang="zh-CN" altLang="en-US" sz="32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endParaRPr lang="zh-CN" altLang="en-US" sz="32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SELECT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869950" y="2931160"/>
            <a:ext cx="11242040" cy="40963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相关子查询</a:t>
            </a:r>
            <a:endParaRPr lang="zh-CN" altLang="en-US" sz="32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当一个子查询的判断条件涉及到一个来自外部查询的列时，称为相关子查询。</a:t>
            </a:r>
            <a:endParaRPr lang="zh-CN" altLang="en-US" sz="32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带</a:t>
            </a:r>
            <a:r>
              <a:rPr lang="zh-CN" altLang="en-US" sz="3200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存在谓词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的子查询只产生逻辑值</a:t>
            </a:r>
            <a:endParaRPr lang="zh-CN" altLang="en-US" sz="32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存在谓词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EXISTS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作用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:  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若内层查询结果非空，则外层的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WHERE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子句返回真值，否则返回假值。</a:t>
            </a:r>
            <a:endParaRPr lang="zh-CN" altLang="en-US" sz="32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SELECT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869950" y="1620520"/>
            <a:ext cx="10941050" cy="614489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条件连接查询 </a:t>
            </a:r>
            <a:endParaRPr lang="zh-CN" altLang="en-US" sz="32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连接条件的一般格式为：</a:t>
            </a:r>
            <a:endParaRPr lang="en-US" altLang="zh-CN" sz="32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[&lt;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表名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1&gt;.]&lt;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列名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1&gt;  &lt;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比较运算符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&gt;  [&lt;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表名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2&gt;.]&lt;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列名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2&gt;</a:t>
            </a:r>
            <a:endParaRPr lang="en-US" altLang="zh-CN" sz="32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当连接运算符为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=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时，称为等值连接。</a:t>
            </a:r>
            <a:endParaRPr lang="zh-CN" altLang="en-US" sz="32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例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:  student(no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，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name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，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gender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，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age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，</a:t>
            </a:r>
            <a:r>
              <a:rPr lang="en-US" altLang="zh-CN" sz="3200" dirty="0" err="1">
                <a:latin typeface="Times New Roman" panose="02020603050405020304" charset="0"/>
                <a:ea typeface="宋体" panose="02010600030101010101" pitchFamily="2" charset="-122"/>
              </a:rPr>
              <a:t>d_no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)</a:t>
            </a:r>
            <a:endParaRPr lang="en-US" altLang="zh-CN" sz="32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course(no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，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name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，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credit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，</a:t>
            </a:r>
            <a:r>
              <a:rPr lang="en-US" altLang="zh-CN" sz="3200" dirty="0" err="1">
                <a:latin typeface="Times New Roman" panose="02020603050405020304" charset="0"/>
                <a:ea typeface="宋体" panose="02010600030101010101" pitchFamily="2" charset="-122"/>
              </a:rPr>
              <a:t>d_no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)</a:t>
            </a:r>
            <a:endParaRPr lang="en-US" altLang="zh-CN" sz="32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score(</a:t>
            </a:r>
            <a:r>
              <a:rPr lang="en-US" altLang="zh-CN" sz="3200" dirty="0" err="1">
                <a:latin typeface="Times New Roman" panose="02020603050405020304" charset="0"/>
                <a:ea typeface="宋体" panose="02010600030101010101" pitchFamily="2" charset="-122"/>
              </a:rPr>
              <a:t>s_no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，</a:t>
            </a:r>
            <a:r>
              <a:rPr lang="en-US" altLang="zh-CN" sz="3200" dirty="0" err="1">
                <a:latin typeface="Times New Roman" panose="02020603050405020304" charset="0"/>
                <a:ea typeface="宋体" panose="02010600030101010101" pitchFamily="2" charset="-122"/>
              </a:rPr>
              <a:t>c_no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，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score)</a:t>
            </a:r>
            <a:endParaRPr lang="en-US" altLang="zh-CN" sz="32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dept(no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，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name) </a:t>
            </a:r>
            <a:endParaRPr lang="en-US" altLang="zh-CN" sz="32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查询每个学生的情况及其选课成绩。</a:t>
            </a:r>
            <a:endParaRPr lang="zh-CN" altLang="en-US" sz="32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	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SELECT  student. no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，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name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，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gender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，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age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，</a:t>
            </a:r>
            <a:endParaRPr lang="zh-CN" altLang="en-US" sz="32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                                     </a:t>
            </a:r>
            <a:r>
              <a:rPr lang="en-US" altLang="zh-CN" sz="3200" dirty="0" err="1">
                <a:latin typeface="Times New Roman" panose="02020603050405020304" charset="0"/>
                <a:ea typeface="宋体" panose="02010600030101010101" pitchFamily="2" charset="-122"/>
              </a:rPr>
              <a:t>d_no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，</a:t>
            </a:r>
            <a:r>
              <a:rPr lang="en-US" altLang="zh-CN" sz="3200" dirty="0" err="1">
                <a:latin typeface="Times New Roman" panose="02020603050405020304" charset="0"/>
                <a:ea typeface="宋体" panose="02010600030101010101" pitchFamily="2" charset="-122"/>
              </a:rPr>
              <a:t>c_no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，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score</a:t>
            </a:r>
            <a:endParaRPr lang="en-US" altLang="zh-CN" sz="32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 	FROM  student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，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score</a:t>
            </a:r>
            <a:endParaRPr lang="en-US" altLang="zh-CN" sz="32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 	WHERE  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student. no=Score. </a:t>
            </a:r>
            <a:r>
              <a:rPr lang="en-US" altLang="zh-CN" sz="3200" dirty="0" err="1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s_no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； </a:t>
            </a:r>
            <a:endParaRPr lang="zh-CN" altLang="en-US" sz="32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SELECT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767080" y="2679065"/>
            <a:ext cx="11483975" cy="4915535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自身连接查询（是连接查询的一种，连接查询有很种类型，在实际应用中也比较广泛，</a:t>
            </a:r>
            <a:r>
              <a:rPr lang="zh-CN" altLang="en-US" sz="3200" dirty="0">
                <a:solidFill>
                  <a:srgbClr val="0070C0"/>
                </a:solidFill>
                <a:latin typeface="Times New Roman" panose="02020603050405020304" charset="0"/>
                <a:ea typeface="宋体" panose="02010600030101010101" pitchFamily="2" charset="-122"/>
              </a:rPr>
              <a:t>建议同学课后自学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）</a:t>
            </a:r>
            <a:endParaRPr lang="zh-CN" altLang="en-US" sz="32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例：找出年龄比“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Jerry”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同学大的同学的姓名及年龄。</a:t>
            </a:r>
            <a:endParaRPr lang="zh-CN" altLang="en-US" sz="32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SELECT  name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，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age</a:t>
            </a:r>
            <a:endParaRPr lang="en-US" altLang="zh-CN" sz="32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FROM student </a:t>
            </a:r>
            <a:r>
              <a:rPr lang="en-US" altLang="zh-CN" sz="3200" dirty="0">
                <a:solidFill>
                  <a:srgbClr val="0070C0"/>
                </a:solidFill>
                <a:latin typeface="Times New Roman" panose="02020603050405020304" charset="0"/>
                <a:ea typeface="宋体" panose="02010600030101010101" pitchFamily="2" charset="-122"/>
              </a:rPr>
              <a:t>AS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 s1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，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student </a:t>
            </a:r>
            <a:r>
              <a:rPr lang="en-US" altLang="zh-CN" sz="3200" dirty="0">
                <a:solidFill>
                  <a:srgbClr val="0070C0"/>
                </a:solidFill>
                <a:latin typeface="Times New Roman" panose="02020603050405020304" charset="0"/>
                <a:ea typeface="宋体" panose="02010600030101010101" pitchFamily="2" charset="-122"/>
              </a:rPr>
              <a:t>AS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 s2</a:t>
            </a:r>
            <a:endParaRPr lang="en-US" altLang="zh-CN" sz="32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WHERE s1.age &gt; s2.age AND s2.name =‘Jerry’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；</a:t>
            </a:r>
            <a:endParaRPr lang="zh-CN" altLang="en-US" sz="32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SELECT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869950" y="2726055"/>
            <a:ext cx="10823575" cy="491553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自然连接与外连接 </a:t>
            </a:r>
            <a:endParaRPr lang="zh-CN" altLang="en-US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1.</a:t>
            </a:r>
            <a:r>
              <a:rPr lang="zh-CN" altLang="en-US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自然连接</a:t>
            </a:r>
            <a:r>
              <a:rPr lang="en-US" altLang="zh-CN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(NATURAL JOIN)</a:t>
            </a:r>
            <a:r>
              <a:rPr lang="zh-CN" altLang="en-US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：等值连接中把重复属性列去掉</a:t>
            </a:r>
            <a:endParaRPr lang="zh-CN" altLang="en-US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2. </a:t>
            </a:r>
            <a:r>
              <a:rPr lang="zh-CN" altLang="en-US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外连接：</a:t>
            </a:r>
            <a:endParaRPr lang="zh-CN" altLang="en-US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r>
              <a:rPr lang="zh-CN" altLang="en-US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左外连接</a:t>
            </a:r>
            <a:r>
              <a:rPr lang="en-US" altLang="zh-CN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LEFT [OUTER] JOIN</a:t>
            </a:r>
            <a:r>
              <a:rPr lang="zh-CN" altLang="en-US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，保留左关系的所有元组。</a:t>
            </a:r>
            <a:endParaRPr lang="zh-CN" altLang="en-US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r>
              <a:rPr lang="zh-CN" altLang="en-US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右外连接</a:t>
            </a:r>
            <a:r>
              <a:rPr lang="en-US" altLang="zh-CN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RIGHT [OUTER] JOIN</a:t>
            </a:r>
            <a:r>
              <a:rPr lang="zh-CN" altLang="en-US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，保留右关系的所有元组。</a:t>
            </a:r>
            <a:endParaRPr lang="zh-CN" altLang="en-US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r>
              <a:rPr lang="zh-CN" altLang="en-US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全外连接</a:t>
            </a:r>
            <a:r>
              <a:rPr lang="en-US" altLang="zh-CN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FULL [OUTER] JOIN</a:t>
            </a:r>
            <a:r>
              <a:rPr lang="zh-CN" altLang="en-US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，保留左右两关系的所有元组。 </a:t>
            </a:r>
            <a:endParaRPr lang="zh-CN" altLang="en-US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endParaRPr lang="zh-CN" altLang="en-US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SELECT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869774" y="2484226"/>
            <a:ext cx="10548372" cy="4915746"/>
          </a:xfrm>
        </p:spPr>
        <p:txBody>
          <a:bodyPr>
            <a:noAutofit/>
          </a:bodyPr>
          <a:lstStyle/>
          <a:p>
            <a:r>
              <a:rPr lang="zh-CN" altLang="en-US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集合运算</a:t>
            </a:r>
            <a:endParaRPr lang="zh-CN" altLang="en-US" sz="320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UNION   </a:t>
            </a:r>
            <a:r>
              <a:rPr lang="zh-CN" altLang="en-US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（并）</a:t>
            </a:r>
            <a:r>
              <a:rPr lang="en-US" altLang="zh-CN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INTERSECT </a:t>
            </a:r>
            <a:r>
              <a:rPr lang="zh-CN" altLang="en-US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（交）</a:t>
            </a:r>
            <a:r>
              <a:rPr lang="en-US" altLang="zh-CN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EXCEPT   </a:t>
            </a:r>
            <a:r>
              <a:rPr lang="zh-CN" altLang="en-US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（差）</a:t>
            </a:r>
            <a:endParaRPr lang="zh-CN" altLang="en-US" sz="320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r>
              <a:rPr lang="zh-CN" altLang="en-US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例：求选修了</a:t>
            </a:r>
            <a:r>
              <a:rPr lang="en-US" altLang="zh-CN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1</a:t>
            </a:r>
            <a:r>
              <a:rPr lang="zh-CN" altLang="en-US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或</a:t>
            </a:r>
            <a:r>
              <a:rPr lang="en-US" altLang="zh-CN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2</a:t>
            </a:r>
            <a:r>
              <a:rPr lang="zh-CN" altLang="en-US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号而没有选</a:t>
            </a:r>
            <a:r>
              <a:rPr lang="en-US" altLang="zh-CN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3</a:t>
            </a:r>
            <a:r>
              <a:rPr lang="zh-CN" altLang="en-US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号课程的学生号。</a:t>
            </a:r>
            <a:endParaRPr lang="zh-CN" altLang="en-US" sz="320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(SELECT </a:t>
            </a:r>
            <a:r>
              <a:rPr lang="en-US" altLang="zh-CN" sz="3200" dirty="0" err="1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s_no</a:t>
            </a:r>
            <a:endParaRPr lang="en-US" altLang="zh-CN" sz="320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FROM  Score</a:t>
            </a:r>
            <a:endParaRPr lang="en-US" altLang="zh-CN" sz="320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WHERE </a:t>
            </a:r>
            <a:r>
              <a:rPr lang="en-US" altLang="zh-CN" sz="3200" dirty="0" err="1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c_no</a:t>
            </a:r>
            <a:r>
              <a:rPr lang="en-US" altLang="zh-CN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 =’1’ OR  </a:t>
            </a:r>
            <a:r>
              <a:rPr lang="en-US" altLang="zh-CN" sz="3200" dirty="0" err="1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c_no</a:t>
            </a:r>
            <a:r>
              <a:rPr lang="en-US" altLang="zh-CN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 =’2’)</a:t>
            </a:r>
            <a:endParaRPr lang="en-US" altLang="zh-CN" sz="320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          EXCEPT</a:t>
            </a:r>
            <a:endParaRPr lang="en-US" altLang="zh-CN" sz="320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	(SELECT </a:t>
            </a:r>
            <a:r>
              <a:rPr lang="en-US" altLang="zh-CN" sz="3200" dirty="0" err="1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s_no</a:t>
            </a:r>
            <a:endParaRPr lang="en-US" altLang="zh-CN" sz="320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	FROM    Score</a:t>
            </a:r>
            <a:endParaRPr lang="en-US" altLang="zh-CN" sz="320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	WHERE  </a:t>
            </a:r>
            <a:r>
              <a:rPr lang="en-US" altLang="zh-CN" sz="3200" dirty="0" err="1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c_no</a:t>
            </a:r>
            <a:r>
              <a:rPr lang="en-US" altLang="zh-CN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 =‘3’)</a:t>
            </a:r>
            <a:r>
              <a:rPr lang="zh-CN" altLang="en-US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；</a:t>
            </a:r>
            <a:endParaRPr lang="zh-CN" altLang="en-US" sz="320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INSERT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869774" y="2225146"/>
            <a:ext cx="10548372" cy="4915746"/>
          </a:xfrm>
        </p:spPr>
        <p:txBody>
          <a:bodyPr>
            <a:noAutofit/>
          </a:bodyPr>
          <a:lstStyle/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charset="0"/>
                <a:ea typeface="宋体" panose="02010600030101010101" pitchFamily="2" charset="-122"/>
              </a:rPr>
              <a:t>插入数据</a:t>
            </a:r>
            <a:endParaRPr lang="zh-CN" altLang="en-US" sz="3200" b="1" dirty="0">
              <a:solidFill>
                <a:schemeClr val="folHlink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3200" b="1" dirty="0">
                <a:latin typeface="Times New Roman" panose="02020603050405020304" charset="0"/>
                <a:ea typeface="宋体" panose="02010600030101010101" pitchFamily="2" charset="-122"/>
              </a:rPr>
              <a:t>1. </a:t>
            </a:r>
            <a:r>
              <a:rPr lang="zh-CN" altLang="en-US" sz="3200" b="1" dirty="0">
                <a:latin typeface="Times New Roman" panose="02020603050405020304" charset="0"/>
                <a:ea typeface="宋体" panose="02010600030101010101" pitchFamily="2" charset="-122"/>
              </a:rPr>
              <a:t>插入单个元组</a:t>
            </a:r>
            <a:endParaRPr lang="zh-CN" altLang="en-US" sz="32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en-US" sz="3200" b="1" dirty="0">
                <a:solidFill>
                  <a:schemeClr val="hlink"/>
                </a:solidFill>
                <a:latin typeface="Times New Roman" panose="02020603050405020304" charset="0"/>
                <a:ea typeface="宋体" panose="02010600030101010101" pitchFamily="2" charset="-122"/>
              </a:rPr>
              <a:t>格式：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INSERT 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      INTO </a:t>
            </a:r>
            <a:r>
              <a:rPr lang="en-US" altLang="zh-CN" sz="3200" b="1" dirty="0">
                <a:latin typeface="Times New Roman" panose="02020603050405020304" charset="0"/>
                <a:ea typeface="宋体" panose="02010600030101010101" pitchFamily="2" charset="-122"/>
              </a:rPr>
              <a:t>&lt;</a:t>
            </a:r>
            <a:r>
              <a:rPr lang="zh-CN" altLang="en-US" sz="3200" b="1" dirty="0">
                <a:latin typeface="Times New Roman" panose="02020603050405020304" charset="0"/>
                <a:ea typeface="宋体" panose="02010600030101010101" pitchFamily="2" charset="-122"/>
              </a:rPr>
              <a:t>表名</a:t>
            </a:r>
            <a:r>
              <a:rPr lang="en-US" altLang="zh-CN" sz="3200" b="1" dirty="0">
                <a:latin typeface="Times New Roman" panose="02020603050405020304" charset="0"/>
                <a:ea typeface="宋体" panose="02010600030101010101" pitchFamily="2" charset="-122"/>
              </a:rPr>
              <a:t>&gt; [</a:t>
            </a:r>
            <a:r>
              <a:rPr lang="zh-CN" altLang="en-US" sz="3200" b="1" dirty="0">
                <a:latin typeface="Times New Roman" panose="02020603050405020304" charset="0"/>
                <a:ea typeface="宋体" panose="02010600030101010101" pitchFamily="2" charset="-122"/>
              </a:rPr>
              <a:t>（</a:t>
            </a:r>
            <a:r>
              <a:rPr lang="en-US" altLang="zh-CN" sz="3200" b="1" dirty="0">
                <a:latin typeface="Times New Roman" panose="02020603050405020304" charset="0"/>
                <a:ea typeface="宋体" panose="02010600030101010101" pitchFamily="2" charset="-122"/>
              </a:rPr>
              <a:t>&lt;</a:t>
            </a:r>
            <a:r>
              <a:rPr lang="zh-CN" altLang="en-US" sz="3200" b="1" dirty="0">
                <a:latin typeface="Times New Roman" panose="02020603050405020304" charset="0"/>
                <a:ea typeface="宋体" panose="02010600030101010101" pitchFamily="2" charset="-122"/>
              </a:rPr>
              <a:t>属性列</a:t>
            </a:r>
            <a:r>
              <a:rPr lang="en-US" altLang="zh-CN" sz="3200" b="1" dirty="0">
                <a:latin typeface="Times New Roman" panose="02020603050405020304" charset="0"/>
                <a:ea typeface="宋体" panose="02010600030101010101" pitchFamily="2" charset="-122"/>
              </a:rPr>
              <a:t>1&gt; [</a:t>
            </a:r>
            <a:r>
              <a:rPr lang="zh-CN" altLang="en-US" sz="3200" b="1" dirty="0">
                <a:latin typeface="Times New Roman" panose="02020603050405020304" charset="0"/>
                <a:ea typeface="宋体" panose="02010600030101010101" pitchFamily="2" charset="-122"/>
              </a:rPr>
              <a:t>，</a:t>
            </a:r>
            <a:r>
              <a:rPr lang="en-US" altLang="zh-CN" sz="3200" b="1" dirty="0">
                <a:latin typeface="Times New Roman" panose="02020603050405020304" charset="0"/>
                <a:ea typeface="宋体" panose="02010600030101010101" pitchFamily="2" charset="-122"/>
              </a:rPr>
              <a:t>&lt;</a:t>
            </a:r>
            <a:r>
              <a:rPr lang="zh-CN" altLang="en-US" sz="3200" b="1" dirty="0">
                <a:latin typeface="Times New Roman" panose="02020603050405020304" charset="0"/>
                <a:ea typeface="宋体" panose="02010600030101010101" pitchFamily="2" charset="-122"/>
              </a:rPr>
              <a:t>属性列</a:t>
            </a:r>
            <a:r>
              <a:rPr lang="en-US" altLang="zh-CN" sz="3200" b="1" dirty="0">
                <a:latin typeface="Times New Roman" panose="02020603050405020304" charset="0"/>
                <a:ea typeface="宋体" panose="02010600030101010101" pitchFamily="2" charset="-122"/>
              </a:rPr>
              <a:t>2&gt;…)]</a:t>
            </a:r>
            <a:endParaRPr lang="en-US" altLang="zh-CN" sz="32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   VALUES </a:t>
            </a:r>
            <a:r>
              <a:rPr lang="en-US" altLang="zh-CN" sz="3200" b="1" dirty="0">
                <a:latin typeface="Times New Roman" panose="02020603050405020304" charset="0"/>
                <a:ea typeface="宋体" panose="02010600030101010101" pitchFamily="2" charset="-122"/>
              </a:rPr>
              <a:t>(&lt;</a:t>
            </a:r>
            <a:r>
              <a:rPr lang="zh-CN" altLang="en-US" sz="3200" b="1" dirty="0">
                <a:latin typeface="Times New Roman" panose="02020603050405020304" charset="0"/>
                <a:ea typeface="宋体" panose="02010600030101010101" pitchFamily="2" charset="-122"/>
              </a:rPr>
              <a:t>常量</a:t>
            </a:r>
            <a:r>
              <a:rPr lang="en-US" altLang="zh-CN" sz="3200" b="1" dirty="0">
                <a:latin typeface="Times New Roman" panose="02020603050405020304" charset="0"/>
                <a:ea typeface="宋体" panose="02010600030101010101" pitchFamily="2" charset="-122"/>
              </a:rPr>
              <a:t>1&gt;[,&lt;</a:t>
            </a:r>
            <a:r>
              <a:rPr lang="zh-CN" altLang="en-US" sz="3200" b="1" dirty="0">
                <a:latin typeface="Times New Roman" panose="02020603050405020304" charset="0"/>
                <a:ea typeface="宋体" panose="02010600030101010101" pitchFamily="2" charset="-122"/>
              </a:rPr>
              <a:t>常量</a:t>
            </a:r>
            <a:r>
              <a:rPr lang="en-US" altLang="zh-CN" sz="3200" b="1" dirty="0">
                <a:latin typeface="Times New Roman" panose="02020603050405020304" charset="0"/>
                <a:ea typeface="宋体" panose="02010600030101010101" pitchFamily="2" charset="-122"/>
              </a:rPr>
              <a:t>2&gt;]…);</a:t>
            </a:r>
            <a:endParaRPr lang="en-US" altLang="zh-CN" sz="32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 eaLnBrk="1" fontAlgn="auto" hangingPunct="1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charset="0"/>
                <a:ea typeface="宋体" panose="02010600030101010101" pitchFamily="2" charset="-122"/>
              </a:rPr>
              <a:t>说明</a:t>
            </a:r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charset="0"/>
                <a:ea typeface="宋体" panose="02010600030101010101" pitchFamily="2" charset="-122"/>
                <a:sym typeface="Wingdings" panose="05000000000000000000" pitchFamily="2" charset="2"/>
              </a:rPr>
              <a:t>：</a:t>
            </a:r>
            <a:endParaRPr lang="en-US" altLang="zh-CN" sz="3200" b="1" dirty="0">
              <a:solidFill>
                <a:schemeClr val="folHlink"/>
              </a:solidFill>
              <a:latin typeface="Times New Roman" panose="02020603050405020304" charset="0"/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3200" b="1" dirty="0">
                <a:latin typeface="Times New Roman" panose="02020603050405020304" charset="0"/>
                <a:ea typeface="宋体" panose="02010600030101010101" pitchFamily="2" charset="-122"/>
                <a:sym typeface="Wingdings" panose="05000000000000000000" pitchFamily="2" charset="2"/>
              </a:rPr>
              <a:t>（</a:t>
            </a:r>
            <a:r>
              <a:rPr lang="en-US" altLang="zh-CN" sz="3200" b="1" dirty="0">
                <a:latin typeface="Times New Roman" panose="02020603050405020304" charset="0"/>
                <a:ea typeface="宋体" panose="02010600030101010101" pitchFamily="2" charset="-122"/>
                <a:sym typeface="Wingdings" panose="05000000000000000000" pitchFamily="2" charset="2"/>
              </a:rPr>
              <a:t>1</a:t>
            </a:r>
            <a:r>
              <a:rPr lang="zh-CN" altLang="en-US" sz="3200" b="1" dirty="0">
                <a:latin typeface="Times New Roman" panose="02020603050405020304" charset="0"/>
                <a:ea typeface="宋体" panose="02010600030101010101" pitchFamily="2" charset="-122"/>
                <a:sym typeface="Wingdings" panose="05000000000000000000" pitchFamily="2" charset="2"/>
              </a:rPr>
              <a:t>）若插入全部属性，则属性列可省略。</a:t>
            </a:r>
            <a:endParaRPr lang="en-US" altLang="zh-CN" sz="3200" b="1" dirty="0">
              <a:latin typeface="Times New Roman" panose="02020603050405020304" charset="0"/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3200" b="1" dirty="0">
                <a:latin typeface="Times New Roman" panose="02020603050405020304" charset="0"/>
                <a:ea typeface="宋体" panose="02010600030101010101" pitchFamily="2" charset="-122"/>
                <a:sym typeface="Wingdings" panose="05000000000000000000" pitchFamily="2" charset="2"/>
              </a:rPr>
              <a:t>（</a:t>
            </a:r>
            <a:r>
              <a:rPr lang="en-US" altLang="zh-CN" sz="3200" b="1" dirty="0">
                <a:latin typeface="Times New Roman" panose="02020603050405020304" charset="0"/>
                <a:ea typeface="宋体" panose="02010600030101010101" pitchFamily="2" charset="-122"/>
                <a:sym typeface="Wingdings" panose="05000000000000000000" pitchFamily="2" charset="2"/>
              </a:rPr>
              <a:t>2</a:t>
            </a:r>
            <a:r>
              <a:rPr lang="zh-CN" altLang="en-US" sz="3200" b="1" dirty="0">
                <a:latin typeface="Times New Roman" panose="02020603050405020304" charset="0"/>
                <a:ea typeface="宋体" panose="02010600030101010101" pitchFamily="2" charset="-122"/>
                <a:sym typeface="Wingdings" panose="05000000000000000000" pitchFamily="2" charset="2"/>
              </a:rPr>
              <a:t>）</a:t>
            </a:r>
            <a:r>
              <a:rPr lang="zh-CN" altLang="en-US" sz="3200" b="1" dirty="0">
                <a:latin typeface="Times New Roman" panose="02020603050405020304" charset="0"/>
                <a:ea typeface="宋体" panose="02010600030101010101" pitchFamily="2" charset="-122"/>
              </a:rPr>
              <a:t>表定义中说明为</a:t>
            </a:r>
            <a:r>
              <a:rPr lang="en-US" altLang="zh-CN" sz="3200" b="1" dirty="0">
                <a:latin typeface="Times New Roman" panose="02020603050405020304" charset="0"/>
                <a:ea typeface="宋体" panose="02010600030101010101" pitchFamily="2" charset="-122"/>
              </a:rPr>
              <a:t>NOT NULL</a:t>
            </a:r>
            <a:r>
              <a:rPr lang="zh-CN" altLang="en-US" sz="3200" b="1" dirty="0">
                <a:latin typeface="Times New Roman" panose="02020603050405020304" charset="0"/>
                <a:ea typeface="宋体" panose="02010600030101010101" pitchFamily="2" charset="-122"/>
              </a:rPr>
              <a:t>的列不能取空值。</a:t>
            </a:r>
            <a:endParaRPr lang="zh-CN" altLang="en-US" sz="32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3200" b="1" dirty="0">
                <a:latin typeface="Times New Roman" panose="02020603050405020304" charset="0"/>
                <a:ea typeface="宋体" panose="02010600030101010101" pitchFamily="2" charset="-122"/>
              </a:rPr>
              <a:t>（</a:t>
            </a:r>
            <a:r>
              <a:rPr lang="en-US" altLang="zh-CN" sz="3200" b="1" dirty="0">
                <a:latin typeface="Times New Roman" panose="02020603050405020304" charset="0"/>
                <a:ea typeface="宋体" panose="02010600030101010101" pitchFamily="2" charset="-122"/>
              </a:rPr>
              <a:t>3</a:t>
            </a:r>
            <a:r>
              <a:rPr lang="zh-CN" altLang="en-US" sz="3200" b="1" dirty="0">
                <a:latin typeface="Times New Roman" panose="02020603050405020304" charset="0"/>
                <a:ea typeface="宋体" panose="02010600030101010101" pitchFamily="2" charset="-122"/>
              </a:rPr>
              <a:t>）属性值与相对应的属性列的数据类型要匹配。</a:t>
            </a:r>
            <a:endParaRPr lang="zh-CN" altLang="en-US" sz="32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3200" b="1" dirty="0">
                <a:latin typeface="Times New Roman" panose="02020603050405020304" charset="0"/>
                <a:ea typeface="宋体" panose="02010600030101010101" pitchFamily="2" charset="-122"/>
              </a:rPr>
              <a:t>（</a:t>
            </a:r>
            <a:r>
              <a:rPr lang="en-US" altLang="zh-CN" sz="3200" b="1" dirty="0">
                <a:latin typeface="Times New Roman" panose="02020603050405020304" charset="0"/>
                <a:ea typeface="宋体" panose="02010600030101010101" pitchFamily="2" charset="-122"/>
              </a:rPr>
              <a:t>4</a:t>
            </a:r>
            <a:r>
              <a:rPr lang="zh-CN" altLang="en-US" sz="3200" b="1" dirty="0">
                <a:latin typeface="Times New Roman" panose="02020603050405020304" charset="0"/>
                <a:ea typeface="宋体" panose="02010600030101010101" pitchFamily="2" charset="-122"/>
              </a:rPr>
              <a:t>）向参照表中插入元组，关系系统自动支持：</a:t>
            </a:r>
            <a:endParaRPr lang="zh-CN" altLang="en-US" sz="32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en-US" sz="3200" b="1" dirty="0">
                <a:latin typeface="Times New Roman" panose="02020603050405020304" charset="0"/>
                <a:ea typeface="宋体" panose="02010600030101010101" pitchFamily="2" charset="-122"/>
              </a:rPr>
              <a:t>         </a:t>
            </a:r>
            <a:r>
              <a:rPr lang="en-US" altLang="zh-CN" sz="3200" b="1" dirty="0">
                <a:solidFill>
                  <a:schemeClr val="hlink"/>
                </a:solidFill>
                <a:latin typeface="Times New Roman" panose="02020603050405020304" charset="0"/>
                <a:ea typeface="宋体" panose="02010600030101010101" pitchFamily="2" charset="-122"/>
              </a:rPr>
              <a:t>·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r>
              <a:rPr lang="zh-CN" altLang="en-US" sz="3200" b="1" dirty="0">
                <a:latin typeface="Times New Roman" panose="02020603050405020304" charset="0"/>
                <a:ea typeface="宋体" panose="02010600030101010101" pitchFamily="2" charset="-122"/>
              </a:rPr>
              <a:t>实体完整性</a:t>
            </a:r>
            <a:endParaRPr lang="zh-CN" altLang="en-US" sz="32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en-US" sz="3200" b="1" dirty="0">
                <a:latin typeface="Times New Roman" panose="02020603050405020304" charset="0"/>
                <a:ea typeface="宋体" panose="02010600030101010101" pitchFamily="2" charset="-122"/>
              </a:rPr>
              <a:t>         </a:t>
            </a:r>
            <a:r>
              <a:rPr lang="en-US" altLang="zh-CN" sz="3200" b="1" dirty="0">
                <a:solidFill>
                  <a:schemeClr val="hlink"/>
                </a:solidFill>
                <a:latin typeface="Times New Roman" panose="02020603050405020304" charset="0"/>
                <a:ea typeface="宋体" panose="02010600030101010101" pitchFamily="2" charset="-122"/>
              </a:rPr>
              <a:t>·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r>
              <a:rPr lang="zh-CN" altLang="en-US" sz="3200" b="1" dirty="0">
                <a:latin typeface="Times New Roman" panose="02020603050405020304" charset="0"/>
                <a:ea typeface="宋体" panose="02010600030101010101" pitchFamily="2" charset="-122"/>
              </a:rPr>
              <a:t>参照完整性</a:t>
            </a:r>
            <a:endParaRPr lang="zh-CN" altLang="en-US" sz="3200" b="1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INSERT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869774" y="2726161"/>
            <a:ext cx="10548372" cy="4915746"/>
          </a:xfrm>
        </p:spPr>
        <p:txBody>
          <a:bodyPr>
            <a:normAutofit/>
          </a:bodyPr>
          <a:lstStyle/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800080"/>
                </a:solidFill>
                <a:latin typeface="Times New Roman" panose="02020603050405020304" charset="0"/>
                <a:ea typeface="宋体" panose="02010600030101010101" pitchFamily="2" charset="-122"/>
              </a:rPr>
              <a:t>插入子查询结果</a:t>
            </a:r>
            <a:endParaRPr lang="zh-CN" altLang="en-US" sz="3200" b="1" dirty="0">
              <a:solidFill>
                <a:srgbClr val="80008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chemeClr val="hlink"/>
                </a:solidFill>
                <a:latin typeface="Times New Roman" panose="02020603050405020304" charset="0"/>
                <a:ea typeface="宋体" panose="02010600030101010101" pitchFamily="2" charset="-122"/>
              </a:rPr>
              <a:t>格式：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INSERT</a:t>
            </a:r>
            <a:r>
              <a:rPr lang="en-US" altLang="zh-CN" sz="3200" b="1" dirty="0"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endParaRPr lang="en-US" altLang="zh-CN" sz="32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zh-CN" sz="3200" b="1" dirty="0">
                <a:latin typeface="Times New Roman" panose="02020603050405020304" charset="0"/>
                <a:ea typeface="宋体" panose="02010600030101010101" pitchFamily="2" charset="-122"/>
              </a:rPr>
              <a:t>    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INTO</a:t>
            </a:r>
            <a:r>
              <a:rPr lang="en-US" altLang="zh-CN" sz="3200" b="1" dirty="0">
                <a:latin typeface="Times New Roman" panose="02020603050405020304" charset="0"/>
                <a:ea typeface="宋体" panose="02010600030101010101" pitchFamily="2" charset="-122"/>
              </a:rPr>
              <a:t> &lt;</a:t>
            </a:r>
            <a:r>
              <a:rPr lang="zh-CN" altLang="en-US" sz="3200" b="1" dirty="0">
                <a:latin typeface="Times New Roman" panose="02020603050405020304" charset="0"/>
                <a:ea typeface="宋体" panose="02010600030101010101" pitchFamily="2" charset="-122"/>
              </a:rPr>
              <a:t>表名</a:t>
            </a:r>
            <a:r>
              <a:rPr lang="en-US" altLang="zh-CN" sz="3200" b="1" dirty="0">
                <a:latin typeface="Times New Roman" panose="02020603050405020304" charset="0"/>
                <a:ea typeface="宋体" panose="02010600030101010101" pitchFamily="2" charset="-122"/>
              </a:rPr>
              <a:t>&gt; [(&lt;</a:t>
            </a:r>
            <a:r>
              <a:rPr lang="zh-CN" altLang="en-US" sz="3200" b="1" dirty="0">
                <a:latin typeface="Times New Roman" panose="02020603050405020304" charset="0"/>
                <a:ea typeface="宋体" panose="02010600030101010101" pitchFamily="2" charset="-122"/>
              </a:rPr>
              <a:t>属性列</a:t>
            </a:r>
            <a:r>
              <a:rPr lang="en-US" altLang="zh-CN" sz="3200" b="1" dirty="0">
                <a:latin typeface="Times New Roman" panose="02020603050405020304" charset="0"/>
                <a:ea typeface="宋体" panose="02010600030101010101" pitchFamily="2" charset="-122"/>
              </a:rPr>
              <a:t>1&gt;[,&lt;</a:t>
            </a:r>
            <a:r>
              <a:rPr lang="zh-CN" altLang="en-US" sz="3200" b="1" dirty="0">
                <a:latin typeface="Times New Roman" panose="02020603050405020304" charset="0"/>
                <a:ea typeface="宋体" panose="02010600030101010101" pitchFamily="2" charset="-122"/>
              </a:rPr>
              <a:t>属性列</a:t>
            </a:r>
            <a:r>
              <a:rPr lang="en-US" altLang="zh-CN" sz="3200" b="1" dirty="0">
                <a:latin typeface="Times New Roman" panose="02020603050405020304" charset="0"/>
                <a:ea typeface="宋体" panose="02010600030101010101" pitchFamily="2" charset="-122"/>
              </a:rPr>
              <a:t>2&gt;…)]</a:t>
            </a:r>
            <a:endParaRPr lang="en-US" altLang="zh-CN" sz="32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zh-CN" sz="3200" b="1" dirty="0">
                <a:latin typeface="Times New Roman" panose="02020603050405020304" charset="0"/>
                <a:ea typeface="宋体" panose="02010600030101010101" pitchFamily="2" charset="-122"/>
              </a:rPr>
              <a:t>      </a:t>
            </a:r>
            <a:r>
              <a:rPr lang="zh-CN" altLang="en-US" sz="3200" b="1" dirty="0">
                <a:latin typeface="Times New Roman" panose="02020603050405020304" charset="0"/>
                <a:ea typeface="宋体" panose="02010600030101010101" pitchFamily="2" charset="-122"/>
              </a:rPr>
              <a:t>子查询；</a:t>
            </a:r>
            <a:endParaRPr lang="zh-CN" altLang="en-US" sz="32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endParaRPr lang="zh-CN" altLang="en-US" sz="3200" b="1" dirty="0">
              <a:solidFill>
                <a:schemeClr val="folHlink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UPDATE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869774" y="2726161"/>
            <a:ext cx="10548372" cy="4915746"/>
          </a:xfrm>
        </p:spPr>
        <p:txBody>
          <a:bodyPr>
            <a:normAutofit/>
          </a:bodyPr>
          <a:lstStyle/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charset="0"/>
                <a:ea typeface="宋体" panose="02010600030101010101" pitchFamily="2" charset="-122"/>
              </a:rPr>
              <a:t>修改数据</a:t>
            </a:r>
            <a:endParaRPr lang="zh-CN" altLang="en-US" sz="3200" b="1" dirty="0">
              <a:solidFill>
                <a:schemeClr val="folHlink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chemeClr val="hlink"/>
                </a:solidFill>
                <a:latin typeface="Times New Roman" panose="02020603050405020304" charset="0"/>
                <a:ea typeface="宋体" panose="02010600030101010101" pitchFamily="2" charset="-122"/>
              </a:rPr>
              <a:t>格式：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UPDATE</a:t>
            </a:r>
            <a:r>
              <a:rPr lang="en-US" altLang="zh-CN" sz="3200" b="1" dirty="0">
                <a:latin typeface="Times New Roman" panose="02020603050405020304" charset="0"/>
                <a:ea typeface="宋体" panose="02010600030101010101" pitchFamily="2" charset="-122"/>
              </a:rPr>
              <a:t> &lt;</a:t>
            </a:r>
            <a:r>
              <a:rPr lang="zh-CN" altLang="en-US" sz="3200" b="1" dirty="0">
                <a:latin typeface="Times New Roman" panose="02020603050405020304" charset="0"/>
                <a:ea typeface="宋体" panose="02010600030101010101" pitchFamily="2" charset="-122"/>
              </a:rPr>
              <a:t>表名</a:t>
            </a:r>
            <a:r>
              <a:rPr lang="en-US" altLang="zh-CN" sz="3200" b="1" dirty="0">
                <a:latin typeface="Times New Roman" panose="02020603050405020304" charset="0"/>
                <a:ea typeface="宋体" panose="02010600030101010101" pitchFamily="2" charset="-122"/>
              </a:rPr>
              <a:t>&gt;</a:t>
            </a:r>
            <a:endParaRPr lang="en-US" altLang="zh-CN" sz="32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      SET </a:t>
            </a:r>
            <a:r>
              <a:rPr lang="en-US" altLang="zh-CN" sz="3200" b="1" dirty="0">
                <a:latin typeface="Times New Roman" panose="02020603050405020304" charset="0"/>
                <a:ea typeface="宋体" panose="02010600030101010101" pitchFamily="2" charset="-122"/>
              </a:rPr>
              <a:t>&lt;</a:t>
            </a:r>
            <a:r>
              <a:rPr lang="zh-CN" altLang="en-US" sz="3200" b="1" dirty="0">
                <a:latin typeface="Times New Roman" panose="02020603050405020304" charset="0"/>
                <a:ea typeface="宋体" panose="02010600030101010101" pitchFamily="2" charset="-122"/>
              </a:rPr>
              <a:t>列名</a:t>
            </a:r>
            <a:r>
              <a:rPr lang="en-US" altLang="zh-CN" sz="3200" b="1" dirty="0">
                <a:latin typeface="Times New Roman" panose="02020603050405020304" charset="0"/>
                <a:ea typeface="宋体" panose="02010600030101010101" pitchFamily="2" charset="-122"/>
              </a:rPr>
              <a:t>&gt;=&lt;</a:t>
            </a:r>
            <a:r>
              <a:rPr lang="zh-CN" altLang="en-US" sz="3200" b="1" dirty="0">
                <a:latin typeface="Times New Roman" panose="02020603050405020304" charset="0"/>
                <a:ea typeface="宋体" panose="02010600030101010101" pitchFamily="2" charset="-122"/>
              </a:rPr>
              <a:t>表达式</a:t>
            </a:r>
            <a:r>
              <a:rPr lang="en-US" altLang="zh-CN" sz="3200" b="1" dirty="0">
                <a:latin typeface="Times New Roman" panose="02020603050405020304" charset="0"/>
                <a:ea typeface="宋体" panose="02010600030101010101" pitchFamily="2" charset="-122"/>
              </a:rPr>
              <a:t>&gt;[,&lt;</a:t>
            </a:r>
            <a:r>
              <a:rPr lang="zh-CN" altLang="en-US" sz="3200" b="1" dirty="0">
                <a:latin typeface="Times New Roman" panose="02020603050405020304" charset="0"/>
                <a:ea typeface="宋体" panose="02010600030101010101" pitchFamily="2" charset="-122"/>
              </a:rPr>
              <a:t>列名</a:t>
            </a:r>
            <a:r>
              <a:rPr lang="en-US" altLang="zh-CN" sz="3200" b="1" dirty="0">
                <a:latin typeface="Times New Roman" panose="02020603050405020304" charset="0"/>
                <a:ea typeface="宋体" panose="02010600030101010101" pitchFamily="2" charset="-122"/>
              </a:rPr>
              <a:t>&gt;=&lt;</a:t>
            </a:r>
            <a:r>
              <a:rPr lang="zh-CN" altLang="en-US" sz="3200" b="1" dirty="0">
                <a:latin typeface="Times New Roman" panose="02020603050405020304" charset="0"/>
                <a:ea typeface="宋体" panose="02010600030101010101" pitchFamily="2" charset="-122"/>
              </a:rPr>
              <a:t>表达式</a:t>
            </a:r>
            <a:r>
              <a:rPr lang="en-US" altLang="zh-CN" sz="3200" b="1" dirty="0">
                <a:latin typeface="Times New Roman" panose="02020603050405020304" charset="0"/>
                <a:ea typeface="宋体" panose="02010600030101010101" pitchFamily="2" charset="-122"/>
              </a:rPr>
              <a:t>&gt;]…</a:t>
            </a:r>
            <a:endParaRPr lang="en-US" altLang="zh-CN" sz="32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zh-CN" sz="3200" b="1" dirty="0">
                <a:latin typeface="Times New Roman" panose="02020603050405020304" charset="0"/>
                <a:ea typeface="宋体" panose="02010600030101010101" pitchFamily="2" charset="-122"/>
              </a:rPr>
              <a:t>      [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WHERE</a:t>
            </a:r>
            <a:r>
              <a:rPr lang="en-US" altLang="zh-CN" sz="3200" b="1" dirty="0">
                <a:latin typeface="Times New Roman" panose="02020603050405020304" charset="0"/>
                <a:ea typeface="宋体" panose="02010600030101010101" pitchFamily="2" charset="-122"/>
              </a:rPr>
              <a:t> &lt;</a:t>
            </a:r>
            <a:r>
              <a:rPr lang="zh-CN" altLang="en-US" sz="3200" b="1" dirty="0">
                <a:latin typeface="Times New Roman" panose="02020603050405020304" charset="0"/>
                <a:ea typeface="宋体" panose="02010600030101010101" pitchFamily="2" charset="-122"/>
              </a:rPr>
              <a:t>条件</a:t>
            </a:r>
            <a:r>
              <a:rPr lang="en-US" altLang="zh-CN" sz="3200" b="1" dirty="0">
                <a:latin typeface="Times New Roman" panose="02020603050405020304" charset="0"/>
                <a:ea typeface="宋体" panose="02010600030101010101" pitchFamily="2" charset="-122"/>
              </a:rPr>
              <a:t>&gt;];</a:t>
            </a:r>
            <a:br>
              <a:rPr lang="en-US" altLang="zh-CN" sz="3200" b="1" dirty="0">
                <a:latin typeface="Times New Roman" panose="02020603050405020304" charset="0"/>
                <a:ea typeface="宋体" panose="02010600030101010101" pitchFamily="2" charset="-122"/>
              </a:rPr>
            </a:br>
            <a:br>
              <a:rPr lang="en-US" altLang="zh-CN" sz="3200" b="1" dirty="0">
                <a:latin typeface="Times New Roman" panose="02020603050405020304" charset="0"/>
                <a:ea typeface="宋体" panose="02010600030101010101" pitchFamily="2" charset="-122"/>
              </a:rPr>
            </a:br>
            <a:r>
              <a:rPr lang="en-US" altLang="zh-CN" sz="3200" b="1" dirty="0">
                <a:latin typeface="Times New Roman" panose="02020603050405020304" charset="0"/>
                <a:ea typeface="宋体" panose="02010600030101010101" pitchFamily="2" charset="-122"/>
              </a:rPr>
              <a:t>      update &lt;</a:t>
            </a:r>
            <a:r>
              <a:rPr lang="en-US" altLang="zh-CN" sz="3200" b="1" dirty="0" err="1">
                <a:latin typeface="Times New Roman" panose="02020603050405020304" charset="0"/>
                <a:ea typeface="宋体" panose="02010600030101010101" pitchFamily="2" charset="-122"/>
              </a:rPr>
              <a:t>table_name</a:t>
            </a:r>
            <a:r>
              <a:rPr lang="en-US" altLang="zh-CN" sz="3200" b="1" dirty="0">
                <a:latin typeface="Times New Roman" panose="02020603050405020304" charset="0"/>
                <a:ea typeface="宋体" panose="02010600030101010101" pitchFamily="2" charset="-122"/>
              </a:rPr>
              <a:t>&gt; set &lt;column1,column2…&gt;= sub selection </a:t>
            </a:r>
            <a:br>
              <a:rPr lang="en-US" altLang="zh-CN" sz="3200" b="1" dirty="0">
                <a:latin typeface="Times New Roman" panose="02020603050405020304" charset="0"/>
                <a:ea typeface="宋体" panose="02010600030101010101" pitchFamily="2" charset="-122"/>
              </a:rPr>
            </a:br>
            <a:r>
              <a:rPr lang="en-US" altLang="zh-CN" sz="3200" b="1" dirty="0">
                <a:latin typeface="Times New Roman" panose="02020603050405020304" charset="0"/>
                <a:ea typeface="宋体" panose="02010600030101010101" pitchFamily="2" charset="-122"/>
              </a:rPr>
              <a:t>	[where&lt;condition&gt;]</a:t>
            </a:r>
            <a:endParaRPr lang="en-US" altLang="zh-CN" sz="32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endParaRPr lang="en-US" altLang="zh-CN" sz="3200" b="1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DELETE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869774" y="2726161"/>
            <a:ext cx="10548372" cy="4915746"/>
          </a:xfrm>
        </p:spPr>
        <p:txBody>
          <a:bodyPr>
            <a:normAutofit/>
          </a:bodyPr>
          <a:lstStyle/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charset="0"/>
                <a:ea typeface="宋体" panose="02010600030101010101" pitchFamily="2" charset="-122"/>
              </a:rPr>
              <a:t>删除数据</a:t>
            </a:r>
            <a:endParaRPr lang="zh-CN" altLang="en-US" sz="3200" b="1" dirty="0">
              <a:solidFill>
                <a:schemeClr val="folHlink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chemeClr val="hlink"/>
                </a:solidFill>
                <a:latin typeface="Times New Roman" panose="02020603050405020304" charset="0"/>
                <a:ea typeface="宋体" panose="02010600030101010101" pitchFamily="2" charset="-122"/>
              </a:rPr>
              <a:t>格式：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DELETE 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zh-CN" sz="3200" b="1" dirty="0">
                <a:latin typeface="Times New Roman" panose="02020603050405020304" charset="0"/>
                <a:ea typeface="宋体" panose="02010600030101010101" pitchFamily="2" charset="-122"/>
              </a:rPr>
              <a:t>    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FROM</a:t>
            </a:r>
            <a:r>
              <a:rPr lang="en-US" altLang="zh-CN" sz="3200" b="1" dirty="0">
                <a:latin typeface="Times New Roman" panose="02020603050405020304" charset="0"/>
                <a:ea typeface="宋体" panose="02010600030101010101" pitchFamily="2" charset="-122"/>
              </a:rPr>
              <a:t> &lt;</a:t>
            </a:r>
            <a:r>
              <a:rPr lang="zh-CN" altLang="en-US" sz="3200" b="1" dirty="0">
                <a:latin typeface="Times New Roman" panose="02020603050405020304" charset="0"/>
                <a:ea typeface="宋体" panose="02010600030101010101" pitchFamily="2" charset="-122"/>
              </a:rPr>
              <a:t>表名</a:t>
            </a:r>
            <a:r>
              <a:rPr lang="en-US" altLang="zh-CN" sz="3200" b="1" dirty="0">
                <a:latin typeface="Times New Roman" panose="02020603050405020304" charset="0"/>
                <a:ea typeface="宋体" panose="02010600030101010101" pitchFamily="2" charset="-122"/>
              </a:rPr>
              <a:t>&gt;</a:t>
            </a:r>
            <a:endParaRPr lang="en-US" altLang="zh-CN" sz="32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zh-CN" sz="3200" b="1" dirty="0">
                <a:latin typeface="Times New Roman" panose="02020603050405020304" charset="0"/>
                <a:ea typeface="宋体" panose="02010600030101010101" pitchFamily="2" charset="-122"/>
              </a:rPr>
              <a:t>      [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WHERE</a:t>
            </a:r>
            <a:r>
              <a:rPr lang="en-US" altLang="zh-CN" sz="3200" b="1" dirty="0">
                <a:latin typeface="Times New Roman" panose="02020603050405020304" charset="0"/>
                <a:ea typeface="宋体" panose="02010600030101010101" pitchFamily="2" charset="-122"/>
              </a:rPr>
              <a:t> &lt;</a:t>
            </a:r>
            <a:r>
              <a:rPr lang="zh-CN" altLang="en-US" sz="3200" b="1" dirty="0">
                <a:latin typeface="Times New Roman" panose="02020603050405020304" charset="0"/>
                <a:ea typeface="宋体" panose="02010600030101010101" pitchFamily="2" charset="-122"/>
              </a:rPr>
              <a:t>条件</a:t>
            </a:r>
            <a:r>
              <a:rPr lang="en-US" altLang="zh-CN" sz="3200" b="1" dirty="0">
                <a:latin typeface="Times New Roman" panose="02020603050405020304" charset="0"/>
                <a:ea typeface="宋体" panose="02010600030101010101" pitchFamily="2" charset="-122"/>
              </a:rPr>
              <a:t>&gt;];</a:t>
            </a:r>
            <a:endParaRPr lang="en-US" altLang="zh-CN" sz="3200" b="1" dirty="0">
              <a:solidFill>
                <a:schemeClr val="hlink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endParaRPr lang="en-US" altLang="zh-CN" sz="3200" b="1" dirty="0">
              <a:solidFill>
                <a:schemeClr val="hlink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VIEW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767080" y="1402080"/>
            <a:ext cx="11879580" cy="5735320"/>
          </a:xfrm>
        </p:spPr>
        <p:txBody>
          <a:bodyPr>
            <a:noAutofit/>
          </a:bodyPr>
          <a:lstStyle/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charset="0"/>
                <a:ea typeface="宋体" panose="02010600030101010101" pitchFamily="2" charset="-122"/>
              </a:rPr>
              <a:t>创建与使用视图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1. </a:t>
            </a: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</a:rPr>
              <a:t>创建视图</a:t>
            </a:r>
            <a:endParaRPr lang="zh-CN" altLang="en-US" sz="28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</a:rPr>
              <a:t>一般格式：</a:t>
            </a:r>
            <a:endParaRPr lang="zh-CN" altLang="en-US" sz="28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hlink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</a:rPr>
              <a:t>   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CREATE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 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VIEW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  &lt;</a:t>
            </a: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</a:rPr>
              <a:t>视图名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&gt;  [(&lt;</a:t>
            </a: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</a:rPr>
              <a:t>视图列名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&gt;[,&lt;</a:t>
            </a: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</a:rPr>
              <a:t>视图列名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&gt;]…)]  </a:t>
            </a:r>
            <a:endParaRPr lang="en-US" altLang="zh-CN" sz="28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hlink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   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AS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 &lt;</a:t>
            </a: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charset="0"/>
                <a:ea typeface="宋体" panose="02010600030101010101" pitchFamily="2" charset="-122"/>
              </a:rPr>
              <a:t>子查询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&gt;</a:t>
            </a:r>
            <a:endParaRPr lang="en-US" altLang="zh-CN" sz="28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hlink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    [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WITH  CHECK  OPTION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]</a:t>
            </a: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</a:rPr>
              <a:t>；</a:t>
            </a:r>
            <a:endParaRPr lang="zh-CN" altLang="en-US" sz="28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hlink"/>
              </a:buClr>
              <a:buFont typeface="Wingdings" panose="05000000000000000000" pitchFamily="2" charset="2"/>
              <a:buNone/>
              <a:defRPr/>
            </a:pPr>
            <a:endParaRPr lang="zh-CN" altLang="en-US" sz="28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</a:rPr>
              <a:t>其中：子查询可以是任意复杂的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SELECT</a:t>
            </a: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</a:rPr>
              <a:t>语句，但通常不允许含有</a:t>
            </a:r>
            <a:endParaRPr lang="en-US" altLang="zh-CN" sz="28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ORDER BY</a:t>
            </a: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</a:rPr>
              <a:t>子句和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DISTINCT</a:t>
            </a: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</a:rPr>
              <a:t>短语。 </a:t>
            </a:r>
            <a:b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</a:rPr>
            </a:b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WITH CHECK OPTION</a:t>
            </a: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</a:rPr>
              <a:t>表示对视图进行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UPDATE</a:t>
            </a: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</a:rPr>
              <a:t>、 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INSERT</a:t>
            </a: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</a:rPr>
              <a:t>和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DELETE</a:t>
            </a:r>
            <a:endParaRPr lang="en-US" altLang="zh-CN" sz="28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</a:rPr>
              <a:t>操作时要保证更新、插入或删除的行满足视图定义中的谓词条件（即子</a:t>
            </a:r>
            <a:endParaRPr lang="en-US" altLang="zh-CN" sz="28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</a:rPr>
              <a:t>查询中的条件表达式）。</a:t>
            </a:r>
            <a:b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</a:rPr>
            </a:br>
            <a:endParaRPr lang="zh-CN" altLang="en-US" sz="28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charset="0"/>
                <a:ea typeface="宋体" panose="02010600030101010101" pitchFamily="2" charset="-122"/>
              </a:rPr>
              <a:t>作用：</a:t>
            </a:r>
            <a:endParaRPr lang="zh-CN" altLang="en-US" sz="2800" b="1" dirty="0">
              <a:solidFill>
                <a:schemeClr val="hlink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</a:rPr>
              <a:t>   </a:t>
            </a:r>
            <a:r>
              <a:rPr lang="zh-CN" altLang="en-US" sz="2800" dirty="0">
                <a:latin typeface="Times New Roman" panose="02020603050405020304" charset="0"/>
                <a:ea typeface="宋体" panose="02010600030101010101" pitchFamily="2" charset="-122"/>
              </a:rPr>
              <a:t>命名一个视图，</a:t>
            </a:r>
            <a:r>
              <a:rPr lang="en-US" altLang="zh-CN" sz="2800" dirty="0">
                <a:latin typeface="Times New Roman" panose="02020603050405020304" charset="0"/>
                <a:ea typeface="宋体" panose="02010600030101010101" pitchFamily="2" charset="-122"/>
              </a:rPr>
              <a:t>AS</a:t>
            </a:r>
            <a:r>
              <a:rPr lang="zh-CN" altLang="en-US" sz="2800" dirty="0">
                <a:latin typeface="Times New Roman" panose="02020603050405020304" charset="0"/>
                <a:ea typeface="宋体" panose="02010600030101010101" pitchFamily="2" charset="-122"/>
              </a:rPr>
              <a:t>子句定义每次查看视图时将看到的数据，在任何</a:t>
            </a:r>
            <a:endParaRPr lang="zh-CN" altLang="en-US" sz="28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en-US" altLang="zh-CN" sz="28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en-US" sz="2800" dirty="0">
                <a:latin typeface="Times New Roman" panose="02020603050405020304" charset="0"/>
                <a:ea typeface="宋体" panose="02010600030101010101" pitchFamily="2" charset="-122"/>
              </a:rPr>
              <a:t>   时刻，视图的数据由对其查询定义求值的结果行构成。</a:t>
            </a:r>
            <a:endParaRPr lang="zh-CN" altLang="en-US" sz="28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VIEW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767363" y="2136528"/>
            <a:ext cx="11060429" cy="5735037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charset="0"/>
                <a:ea typeface="宋体" panose="02010600030101010101" pitchFamily="2" charset="-122"/>
              </a:rPr>
              <a:t>删除视图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endParaRPr lang="zh-CN" altLang="en-US" sz="32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3200" b="1" dirty="0">
                <a:latin typeface="Times New Roman" panose="02020603050405020304" charset="0"/>
                <a:ea typeface="宋体" panose="02010600030101010101" pitchFamily="2" charset="-122"/>
              </a:rPr>
              <a:t>DROP VIEW &lt;</a:t>
            </a:r>
            <a:r>
              <a:rPr lang="zh-CN" altLang="en-US" sz="3200" b="1" dirty="0">
                <a:latin typeface="Times New Roman" panose="02020603050405020304" charset="0"/>
                <a:ea typeface="宋体" panose="02010600030101010101" pitchFamily="2" charset="-122"/>
              </a:rPr>
              <a:t>视图名</a:t>
            </a:r>
            <a:r>
              <a:rPr lang="en-US" altLang="zh-CN" sz="3200" b="1" dirty="0">
                <a:latin typeface="Times New Roman" panose="02020603050405020304" charset="0"/>
                <a:ea typeface="宋体" panose="02010600030101010101" pitchFamily="2" charset="-122"/>
              </a:rPr>
              <a:t>&gt;</a:t>
            </a:r>
            <a:endParaRPr lang="en-US" altLang="zh-CN" sz="32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3200" b="1" dirty="0">
                <a:latin typeface="Times New Roman" panose="02020603050405020304" charset="0"/>
                <a:ea typeface="宋体" panose="02010600030101010101" pitchFamily="2" charset="-122"/>
              </a:rPr>
              <a:t>[CASCADE | RESTRICT]</a:t>
            </a:r>
            <a:r>
              <a:rPr lang="en-US" altLang="zh-CN" sz="3200" dirty="0">
                <a:latin typeface="Times New Roman" panose="02020603050405020304" charset="0"/>
                <a:ea typeface="宋体" panose="02010600030101010101" pitchFamily="2" charset="-122"/>
              </a:rPr>
              <a:t>    </a:t>
            </a:r>
            <a:endParaRPr lang="en-US" altLang="zh-CN" sz="32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200" b="1" dirty="0">
                <a:solidFill>
                  <a:schemeClr val="hlink"/>
                </a:solidFill>
                <a:latin typeface="Times New Roman" panose="02020603050405020304" charset="0"/>
                <a:ea typeface="宋体" panose="02010600030101010101" pitchFamily="2" charset="-122"/>
              </a:rPr>
              <a:t>注意</a:t>
            </a:r>
            <a:r>
              <a:rPr lang="zh-CN" altLang="en-US" sz="3200" dirty="0">
                <a:latin typeface="Times New Roman" panose="02020603050405020304" charset="0"/>
                <a:ea typeface="宋体" panose="02010600030101010101" pitchFamily="2" charset="-122"/>
              </a:rPr>
              <a:t>：</a:t>
            </a:r>
            <a:endParaRPr lang="zh-CN" altLang="en-US" sz="32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eaLnBrk="1" fontAlgn="auto" hangingPunct="1">
              <a:spcBef>
                <a:spcPct val="10000"/>
              </a:spcBef>
              <a:spcAft>
                <a:spcPts val="0"/>
              </a:spcAft>
              <a:defRPr/>
            </a:pPr>
            <a:r>
              <a:rPr lang="zh-CN" altLang="en-US" sz="3200" b="1" dirty="0">
                <a:latin typeface="Times New Roman" panose="02020603050405020304" charset="0"/>
                <a:ea typeface="宋体" panose="02010600030101010101" pitchFamily="2" charset="-122"/>
              </a:rPr>
              <a:t>视图删除后，视图的定义将从数据字典中自动删除。但要删除该视图导出的其他视图应用</a:t>
            </a:r>
            <a:r>
              <a:rPr lang="en-US" altLang="zh-CN" sz="3200" b="1" dirty="0">
                <a:solidFill>
                  <a:srgbClr val="8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CASCADE </a:t>
            </a:r>
            <a:r>
              <a:rPr lang="zh-CN" altLang="en-US" sz="3200" b="1" dirty="0">
                <a:solidFill>
                  <a:srgbClr val="8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。</a:t>
            </a:r>
            <a:endParaRPr lang="en-US" altLang="zh-CN" sz="3200" b="1" dirty="0">
              <a:solidFill>
                <a:srgbClr val="80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  <a:p>
            <a:pPr eaLnBrk="1" fontAlgn="auto" hangingPunct="1">
              <a:spcBef>
                <a:spcPct val="10000"/>
              </a:spcBef>
              <a:spcAft>
                <a:spcPts val="0"/>
              </a:spcAft>
              <a:defRPr/>
            </a:pPr>
            <a:endParaRPr lang="en-US" altLang="zh-CN" sz="3200" b="1" dirty="0">
              <a:solidFill>
                <a:srgbClr val="80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  <a:p>
            <a:pPr eaLnBrk="1" fontAlgn="auto" hangingPunct="1">
              <a:spcBef>
                <a:spcPct val="10000"/>
              </a:spcBef>
              <a:spcAft>
                <a:spcPts val="0"/>
              </a:spcAft>
              <a:defRPr/>
            </a:pPr>
            <a:endParaRPr lang="en-US" altLang="zh-CN" sz="3200" b="1" dirty="0">
              <a:solidFill>
                <a:srgbClr val="80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charset="0"/>
                <a:ea typeface="宋体" panose="02010600030101010101" pitchFamily="2" charset="-122"/>
              </a:rPr>
              <a:t>查询视图</a:t>
            </a:r>
            <a:endParaRPr lang="zh-CN" altLang="en-US" sz="3200" b="1" dirty="0">
              <a:solidFill>
                <a:schemeClr val="folHlink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200" b="1" dirty="0">
                <a:latin typeface="Times New Roman" panose="02020603050405020304" charset="0"/>
                <a:ea typeface="宋体" panose="02010600030101010101" pitchFamily="2" charset="-122"/>
              </a:rPr>
              <a:t>视图定义后，用户就可以象对基本表进行查询一样对视图进行查询了。</a:t>
            </a:r>
            <a:endParaRPr lang="zh-CN" altLang="en-US" sz="32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eaLnBrk="1" fontAlgn="auto" hangingPunct="1">
              <a:spcAft>
                <a:spcPts val="0"/>
              </a:spcAft>
              <a:defRPr/>
            </a:pPr>
            <a:endParaRPr lang="zh-CN" altLang="en-US" sz="3200" b="1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VIEW</a:t>
            </a:r>
            <a:r>
              <a:rPr lang="zh-CN" altLang="en-US" dirty="0"/>
              <a:t>举例</a:t>
            </a:r>
            <a:endParaRPr lang="zh-CN" altLang="en-US" dirty="0"/>
          </a:p>
        </p:txBody>
      </p:sp>
      <p:pic>
        <p:nvPicPr>
          <p:cNvPr id="6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59730" y="2316516"/>
            <a:ext cx="9685338" cy="597210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实验</a:t>
            </a:r>
            <a:r>
              <a:rPr lang="zh-CN" altLang="en-US" dirty="0"/>
              <a:t>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717" y="1269262"/>
            <a:ext cx="12186954" cy="7215540"/>
          </a:xfrm>
        </p:spPr>
        <p:txBody>
          <a:bodyPr>
            <a:normAutofit/>
          </a:bodyPr>
          <a:lstStyle/>
          <a:p>
            <a:pPr indent="0" algn="just" defTabSz="914400">
              <a:buNone/>
            </a:pPr>
            <a:r>
              <a:rPr lang="en-US" altLang="zh-CN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1</a:t>
            </a:r>
            <a:r>
              <a:rPr lang="zh-CN" altLang="en-US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、参照下表中内容，在数据库中建立教学管理系统相关数据表。</a:t>
            </a:r>
            <a:endParaRPr lang="zh-CN" altLang="en-US" sz="300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pic>
        <p:nvPicPr>
          <p:cNvPr id="4" name="内容占位符 3"/>
          <p:cNvPicPr>
            <a:picLocks noChangeAspect="1"/>
          </p:cNvPicPr>
          <p:nvPr/>
        </p:nvPicPr>
        <p:blipFill>
          <a:blip r:embed="rId1"/>
          <a:srcRect t="868" b="1342"/>
          <a:stretch>
            <a:fillRect/>
          </a:stretch>
        </p:blipFill>
        <p:spPr>
          <a:xfrm>
            <a:off x="2241550" y="1826895"/>
            <a:ext cx="8075295" cy="784669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实验</a:t>
            </a:r>
            <a:r>
              <a:rPr lang="zh-CN" altLang="en-US" dirty="0"/>
              <a:t>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3190" y="2145030"/>
            <a:ext cx="12594590" cy="6229985"/>
          </a:xfrm>
        </p:spPr>
        <p:txBody>
          <a:bodyPr>
            <a:noAutofit/>
          </a:bodyPr>
          <a:lstStyle/>
          <a:p>
            <a:pPr indent="0" algn="just" defTabSz="91440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2</a:t>
            </a:r>
            <a:r>
              <a:rPr lang="zh-CN" altLang="en-US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、使用比较运算符查询所有年龄在</a:t>
            </a:r>
            <a:r>
              <a:rPr lang="en-US" altLang="zh-CN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 21 </a:t>
            </a:r>
            <a:r>
              <a:rPr lang="zh-CN" altLang="en-US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岁以下的学生姓名及其年龄</a:t>
            </a:r>
            <a:endParaRPr lang="zh-CN" altLang="en-US" sz="320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0" algn="just" defTabSz="91440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3</a:t>
            </a:r>
            <a:r>
              <a:rPr lang="zh-CN" altLang="en-US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、查询选</a:t>
            </a:r>
            <a:r>
              <a:rPr lang="en-US" altLang="zh-CN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 2 </a:t>
            </a:r>
            <a:r>
              <a:rPr lang="zh-CN" altLang="en-US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号课程（</a:t>
            </a:r>
            <a:r>
              <a:rPr lang="en-US" altLang="zh-CN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C_no='2'</a:t>
            </a:r>
            <a:r>
              <a:rPr lang="zh-CN" altLang="en-US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）且成绩在</a:t>
            </a:r>
            <a:r>
              <a:rPr lang="en-US" altLang="zh-CN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 80--90 </a:t>
            </a:r>
            <a:r>
              <a:rPr lang="zh-CN" altLang="en-US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的学号</a:t>
            </a:r>
            <a:endParaRPr lang="zh-CN" altLang="en-US" sz="320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0" algn="just" defTabSz="91440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4</a:t>
            </a:r>
            <a:r>
              <a:rPr lang="zh-CN" altLang="en-US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、查询姓名第二个字母是</a:t>
            </a:r>
            <a:r>
              <a:rPr lang="en-US" altLang="zh-CN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'e'</a:t>
            </a:r>
            <a:r>
              <a:rPr lang="zh-CN" altLang="en-US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的学生姓名</a:t>
            </a:r>
            <a:endParaRPr lang="zh-CN" altLang="en-US" sz="320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0" algn="just" defTabSz="91440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5</a:t>
            </a:r>
            <a:r>
              <a:rPr lang="zh-CN" altLang="en-US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、查询全体男学生的学号、系、年龄结果按所在的系升序排列，同一系中的学生按年龄降序排列</a:t>
            </a:r>
            <a:endParaRPr lang="zh-CN" altLang="en-US" sz="320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0" algn="just" defTabSz="91440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6</a:t>
            </a:r>
            <a:r>
              <a:rPr lang="zh-CN" altLang="en-US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、查询女学生的总人数和平均年龄</a:t>
            </a:r>
            <a:endParaRPr lang="zh-CN" altLang="en-US" sz="320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0" algn="just" defTabSz="91440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7、</a:t>
            </a:r>
            <a:r>
              <a:rPr lang="zh-CN" altLang="en-US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查询选修</a:t>
            </a:r>
            <a:r>
              <a:rPr lang="en-US" altLang="zh-CN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 2 </a:t>
            </a:r>
            <a:r>
              <a:rPr lang="zh-CN" altLang="en-US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号课程并及格（分数大于</a:t>
            </a:r>
            <a:r>
              <a:rPr lang="en-US" altLang="zh-CN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 60</a:t>
            </a:r>
            <a:r>
              <a:rPr lang="zh-CN" altLang="en-US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）的学生的最高分、最低分及总分</a:t>
            </a:r>
            <a:endParaRPr lang="zh-CN" altLang="en-US" sz="320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实验</a:t>
            </a:r>
            <a:r>
              <a:rPr lang="zh-CN" altLang="en-US" dirty="0"/>
              <a:t>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63195" y="2514600"/>
            <a:ext cx="12679045" cy="5637530"/>
          </a:xfrm>
        </p:spPr>
        <p:txBody>
          <a:bodyPr>
            <a:noAutofit/>
          </a:bodyPr>
          <a:lstStyle/>
          <a:p>
            <a:pPr indent="0" algn="just" defTabSz="91440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8、</a:t>
            </a:r>
            <a:r>
              <a:rPr lang="zh-CN" altLang="en-US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向</a:t>
            </a:r>
            <a:r>
              <a:rPr lang="en-US" altLang="zh-CN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 scores </a:t>
            </a:r>
            <a:r>
              <a:rPr lang="zh-CN" altLang="en-US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表中插入一条记录（</a:t>
            </a:r>
            <a:r>
              <a:rPr lang="en-US" altLang="zh-CN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200266666,1,85</a:t>
            </a:r>
            <a:r>
              <a:rPr lang="zh-CN" altLang="en-US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）</a:t>
            </a:r>
            <a:endParaRPr lang="zh-CN" altLang="en-US" sz="320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0" algn="just" defTabSz="91440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9、</a:t>
            </a:r>
            <a:r>
              <a:rPr lang="zh-CN" altLang="en-US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求每个学生（号）的平均成绩，并将其超过</a:t>
            </a:r>
            <a:r>
              <a:rPr lang="en-US" altLang="zh-CN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 70 </a:t>
            </a:r>
            <a:r>
              <a:rPr lang="zh-CN" altLang="en-US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分的按学号输出</a:t>
            </a:r>
            <a:endParaRPr lang="zh-CN" altLang="en-US" sz="320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0" algn="just" defTabSz="91440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10、</a:t>
            </a:r>
            <a:r>
              <a:rPr lang="zh-CN" altLang="en-US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查询选修了课程</a:t>
            </a:r>
            <a:r>
              <a:rPr lang="en-US" altLang="zh-CN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 1 </a:t>
            </a:r>
            <a:r>
              <a:rPr lang="zh-CN" altLang="en-US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或者选修了课程</a:t>
            </a:r>
            <a:r>
              <a:rPr lang="en-US" altLang="zh-CN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 3 </a:t>
            </a:r>
            <a:r>
              <a:rPr lang="zh-CN" altLang="en-US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的学生姓名</a:t>
            </a:r>
            <a:endParaRPr lang="zh-CN" altLang="en-US" sz="320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0" algn="just" defTabSz="91440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11、</a:t>
            </a:r>
            <a:r>
              <a:rPr lang="zh-CN" altLang="en-US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查询既选修了课程</a:t>
            </a:r>
            <a:r>
              <a:rPr lang="en-US" altLang="zh-CN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 1 </a:t>
            </a:r>
            <a:r>
              <a:rPr lang="zh-CN" altLang="en-US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又选修了课程</a:t>
            </a:r>
            <a:r>
              <a:rPr lang="en-US" altLang="zh-CN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 2 </a:t>
            </a:r>
            <a:r>
              <a:rPr lang="zh-CN" altLang="en-US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的学生姓名</a:t>
            </a:r>
            <a:endParaRPr lang="zh-CN" altLang="en-US" sz="320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0" algn="just" defTabSz="91440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12、</a:t>
            </a:r>
            <a:r>
              <a:rPr lang="zh-CN" altLang="en-US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查询选修</a:t>
            </a:r>
            <a:r>
              <a:rPr lang="en-US" altLang="zh-CN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 Database </a:t>
            </a:r>
            <a:r>
              <a:rPr lang="zh-CN" altLang="en-US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这门课最高分学生所在的系名</a:t>
            </a:r>
            <a:endParaRPr lang="zh-CN" altLang="en-US" sz="320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0" algn="just" defTabSz="91440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13、</a:t>
            </a:r>
            <a:r>
              <a:rPr lang="zh-CN" altLang="en-US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建立一个包含学生学号，姓名，年龄，以及所在系名的视图（赋予列名为</a:t>
            </a:r>
            <a:r>
              <a:rPr lang="en-US" altLang="zh-CN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sno,sname,sage,deptname</a:t>
            </a:r>
            <a:r>
              <a:rPr lang="zh-CN" altLang="en-US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）【</a:t>
            </a:r>
            <a:r>
              <a:rPr lang="en-US" altLang="zh-CN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create view</a:t>
            </a:r>
            <a:r>
              <a:rPr lang="zh-CN" altLang="en-US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】</a:t>
            </a:r>
            <a:endParaRPr lang="zh-CN" altLang="en-US" sz="320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6585" y="23035"/>
            <a:ext cx="6500779" cy="744110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68275" y="7226300"/>
            <a:ext cx="12751435" cy="22790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https://www.oceanbase.com/docs/common-oceanbase-database-cn-1000000004475544</a:t>
            </a:r>
            <a:endParaRPr lang="en-US" altLang="zh-CN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https://mariadb.com/docs/server/mariadb-quickstart-guides/basics-guide</a:t>
            </a:r>
            <a:endParaRPr lang="en-US" altLang="zh-CN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请大家完成实验，有问题先去上面两个官方文档里找解决方案，没找到再在会议室里问</a:t>
            </a:r>
            <a:endParaRPr lang="en-US" altLang="zh-CN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实验报告的模板在实验准备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.zip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里面</a:t>
            </a:r>
            <a:endParaRPr lang="zh-CN" altLang="en-US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所有班级：请在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4/5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前，在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canvas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上提交实验报告</a:t>
            </a:r>
            <a:endParaRPr lang="zh-CN" altLang="en-US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2"/>
            <a:ext cx="3481987" cy="95825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4050" y="958215"/>
            <a:ext cx="4208145" cy="61010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3630" y="1008380"/>
            <a:ext cx="4288790" cy="6134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4471</Words>
  <Application>WPS 演示</Application>
  <PresentationFormat>自定义</PresentationFormat>
  <Paragraphs>263</Paragraphs>
  <Slides>25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7" baseType="lpstr">
      <vt:lpstr>Arial</vt:lpstr>
      <vt:lpstr>宋体</vt:lpstr>
      <vt:lpstr>Wingdings</vt:lpstr>
      <vt:lpstr>微软雅黑</vt:lpstr>
      <vt:lpstr>Heiti SC Medium</vt:lpstr>
      <vt:lpstr>黑体</vt:lpstr>
      <vt:lpstr>Arial Unicode MS</vt:lpstr>
      <vt:lpstr>Calibri</vt:lpstr>
      <vt:lpstr>等线</vt:lpstr>
      <vt:lpstr>Times New Roman</vt:lpstr>
      <vt:lpstr>Tahoma</vt:lpstr>
      <vt:lpstr>Office 主题​​</vt:lpstr>
      <vt:lpstr>PowerPoint 演示文稿</vt:lpstr>
      <vt:lpstr>DML语言实验</vt:lpstr>
      <vt:lpstr>DDL和DML</vt:lpstr>
      <vt:lpstr>SELECT</vt:lpstr>
      <vt:lpstr>SELECT</vt:lpstr>
      <vt:lpstr>SELECT</vt:lpstr>
      <vt:lpstr>SELECT-LIKE</vt:lpstr>
      <vt:lpstr>SELECT</vt:lpstr>
      <vt:lpstr>SELECT</vt:lpstr>
      <vt:lpstr>SELECT</vt:lpstr>
      <vt:lpstr>SELECT</vt:lpstr>
      <vt:lpstr>SELECT</vt:lpstr>
      <vt:lpstr>SELECT</vt:lpstr>
      <vt:lpstr>SELECT</vt:lpstr>
      <vt:lpstr>INSERT</vt:lpstr>
      <vt:lpstr>INSERT</vt:lpstr>
      <vt:lpstr>UPDATE</vt:lpstr>
      <vt:lpstr>DELETE</vt:lpstr>
      <vt:lpstr>VIEW</vt:lpstr>
      <vt:lpstr>VIEW</vt:lpstr>
      <vt:lpstr>VIEW举例</vt:lpstr>
      <vt:lpstr>实验过程</vt:lpstr>
      <vt:lpstr>实验内容</vt:lpstr>
      <vt:lpstr>实验内容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交互式SQL(DDL)</dc:title>
  <dc:creator>asud66</dc:creator>
  <cp:lastModifiedBy>ZJYZ</cp:lastModifiedBy>
  <cp:revision>78</cp:revision>
  <dcterms:created xsi:type="dcterms:W3CDTF">2019-10-12T11:44:00Z</dcterms:created>
  <dcterms:modified xsi:type="dcterms:W3CDTF">2026-03-26T07:41:11Z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3E1CD2BBA686431C97768CDCCA08CB6F_12</vt:lpwstr>
  </property>
  <property fmtid="{D5CDD505-2E9C-101B-9397-08002B2CF9AE}" pid="3" name="KSOProductBuildVer">
    <vt:lpwstr>2052-12.1.0.25225</vt:lpwstr>
  </property>
</Properties>
</file>