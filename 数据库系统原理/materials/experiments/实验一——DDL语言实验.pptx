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9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3004800" cy="9753600"/>
  <p:notesSz cx="6858000" cy="9144000"/>
  <p:defaultTextStyle>
    <a:defPPr>
      <a:defRPr lang="zh-CN"/>
    </a:defPPr>
    <a:lvl1pPr marL="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4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8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72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6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20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44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8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920" algn="l" defTabSz="1300480" rtl="false" eaLnBrk="true" latinLnBrk="false" hangingPunct="true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19629" autoAdjust="false"/>
    <p:restoredTop sz="93842" autoAdjust="false"/>
  </p:normalViewPr>
  <p:slideViewPr>
    <p:cSldViewPr snapToGrid="false">
      <p:cViewPr>
        <p:scale>
          <a:sx n="75" d="100"/>
          <a:sy n="75" d="100"/>
        </p:scale>
        <p:origin x="149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3" Type="http://schemas.openxmlformats.org/officeDocument/2006/relationships/slide" Target="slides/slide3.xml" /><Relationship Id="rId17" Type="http://schemas.openxmlformats.org/officeDocument/2006/relationships/presProps" Target="presProps.xml" /><Relationship Id="rId2" Type="http://schemas.openxmlformats.org/officeDocument/2006/relationships/slide" Target="slides/slide2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9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862C4076-FEB5-441C-9D19-C28296E5F21B}" type="datetimeFigureOut">
              <a:rPr lang="zh-CN" altLang="en-US" smtClean="false"/>
              <a:t>2026/3/24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en-US" altLang="zh-CN"/>
              <a:t>Click to edit Master text styles</a:t>
            </a:r>
            <a:endParaRPr/>
          </a:p>
          <a:p>
            <a:pPr lvl="1"/>
            <a:r>
              <a:rPr lang="en-US" altLang="zh-CN"/>
              <a:t>Second level</a:t>
            </a:r>
            <a:endParaRPr/>
          </a:p>
          <a:p>
            <a:pPr lvl="2"/>
            <a:r>
              <a:rPr lang="en-US" altLang="zh-CN"/>
              <a:t>Third level</a:t>
            </a:r>
            <a:endParaRPr/>
          </a:p>
          <a:p>
            <a:pPr lvl="3"/>
            <a:r>
              <a:rPr lang="en-US" altLang="zh-CN"/>
              <a:t>Fourth level</a:t>
            </a:r>
            <a:endParaRPr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A8C2E6E1-F492-4354-9348-52045CAB75AC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p/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false"/>
              <a:t>1</a:t>
            </a:fld>
            <a:endParaRPr lang="fi-FI" altLang="zh-CN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true" noRot="true" noChangeAspect="true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p/>
        </p:txBody>
      </p:sp>
      <p:sp>
        <p:nvSpPr>
          <p:cNvPr id="7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8" name="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false"/>
              <a:t>15</a:t>
            </a:fld>
            <a:endParaRPr lang="fi-FI" altLang="zh-CN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6D1C3D25-D777-4FE4-B115-16F55A657C90}" type="datetimeFigureOut">
              <a:rPr lang="zh-CN" altLang="en-US" smtClean="false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BC58BAA-A03D-4E09-A4B9-596B5667A1F1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p="http://schemas.openxmlformats.org/presentationml/2006/main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true"/>
          </p:cNvSpPr>
          <p:nvPr>
            <p:ph type="title"/>
          </p:nvPr>
        </p:nvSpPr>
        <p:spPr>
          <a:xfrm>
            <a:off x="0" y="-38946"/>
            <a:ext cx="13004800" cy="1209041"/>
          </a:xfrm>
          <a:prstGeom prst="rect">
            <a:avLst/>
          </a:prstGeom>
          <a:solidFill>
            <a:srgbClr val="0070C0"/>
          </a:solidFill>
        </p:spPr>
        <p:txBody>
          <a:bodyPr rtlCol="false">
            <a:noAutofit/>
          </a:bodyPr>
          <a:lstStyle>
            <a:lvl1pPr algn="l">
              <a:defRPr sz="4550" b="true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/>
            <a:r>
              <a:rPr lang="en-US" altLang="zh-CN" dirty="false"/>
              <a:t>Click to edit Master title style</a:t>
            </a:r>
            <a:endParaRPr lang="zh-CN" altLang="en-US" dirty="false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>
          <a:xfrm>
            <a:off x="357717" y="1497227"/>
            <a:ext cx="12186954" cy="7215540"/>
          </a:xfrm>
        </p:spPr>
        <p:txBody>
          <a:bodyPr/>
          <a:lstStyle>
            <a:lvl1pPr>
              <a:defRPr sz="34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45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56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275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75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false"/>
              <a:t>Click to edit Master text styles</a:t>
            </a:r>
            <a:endParaRPr/>
          </a:p>
          <a:p>
            <a:pPr lvl="1"/>
            <a:r>
              <a:rPr lang="en-US" altLang="zh-CN" dirty="false"/>
              <a:t>Second level</a:t>
            </a:r>
            <a:endParaRPr/>
          </a:p>
          <a:p>
            <a:pPr lvl="2"/>
            <a:r>
              <a:rPr lang="en-US" altLang="zh-CN" dirty="false"/>
              <a:t>Third level</a:t>
            </a:r>
            <a:endParaRPr/>
          </a:p>
          <a:p>
            <a:pPr lvl="3"/>
            <a:r>
              <a:rPr lang="en-US" altLang="zh-CN" dirty="false"/>
              <a:t>Fourth level</a:t>
            </a:r>
            <a:endParaRPr/>
          </a:p>
          <a:p>
            <a:pPr lvl="4"/>
            <a:r>
              <a:rPr lang="en-US" altLang="zh-CN" dirty="false"/>
              <a:t>Fifth level</a:t>
            </a:r>
            <a:endParaRPr lang="zh-CN" altLang="en-US" dirty="false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3.xml" /><Relationship Id="rId3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</p:spPr>
        <p:txBody>
          <a:bodyPr vert="horz" lIns="130046" tIns="65023" rIns="130046" bIns="65023" rtlCol="false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650240" y="2275843"/>
            <a:ext cx="11704320" cy="6436925"/>
          </a:xfrm>
          <a:prstGeom prst="rect">
            <a:avLst/>
          </a:prstGeom>
        </p:spPr>
        <p:txBody>
          <a:bodyPr vert="horz" lIns="130046" tIns="65023" rIns="130046" bIns="65023" rtlCol="false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650241" y="9040145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false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6D1C3D25-D777-4FE4-B115-16F55A657C90}" type="datetimeFigureOut">
              <a:rPr lang="zh-CN" altLang="en-US" smtClean="false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443308" y="9040145"/>
            <a:ext cx="4118187" cy="519289"/>
          </a:xfrm>
          <a:prstGeom prst="rect">
            <a:avLst/>
          </a:prstGeom>
        </p:spPr>
        <p:txBody>
          <a:bodyPr vert="horz" lIns="130046" tIns="65023" rIns="130046" bIns="65023" rtlCol="false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9320108" y="9040145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false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BC58BAA-A03D-4E09-A4B9-596B5667A1F1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algn="ctr" defTabSz="1300480" rtl="false" eaLnBrk="true" latinLnBrk="false" hangingPunct="true">
        <a:spcBef>
          <a:spcPct val="1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80" indent="-48768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56640" indent="-40640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indent="-32512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75840" indent="-32512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indent="-32512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320" indent="-32512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26560" indent="-32512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76800" indent="-32512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27040" indent="-325120" algn="l" defTabSz="130048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defTabSz="1300480" rtl="false" eaLnBrk="true" latinLnBrk="false" hangingPunct="true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4" Type="http://schemas.openxmlformats.org/officeDocument/2006/relationships/image" Target="media/image3.svg" /><Relationship Id="rId3" Type="http://schemas.openxmlformats.org/officeDocument/2006/relationships/image" Target="media/image2.png" /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hyperlink" Target="https://mariadb.com/docs/server/mariadb-quickstart-guides/basics-guide" TargetMode="External"/><Relationship Id="rId0" Type="http://schemas.openxmlformats.org/officeDocument/2006/relationships/slideLayout" Target="../slideLayouts/slideLayout3.xml" /><Relationship Id="rId1" Type="http://schemas.openxmlformats.org/officeDocument/2006/relationships/hyperlink" Target="https://www.oceanbase.com/docs/common-oceanbase-database-cn-1000000004475544" TargetMode="External"/></Relationships>
</file>

<file path=ppt/slides/_rels/slide15.xml.rels><?xml version="1.0" encoding="UTF-8" standalone="yes"?><Relationships xmlns="http://schemas.openxmlformats.org/package/2006/relationships"><Relationship Id="rId6" Type="http://schemas.openxmlformats.org/officeDocument/2006/relationships/image" Target="media/image1.png" /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4.png" /><Relationship Id="rId4" Type="http://schemas.openxmlformats.org/officeDocument/2006/relationships/image" Target="media/image6.png" /><Relationship Id="rId3" Type="http://schemas.openxmlformats.org/officeDocument/2006/relationships/image" Target="media/image5.png" /><Relationship Id="rId5" Type="http://schemas.openxmlformats.org/officeDocument/2006/relationships/image" Target="media/image7.png" /></Relationships>
</file>

<file path=ppt/slides/slide1.xml><?xml version="1.0" encoding="utf-8"?>
<p:sld xmlns:p14="http://schemas.microsoft.com/office/powerpoint/2010/main" xmlns:a="http://schemas.openxmlformats.org/drawingml/2006/main" xmlns:asvg="http://schemas.microsoft.com/office/drawing/2016/SVG/main" xmlns:p="http://schemas.openxmlformats.org/presentationml/2006/main" xmlns:r="http://schemas.openxmlformats.org/officeDocument/2006/relationships" xmlns:mc="http://schemas.openxmlformats.org/markup-compatibility/2006" mc:Ignorable="p14 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8"/>
          <p:cNvSpPr txBox="true"/>
          <p:nvPr/>
        </p:nvSpPr>
        <p:spPr>
          <a:xfrm>
            <a:off x="1586657" y="3552160"/>
            <a:ext cx="9933905" cy="7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55"/>
              </a:spcBef>
              <a:defRPr/>
            </a:pPr>
            <a:r>
              <a:rPr lang="en-US" sz="3980" b="true" spc="427" dirty="false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DDL</a:t>
            </a:r>
            <a:r>
              <a:rPr lang="zh-CN" altLang="en-US" sz="3980" b="true" spc="427" dirty="false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语言实验</a:t>
            </a:r>
            <a:endParaRPr/>
          </a:p>
        </p:txBody>
      </p:sp>
      <p:cxnSp>
        <p:nvCxnSpPr>
          <p:cNvPr id="3" name="直接连接符 19"/>
          <p:cNvCxnSpPr/>
          <p:nvPr/>
        </p:nvCxnSpPr>
        <p:spPr>
          <a:xfrm>
            <a:off x="1638582" y="5046625"/>
            <a:ext cx="9933904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" y="2"/>
            <a:ext cx="3481987" cy="958259"/>
          </a:xfrm>
          <a:prstGeom prst="rect">
            <a:avLst/>
          </a:prstGeom>
        </p:spPr>
      </p:pic>
      <p:sp>
        <p:nvSpPr>
          <p:cNvPr id="5" name="文本框 11"/>
          <p:cNvSpPr txBox="true">
            <a:spLocks noChangeArrowheads="true"/>
          </p:cNvSpPr>
          <p:nvPr/>
        </p:nvSpPr>
        <p:spPr bwMode="auto">
          <a:xfrm>
            <a:off x="2545438" y="6328388"/>
            <a:ext cx="8128000" cy="48514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true" hangingPunct="true">
              <a:spcBef>
                <a:spcPct val="1"/>
              </a:spcBef>
              <a:buFontTx/>
              <a:buNone/>
            </a:pPr>
            <a:r>
              <a:rPr lang="en-US" altLang="zh-CN" sz="256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2026.3.24</a:t>
            </a:r>
            <a:endParaRPr lang="zh-CN" altLang="en-US" sz="2560" b="true" dirty="false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6" name="副标题 3074"/>
          <p:cNvSpPr txBox="true">
            <a:spLocks noChangeArrowheads="true"/>
          </p:cNvSpPr>
          <p:nvPr/>
        </p:nvSpPr>
        <p:spPr bwMode="auto">
          <a:xfrm>
            <a:off x="2545440" y="5439606"/>
            <a:ext cx="8127999" cy="75852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false" fontAlgn="base" hangingPunct="false">
              <a:lnSpc>
                <a:spcPct val="120000"/>
              </a:lnSpc>
              <a:spcBef>
                <a:spcPts val="375"/>
              </a:spcBef>
              <a:spcAft>
                <a:spcPct val="1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false" fontAlgn="base" hangingPunct="false">
              <a:lnSpc>
                <a:spcPct val="120000"/>
              </a:lnSpc>
              <a:spcBef>
                <a:spcPts val="375"/>
              </a:spcBef>
              <a:spcAft>
                <a:spcPct val="1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false" fontAlgn="base" hangingPunct="false">
              <a:lnSpc>
                <a:spcPct val="120000"/>
              </a:lnSpc>
              <a:spcBef>
                <a:spcPts val="375"/>
              </a:spcBef>
              <a:spcAft>
                <a:spcPct val="1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false" fontAlgn="base" hangingPunct="false">
              <a:lnSpc>
                <a:spcPct val="120000"/>
              </a:lnSpc>
              <a:spcBef>
                <a:spcPts val="375"/>
              </a:spcBef>
              <a:spcAft>
                <a:spcPct val="1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845" dirty="fals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数据库第一次实验</a:t>
            </a:r>
            <a:endParaRPr/>
          </a:p>
        </p:txBody>
      </p:sp>
      <p:pic>
        <p:nvPicPr>
          <p:cNvPr id="7" name="图形 1"/>
          <p:cNvPicPr>
            <a:picLocks noChangeAspect="true"/>
          </p:cNvPicPr>
          <p:nvPr/>
        </p:nvPicPr>
        <p:blipFill>
          <a:blip r:embed="rId3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6031240" y="116634"/>
            <a:ext cx="6743700" cy="581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Requires="p14">
      <p:transition p14:dur="1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7200" algn="just" defTabSz="914400"/>
            <a:r>
              <a:rPr lang="en-US" altLang="zh-CN" sz="3600" dirty="false"/>
              <a:t>SQL</a:t>
            </a:r>
            <a:r>
              <a:rPr lang="zh-CN" altLang="en-US" sz="3600" dirty="false"/>
              <a:t>语言包括四种主要程序设计语言类别的语句：数据定义语言</a:t>
            </a:r>
            <a:r>
              <a:rPr lang="en-US" altLang="zh-CN" sz="3600" dirty="false"/>
              <a:t>(DDL)</a:t>
            </a:r>
            <a:r>
              <a:rPr lang="zh-CN" altLang="en-US" sz="3600" dirty="false"/>
              <a:t>，数据操作语言</a:t>
            </a:r>
            <a:r>
              <a:rPr lang="en-US" altLang="zh-CN" sz="3600" dirty="false"/>
              <a:t>(DML)</a:t>
            </a:r>
            <a:r>
              <a:rPr lang="zh-CN" altLang="en-US" sz="3600" dirty="false"/>
              <a:t>，数据控制语言</a:t>
            </a:r>
            <a:r>
              <a:rPr lang="en-US" altLang="zh-CN" sz="3600" dirty="false"/>
              <a:t>(DCL)</a:t>
            </a:r>
            <a:r>
              <a:rPr lang="zh-CN" altLang="en-US" sz="3600" dirty="false"/>
              <a:t>和事务控制语言</a:t>
            </a:r>
            <a:r>
              <a:rPr lang="en-US" altLang="zh-CN" sz="3600" dirty="false"/>
              <a:t>(TCL)</a:t>
            </a:r>
            <a:r>
              <a:rPr lang="zh-CN" altLang="en-US" sz="3600" dirty="false"/>
              <a:t>。</a:t>
            </a:r>
            <a:endParaRPr lang="en-US" altLang="zh-CN" sz="3600" dirty="false"/>
          </a:p>
          <a:p>
            <a:pPr indent="457200" algn="just" defTabSz="914400"/>
            <a:endParaRPr lang="en-US" altLang="zh-CN" sz="3600" dirty="false"/>
          </a:p>
          <a:p>
            <a:pPr indent="457200" algn="just" defTabSz="914400"/>
            <a:r>
              <a:rPr lang="zh-CN" altLang="en-US" sz="3600" dirty="false"/>
              <a:t>数据库模式定义语言</a:t>
            </a:r>
            <a:r>
              <a:rPr lang="en-US" altLang="zh-CN" sz="3600" dirty="false"/>
              <a:t>DDL(Data Definition Language)</a:t>
            </a:r>
            <a:r>
              <a:rPr lang="zh-CN" altLang="en-US" sz="3600" dirty="false"/>
              <a:t>，是用于描述数据库中要存储的现实世界实体的语言。一个数据库模式包含该数据库中所有实体的描述定义。</a:t>
            </a:r>
            <a:endParaRPr lang="en-US" altLang="zh-CN" sz="3600" dirty="false"/>
          </a:p>
        </p:txBody>
      </p:sp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0" y="-38946"/>
            <a:ext cx="13004800" cy="1209041"/>
          </a:xfrm>
        </p:spPr>
        <p:txBody>
          <a:bodyPr/>
          <a:lstStyle/>
          <a:p>
            <a:pPr algn="ctr"/>
            <a:r>
              <a:rPr lang="en-US" dirty="false"/>
              <a:t>DDL</a:t>
            </a:r>
            <a:r>
              <a:rPr lang="zh-CN" altLang="en-US" dirty="false"/>
              <a:t>语言实验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false"/>
              <a:t>DDL</a:t>
            </a:r>
            <a:r>
              <a:rPr lang="zh-CN" altLang="en-US" dirty="false"/>
              <a:t>语言实验</a:t>
            </a:r>
            <a:endParaRPr/>
          </a:p>
        </p:txBody>
      </p:sp>
      <p:sp>
        <p:nvSpPr>
          <p:cNvPr id="36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0" algn="just" defTabSz="914400">
              <a:buNone/>
            </a:pPr>
            <a:r>
              <a:rPr lang="zh-CN" altLang="en-US" sz="3600"/>
              <a:t>本节将</a:t>
            </a:r>
            <a:r>
              <a:rPr lang="zh-CN" altLang="en-US" sz="3600" dirty="false"/>
              <a:t>学习：</a:t>
            </a:r>
            <a:endParaRPr/>
          </a:p>
          <a:p>
            <a:pPr indent="457200" algn="just" defTabSz="914400"/>
            <a:r>
              <a:rPr lang="zh-CN" altLang="en-US" sz="3600" dirty="false"/>
              <a:t>建立数据库</a:t>
            </a:r>
            <a:endParaRPr/>
          </a:p>
          <a:p>
            <a:pPr indent="457200" algn="just" defTabSz="914400"/>
            <a:r>
              <a:rPr lang="zh-CN" altLang="en-US" sz="3600" dirty="false"/>
              <a:t>建立、修改、删除数据表</a:t>
            </a:r>
            <a:endParaRPr lang="en-US" altLang="zh-CN" sz="3600" dirty="false"/>
          </a:p>
          <a:p>
            <a:pPr indent="457200" algn="just" defTabSz="914400"/>
            <a:r>
              <a:rPr lang="zh-CN" altLang="en-US" sz="3600" dirty="false"/>
              <a:t>建立、修改、删除约束</a:t>
            </a:r>
            <a:endParaRPr lang="en-US" altLang="zh-CN" sz="3600" dirty="false"/>
          </a:p>
          <a:p>
            <a:pPr indent="0" algn="just" defTabSz="914400">
              <a:buNone/>
            </a:pPr>
            <a:endParaRPr lang="en-US" altLang="zh-CN" sz="4800" dirty="false"/>
          </a:p>
          <a:p>
            <a:pPr indent="0" algn="just" defTabSz="914400">
              <a:buNone/>
            </a:pPr>
            <a:r>
              <a:rPr lang="zh-CN" altLang="en-US" sz="3600" dirty="false"/>
              <a:t>将会使用的</a:t>
            </a:r>
            <a:r>
              <a:rPr lang="en-US" altLang="zh-CN" sz="3600" dirty="false"/>
              <a:t>SQL</a:t>
            </a:r>
            <a:r>
              <a:rPr lang="zh-CN" altLang="en-US" sz="3600" dirty="false"/>
              <a:t>命令：</a:t>
            </a:r>
            <a:endParaRPr lang="en-US" altLang="zh-CN" sz="3600" dirty="false"/>
          </a:p>
          <a:p>
            <a:pPr indent="457200" algn="just" defTabSz="914400"/>
            <a:r>
              <a:rPr lang="en-US" altLang="zh-CN" sz="3600" dirty="false"/>
              <a:t>create</a:t>
            </a:r>
            <a:endParaRPr/>
          </a:p>
          <a:p>
            <a:pPr indent="457200" algn="just" defTabSz="914400"/>
            <a:r>
              <a:rPr lang="en-US" altLang="zh-CN" sz="3600" dirty="false"/>
              <a:t>drop</a:t>
            </a:r>
            <a:endParaRPr/>
          </a:p>
          <a:p>
            <a:pPr indent="457200" algn="just" defTabSz="914400"/>
            <a:r>
              <a:rPr lang="en-US" altLang="zh-CN" sz="3600" dirty="false"/>
              <a:t>select</a:t>
            </a:r>
            <a:endParaRPr/>
          </a:p>
          <a:p>
            <a:pPr indent="457200" algn="just" defTabSz="914400"/>
            <a:r>
              <a:rPr lang="en-US" altLang="zh-CN" sz="3600" dirty="false"/>
              <a:t>alter</a:t>
            </a:r>
            <a:endParaRPr/>
          </a:p>
          <a:p>
            <a:pPr indent="457200" algn="just" defTabSz="914400"/>
            <a:r>
              <a:rPr lang="en-US" altLang="zh-CN" sz="3600" dirty="false"/>
              <a:t>……</a:t>
            </a:r>
            <a:endParaRPr lang="zh-CN" altLang="en-US" sz="3600" dirty="false"/>
          </a:p>
          <a:p>
            <a:pPr indent="457200" algn="just" defTabSz="914400"/>
            <a:endParaRPr lang="zh-CN" altLang="en-US" sz="3600" dirty="fals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false">
                <a:sym typeface="+mn-ea"/>
              </a:rPr>
              <a:t>DDL</a:t>
            </a:r>
            <a:r>
              <a:rPr lang="zh-CN" altLang="en-US" dirty="false">
                <a:sym typeface="+mn-ea"/>
              </a:rPr>
              <a:t>语言实验</a:t>
            </a:r>
            <a:endParaRPr lang="zh-CN" altLang="en-US" dirty="false"/>
          </a:p>
        </p:txBody>
      </p:sp>
      <p:sp>
        <p:nvSpPr>
          <p:cNvPr id="39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7200" algn="just" defTabSz="914400"/>
            <a:r>
              <a:rPr lang="zh-CN" altLang="en-US" sz="3600" dirty="false"/>
              <a:t>表的建立</a:t>
            </a:r>
            <a:endParaRPr lang="en-US" altLang="zh-CN" sz="3600" dirty="false"/>
          </a:p>
          <a:p>
            <a:pPr indent="0" algn="just" defTabSz="914400">
              <a:buNone/>
            </a:pPr>
            <a:r>
              <a:rPr lang="en-US" altLang="zh-CN" sz="3030" u="sng" dirty="false"/>
              <a:t>CREATE TABLE &lt;</a:t>
            </a:r>
            <a:r>
              <a:rPr lang="zh-CN" altLang="en-US" sz="3030" u="sng" dirty="false"/>
              <a:t>表名</a:t>
            </a:r>
            <a:r>
              <a:rPr lang="en-US" altLang="zh-CN" sz="3030" u="sng" dirty="false"/>
              <a:t>&gt; ([</a:t>
            </a:r>
            <a:r>
              <a:rPr lang="zh-CN" altLang="en-US" sz="3030" u="sng" dirty="false"/>
              <a:t>表定义选项</a:t>
            </a:r>
            <a:r>
              <a:rPr lang="en-US" altLang="zh-CN" sz="3030" u="sng" dirty="false"/>
              <a:t>])[</a:t>
            </a:r>
            <a:r>
              <a:rPr lang="zh-CN" altLang="en-US" sz="3030" u="sng" dirty="false"/>
              <a:t>表选项</a:t>
            </a:r>
            <a:r>
              <a:rPr lang="en-US" altLang="zh-CN" sz="3030" u="sng" dirty="false"/>
              <a:t>][</a:t>
            </a:r>
            <a:r>
              <a:rPr lang="zh-CN" altLang="en-US" sz="3030" u="sng" dirty="false"/>
              <a:t>分区选项</a:t>
            </a:r>
            <a:r>
              <a:rPr lang="en-US" altLang="zh-CN" sz="3030" u="sng" dirty="false"/>
              <a:t>];</a:t>
            </a:r>
            <a:endParaRPr/>
          </a:p>
          <a:p>
            <a:pPr indent="0" algn="just" defTabSz="914400">
              <a:buNone/>
            </a:pPr>
            <a:r>
              <a:rPr lang="zh-CN" altLang="en-US" sz="3030" dirty="false"/>
              <a:t>其中，</a:t>
            </a:r>
            <a:r>
              <a:rPr lang="en-US" altLang="zh-CN" sz="3030" dirty="false"/>
              <a:t>[</a:t>
            </a:r>
            <a:r>
              <a:rPr lang="zh-CN" altLang="en-US" sz="3030" dirty="false"/>
              <a:t>表定义选项</a:t>
            </a:r>
            <a:r>
              <a:rPr lang="en-US" altLang="zh-CN" sz="3030" dirty="false"/>
              <a:t>]</a:t>
            </a:r>
            <a:r>
              <a:rPr lang="zh-CN" altLang="en-US" sz="3030" dirty="false"/>
              <a:t>的格式为：</a:t>
            </a:r>
            <a:endParaRPr/>
          </a:p>
          <a:p>
            <a:pPr indent="0" algn="just" defTabSz="914400">
              <a:buNone/>
            </a:pPr>
            <a:r>
              <a:rPr lang="en-US" altLang="zh-CN" sz="3030" u="sng" dirty="false"/>
              <a:t>&lt;</a:t>
            </a:r>
            <a:r>
              <a:rPr lang="zh-CN" altLang="en-US" sz="3030" u="sng" dirty="false"/>
              <a:t>列名</a:t>
            </a:r>
            <a:r>
              <a:rPr lang="en-US" altLang="zh-CN" sz="3030" u="sng" dirty="false"/>
              <a:t>1&gt; &lt;</a:t>
            </a:r>
            <a:r>
              <a:rPr lang="zh-CN" altLang="en-US" sz="3030" u="sng" dirty="false"/>
              <a:t>类型</a:t>
            </a:r>
            <a:r>
              <a:rPr lang="en-US" altLang="zh-CN" sz="3030" u="sng" dirty="false"/>
              <a:t>1&gt; [,…] &lt;</a:t>
            </a:r>
            <a:r>
              <a:rPr lang="zh-CN" altLang="en-US" sz="3030" u="sng" dirty="false"/>
              <a:t>列名</a:t>
            </a:r>
            <a:r>
              <a:rPr lang="en-US" altLang="zh-CN" sz="3030" u="sng" dirty="false"/>
              <a:t>n&gt; &lt;</a:t>
            </a:r>
            <a:r>
              <a:rPr lang="zh-CN" altLang="en-US" sz="3030" u="sng" dirty="false"/>
              <a:t>类型</a:t>
            </a:r>
            <a:r>
              <a:rPr lang="en-US" altLang="zh-CN" sz="3030" u="sng" dirty="false"/>
              <a:t>n&gt;</a:t>
            </a:r>
            <a:endParaRPr/>
          </a:p>
          <a:p>
            <a:pPr indent="0" algn="just" defTabSz="914400">
              <a:buNone/>
            </a:pPr>
            <a:endParaRPr lang="en-US" altLang="zh-CN" sz="3030" u="sng" dirty="false"/>
          </a:p>
          <a:p>
            <a:pPr indent="457200" algn="just" defTabSz="914400"/>
            <a:r>
              <a:rPr lang="zh-CN" altLang="en-US" sz="3600" dirty="false"/>
              <a:t>表的删除</a:t>
            </a:r>
            <a:endParaRPr lang="en-US" altLang="zh-CN" sz="3600" dirty="false"/>
          </a:p>
          <a:p>
            <a:pPr indent="0" algn="just" defTabSz="914400">
              <a:buNone/>
            </a:pPr>
            <a:r>
              <a:rPr lang="en-US" altLang="zh-CN" sz="3030" u="sng" dirty="false"/>
              <a:t>DROP TABLE [IF EXISTS] </a:t>
            </a:r>
            <a:r>
              <a:rPr lang="zh-CN" altLang="en-US" sz="3030" u="sng" dirty="false"/>
              <a:t>表名</a:t>
            </a:r>
            <a:r>
              <a:rPr lang="en-US" altLang="zh-CN" sz="3030" u="sng" dirty="false"/>
              <a:t>1 [ ,</a:t>
            </a:r>
            <a:r>
              <a:rPr lang="zh-CN" altLang="en-US" sz="3030" u="sng" dirty="false"/>
              <a:t>表名</a:t>
            </a:r>
            <a:r>
              <a:rPr lang="en-US" altLang="zh-CN" sz="3030" u="sng" dirty="false"/>
              <a:t>2, </a:t>
            </a:r>
            <a:r>
              <a:rPr lang="zh-CN" altLang="en-US" sz="3030" u="sng" dirty="false"/>
              <a:t>表名</a:t>
            </a:r>
            <a:r>
              <a:rPr lang="en-US" altLang="zh-CN" sz="3030" u="sng" dirty="false"/>
              <a:t>3 ...]</a:t>
            </a:r>
            <a:endParaRPr/>
          </a:p>
          <a:p>
            <a:pPr indent="0" algn="just" defTabSz="914400">
              <a:buNone/>
            </a:pPr>
            <a:r>
              <a:rPr lang="zh-CN" altLang="en-US" sz="3030" dirty="false"/>
              <a:t>基本表定义一旦删除，表中的数据、在此表上建立的视图、索引、触发器、断言都将自动被删除掉。</a:t>
            </a:r>
            <a:endParaRPr lang="en-US" altLang="zh-CN" sz="3600" dirty="false"/>
          </a:p>
          <a:p>
            <a:pPr indent="457200" algn="just" defTabSz="914400"/>
            <a:endParaRPr lang="en-US" altLang="zh-CN" sz="3600" dirty="false"/>
          </a:p>
          <a:p>
            <a:pPr indent="457200" algn="just" defTabSz="914400"/>
            <a:endParaRPr lang="en-US" altLang="zh-CN" sz="3600" dirty="fals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false">
                <a:sym typeface="+mn-ea"/>
              </a:rPr>
              <a:t>DDL</a:t>
            </a:r>
            <a:r>
              <a:rPr lang="zh-CN" altLang="en-US" dirty="false">
                <a:sym typeface="+mn-ea"/>
              </a:rPr>
              <a:t>语言实验</a:t>
            </a:r>
            <a:endParaRPr lang="zh-CN" altLang="en-US" dirty="false"/>
          </a:p>
        </p:txBody>
      </p:sp>
      <p:sp>
        <p:nvSpPr>
          <p:cNvPr id="42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7200" algn="just" defTabSz="914400"/>
            <a:r>
              <a:rPr lang="zh-CN" altLang="en-US" sz="3600" dirty="false"/>
              <a:t>添加主键约束</a:t>
            </a:r>
            <a:endParaRPr lang="en-US" altLang="zh-CN" sz="3600" dirty="false"/>
          </a:p>
          <a:p>
            <a:pPr indent="0" algn="just" defTabSz="914400">
              <a:buNone/>
            </a:pPr>
            <a:r>
              <a:rPr lang="en-US" altLang="zh-CN" sz="3030" dirty="false"/>
              <a:t>CREATE TABLE Persons(</a:t>
            </a:r>
            <a:endParaRPr/>
          </a:p>
          <a:p>
            <a:pPr indent="0" defTabSz="914400">
              <a:buNone/>
            </a:pPr>
            <a:r>
              <a:rPr lang="en-US" altLang="zh-CN" sz="3030"/>
              <a:t>	P</a:t>
            </a:r>
            <a:r>
              <a:rPr lang="en-US" altLang="zh-CN" sz="3030" dirty="false" err="true"/>
              <a:t>_Id</a:t>
            </a:r>
            <a:r>
              <a:rPr lang="en-US" altLang="zh-CN" sz="3030" dirty="false"/>
              <a:t> int NOT NULL,</a:t>
            </a:r>
            <a:br>
              <a:rPr lang="en-US" altLang="zh-CN" sz="3030"/>
            </a:br>
            <a:r>
              <a:rPr lang="en-US" altLang="zh-CN" sz="3030"/>
              <a:t>	</a:t>
            </a:r>
            <a:r>
              <a:rPr lang="en-US" altLang="zh-CN" sz="3030">
                <a:solidFill>
                  <a:srgbClr val="FF0000"/>
                </a:solidFill>
              </a:rPr>
              <a:t>PRIMARY </a:t>
            </a:r>
            <a:r>
              <a:rPr lang="en-US" altLang="zh-CN" sz="3030" dirty="false">
                <a:solidFill>
                  <a:srgbClr val="FF0000"/>
                </a:solidFill>
              </a:rPr>
              <a:t>KEY(</a:t>
            </a:r>
            <a:r>
              <a:rPr lang="en-US" altLang="zh-CN" sz="3030" dirty="false" err="true">
                <a:solidFill>
                  <a:srgbClr val="FF0000"/>
                </a:solidFill>
              </a:rPr>
              <a:t>P_Id</a:t>
            </a:r>
            <a:r>
              <a:rPr lang="en-US" altLang="zh-CN" sz="3030" dirty="false">
                <a:solidFill>
                  <a:srgbClr val="FF0000"/>
                </a:solidFill>
              </a:rPr>
              <a:t>)</a:t>
            </a:r>
            <a:endParaRPr/>
          </a:p>
          <a:p>
            <a:pPr indent="0" defTabSz="914400">
              <a:buNone/>
            </a:pPr>
            <a:r>
              <a:rPr lang="en-US" altLang="zh-CN" sz="3030" dirty="false"/>
              <a:t>)</a:t>
            </a:r>
            <a:endParaRPr/>
          </a:p>
          <a:p>
            <a:pPr indent="457200" algn="just" defTabSz="914400"/>
            <a:r>
              <a:rPr lang="zh-CN" altLang="en-US" sz="3600" dirty="false"/>
              <a:t>添加外键约束</a:t>
            </a:r>
            <a:endParaRPr lang="en-US" altLang="zh-CN" sz="3600" dirty="false"/>
          </a:p>
          <a:p>
            <a:pPr indent="0" algn="just" defTabSz="914400">
              <a:buNone/>
            </a:pPr>
            <a:r>
              <a:rPr lang="en-US" altLang="zh-CN" sz="3030" dirty="false"/>
              <a:t>CREATE TABLE Orders(</a:t>
            </a:r>
            <a:endParaRPr/>
          </a:p>
          <a:p>
            <a:pPr indent="0" algn="just" defTabSz="914400">
              <a:buNone/>
            </a:pPr>
            <a:r>
              <a:rPr lang="en-US" altLang="zh-CN" sz="3030"/>
              <a:t>	O</a:t>
            </a:r>
            <a:r>
              <a:rPr lang="en-US" altLang="zh-CN" sz="3030" dirty="false" err="true"/>
              <a:t>_Id</a:t>
            </a:r>
            <a:r>
              <a:rPr lang="en-US" altLang="zh-CN" sz="3030" dirty="false"/>
              <a:t> int NOT NULL,</a:t>
            </a:r>
            <a:endParaRPr/>
          </a:p>
          <a:p>
            <a:pPr indent="0" algn="just" defTabSz="914400">
              <a:buNone/>
            </a:pPr>
            <a:r>
              <a:rPr lang="en-US" altLang="zh-CN" sz="3030"/>
              <a:t>	OrderNo </a:t>
            </a:r>
            <a:r>
              <a:rPr lang="en-US" altLang="zh-CN" sz="3030" dirty="false"/>
              <a:t>int NOT NULL,</a:t>
            </a:r>
            <a:endParaRPr/>
          </a:p>
          <a:p>
            <a:pPr indent="0" algn="just" defTabSz="914400">
              <a:buNone/>
            </a:pPr>
            <a:r>
              <a:rPr lang="en-US" altLang="zh-CN" sz="3030"/>
              <a:t>	P_</a:t>
            </a:r>
            <a:r>
              <a:rPr lang="en-US" altLang="zh-CN" sz="3030" dirty="false" err="true"/>
              <a:t>Id</a:t>
            </a:r>
            <a:r>
              <a:rPr lang="en-US" altLang="zh-CN" sz="3030" dirty="false"/>
              <a:t> int,</a:t>
            </a:r>
            <a:endParaRPr/>
          </a:p>
          <a:p>
            <a:pPr indent="0" algn="just" defTabSz="914400">
              <a:buNone/>
            </a:pPr>
            <a:r>
              <a:rPr lang="en-US" altLang="zh-CN" sz="3030"/>
              <a:t>	PRIMARY </a:t>
            </a:r>
            <a:r>
              <a:rPr lang="en-US" altLang="zh-CN" sz="3030" dirty="false"/>
              <a:t>KEY(</a:t>
            </a:r>
            <a:r>
              <a:rPr lang="en-US" altLang="zh-CN" sz="3030" dirty="false" err="true"/>
              <a:t>O_Id</a:t>
            </a:r>
            <a:r>
              <a:rPr lang="en-US" altLang="zh-CN" sz="3030" dirty="false"/>
              <a:t>),</a:t>
            </a:r>
            <a:endParaRPr/>
          </a:p>
          <a:p>
            <a:pPr indent="0" algn="just" defTabSz="914400">
              <a:buNone/>
            </a:pPr>
            <a:r>
              <a:rPr lang="en-US" altLang="zh-CN" sz="3030">
                <a:solidFill>
                  <a:srgbClr val="FF0000"/>
                </a:solidFill>
              </a:rPr>
              <a:t>	FOREIGN </a:t>
            </a:r>
            <a:r>
              <a:rPr lang="en-US" altLang="zh-CN" sz="3030" dirty="false">
                <a:solidFill>
                  <a:srgbClr val="FF0000"/>
                </a:solidFill>
              </a:rPr>
              <a:t>KEY (</a:t>
            </a:r>
            <a:r>
              <a:rPr lang="en-US" altLang="zh-CN" sz="3030" dirty="false" err="true">
                <a:solidFill>
                  <a:srgbClr val="FF0000"/>
                </a:solidFill>
              </a:rPr>
              <a:t>P_Id</a:t>
            </a:r>
            <a:r>
              <a:rPr lang="en-US" altLang="zh-CN" sz="3030" dirty="false">
                <a:solidFill>
                  <a:srgbClr val="FF0000"/>
                </a:solidFill>
              </a:rPr>
              <a:t>) REFERENCES Persons(</a:t>
            </a:r>
            <a:r>
              <a:rPr lang="en-US" altLang="zh-CN" sz="3030" dirty="false" err="true">
                <a:solidFill>
                  <a:srgbClr val="FF0000"/>
                </a:solidFill>
              </a:rPr>
              <a:t>P_Id</a:t>
            </a:r>
            <a:r>
              <a:rPr lang="en-US" altLang="zh-CN" sz="3030" dirty="false">
                <a:solidFill>
                  <a:srgbClr val="FF0000"/>
                </a:solidFill>
              </a:rPr>
              <a:t>)</a:t>
            </a:r>
            <a:endParaRPr/>
          </a:p>
          <a:p>
            <a:pPr indent="0" algn="just" defTabSz="914400">
              <a:buNone/>
            </a:pPr>
            <a:r>
              <a:rPr lang="en-US" altLang="zh-CN" sz="3030" dirty="false"/>
              <a:t>)</a:t>
            </a:r>
            <a:endParaRPr lang="en-US" altLang="zh-CN" sz="3600" dirty="fals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false">
                <a:sym typeface="+mn-ea"/>
              </a:rPr>
              <a:t>DDL</a:t>
            </a:r>
            <a:r>
              <a:rPr lang="zh-CN" altLang="en-US" dirty="false">
                <a:sym typeface="+mn-ea"/>
              </a:rPr>
              <a:t>语言实验</a:t>
            </a:r>
            <a:endParaRPr lang="zh-CN" altLang="en-US" dirty="false"/>
          </a:p>
        </p:txBody>
      </p:sp>
      <p:sp>
        <p:nvSpPr>
          <p:cNvPr id="45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7200" algn="just" defTabSz="914400"/>
            <a:r>
              <a:rPr lang="zh-CN" altLang="en-US" sz="3600" dirty="false"/>
              <a:t>表的修改</a:t>
            </a:r>
            <a:endParaRPr lang="en-US" altLang="zh-CN" sz="3600" dirty="false"/>
          </a:p>
          <a:p>
            <a:pPr indent="0" algn="just" defTabSz="914400">
              <a:buNone/>
            </a:pPr>
            <a:r>
              <a:rPr lang="zh-CN" altLang="en-US" sz="3600" dirty="false"/>
              <a:t>一般格式为：</a:t>
            </a:r>
            <a:r>
              <a:rPr lang="en-US" altLang="zh-CN" sz="3600" u="sng" dirty="false"/>
              <a:t>ALTER TABLE &lt;</a:t>
            </a:r>
            <a:r>
              <a:rPr lang="zh-CN" altLang="en-US" sz="3600" u="sng" dirty="false"/>
              <a:t>表名</a:t>
            </a:r>
            <a:r>
              <a:rPr lang="en-US" altLang="zh-CN" sz="3600" u="sng" dirty="false"/>
              <a:t>&gt; [</a:t>
            </a:r>
            <a:r>
              <a:rPr lang="zh-CN" altLang="en-US" sz="3600" u="sng" dirty="false"/>
              <a:t>修改选项</a:t>
            </a:r>
            <a:r>
              <a:rPr lang="en-US" altLang="zh-CN" sz="3600" u="sng" dirty="false"/>
              <a:t>]</a:t>
            </a:r>
            <a:endParaRPr/>
          </a:p>
          <a:p>
            <a:pPr indent="0" algn="just" defTabSz="914400">
              <a:buNone/>
            </a:pPr>
            <a:r>
              <a:rPr lang="zh-CN" altLang="en-US" sz="3600" dirty="false"/>
              <a:t>修改选项的语法格式如下：</a:t>
            </a:r>
            <a:endParaRPr lang="en-US" altLang="zh-CN" sz="3600" dirty="false"/>
          </a:p>
          <a:p>
            <a:pPr marL="1230630" indent="-742950" algn="just" defTabSz="914400">
              <a:buFont typeface="+mj-lt"/>
              <a:buAutoNum type="arabicPeriod"/>
            </a:pPr>
            <a:r>
              <a:rPr lang="zh-CN" altLang="en-US" sz="2400" dirty="false"/>
              <a:t>新增列：</a:t>
            </a:r>
            <a:r>
              <a:rPr lang="en-US" altLang="zh-CN" sz="2400" u="sng" dirty="false"/>
              <a:t>ADD COLUMN &lt;</a:t>
            </a:r>
            <a:r>
              <a:rPr lang="zh-CN" altLang="en-US" sz="2400" u="sng" dirty="false"/>
              <a:t>列名</a:t>
            </a:r>
            <a:r>
              <a:rPr lang="en-US" altLang="zh-CN" sz="2400" u="sng" dirty="false"/>
              <a:t>&gt; &lt;</a:t>
            </a:r>
            <a:r>
              <a:rPr lang="zh-CN" altLang="en-US" sz="2400" u="sng" dirty="false"/>
              <a:t>类型</a:t>
            </a:r>
            <a:r>
              <a:rPr lang="en-US" altLang="zh-CN" sz="2400" u="sng" dirty="false"/>
              <a:t>&gt;</a:t>
            </a:r>
            <a:endParaRPr/>
          </a:p>
          <a:p>
            <a:pPr marL="1230630" indent="-742950" algn="just" defTabSz="914400">
              <a:buFont typeface="+mj-lt"/>
              <a:buAutoNum type="arabicPeriod"/>
            </a:pPr>
            <a:r>
              <a:rPr lang="zh-CN" altLang="en-US" sz="2400" dirty="false"/>
              <a:t>列的重命名、列类型的变更以及列位置的移动：</a:t>
            </a:r>
            <a:r>
              <a:rPr lang="en-US" altLang="zh-CN" sz="2400" u="sng" dirty="false"/>
              <a:t>CHANGE COLUMN &lt;</a:t>
            </a:r>
            <a:r>
              <a:rPr lang="zh-CN" altLang="en-US" sz="2400" u="sng" dirty="false"/>
              <a:t>旧列名</a:t>
            </a:r>
            <a:r>
              <a:rPr lang="en-US" altLang="zh-CN" sz="2400" u="sng" dirty="false"/>
              <a:t>&gt; &lt;</a:t>
            </a:r>
            <a:r>
              <a:rPr lang="zh-CN" altLang="en-US" sz="2400" u="sng" dirty="false"/>
              <a:t>新列名</a:t>
            </a:r>
            <a:r>
              <a:rPr lang="en-US" altLang="zh-CN" sz="2400" u="sng" dirty="false"/>
              <a:t>&gt; &lt;</a:t>
            </a:r>
            <a:r>
              <a:rPr lang="zh-CN" altLang="en-US" sz="2400" u="sng" dirty="false"/>
              <a:t>新列类型</a:t>
            </a:r>
            <a:r>
              <a:rPr lang="en-US" altLang="zh-CN" sz="2400" u="sng" dirty="false"/>
              <a:t>&gt;</a:t>
            </a:r>
            <a:endParaRPr/>
          </a:p>
          <a:p>
            <a:pPr marL="1230630" indent="-742950" algn="just" defTabSz="914400">
              <a:buFont typeface="+mj-lt"/>
              <a:buAutoNum type="arabicPeriod"/>
            </a:pPr>
            <a:r>
              <a:rPr lang="zh-CN" altLang="en-US" sz="2400" dirty="false"/>
              <a:t>设置或删除列的默认值：</a:t>
            </a:r>
            <a:r>
              <a:rPr lang="en-US" altLang="zh-CN" sz="2400" u="sng" dirty="false"/>
              <a:t>ALTER COLUMN &lt;</a:t>
            </a:r>
            <a:r>
              <a:rPr lang="zh-CN" altLang="en-US" sz="2400" u="sng" dirty="false"/>
              <a:t>列名</a:t>
            </a:r>
            <a:r>
              <a:rPr lang="en-US" altLang="zh-CN" sz="2400" u="sng" dirty="false"/>
              <a:t>&gt; { SET DEFAULT &lt;</a:t>
            </a:r>
            <a:r>
              <a:rPr lang="zh-CN" altLang="en-US" sz="2400" u="sng" dirty="false"/>
              <a:t>默认值</a:t>
            </a:r>
            <a:r>
              <a:rPr lang="en-US" altLang="zh-CN" sz="2400" u="sng" dirty="false"/>
              <a:t>&gt; | DROP DEFAULT }</a:t>
            </a:r>
            <a:endParaRPr/>
          </a:p>
          <a:p>
            <a:pPr marL="1230630" indent="-742950" algn="just" defTabSz="914400">
              <a:buFont typeface="+mj-lt"/>
              <a:buAutoNum type="arabicPeriod"/>
            </a:pPr>
            <a:r>
              <a:rPr lang="zh-CN" altLang="en-US" sz="2400" dirty="false"/>
              <a:t>列类型的变更以及列位置的移动：</a:t>
            </a:r>
            <a:r>
              <a:rPr lang="en-US" altLang="zh-CN" sz="2400" u="sng" dirty="false"/>
              <a:t>MODIFY COLUMN &lt;</a:t>
            </a:r>
            <a:r>
              <a:rPr lang="zh-CN" altLang="en-US" sz="2400" u="sng" dirty="false"/>
              <a:t>列名</a:t>
            </a:r>
            <a:r>
              <a:rPr lang="en-US" altLang="zh-CN" sz="2400" u="sng" dirty="false"/>
              <a:t>&gt; &lt;</a:t>
            </a:r>
            <a:r>
              <a:rPr lang="zh-CN" altLang="en-US" sz="2400" u="sng" dirty="false"/>
              <a:t>类型</a:t>
            </a:r>
            <a:r>
              <a:rPr lang="en-US" altLang="zh-CN" sz="2400" u="sng" dirty="false"/>
              <a:t>&gt;</a:t>
            </a:r>
            <a:endParaRPr/>
          </a:p>
          <a:p>
            <a:pPr marL="1230630" indent="-742950" algn="just" defTabSz="914400">
              <a:buFont typeface="+mj-lt"/>
              <a:buAutoNum type="arabicPeriod"/>
            </a:pPr>
            <a:r>
              <a:rPr lang="zh-CN" altLang="en-US" sz="2400" dirty="false"/>
              <a:t>删除列：</a:t>
            </a:r>
            <a:r>
              <a:rPr lang="en-US" altLang="zh-CN" sz="2400" u="sng" dirty="false"/>
              <a:t>DROP COLUMN &lt;</a:t>
            </a:r>
            <a:r>
              <a:rPr lang="zh-CN" altLang="en-US" sz="2400" u="sng" dirty="false"/>
              <a:t>列名</a:t>
            </a:r>
            <a:r>
              <a:rPr lang="en-US" altLang="zh-CN" sz="2400" u="sng" dirty="false"/>
              <a:t>&gt;</a:t>
            </a:r>
            <a:endParaRPr/>
          </a:p>
          <a:p>
            <a:pPr marL="1230630" indent="-742950" algn="just" defTabSz="914400">
              <a:buFont typeface="+mj-lt"/>
              <a:buAutoNum type="arabicPeriod"/>
            </a:pPr>
            <a:r>
              <a:rPr lang="zh-CN" altLang="en-US" sz="2400" dirty="false"/>
              <a:t>表的重命名：</a:t>
            </a:r>
            <a:r>
              <a:rPr lang="en-US" altLang="zh-CN" sz="2400" u="sng" dirty="false"/>
              <a:t>RENAME TO &lt;</a:t>
            </a:r>
            <a:r>
              <a:rPr lang="zh-CN" altLang="en-US" sz="2400" u="sng" dirty="false"/>
              <a:t>新表名</a:t>
            </a:r>
            <a:r>
              <a:rPr lang="en-US" altLang="zh-CN" sz="2400" u="sng" dirty="false"/>
              <a:t>&gt;</a:t>
            </a:r>
            <a:endParaRPr/>
          </a:p>
          <a:p>
            <a:pPr marL="1230630" indent="-742950" algn="just" defTabSz="914400">
              <a:buFont typeface="+mj-lt"/>
              <a:buAutoNum type="arabicPeriod"/>
            </a:pPr>
            <a:r>
              <a:rPr lang="zh-CN" altLang="en-US" sz="2400" dirty="false"/>
              <a:t>设置字符集：</a:t>
            </a:r>
            <a:r>
              <a:rPr lang="en-US" altLang="zh-CN" sz="2400" u="sng" dirty="false"/>
              <a:t>CHARACTER SET &lt;</a:t>
            </a:r>
            <a:r>
              <a:rPr lang="zh-CN" altLang="en-US" sz="2400" u="sng" dirty="false"/>
              <a:t>字符集名</a:t>
            </a:r>
            <a:r>
              <a:rPr lang="en-US" altLang="zh-CN" sz="2400" u="sng" dirty="false"/>
              <a:t>&gt;</a:t>
            </a:r>
            <a:endParaRPr lang="en-US" altLang="zh-CN" sz="3600" dirty="fals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false">
                <a:sym typeface="+mn-ea"/>
              </a:rPr>
              <a:t>DDL</a:t>
            </a:r>
            <a:r>
              <a:rPr lang="zh-CN" altLang="en-US" dirty="false">
                <a:sym typeface="+mn-ea"/>
              </a:rPr>
              <a:t>语言实验</a:t>
            </a:r>
            <a:endParaRPr lang="zh-CN" altLang="en-US" dirty="false"/>
          </a:p>
        </p:txBody>
      </p:sp>
      <p:sp>
        <p:nvSpPr>
          <p:cNvPr id="48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7200" algn="just" defTabSz="914400"/>
            <a:r>
              <a:rPr lang="zh-CN" altLang="en-US" sz="3600" dirty="false"/>
              <a:t> 删除约束</a:t>
            </a:r>
            <a:endParaRPr lang="en-US" altLang="zh-CN" sz="3600" dirty="false"/>
          </a:p>
          <a:p>
            <a:pPr indent="0" algn="just" defTabSz="914400">
              <a:buNone/>
            </a:pPr>
            <a:r>
              <a:rPr lang="en-US" altLang="zh-CN" sz="3030" u="sng" dirty="false"/>
              <a:t>alter table &lt;</a:t>
            </a:r>
            <a:r>
              <a:rPr lang="zh-CN" altLang="en-US" sz="3030" u="sng" dirty="false"/>
              <a:t>表名</a:t>
            </a:r>
            <a:r>
              <a:rPr lang="en-US" altLang="zh-CN" sz="3030" u="sng" dirty="false"/>
              <a:t>&gt; drop &lt;</a:t>
            </a:r>
            <a:r>
              <a:rPr lang="zh-CN" altLang="en-US" sz="3030" u="sng" dirty="false"/>
              <a:t>约束名</a:t>
            </a:r>
            <a:r>
              <a:rPr lang="en-US" altLang="zh-CN" sz="3030" u="sng" dirty="false"/>
              <a:t>&gt;;</a:t>
            </a:r>
            <a:endParaRPr/>
          </a:p>
          <a:p>
            <a:pPr indent="0" algn="just" defTabSz="914400">
              <a:buNone/>
            </a:pPr>
            <a:r>
              <a:rPr lang="en-US" altLang="zh-CN" sz="3030" dirty="false"/>
              <a:t>e.g.</a:t>
            </a:r>
            <a:endParaRPr/>
          </a:p>
          <a:p>
            <a:pPr indent="0" algn="just" defTabSz="914400">
              <a:buNone/>
            </a:pPr>
            <a:r>
              <a:rPr lang="zh-CN" altLang="en-US" sz="3030" dirty="false"/>
              <a:t>删除</a:t>
            </a:r>
            <a:r>
              <a:rPr lang="en-US" altLang="zh-CN" sz="3030" dirty="false"/>
              <a:t>not null</a:t>
            </a:r>
            <a:r>
              <a:rPr lang="zh-CN" altLang="en-US" sz="3030" dirty="false"/>
              <a:t>约束：</a:t>
            </a:r>
            <a:r>
              <a:rPr lang="en-US" altLang="zh-CN" sz="3030" u="sng" dirty="false"/>
              <a:t>alter table </a:t>
            </a:r>
            <a:r>
              <a:rPr lang="zh-CN" altLang="en-US" sz="3030" u="sng" dirty="false"/>
              <a:t>表名 </a:t>
            </a:r>
            <a:r>
              <a:rPr lang="en-US" altLang="zh-CN" sz="3030" u="sng" dirty="false"/>
              <a:t>modify </a:t>
            </a:r>
            <a:r>
              <a:rPr lang="zh-CN" altLang="en-US" sz="3030" u="sng" dirty="false"/>
              <a:t>列名 类型；</a:t>
            </a:r>
            <a:endParaRPr lang="en-US" altLang="zh-CN" sz="3030" u="sng" dirty="false"/>
          </a:p>
          <a:p>
            <a:pPr indent="0" algn="just" defTabSz="914400">
              <a:buNone/>
            </a:pPr>
            <a:r>
              <a:rPr lang="zh-CN" altLang="en-US" sz="3030" dirty="false"/>
              <a:t>删除</a:t>
            </a:r>
            <a:r>
              <a:rPr lang="en-US" altLang="zh-CN" sz="3030" dirty="false"/>
              <a:t>unique</a:t>
            </a:r>
            <a:r>
              <a:rPr lang="zh-CN" altLang="en-US" sz="3030" dirty="false"/>
              <a:t>约束：</a:t>
            </a:r>
            <a:r>
              <a:rPr lang="en-US" altLang="zh-CN" sz="3030" u="sng" dirty="false"/>
              <a:t>alter table </a:t>
            </a:r>
            <a:r>
              <a:rPr lang="zh-CN" altLang="en-US" sz="3030" u="sng" dirty="false"/>
              <a:t>表名 </a:t>
            </a:r>
            <a:r>
              <a:rPr lang="en-US" altLang="zh-CN" sz="3030" u="sng" dirty="false"/>
              <a:t>drop index </a:t>
            </a:r>
            <a:r>
              <a:rPr lang="zh-CN" altLang="en-US" sz="3030" u="sng" dirty="false"/>
              <a:t>唯一约束名</a:t>
            </a:r>
            <a:r>
              <a:rPr lang="en-US" altLang="zh-CN" sz="3030" u="sng" dirty="false"/>
              <a:t>;</a:t>
            </a:r>
            <a:endParaRPr/>
          </a:p>
          <a:p>
            <a:pPr indent="0" algn="just" defTabSz="914400">
              <a:buNone/>
            </a:pPr>
            <a:r>
              <a:rPr lang="zh-CN" altLang="en-US" sz="3030" dirty="false"/>
              <a:t>删除</a:t>
            </a:r>
            <a:r>
              <a:rPr lang="en-US" altLang="zh-CN" sz="3030" dirty="false"/>
              <a:t>primary key</a:t>
            </a:r>
            <a:r>
              <a:rPr lang="zh-CN" altLang="en-US" sz="3030" dirty="false"/>
              <a:t>约束：</a:t>
            </a:r>
            <a:r>
              <a:rPr lang="en-US" altLang="zh-CN" sz="3030" u="sng" dirty="false"/>
              <a:t>alter table </a:t>
            </a:r>
            <a:r>
              <a:rPr lang="zh-CN" altLang="en-US" sz="3030" u="sng" dirty="false"/>
              <a:t>表名 </a:t>
            </a:r>
            <a:r>
              <a:rPr lang="en-US" altLang="zh-CN" sz="3030" u="sng" dirty="false"/>
              <a:t>drop primary key;</a:t>
            </a:r>
            <a:endParaRPr/>
          </a:p>
          <a:p>
            <a:pPr indent="0" algn="just" defTabSz="914400">
              <a:buNone/>
            </a:pPr>
            <a:r>
              <a:rPr lang="zh-CN" altLang="en-US" sz="3030" dirty="false"/>
              <a:t>删除</a:t>
            </a:r>
            <a:r>
              <a:rPr lang="en-US" altLang="zh-CN" sz="3030" dirty="false"/>
              <a:t>foreign key</a:t>
            </a:r>
            <a:r>
              <a:rPr lang="zh-CN" altLang="en-US" sz="3030" dirty="false"/>
              <a:t>约束：</a:t>
            </a:r>
            <a:r>
              <a:rPr lang="en-US" altLang="zh-CN" sz="3030" dirty="false"/>
              <a:t>	</a:t>
            </a:r>
            <a:r>
              <a:rPr lang="en-US" altLang="zh-CN" sz="3030" u="sng" dirty="false"/>
              <a:t>alter table </a:t>
            </a:r>
            <a:r>
              <a:rPr lang="zh-CN" altLang="en-US" sz="3030" u="sng" dirty="false"/>
              <a:t>表名 </a:t>
            </a:r>
            <a:r>
              <a:rPr lang="en-US" altLang="zh-CN" sz="3030" u="sng" dirty="false"/>
              <a:t>drop foreign key </a:t>
            </a:r>
            <a:r>
              <a:rPr lang="zh-CN" altLang="en-US" sz="3030" u="sng" dirty="false"/>
              <a:t>外键名</a:t>
            </a:r>
            <a:r>
              <a:rPr lang="en-US" altLang="zh-CN" sz="3030" u="sng" dirty="false"/>
              <a:t>;</a:t>
            </a:r>
            <a:endParaRPr/>
          </a:p>
          <a:p>
            <a:pPr indent="0" algn="just" defTabSz="914400">
              <a:buNone/>
            </a:pPr>
            <a:r>
              <a:rPr lang="en-US" altLang="zh-CN" sz="3030" dirty="false"/>
              <a:t>					</a:t>
            </a:r>
            <a:r>
              <a:rPr lang="en-US" altLang="zh-CN" sz="3030" u="sng" dirty="false"/>
              <a:t>alter table </a:t>
            </a:r>
            <a:r>
              <a:rPr lang="zh-CN" altLang="en-US" sz="3030" u="sng" dirty="false"/>
              <a:t>表名 </a:t>
            </a:r>
            <a:r>
              <a:rPr lang="en-US" altLang="zh-CN" sz="3030" u="sng" dirty="false"/>
              <a:t>drop key </a:t>
            </a:r>
            <a:r>
              <a:rPr lang="zh-CN" altLang="en-US" sz="3030" u="sng" dirty="false"/>
              <a:t>键名</a:t>
            </a:r>
            <a:r>
              <a:rPr lang="en-US" altLang="zh-CN" sz="3030" u="sng" dirty="false"/>
              <a:t>;</a:t>
            </a:r>
            <a:endParaRPr/>
          </a:p>
          <a:p>
            <a:pPr indent="0" algn="just" defTabSz="914400">
              <a:buNone/>
            </a:pPr>
            <a:r>
              <a:rPr lang="en-US" altLang="zh-CN" sz="3030" dirty="false"/>
              <a:t>	</a:t>
            </a:r>
            <a:r>
              <a:rPr lang="en-US" altLang="zh-CN" sz="3030" dirty="false">
                <a:solidFill>
                  <a:srgbClr val="FF0000"/>
                </a:solidFill>
              </a:rPr>
              <a:t>	</a:t>
            </a:r>
            <a:r>
              <a:rPr lang="en-US" altLang="zh-CN" sz="3030" u="sng" dirty="false">
                <a:solidFill>
                  <a:srgbClr val="FF0000"/>
                </a:solidFill>
              </a:rPr>
              <a:t>* </a:t>
            </a:r>
            <a:r>
              <a:rPr lang="zh-CN" altLang="en-US" sz="3030" u="sng" dirty="false">
                <a:solidFill>
                  <a:srgbClr val="FF0000"/>
                </a:solidFill>
              </a:rPr>
              <a:t>可以使用 </a:t>
            </a:r>
            <a:r>
              <a:rPr lang="en-US" altLang="zh-CN" sz="3030" u="sng" dirty="false">
                <a:solidFill>
                  <a:srgbClr val="FF0000"/>
                </a:solidFill>
              </a:rPr>
              <a:t>show create table &lt;</a:t>
            </a:r>
            <a:r>
              <a:rPr lang="zh-CN" altLang="en-US" sz="3030" u="sng" dirty="false">
                <a:solidFill>
                  <a:srgbClr val="FF0000"/>
                </a:solidFill>
              </a:rPr>
              <a:t>表名</a:t>
            </a:r>
            <a:r>
              <a:rPr lang="en-US" altLang="zh-CN" sz="3030" u="sng" dirty="false">
                <a:solidFill>
                  <a:srgbClr val="FF0000"/>
                </a:solidFill>
              </a:rPr>
              <a:t>&gt;;</a:t>
            </a:r>
            <a:r>
              <a:rPr lang="zh-CN" altLang="en-US" sz="3030" u="sng" dirty="false">
                <a:solidFill>
                  <a:srgbClr val="FF0000"/>
                </a:solidFill>
              </a:rPr>
              <a:t> 查看外键名等</a:t>
            </a:r>
            <a:endParaRPr lang="en-US" altLang="zh-CN" sz="3030" u="sng" dirty="false">
              <a:solidFill>
                <a:srgbClr val="FF0000"/>
              </a:solidFill>
            </a:endParaRPr>
          </a:p>
          <a:p>
            <a:pPr indent="0" algn="just" defTabSz="914400">
              <a:buNone/>
            </a:pPr>
            <a:endParaRPr lang="en-US" altLang="zh-CN" sz="3600" dirty="false"/>
          </a:p>
          <a:p>
            <a:pPr indent="457200" algn="just" defTabSz="914400"/>
            <a:r>
              <a:rPr lang="zh-CN" altLang="en-US" sz="3600" dirty="false"/>
              <a:t>添加约束</a:t>
            </a:r>
            <a:endParaRPr lang="en-US" altLang="zh-CN" sz="3600" dirty="false"/>
          </a:p>
          <a:p>
            <a:pPr indent="0" algn="just" defTabSz="914400">
              <a:buNone/>
            </a:pPr>
            <a:r>
              <a:rPr lang="en-US" altLang="zh-CN" sz="3030" u="sng" dirty="false"/>
              <a:t>alter table &lt;</a:t>
            </a:r>
            <a:r>
              <a:rPr lang="zh-CN" altLang="en-US" sz="3030" u="sng" dirty="false"/>
              <a:t>表名</a:t>
            </a:r>
            <a:r>
              <a:rPr lang="en-US" altLang="zh-CN" sz="3030" u="sng" dirty="false"/>
              <a:t>&gt; add constraint &lt;</a:t>
            </a:r>
            <a:r>
              <a:rPr lang="zh-CN" altLang="en-US" sz="3030" u="sng" dirty="false"/>
              <a:t>约束项</a:t>
            </a:r>
            <a:r>
              <a:rPr lang="en-US" altLang="zh-CN" sz="3030" u="sng" dirty="false"/>
              <a:t>&gt;;</a:t>
            </a:r>
            <a:endParaRPr lang="en-US" altLang="zh-CN" sz="3600" dirty="fals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false">
                <a:sym typeface="+mn-ea"/>
              </a:rPr>
              <a:t>DDL</a:t>
            </a:r>
            <a:r>
              <a:rPr lang="zh-CN" altLang="en-US" dirty="false">
                <a:sym typeface="+mn-ea"/>
              </a:rPr>
              <a:t>语言实验</a:t>
            </a:r>
            <a:endParaRPr lang="zh-CN" altLang="en-US" dirty="false"/>
          </a:p>
        </p:txBody>
      </p:sp>
      <p:sp>
        <p:nvSpPr>
          <p:cNvPr id="51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 defTabSz="914400">
              <a:buNone/>
            </a:pPr>
            <a:r>
              <a:rPr lang="zh-CN" altLang="en-US" sz="4800" dirty="false"/>
              <a:t>实验内容</a:t>
            </a:r>
            <a:endParaRPr/>
          </a:p>
          <a:p>
            <a:pPr indent="457200" algn="just" defTabSz="914400"/>
            <a:r>
              <a:rPr lang="zh-CN" altLang="en-US" sz="3600" dirty="false"/>
              <a:t>建立一个教学管理系统</a:t>
            </a:r>
            <a:endParaRPr/>
          </a:p>
          <a:p>
            <a:pPr indent="457200" algn="just" defTabSz="914400"/>
            <a:r>
              <a:rPr lang="zh-CN" altLang="en-US" sz="3600" dirty="false"/>
              <a:t>包含：学生信息、学院信息、课程信息、成绩信息</a:t>
            </a:r>
            <a:endParaRPr/>
          </a:p>
          <a:p>
            <a:pPr indent="0" algn="just" defTabSz="914400">
              <a:buNone/>
            </a:pPr>
            <a:endParaRPr lang="en-US" altLang="zh-CN" sz="4800" dirty="false"/>
          </a:p>
          <a:p>
            <a:pPr indent="0" algn="just" defTabSz="914400">
              <a:buNone/>
            </a:pPr>
            <a:r>
              <a:rPr lang="zh-CN" altLang="en-US" sz="4800" dirty="false"/>
              <a:t>报告要求</a:t>
            </a:r>
            <a:endParaRPr lang="en-US" altLang="zh-CN" sz="3600" dirty="false"/>
          </a:p>
          <a:p>
            <a:pPr indent="457200" algn="just" defTabSz="914400"/>
            <a:r>
              <a:rPr lang="zh-CN" altLang="en-US" sz="3600" dirty="false"/>
              <a:t>记录每一步的</a:t>
            </a:r>
            <a:r>
              <a:rPr lang="en-US" altLang="zh-CN" sz="3600" dirty="false"/>
              <a:t>SQL</a:t>
            </a:r>
            <a:r>
              <a:rPr lang="zh-CN" altLang="en-US" sz="3600" dirty="false"/>
              <a:t>语句</a:t>
            </a:r>
            <a:r>
              <a:rPr lang="zh-CN" altLang="en-US" sz="3600"/>
              <a:t>及其输出</a:t>
            </a:r>
            <a:endParaRPr lang="en-US" altLang="zh-CN" sz="3600"/>
          </a:p>
          <a:p>
            <a:pPr indent="457200" algn="just" defTabSz="914400"/>
            <a:r>
              <a:rPr lang="zh-CN" altLang="en-US" sz="3600"/>
              <a:t>记录你遇到的问题及解决方案</a:t>
            </a:r>
            <a:endParaRPr lang="zh-CN" altLang="en-US" sz="3600" dirty="fals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false"/>
              <a:t>实验过程</a:t>
            </a:r>
            <a:endParaRPr/>
          </a:p>
        </p:txBody>
      </p:sp>
      <p:sp>
        <p:nvSpPr>
          <p:cNvPr id="54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7200" algn="just" defTabSz="914400"/>
            <a:r>
              <a:rPr lang="zh-CN" altLang="en-US" sz="3600" dirty="false"/>
              <a:t>新建数据表</a:t>
            </a:r>
            <a:endParaRPr lang="en-US" altLang="zh-CN" sz="3600" dirty="false"/>
          </a:p>
          <a:p>
            <a:pPr lvl="1" indent="457200" algn="just" defTabSz="914400"/>
            <a:r>
              <a:rPr lang="en-US" altLang="zh-CN" sz="3030" dirty="false"/>
              <a:t>student</a:t>
            </a:r>
            <a:endParaRPr/>
          </a:p>
          <a:p>
            <a:pPr lvl="1" indent="457200" algn="just" defTabSz="914400"/>
            <a:r>
              <a:rPr lang="en-US" altLang="zh-CN" sz="3030" dirty="false"/>
              <a:t>dept (department)</a:t>
            </a:r>
            <a:endParaRPr/>
          </a:p>
          <a:p>
            <a:pPr lvl="1" indent="457200" algn="just" defTabSz="914400"/>
            <a:r>
              <a:rPr lang="en-US" altLang="zh-CN" sz="3030" dirty="false"/>
              <a:t>course</a:t>
            </a:r>
            <a:endParaRPr/>
          </a:p>
          <a:p>
            <a:pPr lvl="1" indent="457200" algn="just" defTabSz="914400"/>
            <a:r>
              <a:rPr lang="en-US" altLang="zh-CN" sz="3030" dirty="false"/>
              <a:t>score</a:t>
            </a:r>
            <a:endParaRPr lang="zh-CN" altLang="en-US" sz="3030" dirty="fals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false"/>
              <a:t>student</a:t>
            </a:r>
            <a:endParaRPr lang="zh-CN" altLang="en-US" dirty="false"/>
          </a:p>
        </p:txBody>
      </p:sp>
      <p:graphicFrame>
        <p:nvGraphicFramePr>
          <p:cNvPr id="10" name="Table 6"/>
          <p:cNvGraphicFramePr/>
          <p:nvPr>
            <p:ph idx="1"/>
          </p:nvPr>
        </p:nvGraphicFramePr>
        <p:xfrm>
          <a:off x="408782" y="2956560"/>
          <a:ext cx="12187236" cy="384048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928812">
                  <a:extLst>
                    <a:ext uri="{9D8B030D-6E8A-4147-A177-3AD203B41FA5}">
                      <a16:colId val="1"/>
                    </a:ext>
                  </a:extLst>
                </a:gridCol>
                <a:gridCol w="2311400">
                  <a:extLst>
                    <a:ext uri="{9D8B030D-6E8A-4147-A177-3AD203B41FA5}">
                      <a16:colId val="2"/>
                    </a:ext>
                  </a:extLst>
                </a:gridCol>
                <a:gridCol w="794702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字段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类型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约束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/>
                        <a:t>No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主键，非空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Name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Varchar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Gender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Varchar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非空，只能为</a:t>
                      </a:r>
                      <a:r>
                        <a:rPr lang="en-US" altLang="zh-CN" sz="3600" dirty="false"/>
                        <a:t>F</a:t>
                      </a:r>
                      <a:r>
                        <a:rPr lang="zh-CN" altLang="en-US" sz="3600" dirty="false"/>
                        <a:t>或者</a:t>
                      </a:r>
                      <a:r>
                        <a:rPr lang="en-US" altLang="zh-CN" sz="3600" dirty="false"/>
                        <a:t>M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Age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>
                          <a:sym typeface="+mn-ea"/>
                        </a:rPr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 err="true"/>
                        <a:t>D_no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>
                          <a:sym typeface="+mn-ea"/>
                        </a:rPr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非空，</a:t>
                      </a:r>
                      <a:r>
                        <a:rPr lang="zh-CN" altLang="en-US" sz="3600"/>
                        <a:t>外键   （初始不用建立）</a:t>
                      </a:r>
                      <a:endParaRPr lang="zh-CN" altLang="en-US" sz="3600" dirty="false"/>
                    </a:p>
                  </a:txBody>
                  <a:tcPr/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false"/>
              <a:t>dept</a:t>
            </a:r>
            <a:endParaRPr lang="zh-CN" altLang="en-US" dirty="false"/>
          </a:p>
        </p:txBody>
      </p:sp>
      <p:graphicFrame>
        <p:nvGraphicFramePr>
          <p:cNvPr id="13" name="Table 6"/>
          <p:cNvGraphicFramePr/>
          <p:nvPr>
            <p:ph idx="1"/>
          </p:nvPr>
        </p:nvGraphicFramePr>
        <p:xfrm>
          <a:off x="408782" y="3916680"/>
          <a:ext cx="12187236" cy="192024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928812">
                  <a:extLst>
                    <a:ext uri="{9D8B030D-6E8A-4147-A177-3AD203B41FA5}">
                      <a16:colId val="1"/>
                    </a:ext>
                  </a:extLst>
                </a:gridCol>
                <a:gridCol w="2311400">
                  <a:extLst>
                    <a:ext uri="{9D8B030D-6E8A-4147-A177-3AD203B41FA5}">
                      <a16:colId val="2"/>
                    </a:ext>
                  </a:extLst>
                </a:gridCol>
                <a:gridCol w="794702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字段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类型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约束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No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Integer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主键，非空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Name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>
                          <a:sym typeface="+mn-ea"/>
                        </a:rPr>
                        <a:t>Varchar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false"/>
              <a:t>course</a:t>
            </a:r>
            <a:endParaRPr lang="zh-CN" altLang="en-US" dirty="false"/>
          </a:p>
        </p:txBody>
      </p:sp>
      <p:graphicFrame>
        <p:nvGraphicFramePr>
          <p:cNvPr id="16" name="Table 6"/>
          <p:cNvGraphicFramePr/>
          <p:nvPr>
            <p:ph idx="1"/>
          </p:nvPr>
        </p:nvGraphicFramePr>
        <p:xfrm>
          <a:off x="408782" y="3276600"/>
          <a:ext cx="12187236" cy="32004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928812">
                  <a:extLst>
                    <a:ext uri="{9D8B030D-6E8A-4147-A177-3AD203B41FA5}">
                      <a16:colId val="1"/>
                    </a:ext>
                  </a:extLst>
                </a:gridCol>
                <a:gridCol w="2311400">
                  <a:extLst>
                    <a:ext uri="{9D8B030D-6E8A-4147-A177-3AD203B41FA5}">
                      <a16:colId val="2"/>
                    </a:ext>
                  </a:extLst>
                </a:gridCol>
                <a:gridCol w="794702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字段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类型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约束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No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主键，非空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Name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Varchar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Credit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>
                          <a:sym typeface="+mn-ea"/>
                        </a:rPr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 err="true"/>
                        <a:t>D_no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>
                          <a:sym typeface="+mn-ea"/>
                        </a:rPr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非空，</a:t>
                      </a:r>
                      <a:r>
                        <a:rPr lang="zh-CN" altLang="en-US" sz="3600"/>
                        <a:t>外键    （初始不用建立）</a:t>
                      </a:r>
                      <a:endParaRPr lang="zh-CN" altLang="en-US" sz="3600" dirty="false"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3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false"/>
              <a:t>score</a:t>
            </a:r>
            <a:endParaRPr lang="zh-CN" altLang="en-US" dirty="false"/>
          </a:p>
        </p:txBody>
      </p:sp>
      <p:graphicFrame>
        <p:nvGraphicFramePr>
          <p:cNvPr id="19" name="Table 6"/>
          <p:cNvGraphicFramePr/>
          <p:nvPr>
            <p:ph idx="1"/>
          </p:nvPr>
        </p:nvGraphicFramePr>
        <p:xfrm>
          <a:off x="408782" y="3596640"/>
          <a:ext cx="12187236" cy="256032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928812">
                  <a:extLst>
                    <a:ext uri="{9D8B030D-6E8A-4147-A177-3AD203B41FA5}">
                      <a16:colId val="1"/>
                    </a:ext>
                  </a:extLst>
                </a:gridCol>
                <a:gridCol w="2311400">
                  <a:extLst>
                    <a:ext uri="{9D8B030D-6E8A-4147-A177-3AD203B41FA5}">
                      <a16:colId val="2"/>
                    </a:ext>
                  </a:extLst>
                </a:gridCol>
                <a:gridCol w="794702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字段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类型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约束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 err="true"/>
                        <a:t>S_no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非空，外键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 err="true"/>
                        <a:t>C_no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>
                          <a:sym typeface="+mn-ea"/>
                        </a:rPr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非空，外键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/>
                        <a:t>Score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sz="3600" dirty="false">
                          <a:sym typeface="+mn-ea"/>
                        </a:rPr>
                        <a:t>Integer</a:t>
                      </a:r>
                      <a:endParaRPr lang="zh-CN" altLang="en-US" sz="3600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3600" dirty="false"/>
                        <a:t>非空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false"/>
              <a:t>实验内容</a:t>
            </a:r>
            <a:endParaRPr/>
          </a:p>
        </p:txBody>
      </p:sp>
      <p:sp>
        <p:nvSpPr>
          <p:cNvPr id="22" name="内容占位符 2"/>
          <p:cNvSpPr>
            <a:spLocks noGrp="true"/>
          </p:cNvSpPr>
          <p:nvPr>
            <p:ph idx="1"/>
          </p:nvPr>
        </p:nvSpPr>
        <p:spPr>
          <a:xfrm>
            <a:off x="357717" y="1507387"/>
            <a:ext cx="12186954" cy="7215540"/>
          </a:xfrm>
        </p:spPr>
        <p:txBody>
          <a:bodyPr>
            <a:normAutofit fontScale="85000" lnSpcReduction="20000"/>
          </a:bodyPr>
          <a:lstStyle/>
          <a:p>
            <a:pPr indent="457200" algn="just" defTabSz="914400"/>
            <a:r>
              <a:rPr lang="zh-CN" altLang="en-US" sz="3600" dirty="false"/>
              <a:t>建立上述四表，若表格已经存在，可以使用</a:t>
            </a:r>
            <a:r>
              <a:rPr lang="en-US" altLang="zh-CN" sz="3600"/>
              <a:t>drop table </a:t>
            </a:r>
            <a:r>
              <a:rPr lang="zh-CN" altLang="en-US" sz="3600"/>
              <a:t>表名 删除</a:t>
            </a:r>
            <a:r>
              <a:rPr lang="zh-CN" altLang="en-US" sz="3600" dirty="false"/>
              <a:t>表格。</a:t>
            </a:r>
            <a:endParaRPr/>
          </a:p>
          <a:p>
            <a:pPr indent="457200" algn="just" defTabSz="914400"/>
            <a:r>
              <a:rPr lang="zh-CN" altLang="en-US" sz="3600" dirty="false"/>
              <a:t>使用以下语句查询表结构</a:t>
            </a:r>
            <a:r>
              <a:rPr lang="en-US" altLang="zh-CN" sz="3600" dirty="false"/>
              <a:t>: </a:t>
            </a:r>
            <a:endParaRPr/>
          </a:p>
          <a:p>
            <a:pPr indent="0" algn="just" defTabSz="914400">
              <a:buNone/>
            </a:pPr>
            <a:r>
              <a:rPr lang="en-US" altLang="zh-CN" sz="3600" dirty="false"/>
              <a:t>	</a:t>
            </a:r>
            <a:r>
              <a:rPr lang="en-US" altLang="zh-CN" sz="2800" i="true" dirty="false"/>
              <a:t>DESC &lt;</a:t>
            </a:r>
            <a:r>
              <a:rPr lang="zh-CN" altLang="en-US" sz="2800" i="true" dirty="false"/>
              <a:t>表名</a:t>
            </a:r>
            <a:r>
              <a:rPr lang="en-US" altLang="zh-CN" sz="2800" i="true" dirty="false"/>
              <a:t>&gt;</a:t>
            </a:r>
            <a:endParaRPr lang="en-US" altLang="zh-CN" sz="2800" u="sng" dirty="false"/>
          </a:p>
          <a:p>
            <a:pPr indent="457200" algn="just" defTabSz="914400"/>
            <a:r>
              <a:rPr lang="zh-CN" altLang="en-US" sz="3600" dirty="false"/>
              <a:t>使用以下语句查询建立的约束</a:t>
            </a:r>
            <a:r>
              <a:rPr lang="en-US" altLang="zh-CN" sz="3600" dirty="false"/>
              <a:t>:</a:t>
            </a:r>
            <a:endParaRPr/>
          </a:p>
          <a:p>
            <a:pPr indent="0" algn="just" defTabSz="914400">
              <a:buNone/>
            </a:pPr>
            <a:r>
              <a:rPr lang="en-US" altLang="zh-CN" sz="3600" dirty="false"/>
              <a:t>	</a:t>
            </a:r>
            <a:r>
              <a:rPr lang="en-US" altLang="zh-CN" sz="2800" i="true" dirty="false"/>
              <a:t>SELECT </a:t>
            </a:r>
            <a:r>
              <a:rPr lang="en-US" altLang="zh-CN" sz="2800" i="true" dirty="false" err="true"/>
              <a:t>table_name</a:t>
            </a:r>
            <a:r>
              <a:rPr lang="en-US" altLang="zh-CN" sz="2800" i="true" dirty="false"/>
              <a:t>, </a:t>
            </a:r>
            <a:r>
              <a:rPr lang="en-US" altLang="zh-CN" sz="2800" i="true" dirty="false" err="true"/>
              <a:t>constraint_name</a:t>
            </a:r>
            <a:r>
              <a:rPr lang="en-US" altLang="zh-CN" sz="2800" i="true" dirty="false"/>
              <a:t>, </a:t>
            </a:r>
            <a:r>
              <a:rPr lang="en-US" altLang="zh-CN" sz="2800" i="true" dirty="false" err="true"/>
              <a:t>constraint_type</a:t>
            </a:r>
            <a:endParaRPr lang="en-US" altLang="zh-CN" sz="2800" i="true" dirty="false"/>
          </a:p>
          <a:p>
            <a:pPr indent="0" algn="just" defTabSz="914400">
              <a:buNone/>
            </a:pPr>
            <a:r>
              <a:rPr lang="en-US" altLang="zh-CN" sz="2800" i="true" dirty="false"/>
              <a:t>	FROM </a:t>
            </a:r>
            <a:r>
              <a:rPr lang="en-US" altLang="zh-CN" sz="2800" i="true" dirty="false" err="true"/>
              <a:t>information_schema.TABLE_CONSTRAINTS</a:t>
            </a:r>
            <a:endParaRPr lang="en-US" altLang="zh-CN" sz="2800" i="true" dirty="false"/>
          </a:p>
          <a:p>
            <a:pPr indent="0" algn="just" defTabSz="914400">
              <a:buNone/>
            </a:pPr>
            <a:r>
              <a:rPr lang="en-US" altLang="zh-CN" sz="2800" i="true" dirty="false"/>
              <a:t>	WHERE </a:t>
            </a:r>
            <a:r>
              <a:rPr lang="en-US" altLang="zh-CN" sz="2800" i="true" dirty="false" err="true"/>
              <a:t>table_name</a:t>
            </a:r>
            <a:r>
              <a:rPr lang="en-US" altLang="zh-CN" sz="2800" i="true" dirty="false"/>
              <a:t>=&lt;</a:t>
            </a:r>
            <a:r>
              <a:rPr lang="zh-CN" altLang="en-US" sz="2800" i="true" dirty="false"/>
              <a:t>表名</a:t>
            </a:r>
            <a:r>
              <a:rPr lang="en-US" altLang="zh-CN" sz="2800" i="true" dirty="false"/>
              <a:t>&gt;</a:t>
            </a:r>
            <a:endParaRPr/>
          </a:p>
          <a:p>
            <a:pPr marL="1059180" indent="-571500" algn="just" defTabSz="914400"/>
            <a:r>
              <a:rPr lang="zh-CN" altLang="en-US" sz="3600" dirty="false"/>
              <a:t>将</a:t>
            </a:r>
            <a:r>
              <a:rPr lang="en-US" altLang="zh-CN" sz="3600" dirty="false"/>
              <a:t>student</a:t>
            </a:r>
            <a:r>
              <a:rPr lang="zh-CN" altLang="en-US" sz="3600" dirty="false"/>
              <a:t>中的</a:t>
            </a:r>
            <a:r>
              <a:rPr lang="en-US" altLang="zh-CN" sz="3600" dirty="false"/>
              <a:t>name</a:t>
            </a:r>
            <a:r>
              <a:rPr lang="zh-CN" altLang="en-US" sz="3600" dirty="false"/>
              <a:t>由</a:t>
            </a:r>
            <a:r>
              <a:rPr lang="en-US" altLang="zh-CN" sz="3600" dirty="false"/>
              <a:t>varchar</a:t>
            </a:r>
            <a:r>
              <a:rPr lang="zh-CN" altLang="en-US" sz="3600" dirty="false"/>
              <a:t>改为</a:t>
            </a:r>
            <a:r>
              <a:rPr lang="en-US" altLang="zh-CN" sz="3600" dirty="false"/>
              <a:t>char(15)</a:t>
            </a:r>
            <a:r>
              <a:rPr lang="zh-CN" altLang="en-US" sz="3600" dirty="false"/>
              <a:t>。</a:t>
            </a:r>
            <a:endParaRPr lang="en-US" altLang="zh-CN" sz="3600" dirty="false"/>
          </a:p>
          <a:p>
            <a:pPr marL="1059180" indent="-571500" algn="just" defTabSz="914400"/>
            <a:r>
              <a:rPr lang="zh-CN" altLang="en-US" sz="3600" dirty="false"/>
              <a:t>使用</a:t>
            </a:r>
            <a:r>
              <a:rPr lang="en-US" altLang="zh-CN" sz="3600" dirty="false"/>
              <a:t>alter</a:t>
            </a:r>
            <a:r>
              <a:rPr lang="zh-CN" altLang="en-US" sz="3600" dirty="false"/>
              <a:t>添加</a:t>
            </a:r>
            <a:r>
              <a:rPr lang="en-US" altLang="zh-CN" sz="3600" dirty="false"/>
              <a:t>student</a:t>
            </a:r>
            <a:r>
              <a:rPr lang="zh-CN" altLang="en-US" sz="3600" dirty="false"/>
              <a:t>和</a:t>
            </a:r>
            <a:r>
              <a:rPr lang="en-US" altLang="zh-CN" sz="3600" dirty="false"/>
              <a:t>course</a:t>
            </a:r>
            <a:r>
              <a:rPr lang="zh-CN" altLang="en-US" sz="3600" dirty="false"/>
              <a:t>的</a:t>
            </a:r>
            <a:r>
              <a:rPr lang="en-US" altLang="zh-CN" sz="3600" dirty="false" err="true"/>
              <a:t>d_no</a:t>
            </a:r>
            <a:r>
              <a:rPr lang="zh-CN" altLang="en-US" sz="3600" dirty="false"/>
              <a:t>列及其约束。</a:t>
            </a:r>
            <a:endParaRPr lang="en-US" altLang="zh-CN" sz="3600" dirty="false"/>
          </a:p>
          <a:p>
            <a:pPr marL="1059180" indent="-571500" algn="just" defTabSz="914400"/>
            <a:r>
              <a:rPr lang="zh-CN" altLang="en-US" sz="3600" dirty="false"/>
              <a:t>将</a:t>
            </a:r>
            <a:r>
              <a:rPr lang="en-US" altLang="zh-CN" sz="3600" dirty="false"/>
              <a:t>score</a:t>
            </a:r>
            <a:r>
              <a:rPr lang="zh-CN" altLang="en-US" sz="3600" dirty="false"/>
              <a:t>表中所有约束删除后再建立一</a:t>
            </a:r>
            <a:r>
              <a:rPr lang="zh-CN" altLang="en-US" sz="3600"/>
              <a:t>次。</a:t>
            </a:r>
            <a:endParaRPr lang="en-US" altLang="zh-CN" sz="3600"/>
          </a:p>
          <a:p>
            <a:pPr marL="1059180" indent="-571500" algn="just" defTabSz="914400"/>
            <a:endParaRPr lang="en-US" altLang="zh-CN" sz="3600"/>
          </a:p>
          <a:p>
            <a:pPr marL="1059180" indent="-571500" algn="just" defTabSz="914400"/>
            <a:r>
              <a:rPr lang="en-US" altLang="zh-CN" sz="3600">
                <a:hlinkClick r:id="rId1"/>
              </a:rPr>
              <a:t>https://www.oceanbase.com/docs/common-oceanbase-database-cn-1000000004475544</a:t>
            </a:r>
            <a:endParaRPr lang="en-US" altLang="zh-CN" sz="3600"/>
          </a:p>
          <a:p>
            <a:pPr marL="1059180" indent="-571500" algn="just" defTabSz="914400"/>
            <a:r>
              <a:rPr lang="en-US" altLang="zh-CN" sz="3600">
                <a:hlinkClick r:id="rId2"/>
              </a:rPr>
              <a:t>https://mariadb.com/docs/server/mariadb-quickstart-guides/basics-guide</a:t>
            </a:r>
            <a:endParaRPr lang="en-US" altLang="zh-CN" sz="3600"/>
          </a:p>
          <a:p>
            <a:pPr marL="1059180" indent="-571500" algn="just" defTabSz="914400"/>
            <a:endParaRPr lang="zh-CN" altLang="en-US" sz="3600" dirty="fals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p14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585" y="23035"/>
            <a:ext cx="6500779" cy="744110"/>
          </a:xfrm>
          <a:prstGeom prst="rect">
            <a:avLst/>
          </a:prstGeom>
        </p:spPr>
      </p:pic>
      <p:grpSp>
        <p:nvGrpSpPr>
          <p:cNvPr id="25" name="组合 9"/>
          <p:cNvGrpSpPr/>
          <p:nvPr/>
        </p:nvGrpSpPr>
        <p:grpSpPr>
          <a:xfrm>
            <a:off x="6312547" y="1119704"/>
            <a:ext cx="6099175" cy="5547363"/>
            <a:chOff x="5883162" y="3578590"/>
            <a:chExt cx="5210902" cy="4748619"/>
          </a:xfrm>
        </p:grpSpPr>
        <p:pic>
          <p:nvPicPr>
            <p:cNvPr id="26" name="图片 6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0397" y="6564838"/>
              <a:ext cx="4172532" cy="1762371"/>
            </a:xfrm>
            <a:prstGeom prst="rect">
              <a:avLst/>
            </a:prstGeom>
          </p:spPr>
        </p:pic>
        <p:pic>
          <p:nvPicPr>
            <p:cNvPr id="27" name="图片 8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3162" y="3578590"/>
              <a:ext cx="5210902" cy="2953162"/>
            </a:xfrm>
            <a:prstGeom prst="rect">
              <a:avLst/>
            </a:prstGeom>
          </p:spPr>
        </p:pic>
      </p:grpSp>
      <p:sp>
        <p:nvSpPr>
          <p:cNvPr id="28" name="矩形 10"/>
          <p:cNvSpPr/>
          <p:nvPr/>
        </p:nvSpPr>
        <p:spPr>
          <a:xfrm>
            <a:off x="241301" y="7226301"/>
            <a:ext cx="12309966" cy="227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false" anchor="ctr"/>
          <a:lstStyle/>
          <a:p>
            <a:pPr/>
            <a:r>
              <a:rPr lang="en-US" altLang="zh-CN" sz="2000"/>
              <a:t>https://www.oceanbase.com/docs/common-oceanbase-database-cn-1000000004475544</a:t>
            </a:r>
            <a:endParaRPr/>
          </a:p>
          <a:p>
            <a:pPr/>
            <a:r>
              <a:rPr lang="en-US" altLang="zh-CN" sz="2000"/>
              <a:t>https://mariadb.com/docs/server/mariadb-quickstart-guides/basics-guide</a:t>
            </a:r>
            <a:endParaRPr/>
          </a:p>
          <a:p>
            <a:pPr/>
            <a:r>
              <a:rPr lang="zh-CN" altLang="en-US" sz="2000"/>
              <a:t>请大家完成实验，有问题先去上面两个官方文档里找解决方案，没找到再在会议室里问</a:t>
            </a:r>
            <a:endParaRPr/>
          </a:p>
          <a:p>
            <a:pPr/>
            <a:r>
              <a:rPr lang="zh-CN" altLang="en-US" sz="2000"/>
              <a:t>实验完成、签到完成后，可以离开会议室</a:t>
            </a:r>
            <a:endParaRPr/>
          </a:p>
          <a:p>
            <a:pPr/>
            <a:r>
              <a:rPr lang="zh-CN" altLang="en-US" sz="2000"/>
              <a:t>按要求提交实验报告</a:t>
            </a:r>
            <a:endParaRPr/>
          </a:p>
          <a:p>
            <a:pPr/>
            <a:r>
              <a:rPr lang="zh-CN" altLang="en-US" sz="2000"/>
              <a:t>李老师班：请在</a:t>
            </a:r>
            <a:r>
              <a:rPr lang="en-US" altLang="zh-CN" sz="2000"/>
              <a:t>3/29</a:t>
            </a:r>
            <a:r>
              <a:rPr lang="zh-CN" altLang="en-US" sz="2000"/>
              <a:t>前，在</a:t>
            </a:r>
            <a:r>
              <a:rPr lang="en-US" altLang="zh-CN" sz="2000"/>
              <a:t>canvas</a:t>
            </a:r>
            <a:r>
              <a:rPr lang="zh-CN" altLang="en-US" sz="2000"/>
              <a:t>上提交</a:t>
            </a:r>
            <a:endParaRPr/>
          </a:p>
          <a:p>
            <a:pPr/>
            <a:r>
              <a:rPr lang="zh-CN" altLang="en-US" sz="2000"/>
              <a:t>关老师班、张老师班：等后续通知</a:t>
            </a:r>
            <a:endParaRPr/>
          </a:p>
        </p:txBody>
      </p:sp>
      <p:pic>
        <p:nvPicPr>
          <p:cNvPr id="29" name="图片 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54" y="1107002"/>
            <a:ext cx="5858693" cy="5782482"/>
          </a:xfrm>
          <a:prstGeom prst="rect">
            <a:avLst/>
          </a:prstGeom>
        </p:spPr>
      </p:pic>
      <p:pic>
        <p:nvPicPr>
          <p:cNvPr id="30" name="图片 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" y="2"/>
            <a:ext cx="3481987" cy="9582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Requires="p14">
      <p:transition p14:dur="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2026-03-24T15:41:44Z</dcterms:created>
  <dcterms:modified xsi:type="dcterms:W3CDTF">2026-03-24T15:41:44Z</dcterms:modified>
</cp:coreProperties>
</file>