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3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5"/>
  </p:handoutMasterIdLst>
  <p:sldIdLst>
    <p:sldId id="1587" r:id="rId3"/>
    <p:sldId id="5158" r:id="rId5"/>
    <p:sldId id="5178" r:id="rId6"/>
    <p:sldId id="5183" r:id="rId7"/>
    <p:sldId id="5179" r:id="rId8"/>
    <p:sldId id="5143" r:id="rId9"/>
    <p:sldId id="5184" r:id="rId10"/>
    <p:sldId id="5180" r:id="rId11"/>
    <p:sldId id="5181" r:id="rId12"/>
    <p:sldId id="5182" r:id="rId13"/>
    <p:sldId id="2657" r:id="rId14"/>
  </p:sldIdLst>
  <p:sldSz cx="13004800" cy="9753600"/>
  <p:notesSz cx="6858000" cy="9144000"/>
  <p:defaultTextStyle>
    <a:defPPr>
      <a:defRPr lang="zh-CN"/>
    </a:defPPr>
    <a:lvl1pPr marL="0" algn="l" defTabSz="1300480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1pPr>
    <a:lvl2pPr marL="650240" algn="l" defTabSz="1300480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2pPr>
    <a:lvl3pPr marL="1300480" algn="l" defTabSz="1300480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3pPr>
    <a:lvl4pPr marL="1950720" algn="l" defTabSz="1300480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4pPr>
    <a:lvl5pPr marL="2600960" algn="l" defTabSz="1300480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5pPr>
    <a:lvl6pPr marL="3251200" algn="l" defTabSz="1300480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6pPr>
    <a:lvl7pPr marL="3901440" algn="l" defTabSz="1300480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7pPr>
    <a:lvl8pPr marL="4551680" algn="l" defTabSz="1300480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8pPr>
    <a:lvl9pPr marL="5201920" algn="l" defTabSz="1300480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孔 令百" initials="孔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629" autoAdjust="0"/>
    <p:restoredTop sz="93842" autoAdjust="0"/>
  </p:normalViewPr>
  <p:slideViewPr>
    <p:cSldViewPr snapToGrid="0">
      <p:cViewPr varScale="1">
        <p:scale>
          <a:sx n="80" d="100"/>
          <a:sy n="80" d="100"/>
        </p:scale>
        <p:origin x="112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commentAuthors" Target="commentAuthors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handoutMaster" Target="handoutMasters/handoutMaster1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2C4076-FEB5-441C-9D19-C28296E5F21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C2E6E1-F492-4354-9348-52045CAB75A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B8C311E-5859-4E0C-A0F3-4690A095D6BE}" type="slidenum">
              <a:rPr lang="fi-FI" altLang="zh-CN" smtClean="0"/>
            </a:fld>
            <a:endParaRPr lang="fi-FI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B8C311E-5859-4E0C-A0F3-4690A095D6BE}" type="slidenum">
              <a:rPr lang="fi-FI" altLang="zh-CN" smtClean="0"/>
            </a:fld>
            <a:endParaRPr lang="fi-FI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C3D25-D777-4FE4-B115-16F55A657C9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58BAA-A03D-4E09-A4B9-596B5667A1F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0" y="-38946"/>
            <a:ext cx="13004800" cy="1209041"/>
          </a:xfrm>
          <a:prstGeom prst="rect">
            <a:avLst/>
          </a:prstGeom>
          <a:solidFill>
            <a:srgbClr val="0070C0"/>
          </a:solidFill>
        </p:spPr>
        <p:txBody>
          <a:bodyPr rtlCol="0">
            <a:noAutofit/>
          </a:bodyPr>
          <a:lstStyle>
            <a:lvl1pPr algn="l">
              <a:defRPr sz="4550" b="1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717" y="1497227"/>
            <a:ext cx="12186954" cy="7215540"/>
          </a:xfrm>
        </p:spPr>
        <p:txBody>
          <a:bodyPr/>
          <a:lstStyle>
            <a:lvl1pPr>
              <a:defRPr sz="3415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845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56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2275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2275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50240" y="390596"/>
            <a:ext cx="11704320" cy="1625600"/>
          </a:xfrm>
          <a:prstGeom prst="rect">
            <a:avLst/>
          </a:prstGeom>
        </p:spPr>
        <p:txBody>
          <a:bodyPr vert="horz" lIns="130046" tIns="65023" rIns="130046" bIns="65023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50240" y="2275843"/>
            <a:ext cx="11704320" cy="6436925"/>
          </a:xfrm>
          <a:prstGeom prst="rect">
            <a:avLst/>
          </a:prstGeom>
        </p:spPr>
        <p:txBody>
          <a:bodyPr vert="horz" lIns="130046" tIns="65023" rIns="130046" bIns="65023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0241" y="9040145"/>
            <a:ext cx="3034453" cy="519289"/>
          </a:xfrm>
          <a:prstGeom prst="rect">
            <a:avLst/>
          </a:prstGeom>
        </p:spPr>
        <p:txBody>
          <a:bodyPr vert="horz" lIns="130046" tIns="65023" rIns="130046" bIns="65023" rtlCol="0" anchor="ctr"/>
          <a:lstStyle>
            <a:lvl1pPr algn="l">
              <a:defRPr sz="1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1C3D25-D777-4FE4-B115-16F55A657C9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443308" y="9040145"/>
            <a:ext cx="4118187" cy="519289"/>
          </a:xfrm>
          <a:prstGeom prst="rect">
            <a:avLst/>
          </a:prstGeom>
        </p:spPr>
        <p:txBody>
          <a:bodyPr vert="horz" lIns="130046" tIns="65023" rIns="130046" bIns="65023" rtlCol="0" anchor="ctr"/>
          <a:lstStyle>
            <a:lvl1pPr algn="ctr">
              <a:defRPr sz="1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9320108" y="9040145"/>
            <a:ext cx="3034453" cy="519289"/>
          </a:xfrm>
          <a:prstGeom prst="rect">
            <a:avLst/>
          </a:prstGeom>
        </p:spPr>
        <p:txBody>
          <a:bodyPr vert="horz" lIns="130046" tIns="65023" rIns="130046" bIns="65023" rtlCol="0" anchor="ctr"/>
          <a:lstStyle>
            <a:lvl1pPr algn="r">
              <a:defRPr sz="1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C58BAA-A03D-4E09-A4B9-596B5667A1F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ctr" defTabSz="1300480" rtl="0" eaLnBrk="1" latinLnBrk="0" hangingPunct="1">
        <a:spcBef>
          <a:spcPct val="0"/>
        </a:spcBef>
        <a:buNone/>
        <a:defRPr sz="6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87680" indent="-487680" algn="l" defTabSz="1300480" rtl="0" eaLnBrk="1" latinLnBrk="0" hangingPunct="1">
        <a:spcBef>
          <a:spcPct val="20000"/>
        </a:spcBef>
        <a:buFont typeface="Arial" panose="020B0604020202020204" pitchFamily="34" charset="0"/>
        <a:buChar char="•"/>
        <a:defRPr sz="4600" kern="1200">
          <a:solidFill>
            <a:schemeClr val="tx1"/>
          </a:solidFill>
          <a:latin typeface="+mn-lt"/>
          <a:ea typeface="+mn-ea"/>
          <a:cs typeface="+mn-cs"/>
        </a:defRPr>
      </a:lvl1pPr>
      <a:lvl2pPr marL="1056640" indent="-406400" algn="l" defTabSz="1300480" rtl="0" eaLnBrk="1" latinLnBrk="0" hangingPunct="1">
        <a:spcBef>
          <a:spcPct val="20000"/>
        </a:spcBef>
        <a:buFont typeface="Arial" panose="020B0604020202020204" pitchFamily="34" charset="0"/>
        <a:buChar char="–"/>
        <a:defRPr sz="4000" kern="1200">
          <a:solidFill>
            <a:schemeClr val="tx1"/>
          </a:solidFill>
          <a:latin typeface="+mn-lt"/>
          <a:ea typeface="+mn-ea"/>
          <a:cs typeface="+mn-cs"/>
        </a:defRPr>
      </a:lvl2pPr>
      <a:lvl3pPr marL="1625600" indent="-325120" algn="l" defTabSz="1300480" rtl="0" eaLnBrk="1" latinLnBrk="0" hangingPunct="1">
        <a:spcBef>
          <a:spcPct val="20000"/>
        </a:spcBef>
        <a:buFont typeface="Arial" panose="020B0604020202020204" pitchFamily="34" charset="0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3pPr>
      <a:lvl4pPr marL="2275840" indent="-325120" algn="l" defTabSz="130048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2926080" indent="-325120" algn="l" defTabSz="1300480" rtl="0" eaLnBrk="1" latinLnBrk="0" hangingPunct="1">
        <a:spcBef>
          <a:spcPct val="20000"/>
        </a:spcBef>
        <a:buFont typeface="Arial" panose="020B0604020202020204" pitchFamily="34" charset="0"/>
        <a:buChar char="»"/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3576320" indent="-325120" algn="l" defTabSz="1300480" rtl="0" eaLnBrk="1" latinLnBrk="0" hangingPunct="1">
        <a:spcBef>
          <a:spcPct val="2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4226560" indent="-325120" algn="l" defTabSz="1300480" rtl="0" eaLnBrk="1" latinLnBrk="0" hangingPunct="1">
        <a:spcBef>
          <a:spcPct val="2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4876800" indent="-325120" algn="l" defTabSz="1300480" rtl="0" eaLnBrk="1" latinLnBrk="0" hangingPunct="1">
        <a:spcBef>
          <a:spcPct val="2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5527040" indent="-325120" algn="l" defTabSz="1300480" rtl="0" eaLnBrk="1" latinLnBrk="0" hangingPunct="1">
        <a:spcBef>
          <a:spcPct val="2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3004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50240" algn="l" defTabSz="13004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300480" algn="l" defTabSz="13004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950720" algn="l" defTabSz="13004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4pPr>
      <a:lvl5pPr marL="2600960" algn="l" defTabSz="13004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5pPr>
      <a:lvl6pPr marL="3251200" algn="l" defTabSz="13004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3901440" algn="l" defTabSz="13004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551680" algn="l" defTabSz="13004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201920" algn="l" defTabSz="13004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/>
          <p:cNvSpPr txBox="1"/>
          <p:nvPr/>
        </p:nvSpPr>
        <p:spPr>
          <a:xfrm>
            <a:off x="1535222" y="3863310"/>
            <a:ext cx="9933905" cy="922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855"/>
              </a:spcBef>
              <a:defRPr/>
            </a:pPr>
            <a:r>
              <a:rPr lang="en-US" altLang="zh-CN" sz="5400" b="1" spc="427" dirty="0">
                <a:latin typeface="微软雅黑" panose="020B0503020204020204" pitchFamily="34" charset="-122"/>
                <a:ea typeface="微软雅黑" panose="020B0503020204020204" pitchFamily="34" charset="-122"/>
                <a:cs typeface="Heiti SC Medium" panose="02000000000000000000" charset="-122"/>
              </a:rPr>
              <a:t>miniOB </a:t>
            </a:r>
            <a:r>
              <a:rPr lang="zh-CN" altLang="en-US" sz="5400" b="1" spc="427" dirty="0">
                <a:latin typeface="微软雅黑" panose="020B0503020204020204" pitchFamily="34" charset="-122"/>
                <a:ea typeface="微软雅黑" panose="020B0503020204020204" pitchFamily="34" charset="-122"/>
                <a:cs typeface="Heiti SC Medium" panose="02000000000000000000" charset="-122"/>
              </a:rPr>
              <a:t>进阶实验</a:t>
            </a:r>
            <a:endParaRPr lang="zh-CN" altLang="en-US" sz="5400" b="1" spc="427" dirty="0">
              <a:latin typeface="微软雅黑" panose="020B0503020204020204" pitchFamily="34" charset="-122"/>
              <a:ea typeface="微软雅黑" panose="020B0503020204020204" pitchFamily="34" charset="-122"/>
              <a:cs typeface="Heiti SC Medium" panose="02000000000000000000" charset="-122"/>
            </a:endParaRPr>
          </a:p>
        </p:txBody>
      </p:sp>
      <p:cxnSp>
        <p:nvCxnSpPr>
          <p:cNvPr id="20" name="直接连接符 19"/>
          <p:cNvCxnSpPr/>
          <p:nvPr/>
        </p:nvCxnSpPr>
        <p:spPr>
          <a:xfrm>
            <a:off x="1638582" y="5046625"/>
            <a:ext cx="9933904" cy="0"/>
          </a:xfrm>
          <a:prstGeom prst="line">
            <a:avLst/>
          </a:prstGeom>
          <a:ln w="12700">
            <a:solidFill>
              <a:schemeClr val="tx1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2"/>
            <a:ext cx="3481987" cy="958259"/>
          </a:xfrm>
          <a:prstGeom prst="rect">
            <a:avLst/>
          </a:prstGeom>
        </p:spPr>
      </p:pic>
      <p:sp>
        <p:nvSpPr>
          <p:cNvPr id="14" name="文本框 11"/>
          <p:cNvSpPr txBox="1">
            <a:spLocks noChangeArrowheads="1"/>
          </p:cNvSpPr>
          <p:nvPr/>
        </p:nvSpPr>
        <p:spPr bwMode="auto">
          <a:xfrm>
            <a:off x="2455903" y="6591278"/>
            <a:ext cx="8128000" cy="4851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560" b="1" dirty="0">
                <a:latin typeface="微软雅黑" panose="020B0503020204020204" pitchFamily="34" charset="-122"/>
                <a:ea typeface="微软雅黑" panose="020B0503020204020204" pitchFamily="34" charset="-122"/>
                <a:cs typeface="Heiti SC Medium" panose="02000000000000000000" charset="-122"/>
              </a:rPr>
              <a:t>2026.4.28</a:t>
            </a:r>
            <a:endParaRPr lang="zh-CN" altLang="en-US" sz="2560" b="1" dirty="0">
              <a:latin typeface="微软雅黑" panose="020B0503020204020204" pitchFamily="34" charset="-122"/>
              <a:ea typeface="微软雅黑" panose="020B0503020204020204" pitchFamily="34" charset="-122"/>
              <a:cs typeface="Heiti SC Medium" panose="02000000000000000000" charset="-122"/>
            </a:endParaRPr>
          </a:p>
        </p:txBody>
      </p:sp>
      <p:sp>
        <p:nvSpPr>
          <p:cNvPr id="22" name="副标题 3074"/>
          <p:cNvSpPr txBox="1">
            <a:spLocks noChangeArrowheads="1"/>
          </p:cNvSpPr>
          <p:nvPr/>
        </p:nvSpPr>
        <p:spPr bwMode="auto">
          <a:xfrm>
            <a:off x="2438125" y="5439606"/>
            <a:ext cx="8127999" cy="758521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171450" indent="-171450">
              <a:lnSpc>
                <a:spcPct val="12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514350" indent="-17145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857250" indent="-17145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200150" indent="-17145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543050" indent="-17145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000250" indent="-171450" eaLnBrk="0" fontAlgn="base" hangingPunct="0">
              <a:lnSpc>
                <a:spcPct val="12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457450" indent="-171450" eaLnBrk="0" fontAlgn="base" hangingPunct="0">
              <a:lnSpc>
                <a:spcPct val="12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2914650" indent="-171450" eaLnBrk="0" fontAlgn="base" hangingPunct="0">
              <a:lnSpc>
                <a:spcPct val="12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371850" indent="-171450" eaLnBrk="0" fontAlgn="base" hangingPunct="0">
              <a:lnSpc>
                <a:spcPct val="12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buFont typeface="Arial" panose="020B0604020202020204" pitchFamily="34" charset="0"/>
              <a:buNone/>
            </a:pPr>
            <a:r>
              <a:rPr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数据库第</a:t>
            </a:r>
            <a:r>
              <a:rPr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六次实验</a:t>
            </a:r>
            <a:endParaRPr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形 1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31240" y="116634"/>
            <a:ext cx="6743700" cy="5810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spc="427" dirty="0">
                <a:cs typeface="Heiti SC Medium" panose="02000000000000000000" charset="-122"/>
                <a:sym typeface="+mn-ea"/>
              </a:rPr>
              <a:t>miniOB </a:t>
            </a:r>
            <a:r>
              <a:rPr lang="zh-CN" altLang="en-US" spc="427" dirty="0">
                <a:cs typeface="Heiti SC Medium" panose="02000000000000000000" charset="-122"/>
                <a:sym typeface="+mn-ea"/>
              </a:rPr>
              <a:t>进阶实验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548640" y="1329055"/>
            <a:ext cx="11729720" cy="85312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just" defTabSz="914400" fontAlgn="auto">
              <a:lnSpc>
                <a:spcPct val="150000"/>
              </a:lnSpc>
              <a:buNone/>
            </a:pPr>
            <a:r>
              <a:rPr lang="zh-CN" altLang="en-US" sz="3600" b="1" dirty="0">
                <a:latin typeface="Times New Roman" panose="02020603050405020304" charset="0"/>
                <a:sym typeface="+mn-ea"/>
              </a:rPr>
              <a:t>实验目的</a:t>
            </a:r>
            <a:endParaRPr lang="zh-CN" altLang="en-US" sz="3600" b="1" dirty="0">
              <a:latin typeface="Times New Roman" panose="02020603050405020304" charset="0"/>
            </a:endParaRPr>
          </a:p>
          <a:p>
            <a:pPr marL="457200" indent="812800" algn="just" defTabSz="914400" fontAlgn="auto">
              <a:lnSpc>
                <a:spcPct val="200000"/>
              </a:lnSpc>
              <a:buFont typeface="Arial" panose="020B0604020202020204" pitchFamily="34" charset="0"/>
              <a:buChar char="•"/>
              <a:extLst>
                <a:ext uri="{35155182-B16C-46BC-9424-99874614C6A1}">
                  <wpsdc:indentchars xmlns:wpsdc="http://www.wps.cn/officeDocument/2017/drawingmlCustomData" val="200" checksum="3877492575"/>
                </a:ext>
              </a:extLst>
            </a:pPr>
            <a:r>
              <a:rPr lang="zh-CN" altLang="en-US" sz="3200" dirty="0">
                <a:solidFill>
                  <a:schemeClr val="tx1"/>
                </a:solidFill>
                <a:uFillTx/>
                <a:latin typeface="Times New Roman" panose="02020603050405020304" charset="0"/>
              </a:rPr>
              <a:t>了解学习数据库内核，通过阅读</a:t>
            </a:r>
            <a:r>
              <a:rPr lang="en-US" altLang="zh-CN" sz="3200" b="1" dirty="0">
                <a:solidFill>
                  <a:srgbClr val="FF0000"/>
                </a:solidFill>
                <a:uFillTx/>
                <a:latin typeface="Times New Roman" panose="02020603050405020304" charset="0"/>
              </a:rPr>
              <a:t>MiniOB</a:t>
            </a:r>
            <a:r>
              <a:rPr lang="zh-CN" altLang="en-US" sz="3200" b="1" dirty="0">
                <a:solidFill>
                  <a:srgbClr val="FF0000"/>
                </a:solidFill>
                <a:uFillTx/>
                <a:latin typeface="Times New Roman" panose="02020603050405020304" charset="0"/>
              </a:rPr>
              <a:t>内核源码</a:t>
            </a:r>
            <a:r>
              <a:rPr lang="zh-CN" altLang="en-US" sz="3200" dirty="0">
                <a:solidFill>
                  <a:schemeClr val="tx1"/>
                </a:solidFill>
                <a:uFillTx/>
                <a:latin typeface="Times New Roman" panose="02020603050405020304" charset="0"/>
              </a:rPr>
              <a:t>能够对</a:t>
            </a:r>
            <a:r>
              <a:rPr lang="en-US" altLang="zh-CN" sz="3200" dirty="0">
                <a:solidFill>
                  <a:schemeClr val="tx1"/>
                </a:solidFill>
                <a:uFillTx/>
                <a:latin typeface="Times New Roman" panose="02020603050405020304" charset="0"/>
              </a:rPr>
              <a:t> SQL</a:t>
            </a:r>
            <a:r>
              <a:rPr lang="zh-CN" altLang="en-US" sz="3200" dirty="0">
                <a:solidFill>
                  <a:schemeClr val="tx1"/>
                </a:solidFill>
                <a:uFillTx/>
                <a:latin typeface="Times New Roman" panose="02020603050405020304" charset="0"/>
              </a:rPr>
              <a:t>语句在内核的各个模块中执行的完整流程有所了解；</a:t>
            </a:r>
            <a:endParaRPr lang="zh-CN" altLang="en-US" sz="3200" dirty="0">
              <a:solidFill>
                <a:schemeClr val="tx1"/>
              </a:solidFill>
              <a:uFillTx/>
              <a:latin typeface="Times New Roman" panose="02020603050405020304" charset="0"/>
            </a:endParaRPr>
          </a:p>
          <a:p>
            <a:pPr marL="457200" indent="812800" algn="just" defTabSz="914400" fontAlgn="auto">
              <a:lnSpc>
                <a:spcPct val="200000"/>
              </a:lnSpc>
              <a:buFont typeface="Arial" panose="020B0604020202020204" pitchFamily="34" charset="0"/>
              <a:buChar char="•"/>
              <a:extLst>
                <a:ext uri="{35155182-B16C-46BC-9424-99874614C6A1}">
                  <wpsdc:indentchars xmlns:wpsdc="http://www.wps.cn/officeDocument/2017/drawingmlCustomData" val="200" checksum="3877492575"/>
                </a:ext>
              </a:extLst>
            </a:pPr>
            <a:r>
              <a:rPr lang="zh-CN" altLang="en-US" sz="3200" dirty="0">
                <a:solidFill>
                  <a:schemeClr val="tx1"/>
                </a:solidFill>
                <a:uFillTx/>
                <a:latin typeface="Times New Roman" panose="02020603050405020304" charset="0"/>
              </a:rPr>
              <a:t>理解</a:t>
            </a:r>
            <a:r>
              <a:rPr lang="zh-CN" altLang="en-US" sz="3200" b="1" dirty="0">
                <a:solidFill>
                  <a:srgbClr val="FF0000"/>
                </a:solidFill>
                <a:uFillTx/>
                <a:latin typeface="Times New Roman" panose="02020603050405020304" charset="0"/>
              </a:rPr>
              <a:t>复杂</a:t>
            </a:r>
            <a:r>
              <a:rPr lang="en-US" altLang="zh-CN" sz="3200" b="1" dirty="0">
                <a:solidFill>
                  <a:srgbClr val="FF0000"/>
                </a:solidFill>
                <a:uFillTx/>
                <a:latin typeface="Times New Roman" panose="02020603050405020304" charset="0"/>
              </a:rPr>
              <a:t>SQL</a:t>
            </a:r>
            <a:r>
              <a:rPr lang="zh-CN" altLang="en-US" sz="3200" b="1" dirty="0">
                <a:solidFill>
                  <a:srgbClr val="FF0000"/>
                </a:solidFill>
                <a:uFillTx/>
                <a:latin typeface="Times New Roman" panose="02020603050405020304" charset="0"/>
              </a:rPr>
              <a:t>语句的优化方法</a:t>
            </a:r>
            <a:r>
              <a:rPr lang="zh-CN" altLang="en-US" sz="3200" dirty="0">
                <a:solidFill>
                  <a:schemeClr val="tx1"/>
                </a:solidFill>
                <a:uFillTx/>
                <a:latin typeface="Times New Roman" panose="02020603050405020304" charset="0"/>
              </a:rPr>
              <a:t>，如谓词下推、多表</a:t>
            </a:r>
            <a:r>
              <a:rPr lang="en-US" altLang="zh-CN" sz="3200" dirty="0">
                <a:solidFill>
                  <a:schemeClr val="tx1"/>
                </a:solidFill>
                <a:uFillTx/>
                <a:latin typeface="Times New Roman" panose="02020603050405020304" charset="0"/>
              </a:rPr>
              <a:t>join</a:t>
            </a:r>
            <a:r>
              <a:rPr lang="zh-CN" altLang="en-US" sz="3200" dirty="0">
                <a:solidFill>
                  <a:schemeClr val="tx1"/>
                </a:solidFill>
                <a:uFillTx/>
                <a:latin typeface="Times New Roman" panose="02020603050405020304" charset="0"/>
              </a:rPr>
              <a:t>重排序等；</a:t>
            </a:r>
            <a:endParaRPr lang="zh-CN" altLang="en-US" sz="3200" dirty="0">
              <a:solidFill>
                <a:schemeClr val="tx1"/>
              </a:solidFill>
              <a:uFillTx/>
              <a:latin typeface="Times New Roman" panose="02020603050405020304" charset="0"/>
            </a:endParaRPr>
          </a:p>
          <a:p>
            <a:pPr marL="457200" indent="812800" algn="just" defTabSz="914400" fontAlgn="auto">
              <a:lnSpc>
                <a:spcPct val="200000"/>
              </a:lnSpc>
              <a:buFont typeface="Arial" panose="020B0604020202020204" pitchFamily="34" charset="0"/>
              <a:buChar char="•"/>
              <a:extLst>
                <a:ext uri="{35155182-B16C-46BC-9424-99874614C6A1}">
                  <wpsdc:indentchars xmlns:wpsdc="http://www.wps.cn/officeDocument/2017/drawingmlCustomData" val="200" checksum="3877492575"/>
                </a:ext>
              </a:extLst>
            </a:pPr>
            <a:r>
              <a:rPr lang="zh-CN" altLang="en-US" sz="3200" dirty="0">
                <a:solidFill>
                  <a:schemeClr val="tx1"/>
                </a:solidFill>
                <a:uFillTx/>
                <a:latin typeface="Times New Roman" panose="02020603050405020304" charset="0"/>
              </a:rPr>
              <a:t>借助</a:t>
            </a:r>
            <a:r>
              <a:rPr lang="en-US" altLang="zh-CN" sz="3200" dirty="0">
                <a:solidFill>
                  <a:schemeClr val="tx1"/>
                </a:solidFill>
                <a:uFillTx/>
                <a:latin typeface="Times New Roman" panose="02020603050405020304" charset="0"/>
              </a:rPr>
              <a:t>Oceanbase MiniOB</a:t>
            </a:r>
            <a:r>
              <a:rPr lang="zh-CN" altLang="en-US" sz="3200" dirty="0">
                <a:solidFill>
                  <a:schemeClr val="tx1"/>
                </a:solidFill>
                <a:uFillTx/>
                <a:latin typeface="Times New Roman" panose="02020603050405020304" charset="0"/>
              </a:rPr>
              <a:t>大赛初赛题，完成</a:t>
            </a:r>
            <a:r>
              <a:rPr lang="en-US" altLang="zh-CN" sz="3200" b="1" dirty="0">
                <a:solidFill>
                  <a:srgbClr val="FF0000"/>
                </a:solidFill>
                <a:uFillTx/>
                <a:latin typeface="Times New Roman" panose="02020603050405020304" charset="0"/>
              </a:rPr>
              <a:t>miniOB</a:t>
            </a:r>
            <a:r>
              <a:rPr lang="zh-CN" altLang="en-US" sz="3200" b="1" dirty="0">
                <a:solidFill>
                  <a:srgbClr val="FF0000"/>
                </a:solidFill>
                <a:uFillTx/>
                <a:latin typeface="Times New Roman" panose="02020603050405020304" charset="0"/>
              </a:rPr>
              <a:t>内核代码编写实践</a:t>
            </a:r>
            <a:r>
              <a:rPr lang="zh-CN" altLang="en-US" sz="3200" dirty="0">
                <a:solidFill>
                  <a:schemeClr val="tx1"/>
                </a:solidFill>
                <a:uFillTx/>
                <a:latin typeface="Times New Roman" panose="02020603050405020304" charset="0"/>
              </a:rPr>
              <a:t>。</a:t>
            </a:r>
            <a:endParaRPr lang="zh-CN" altLang="en-US" sz="3200" dirty="0">
              <a:solidFill>
                <a:schemeClr val="tx1"/>
              </a:solidFill>
              <a:uFillTx/>
              <a:latin typeface="Times New Roman" panose="02020603050405020304" charset="0"/>
            </a:endParaRP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spc="427" dirty="0">
                <a:cs typeface="Heiti SC Medium" panose="02000000000000000000" charset="-122"/>
                <a:sym typeface="+mn-ea"/>
              </a:rPr>
              <a:t>miniOB </a:t>
            </a:r>
            <a:r>
              <a:rPr lang="zh-CN" altLang="en-US" spc="427" dirty="0">
                <a:cs typeface="Heiti SC Medium" panose="02000000000000000000" charset="-122"/>
                <a:sym typeface="+mn-ea"/>
              </a:rPr>
              <a:t>进阶实验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0" y="1102995"/>
            <a:ext cx="12830810" cy="85312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just" defTabSz="914400" fontAlgn="auto">
              <a:lnSpc>
                <a:spcPct val="200000"/>
              </a:lnSpc>
              <a:buNone/>
            </a:pPr>
            <a:r>
              <a:rPr lang="zh-CN" altLang="en-US" sz="3600" b="1" dirty="0">
                <a:latin typeface="Times New Roman" panose="02020603050405020304" charset="0"/>
              </a:rPr>
              <a:t>实验要求说明</a:t>
            </a:r>
            <a:endParaRPr lang="zh-CN" altLang="en-US" sz="3600" b="1" dirty="0">
              <a:latin typeface="Times New Roman" panose="02020603050405020304" charset="0"/>
            </a:endParaRPr>
          </a:p>
          <a:p>
            <a:pPr marL="457200" indent="812800" algn="just" defTabSz="914400" fontAlgn="auto">
              <a:lnSpc>
                <a:spcPct val="200000"/>
              </a:lnSpc>
              <a:buFont typeface="Arial" panose="020B0604020202020204" pitchFamily="34" charset="0"/>
              <a:buChar char="•"/>
              <a:extLst>
                <a:ext uri="{35155182-B16C-46BC-9424-99874614C6A1}">
                  <wpsdc:indentchars xmlns:wpsdc="http://www.wps.cn/officeDocument/2017/drawingmlCustomData" val="200" checksum="3877492575"/>
                </a:ext>
              </a:extLst>
            </a:pPr>
            <a:r>
              <a:rPr lang="en-US" altLang="zh-CN" sz="3200" dirty="0">
                <a:latin typeface="Times New Roman" panose="02020603050405020304" charset="0"/>
              </a:rPr>
              <a:t>1. </a:t>
            </a:r>
            <a:r>
              <a:rPr lang="zh-CN" altLang="en-US" sz="3200" dirty="0">
                <a:latin typeface="Times New Roman" panose="02020603050405020304" charset="0"/>
              </a:rPr>
              <a:t>本次实验使用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charset="0"/>
              </a:rPr>
              <a:t>miniOB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charset="0"/>
              </a:rPr>
              <a:t>数据库</a:t>
            </a:r>
            <a:r>
              <a:rPr lang="zh-CN" altLang="en-US" sz="3200" dirty="0">
                <a:latin typeface="Times New Roman" panose="02020603050405020304" charset="0"/>
              </a:rPr>
              <a:t>完成；</a:t>
            </a:r>
            <a:endParaRPr lang="zh-CN" altLang="en-US" sz="3200" dirty="0">
              <a:latin typeface="Times New Roman" panose="02020603050405020304" charset="0"/>
            </a:endParaRPr>
          </a:p>
          <a:p>
            <a:pPr marL="457200" indent="812800" algn="just" defTabSz="914400" fontAlgn="auto">
              <a:lnSpc>
                <a:spcPct val="200000"/>
              </a:lnSpc>
              <a:buFont typeface="Arial" panose="020B0604020202020204" pitchFamily="34" charset="0"/>
              <a:buChar char="•"/>
              <a:extLst>
                <a:ext uri="{35155182-B16C-46BC-9424-99874614C6A1}">
                  <wpsdc:indentchars xmlns:wpsdc="http://www.wps.cn/officeDocument/2017/drawingmlCustomData" val="200" checksum="3877492575"/>
                </a:ext>
              </a:extLst>
            </a:pPr>
            <a:r>
              <a:rPr lang="en-US" altLang="zh-CN" sz="3200" dirty="0">
                <a:latin typeface="Times New Roman" panose="02020603050405020304" charset="0"/>
              </a:rPr>
              <a:t>2. </a:t>
            </a:r>
            <a:r>
              <a:rPr lang="zh-CN" altLang="en-US" sz="3200" dirty="0">
                <a:latin typeface="Times New Roman" panose="02020603050405020304" charset="0"/>
              </a:rPr>
              <a:t>题目分为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charset="0"/>
              </a:rPr>
              <a:t>必做题</a:t>
            </a:r>
            <a:r>
              <a:rPr lang="zh-CN" altLang="en-US" sz="3200" dirty="0">
                <a:latin typeface="Times New Roman" panose="02020603050405020304" charset="0"/>
              </a:rPr>
              <a:t>和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charset="0"/>
              </a:rPr>
              <a:t>选做题</a:t>
            </a:r>
            <a:r>
              <a:rPr lang="zh-CN" altLang="en-US" sz="3200" dirty="0">
                <a:latin typeface="Times New Roman" panose="02020603050405020304" charset="0"/>
              </a:rPr>
              <a:t>。必做题为</a:t>
            </a:r>
            <a:r>
              <a:rPr lang="en-US" altLang="zh-CN" sz="3200" dirty="0">
                <a:latin typeface="Times New Roman" panose="02020603050405020304" charset="0"/>
              </a:rPr>
              <a:t>drop-table</a:t>
            </a:r>
            <a:r>
              <a:rPr lang="zh-CN" altLang="en-US" sz="3200" dirty="0">
                <a:latin typeface="Times New Roman" panose="02020603050405020304" charset="0"/>
              </a:rPr>
              <a:t>、</a:t>
            </a:r>
            <a:r>
              <a:rPr lang="en-US" altLang="zh-CN" sz="3200" dirty="0">
                <a:latin typeface="Times New Roman" panose="02020603050405020304" charset="0"/>
              </a:rPr>
              <a:t>date</a:t>
            </a:r>
            <a:r>
              <a:rPr lang="zh-CN" altLang="en-US" sz="3200" dirty="0">
                <a:latin typeface="Times New Roman" panose="02020603050405020304" charset="0"/>
              </a:rPr>
              <a:t>类型这两道较为简单的题目，选做题的选择范围包括除</a:t>
            </a:r>
            <a:r>
              <a:rPr lang="en-US" altLang="zh-CN" sz="3200" dirty="0">
                <a:latin typeface="Times New Roman" panose="02020603050405020304" charset="0"/>
              </a:rPr>
              <a:t>select-meta</a:t>
            </a:r>
            <a:r>
              <a:rPr lang="zh-CN" altLang="en-US" sz="3200" dirty="0">
                <a:latin typeface="Times New Roman" panose="02020603050405020304" charset="0"/>
              </a:rPr>
              <a:t>小题和必做题外的任一题，题目列表详见题目介绍部分：</a:t>
            </a:r>
            <a:endParaRPr lang="zh-CN" altLang="en-US" sz="3200" dirty="0">
              <a:latin typeface="Times New Roman" panose="02020603050405020304" charset="0"/>
            </a:endParaRPr>
          </a:p>
          <a:p>
            <a:pPr marL="457200" indent="0" algn="just" defTabSz="914400" fontAlgn="auto">
              <a:lnSpc>
                <a:spcPct val="200000"/>
              </a:lnSpc>
              <a:buFont typeface="Arial" panose="020B0604020202020204" pitchFamily="34" charset="0"/>
              <a:buNone/>
            </a:pPr>
            <a:r>
              <a:rPr lang="en-US" altLang="zh-CN" sz="3200" dirty="0">
                <a:latin typeface="Times New Roman" panose="02020603050405020304" charset="0"/>
              </a:rPr>
              <a:t>https://open.oceanbase.com/train?questionId=600004</a:t>
            </a:r>
            <a:endParaRPr lang="en-US" altLang="zh-CN" sz="3200" dirty="0">
              <a:latin typeface="Times New Roman" panose="02020603050405020304" charset="0"/>
            </a:endParaRP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spc="427" dirty="0">
                <a:cs typeface="Heiti SC Medium" panose="02000000000000000000" charset="-122"/>
                <a:sym typeface="+mn-ea"/>
              </a:rPr>
              <a:t>miniOB </a:t>
            </a:r>
            <a:r>
              <a:rPr lang="zh-CN" altLang="en-US" spc="427" dirty="0">
                <a:cs typeface="Heiti SC Medium" panose="02000000000000000000" charset="-122"/>
                <a:sym typeface="+mn-ea"/>
              </a:rPr>
              <a:t>进阶实验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0" y="1102995"/>
            <a:ext cx="12830810" cy="85312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457200" indent="812800" algn="just" defTabSz="914400" fontAlgn="auto">
              <a:lnSpc>
                <a:spcPct val="200000"/>
              </a:lnSpc>
              <a:buFont typeface="Arial" panose="020B0604020202020204" pitchFamily="34" charset="0"/>
              <a:buChar char="•"/>
              <a:extLst>
                <a:ext uri="{35155182-B16C-46BC-9424-99874614C6A1}">
                  <wpsdc:indentchars xmlns:wpsdc="http://www.wps.cn/officeDocument/2017/drawingmlCustomData" val="200" checksum="3877492575"/>
                </a:ext>
              </a:extLst>
            </a:pPr>
            <a:endParaRPr lang="zh-CN" altLang="en-US" sz="3200" dirty="0">
              <a:latin typeface="Times New Roman" panose="0202060305040502030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608455"/>
            <a:ext cx="13004800" cy="720598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spc="427" dirty="0">
                <a:cs typeface="Heiti SC Medium" panose="02000000000000000000" charset="-122"/>
                <a:sym typeface="+mn-ea"/>
              </a:rPr>
              <a:t>miniOB </a:t>
            </a:r>
            <a:r>
              <a:rPr lang="zh-CN" altLang="en-US" spc="427" dirty="0">
                <a:cs typeface="Heiti SC Medium" panose="02000000000000000000" charset="-122"/>
                <a:sym typeface="+mn-ea"/>
              </a:rPr>
              <a:t>进阶实验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0" y="785495"/>
            <a:ext cx="12830810" cy="85312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just" defTabSz="914400" fontAlgn="auto">
              <a:lnSpc>
                <a:spcPct val="200000"/>
              </a:lnSpc>
              <a:buNone/>
            </a:pPr>
            <a:r>
              <a:rPr lang="zh-CN" altLang="en-US" sz="3600" b="1" dirty="0">
                <a:latin typeface="Times New Roman" panose="02020603050405020304" charset="0"/>
              </a:rPr>
              <a:t>实验要求说明</a:t>
            </a:r>
            <a:endParaRPr lang="zh-CN" altLang="en-US" sz="3600" b="1" dirty="0">
              <a:latin typeface="Times New Roman" panose="02020603050405020304" charset="0"/>
            </a:endParaRPr>
          </a:p>
          <a:p>
            <a:pPr marL="457200" indent="812800" algn="just" defTabSz="914400" fontAlgn="auto">
              <a:lnSpc>
                <a:spcPct val="200000"/>
              </a:lnSpc>
              <a:buFont typeface="Arial" panose="020B0604020202020204" pitchFamily="34" charset="0"/>
              <a:buChar char="•"/>
              <a:extLst>
                <a:ext uri="{35155182-B16C-46BC-9424-99874614C6A1}">
                  <wpsdc:indentchars xmlns:wpsdc="http://www.wps.cn/officeDocument/2017/drawingmlCustomData" val="200" checksum="3877492575"/>
                </a:ext>
              </a:extLst>
            </a:pPr>
            <a:r>
              <a:rPr lang="en-US" altLang="zh-CN" sz="3200" dirty="0">
                <a:latin typeface="Times New Roman" panose="02020603050405020304" charset="0"/>
                <a:sym typeface="+mn-ea"/>
              </a:rPr>
              <a:t>3. </a:t>
            </a:r>
            <a:r>
              <a:rPr lang="zh-CN" altLang="en-US" sz="3200" dirty="0">
                <a:latin typeface="Times New Roman" panose="02020603050405020304" charset="0"/>
                <a:sym typeface="+mn-ea"/>
              </a:rPr>
              <a:t>要求能够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charset="0"/>
                <a:sym typeface="+mn-ea"/>
              </a:rPr>
              <a:t>成功执行赛题对应的测试样例示例</a:t>
            </a:r>
            <a:r>
              <a:rPr lang="en-US" altLang="zh-CN" sz="3200" dirty="0">
                <a:latin typeface="Times New Roman" panose="02020603050405020304" charset="0"/>
                <a:sym typeface="+mn-ea"/>
              </a:rPr>
              <a:t>(</a:t>
            </a:r>
            <a:r>
              <a:rPr lang="zh-CN" altLang="en-US" sz="3200" dirty="0">
                <a:latin typeface="Times New Roman" panose="02020603050405020304" charset="0"/>
                <a:sym typeface="+mn-ea"/>
              </a:rPr>
              <a:t>如没有提供测试用例的话允许自己编写</a:t>
            </a:r>
            <a:r>
              <a:rPr lang="en-US" altLang="zh-CN" sz="3200" dirty="0">
                <a:latin typeface="Times New Roman" panose="02020603050405020304" charset="0"/>
                <a:sym typeface="+mn-ea"/>
              </a:rPr>
              <a:t>)</a:t>
            </a:r>
            <a:r>
              <a:rPr lang="zh-CN" altLang="en-US" sz="3200" dirty="0">
                <a:latin typeface="Times New Roman" panose="02020603050405020304" charset="0"/>
                <a:sym typeface="+mn-ea"/>
              </a:rPr>
              <a:t>；</a:t>
            </a:r>
            <a:endParaRPr lang="en-US" altLang="zh-CN" sz="3200" dirty="0">
              <a:latin typeface="Times New Roman" panose="02020603050405020304" charset="0"/>
            </a:endParaRPr>
          </a:p>
          <a:p>
            <a:pPr marL="457200" indent="812800" algn="just" defTabSz="914400" fontAlgn="auto">
              <a:lnSpc>
                <a:spcPct val="200000"/>
              </a:lnSpc>
              <a:buFont typeface="Arial" panose="020B0604020202020204" pitchFamily="34" charset="0"/>
              <a:buChar char="•"/>
              <a:extLst>
                <a:ext uri="{35155182-B16C-46BC-9424-99874614C6A1}">
                  <wpsdc:indentchars xmlns:wpsdc="http://www.wps.cn/officeDocument/2017/drawingmlCustomData" val="200" checksum="3877492575"/>
                </a:ext>
              </a:extLst>
            </a:pPr>
            <a:r>
              <a:rPr lang="en-US" altLang="zh-CN" sz="3200" dirty="0">
                <a:latin typeface="Times New Roman" panose="02020603050405020304" charset="0"/>
              </a:rPr>
              <a:t>4. </a:t>
            </a:r>
            <a:r>
              <a:rPr lang="zh-CN" altLang="en-US" sz="3200" dirty="0">
                <a:latin typeface="Times New Roman" panose="02020603050405020304" charset="0"/>
              </a:rPr>
              <a:t>提交的实验报告中应包含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charset="0"/>
              </a:rPr>
              <a:t>有赛题的基本信息</a:t>
            </a:r>
            <a:r>
              <a:rPr lang="en-US" altLang="zh-CN" sz="3200" dirty="0">
                <a:latin typeface="Times New Roman" panose="02020603050405020304" charset="0"/>
              </a:rPr>
              <a:t>(</a:t>
            </a:r>
            <a:r>
              <a:rPr lang="zh-CN" altLang="en-US" sz="3200" dirty="0">
                <a:latin typeface="Times New Roman" panose="02020603050405020304" charset="0"/>
              </a:rPr>
              <a:t>名称、描述、测试用例示例</a:t>
            </a:r>
            <a:r>
              <a:rPr lang="en-US" altLang="zh-CN" sz="3200" dirty="0">
                <a:latin typeface="Times New Roman" panose="02020603050405020304" charset="0"/>
              </a:rPr>
              <a:t>)</a:t>
            </a:r>
            <a:r>
              <a:rPr lang="zh-CN" altLang="en-US" sz="3200" dirty="0">
                <a:latin typeface="Times New Roman" panose="02020603050405020304" charset="0"/>
              </a:rPr>
              <a:t>，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charset="0"/>
              </a:rPr>
              <a:t>实现思路的简要分析流程</a:t>
            </a:r>
            <a:r>
              <a:rPr lang="en-US" altLang="zh-CN" sz="3200" dirty="0">
                <a:latin typeface="Times New Roman" panose="02020603050405020304" charset="0"/>
              </a:rPr>
              <a:t>(</a:t>
            </a:r>
            <a:r>
              <a:rPr lang="zh-CN" altLang="en-US" sz="3200" dirty="0">
                <a:latin typeface="Times New Roman" panose="02020603050405020304" charset="0"/>
              </a:rPr>
              <a:t>以文字为主，关键步骤附上代码片段</a:t>
            </a:r>
            <a:r>
              <a:rPr lang="en-US" altLang="zh-CN" sz="3200" dirty="0">
                <a:latin typeface="Times New Roman" panose="02020603050405020304" charset="0"/>
              </a:rPr>
              <a:t>)</a:t>
            </a:r>
            <a:r>
              <a:rPr lang="zh-CN" altLang="en-US" sz="3200" dirty="0">
                <a:latin typeface="Times New Roman" panose="02020603050405020304" charset="0"/>
              </a:rPr>
              <a:t>和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charset="0"/>
              </a:rPr>
              <a:t>执行测试样例示例的实验结果截图</a:t>
            </a:r>
            <a:r>
              <a:rPr lang="zh-CN" altLang="en-US" sz="3200" dirty="0">
                <a:latin typeface="Times New Roman" panose="02020603050405020304" charset="0"/>
              </a:rPr>
              <a:t>；</a:t>
            </a:r>
            <a:endParaRPr lang="zh-CN" altLang="en-US" sz="3200" dirty="0">
              <a:latin typeface="Times New Roman" panose="02020603050405020304" charset="0"/>
            </a:endParaRPr>
          </a:p>
          <a:p>
            <a:pPr marL="457200" indent="812800" algn="just" defTabSz="914400" fontAlgn="auto">
              <a:lnSpc>
                <a:spcPct val="200000"/>
              </a:lnSpc>
              <a:buFont typeface="Arial" panose="020B0604020202020204" pitchFamily="34" charset="0"/>
              <a:buChar char="•"/>
              <a:extLst>
                <a:ext uri="{35155182-B16C-46BC-9424-99874614C6A1}">
                  <wpsdc:indentchars xmlns:wpsdc="http://www.wps.cn/officeDocument/2017/drawingmlCustomData" val="200" checksum="3877492575"/>
                </a:ext>
              </a:extLst>
            </a:pPr>
            <a:r>
              <a:rPr lang="en-US" altLang="zh-CN" sz="3200" dirty="0">
                <a:latin typeface="Times New Roman" panose="02020603050405020304" charset="0"/>
              </a:rPr>
              <a:t>5. </a:t>
            </a:r>
            <a:r>
              <a:rPr lang="zh-CN" altLang="en-US" sz="3200" dirty="0">
                <a:latin typeface="Times New Roman" panose="02020603050405020304" charset="0"/>
              </a:rPr>
              <a:t>赛题选择上建议量力而行</a:t>
            </a:r>
            <a:r>
              <a:rPr lang="en-US" altLang="zh-CN" sz="3200" dirty="0">
                <a:latin typeface="Times New Roman" panose="02020603050405020304" charset="0"/>
              </a:rPr>
              <a:t>(</a:t>
            </a:r>
            <a:r>
              <a:rPr lang="zh-CN" altLang="en-US" sz="3200" dirty="0">
                <a:latin typeface="Times New Roman" panose="02020603050405020304" charset="0"/>
              </a:rPr>
              <a:t>实验时间控制在</a:t>
            </a:r>
            <a:r>
              <a:rPr lang="en-US" altLang="zh-CN" sz="3200" dirty="0">
                <a:latin typeface="Times New Roman" panose="02020603050405020304" charset="0"/>
              </a:rPr>
              <a:t> 1 </a:t>
            </a:r>
            <a:r>
              <a:rPr lang="zh-CN" altLang="en-US" sz="3200" dirty="0">
                <a:latin typeface="Times New Roman" panose="02020603050405020304" charset="0"/>
              </a:rPr>
              <a:t>小时到</a:t>
            </a:r>
            <a:r>
              <a:rPr lang="en-US" altLang="zh-CN" sz="3200" dirty="0">
                <a:latin typeface="Times New Roman" panose="02020603050405020304" charset="0"/>
              </a:rPr>
              <a:t> 2 </a:t>
            </a:r>
            <a:r>
              <a:rPr lang="zh-CN" altLang="en-US" sz="3200" dirty="0">
                <a:latin typeface="Times New Roman" panose="02020603050405020304" charset="0"/>
              </a:rPr>
              <a:t>小时左右</a:t>
            </a:r>
            <a:r>
              <a:rPr lang="en-US" altLang="zh-CN" sz="3200" dirty="0">
                <a:latin typeface="Times New Roman" panose="02020603050405020304" charset="0"/>
              </a:rPr>
              <a:t>)</a:t>
            </a:r>
            <a:r>
              <a:rPr lang="zh-CN" altLang="en-US" sz="3200" dirty="0">
                <a:latin typeface="Times New Roman" panose="02020603050405020304" charset="0"/>
              </a:rPr>
              <a:t>，强烈推荐完成实验前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charset="0"/>
              </a:rPr>
              <a:t>参考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charset="0"/>
              </a:rPr>
              <a:t> OceanBase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charset="0"/>
              </a:rPr>
              <a:t>团队提供的部分赛题的视频讲解和文字笔记内容</a:t>
            </a:r>
            <a:r>
              <a:rPr lang="zh-CN" altLang="en-US" sz="3200" dirty="0">
                <a:latin typeface="Times New Roman" panose="02020603050405020304" charset="0"/>
              </a:rPr>
              <a:t>。</a:t>
            </a:r>
            <a:endParaRPr lang="zh-CN" altLang="en-US" sz="3200" dirty="0">
              <a:latin typeface="Times New Roman" panose="02020603050405020304" charset="0"/>
            </a:endParaRP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实验</a:t>
            </a:r>
            <a:r>
              <a:rPr lang="zh-CN" altLang="en-US" dirty="0"/>
              <a:t>内容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-308610" y="1269365"/>
            <a:ext cx="13400405" cy="8952230"/>
          </a:xfrm>
        </p:spPr>
        <p:txBody>
          <a:bodyPr>
            <a:normAutofit lnSpcReduction="10000"/>
          </a:bodyPr>
          <a:lstStyle/>
          <a:p>
            <a:pPr indent="0" algn="just" defTabSz="914400" fontAlgn="auto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3200" b="1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1</a:t>
            </a:r>
            <a:r>
              <a:rPr lang="zh-CN" altLang="en-US" sz="3200" b="1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、开发调试环境准备</a:t>
            </a:r>
            <a:endParaRPr lang="zh-CN" altLang="en-US" sz="3200" b="1" dirty="0">
              <a:solidFill>
                <a:schemeClr val="tx1"/>
              </a:solidFill>
              <a:uFillTx/>
              <a:latin typeface="Times New Roman" panose="02020603050405020304" charset="0"/>
              <a:ea typeface="宋体" panose="02010600030101010101" pitchFamily="2" charset="-122"/>
            </a:endParaRPr>
          </a:p>
          <a:p>
            <a:pPr indent="0" algn="just" defTabSz="914400" fontAlgn="auto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300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（</a:t>
            </a:r>
            <a:r>
              <a:rPr lang="en-US" altLang="zh-CN" sz="300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1</a:t>
            </a:r>
            <a:r>
              <a:rPr lang="zh-CN" altLang="en-US" sz="300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）</a:t>
            </a:r>
            <a:r>
              <a:rPr lang="en-US" altLang="zh-CN" sz="300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 </a:t>
            </a:r>
            <a:r>
              <a:rPr lang="zh-CN" altLang="en-US" sz="300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启动镜像环境，推荐将本地代码目录挂载至容器的某个指定路径下：</a:t>
            </a:r>
            <a:endParaRPr lang="zh-CN" altLang="en-US" sz="3000" dirty="0">
              <a:solidFill>
                <a:schemeClr val="tx1"/>
              </a:solidFill>
              <a:uFillTx/>
              <a:latin typeface="Times New Roman" panose="02020603050405020304" charset="0"/>
              <a:ea typeface="宋体" panose="02010600030101010101" pitchFamily="2" charset="-122"/>
            </a:endParaRPr>
          </a:p>
          <a:p>
            <a:pPr indent="0" algn="just" defTabSz="914400" fontAlgn="auto">
              <a:lnSpc>
                <a:spcPct val="150000"/>
              </a:lnSpc>
              <a:spcBef>
                <a:spcPts val="0"/>
              </a:spcBef>
              <a:buNone/>
            </a:pPr>
            <a:endParaRPr lang="zh-CN" altLang="en-US" sz="3000" dirty="0">
              <a:solidFill>
                <a:schemeClr val="tx1"/>
              </a:solidFill>
              <a:uFillTx/>
              <a:latin typeface="Times New Roman" panose="02020603050405020304" charset="0"/>
              <a:ea typeface="宋体" panose="02010600030101010101" pitchFamily="2" charset="-122"/>
            </a:endParaRPr>
          </a:p>
          <a:p>
            <a:pPr indent="0" algn="just" defTabSz="914400" fontAlgn="auto">
              <a:lnSpc>
                <a:spcPct val="150000"/>
              </a:lnSpc>
              <a:spcBef>
                <a:spcPts val="0"/>
              </a:spcBef>
              <a:buNone/>
            </a:pPr>
            <a:endParaRPr lang="zh-CN" altLang="en-US" sz="3000" dirty="0">
              <a:solidFill>
                <a:schemeClr val="tx1"/>
              </a:solidFill>
              <a:uFillTx/>
              <a:latin typeface="Times New Roman" panose="02020603050405020304" charset="0"/>
              <a:ea typeface="宋体" panose="02010600030101010101" pitchFamily="2" charset="-122"/>
            </a:endParaRPr>
          </a:p>
          <a:p>
            <a:pPr indent="0" algn="just" defTabSz="914400" fontAlgn="auto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300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 </a:t>
            </a:r>
            <a:r>
              <a:rPr lang="zh-CN" altLang="en-US" sz="300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（</a:t>
            </a:r>
            <a:r>
              <a:rPr lang="en-US" altLang="zh-CN" sz="300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2</a:t>
            </a:r>
            <a:r>
              <a:rPr lang="zh-CN" altLang="en-US" sz="300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）编译修改代码：</a:t>
            </a:r>
            <a:endParaRPr lang="zh-CN" altLang="en-US" sz="3000" dirty="0">
              <a:solidFill>
                <a:schemeClr val="tx1"/>
              </a:solidFill>
              <a:uFillTx/>
              <a:latin typeface="Times New Roman" panose="02020603050405020304" charset="0"/>
              <a:ea typeface="宋体" panose="02010600030101010101" pitchFamily="2" charset="-122"/>
            </a:endParaRPr>
          </a:p>
          <a:p>
            <a:pPr indent="0" algn="just" defTabSz="914400" fontAlgn="auto">
              <a:lnSpc>
                <a:spcPct val="150000"/>
              </a:lnSpc>
              <a:spcBef>
                <a:spcPts val="0"/>
              </a:spcBef>
              <a:buNone/>
            </a:pPr>
            <a:endParaRPr lang="zh-CN" altLang="en-US" sz="3000" dirty="0">
              <a:solidFill>
                <a:schemeClr val="tx1"/>
              </a:solidFill>
              <a:uFillTx/>
              <a:latin typeface="Times New Roman" panose="02020603050405020304" charset="0"/>
              <a:ea typeface="宋体" panose="02010600030101010101" pitchFamily="2" charset="-122"/>
            </a:endParaRPr>
          </a:p>
          <a:p>
            <a:pPr indent="0" algn="just" defTabSz="914400" fontAlgn="auto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3000" dirty="0">
                <a:uFillTx/>
                <a:latin typeface="Times New Roman" panose="02020603050405020304" charset="0"/>
                <a:ea typeface="宋体" panose="02010600030101010101" pitchFamily="2" charset="-122"/>
                <a:sym typeface="+mn-ea"/>
              </a:rPr>
              <a:t>（</a:t>
            </a:r>
            <a:r>
              <a:rPr lang="en-US" altLang="zh-CN" sz="3000" dirty="0">
                <a:uFillTx/>
                <a:latin typeface="Times New Roman" panose="02020603050405020304" charset="0"/>
                <a:ea typeface="宋体" panose="02010600030101010101" pitchFamily="2" charset="-122"/>
                <a:sym typeface="+mn-ea"/>
              </a:rPr>
              <a:t>3</a:t>
            </a:r>
            <a:r>
              <a:rPr lang="zh-CN" altLang="en-US" sz="3000" dirty="0">
                <a:uFillTx/>
                <a:latin typeface="Times New Roman" panose="02020603050405020304" charset="0"/>
                <a:ea typeface="宋体" panose="02010600030101010101" pitchFamily="2" charset="-122"/>
                <a:sym typeface="+mn-ea"/>
              </a:rPr>
              <a:t>）</a:t>
            </a:r>
            <a:r>
              <a:rPr lang="zh-CN" altLang="en-US" sz="300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启动服务端和客户端：</a:t>
            </a:r>
            <a:endParaRPr lang="zh-CN" altLang="en-US" sz="3000" dirty="0">
              <a:solidFill>
                <a:schemeClr val="tx1"/>
              </a:solidFill>
              <a:uFillTx/>
              <a:latin typeface="Times New Roman" panose="02020603050405020304" charset="0"/>
              <a:ea typeface="宋体" panose="02010600030101010101" pitchFamily="2" charset="-122"/>
            </a:endParaRPr>
          </a:p>
          <a:p>
            <a:pPr indent="0" algn="just" defTabSz="914400" fontAlgn="auto">
              <a:lnSpc>
                <a:spcPct val="150000"/>
              </a:lnSpc>
              <a:spcBef>
                <a:spcPts val="0"/>
              </a:spcBef>
              <a:buNone/>
            </a:pPr>
            <a:endParaRPr lang="zh-CN" altLang="en-US" sz="3000" dirty="0">
              <a:solidFill>
                <a:schemeClr val="tx1"/>
              </a:solidFill>
              <a:uFillTx/>
              <a:latin typeface="Times New Roman" panose="02020603050405020304" charset="0"/>
              <a:ea typeface="宋体" panose="02010600030101010101" pitchFamily="2" charset="-122"/>
            </a:endParaRPr>
          </a:p>
          <a:p>
            <a:pPr indent="0" algn="just" defTabSz="914400" fontAlgn="auto">
              <a:lnSpc>
                <a:spcPct val="150000"/>
              </a:lnSpc>
              <a:spcBef>
                <a:spcPts val="2400"/>
              </a:spcBef>
              <a:buNone/>
            </a:pPr>
            <a:r>
              <a:rPr lang="zh-CN" altLang="en-US" sz="3000" dirty="0">
                <a:uFillTx/>
                <a:latin typeface="Times New Roman" panose="02020603050405020304" charset="0"/>
                <a:ea typeface="宋体" panose="02010600030101010101" pitchFamily="2" charset="-122"/>
                <a:sym typeface="+mn-ea"/>
              </a:rPr>
              <a:t>（</a:t>
            </a:r>
            <a:r>
              <a:rPr lang="en-US" altLang="zh-CN" sz="3000" dirty="0">
                <a:uFillTx/>
                <a:latin typeface="Times New Roman" panose="02020603050405020304" charset="0"/>
                <a:ea typeface="宋体" panose="02010600030101010101" pitchFamily="2" charset="-122"/>
                <a:sym typeface="+mn-ea"/>
              </a:rPr>
              <a:t>4</a:t>
            </a:r>
            <a:r>
              <a:rPr lang="zh-CN" altLang="en-US" sz="3000" dirty="0">
                <a:uFillTx/>
                <a:latin typeface="Times New Roman" panose="02020603050405020304" charset="0"/>
                <a:ea typeface="宋体" panose="02010600030101010101" pitchFamily="2" charset="-122"/>
                <a:sym typeface="+mn-ea"/>
              </a:rPr>
              <a:t>）</a:t>
            </a:r>
            <a:r>
              <a:rPr lang="zh-CN" altLang="en-US" sz="300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调试开发时建议合理设置</a:t>
            </a:r>
            <a:r>
              <a:rPr lang="en-US" altLang="zh-CN" sz="300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observer.ini</a:t>
            </a:r>
            <a:r>
              <a:rPr lang="zh-CN" altLang="en-US" sz="300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配置文件中的</a:t>
            </a:r>
            <a:r>
              <a:rPr lang="en-US" altLang="zh-CN" sz="300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LOG_FILE_LEVEL</a:t>
            </a:r>
            <a:r>
              <a:rPr lang="zh-CN" altLang="en-US" sz="300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或</a:t>
            </a:r>
            <a:r>
              <a:rPr lang="en-US" altLang="zh-CN" sz="300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LOG_CONSOLE_LEVEL</a:t>
            </a:r>
            <a:r>
              <a:rPr lang="zh-CN" altLang="en-US" sz="300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配置项的值，可以使用</a:t>
            </a:r>
            <a:r>
              <a:rPr lang="en-US" altLang="zh-CN" sz="300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gdb</a:t>
            </a:r>
            <a:r>
              <a:rPr lang="zh-CN" altLang="en-US" sz="300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进行断点调试：</a:t>
            </a:r>
            <a:r>
              <a:rPr lang="en-US" altLang="zh-CN" sz="300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https://github.com/OceanBase-Partner/lectures-on-dbms-implementation/blob/main/miniob-how-to-debug.md</a:t>
            </a:r>
            <a:endParaRPr lang="en-US" altLang="zh-CN" sz="3000" dirty="0">
              <a:solidFill>
                <a:schemeClr val="tx1"/>
              </a:solidFill>
              <a:uFillTx/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rcRect r="34641"/>
          <a:stretch>
            <a:fillRect/>
          </a:stretch>
        </p:blipFill>
        <p:spPr>
          <a:xfrm>
            <a:off x="959485" y="2716530"/>
            <a:ext cx="5700395" cy="12827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485" y="4575175"/>
            <a:ext cx="4101465" cy="60325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485" y="5754370"/>
            <a:ext cx="6374130" cy="107315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实验</a:t>
            </a:r>
            <a:r>
              <a:rPr lang="zh-CN" altLang="en-US" dirty="0"/>
              <a:t>内容</a:t>
            </a:r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1725295"/>
            <a:ext cx="12729845" cy="705421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实验</a:t>
            </a:r>
            <a:r>
              <a:rPr lang="zh-CN" altLang="en-US" dirty="0"/>
              <a:t>内容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-308610" y="1269365"/>
            <a:ext cx="13583920" cy="9269730"/>
          </a:xfrm>
        </p:spPr>
        <p:txBody>
          <a:bodyPr>
            <a:normAutofit lnSpcReduction="10000"/>
          </a:bodyPr>
          <a:lstStyle/>
          <a:p>
            <a:pPr indent="0" algn="just" defTabSz="914400" fontAlgn="auto">
              <a:lnSpc>
                <a:spcPct val="180000"/>
              </a:lnSpc>
              <a:spcBef>
                <a:spcPts val="0"/>
              </a:spcBef>
              <a:buNone/>
            </a:pPr>
            <a:r>
              <a:rPr lang="en-US" altLang="zh-CN" sz="3000" b="1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2. drop-table</a:t>
            </a:r>
            <a:r>
              <a:rPr lang="zh-CN" altLang="en-US" sz="3000" b="1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、</a:t>
            </a:r>
            <a:r>
              <a:rPr lang="en-US" altLang="zh-CN" sz="3000" b="1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date </a:t>
            </a:r>
            <a:r>
              <a:rPr lang="zh-CN" altLang="en-US" sz="3000" b="1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类型这两道必做题</a:t>
            </a:r>
            <a:r>
              <a:rPr lang="zh-CN" altLang="en-US" sz="300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，可以参考</a:t>
            </a:r>
            <a:r>
              <a:rPr lang="en-US" altLang="zh-CN" sz="300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 </a:t>
            </a:r>
            <a:endParaRPr lang="en-US" altLang="zh-CN" sz="3000" dirty="0">
              <a:solidFill>
                <a:schemeClr val="tx1"/>
              </a:solidFill>
              <a:uFillTx/>
              <a:latin typeface="Times New Roman" panose="02020603050405020304" charset="0"/>
              <a:ea typeface="宋体" panose="02010600030101010101" pitchFamily="2" charset="-122"/>
            </a:endParaRPr>
          </a:p>
          <a:p>
            <a:pPr indent="0" algn="just" defTabSz="914400" fontAlgn="auto">
              <a:lnSpc>
                <a:spcPct val="180000"/>
              </a:lnSpc>
              <a:spcBef>
                <a:spcPts val="0"/>
              </a:spcBef>
              <a:buNone/>
            </a:pPr>
            <a:r>
              <a:rPr lang="en-US" altLang="zh-CN" sz="3000" b="1" dirty="0">
                <a:solidFill>
                  <a:srgbClr val="FF0000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OceanBase </a:t>
            </a:r>
            <a:r>
              <a:rPr lang="zh-CN" altLang="en-US" sz="3000" b="1" dirty="0">
                <a:solidFill>
                  <a:srgbClr val="FF0000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团队视频讲解</a:t>
            </a:r>
            <a:r>
              <a:rPr lang="zh-CN" altLang="en-US" sz="300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：</a:t>
            </a:r>
            <a:r>
              <a:rPr lang="en-US" altLang="zh-CN" sz="300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  https://www.oceanbase.com/video/9000654</a:t>
            </a:r>
            <a:endParaRPr lang="en-US" altLang="zh-CN" sz="3000" dirty="0">
              <a:solidFill>
                <a:schemeClr val="tx1"/>
              </a:solidFill>
              <a:uFillTx/>
              <a:latin typeface="Times New Roman" panose="02020603050405020304" charset="0"/>
              <a:ea typeface="宋体" panose="02010600030101010101" pitchFamily="2" charset="-122"/>
            </a:endParaRPr>
          </a:p>
          <a:p>
            <a:pPr indent="0" algn="just" defTabSz="914400" fontAlgn="auto">
              <a:lnSpc>
                <a:spcPct val="180000"/>
              </a:lnSpc>
              <a:spcBef>
                <a:spcPts val="0"/>
              </a:spcBef>
              <a:buNone/>
            </a:pPr>
            <a:r>
              <a:rPr lang="zh-CN" altLang="en-US" sz="300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和</a:t>
            </a:r>
            <a:r>
              <a:rPr lang="zh-CN" altLang="en-US" sz="3000" b="1" dirty="0">
                <a:solidFill>
                  <a:srgbClr val="FF0000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文字笔记</a:t>
            </a:r>
            <a:r>
              <a:rPr lang="en-US" altLang="zh-CN" sz="300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 </a:t>
            </a:r>
            <a:r>
              <a:rPr lang="zh-CN" altLang="en-US" sz="300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：</a:t>
            </a:r>
            <a:endParaRPr lang="en-US" altLang="zh-CN" sz="3000" dirty="0">
              <a:solidFill>
                <a:schemeClr val="tx1"/>
              </a:solidFill>
              <a:uFillTx/>
              <a:latin typeface="Times New Roman" panose="02020603050405020304" charset="0"/>
              <a:ea typeface="宋体" panose="02010600030101010101" pitchFamily="2" charset="-122"/>
            </a:endParaRPr>
          </a:p>
          <a:p>
            <a:pPr indent="0" algn="just" defTabSz="914400" fontAlgn="auto">
              <a:lnSpc>
                <a:spcPct val="180000"/>
              </a:lnSpc>
              <a:spcBef>
                <a:spcPts val="0"/>
              </a:spcBef>
              <a:buNone/>
            </a:pPr>
            <a:r>
              <a:rPr lang="en-US" altLang="zh-CN" sz="300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https://github.com/OceanBase-Partner/lectures-on-dbms-implementation</a:t>
            </a:r>
            <a:r>
              <a:rPr lang="zh-CN" altLang="en-US" sz="300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；</a:t>
            </a:r>
            <a:endParaRPr lang="zh-CN" altLang="en-US" sz="3000" dirty="0">
              <a:solidFill>
                <a:schemeClr val="tx1"/>
              </a:solidFill>
              <a:uFillTx/>
              <a:latin typeface="Times New Roman" panose="02020603050405020304" charset="0"/>
              <a:ea typeface="宋体" panose="02010600030101010101" pitchFamily="2" charset="-122"/>
            </a:endParaRPr>
          </a:p>
          <a:p>
            <a:pPr indent="0" algn="just" defTabSz="914400" fontAlgn="auto">
              <a:lnSpc>
                <a:spcPct val="180000"/>
              </a:lnSpc>
              <a:spcBef>
                <a:spcPts val="0"/>
              </a:spcBef>
              <a:buNone/>
            </a:pPr>
            <a:r>
              <a:rPr lang="en-US" altLang="zh-CN" sz="3000" b="1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3. </a:t>
            </a:r>
            <a:r>
              <a:rPr lang="zh-CN" altLang="en-US" sz="3000" b="1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判别赛题实现代码正确性的方式（从下列两种方式中选其一即可）</a:t>
            </a:r>
            <a:endParaRPr lang="zh-CN" altLang="en-US" sz="3000" dirty="0">
              <a:solidFill>
                <a:schemeClr val="tx1"/>
              </a:solidFill>
              <a:uFillTx/>
              <a:latin typeface="Times New Roman" panose="02020603050405020304" charset="0"/>
              <a:ea typeface="宋体" panose="02010600030101010101" pitchFamily="2" charset="-122"/>
            </a:endParaRPr>
          </a:p>
          <a:p>
            <a:pPr indent="0" algn="just" defTabSz="914400" fontAlgn="auto">
              <a:lnSpc>
                <a:spcPct val="180000"/>
              </a:lnSpc>
              <a:spcBef>
                <a:spcPts val="0"/>
              </a:spcBef>
              <a:buNone/>
            </a:pPr>
            <a:r>
              <a:rPr lang="zh-CN" altLang="en-US" sz="300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（</a:t>
            </a:r>
            <a:r>
              <a:rPr lang="en-US" altLang="zh-CN" sz="300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1</a:t>
            </a:r>
            <a:r>
              <a:rPr lang="zh-CN" altLang="en-US" sz="300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）</a:t>
            </a:r>
            <a:r>
              <a:rPr lang="en-US" altLang="zh-CN" sz="300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 </a:t>
            </a:r>
            <a:r>
              <a:rPr lang="zh-CN" altLang="en-US" sz="300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成功通过赛题对应的测试样例示例</a:t>
            </a:r>
            <a:r>
              <a:rPr lang="en-US" altLang="zh-CN" sz="300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(</a:t>
            </a:r>
            <a:r>
              <a:rPr lang="zh-CN" altLang="en-US" sz="300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所有赛题的测试样例示例详见题</a:t>
            </a:r>
            <a:endParaRPr lang="zh-CN" altLang="en-US" sz="3000" dirty="0">
              <a:solidFill>
                <a:schemeClr val="tx1"/>
              </a:solidFill>
              <a:uFillTx/>
              <a:latin typeface="Times New Roman" panose="02020603050405020304" charset="0"/>
              <a:ea typeface="宋体" panose="02010600030101010101" pitchFamily="2" charset="-122"/>
            </a:endParaRPr>
          </a:p>
          <a:p>
            <a:pPr indent="0" algn="just" defTabSz="914400" fontAlgn="auto">
              <a:lnSpc>
                <a:spcPct val="180000"/>
              </a:lnSpc>
              <a:spcBef>
                <a:spcPts val="0"/>
              </a:spcBef>
              <a:buNone/>
            </a:pPr>
            <a:r>
              <a:rPr lang="zh-CN" altLang="en-US" sz="300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目介绍部分，</a:t>
            </a:r>
            <a:r>
              <a:rPr lang="en-US" altLang="zh-CN" sz="300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https://open.oceanbase.com/train?questionId=600004</a:t>
            </a:r>
            <a:endParaRPr lang="en-US" altLang="zh-CN" sz="3000" dirty="0">
              <a:solidFill>
                <a:schemeClr val="tx1"/>
              </a:solidFill>
              <a:uFillTx/>
              <a:latin typeface="Times New Roman" panose="02020603050405020304" charset="0"/>
              <a:ea typeface="宋体" panose="02010600030101010101" pitchFamily="2" charset="-122"/>
            </a:endParaRPr>
          </a:p>
          <a:p>
            <a:pPr indent="0" algn="just" defTabSz="914400" fontAlgn="auto">
              <a:lnSpc>
                <a:spcPct val="180000"/>
              </a:lnSpc>
              <a:spcBef>
                <a:spcPts val="0"/>
              </a:spcBef>
              <a:buNone/>
            </a:pPr>
            <a:r>
              <a:rPr lang="zh-CN" altLang="en-US" sz="300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如没有提供测试用例的话允许自己编写</a:t>
            </a:r>
            <a:r>
              <a:rPr lang="en-US" altLang="zh-CN" sz="300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)</a:t>
            </a:r>
            <a:r>
              <a:rPr lang="zh-CN" altLang="en-US" sz="300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；</a:t>
            </a:r>
            <a:endParaRPr lang="zh-CN" altLang="en-US" sz="3000" dirty="0">
              <a:solidFill>
                <a:schemeClr val="tx1"/>
              </a:solidFill>
              <a:uFillTx/>
              <a:latin typeface="Times New Roman" panose="02020603050405020304" charset="0"/>
              <a:ea typeface="宋体" panose="02010600030101010101" pitchFamily="2" charset="-122"/>
            </a:endParaRPr>
          </a:p>
          <a:p>
            <a:pPr indent="0" algn="just" defTabSz="914400" fontAlgn="auto">
              <a:lnSpc>
                <a:spcPct val="180000"/>
              </a:lnSpc>
              <a:spcBef>
                <a:spcPts val="0"/>
              </a:spcBef>
              <a:buNone/>
            </a:pPr>
            <a:r>
              <a:rPr lang="zh-CN" altLang="en-US" sz="300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（</a:t>
            </a:r>
            <a:r>
              <a:rPr lang="en-US" altLang="zh-CN" sz="300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2</a:t>
            </a:r>
            <a:r>
              <a:rPr lang="zh-CN" altLang="en-US" sz="300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）</a:t>
            </a:r>
            <a:r>
              <a:rPr lang="en-US" altLang="zh-CN" sz="300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 </a:t>
            </a:r>
            <a:r>
              <a:rPr lang="zh-CN" altLang="en-US" sz="300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成功通过</a:t>
            </a:r>
            <a:r>
              <a:rPr lang="en-US" altLang="zh-CN" sz="300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 Oceanbase </a:t>
            </a:r>
            <a:r>
              <a:rPr lang="zh-CN" altLang="en-US" sz="300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训练营提供的赛题提测通道的评测</a:t>
            </a:r>
            <a:r>
              <a:rPr lang="en-US" altLang="zh-CN" sz="300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(</a:t>
            </a:r>
            <a:r>
              <a:rPr lang="zh-CN" altLang="en-US" sz="300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使用赛题提</a:t>
            </a:r>
            <a:endParaRPr lang="zh-CN" altLang="en-US" sz="3000" dirty="0">
              <a:solidFill>
                <a:schemeClr val="tx1"/>
              </a:solidFill>
              <a:uFillTx/>
              <a:latin typeface="Times New Roman" panose="02020603050405020304" charset="0"/>
              <a:ea typeface="宋体" panose="02010600030101010101" pitchFamily="2" charset="-122"/>
            </a:endParaRPr>
          </a:p>
          <a:p>
            <a:pPr indent="0" algn="just" defTabSz="914400" fontAlgn="auto">
              <a:lnSpc>
                <a:spcPct val="180000"/>
              </a:lnSpc>
              <a:spcBef>
                <a:spcPts val="0"/>
              </a:spcBef>
              <a:buNone/>
            </a:pPr>
            <a:r>
              <a:rPr lang="zh-CN" altLang="en-US" sz="300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测通道的方法详见附录</a:t>
            </a:r>
            <a:r>
              <a:rPr lang="en-US" altLang="zh-CN" sz="300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)</a:t>
            </a:r>
            <a:r>
              <a:rPr lang="zh-CN" altLang="en-US" sz="300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。</a:t>
            </a:r>
            <a:endParaRPr lang="zh-CN" altLang="en-US" sz="3000" dirty="0">
              <a:solidFill>
                <a:schemeClr val="tx1"/>
              </a:solidFill>
              <a:uFillTx/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附录：</a:t>
            </a:r>
            <a:r>
              <a:rPr lang="en-US" altLang="zh-CN" dirty="0"/>
              <a:t> miniOB</a:t>
            </a:r>
            <a:r>
              <a:rPr lang="zh-CN" altLang="en-US" dirty="0"/>
              <a:t>大赛提测通道的使用方法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-308610" y="1269365"/>
            <a:ext cx="13189585" cy="9269730"/>
          </a:xfrm>
        </p:spPr>
        <p:txBody>
          <a:bodyPr>
            <a:noAutofit/>
          </a:bodyPr>
          <a:lstStyle/>
          <a:p>
            <a:pPr indent="0" algn="just" defTabSz="914400" fontAlgn="auto">
              <a:lnSpc>
                <a:spcPct val="180000"/>
              </a:lnSpc>
              <a:spcBef>
                <a:spcPts val="0"/>
              </a:spcBef>
              <a:buNone/>
            </a:pPr>
            <a:r>
              <a:rPr lang="en-US" altLang="zh-CN" sz="275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1. </a:t>
            </a:r>
            <a:r>
              <a:rPr lang="zh-CN" altLang="en-US" sz="2750" b="1" dirty="0">
                <a:solidFill>
                  <a:srgbClr val="FF0000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官方提测通道链接：</a:t>
            </a:r>
            <a:r>
              <a:rPr lang="en-US" altLang="zh-CN" sz="275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https://open.oceanbase.com/train?questionId=600004</a:t>
            </a:r>
            <a:endParaRPr lang="en-US" altLang="zh-CN" sz="2750" dirty="0">
              <a:solidFill>
                <a:schemeClr val="tx1"/>
              </a:solidFill>
              <a:uFillTx/>
              <a:latin typeface="Times New Roman" panose="02020603050405020304" charset="0"/>
              <a:ea typeface="宋体" panose="02010600030101010101" pitchFamily="2" charset="-122"/>
            </a:endParaRPr>
          </a:p>
          <a:p>
            <a:pPr indent="0" algn="just" defTabSz="914400" fontAlgn="auto">
              <a:lnSpc>
                <a:spcPct val="180000"/>
              </a:lnSpc>
              <a:spcBef>
                <a:spcPts val="0"/>
              </a:spcBef>
              <a:buNone/>
            </a:pPr>
            <a:r>
              <a:rPr lang="zh-CN" altLang="en-US" sz="2750" b="1" dirty="0">
                <a:solidFill>
                  <a:srgbClr val="FF0000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官方文档说明链接：</a:t>
            </a:r>
            <a:r>
              <a:rPr lang="en-US" altLang="zh-CN" sz="275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https://www.oceanbase.com/docs/-developer-quickstart-</a:t>
            </a:r>
            <a:endParaRPr lang="en-US" altLang="zh-CN" sz="2750" dirty="0">
              <a:solidFill>
                <a:schemeClr val="tx1"/>
              </a:solidFill>
              <a:uFillTx/>
              <a:latin typeface="Times New Roman" panose="02020603050405020304" charset="0"/>
              <a:ea typeface="宋体" panose="02010600030101010101" pitchFamily="2" charset="-122"/>
            </a:endParaRPr>
          </a:p>
          <a:p>
            <a:pPr indent="0" algn="just" defTabSz="914400" fontAlgn="auto">
              <a:lnSpc>
                <a:spcPct val="180000"/>
              </a:lnSpc>
              <a:spcBef>
                <a:spcPts val="0"/>
              </a:spcBef>
              <a:buNone/>
            </a:pPr>
            <a:r>
              <a:rPr lang="en-US" altLang="zh-CN" sz="275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10000000000627363</a:t>
            </a:r>
            <a:endParaRPr lang="en-US" altLang="zh-CN" sz="2750" dirty="0">
              <a:solidFill>
                <a:schemeClr val="tx1"/>
              </a:solidFill>
              <a:uFillTx/>
              <a:latin typeface="Times New Roman" panose="02020603050405020304" charset="0"/>
              <a:ea typeface="宋体" panose="02010600030101010101" pitchFamily="2" charset="-122"/>
            </a:endParaRPr>
          </a:p>
          <a:p>
            <a:pPr indent="0" algn="just" defTabSz="914400" fontAlgn="auto">
              <a:lnSpc>
                <a:spcPct val="180000"/>
              </a:lnSpc>
              <a:spcBef>
                <a:spcPts val="0"/>
              </a:spcBef>
              <a:buNone/>
            </a:pPr>
            <a:r>
              <a:rPr lang="en-US" altLang="zh-CN" sz="275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2. </a:t>
            </a:r>
            <a:r>
              <a:rPr lang="zh-CN" altLang="en-US" sz="275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点击</a:t>
            </a:r>
            <a:r>
              <a:rPr lang="en-US" altLang="zh-CN" sz="275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“</a:t>
            </a:r>
            <a:r>
              <a:rPr lang="zh-CN" altLang="en-US" sz="275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立即提测</a:t>
            </a:r>
            <a:r>
              <a:rPr lang="en-US" altLang="zh-CN" sz="275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”</a:t>
            </a:r>
            <a:r>
              <a:rPr lang="zh-CN" altLang="en-US" sz="275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按钮，依次输入代码仓库地址、</a:t>
            </a:r>
            <a:r>
              <a:rPr lang="en-US" altLang="zh-CN" sz="275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Commit id</a:t>
            </a:r>
            <a:r>
              <a:rPr lang="zh-CN" altLang="en-US" sz="275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、</a:t>
            </a:r>
            <a:r>
              <a:rPr lang="en-US" altLang="zh-CN" sz="275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Branch </a:t>
            </a:r>
            <a:r>
              <a:rPr lang="zh-CN" altLang="en-US" sz="275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名这三个信息，等待执行结果即可；</a:t>
            </a:r>
            <a:endParaRPr lang="zh-CN" altLang="en-US" sz="2750" dirty="0">
              <a:solidFill>
                <a:schemeClr val="tx1"/>
              </a:solidFill>
              <a:uFillTx/>
              <a:latin typeface="Times New Roman" panose="02020603050405020304" charset="0"/>
              <a:ea typeface="宋体" panose="02010600030101010101" pitchFamily="2" charset="-122"/>
            </a:endParaRPr>
          </a:p>
          <a:p>
            <a:pPr indent="0" algn="just" defTabSz="914400" fontAlgn="auto">
              <a:lnSpc>
                <a:spcPct val="180000"/>
              </a:lnSpc>
              <a:spcBef>
                <a:spcPts val="0"/>
              </a:spcBef>
              <a:buNone/>
            </a:pPr>
            <a:r>
              <a:rPr lang="zh-CN" altLang="en-US" sz="275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（</a:t>
            </a:r>
            <a:r>
              <a:rPr lang="en-US" altLang="zh-CN" sz="275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1</a:t>
            </a:r>
            <a:r>
              <a:rPr lang="zh-CN" altLang="en-US" sz="275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）</a:t>
            </a:r>
            <a:r>
              <a:rPr lang="en-US" altLang="zh-CN" sz="275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 </a:t>
            </a:r>
            <a:r>
              <a:rPr lang="zh-CN" altLang="en-US" sz="275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代码仓库地址需要是公开的仓库</a:t>
            </a:r>
            <a:endParaRPr lang="zh-CN" altLang="en-US" sz="2750" dirty="0">
              <a:solidFill>
                <a:schemeClr val="tx1"/>
              </a:solidFill>
              <a:uFillTx/>
              <a:latin typeface="Times New Roman" panose="02020603050405020304" charset="0"/>
              <a:ea typeface="宋体" panose="02010600030101010101" pitchFamily="2" charset="-122"/>
            </a:endParaRPr>
          </a:p>
          <a:p>
            <a:pPr indent="0" algn="just" defTabSz="914400" fontAlgn="auto">
              <a:lnSpc>
                <a:spcPct val="180000"/>
              </a:lnSpc>
              <a:spcBef>
                <a:spcPts val="0"/>
              </a:spcBef>
              <a:buNone/>
            </a:pPr>
            <a:r>
              <a:rPr lang="zh-CN" altLang="en-US" sz="275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（</a:t>
            </a:r>
            <a:r>
              <a:rPr lang="en-US" altLang="zh-CN" sz="275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2</a:t>
            </a:r>
            <a:r>
              <a:rPr lang="zh-CN" altLang="en-US" sz="275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）</a:t>
            </a:r>
            <a:r>
              <a:rPr lang="en-US" altLang="zh-CN" sz="275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 Commit id </a:t>
            </a:r>
            <a:r>
              <a:rPr lang="zh-CN" altLang="en-US" sz="275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是每次</a:t>
            </a:r>
            <a:r>
              <a:rPr lang="en-US" altLang="zh-CN" sz="275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 commit </a:t>
            </a:r>
            <a:r>
              <a:rPr lang="zh-CN" altLang="en-US" sz="275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提交对应的</a:t>
            </a:r>
            <a:r>
              <a:rPr lang="en-US" altLang="zh-CN" sz="275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 SHA </a:t>
            </a:r>
            <a:r>
              <a:rPr lang="zh-CN" altLang="en-US" sz="275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码</a:t>
            </a:r>
            <a:endParaRPr lang="zh-CN" altLang="en-US" sz="2750" dirty="0">
              <a:solidFill>
                <a:schemeClr val="tx1"/>
              </a:solidFill>
              <a:uFillTx/>
              <a:latin typeface="Times New Roman" panose="02020603050405020304" charset="0"/>
              <a:ea typeface="宋体" panose="02010600030101010101" pitchFamily="2" charset="-122"/>
            </a:endParaRPr>
          </a:p>
          <a:p>
            <a:pPr indent="0" algn="just" defTabSz="914400" fontAlgn="auto">
              <a:lnSpc>
                <a:spcPct val="180000"/>
              </a:lnSpc>
              <a:spcBef>
                <a:spcPts val="0"/>
              </a:spcBef>
              <a:buNone/>
            </a:pPr>
            <a:r>
              <a:rPr lang="zh-CN" altLang="en-US" sz="275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（</a:t>
            </a:r>
            <a:r>
              <a:rPr lang="en-US" altLang="zh-CN" sz="275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3</a:t>
            </a:r>
            <a:r>
              <a:rPr lang="zh-CN" altLang="en-US" sz="275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）</a:t>
            </a:r>
            <a:r>
              <a:rPr lang="en-US" altLang="zh-CN" sz="275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 </a:t>
            </a:r>
            <a:r>
              <a:rPr lang="zh-CN" altLang="en-US" sz="275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注意每个账号每天只有十次提测机会</a:t>
            </a:r>
            <a:endParaRPr lang="zh-CN" altLang="en-US" sz="2750" dirty="0">
              <a:solidFill>
                <a:schemeClr val="tx1"/>
              </a:solidFill>
              <a:uFillTx/>
              <a:latin typeface="Times New Roman" panose="02020603050405020304" charset="0"/>
              <a:ea typeface="宋体" panose="02010600030101010101" pitchFamily="2" charset="-122"/>
            </a:endParaRPr>
          </a:p>
          <a:p>
            <a:pPr indent="0" algn="just" defTabSz="914400" fontAlgn="auto">
              <a:lnSpc>
                <a:spcPct val="180000"/>
              </a:lnSpc>
              <a:spcBef>
                <a:spcPts val="0"/>
              </a:spcBef>
              <a:buNone/>
            </a:pPr>
            <a:r>
              <a:rPr lang="zh-CN" altLang="en-US" sz="275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（</a:t>
            </a:r>
            <a:r>
              <a:rPr lang="en-US" altLang="zh-CN" sz="275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4</a:t>
            </a:r>
            <a:r>
              <a:rPr lang="zh-CN" altLang="en-US" sz="275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）</a:t>
            </a:r>
            <a:r>
              <a:rPr lang="en-US" altLang="zh-CN" sz="275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 </a:t>
            </a:r>
            <a:r>
              <a:rPr lang="zh-CN" altLang="en-US" sz="275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注意要使用</a:t>
            </a:r>
            <a:r>
              <a:rPr lang="en-US" altLang="zh-CN" sz="275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 gitee </a:t>
            </a:r>
            <a:r>
              <a:rPr lang="zh-CN" altLang="en-US" sz="275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仓库，并且私有仓库需要加</a:t>
            </a:r>
            <a:r>
              <a:rPr lang="en-US" altLang="zh-CN" sz="275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 oceanbase-ce-game-test </a:t>
            </a:r>
            <a:r>
              <a:rPr lang="zh-CN" altLang="en-US" sz="275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为观察员，具体步骤详见大赛提测通道官方使用说明：</a:t>
            </a:r>
            <a:endParaRPr lang="zh-CN" altLang="en-US" sz="2750" dirty="0">
              <a:solidFill>
                <a:schemeClr val="tx1"/>
              </a:solidFill>
              <a:uFillTx/>
              <a:latin typeface="Times New Roman" panose="02020603050405020304" charset="0"/>
              <a:ea typeface="宋体" panose="02010600030101010101" pitchFamily="2" charset="-122"/>
            </a:endParaRPr>
          </a:p>
          <a:p>
            <a:pPr indent="0" algn="just" defTabSz="914400" fontAlgn="auto">
              <a:lnSpc>
                <a:spcPct val="180000"/>
              </a:lnSpc>
              <a:spcBef>
                <a:spcPts val="0"/>
              </a:spcBef>
              <a:buNone/>
            </a:pPr>
            <a:r>
              <a:rPr lang="en-US" altLang="zh-CN" sz="275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https://www.oceanbase.com/docs/community-developer-quickstart-10000000000627364</a:t>
            </a:r>
            <a:endParaRPr lang="en-US" altLang="zh-CN" sz="2750" dirty="0">
              <a:solidFill>
                <a:schemeClr val="tx1"/>
              </a:solidFill>
              <a:uFillTx/>
              <a:latin typeface="Times New Roman" panose="02020603050405020304" charset="0"/>
              <a:ea typeface="宋体" panose="02010600030101010101" pitchFamily="2" charset="-122"/>
            </a:endParaRPr>
          </a:p>
          <a:p>
            <a:pPr indent="0" algn="just" defTabSz="914400" fontAlgn="auto">
              <a:lnSpc>
                <a:spcPct val="180000"/>
              </a:lnSpc>
              <a:spcBef>
                <a:spcPts val="0"/>
              </a:spcBef>
              <a:buNone/>
            </a:pPr>
            <a:endParaRPr lang="en-US" altLang="zh-CN" sz="2750" dirty="0">
              <a:solidFill>
                <a:schemeClr val="tx1"/>
              </a:solidFill>
              <a:uFillTx/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附录：</a:t>
            </a:r>
            <a:r>
              <a:rPr lang="en-US" altLang="zh-CN" dirty="0"/>
              <a:t> miniOB</a:t>
            </a:r>
            <a:r>
              <a:rPr lang="zh-CN" altLang="en-US" dirty="0"/>
              <a:t>大赛提测通道的使用方法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-276860" y="6859905"/>
            <a:ext cx="13189585" cy="2019300"/>
          </a:xfrm>
        </p:spPr>
        <p:txBody>
          <a:bodyPr>
            <a:normAutofit lnSpcReduction="20000"/>
          </a:bodyPr>
          <a:lstStyle/>
          <a:p>
            <a:pPr indent="0" algn="just" defTabSz="914400" fontAlgn="auto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300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Ob </a:t>
            </a:r>
            <a:r>
              <a:rPr lang="zh-CN" altLang="en-US" sz="300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官方教程可能过时，具体改动可以参照这个</a:t>
            </a:r>
            <a:r>
              <a:rPr lang="en-US" altLang="zh-CN" sz="300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 patch</a:t>
            </a:r>
            <a:r>
              <a:rPr lang="zh-CN" altLang="en-US" sz="300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：</a:t>
            </a:r>
            <a:endParaRPr lang="zh-CN" altLang="en-US" sz="3000" dirty="0">
              <a:solidFill>
                <a:schemeClr val="tx1"/>
              </a:solidFill>
              <a:uFillTx/>
              <a:latin typeface="Times New Roman" panose="02020603050405020304" charset="0"/>
              <a:ea typeface="宋体" panose="02010600030101010101" pitchFamily="2" charset="-122"/>
            </a:endParaRPr>
          </a:p>
          <a:p>
            <a:pPr indent="0" algn="just" defTabSz="914400" fontAlgn="auto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300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https://github.com/oceanbase/miniob/commit/dc050b3b8e2ef477f6f63ce5d45fbc74dff9505b</a:t>
            </a:r>
            <a:endParaRPr lang="en-US" altLang="zh-CN" sz="3000" dirty="0">
              <a:solidFill>
                <a:schemeClr val="tx1"/>
              </a:solidFill>
              <a:uFillTx/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8955" y="1413510"/>
            <a:ext cx="9037320" cy="520319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6585" y="23035"/>
            <a:ext cx="6500779" cy="744110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168275" y="7226300"/>
            <a:ext cx="12751435" cy="227901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https://www.oceanbase.com/docs/common-oceanbase-database-cn-1000000004475544</a:t>
            </a:r>
            <a:endParaRPr lang="en-US" altLang="zh-CN">
              <a:solidFill>
                <a:schemeClr val="tx1"/>
              </a:solidFill>
              <a:uFillTx/>
              <a:latin typeface="Times New Roman" panose="02020603050405020304" charset="0"/>
              <a:ea typeface="宋体" panose="02010600030101010101" pitchFamily="2" charset="-122"/>
            </a:endParaRPr>
          </a:p>
          <a:p>
            <a:r>
              <a:rPr lang="en-US" altLang="zh-CN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https://mariadb.com/docs/server/mariadb-quickstart-guides/basics-guide</a:t>
            </a:r>
            <a:endParaRPr lang="en-US" altLang="zh-CN">
              <a:solidFill>
                <a:schemeClr val="tx1"/>
              </a:solidFill>
              <a:uFillTx/>
              <a:latin typeface="Times New Roman" panose="02020603050405020304" charset="0"/>
              <a:ea typeface="宋体" panose="02010600030101010101" pitchFamily="2" charset="-122"/>
            </a:endParaRPr>
          </a:p>
          <a:p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请大家完成实验，有问题先去上面两个官方文档里找解决方案，没找到再在会议室里问</a:t>
            </a:r>
            <a:endParaRPr lang="en-US" altLang="zh-CN">
              <a:solidFill>
                <a:schemeClr val="tx1"/>
              </a:solidFill>
              <a:uFillTx/>
              <a:latin typeface="Times New Roman" panose="02020603050405020304" charset="0"/>
              <a:ea typeface="宋体" panose="02010600030101010101" pitchFamily="2" charset="-122"/>
            </a:endParaRPr>
          </a:p>
          <a:p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实验报告的模板在实验准备</a:t>
            </a:r>
            <a:r>
              <a:rPr lang="en-US" altLang="zh-CN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.zip</a:t>
            </a:r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里面</a:t>
            </a:r>
            <a:endParaRPr lang="zh-CN" altLang="en-US">
              <a:solidFill>
                <a:schemeClr val="tx1"/>
              </a:solidFill>
              <a:uFillTx/>
              <a:latin typeface="Times New Roman" panose="02020603050405020304" charset="0"/>
              <a:ea typeface="宋体" panose="02010600030101010101" pitchFamily="2" charset="-122"/>
            </a:endParaRPr>
          </a:p>
          <a:p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所有班级：请在</a:t>
            </a:r>
            <a:r>
              <a:rPr lang="en-US" altLang="zh-CN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5</a:t>
            </a:r>
            <a:r>
              <a:rPr lang="en-US" altLang="zh-CN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/5</a:t>
            </a:r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前，在</a:t>
            </a:r>
            <a:r>
              <a:rPr lang="en-US" altLang="zh-CN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canvas</a:t>
            </a:r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上提交实验报告</a:t>
            </a:r>
            <a:endParaRPr lang="zh-CN" altLang="en-US">
              <a:solidFill>
                <a:schemeClr val="tx1"/>
              </a:solidFill>
              <a:uFillTx/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2"/>
            <a:ext cx="3481987" cy="958259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5130" y="857250"/>
            <a:ext cx="4326890" cy="623506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rcRect b="2324"/>
          <a:stretch>
            <a:fillRect/>
          </a:stretch>
        </p:blipFill>
        <p:spPr>
          <a:xfrm>
            <a:off x="6281420" y="857250"/>
            <a:ext cx="4552950" cy="62706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2021</Words>
  <Application>WPS 演示</Application>
  <PresentationFormat>自定义</PresentationFormat>
  <Paragraphs>80</Paragraphs>
  <Slides>11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2" baseType="lpstr">
      <vt:lpstr>Arial</vt:lpstr>
      <vt:lpstr>宋体</vt:lpstr>
      <vt:lpstr>Wingdings</vt:lpstr>
      <vt:lpstr>微软雅黑</vt:lpstr>
      <vt:lpstr>Heiti SC Medium</vt:lpstr>
      <vt:lpstr>黑体</vt:lpstr>
      <vt:lpstr>Times New Roman</vt:lpstr>
      <vt:lpstr>Arial Unicode MS</vt:lpstr>
      <vt:lpstr>Calibri</vt:lpstr>
      <vt:lpstr>等线</vt:lpstr>
      <vt:lpstr>Office 主题​​</vt:lpstr>
      <vt:lpstr>PowerPoint 演示文稿</vt:lpstr>
      <vt:lpstr>miniOB 进阶实验</vt:lpstr>
      <vt:lpstr>miniOB 进阶实验</vt:lpstr>
      <vt:lpstr>miniOB 进阶实验</vt:lpstr>
      <vt:lpstr>miniOB 进阶实验</vt:lpstr>
      <vt:lpstr>实验内容</vt:lpstr>
      <vt:lpstr>实验内容</vt:lpstr>
      <vt:lpstr>实验内容</vt:lpstr>
      <vt:lpstr>附录： miniOB大赛提测通道的使用方法</vt:lpstr>
      <vt:lpstr>附录： miniOB大赛提测通道的使用方法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交互式SQL(DDL)</dc:title>
  <dc:creator>asud66</dc:creator>
  <cp:lastModifiedBy>ZJYZ</cp:lastModifiedBy>
  <cp:revision>81</cp:revision>
  <dcterms:created xsi:type="dcterms:W3CDTF">2019-10-12T11:44:00Z</dcterms:created>
  <dcterms:modified xsi:type="dcterms:W3CDTF">2026-04-27T02:30:09Z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3E1CD2BBA686431C97768CDCCA08CB6F_12</vt:lpwstr>
  </property>
  <property fmtid="{D5CDD505-2E9C-101B-9397-08002B2CF9AE}" pid="3" name="KSOProductBuildVer">
    <vt:lpwstr>2052-12.1.0.25865</vt:lpwstr>
  </property>
</Properties>
</file>