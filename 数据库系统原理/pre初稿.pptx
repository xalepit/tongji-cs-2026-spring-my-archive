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82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可函 幸" initials="可函" lastIdx="1" clrIdx="0">
    <p:extLst>
      <p:ext uri="{19B8F6BF-5375-455C-9EA6-DF929625EA0E}">
        <p15:presenceInfo xmlns:p15="http://schemas.microsoft.com/office/powerpoint/2012/main" userId="bac14c5f49dd68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6FF"/>
    <a:srgbClr val="FEFEFE"/>
    <a:srgbClr val="FBFBFB"/>
    <a:srgbClr val="F9F9F9"/>
    <a:srgbClr val="FDFDFD"/>
    <a:srgbClr val="FF6600"/>
    <a:srgbClr val="FEFDFE"/>
    <a:srgbClr val="1AA5A5"/>
    <a:srgbClr val="0057E7"/>
    <a:srgbClr val="F6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5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0.png"/><Relationship Id="rId18" Type="http://schemas.openxmlformats.org/officeDocument/2006/relationships/image" Target="../media/image44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9.sv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11" Type="http://schemas.openxmlformats.org/officeDocument/2006/relationships/image" Target="../media/image27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27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7.png"/><Relationship Id="rId4" Type="http://schemas.openxmlformats.org/officeDocument/2006/relationships/image" Target="../media/image73.png"/><Relationship Id="rId9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8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26.png"/><Relationship Id="rId5" Type="http://schemas.openxmlformats.org/officeDocument/2006/relationships/image" Target="../media/image64.png"/><Relationship Id="rId10" Type="http://schemas.openxmlformats.org/officeDocument/2006/relationships/image" Target="../media/image131.png"/><Relationship Id="rId4" Type="http://schemas.openxmlformats.org/officeDocument/2006/relationships/image" Target="../media/image96.pn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直角三角形 11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extBox 1"/>
          <p:cNvSpPr>
            <a:spLocks noGrp="1"/>
          </p:cNvSpPr>
          <p:nvPr/>
        </p:nvSpPr>
        <p:spPr>
          <a:xfrm>
            <a:off x="1679534" y="2814106"/>
            <a:ext cx="8747587" cy="178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3800" b="1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中的向量检索：</a:t>
            </a:r>
          </a:p>
          <a:p>
            <a:pPr algn="ctr">
              <a:buNone/>
            </a:pPr>
            <a:r>
              <a:rPr sz="4000" b="1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向量数据库如何为大模型找到外部知识</a:t>
            </a:r>
          </a:p>
          <a:p>
            <a:pPr algn="ctr">
              <a:buNone/>
            </a:pPr>
            <a:endParaRPr sz="4000" b="1">
              <a:solidFill>
                <a:srgbClr val="00196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498348" y="4103410"/>
            <a:ext cx="110642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200" b="1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以向量数据库为核心的数据存储、索引与检索机制</a:t>
            </a:r>
          </a:p>
        </p:txBody>
      </p:sp>
      <p:sp>
        <p:nvSpPr>
          <p:cNvPr id="5" name="Connector 4"/>
          <p:cNvSpPr>
            <a:spLocks noGrp="1"/>
          </p:cNvSpPr>
          <p:nvPr/>
        </p:nvSpPr>
        <p:spPr>
          <a:xfrm>
            <a:off x="781812" y="4727043"/>
            <a:ext cx="1056132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Oval 5"/>
          <p:cNvSpPr>
            <a:spLocks noGrp="1"/>
          </p:cNvSpPr>
          <p:nvPr/>
        </p:nvSpPr>
        <p:spPr>
          <a:xfrm>
            <a:off x="6003036" y="4695039"/>
            <a:ext cx="68580" cy="68580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347972" y="4873347"/>
            <a:ext cx="3429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250" b="0">
                <a:solidFill>
                  <a:srgbClr val="7D7D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数据库系统原理   |   前沿探索汇报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11315700" y="8676396"/>
            <a:ext cx="53035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buNone/>
            </a:pPr>
            <a:r>
              <a:rPr sz="1100" b="0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12</a:t>
            </a:r>
          </a:p>
        </p:txBody>
      </p:sp>
      <p:pic>
        <p:nvPicPr>
          <p:cNvPr id="42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953" y="119433"/>
            <a:ext cx="3649877" cy="2384763"/>
          </a:xfrm>
          <a:prstGeom prst="rect">
            <a:avLst/>
          </a:prstGeom>
        </p:spPr>
      </p:pic>
      <p:sp>
        <p:nvSpPr>
          <p:cNvPr id="46" name="TextBox 6"/>
          <p:cNvSpPr>
            <a:spLocks noGrp="1"/>
          </p:cNvSpPr>
          <p:nvPr/>
        </p:nvSpPr>
        <p:spPr>
          <a:xfrm>
            <a:off x="3295393" y="5386077"/>
            <a:ext cx="5483874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2452769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幸可函</a:t>
            </a: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（1-12页） 2452285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庞家宝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13-24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</a:t>
            </a:r>
            <a:r>
              <a:rPr 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</p:txBody>
      </p:sp>
      <p:sp>
        <p:nvSpPr>
          <p:cNvPr id="8" name="直角三角形 7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直角三角形 1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直角三角形 1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直角三角形 14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直角三角形 1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直角三角形 1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直角三角形 1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>
            <a:spLocks noGrp="1"/>
          </p:cNvSpPr>
          <p:nvPr/>
        </p:nvSpPr>
        <p:spPr>
          <a:xfrm>
            <a:off x="4943761" y="94660"/>
            <a:ext cx="2260421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>
                <a:solidFill>
                  <a:srgbClr val="0218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5155220" y="1034894"/>
            <a:ext cx="189583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rgbClr val="0053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汇报结构总览</a:t>
            </a:r>
          </a:p>
        </p:txBody>
      </p:sp>
      <p:sp>
        <p:nvSpPr>
          <p:cNvPr id="6" name="Connector 5"/>
          <p:cNvSpPr>
            <a:spLocks noGrp="1"/>
          </p:cNvSpPr>
          <p:nvPr/>
        </p:nvSpPr>
        <p:spPr>
          <a:xfrm>
            <a:off x="3047923" y="1187942"/>
            <a:ext cx="1837505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" name="Connector 6"/>
          <p:cNvSpPr>
            <a:spLocks noGrp="1"/>
          </p:cNvSpPr>
          <p:nvPr/>
        </p:nvSpPr>
        <p:spPr>
          <a:xfrm>
            <a:off x="7160433" y="1187942"/>
            <a:ext cx="1859379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Oval 7"/>
          <p:cNvSpPr>
            <a:spLocks noGrp="1"/>
          </p:cNvSpPr>
          <p:nvPr/>
        </p:nvSpPr>
        <p:spPr>
          <a:xfrm>
            <a:off x="3011465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Oval 8"/>
          <p:cNvSpPr>
            <a:spLocks noGrp="1"/>
          </p:cNvSpPr>
          <p:nvPr/>
        </p:nvSpPr>
        <p:spPr>
          <a:xfrm>
            <a:off x="8983354" y="115150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55210" y="1596070"/>
            <a:ext cx="4921886" cy="2011485"/>
          </a:xfrm>
          <a:prstGeom prst="roundRect">
            <a:avLst/>
          </a:prstGeom>
          <a:solidFill>
            <a:srgbClr val="FAFBFD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6073972" y="1596070"/>
            <a:ext cx="4921886" cy="2011485"/>
          </a:xfrm>
          <a:prstGeom prst="roundRect">
            <a:avLst/>
          </a:prstGeom>
          <a:solidFill>
            <a:srgbClr val="FCFEFE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955210" y="3848059"/>
            <a:ext cx="4921886" cy="2011485"/>
          </a:xfrm>
          <a:prstGeom prst="roundRect">
            <a:avLst/>
          </a:prstGeom>
          <a:solidFill>
            <a:srgbClr val="F9FBFE"/>
          </a:solidFill>
          <a:ln w="1524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073972" y="3848059"/>
            <a:ext cx="4921886" cy="2011485"/>
          </a:xfrm>
          <a:prstGeom prst="roundRect">
            <a:avLst/>
          </a:prstGeom>
          <a:solidFill>
            <a:srgbClr val="FCFDFD"/>
          </a:solidFill>
          <a:ln w="15240">
            <a:solidFill>
              <a:srgbClr val="00A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1166669" y="2893332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6278139" y="2893332"/>
            <a:ext cx="3150008" cy="0"/>
          </a:xfrm>
          <a:prstGeom prst="line">
            <a:avLst/>
          </a:prstGeom>
          <a:ln w="17780">
            <a:solidFill>
              <a:srgbClr val="00A0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1166669" y="5130746"/>
            <a:ext cx="2953132" cy="0"/>
          </a:xfrm>
          <a:prstGeom prst="line">
            <a:avLst/>
          </a:prstGeom>
          <a:ln w="17780">
            <a:solidFill>
              <a:srgbClr val="0053E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6278139" y="5130746"/>
            <a:ext cx="3157299" cy="0"/>
          </a:xfrm>
          <a:prstGeom prst="line">
            <a:avLst/>
          </a:prstGeom>
          <a:ln w="17780">
            <a:solidFill>
              <a:srgbClr val="0098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10" y="1814709"/>
            <a:ext cx="743751" cy="72879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97" y="1814709"/>
            <a:ext cx="743751" cy="72879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210" y="4044835"/>
            <a:ext cx="743751" cy="72879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97" y="4044835"/>
            <a:ext cx="743751" cy="72879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4281" y="1953181"/>
            <a:ext cx="1316148" cy="1384718"/>
          </a:xfrm>
          <a:prstGeom prst="rect">
            <a:avLst/>
          </a:prstGeom>
        </p:spPr>
      </p:pic>
      <p:pic>
        <p:nvPicPr>
          <p:cNvPr id="23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0022" y="4183307"/>
            <a:ext cx="1414586" cy="1545054"/>
          </a:xfrm>
          <a:prstGeom prst="rect">
            <a:avLst/>
          </a:prstGeom>
        </p:spPr>
      </p:pic>
      <p:sp>
        <p:nvSpPr>
          <p:cNvPr id="27" name="TextBox 26"/>
          <p:cNvSpPr>
            <a:spLocks noGrp="1"/>
          </p:cNvSpPr>
          <p:nvPr/>
        </p:nvSpPr>
        <p:spPr>
          <a:xfrm>
            <a:off x="2085421" y="1781747"/>
            <a:ext cx="2187505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RAG 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268751" y="3141125"/>
            <a:ext cx="2225816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背景与动机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3-7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7167724" y="1825504"/>
            <a:ext cx="304150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基本概念与系统架构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329180" y="3141124"/>
            <a:ext cx="33879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系统组成与核心能力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8–10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2089344" y="4032587"/>
            <a:ext cx="234792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向量检索与
索引机制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7143628" y="4032586"/>
            <a:ext cx="2760892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0195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应用、对比与
前沿挑战</a:t>
            </a: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329181" y="5393113"/>
            <a:ext cx="3970224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工作流与发展趋势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18–22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35" name="图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7120" y="1910123"/>
            <a:ext cx="1148538" cy="1266770"/>
          </a:xfrm>
          <a:prstGeom prst="rect">
            <a:avLst/>
          </a:prstGeom>
        </p:spPr>
      </p:pic>
      <p:sp>
        <p:nvSpPr>
          <p:cNvPr id="36" name="Connector 35"/>
          <p:cNvSpPr>
            <a:spLocks noGrp="1"/>
          </p:cNvSpPr>
          <p:nvPr/>
        </p:nvSpPr>
        <p:spPr>
          <a:xfrm>
            <a:off x="5490637" y="6369704"/>
            <a:ext cx="5723972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7" name="Oval 36"/>
          <p:cNvSpPr>
            <a:spLocks noGrp="1"/>
          </p:cNvSpPr>
          <p:nvPr/>
        </p:nvSpPr>
        <p:spPr>
          <a:xfrm>
            <a:off x="605209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Oval 37"/>
          <p:cNvSpPr>
            <a:spLocks noGrp="1"/>
          </p:cNvSpPr>
          <p:nvPr/>
        </p:nvSpPr>
        <p:spPr>
          <a:xfrm>
            <a:off x="11185442" y="6340552"/>
            <a:ext cx="58333" cy="58303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5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" name="图片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4174" y="4084764"/>
            <a:ext cx="1536747" cy="1585644"/>
          </a:xfrm>
          <a:prstGeom prst="rect">
            <a:avLst/>
          </a:prstGeom>
        </p:spPr>
      </p:pic>
      <p:sp>
        <p:nvSpPr>
          <p:cNvPr id="40" name="直角三角形 39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直角三角形 40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直角三角形 41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直角三角形 42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直角三角形 43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直角三角形 44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直角三角形 4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直角三角形 4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Connector 34"/>
          <p:cNvSpPr>
            <a:spLocks noGrp="1"/>
          </p:cNvSpPr>
          <p:nvPr/>
        </p:nvSpPr>
        <p:spPr>
          <a:xfrm>
            <a:off x="634376" y="6369704"/>
            <a:ext cx="4856261" cy="0"/>
          </a:xfrm>
          <a:prstGeom prst="line">
            <a:avLst/>
          </a:prstGeom>
          <a:ln w="25400">
            <a:solidFill>
              <a:srgbClr val="005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TextBox 31"/>
          <p:cNvSpPr>
            <a:spLocks noGrp="1"/>
          </p:cNvSpPr>
          <p:nvPr/>
        </p:nvSpPr>
        <p:spPr>
          <a:xfrm>
            <a:off x="1268752" y="5393113"/>
            <a:ext cx="333869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ANN 与相似度计算</a:t>
            </a:r>
            <a:r>
              <a:rPr 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  </a:t>
            </a:r>
            <a:r>
              <a:rPr lang="en-US" altLang="zh-CN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11–17</a:t>
            </a:r>
            <a:r>
              <a:rPr lang="zh-CN" altLang="en-US" sz="2000" b="1">
                <a:solidFill>
                  <a:srgbClr val="00195C"/>
                </a:solidFill>
                <a:latin typeface="等线" panose="02010600030101010101" charset="-122"/>
                <a:ea typeface="等线" panose="02010600030101010101" charset="-122"/>
              </a:rPr>
              <a:t>页</a:t>
            </a:r>
            <a:endParaRPr sz="2000" b="1">
              <a:solidFill>
                <a:srgbClr val="00195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>
            <a:spLocks noGrp="1"/>
          </p:cNvSpPr>
          <p:nvPr/>
        </p:nvSpPr>
        <p:spPr>
          <a:xfrm>
            <a:off x="365760" y="146304"/>
            <a:ext cx="11475720" cy="6766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47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LLM 的局限</a:t>
            </a: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4340260" y="1024128"/>
            <a:ext cx="3590727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900" b="1">
                <a:solidFill>
                  <a:srgbClr val="126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为什么需要引入外部知识检索？</a:t>
            </a:r>
          </a:p>
        </p:txBody>
      </p:sp>
      <p:sp>
        <p:nvSpPr>
          <p:cNvPr id="9" name="Connector 8"/>
          <p:cNvSpPr>
            <a:spLocks noGrp="1"/>
          </p:cNvSpPr>
          <p:nvPr/>
        </p:nvSpPr>
        <p:spPr>
          <a:xfrm>
            <a:off x="2880360" y="1101852"/>
            <a:ext cx="1097279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848356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Connector 10"/>
          <p:cNvSpPr>
            <a:spLocks noGrp="1"/>
          </p:cNvSpPr>
          <p:nvPr/>
        </p:nvSpPr>
        <p:spPr>
          <a:xfrm>
            <a:off x="8065008" y="1101852"/>
            <a:ext cx="1188720" cy="0"/>
          </a:xfrm>
          <a:prstGeom prst="line">
            <a:avLst/>
          </a:prstGeom>
          <a:ln w="15875">
            <a:solidFill>
              <a:srgbClr val="1260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Oval 11"/>
          <p:cNvSpPr>
            <a:spLocks noGrp="1"/>
          </p:cNvSpPr>
          <p:nvPr/>
        </p:nvSpPr>
        <p:spPr>
          <a:xfrm>
            <a:off x="9253728" y="1069848"/>
            <a:ext cx="68580" cy="6858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713232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Oval 14"/>
          <p:cNvSpPr>
            <a:spLocks noGrp="1"/>
          </p:cNvSpPr>
          <p:nvPr/>
        </p:nvSpPr>
        <p:spPr>
          <a:xfrm>
            <a:off x="89611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9611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709928" y="1879990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987552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>
            <a:spLocks noGrp="1"/>
          </p:cNvSpPr>
          <p:nvPr/>
        </p:nvSpPr>
        <p:spPr>
          <a:xfrm>
            <a:off x="1147118" y="4069080"/>
            <a:ext cx="1564531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可能生成看似合理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但不真实的内容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3346704" y="1636776"/>
            <a:ext cx="2432304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3529584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529584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4176848" y="1878644"/>
            <a:ext cx="1472184" cy="283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20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知识过时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4688" y="2456053"/>
            <a:ext cx="1494832" cy="1195230"/>
          </a:xfrm>
          <a:prstGeom prst="rect">
            <a:avLst/>
          </a:prstGeom>
        </p:spPr>
      </p:pic>
      <p:sp>
        <p:nvSpPr>
          <p:cNvPr id="27" name="Connector 26"/>
          <p:cNvSpPr>
            <a:spLocks noGrp="1"/>
          </p:cNvSpPr>
          <p:nvPr/>
        </p:nvSpPr>
        <p:spPr>
          <a:xfrm>
            <a:off x="3621024" y="3831335"/>
            <a:ext cx="1883664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8" name="TextBox 27"/>
          <p:cNvSpPr>
            <a:spLocks noGrp="1"/>
          </p:cNvSpPr>
          <p:nvPr/>
        </p:nvSpPr>
        <p:spPr>
          <a:xfrm>
            <a:off x="3976157" y="4069080"/>
            <a:ext cx="1173398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参数知识更新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成本高</a:t>
            </a:r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5989320" y="1636776"/>
            <a:ext cx="2633472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Oval 30"/>
          <p:cNvSpPr>
            <a:spLocks noGrp="1"/>
          </p:cNvSpPr>
          <p:nvPr/>
        </p:nvSpPr>
        <p:spPr>
          <a:xfrm>
            <a:off x="6172200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6172200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6748272" y="1892808"/>
            <a:ext cx="1641475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无法访问私有知识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679" y="2507069"/>
            <a:ext cx="1458373" cy="1107774"/>
          </a:xfrm>
          <a:prstGeom prst="rect">
            <a:avLst/>
          </a:prstGeom>
        </p:spPr>
      </p:pic>
      <p:sp>
        <p:nvSpPr>
          <p:cNvPr id="35" name="Connector 34"/>
          <p:cNvSpPr>
            <a:spLocks noGrp="1"/>
          </p:cNvSpPr>
          <p:nvPr/>
        </p:nvSpPr>
        <p:spPr>
          <a:xfrm>
            <a:off x="6263640" y="3831335"/>
            <a:ext cx="2084831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6" name="TextBox 35"/>
          <p:cNvSpPr>
            <a:spLocks noGrp="1"/>
          </p:cNvSpPr>
          <p:nvPr/>
        </p:nvSpPr>
        <p:spPr>
          <a:xfrm>
            <a:off x="6432419" y="4069080"/>
            <a:ext cx="1747273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难以直接利用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企业/课程/本地文档</a:t>
            </a: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8851392" y="1636776"/>
            <a:ext cx="2578608" cy="30998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38"/>
          <p:cNvSpPr>
            <a:spLocks noGrp="1"/>
          </p:cNvSpPr>
          <p:nvPr/>
        </p:nvSpPr>
        <p:spPr>
          <a:xfrm>
            <a:off x="9034272" y="1792224"/>
            <a:ext cx="429768" cy="429768"/>
          </a:xfrm>
          <a:prstGeom prst="ellipse">
            <a:avLst/>
          </a:prstGeom>
          <a:solidFill>
            <a:srgbClr val="1260DE"/>
          </a:solidFill>
          <a:ln w="1270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9034272" y="1828800"/>
            <a:ext cx="42976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9610885" y="1894680"/>
            <a:ext cx="1436291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6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缺乏来源可追溯</a:t>
            </a:r>
          </a:p>
        </p:txBody>
      </p:sp>
      <p:sp>
        <p:nvSpPr>
          <p:cNvPr id="43" name="Connector 42"/>
          <p:cNvSpPr>
            <a:spLocks noGrp="1"/>
          </p:cNvSpPr>
          <p:nvPr/>
        </p:nvSpPr>
        <p:spPr>
          <a:xfrm>
            <a:off x="9125712" y="3831335"/>
            <a:ext cx="2029968" cy="0"/>
          </a:xfrm>
          <a:prstGeom prst="line">
            <a:avLst/>
          </a:prstGeom>
          <a:ln w="10160">
            <a:solidFill>
              <a:srgbClr val="8F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TextBox 43"/>
          <p:cNvSpPr>
            <a:spLocks noGrp="1"/>
          </p:cNvSpPr>
          <p:nvPr/>
        </p:nvSpPr>
        <p:spPr>
          <a:xfrm>
            <a:off x="9749563" y="4069080"/>
            <a:ext cx="782265" cy="4934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答案难以</a:t>
            </a:r>
          </a:p>
          <a:p>
            <a:pPr algn="ctr">
              <a:spcAft>
                <a:spcPts val="200"/>
              </a:spcAft>
              <a:buNone/>
            </a:pPr>
            <a:r>
              <a:rPr sz="1520">
                <a:solidFill>
                  <a:srgbClr val="1212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给出依据</a:t>
            </a:r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2133600" y="5029200"/>
            <a:ext cx="8363712" cy="1133856"/>
          </a:xfrm>
          <a:prstGeom prst="roundRect">
            <a:avLst/>
          </a:prstGeom>
          <a:solidFill>
            <a:srgbClr val="F3F8FD"/>
          </a:solidFill>
          <a:ln w="13970">
            <a:solidFill>
              <a:srgbClr val="126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4096512" y="5276088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800" b="1">
                <a:solidFill>
                  <a:srgbClr val="001A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核心矛盾：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4096512" y="5611420"/>
            <a:ext cx="5745163" cy="4924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lang="zh-CN" altLang="en-US" sz="1600"/>
              <a:t>仅依赖模型参数记忆，难以同时满足</a:t>
            </a:r>
            <a:r>
              <a:rPr lang="zh-CN" altLang="en-US" sz="1600">
                <a:solidFill>
                  <a:srgbClr val="FF6600"/>
                </a:solidFill>
              </a:rPr>
              <a:t>事实准确性、知识时效性、</a:t>
            </a:r>
            <a:endParaRPr lang="en-US" altLang="zh-CN" sz="1600">
              <a:solidFill>
                <a:srgbClr val="FF6600"/>
              </a:solidFill>
            </a:endParaRPr>
          </a:p>
          <a:p>
            <a:pPr algn="l">
              <a:buNone/>
            </a:pPr>
            <a:r>
              <a:rPr lang="zh-CN" altLang="en-US" sz="1600">
                <a:solidFill>
                  <a:srgbClr val="FF6600"/>
                </a:solidFill>
              </a:rPr>
              <a:t>私有知识接入与来源可追溯性</a:t>
            </a:r>
            <a:endParaRPr sz="1600" b="0">
              <a:solidFill>
                <a:srgbClr val="FF66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图片 5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685" y="5092343"/>
            <a:ext cx="1646854" cy="1007569"/>
          </a:xfrm>
          <a:prstGeom prst="rect">
            <a:avLst/>
          </a:prstGeom>
        </p:spPr>
      </p:pic>
      <p:pic>
        <p:nvPicPr>
          <p:cNvPr id="53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5856" y="2288088"/>
            <a:ext cx="1529679" cy="1458861"/>
          </a:xfrm>
          <a:prstGeom prst="rect">
            <a:avLst/>
          </a:prstGeom>
        </p:spPr>
      </p:pic>
      <p:sp>
        <p:nvSpPr>
          <p:cNvPr id="46" name="直角三角形 45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直角三角形 46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直角三角形 47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直角三角形 2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直角三角形 5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直角三角形 5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直角三角形 5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951604-FA95-4385-BE19-A482B28376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09" y="2395728"/>
            <a:ext cx="1568006" cy="12882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矩形: 圆顶角 89"/>
          <p:cNvSpPr>
            <a:spLocks noGrp="1"/>
          </p:cNvSpPr>
          <p:nvPr/>
        </p:nvSpPr>
        <p:spPr>
          <a:xfrm rot="10800000">
            <a:off x="1552710" y="4440966"/>
            <a:ext cx="8962157" cy="1533619"/>
          </a:xfrm>
          <a:prstGeom prst="round2SameRect">
            <a:avLst>
              <a:gd name="adj1" fmla="val 11761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1" name="Picture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669" y="4485713"/>
            <a:ext cx="339680" cy="313384"/>
          </a:xfrm>
          <a:prstGeom prst="rect">
            <a:avLst/>
          </a:prstGeom>
        </p:spPr>
      </p:pic>
      <p:sp>
        <p:nvSpPr>
          <p:cNvPr id="87" name="矩形: 单圆角 86"/>
          <p:cNvSpPr>
            <a:spLocks noGrp="1"/>
          </p:cNvSpPr>
          <p:nvPr/>
        </p:nvSpPr>
        <p:spPr>
          <a:xfrm rot="10800000" flipV="1">
            <a:off x="1550468" y="4151022"/>
            <a:ext cx="4347396" cy="306089"/>
          </a:xfrm>
          <a:prstGeom prst="round1Rect">
            <a:avLst>
              <a:gd name="adj" fmla="val 50000"/>
            </a:avLst>
          </a:prstGeom>
          <a:solidFill>
            <a:srgbClr val="F1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矩形: 单圆角 85"/>
          <p:cNvSpPr>
            <a:spLocks noGrp="1"/>
          </p:cNvSpPr>
          <p:nvPr/>
        </p:nvSpPr>
        <p:spPr>
          <a:xfrm>
            <a:off x="5891826" y="4151022"/>
            <a:ext cx="4623044" cy="297786"/>
          </a:xfrm>
          <a:prstGeom prst="round1Rect">
            <a:avLst>
              <a:gd name="adj" fmla="val 50000"/>
            </a:avLst>
          </a:prstGeom>
          <a:solidFill>
            <a:srgbClr val="F2F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4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96" y="204063"/>
            <a:ext cx="1348995" cy="524735"/>
          </a:xfrm>
          <a:prstGeom prst="rect">
            <a:avLst/>
          </a:prstGeom>
        </p:spPr>
      </p:pic>
      <p:pic>
        <p:nvPicPr>
          <p:cNvPr id="95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880" y="750663"/>
            <a:ext cx="838564" cy="204063"/>
          </a:xfrm>
          <a:prstGeom prst="rect">
            <a:avLst/>
          </a:prstGeom>
        </p:spPr>
      </p:pic>
      <p:pic>
        <p:nvPicPr>
          <p:cNvPr id="96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8430" y="160335"/>
            <a:ext cx="845856" cy="670495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-36460" y="38746"/>
            <a:ext cx="12191999" cy="5830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是什么？</a:t>
            </a:r>
          </a:p>
        </p:txBody>
      </p:sp>
      <p:sp>
        <p:nvSpPr>
          <p:cNvPr id="7" name="Connector 6"/>
          <p:cNvSpPr>
            <a:spLocks noGrp="1"/>
          </p:cNvSpPr>
          <p:nvPr/>
        </p:nvSpPr>
        <p:spPr>
          <a:xfrm>
            <a:off x="1739718" y="866338"/>
            <a:ext cx="1290661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9064109" y="874791"/>
            <a:ext cx="1312536" cy="0"/>
          </a:xfrm>
          <a:prstGeom prst="line">
            <a:avLst/>
          </a:prstGeom>
          <a:ln w="21590">
            <a:solidFill>
              <a:srgbClr val="005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1710551" y="837187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10354769" y="845640"/>
            <a:ext cx="65626" cy="6559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639251" y="771595"/>
            <a:ext cx="4958468" cy="27694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1260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Retrieval-Augmented Generation（检索增强生成）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677129" y="1134619"/>
            <a:ext cx="8750239" cy="70924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406315" y="1218259"/>
            <a:ext cx="7291865" cy="5101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在生成回答之前，先从外部知识库中检索相关信息，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再将检索结果与用户问题一起输入大模型，生成更可靠的答案。</a:t>
            </a:r>
          </a:p>
        </p:txBody>
      </p:sp>
      <p:pic>
        <p:nvPicPr>
          <p:cNvPr id="105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23" y="2084365"/>
            <a:ext cx="1254200" cy="976590"/>
          </a:xfrm>
          <a:prstGeom prst="rect">
            <a:avLst/>
          </a:prstGeom>
        </p:spPr>
      </p:pic>
      <p:pic>
        <p:nvPicPr>
          <p:cNvPr id="106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492" y="2142669"/>
            <a:ext cx="1181282" cy="889134"/>
          </a:xfrm>
          <a:prstGeom prst="rect">
            <a:avLst/>
          </a:prstGeom>
        </p:spPr>
      </p:pic>
      <p:pic>
        <p:nvPicPr>
          <p:cNvPr id="10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8124" y="1996909"/>
            <a:ext cx="1254200" cy="991166"/>
          </a:xfrm>
          <a:prstGeom prst="rect">
            <a:avLst/>
          </a:prstGeom>
        </p:spPr>
      </p:pic>
      <p:sp>
        <p:nvSpPr>
          <p:cNvPr id="25" name="TextBox 24"/>
          <p:cNvSpPr>
            <a:spLocks noGrp="1"/>
          </p:cNvSpPr>
          <p:nvPr/>
        </p:nvSpPr>
        <p:spPr>
          <a:xfrm>
            <a:off x="918994" y="3082820"/>
            <a:ext cx="1166698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用户问题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3026124" y="3082820"/>
            <a:ext cx="765645" cy="3060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检索器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5129828" y="3088654"/>
            <a:ext cx="1385454" cy="60704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外部知识库 /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7810801" y="3115616"/>
            <a:ext cx="838564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0048190" y="3082820"/>
            <a:ext cx="1020861" cy="25507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最终答案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8756618" y="3473934"/>
            <a:ext cx="1605600" cy="525600"/>
          </a:xfrm>
          <a:prstGeom prst="roundRect">
            <a:avLst/>
          </a:prstGeom>
          <a:solidFill>
            <a:srgbClr val="E5F3FD"/>
          </a:solidFill>
          <a:ln w="12700">
            <a:solidFill>
              <a:srgbClr val="005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9354892" y="3567643"/>
            <a:ext cx="860440" cy="327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参数记忆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21A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(模型内部知识)</a:t>
            </a:r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6657473" y="3469085"/>
            <a:ext cx="1604210" cy="524735"/>
          </a:xfrm>
          <a:prstGeom prst="roundRect">
            <a:avLst/>
          </a:prstGeom>
          <a:solidFill>
            <a:srgbClr val="EAF8EF"/>
          </a:solidFill>
          <a:ln w="12700">
            <a:solidFill>
              <a:srgbClr val="0C8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7342908" y="3563829"/>
            <a:ext cx="802105" cy="31338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外部知识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(检索到的文档)</a:t>
            </a: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1545875" y="4139579"/>
            <a:ext cx="8968994" cy="1858437"/>
          </a:xfrm>
          <a:prstGeom prst="roundRect">
            <a:avLst>
              <a:gd name="adj" fmla="val 9451"/>
            </a:avLst>
          </a:prstGeom>
          <a:noFill/>
          <a:ln w="12700">
            <a:solidFill>
              <a:srgbClr val="158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Connector 42"/>
          <p:cNvSpPr>
            <a:spLocks noGrp="1"/>
          </p:cNvSpPr>
          <p:nvPr/>
        </p:nvSpPr>
        <p:spPr>
          <a:xfrm>
            <a:off x="1545875" y="4460250"/>
            <a:ext cx="8968995" cy="0"/>
          </a:xfrm>
          <a:prstGeom prst="line">
            <a:avLst/>
          </a:prstGeom>
          <a:ln w="1016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Connector 43"/>
          <p:cNvSpPr>
            <a:spLocks noGrp="1"/>
          </p:cNvSpPr>
          <p:nvPr/>
        </p:nvSpPr>
        <p:spPr>
          <a:xfrm>
            <a:off x="5891827" y="4139579"/>
            <a:ext cx="0" cy="1858438"/>
          </a:xfrm>
          <a:prstGeom prst="line">
            <a:avLst/>
          </a:prstGeom>
          <a:ln w="7620">
            <a:solidFill>
              <a:srgbClr val="008C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5" name="Connector 44"/>
          <p:cNvSpPr>
            <a:spLocks noGrp="1"/>
          </p:cNvSpPr>
          <p:nvPr/>
        </p:nvSpPr>
        <p:spPr>
          <a:xfrm>
            <a:off x="1545875" y="4810074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Connector 45"/>
          <p:cNvSpPr>
            <a:spLocks noGrp="1"/>
          </p:cNvSpPr>
          <p:nvPr/>
        </p:nvSpPr>
        <p:spPr>
          <a:xfrm>
            <a:off x="1545875" y="520362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7" name="Connector 46"/>
          <p:cNvSpPr>
            <a:spLocks noGrp="1"/>
          </p:cNvSpPr>
          <p:nvPr/>
        </p:nvSpPr>
        <p:spPr>
          <a:xfrm>
            <a:off x="1545875" y="5604465"/>
            <a:ext cx="8968995" cy="0"/>
          </a:xfrm>
          <a:prstGeom prst="line">
            <a:avLst/>
          </a:prstGeom>
          <a:ln w="7620">
            <a:solidFill>
              <a:srgbClr val="005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8" name="TextBox 47"/>
          <p:cNvSpPr>
            <a:spLocks noGrp="1"/>
          </p:cNvSpPr>
          <p:nvPr/>
        </p:nvSpPr>
        <p:spPr>
          <a:xfrm>
            <a:off x="2661531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传统 LLM 的问题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7291865" y="4212459"/>
            <a:ext cx="1895885" cy="21863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6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的解决方案</a:t>
            </a:r>
          </a:p>
        </p:txBody>
      </p:sp>
      <p:pic>
        <p:nvPicPr>
          <p:cNvPr id="125" name="Picture 5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6644" y="5233759"/>
            <a:ext cx="360915" cy="341047"/>
          </a:xfrm>
          <a:prstGeom prst="rect">
            <a:avLst/>
          </a:prstGeom>
        </p:spPr>
      </p:pic>
      <p:pic>
        <p:nvPicPr>
          <p:cNvPr id="126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9213" y="5640904"/>
            <a:ext cx="338346" cy="291522"/>
          </a:xfrm>
          <a:prstGeom prst="rect">
            <a:avLst/>
          </a:prstGeom>
        </p:spPr>
      </p:pic>
      <p:sp>
        <p:nvSpPr>
          <p:cNvPr id="54" name="TextBox 53"/>
          <p:cNvSpPr>
            <a:spLocks noGrp="1"/>
          </p:cNvSpPr>
          <p:nvPr/>
        </p:nvSpPr>
        <p:spPr>
          <a:xfrm>
            <a:off x="2679779" y="4533130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幻觉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2679779" y="4919394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知识更新困难</a:t>
            </a: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2679779" y="5327521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外部知识缺失</a:t>
            </a: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2679779" y="5706497"/>
            <a:ext cx="1822966" cy="18948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缺乏可追溯性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6402258" y="4562282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基于检索证据生成，降低事实性错误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6402258" y="4948546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知识库可单独更新，无需重新训练整个模型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6402258" y="5356673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可接入企业 / 课程 / 私有知识库</a:t>
            </a: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6402258" y="5735649"/>
            <a:ext cx="3645932" cy="2040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buNone/>
            </a:pPr>
            <a:r>
              <a:rPr sz="1400" b="1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可返回参考文档或信息来源</a:t>
            </a: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2194847" y="6140132"/>
            <a:ext cx="7960339" cy="517445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07D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2293290" y="6277618"/>
            <a:ext cx="5585571" cy="4154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>
              <a:buNone/>
            </a:pPr>
            <a:r>
              <a:rPr sz="1800" b="1" i="0" u="none">
                <a:solidFill>
                  <a:srgbClr val="021A6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核心思想：</a:t>
            </a:r>
            <a:r>
              <a:rPr lang="zh-CN" altLang="en-US" sz="1800" b="1" i="0" u="none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让模型 </a:t>
            </a:r>
            <a:r>
              <a:rPr sz="1800" b="1" i="0" u="none">
                <a:solidFill>
                  <a:srgbClr val="F07D18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“开卷考试”</a:t>
            </a:r>
            <a:r>
              <a:rPr lang="zh-CN" altLang="en-US" b="1">
                <a:solidFill>
                  <a:srgbClr val="333333"/>
                </a:solidFill>
                <a:latin typeface="等线" panose="02010600030101010101" charset="-122"/>
                <a:ea typeface="等线" panose="02010600030101010101" charset="-122"/>
              </a:rPr>
              <a:t>，从“仅依赖参数记忆”转向“基于外部证据生成”</a:t>
            </a:r>
            <a:endParaRPr b="1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333333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buNone/>
            </a:pPr>
            <a:endParaRPr sz="1800" b="1" i="0" u="none">
              <a:solidFill>
                <a:srgbClr val="F07D1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>
              <a:solidFill>
                <a:srgbClr val="F07D18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cxnSp>
        <p:nvCxnSpPr>
          <p:cNvPr id="137" name="连接符: 曲线 77"/>
          <p:cNvCxnSpPr>
            <a:stCxn id="37" idx="0"/>
          </p:cNvCxnSpPr>
          <p:nvPr/>
        </p:nvCxnSpPr>
        <p:spPr>
          <a:xfrm rot="5400000" flipH="1" flipV="1">
            <a:off x="7443291" y="3033516"/>
            <a:ext cx="451856" cy="419283"/>
          </a:xfrm>
          <a:prstGeom prst="curvedConnector3">
            <a:avLst/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8" name="图片 8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2994" y="3518023"/>
            <a:ext cx="507377" cy="402917"/>
          </a:xfrm>
          <a:prstGeom prst="rect">
            <a:avLst/>
          </a:prstGeom>
        </p:spPr>
      </p:pic>
      <p:pic>
        <p:nvPicPr>
          <p:cNvPr id="139" name="图片 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9828" y="1890000"/>
            <a:ext cx="1385909" cy="1184078"/>
          </a:xfrm>
          <a:prstGeom prst="rect">
            <a:avLst/>
          </a:prstGeom>
        </p:spPr>
      </p:pic>
      <p:pic>
        <p:nvPicPr>
          <p:cNvPr id="140" name="图片 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90370" y="2019940"/>
            <a:ext cx="1426607" cy="905896"/>
          </a:xfrm>
          <a:prstGeom prst="rect">
            <a:avLst/>
          </a:prstGeom>
        </p:spPr>
      </p:pic>
      <p:pic>
        <p:nvPicPr>
          <p:cNvPr id="141" name="图形 88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5558" y="4800912"/>
            <a:ext cx="419289" cy="419289"/>
          </a:xfrm>
          <a:prstGeom prst="rect">
            <a:avLst/>
          </a:prstGeom>
        </p:spPr>
      </p:pic>
      <p:cxnSp>
        <p:nvCxnSpPr>
          <p:cNvPr id="142" name="直接箭头连接符 91"/>
          <p:cNvCxnSpPr/>
          <p:nvPr/>
        </p:nvCxnSpPr>
        <p:spPr>
          <a:xfrm>
            <a:off x="5497949" y="4639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72"/>
          <p:cNvCxnSpPr/>
          <p:nvPr/>
        </p:nvCxnSpPr>
        <p:spPr>
          <a:xfrm>
            <a:off x="5497949" y="502021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73"/>
          <p:cNvCxnSpPr/>
          <p:nvPr/>
        </p:nvCxnSpPr>
        <p:spPr>
          <a:xfrm>
            <a:off x="5497949" y="543169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74"/>
          <p:cNvCxnSpPr/>
          <p:nvPr/>
        </p:nvCxnSpPr>
        <p:spPr>
          <a:xfrm>
            <a:off x="5497949" y="5816502"/>
            <a:ext cx="754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6" name="图片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59701" y="3503744"/>
            <a:ext cx="356088" cy="447004"/>
          </a:xfrm>
          <a:prstGeom prst="rect">
            <a:avLst/>
          </a:prstGeom>
        </p:spPr>
      </p:pic>
      <p:cxnSp>
        <p:nvCxnSpPr>
          <p:cNvPr id="147" name="连接符: 曲线 81"/>
          <p:cNvCxnSpPr/>
          <p:nvPr/>
        </p:nvCxnSpPr>
        <p:spPr>
          <a:xfrm rot="16200000" flipV="1">
            <a:off x="8626396" y="3033516"/>
            <a:ext cx="451856" cy="419283"/>
          </a:xfrm>
          <a:prstGeom prst="curvedConnector3">
            <a:avLst/>
          </a:prstGeom>
          <a:ln>
            <a:solidFill>
              <a:srgbClr val="4F8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连接符: 曲线 83"/>
          <p:cNvCxnSpPr>
            <a:stCxn id="27" idx="3"/>
            <a:endCxn id="81" idx="1"/>
          </p:cNvCxnSpPr>
          <p:nvPr/>
        </p:nvCxnSpPr>
        <p:spPr>
          <a:xfrm>
            <a:off x="6515282" y="3392177"/>
            <a:ext cx="167712" cy="327305"/>
          </a:xfrm>
          <a:prstGeom prst="curvedConnector3">
            <a:avLst>
              <a:gd name="adj1" fmla="val 50000"/>
            </a:avLst>
          </a:prstGeom>
          <a:ln>
            <a:solidFill>
              <a:srgbClr val="0C8D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87"/>
          <p:cNvCxnSpPr/>
          <p:nvPr/>
        </p:nvCxnSpPr>
        <p:spPr>
          <a:xfrm>
            <a:off x="2194847" y="250946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90"/>
          <p:cNvCxnSpPr/>
          <p:nvPr/>
        </p:nvCxnSpPr>
        <p:spPr>
          <a:xfrm>
            <a:off x="3974066" y="2551332"/>
            <a:ext cx="1065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92"/>
          <p:cNvCxnSpPr/>
          <p:nvPr/>
        </p:nvCxnSpPr>
        <p:spPr>
          <a:xfrm>
            <a:off x="6515737" y="2567744"/>
            <a:ext cx="10298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93"/>
          <p:cNvCxnSpPr/>
          <p:nvPr/>
        </p:nvCxnSpPr>
        <p:spPr>
          <a:xfrm>
            <a:off x="8943666" y="2594316"/>
            <a:ext cx="840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3" name="图形 96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0313298">
            <a:off x="1744678" y="5974172"/>
            <a:ext cx="600933" cy="600933"/>
          </a:xfrm>
          <a:prstGeom prst="rect">
            <a:avLst/>
          </a:prstGeom>
        </p:spPr>
      </p:pic>
      <p:sp>
        <p:nvSpPr>
          <p:cNvPr id="98" name="直角三角形 9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9" name="直角三角形 9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直角三角形 9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直角三角形 10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直角三角形 10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3" name="直角三角形 10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" name="直角三角形 10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4269079" y="228600"/>
            <a:ext cx="3669082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基本流程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506081" y="1024128"/>
            <a:ext cx="3231654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C5E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从查询到答案的三阶段过程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715768" y="1179576"/>
            <a:ext cx="1627632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7818120" y="1179576"/>
            <a:ext cx="1554480" cy="0"/>
          </a:xfrm>
          <a:prstGeom prst="line">
            <a:avLst/>
          </a:prstGeom>
          <a:ln w="15240">
            <a:solidFill>
              <a:srgbClr val="0C5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69748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372600" y="1152144"/>
            <a:ext cx="64008" cy="6400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321267" y="1511860"/>
            <a:ext cx="3639312" cy="457200"/>
          </a:xfrm>
          <a:prstGeom prst="roundRect">
            <a:avLst/>
          </a:prstGeom>
          <a:solidFill>
            <a:srgbClr val="E5F0FE"/>
          </a:solidFill>
          <a:ln w="11430"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4014215" y="1518472"/>
            <a:ext cx="3401568" cy="457200"/>
          </a:xfrm>
          <a:prstGeom prst="roundRect">
            <a:avLst/>
          </a:prstGeom>
          <a:solidFill>
            <a:srgbClr val="E9F8EF"/>
          </a:solidFill>
          <a:ln w="11430">
            <a:solidFill>
              <a:srgbClr val="087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479792" y="1536192"/>
            <a:ext cx="3867912" cy="457200"/>
          </a:xfrm>
          <a:prstGeom prst="roundRect">
            <a:avLst/>
          </a:prstGeom>
          <a:solidFill>
            <a:srgbClr val="FEF2DE"/>
          </a:solidFill>
          <a:ln w="11430">
            <a:solidFill>
              <a:srgbClr val="D08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1415794" y="1626809"/>
            <a:ext cx="2096728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Indexing（索引构建）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5056764" y="1647204"/>
            <a:ext cx="1702582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007A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Retrieval（检索）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662575" y="1648260"/>
            <a:ext cx="222768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C66B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Generation（生成）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713232" y="2249424"/>
            <a:ext cx="3401568" cy="1078992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0C5E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1450664" y="2312012"/>
            <a:ext cx="2000548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sng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</a:t>
            </a:r>
            <a:r>
              <a:rPr sz="12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预处理（构建知识索引）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36230" y="3090672"/>
            <a:ext cx="5129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lang="zh-CN" altLang="en-US" sz="1000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</a:t>
            </a:r>
            <a:endParaRPr sz="10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739867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2414203" y="3090672"/>
            <a:ext cx="70371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0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3458940" y="3090672"/>
            <a:ext cx="26930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入库</a:t>
            </a:r>
          </a:p>
        </p:txBody>
      </p:sp>
      <p:sp>
        <p:nvSpPr>
          <p:cNvPr id="31" name="Right Arrow 30"/>
          <p:cNvSpPr>
            <a:spLocks noGrp="1"/>
          </p:cNvSpPr>
          <p:nvPr/>
        </p:nvSpPr>
        <p:spPr>
          <a:xfrm>
            <a:off x="1389888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2148840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Right Arrow 32"/>
          <p:cNvSpPr>
            <a:spLocks noGrp="1"/>
          </p:cNvSpPr>
          <p:nvPr/>
        </p:nvSpPr>
        <p:spPr>
          <a:xfrm>
            <a:off x="3090672" y="2734056"/>
            <a:ext cx="274320" cy="64008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219456" y="3675887"/>
            <a:ext cx="1371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2103120" y="3675887"/>
            <a:ext cx="1280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Rounded Rectangle 40"/>
          <p:cNvSpPr>
            <a:spLocks noGrp="1"/>
          </p:cNvSpPr>
          <p:nvPr/>
        </p:nvSpPr>
        <p:spPr>
          <a:xfrm>
            <a:off x="3886200" y="3675887"/>
            <a:ext cx="158191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5852160" y="3675887"/>
            <a:ext cx="1216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7479792" y="3675887"/>
            <a:ext cx="1106424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8961120" y="3675887"/>
            <a:ext cx="122529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Rounded Rectangle 44"/>
          <p:cNvSpPr>
            <a:spLocks noGrp="1"/>
          </p:cNvSpPr>
          <p:nvPr/>
        </p:nvSpPr>
        <p:spPr>
          <a:xfrm>
            <a:off x="10552176" y="3675887"/>
            <a:ext cx="1097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61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ight Arrow 52"/>
          <p:cNvSpPr>
            <a:spLocks noGrp="1"/>
          </p:cNvSpPr>
          <p:nvPr/>
        </p:nvSpPr>
        <p:spPr>
          <a:xfrm>
            <a:off x="164592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Right Arrow 53"/>
          <p:cNvSpPr>
            <a:spLocks noGrp="1"/>
          </p:cNvSpPr>
          <p:nvPr/>
        </p:nvSpPr>
        <p:spPr>
          <a:xfrm>
            <a:off x="3468585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Right Arrow 54"/>
          <p:cNvSpPr>
            <a:spLocks noGrp="1"/>
          </p:cNvSpPr>
          <p:nvPr/>
        </p:nvSpPr>
        <p:spPr>
          <a:xfrm>
            <a:off x="5486400" y="4142232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7100316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ight Arrow 56"/>
          <p:cNvSpPr>
            <a:spLocks noGrp="1"/>
          </p:cNvSpPr>
          <p:nvPr/>
        </p:nvSpPr>
        <p:spPr>
          <a:xfrm>
            <a:off x="8604504" y="4152649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Right Arrow 57"/>
          <p:cNvSpPr>
            <a:spLocks noGrp="1"/>
          </p:cNvSpPr>
          <p:nvPr/>
        </p:nvSpPr>
        <p:spPr>
          <a:xfrm>
            <a:off x="10186416" y="4149987"/>
            <a:ext cx="347472" cy="128016"/>
          </a:xfrm>
          <a:prstGeom prst="rightArrow">
            <a:avLst/>
          </a:prstGeom>
          <a:solidFill>
            <a:srgbClr val="0C5EEB"/>
          </a:solidFill>
          <a:ln>
            <a:solidFill>
              <a:srgbClr val="0C5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TextBox 58"/>
          <p:cNvSpPr>
            <a:spLocks noGrp="1"/>
          </p:cNvSpPr>
          <p:nvPr/>
        </p:nvSpPr>
        <p:spPr>
          <a:xfrm>
            <a:off x="391352" y="4434840"/>
            <a:ext cx="103695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Query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593799" y="4718304"/>
            <a:ext cx="641201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用户查询</a:t>
            </a: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2236651" y="4392167"/>
            <a:ext cx="1013099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</a:t>
            </a:r>
          </a:p>
          <a:p>
            <a:pPr algn="ctr">
              <a:buNone/>
            </a:pPr>
            <a:r>
              <a:rPr sz="130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2365078" y="4857753"/>
            <a:ext cx="737381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查询向量化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3960579" y="4384547"/>
            <a:ext cx="145007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Database 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4183533" y="4857753"/>
            <a:ext cx="98745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向量数据库检索</a:t>
            </a: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6098113" y="4392167"/>
            <a:ext cx="78675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Relevant 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Chunks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059646" y="4857752"/>
            <a:ext cx="846386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相关文本片段</a:t>
            </a:r>
          </a:p>
        </p:txBody>
      </p:sp>
      <p:sp>
        <p:nvSpPr>
          <p:cNvPr id="70" name="TextBox 69"/>
          <p:cNvSpPr>
            <a:spLocks noGrp="1"/>
          </p:cNvSpPr>
          <p:nvPr/>
        </p:nvSpPr>
        <p:spPr>
          <a:xfrm>
            <a:off x="7603964" y="4384547"/>
            <a:ext cx="867224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Assembly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>
            <a:spLocks noGrp="1"/>
          </p:cNvSpPr>
          <p:nvPr/>
        </p:nvSpPr>
        <p:spPr>
          <a:xfrm>
            <a:off x="7689487" y="4853443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提示词组装</a:t>
            </a:r>
          </a:p>
        </p:txBody>
      </p:sp>
      <p:sp>
        <p:nvSpPr>
          <p:cNvPr id="73" name="TextBox 72"/>
          <p:cNvSpPr>
            <a:spLocks noGrp="1"/>
          </p:cNvSpPr>
          <p:nvPr/>
        </p:nvSpPr>
        <p:spPr>
          <a:xfrm>
            <a:off x="9093285" y="4395977"/>
            <a:ext cx="1006686" cy="6001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</a:p>
          <a:p>
            <a:pPr algn="ctr">
              <a:buNone/>
            </a:pPr>
            <a:r>
              <a:rPr sz="13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Generation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>
              <a:solidFill>
                <a:srgbClr val="0614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>
            <a:spLocks noGrp="1"/>
          </p:cNvSpPr>
          <p:nvPr/>
        </p:nvSpPr>
        <p:spPr>
          <a:xfrm>
            <a:off x="9239395" y="4846319"/>
            <a:ext cx="70532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大模型生成</a:t>
            </a:r>
          </a:p>
        </p:txBody>
      </p:sp>
      <p:sp>
        <p:nvSpPr>
          <p:cNvPr id="76" name="TextBox 75"/>
          <p:cNvSpPr>
            <a:spLocks noGrp="1"/>
          </p:cNvSpPr>
          <p:nvPr/>
        </p:nvSpPr>
        <p:spPr>
          <a:xfrm>
            <a:off x="10774612" y="4544568"/>
            <a:ext cx="670697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Answer</a:t>
            </a:r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10832403" y="4846320"/>
            <a:ext cx="56425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最终答案</a:t>
            </a:r>
          </a:p>
        </p:txBody>
      </p:sp>
      <p:sp>
        <p:nvSpPr>
          <p:cNvPr id="81" name="Rounded Rectangle 80"/>
          <p:cNvSpPr>
            <a:spLocks noGrp="1"/>
          </p:cNvSpPr>
          <p:nvPr/>
        </p:nvSpPr>
        <p:spPr>
          <a:xfrm>
            <a:off x="2632821" y="5355637"/>
            <a:ext cx="6941597" cy="1237009"/>
          </a:xfrm>
          <a:prstGeom prst="roundRect">
            <a:avLst/>
          </a:prstGeom>
          <a:solidFill>
            <a:srgbClr val="EEF5FD"/>
          </a:solidFill>
          <a:ln w="12700">
            <a:solidFill>
              <a:srgbClr val="7F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218038" y="5484997"/>
            <a:ext cx="86868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C5E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流程说明</a:t>
            </a:r>
          </a:p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3208893" y="5776262"/>
            <a:ext cx="6102633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Indexing：离线构建知识索引，将文档切分并向量化后入库。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Retrieval：将用户查询转为向量，在向量数据库中检索最相关的文本片段。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 u="none">
                <a:solidFill>
                  <a:srgbClr val="0C5EE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 </a:t>
            </a:r>
            <a:r>
              <a:rPr sz="1400" b="1" i="0" u="none">
                <a:solidFill>
                  <a:srgbClr val="06145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Generation：将相关片段与指令组成提示词，交由大模型生成答案并返回。</a:t>
            </a: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6572748" y="2877666"/>
            <a:ext cx="4026936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sz="2000" b="1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i="0" u="none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知识存储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与 </a:t>
            </a:r>
            <a:r>
              <a:rPr sz="20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语言生成 </a:t>
            </a:r>
            <a:r>
              <a:rPr sz="2000" b="1" i="0" u="none">
                <a:solidFill>
                  <a:srgbClr val="0614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解耦</a:t>
            </a:r>
          </a:p>
        </p:txBody>
      </p:sp>
      <p:pic>
        <p:nvPicPr>
          <p:cNvPr id="89" name="图片 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14" y="1525613"/>
            <a:ext cx="454235" cy="407245"/>
          </a:xfrm>
          <a:prstGeom prst="rect">
            <a:avLst/>
          </a:prstGeom>
        </p:spPr>
      </p:pic>
      <p:pic>
        <p:nvPicPr>
          <p:cNvPr id="90" name="图片 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44" y="1520208"/>
            <a:ext cx="485943" cy="394829"/>
          </a:xfrm>
          <a:prstGeom prst="rect">
            <a:avLst/>
          </a:prstGeom>
        </p:spPr>
      </p:pic>
      <p:pic>
        <p:nvPicPr>
          <p:cNvPr id="91" name="图片 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590" y="1561268"/>
            <a:ext cx="442363" cy="407048"/>
          </a:xfrm>
          <a:prstGeom prst="rect">
            <a:avLst/>
          </a:prstGeom>
        </p:spPr>
      </p:pic>
      <p:pic>
        <p:nvPicPr>
          <p:cNvPr id="92" name="图片 9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2543421"/>
            <a:ext cx="432000" cy="479472"/>
          </a:xfrm>
          <a:prstGeom prst="rect">
            <a:avLst/>
          </a:prstGeom>
        </p:spPr>
      </p:pic>
      <p:pic>
        <p:nvPicPr>
          <p:cNvPr id="93" name="图片 10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840" y="2530469"/>
            <a:ext cx="341718" cy="538641"/>
          </a:xfrm>
          <a:prstGeom prst="rect">
            <a:avLst/>
          </a:prstGeom>
        </p:spPr>
      </p:pic>
      <p:pic>
        <p:nvPicPr>
          <p:cNvPr id="94" name="图片 1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6021" y="2512971"/>
            <a:ext cx="634651" cy="523741"/>
          </a:xfrm>
          <a:prstGeom prst="rect">
            <a:avLst/>
          </a:prstGeom>
        </p:spPr>
      </p:pic>
      <p:pic>
        <p:nvPicPr>
          <p:cNvPr id="95" name="图片 10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3584" y="2519738"/>
            <a:ext cx="505886" cy="523741"/>
          </a:xfrm>
          <a:prstGeom prst="rect">
            <a:avLst/>
          </a:prstGeom>
        </p:spPr>
      </p:pic>
      <p:pic>
        <p:nvPicPr>
          <p:cNvPr id="96" name="图片 10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3921" y="5404735"/>
            <a:ext cx="453201" cy="487022"/>
          </a:xfrm>
          <a:prstGeom prst="rect">
            <a:avLst/>
          </a:prstGeom>
        </p:spPr>
      </p:pic>
      <p:pic>
        <p:nvPicPr>
          <p:cNvPr id="97" name="图形 111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858" y="3712465"/>
            <a:ext cx="749808" cy="749808"/>
          </a:xfrm>
          <a:prstGeom prst="rect">
            <a:avLst/>
          </a:prstGeom>
        </p:spPr>
      </p:pic>
      <p:pic>
        <p:nvPicPr>
          <p:cNvPr id="98" name="图片 1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959" y="3817294"/>
            <a:ext cx="777289" cy="540150"/>
          </a:xfrm>
          <a:prstGeom prst="rect">
            <a:avLst/>
          </a:prstGeom>
        </p:spPr>
      </p:pic>
      <p:pic>
        <p:nvPicPr>
          <p:cNvPr id="99" name="图片 1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018" y="3756029"/>
            <a:ext cx="807215" cy="646807"/>
          </a:xfrm>
          <a:prstGeom prst="rect">
            <a:avLst/>
          </a:prstGeom>
        </p:spPr>
      </p:pic>
      <p:pic>
        <p:nvPicPr>
          <p:cNvPr id="100" name="图片 1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03620" y="3753535"/>
            <a:ext cx="679398" cy="603909"/>
          </a:xfrm>
          <a:prstGeom prst="rect">
            <a:avLst/>
          </a:prstGeom>
        </p:spPr>
      </p:pic>
      <p:pic>
        <p:nvPicPr>
          <p:cNvPr id="101" name="Picture 5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1367" y="3756029"/>
            <a:ext cx="637105" cy="602033"/>
          </a:xfrm>
          <a:prstGeom prst="rect">
            <a:avLst/>
          </a:prstGeom>
        </p:spPr>
      </p:pic>
      <p:pic>
        <p:nvPicPr>
          <p:cNvPr id="102" name="图片 1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95257" y="3739379"/>
            <a:ext cx="808279" cy="618683"/>
          </a:xfrm>
          <a:prstGeom prst="rect">
            <a:avLst/>
          </a:prstGeom>
        </p:spPr>
      </p:pic>
      <p:pic>
        <p:nvPicPr>
          <p:cNvPr id="103" name="图片 12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16377" y="3766444"/>
            <a:ext cx="728932" cy="571178"/>
          </a:xfrm>
          <a:prstGeom prst="rect">
            <a:avLst/>
          </a:prstGeom>
        </p:spPr>
      </p:pic>
      <p:cxnSp>
        <p:nvCxnSpPr>
          <p:cNvPr id="104" name="连接符: 曲线 124"/>
          <p:cNvCxnSpPr>
            <a:stCxn id="21" idx="3"/>
            <a:endCxn id="41" idx="0"/>
          </p:cNvCxnSpPr>
          <p:nvPr/>
        </p:nvCxnSpPr>
        <p:spPr>
          <a:xfrm>
            <a:off x="4114800" y="2788920"/>
            <a:ext cx="562356" cy="886967"/>
          </a:xfrm>
          <a:prstGeom prst="curvedConnector2">
            <a:avLst/>
          </a:prstGeom>
          <a:ln>
            <a:solidFill>
              <a:srgbClr val="0C5E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肘形 130"/>
          <p:cNvCxnSpPr/>
          <p:nvPr/>
        </p:nvCxnSpPr>
        <p:spPr>
          <a:xfrm rot="5400000" flipH="1" flipV="1">
            <a:off x="6270440" y="2812705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3"/>
          <p:cNvCxnSpPr/>
          <p:nvPr/>
        </p:nvCxnSpPr>
        <p:spPr>
          <a:xfrm rot="5400000">
            <a:off x="10289993" y="2916207"/>
            <a:ext cx="593994" cy="269715"/>
          </a:xfrm>
          <a:prstGeom prst="bentConnector3">
            <a:avLst>
              <a:gd name="adj1" fmla="val 9794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直角三角形 134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6" name="直角三角形 135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7" name="直角三角形 136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直角三角形 137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9" name="直角三角形 138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0" name="直角三角形 139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1" name="直角三角形 140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2" name="直角三角形 141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直角三角形 85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Rounded Rectangle 58"/>
          <p:cNvSpPr>
            <a:spLocks noGrp="1"/>
          </p:cNvSpPr>
          <p:nvPr/>
        </p:nvSpPr>
        <p:spPr>
          <a:xfrm>
            <a:off x="1356287" y="3828626"/>
            <a:ext cx="9784346" cy="2536221"/>
          </a:xfrm>
          <a:prstGeom prst="roundRect">
            <a:avLst>
              <a:gd name="adj" fmla="val 3764"/>
            </a:avLst>
          </a:prstGeom>
          <a:solidFill>
            <a:srgbClr val="FDFDFD"/>
          </a:solidFill>
          <a:ln w="12700">
            <a:solidFill>
              <a:srgbClr val="30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图片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25" y="4153982"/>
            <a:ext cx="4622579" cy="2159231"/>
          </a:xfrm>
          <a:prstGeom prst="rect">
            <a:avLst/>
          </a:prstGeom>
        </p:spPr>
      </p:pic>
      <p:sp>
        <p:nvSpPr>
          <p:cNvPr id="7" name="Connector 6"/>
          <p:cNvSpPr>
            <a:spLocks noGrp="1"/>
          </p:cNvSpPr>
          <p:nvPr/>
        </p:nvSpPr>
        <p:spPr>
          <a:xfrm>
            <a:off x="2517769" y="1007242"/>
            <a:ext cx="1179576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8663820" y="995602"/>
            <a:ext cx="1051560" cy="0"/>
          </a:xfrm>
          <a:prstGeom prst="line">
            <a:avLst/>
          </a:prstGeom>
          <a:ln w="17780">
            <a:solidFill>
              <a:srgbClr val="004C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2476620" y="97523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683376" y="963598"/>
            <a:ext cx="64008" cy="6400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871180" y="888428"/>
            <a:ext cx="46294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04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把文本、图片、音频等对象映射为高维向量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414620" y="1282686"/>
            <a:ext cx="2124000" cy="539311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2384440" y="141748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414620" y="1865725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384440" y="2000525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1414620" y="2441477"/>
            <a:ext cx="2124000" cy="510159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2384440" y="2576276"/>
            <a:ext cx="47448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音频</a:t>
            </a:r>
          </a:p>
        </p:txBody>
      </p:sp>
      <p:sp>
        <p:nvSpPr>
          <p:cNvPr id="21" name="Rounded Rectangle 20"/>
          <p:cNvSpPr>
            <a:spLocks noGrp="1"/>
          </p:cNvSpPr>
          <p:nvPr/>
        </p:nvSpPr>
        <p:spPr>
          <a:xfrm>
            <a:off x="1414620" y="3017228"/>
            <a:ext cx="2124000" cy="524735"/>
          </a:xfrm>
          <a:prstGeom prst="roundRect">
            <a:avLst/>
          </a:prstGeom>
          <a:solidFill>
            <a:srgbClr val="F9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2384440" y="3152028"/>
            <a:ext cx="1072409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PDF/网页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324076" y="1370142"/>
            <a:ext cx="2231310" cy="2186397"/>
          </a:xfrm>
          <a:prstGeom prst="roundRect">
            <a:avLst/>
          </a:prstGeom>
          <a:solidFill>
            <a:srgbClr val="EDF5FD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388" y="1463022"/>
            <a:ext cx="1429205" cy="1158790"/>
          </a:xfrm>
          <a:prstGeom prst="rect">
            <a:avLst/>
          </a:prstGeom>
        </p:spPr>
      </p:pic>
      <p:sp>
        <p:nvSpPr>
          <p:cNvPr id="30" name="TextBox 29"/>
          <p:cNvSpPr>
            <a:spLocks noGrp="1"/>
          </p:cNvSpPr>
          <p:nvPr/>
        </p:nvSpPr>
        <p:spPr>
          <a:xfrm>
            <a:off x="4568519" y="2575905"/>
            <a:ext cx="180872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</a:p>
          <a:p>
            <a:pPr algn="ctr">
              <a:buNone/>
            </a:pPr>
            <a:r>
              <a:rPr sz="20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</a:t>
            </a: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4681377" y="3192140"/>
            <a:ext cx="1516708" cy="284231"/>
          </a:xfrm>
          <a:prstGeom prst="roundRect">
            <a:avLst/>
          </a:prstGeom>
          <a:solidFill>
            <a:srgbClr val="FAFDFF"/>
          </a:solidFill>
          <a:ln w="12700">
            <a:solidFill>
              <a:srgbClr val="004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4798530" y="3260210"/>
            <a:ext cx="12824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将对象映射为向量</a:t>
            </a: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350200" y="138471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7514792" y="144872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40" name="Connector 39"/>
          <p:cNvSpPr>
            <a:spLocks noGrp="1"/>
          </p:cNvSpPr>
          <p:nvPr/>
        </p:nvSpPr>
        <p:spPr>
          <a:xfrm>
            <a:off x="7734248" y="1457870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1" name="TextBox 40"/>
          <p:cNvSpPr>
            <a:spLocks noGrp="1"/>
          </p:cNvSpPr>
          <p:nvPr/>
        </p:nvSpPr>
        <p:spPr>
          <a:xfrm>
            <a:off x="7935416" y="150359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[0.12, -0.48, 0.23, ..., 0.91]</a:t>
            </a:r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10190689" y="153470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43" name="Rounded Rectangle 42"/>
          <p:cNvSpPr>
            <a:spLocks noGrp="1"/>
          </p:cNvSpPr>
          <p:nvPr/>
        </p:nvSpPr>
        <p:spPr>
          <a:xfrm>
            <a:off x="7350200" y="1894877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7514792" y="1958885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45" name="Connector 44"/>
          <p:cNvSpPr>
            <a:spLocks noGrp="1"/>
          </p:cNvSpPr>
          <p:nvPr/>
        </p:nvSpPr>
        <p:spPr>
          <a:xfrm>
            <a:off x="7734248" y="1968029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TextBox 45"/>
          <p:cNvSpPr>
            <a:spLocks noGrp="1"/>
          </p:cNvSpPr>
          <p:nvPr/>
        </p:nvSpPr>
        <p:spPr>
          <a:xfrm>
            <a:off x="7935416" y="2013749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[-0.31, 0.77, -0.11, ..., 0.05]</a:t>
            </a: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10190689" y="2044860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48" name="Rounded Rectangle 47"/>
          <p:cNvSpPr>
            <a:spLocks noGrp="1"/>
          </p:cNvSpPr>
          <p:nvPr/>
        </p:nvSpPr>
        <p:spPr>
          <a:xfrm>
            <a:off x="7350200" y="2390461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7514792" y="2454469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50" name="Connector 49"/>
          <p:cNvSpPr>
            <a:spLocks noGrp="1"/>
          </p:cNvSpPr>
          <p:nvPr/>
        </p:nvSpPr>
        <p:spPr>
          <a:xfrm>
            <a:off x="7734248" y="2463613"/>
            <a:ext cx="0" cy="261823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TextBox 50"/>
          <p:cNvSpPr>
            <a:spLocks noGrp="1"/>
          </p:cNvSpPr>
          <p:nvPr/>
        </p:nvSpPr>
        <p:spPr>
          <a:xfrm>
            <a:off x="7935416" y="2509333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[0.08, -0.22, 0.61, ..., -0.33]</a:t>
            </a: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10190689" y="2540444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7350200" y="2907908"/>
            <a:ext cx="3536554" cy="408127"/>
          </a:xfrm>
          <a:prstGeom prst="roundRect">
            <a:avLst/>
          </a:prstGeom>
          <a:solidFill>
            <a:srgbClr val="FCFFFF"/>
          </a:solidFill>
          <a:ln w="12700">
            <a:solidFill>
              <a:srgbClr val="00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7514792" y="2971916"/>
            <a:ext cx="109728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55" name="Connector 54"/>
          <p:cNvSpPr>
            <a:spLocks noGrp="1"/>
          </p:cNvSpPr>
          <p:nvPr/>
        </p:nvSpPr>
        <p:spPr>
          <a:xfrm>
            <a:off x="7734248" y="2981060"/>
            <a:ext cx="0" cy="261824"/>
          </a:xfrm>
          <a:prstGeom prst="line">
            <a:avLst/>
          </a:prstGeom>
          <a:ln w="12700">
            <a:solidFill>
              <a:srgbClr val="00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6" name="TextBox 55"/>
          <p:cNvSpPr>
            <a:spLocks noGrp="1"/>
          </p:cNvSpPr>
          <p:nvPr/>
        </p:nvSpPr>
        <p:spPr>
          <a:xfrm>
            <a:off x="7935416" y="3026780"/>
            <a:ext cx="2331720" cy="2286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>
                <a:solidFill>
                  <a:srgbClr val="2A2A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[0.47, -0.15, 0.34, ..., 0.66]</a:t>
            </a:r>
          </a:p>
        </p:txBody>
      </p:sp>
      <p:sp>
        <p:nvSpPr>
          <p:cNvPr id="57" name="TextBox 56"/>
          <p:cNvSpPr>
            <a:spLocks noGrp="1"/>
          </p:cNvSpPr>
          <p:nvPr/>
        </p:nvSpPr>
        <p:spPr>
          <a:xfrm>
            <a:off x="10190689" y="3057891"/>
            <a:ext cx="64120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高维向量</a:t>
            </a:r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8823960" y="3429000"/>
            <a:ext cx="2743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⋮</a:t>
            </a: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1356287" y="3840480"/>
            <a:ext cx="1750047" cy="278382"/>
          </a:xfrm>
          <a:prstGeom prst="roundRect">
            <a:avLst/>
          </a:prstGeom>
          <a:solidFill>
            <a:srgbClr val="005DE8"/>
          </a:solidFill>
          <a:ln>
            <a:solidFill>
              <a:srgbClr val="005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1513164" y="3857778"/>
            <a:ext cx="143629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二维向量空间示意</a:t>
            </a:r>
          </a:p>
        </p:txBody>
      </p:sp>
      <p:pic>
        <p:nvPicPr>
          <p:cNvPr id="130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835" y="3945723"/>
            <a:ext cx="772937" cy="772527"/>
          </a:xfrm>
          <a:prstGeom prst="rect">
            <a:avLst/>
          </a:prstGeom>
        </p:spPr>
      </p:pic>
      <p:pic>
        <p:nvPicPr>
          <p:cNvPr id="131" name="Picture 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251" y="4674522"/>
            <a:ext cx="787521" cy="787103"/>
          </a:xfrm>
          <a:prstGeom prst="rect">
            <a:avLst/>
          </a:prstGeom>
        </p:spPr>
      </p:pic>
      <p:pic>
        <p:nvPicPr>
          <p:cNvPr id="132" name="Picture 6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7543" y="5410609"/>
            <a:ext cx="772937" cy="772527"/>
          </a:xfrm>
          <a:prstGeom prst="rect">
            <a:avLst/>
          </a:prstGeom>
        </p:spPr>
      </p:pic>
      <p:sp>
        <p:nvSpPr>
          <p:cNvPr id="67" name="TextBox 66"/>
          <p:cNvSpPr>
            <a:spLocks noGrp="1"/>
          </p:cNvSpPr>
          <p:nvPr/>
        </p:nvSpPr>
        <p:spPr>
          <a:xfrm>
            <a:off x="6991411" y="4220810"/>
            <a:ext cx="3751027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向量不是原始内容，而是</a:t>
            </a:r>
            <a:r>
              <a:rPr sz="1900" b="1" i="0" u="none">
                <a:solidFill>
                  <a:srgbClr val="009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语义表示</a:t>
            </a: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6992622" y="4966203"/>
            <a:ext cx="40331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语义相近的数据在向量空间中</a:t>
            </a:r>
            <a:r>
              <a:rPr sz="1800" b="1" i="0" u="none">
                <a:solidFill>
                  <a:srgbClr val="004C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距离更近</a:t>
            </a:r>
          </a:p>
        </p:txBody>
      </p:sp>
      <p:sp>
        <p:nvSpPr>
          <p:cNvPr id="69" name="TextBox 68"/>
          <p:cNvSpPr>
            <a:spLocks noGrp="1"/>
          </p:cNvSpPr>
          <p:nvPr/>
        </p:nvSpPr>
        <p:spPr>
          <a:xfrm>
            <a:off x="6992622" y="5708609"/>
            <a:ext cx="30841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向量化是后续</a:t>
            </a:r>
            <a:r>
              <a:rPr sz="1800" b="1" i="0" u="none">
                <a:solidFill>
                  <a:srgbClr val="0096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  <a:r>
              <a:rPr sz="1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的基础</a:t>
            </a:r>
          </a:p>
        </p:txBody>
      </p:sp>
      <p:pic>
        <p:nvPicPr>
          <p:cNvPr id="136" name="图片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0633" y="1308284"/>
            <a:ext cx="624079" cy="477237"/>
          </a:xfrm>
          <a:prstGeom prst="rect">
            <a:avLst/>
          </a:prstGeom>
        </p:spPr>
      </p:pic>
      <p:pic>
        <p:nvPicPr>
          <p:cNvPr id="137" name="图片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2395" y="1907478"/>
            <a:ext cx="580553" cy="457612"/>
          </a:xfrm>
          <a:prstGeom prst="rect">
            <a:avLst/>
          </a:prstGeom>
        </p:spPr>
      </p:pic>
      <p:pic>
        <p:nvPicPr>
          <p:cNvPr id="138" name="图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1971" y="2476946"/>
            <a:ext cx="641400" cy="439220"/>
          </a:xfrm>
          <a:prstGeom prst="rect">
            <a:avLst/>
          </a:prstGeom>
        </p:spPr>
      </p:pic>
      <p:pic>
        <p:nvPicPr>
          <p:cNvPr id="139" name="图片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9360" y="3026780"/>
            <a:ext cx="473913" cy="495578"/>
          </a:xfrm>
          <a:prstGeom prst="rect">
            <a:avLst/>
          </a:prstGeom>
        </p:spPr>
      </p:pic>
      <p:cxnSp>
        <p:nvCxnSpPr>
          <p:cNvPr id="140" name="直接箭头连接符 71"/>
          <p:cNvCxnSpPr/>
          <p:nvPr/>
        </p:nvCxnSpPr>
        <p:spPr>
          <a:xfrm>
            <a:off x="3635895" y="15347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72"/>
          <p:cNvCxnSpPr/>
          <p:nvPr/>
        </p:nvCxnSpPr>
        <p:spPr>
          <a:xfrm>
            <a:off x="3635895" y="214261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73"/>
          <p:cNvCxnSpPr/>
          <p:nvPr/>
        </p:nvCxnSpPr>
        <p:spPr>
          <a:xfrm>
            <a:off x="3635895" y="2717001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74"/>
          <p:cNvCxnSpPr/>
          <p:nvPr/>
        </p:nvCxnSpPr>
        <p:spPr>
          <a:xfrm>
            <a:off x="3635895" y="3291956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75"/>
          <p:cNvCxnSpPr/>
          <p:nvPr/>
        </p:nvCxnSpPr>
        <p:spPr>
          <a:xfrm>
            <a:off x="6618017" y="1596930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76"/>
          <p:cNvCxnSpPr/>
          <p:nvPr/>
        </p:nvCxnSpPr>
        <p:spPr>
          <a:xfrm>
            <a:off x="6625309" y="2085234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77"/>
          <p:cNvCxnSpPr/>
          <p:nvPr/>
        </p:nvCxnSpPr>
        <p:spPr>
          <a:xfrm>
            <a:off x="6625309" y="2617185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78"/>
          <p:cNvCxnSpPr/>
          <p:nvPr/>
        </p:nvCxnSpPr>
        <p:spPr>
          <a:xfrm>
            <a:off x="6625309" y="3152028"/>
            <a:ext cx="5649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onnector 49"/>
          <p:cNvSpPr>
            <a:spLocks noGrp="1"/>
          </p:cNvSpPr>
          <p:nvPr/>
        </p:nvSpPr>
        <p:spPr>
          <a:xfrm>
            <a:off x="6080932" y="3965500"/>
            <a:ext cx="0" cy="2250804"/>
          </a:xfrm>
          <a:prstGeom prst="line">
            <a:avLst/>
          </a:prstGeom>
          <a:ln w="12700"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2" name="直角三角形 81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直角三角形 82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直角三角形 83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直角三角形 84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直角三角形 86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直角三角形 1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直角三角形 88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1911095" y="274320"/>
            <a:ext cx="8412480" cy="5303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u="none">
                <a:solidFill>
                  <a:srgbClr val="051A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Embedding：非结构化数据如何进入数据库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4765D7-CAD4-4896-8499-D7A7ABB1A94E}"/>
              </a:ext>
            </a:extLst>
          </p:cNvPr>
          <p:cNvSpPr txBox="1"/>
          <p:nvPr/>
        </p:nvSpPr>
        <p:spPr>
          <a:xfrm>
            <a:off x="6900479" y="4499921"/>
            <a:ext cx="3751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/>
              <a:t>※ </a:t>
            </a:r>
            <a:r>
              <a:rPr lang="zh-CN" altLang="en-US" sz="1100"/>
              <a:t>向量记录通常还需要与 </a:t>
            </a:r>
            <a:r>
              <a:rPr lang="en-US" altLang="zh-CN" sz="1100"/>
              <a:t>id</a:t>
            </a:r>
            <a:r>
              <a:rPr lang="zh-CN" altLang="en-US" sz="1100"/>
              <a:t>、原文片段、来源、时间、权限等 </a:t>
            </a:r>
            <a:r>
              <a:rPr lang="en-US" altLang="zh-CN" sz="1100"/>
              <a:t>metadata </a:t>
            </a:r>
            <a:r>
              <a:rPr lang="zh-CN" altLang="en-US" sz="1100"/>
              <a:t>元数据绑定，才能成为可管理的数据对象。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AE4F81-607C-4286-9336-11A9A9B0455E}"/>
              </a:ext>
            </a:extLst>
          </p:cNvPr>
          <p:cNvSpPr txBox="1"/>
          <p:nvPr/>
        </p:nvSpPr>
        <p:spPr>
          <a:xfrm>
            <a:off x="3697345" y="3927545"/>
            <a:ext cx="2433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※ </a:t>
            </a:r>
            <a:r>
              <a:rPr lang="zh-CN" altLang="en-US" sz="1200"/>
              <a:t>仅作直观示意，真实 </a:t>
            </a:r>
            <a:r>
              <a:rPr lang="en-US" altLang="zh-CN" sz="1200"/>
              <a:t>embedding </a:t>
            </a:r>
            <a:r>
              <a:rPr lang="zh-CN" altLang="en-US" sz="1200"/>
              <a:t>往往是数百到数千维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2989590" y="174911"/>
            <a:ext cx="6197931" cy="6559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RAG 引出向量数据库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3645841" y="896422"/>
            <a:ext cx="4958344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5C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RAG 需要专门的向量存储与检索系统？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187505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713562" y="1020318"/>
            <a:ext cx="1312503" cy="0"/>
          </a:xfrm>
          <a:prstGeom prst="line">
            <a:avLst/>
          </a:prstGeom>
          <a:ln w="1524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15833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996898" y="991166"/>
            <a:ext cx="58333" cy="58303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452084" y="1676238"/>
            <a:ext cx="132708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158338" y="1676238"/>
            <a:ext cx="1319794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871884" y="1676238"/>
            <a:ext cx="1312503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37519" y="1676238"/>
            <a:ext cx="1370836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938564" y="1676238"/>
            <a:ext cx="1385419" cy="17126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656251" y="1807421"/>
            <a:ext cx="94791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文档切分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(chunking)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355213" y="1909453"/>
            <a:ext cx="984377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032301" y="1807421"/>
            <a:ext cx="984377" cy="473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大量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 vectors</a:t>
            </a: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8436686" y="1840280"/>
            <a:ext cx="765626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150023" y="1829285"/>
            <a:ext cx="947918" cy="23321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返回相关片段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540" y="2237414"/>
            <a:ext cx="1050002" cy="97659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2301" y="2266565"/>
            <a:ext cx="1050002" cy="976590"/>
          </a:xfrm>
          <a:prstGeom prst="rect">
            <a:avLst/>
          </a:prstGeom>
        </p:spPr>
      </p:pic>
      <p:sp>
        <p:nvSpPr>
          <p:cNvPr id="28" name="Right Arrow 27"/>
          <p:cNvSpPr>
            <a:spLocks noGrp="1"/>
          </p:cNvSpPr>
          <p:nvPr/>
        </p:nvSpPr>
        <p:spPr>
          <a:xfrm>
            <a:off x="1786462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Right Arrow 28"/>
          <p:cNvSpPr>
            <a:spLocks noGrp="1"/>
          </p:cNvSpPr>
          <p:nvPr/>
        </p:nvSpPr>
        <p:spPr>
          <a:xfrm>
            <a:off x="3514591" y="2383173"/>
            <a:ext cx="291667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Right Arrow 29"/>
          <p:cNvSpPr>
            <a:spLocks noGrp="1"/>
          </p:cNvSpPr>
          <p:nvPr/>
        </p:nvSpPr>
        <p:spPr>
          <a:xfrm>
            <a:off x="5198970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Right Arrow 30"/>
          <p:cNvSpPr>
            <a:spLocks noGrp="1"/>
          </p:cNvSpPr>
          <p:nvPr/>
        </p:nvSpPr>
        <p:spPr>
          <a:xfrm>
            <a:off x="7729184" y="2383173"/>
            <a:ext cx="342709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Right Arrow 31"/>
          <p:cNvSpPr>
            <a:spLocks noGrp="1"/>
          </p:cNvSpPr>
          <p:nvPr/>
        </p:nvSpPr>
        <p:spPr>
          <a:xfrm>
            <a:off x="9537522" y="2383173"/>
            <a:ext cx="306250" cy="87455"/>
          </a:xfrm>
          <a:prstGeom prst="rightArrow">
            <a:avLst/>
          </a:prstGeom>
          <a:solidFill>
            <a:srgbClr val="1A5CE1"/>
          </a:solidFill>
          <a:ln w="127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Connector 32"/>
          <p:cNvSpPr>
            <a:spLocks noGrp="1"/>
          </p:cNvSpPr>
          <p:nvPr/>
        </p:nvSpPr>
        <p:spPr>
          <a:xfrm>
            <a:off x="401042" y="3942803"/>
            <a:ext cx="3791676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Connector 33"/>
          <p:cNvSpPr>
            <a:spLocks noGrp="1"/>
          </p:cNvSpPr>
          <p:nvPr/>
        </p:nvSpPr>
        <p:spPr>
          <a:xfrm>
            <a:off x="7831268" y="3942803"/>
            <a:ext cx="3777092" cy="0"/>
          </a:xfrm>
          <a:prstGeom prst="line">
            <a:avLst/>
          </a:prstGeom>
          <a:ln w="19050">
            <a:solidFill>
              <a:srgbClr val="1A5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5" name="TextBox 34"/>
          <p:cNvSpPr>
            <a:spLocks noGrp="1"/>
          </p:cNvSpPr>
          <p:nvPr/>
        </p:nvSpPr>
        <p:spPr>
          <a:xfrm>
            <a:off x="4396885" y="3797043"/>
            <a:ext cx="3427091" cy="30609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5C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为什么需要专门的向量数据库？</a:t>
            </a: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452084" y="4292626"/>
            <a:ext cx="2573964" cy="135557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3295841" y="4292626"/>
            <a:ext cx="2515630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6059389" y="4292626"/>
            <a:ext cx="2537505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8866687" y="4292626"/>
            <a:ext cx="2727089" cy="135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1385419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数据量大</a:t>
            </a:r>
          </a:p>
        </p:txBody>
      </p:sp>
      <p:sp>
        <p:nvSpPr>
          <p:cNvPr id="45" name="Connector 44"/>
          <p:cNvSpPr>
            <a:spLocks noGrp="1"/>
          </p:cNvSpPr>
          <p:nvPr/>
        </p:nvSpPr>
        <p:spPr>
          <a:xfrm>
            <a:off x="1400003" y="4715330"/>
            <a:ext cx="1341670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6" name="TextBox 45"/>
          <p:cNvSpPr>
            <a:spLocks noGrp="1"/>
          </p:cNvSpPr>
          <p:nvPr/>
        </p:nvSpPr>
        <p:spPr>
          <a:xfrm>
            <a:off x="820782" y="5297786"/>
            <a:ext cx="9185096" cy="37227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buNone/>
            </a:pPr>
            <a:endParaRPr sz="1250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4287510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查询频繁</a:t>
            </a:r>
          </a:p>
        </p:txBody>
      </p:sp>
      <p:sp>
        <p:nvSpPr>
          <p:cNvPr id="49" name="Connector 48"/>
          <p:cNvSpPr>
            <a:spLocks noGrp="1"/>
          </p:cNvSpPr>
          <p:nvPr/>
        </p:nvSpPr>
        <p:spPr>
          <a:xfrm>
            <a:off x="4287510" y="4715330"/>
            <a:ext cx="1319794" cy="0"/>
          </a:xfrm>
          <a:prstGeom prst="line">
            <a:avLst/>
          </a:prstGeom>
          <a:ln w="10160">
            <a:solidFill>
              <a:srgbClr val="008B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1" name="TextBox 50"/>
          <p:cNvSpPr>
            <a:spLocks noGrp="1"/>
          </p:cNvSpPr>
          <p:nvPr/>
        </p:nvSpPr>
        <p:spPr>
          <a:xfrm>
            <a:off x="4294801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0" i="0" u="none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7072933" y="4445674"/>
            <a:ext cx="1312503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需要高效</a:t>
            </a:r>
          </a:p>
        </p:txBody>
      </p:sp>
      <p:sp>
        <p:nvSpPr>
          <p:cNvPr id="53" name="Connector 52"/>
          <p:cNvSpPr>
            <a:spLocks noGrp="1"/>
          </p:cNvSpPr>
          <p:nvPr/>
        </p:nvSpPr>
        <p:spPr>
          <a:xfrm>
            <a:off x="7072933" y="4715330"/>
            <a:ext cx="1327086" cy="0"/>
          </a:xfrm>
          <a:prstGeom prst="line">
            <a:avLst/>
          </a:prstGeom>
          <a:ln w="10160">
            <a:solidFill>
              <a:srgbClr val="1A5CE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5" name="TextBox 54"/>
          <p:cNvSpPr>
            <a:spLocks noGrp="1"/>
          </p:cNvSpPr>
          <p:nvPr/>
        </p:nvSpPr>
        <p:spPr>
          <a:xfrm>
            <a:off x="7072933" y="5043290"/>
            <a:ext cx="947918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50" b="0" i="0" u="none">
              <a:solidFill>
                <a:srgbClr val="2D32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9872939" y="4445674"/>
            <a:ext cx="1494795" cy="247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041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需要结合元数据</a:t>
            </a:r>
          </a:p>
        </p:txBody>
      </p:sp>
      <p:sp>
        <p:nvSpPr>
          <p:cNvPr id="57" name="Connector 56"/>
          <p:cNvSpPr>
            <a:spLocks noGrp="1"/>
          </p:cNvSpPr>
          <p:nvPr/>
        </p:nvSpPr>
        <p:spPr>
          <a:xfrm>
            <a:off x="9887523" y="4715330"/>
            <a:ext cx="1523962" cy="0"/>
          </a:xfrm>
          <a:prstGeom prst="line">
            <a:avLst/>
          </a:prstGeom>
          <a:ln w="10160">
            <a:solidFill>
              <a:srgbClr val="007D5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2989590" y="5808530"/>
            <a:ext cx="6073387" cy="608719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F07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3427091" y="5917849"/>
            <a:ext cx="5169803" cy="36440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sng">
                <a:solidFill>
                  <a:schemeClr val="tx2">
                    <a:lumMod val="7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向量数据库</a:t>
            </a:r>
            <a:r>
              <a:rPr sz="2400" b="1" i="0" u="none">
                <a:solidFill>
                  <a:srgbClr val="041457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是 </a:t>
            </a:r>
            <a:r>
              <a:rPr sz="2400" b="1" i="0" u="none">
                <a:solidFill>
                  <a:srgbClr val="14141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 检索层的 </a:t>
            </a:r>
            <a:r>
              <a:rPr sz="2400" b="1" i="0" u="none">
                <a:solidFill>
                  <a:srgbClr val="F0781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基础设施</a:t>
            </a:r>
          </a:p>
        </p:txBody>
      </p:sp>
      <p:pic>
        <p:nvPicPr>
          <p:cNvPr id="63" name="图片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991" y="1454653"/>
            <a:ext cx="2169678" cy="2152902"/>
          </a:xfrm>
          <a:prstGeom prst="rect">
            <a:avLst/>
          </a:prstGeom>
        </p:spPr>
      </p:pic>
      <p:pic>
        <p:nvPicPr>
          <p:cNvPr id="64" name="图片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78" y="2154124"/>
            <a:ext cx="1235975" cy="1151154"/>
          </a:xfrm>
          <a:prstGeom prst="rect">
            <a:avLst/>
          </a:prstGeom>
        </p:spPr>
      </p:pic>
      <p:pic>
        <p:nvPicPr>
          <p:cNvPr id="65" name="图片 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982" y="2207784"/>
            <a:ext cx="947918" cy="1021269"/>
          </a:xfrm>
          <a:prstGeom prst="rect">
            <a:avLst/>
          </a:prstGeom>
        </p:spPr>
      </p:pic>
      <p:pic>
        <p:nvPicPr>
          <p:cNvPr id="66" name="图片 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954" y="2266565"/>
            <a:ext cx="884924" cy="910207"/>
          </a:xfrm>
          <a:prstGeom prst="rect">
            <a:avLst/>
          </a:prstGeom>
        </p:spPr>
      </p:pic>
      <p:pic>
        <p:nvPicPr>
          <p:cNvPr id="67" name="图片 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99" y="4350154"/>
            <a:ext cx="849891" cy="869061"/>
          </a:xfrm>
          <a:prstGeom prst="rect">
            <a:avLst/>
          </a:prstGeom>
        </p:spPr>
      </p:pic>
      <p:pic>
        <p:nvPicPr>
          <p:cNvPr id="68" name="图片 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2662" y="4430495"/>
            <a:ext cx="810056" cy="798056"/>
          </a:xfrm>
          <a:prstGeom prst="rect">
            <a:avLst/>
          </a:prstGeom>
        </p:spPr>
      </p:pic>
      <p:pic>
        <p:nvPicPr>
          <p:cNvPr id="69" name="图片 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6769" y="4445674"/>
            <a:ext cx="771268" cy="729089"/>
          </a:xfrm>
          <a:prstGeom prst="rect">
            <a:avLst/>
          </a:prstGeom>
        </p:spPr>
      </p:pic>
      <p:pic>
        <p:nvPicPr>
          <p:cNvPr id="70" name="图片 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39624" y="4360241"/>
            <a:ext cx="788702" cy="834424"/>
          </a:xfrm>
          <a:prstGeom prst="rect">
            <a:avLst/>
          </a:prstGeom>
        </p:spPr>
      </p:pic>
      <p:pic>
        <p:nvPicPr>
          <p:cNvPr id="71" name="图形 79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313298">
            <a:off x="2725582" y="5537216"/>
            <a:ext cx="600933" cy="600933"/>
          </a:xfrm>
          <a:prstGeom prst="rect">
            <a:avLst/>
          </a:prstGeom>
        </p:spPr>
      </p:pic>
      <p:sp>
        <p:nvSpPr>
          <p:cNvPr id="81" name="直角三角形 80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直角三角形 81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直角三角形 8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直角三角形 8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直角三角形 84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直角三角形 85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直角三角形 86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直角三角形 87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CDF2ED-9D3C-46F1-9536-AFA8DE0D827B}"/>
              </a:ext>
            </a:extLst>
          </p:cNvPr>
          <p:cNvSpPr txBox="1"/>
          <p:nvPr/>
        </p:nvSpPr>
        <p:spPr>
          <a:xfrm>
            <a:off x="1289156" y="4769126"/>
            <a:ext cx="17999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spc="50">
                <a:solidFill>
                  <a:srgbClr val="2D3246"/>
                </a:solidFill>
                <a:latin typeface="微软雅黑" panose="020B0503020204020204" charset="-122"/>
                <a:ea typeface="微软雅黑" panose="020B0503020204020204" charset="-122"/>
              </a:rPr>
              <a:t>一篇文档会被切分为多个 </a:t>
            </a:r>
            <a:r>
              <a:rPr lang="en-US" altLang="zh-CN" sz="1000" spc="50">
                <a:solidFill>
                  <a:srgbClr val="2D3246"/>
                </a:solidFill>
                <a:latin typeface="微软雅黑" panose="020B0503020204020204" charset="-122"/>
                <a:ea typeface="微软雅黑" panose="020B0503020204020204" charset="-122"/>
              </a:rPr>
              <a:t>chunk</a:t>
            </a:r>
            <a:r>
              <a:rPr lang="zh-CN" altLang="en-US" sz="1000" spc="50">
                <a:solidFill>
                  <a:srgbClr val="2D3246"/>
                </a:solidFill>
                <a:latin typeface="微软雅黑" panose="020B0503020204020204" charset="-122"/>
                <a:ea typeface="微软雅黑" panose="020B0503020204020204" charset="-122"/>
              </a:rPr>
              <a:t>，每个 </a:t>
            </a:r>
            <a:r>
              <a:rPr lang="en-US" altLang="zh-CN" sz="1000" spc="50">
                <a:solidFill>
                  <a:srgbClr val="2D3246"/>
                </a:solidFill>
                <a:latin typeface="微软雅黑" panose="020B0503020204020204" charset="-122"/>
                <a:ea typeface="微软雅黑" panose="020B0503020204020204" charset="-122"/>
              </a:rPr>
              <a:t>chunk </a:t>
            </a:r>
            <a:r>
              <a:rPr lang="zh-CN" altLang="en-US" sz="1000" spc="50">
                <a:solidFill>
                  <a:srgbClr val="2D3246"/>
                </a:solidFill>
                <a:latin typeface="微软雅黑" panose="020B0503020204020204" charset="-122"/>
                <a:ea typeface="微软雅黑" panose="020B0503020204020204" charset="-122"/>
              </a:rPr>
              <a:t>都对应一个向量。当知识库持续扩展时，需要像数据库一样管理这些向量记录。</a:t>
            </a:r>
          </a:p>
          <a:p>
            <a:endParaRPr lang="zh-CN" altLang="en-US" sz="1000" spc="5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7BC64D3-0D30-495C-92C5-299496C24EF8}"/>
              </a:ext>
            </a:extLst>
          </p:cNvPr>
          <p:cNvSpPr txBox="1"/>
          <p:nvPr/>
        </p:nvSpPr>
        <p:spPr>
          <a:xfrm>
            <a:off x="4081037" y="4756255"/>
            <a:ext cx="1843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RAG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的每次用户提问，都会触发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query embedding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Top-K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检索。</a:t>
            </a:r>
            <a:b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检索层的延迟会直接影响最终回答速度。</a:t>
            </a:r>
            <a:endParaRPr lang="zh-CN" altLang="en-US" sz="1000" i="0" u="none" spc="50">
              <a:solidFill>
                <a:srgbClr val="2D324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endParaRPr lang="zh-CN" altLang="en-US" sz="1000" spc="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67716A-C984-4126-AC9E-DDE6858B8F5C}"/>
              </a:ext>
            </a:extLst>
          </p:cNvPr>
          <p:cNvSpPr txBox="1"/>
          <p:nvPr/>
        </p:nvSpPr>
        <p:spPr>
          <a:xfrm>
            <a:off x="6938037" y="4758853"/>
            <a:ext cx="16661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如果逐个计算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query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与所有向量的相似度，代价会随数据规模线性增长。</a:t>
            </a:r>
            <a:b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因此需要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ANN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索引在可接受召回率下加速检索。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6B8199-7EE4-4926-8B93-ED6C53FA1629}"/>
              </a:ext>
            </a:extLst>
          </p:cNvPr>
          <p:cNvSpPr txBox="1"/>
          <p:nvPr/>
        </p:nvSpPr>
        <p:spPr>
          <a:xfrm>
            <a:off x="9785460" y="4780027"/>
            <a:ext cx="1742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实际检索通常不只看“语义相似”，还要结合来源、权限、时间、类别等条件。</a:t>
            </a:r>
            <a:b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向量数据库需要同时管理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metadata</a:t>
            </a:r>
            <a:r>
              <a:rPr lang="zh-CN" altLang="en-US" sz="1000" spc="5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000" b="0" i="0" u="none" spc="50">
              <a:solidFill>
                <a:srgbClr val="2D324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  <a:p>
            <a:endParaRPr lang="zh-CN" altLang="en-US" sz="1000" spc="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411480" y="164592"/>
            <a:ext cx="113842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什么是向量数据库？</a:t>
            </a:r>
          </a:p>
        </p:txBody>
      </p:sp>
      <p:sp>
        <p:nvSpPr>
          <p:cNvPr id="7" name="Connector 6"/>
          <p:cNvSpPr>
            <a:spLocks noGrp="1"/>
          </p:cNvSpPr>
          <p:nvPr/>
        </p:nvSpPr>
        <p:spPr>
          <a:xfrm>
            <a:off x="2066544" y="941832"/>
            <a:ext cx="123444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8883823" y="941832"/>
            <a:ext cx="1097280" cy="0"/>
          </a:xfrm>
          <a:prstGeom prst="line">
            <a:avLst/>
          </a:prstGeom>
          <a:ln w="1524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Oval 8"/>
          <p:cNvSpPr>
            <a:spLocks noGrp="1"/>
          </p:cNvSpPr>
          <p:nvPr/>
        </p:nvSpPr>
        <p:spPr>
          <a:xfrm>
            <a:off x="2039112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Oval 9"/>
          <p:cNvSpPr>
            <a:spLocks noGrp="1"/>
          </p:cNvSpPr>
          <p:nvPr/>
        </p:nvSpPr>
        <p:spPr>
          <a:xfrm>
            <a:off x="9935383" y="914400"/>
            <a:ext cx="73152" cy="7315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3333631" y="841248"/>
            <a:ext cx="5539978" cy="2616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面向高维向量数据存储、索引与相似检索的数据库系统</a:t>
            </a: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463040" y="1188720"/>
            <a:ext cx="9162288" cy="822960"/>
          </a:xfrm>
          <a:prstGeom prst="roundRect">
            <a:avLst/>
          </a:prstGeom>
          <a:solidFill>
            <a:srgbClr val="E5F0FE"/>
          </a:solidFill>
          <a:ln w="1524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2468880" y="1444752"/>
            <a:ext cx="7132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定义：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383280" y="1335024"/>
            <a:ext cx="7335341" cy="5360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向量数据库是面向高维向量数据的数据库系统，用于存储 </a:t>
            </a:r>
            <a:r>
              <a:rPr lang="en-US" alt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embedding </a:t>
            </a: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向量</a:t>
            </a:r>
            <a:r>
              <a:rPr lang="en-US" altLang="zh-CN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>
              <a:spcAft>
                <a:spcPts val="100"/>
              </a:spcAft>
            </a:pPr>
            <a:r>
              <a:rPr lang="zh-CN" altLang="en-US" sz="17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及其元数据，并支持基于相似度的高效近邻检索、过滤、更新和系统管理。</a:t>
            </a: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1060704" y="2148840"/>
            <a:ext cx="4069080" cy="2578608"/>
          </a:xfrm>
          <a:prstGeom prst="roundRect">
            <a:avLst>
              <a:gd name="adj" fmla="val 7408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5559552" y="2123584"/>
            <a:ext cx="5522976" cy="2578608"/>
          </a:xfrm>
          <a:prstGeom prst="roundRect">
            <a:avLst>
              <a:gd name="adj" fmla="val 4650"/>
            </a:avLst>
          </a:prstGeom>
          <a:solidFill>
            <a:srgbClr val="FFFFFF"/>
          </a:solidFill>
          <a:ln w="1397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2184743" y="2267712"/>
            <a:ext cx="769441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数据对象</a:t>
            </a:r>
          </a:p>
        </p:txBody>
      </p:sp>
      <p:sp>
        <p:nvSpPr>
          <p:cNvPr id="18" name="TextBox 17"/>
          <p:cNvSpPr>
            <a:spLocks noGrp="1"/>
          </p:cNvSpPr>
          <p:nvPr/>
        </p:nvSpPr>
        <p:spPr>
          <a:xfrm>
            <a:off x="2889504" y="2286000"/>
            <a:ext cx="1128514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（一个向量记录）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1060704" y="2514600"/>
            <a:ext cx="4069080" cy="0"/>
          </a:xfrm>
          <a:prstGeom prst="line">
            <a:avLst/>
          </a:prstGeom>
          <a:ln w="10160">
            <a:solidFill>
              <a:srgbClr val="87B4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TextBox 19"/>
          <p:cNvSpPr>
            <a:spLocks noGrp="1"/>
          </p:cNvSpPr>
          <p:nvPr/>
        </p:nvSpPr>
        <p:spPr>
          <a:xfrm>
            <a:off x="7836408" y="2267712"/>
            <a:ext cx="868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</a:p>
        </p:txBody>
      </p:sp>
      <p:sp>
        <p:nvSpPr>
          <p:cNvPr id="21" name="Connector 20"/>
          <p:cNvSpPr>
            <a:spLocks noGrp="1"/>
          </p:cNvSpPr>
          <p:nvPr/>
        </p:nvSpPr>
        <p:spPr>
          <a:xfrm>
            <a:off x="5760720" y="2395728"/>
            <a:ext cx="1874520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Connector 21"/>
          <p:cNvSpPr>
            <a:spLocks noGrp="1"/>
          </p:cNvSpPr>
          <p:nvPr/>
        </p:nvSpPr>
        <p:spPr>
          <a:xfrm>
            <a:off x="8887968" y="2395728"/>
            <a:ext cx="1993392" cy="0"/>
          </a:xfrm>
          <a:prstGeom prst="line">
            <a:avLst/>
          </a:prstGeom>
          <a:ln w="12700">
            <a:solidFill>
              <a:srgbClr val="4C82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TextBox 22"/>
          <p:cNvSpPr>
            <a:spLocks noGrp="1"/>
          </p:cNvSpPr>
          <p:nvPr/>
        </p:nvSpPr>
        <p:spPr>
          <a:xfrm>
            <a:off x="1572768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vector（向量）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3465576" y="2706624"/>
            <a:ext cx="13258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87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metadata（元数据）</a:t>
            </a:r>
          </a:p>
        </p:txBody>
      </p:sp>
      <p:sp>
        <p:nvSpPr>
          <p:cNvPr id="25" name="Rounded Rectangle 24"/>
          <p:cNvSpPr>
            <a:spLocks noGrp="1"/>
          </p:cNvSpPr>
          <p:nvPr/>
        </p:nvSpPr>
        <p:spPr>
          <a:xfrm>
            <a:off x="1170432" y="2898648"/>
            <a:ext cx="1856231" cy="8229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1357723" y="3063240"/>
            <a:ext cx="1490793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[0.12, -0.35, 0.81, ..., 0.07]</a:t>
            </a: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895712" y="3364992"/>
            <a:ext cx="46968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4646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维度：d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3291840" y="2880360"/>
            <a:ext cx="1664208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1E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3456432" y="2999232"/>
            <a:ext cx="998671" cy="76944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文本：今天天气不错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类别：天气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时间：2024-05-20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来源：新闻网站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其他键值对 ...</a:t>
            </a:r>
          </a:p>
        </p:txBody>
      </p:sp>
      <p:sp>
        <p:nvSpPr>
          <p:cNvPr id="30" name="Connector 29"/>
          <p:cNvSpPr>
            <a:spLocks noGrp="1"/>
          </p:cNvSpPr>
          <p:nvPr/>
        </p:nvSpPr>
        <p:spPr>
          <a:xfrm>
            <a:off x="2039112" y="3712463"/>
            <a:ext cx="0" cy="256033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Connector 30"/>
          <p:cNvSpPr>
            <a:spLocks noGrp="1"/>
          </p:cNvSpPr>
          <p:nvPr/>
        </p:nvSpPr>
        <p:spPr>
          <a:xfrm>
            <a:off x="3822191" y="3886200"/>
            <a:ext cx="0" cy="82296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1472184" y="4160520"/>
            <a:ext cx="32004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5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2560320" y="4224528"/>
            <a:ext cx="104241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6E50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id（唯一标识）</a:t>
            </a: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755648" y="4443984"/>
            <a:ext cx="26060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550e8400-e29b-41d4-a716-446655440000</a:t>
            </a:r>
          </a:p>
        </p:txBody>
      </p:sp>
      <p:sp>
        <p:nvSpPr>
          <p:cNvPr id="36" name="Right Arrow 35"/>
          <p:cNvSpPr>
            <a:spLocks noGrp="1"/>
          </p:cNvSpPr>
          <p:nvPr/>
        </p:nvSpPr>
        <p:spPr>
          <a:xfrm>
            <a:off x="5212080" y="3364992"/>
            <a:ext cx="320040" cy="22860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Rounded Rectangle 36"/>
          <p:cNvSpPr>
            <a:spLocks noGrp="1"/>
          </p:cNvSpPr>
          <p:nvPr/>
        </p:nvSpPr>
        <p:spPr>
          <a:xfrm>
            <a:off x="5687568" y="2596896"/>
            <a:ext cx="1600200" cy="2029968"/>
          </a:xfrm>
          <a:prstGeom prst="roundRect">
            <a:avLst/>
          </a:prstGeom>
          <a:solidFill>
            <a:srgbClr val="F6FB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452360" y="2596896"/>
            <a:ext cx="1627632" cy="2029968"/>
          </a:xfrm>
          <a:prstGeom prst="roundRect">
            <a:avLst/>
          </a:prstGeom>
          <a:solidFill>
            <a:srgbClr val="F4FAF7"/>
          </a:solidFill>
          <a:ln w="12700">
            <a:solidFill>
              <a:srgbClr val="008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9281160" y="2596896"/>
            <a:ext cx="1627632" cy="2029968"/>
          </a:xfrm>
          <a:prstGeom prst="roundRect">
            <a:avLst/>
          </a:prstGeom>
          <a:solidFill>
            <a:srgbClr val="F8F5FE"/>
          </a:solidFill>
          <a:ln w="12700">
            <a:solidFill>
              <a:srgbClr val="583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5897880" y="3355848"/>
            <a:ext cx="11430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59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存储（Storage）</a:t>
            </a: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5806440" y="3657600"/>
            <a:ext cx="1498808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持久化存储高维向量与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元数据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支持高并发写入与读取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保证数据可靠性与可用性</a:t>
            </a: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7662672" y="3355848"/>
            <a:ext cx="12344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87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索引（Indexing）</a:t>
            </a:r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7571231" y="3657600"/>
            <a:ext cx="1580561" cy="654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构建近邻搜索索引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（如 HNSW、IVF、PQ 等）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支持增量构建与更新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平衡性能、精度与成本</a:t>
            </a:r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9464040" y="3355848"/>
            <a:ext cx="12801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5836B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检索（Retrieval）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9418320" y="3652800"/>
            <a:ext cx="1353312" cy="654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高效近邻/相似性搜索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支持相似度度量（如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余弦相似度、L2 等）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• 结合过滤与条件查询</a:t>
            </a:r>
          </a:p>
        </p:txBody>
      </p:sp>
      <p:sp>
        <p:nvSpPr>
          <p:cNvPr id="49" name="Connector 48"/>
          <p:cNvSpPr>
            <a:spLocks noGrp="1"/>
          </p:cNvSpPr>
          <p:nvPr/>
        </p:nvSpPr>
        <p:spPr>
          <a:xfrm>
            <a:off x="1096075" y="4834177"/>
            <a:ext cx="3886200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0" name="Connector 49"/>
          <p:cNvSpPr>
            <a:spLocks noGrp="1"/>
          </p:cNvSpPr>
          <p:nvPr/>
        </p:nvSpPr>
        <p:spPr>
          <a:xfrm>
            <a:off x="5609382" y="4837509"/>
            <a:ext cx="5427425" cy="0"/>
          </a:xfrm>
          <a:prstGeom prst="line">
            <a:avLst/>
          </a:prstGeom>
          <a:ln w="12700">
            <a:solidFill>
              <a:srgbClr val="0059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1115568" y="4956048"/>
            <a:ext cx="99212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ounded Rectangle 52"/>
          <p:cNvSpPr>
            <a:spLocks noGrp="1"/>
          </p:cNvSpPr>
          <p:nvPr/>
        </p:nvSpPr>
        <p:spPr>
          <a:xfrm>
            <a:off x="1353312" y="5148072"/>
            <a:ext cx="2514600" cy="1033271"/>
          </a:xfrm>
          <a:prstGeom prst="roundRect">
            <a:avLst/>
          </a:prstGeom>
          <a:solidFill>
            <a:srgbClr val="FEF9F9"/>
          </a:solidFill>
          <a:ln w="11430">
            <a:solidFill>
              <a:srgbClr val="A0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4343400" y="5148072"/>
            <a:ext cx="2423160" cy="1033271"/>
          </a:xfrm>
          <a:prstGeom prst="roundRect">
            <a:avLst/>
          </a:prstGeom>
          <a:solidFill>
            <a:srgbClr val="FEF9F8"/>
          </a:solidFill>
          <a:ln w="11430">
            <a:solidFill>
              <a:srgbClr val="D2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Rounded Rectangle 54"/>
          <p:cNvSpPr>
            <a:spLocks noGrp="1"/>
          </p:cNvSpPr>
          <p:nvPr/>
        </p:nvSpPr>
        <p:spPr>
          <a:xfrm>
            <a:off x="7242048" y="5148072"/>
            <a:ext cx="3474720" cy="1033271"/>
          </a:xfrm>
          <a:prstGeom prst="roundRect">
            <a:avLst/>
          </a:prstGeom>
          <a:solidFill>
            <a:srgbClr val="F8FCF9"/>
          </a:solidFill>
          <a:ln w="11430">
            <a:solidFill>
              <a:srgbClr val="329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Right Arrow 55"/>
          <p:cNvSpPr>
            <a:spLocks noGrp="1"/>
          </p:cNvSpPr>
          <p:nvPr/>
        </p:nvSpPr>
        <p:spPr>
          <a:xfrm>
            <a:off x="3950208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ight Arrow 56"/>
          <p:cNvSpPr>
            <a:spLocks noGrp="1"/>
          </p:cNvSpPr>
          <p:nvPr/>
        </p:nvSpPr>
        <p:spPr>
          <a:xfrm>
            <a:off x="6858000" y="5623560"/>
            <a:ext cx="320040" cy="91440"/>
          </a:xfrm>
          <a:prstGeom prst="rightArrow">
            <a:avLst/>
          </a:prstGeom>
          <a:solidFill>
            <a:srgbClr val="0059D8"/>
          </a:solidFill>
          <a:ln>
            <a:solidFill>
              <a:srgbClr val="005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2351633" y="5340096"/>
            <a:ext cx="1331775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不是仅仅一个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模型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2081757" y="577204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模型负责“生成向量”，而非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存储、索引与系统管理。</a:t>
            </a:r>
          </a:p>
        </p:txBody>
      </p:sp>
      <p:sp>
        <p:nvSpPr>
          <p:cNvPr id="63" name="TextBox 62"/>
          <p:cNvSpPr>
            <a:spLocks noGrp="1"/>
          </p:cNvSpPr>
          <p:nvPr/>
        </p:nvSpPr>
        <p:spPr>
          <a:xfrm>
            <a:off x="5442653" y="5283843"/>
            <a:ext cx="820738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不是单纯的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 算法</a:t>
            </a:r>
          </a:p>
        </p:txBody>
      </p:sp>
      <p:sp>
        <p:nvSpPr>
          <p:cNvPr id="64" name="TextBox 63"/>
          <p:cNvSpPr>
            <a:spLocks noGrp="1"/>
          </p:cNvSpPr>
          <p:nvPr/>
        </p:nvSpPr>
        <p:spPr>
          <a:xfrm>
            <a:off x="4979931" y="5776397"/>
            <a:ext cx="1729961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算法是“方法”，而非完整的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数据平台与工程体系。</a:t>
            </a:r>
          </a:p>
        </p:txBody>
      </p:sp>
      <p:sp>
        <p:nvSpPr>
          <p:cNvPr id="65" name="TextBox 64"/>
          <p:cNvSpPr>
            <a:spLocks noGrp="1"/>
          </p:cNvSpPr>
          <p:nvPr/>
        </p:nvSpPr>
        <p:spPr>
          <a:xfrm>
            <a:off x="8297536" y="5309440"/>
            <a:ext cx="2333972" cy="3539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而是把存储</a:t>
            </a: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、索引、查询、过滤、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工程能力整合起来的系统</a:t>
            </a: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8258240" y="5779802"/>
            <a:ext cx="2318583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提供端到端能力，面向生产可用性、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可扩展性与可运维性。</a:t>
            </a:r>
          </a:p>
        </p:txBody>
      </p:sp>
      <p:sp>
        <p:nvSpPr>
          <p:cNvPr id="70" name="Connector 29"/>
          <p:cNvSpPr>
            <a:spLocks noGrp="1"/>
          </p:cNvSpPr>
          <p:nvPr/>
        </p:nvSpPr>
        <p:spPr>
          <a:xfrm>
            <a:off x="2039112" y="3968496"/>
            <a:ext cx="950976" cy="0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3" name="Connector 30"/>
          <p:cNvSpPr>
            <a:spLocks noGrp="1"/>
          </p:cNvSpPr>
          <p:nvPr/>
        </p:nvSpPr>
        <p:spPr>
          <a:xfrm>
            <a:off x="2990088" y="3968496"/>
            <a:ext cx="832103" cy="0"/>
          </a:xfrm>
          <a:prstGeom prst="line">
            <a:avLst/>
          </a:prstGeom>
          <a:ln w="10160">
            <a:solidFill>
              <a:srgbClr val="1E96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9" name="Connector 29"/>
          <p:cNvSpPr>
            <a:spLocks noGrp="1"/>
          </p:cNvSpPr>
          <p:nvPr/>
        </p:nvSpPr>
        <p:spPr>
          <a:xfrm flipV="1">
            <a:off x="2966719" y="3968496"/>
            <a:ext cx="1" cy="192024"/>
          </a:xfrm>
          <a:prstGeom prst="line">
            <a:avLst/>
          </a:prstGeom>
          <a:ln w="10160">
            <a:solidFill>
              <a:srgbClr val="0059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80" name="图片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485" y="2744082"/>
            <a:ext cx="581106" cy="485843"/>
          </a:xfrm>
          <a:prstGeom prst="rect">
            <a:avLst/>
          </a:prstGeom>
        </p:spPr>
      </p:pic>
      <p:pic>
        <p:nvPicPr>
          <p:cNvPr id="81" name="图片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533" y="2639626"/>
            <a:ext cx="766421" cy="702552"/>
          </a:xfrm>
          <a:prstGeom prst="rect">
            <a:avLst/>
          </a:prstGeom>
        </p:spPr>
      </p:pic>
      <p:pic>
        <p:nvPicPr>
          <p:cNvPr id="82" name="图片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810" y="2731882"/>
            <a:ext cx="620332" cy="550813"/>
          </a:xfrm>
          <a:prstGeom prst="rect">
            <a:avLst/>
          </a:prstGeom>
        </p:spPr>
      </p:pic>
      <p:pic>
        <p:nvPicPr>
          <p:cNvPr id="83" name="图片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640" y="5290284"/>
            <a:ext cx="706063" cy="787292"/>
          </a:xfrm>
          <a:prstGeom prst="rect">
            <a:avLst/>
          </a:prstGeom>
        </p:spPr>
      </p:pic>
      <p:pic>
        <p:nvPicPr>
          <p:cNvPr id="84" name="图片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4613" y="5201474"/>
            <a:ext cx="250195" cy="277243"/>
          </a:xfrm>
          <a:prstGeom prst="rect">
            <a:avLst/>
          </a:prstGeom>
        </p:spPr>
      </p:pic>
      <p:pic>
        <p:nvPicPr>
          <p:cNvPr id="85" name="图片 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3157" y="5219049"/>
            <a:ext cx="568619" cy="577941"/>
          </a:xfrm>
          <a:prstGeom prst="rect">
            <a:avLst/>
          </a:prstGeom>
        </p:spPr>
      </p:pic>
      <p:pic>
        <p:nvPicPr>
          <p:cNvPr id="86" name="图片 9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5618" y="5286297"/>
            <a:ext cx="602985" cy="674525"/>
          </a:xfrm>
          <a:prstGeom prst="rect">
            <a:avLst/>
          </a:prstGeom>
        </p:spPr>
      </p:pic>
      <p:pic>
        <p:nvPicPr>
          <p:cNvPr id="87" name="图片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62382" y="5217555"/>
            <a:ext cx="242179" cy="441620"/>
          </a:xfrm>
          <a:prstGeom prst="rect">
            <a:avLst/>
          </a:prstGeom>
        </p:spPr>
      </p:pic>
      <p:pic>
        <p:nvPicPr>
          <p:cNvPr id="88" name="图片 9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8430" y="5219049"/>
            <a:ext cx="242179" cy="441620"/>
          </a:xfrm>
          <a:prstGeom prst="rect">
            <a:avLst/>
          </a:prstGeom>
        </p:spPr>
      </p:pic>
      <p:sp>
        <p:nvSpPr>
          <p:cNvPr id="99" name="直角三角形 98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0" name="直角三角形 99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1" name="直角三角形 100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2" name="直角三角形 101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3" name="直角三角形 102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4" name="直角三角形 103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5" name="直角三角形 104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6" name="直角三角形 105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822960" y="182880"/>
            <a:ext cx="1056132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向量数据库的核心功能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056236" y="1051560"/>
            <a:ext cx="4231928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>
                <a:solidFill>
                  <a:srgbClr val="005A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不仅能存，还要能快、能准、能管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324486" y="1133856"/>
            <a:ext cx="1554480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399901" y="1128170"/>
            <a:ext cx="1490473" cy="0"/>
          </a:xfrm>
          <a:prstGeom prst="line">
            <a:avLst/>
          </a:prstGeom>
          <a:ln w="15240">
            <a:solidFill>
              <a:srgbClr val="005A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260478" y="1101852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835510" y="1096166"/>
            <a:ext cx="64008" cy="64008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042415" y="1591056"/>
            <a:ext cx="3118104" cy="1783080"/>
          </a:xfrm>
          <a:prstGeom prst="roundRect">
            <a:avLst/>
          </a:prstGeom>
          <a:solidFill>
            <a:srgbClr val="F6F8FE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Oval 12"/>
          <p:cNvSpPr>
            <a:spLocks noGrp="1"/>
          </p:cNvSpPr>
          <p:nvPr/>
        </p:nvSpPr>
        <p:spPr>
          <a:xfrm>
            <a:off x="1243584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1367028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1819655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向量存储</a:t>
            </a:r>
          </a:p>
        </p:txBody>
      </p:sp>
      <p:sp>
        <p:nvSpPr>
          <p:cNvPr id="16" name="Connector 15"/>
          <p:cNvSpPr>
            <a:spLocks noGrp="1"/>
          </p:cNvSpPr>
          <p:nvPr/>
        </p:nvSpPr>
        <p:spPr>
          <a:xfrm>
            <a:off x="2340863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2539090" y="2459736"/>
            <a:ext cx="148277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 embedding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及对象标识</a:t>
            </a:r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507992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4709159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4832603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2" name="TextBox 21"/>
          <p:cNvSpPr>
            <a:spLocks noGrp="1"/>
          </p:cNvSpPr>
          <p:nvPr/>
        </p:nvSpPr>
        <p:spPr>
          <a:xfrm>
            <a:off x="5285231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相似检索</a:t>
            </a:r>
          </a:p>
        </p:txBody>
      </p:sp>
      <p:sp>
        <p:nvSpPr>
          <p:cNvPr id="23" name="Connector 22"/>
          <p:cNvSpPr>
            <a:spLocks noGrp="1"/>
          </p:cNvSpPr>
          <p:nvPr/>
        </p:nvSpPr>
        <p:spPr>
          <a:xfrm>
            <a:off x="5806440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10" y="2244701"/>
            <a:ext cx="962526" cy="925574"/>
          </a:xfrm>
          <a:prstGeom prst="rect">
            <a:avLst/>
          </a:prstGeom>
        </p:spPr>
      </p:pic>
      <p:sp>
        <p:nvSpPr>
          <p:cNvPr id="25" name="TextBox 24"/>
          <p:cNvSpPr>
            <a:spLocks noGrp="1"/>
          </p:cNvSpPr>
          <p:nvPr/>
        </p:nvSpPr>
        <p:spPr>
          <a:xfrm>
            <a:off x="6007610" y="2371338"/>
            <a:ext cx="1187826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 Top-K /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kNN / Range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</a:t>
            </a: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955279" y="1591056"/>
            <a:ext cx="3118104" cy="1783080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Oval 26"/>
          <p:cNvSpPr>
            <a:spLocks noGrp="1"/>
          </p:cNvSpPr>
          <p:nvPr/>
        </p:nvSpPr>
        <p:spPr>
          <a:xfrm>
            <a:off x="8156448" y="1755648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8279892" y="1805939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8732519" y="1819656"/>
            <a:ext cx="102592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向量索引</a:t>
            </a:r>
          </a:p>
        </p:txBody>
      </p:sp>
      <p:sp>
        <p:nvSpPr>
          <p:cNvPr id="30" name="Connector 29"/>
          <p:cNvSpPr>
            <a:spLocks noGrp="1"/>
          </p:cNvSpPr>
          <p:nvPr/>
        </p:nvSpPr>
        <p:spPr>
          <a:xfrm>
            <a:off x="9253728" y="2304288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971" y="2259277"/>
            <a:ext cx="1108363" cy="889134"/>
          </a:xfrm>
          <a:prstGeom prst="rect">
            <a:avLst/>
          </a:prstGeom>
        </p:spPr>
      </p:pic>
      <p:sp>
        <p:nvSpPr>
          <p:cNvPr id="32" name="TextBox 31"/>
          <p:cNvSpPr>
            <a:spLocks noGrp="1"/>
          </p:cNvSpPr>
          <p:nvPr/>
        </p:nvSpPr>
        <p:spPr>
          <a:xfrm>
            <a:off x="9531517" y="2368076"/>
            <a:ext cx="1300036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 ANN 索引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</a:t>
            </a: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1042415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Oval 33"/>
          <p:cNvSpPr>
            <a:spLocks noGrp="1"/>
          </p:cNvSpPr>
          <p:nvPr/>
        </p:nvSpPr>
        <p:spPr>
          <a:xfrm>
            <a:off x="1243584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1367028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36" name="TextBox 35"/>
          <p:cNvSpPr>
            <a:spLocks noGrp="1"/>
          </p:cNvSpPr>
          <p:nvPr/>
        </p:nvSpPr>
        <p:spPr>
          <a:xfrm>
            <a:off x="1819655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元数据过滤</a:t>
            </a:r>
          </a:p>
        </p:txBody>
      </p:sp>
      <p:sp>
        <p:nvSpPr>
          <p:cNvPr id="37" name="Connector 36"/>
          <p:cNvSpPr>
            <a:spLocks noGrp="1"/>
          </p:cNvSpPr>
          <p:nvPr/>
        </p:nvSpPr>
        <p:spPr>
          <a:xfrm>
            <a:off x="2340863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9" name="TextBox 38"/>
          <p:cNvSpPr>
            <a:spLocks noGrp="1"/>
          </p:cNvSpPr>
          <p:nvPr/>
        </p:nvSpPr>
        <p:spPr>
          <a:xfrm>
            <a:off x="2539090" y="4443984"/>
            <a:ext cx="1301638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按来源、时间、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标签等筛选</a:t>
            </a:r>
          </a:p>
        </p:txBody>
      </p:sp>
      <p:sp>
        <p:nvSpPr>
          <p:cNvPr id="40" name="Rounded Rectangle 39"/>
          <p:cNvSpPr>
            <a:spLocks noGrp="1"/>
          </p:cNvSpPr>
          <p:nvPr/>
        </p:nvSpPr>
        <p:spPr>
          <a:xfrm>
            <a:off x="4507992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Oval 40"/>
          <p:cNvSpPr>
            <a:spLocks noGrp="1"/>
          </p:cNvSpPr>
          <p:nvPr/>
        </p:nvSpPr>
        <p:spPr>
          <a:xfrm>
            <a:off x="4709159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TextBox 41"/>
          <p:cNvSpPr>
            <a:spLocks noGrp="1"/>
          </p:cNvSpPr>
          <p:nvPr/>
        </p:nvSpPr>
        <p:spPr>
          <a:xfrm>
            <a:off x="4832603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5285231" y="3803904"/>
            <a:ext cx="1282402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更新与删除</a:t>
            </a:r>
          </a:p>
        </p:txBody>
      </p:sp>
      <p:sp>
        <p:nvSpPr>
          <p:cNvPr id="44" name="Connector 43"/>
          <p:cNvSpPr>
            <a:spLocks noGrp="1"/>
          </p:cNvSpPr>
          <p:nvPr/>
        </p:nvSpPr>
        <p:spPr>
          <a:xfrm>
            <a:off x="5806440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334" y="4285339"/>
            <a:ext cx="1093779" cy="947438"/>
          </a:xfrm>
          <a:prstGeom prst="rect">
            <a:avLst/>
          </a:prstGeom>
        </p:spPr>
      </p:pic>
      <p:sp>
        <p:nvSpPr>
          <p:cNvPr id="46" name="TextBox 45"/>
          <p:cNvSpPr>
            <a:spLocks noGrp="1"/>
          </p:cNvSpPr>
          <p:nvPr/>
        </p:nvSpPr>
        <p:spPr>
          <a:xfrm>
            <a:off x="6080762" y="4355586"/>
            <a:ext cx="929742" cy="4565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支持插入、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更新、删除</a:t>
            </a:r>
          </a:p>
        </p:txBody>
      </p:sp>
      <p:sp>
        <p:nvSpPr>
          <p:cNvPr id="47" name="Rounded Rectangle 46"/>
          <p:cNvSpPr>
            <a:spLocks noGrp="1"/>
          </p:cNvSpPr>
          <p:nvPr/>
        </p:nvSpPr>
        <p:spPr>
          <a:xfrm>
            <a:off x="7955279" y="3575304"/>
            <a:ext cx="3118104" cy="1801368"/>
          </a:xfrm>
          <a:prstGeom prst="roundRect">
            <a:avLst/>
          </a:prstGeom>
          <a:solidFill>
            <a:srgbClr val="F5F9FD"/>
          </a:solidFill>
          <a:ln w="13335"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Oval 47"/>
          <p:cNvSpPr>
            <a:spLocks noGrp="1"/>
          </p:cNvSpPr>
          <p:nvPr/>
        </p:nvSpPr>
        <p:spPr>
          <a:xfrm>
            <a:off x="8156448" y="3739896"/>
            <a:ext cx="393192" cy="393192"/>
          </a:xfrm>
          <a:prstGeom prst="ellipse">
            <a:avLst/>
          </a:prstGeom>
          <a:solidFill>
            <a:srgbClr val="005AD6"/>
          </a:solidFill>
          <a:ln>
            <a:solidFill>
              <a:srgbClr val="00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8279892" y="3790187"/>
            <a:ext cx="155448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8732519" y="3803904"/>
            <a:ext cx="2051844" cy="2923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可扩展与工程能力</a:t>
            </a:r>
          </a:p>
        </p:txBody>
      </p:sp>
      <p:sp>
        <p:nvSpPr>
          <p:cNvPr id="51" name="Connector 50"/>
          <p:cNvSpPr>
            <a:spLocks noGrp="1"/>
          </p:cNvSpPr>
          <p:nvPr/>
        </p:nvSpPr>
        <p:spPr>
          <a:xfrm>
            <a:off x="9253728" y="4288536"/>
            <a:ext cx="0" cy="841248"/>
          </a:xfrm>
          <a:prstGeom prst="line">
            <a:avLst/>
          </a:prstGeom>
          <a:ln w="12700">
            <a:solidFill>
              <a:srgbClr val="005A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3971" y="4285339"/>
            <a:ext cx="1152114" cy="962014"/>
          </a:xfrm>
          <a:prstGeom prst="rect">
            <a:avLst/>
          </a:prstGeom>
        </p:spPr>
      </p:pic>
      <p:sp>
        <p:nvSpPr>
          <p:cNvPr id="53" name="TextBox 52"/>
          <p:cNvSpPr>
            <a:spLocks noGrp="1"/>
          </p:cNvSpPr>
          <p:nvPr/>
        </p:nvSpPr>
        <p:spPr>
          <a:xfrm>
            <a:off x="9531517" y="4369337"/>
            <a:ext cx="1436291" cy="6976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zh-CN" altLang="en-US"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扩展性、安全</a:t>
            </a:r>
            <a:endParaRPr lang="en-US" altLang="zh-CN" sz="1400" b="0" i="0" u="none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分布式、持久化、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0" i="0" u="none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容错、多租户</a:t>
            </a:r>
          </a:p>
        </p:txBody>
      </p:sp>
      <p:sp>
        <p:nvSpPr>
          <p:cNvPr id="54" name="Rounded Rectangle 53"/>
          <p:cNvSpPr>
            <a:spLocks noGrp="1"/>
          </p:cNvSpPr>
          <p:nvPr/>
        </p:nvSpPr>
        <p:spPr>
          <a:xfrm>
            <a:off x="2649997" y="5767171"/>
            <a:ext cx="6427113" cy="713232"/>
          </a:xfrm>
          <a:prstGeom prst="roundRect">
            <a:avLst/>
          </a:prstGeom>
          <a:solidFill>
            <a:srgbClr val="FFF9ED"/>
          </a:solidFill>
          <a:ln w="12700">
            <a:solidFill>
              <a:srgbClr val="F2A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TextBox 55"/>
          <p:cNvSpPr>
            <a:spLocks noGrp="1"/>
          </p:cNvSpPr>
          <p:nvPr/>
        </p:nvSpPr>
        <p:spPr>
          <a:xfrm>
            <a:off x="2971800" y="5971032"/>
            <a:ext cx="5924699" cy="1015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buNone/>
            </a:pPr>
            <a:r>
              <a:rPr sz="2200" b="1" i="0" u="none">
                <a:solidFill>
                  <a:srgbClr val="00196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 = </a:t>
            </a:r>
            <a:r>
              <a:rPr sz="2200" b="1" i="0" u="none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向量检索能力 +</a:t>
            </a:r>
            <a:r>
              <a:rPr lang="en-US" sz="2200" b="1" i="0" u="none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200" b="1">
                <a:solidFill>
                  <a:srgbClr val="E86A1A"/>
                </a:solidFill>
                <a:latin typeface="微软雅黑" panose="020B0503020204020204" charset="-122"/>
                <a:ea typeface="微软雅黑" panose="020B0503020204020204" charset="-122"/>
              </a:rPr>
              <a:t>数据库系统能力</a:t>
            </a:r>
          </a:p>
          <a:p>
            <a:pPr>
              <a:buNone/>
            </a:pPr>
            <a:endParaRPr sz="2200" b="1" i="0" u="none">
              <a:solidFill>
                <a:srgbClr val="0087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 i="0" u="none">
              <a:solidFill>
                <a:srgbClr val="0087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图片 6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7633" y="2175004"/>
            <a:ext cx="1068012" cy="1029673"/>
          </a:xfrm>
          <a:prstGeom prst="rect">
            <a:avLst/>
          </a:prstGeom>
        </p:spPr>
      </p:pic>
      <p:pic>
        <p:nvPicPr>
          <p:cNvPr id="58" name="图形 62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313298">
            <a:off x="2317688" y="5568635"/>
            <a:ext cx="600933" cy="600933"/>
          </a:xfrm>
          <a:prstGeom prst="rect">
            <a:avLst/>
          </a:prstGeom>
        </p:spPr>
      </p:pic>
      <p:pic>
        <p:nvPicPr>
          <p:cNvPr id="59" name="图片 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310" y="4192523"/>
            <a:ext cx="1105207" cy="977289"/>
          </a:xfrm>
          <a:prstGeom prst="rect">
            <a:avLst/>
          </a:prstGeom>
        </p:spPr>
      </p:pic>
      <p:sp>
        <p:nvSpPr>
          <p:cNvPr id="66" name="直角三角形 65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直角三角形 66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直角三角形 67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直角三角形 68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直角三角形 69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直角三角形 70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直角三角形 71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直角三角形 72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>
            <a:spLocks noGrp="1"/>
          </p:cNvSpPr>
          <p:nvPr/>
        </p:nvSpPr>
        <p:spPr>
          <a:xfrm>
            <a:off x="3135424" y="160335"/>
            <a:ext cx="5979180" cy="5684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900" b="1" i="0" u="none">
                <a:solidFill>
                  <a:srgbClr val="04155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向量数据库系统架构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156259" y="838119"/>
            <a:ext cx="3937509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从数据接入到检索服务的完整系统视角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479172" y="969302"/>
            <a:ext cx="1421878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239602" y="969302"/>
            <a:ext cx="1458337" cy="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450005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9668772" y="940150"/>
            <a:ext cx="58333" cy="58303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568751" y="1464886"/>
            <a:ext cx="1348961" cy="4052123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714585" y="1632510"/>
            <a:ext cx="1057294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数据写入流程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860418" y="2397749"/>
            <a:ext cx="765626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原始文档</a:t>
            </a:r>
          </a:p>
        </p:txBody>
      </p:sp>
      <p:sp>
        <p:nvSpPr>
          <p:cNvPr id="16" name="Connector 15"/>
          <p:cNvSpPr>
            <a:spLocks noGrp="1"/>
          </p:cNvSpPr>
          <p:nvPr/>
        </p:nvSpPr>
        <p:spPr>
          <a:xfrm>
            <a:off x="1232294" y="2594524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805729" y="3323324"/>
            <a:ext cx="875002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/ 切分</a:t>
            </a:r>
          </a:p>
        </p:txBody>
      </p:sp>
      <p:sp>
        <p:nvSpPr>
          <p:cNvPr id="19" name="Connector 18"/>
          <p:cNvSpPr>
            <a:spLocks noGrp="1"/>
          </p:cNvSpPr>
          <p:nvPr/>
        </p:nvSpPr>
        <p:spPr>
          <a:xfrm>
            <a:off x="1232294" y="3512811"/>
            <a:ext cx="0" cy="247792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TextBox 20"/>
          <p:cNvSpPr>
            <a:spLocks noGrp="1"/>
          </p:cNvSpPr>
          <p:nvPr/>
        </p:nvSpPr>
        <p:spPr>
          <a:xfrm>
            <a:off x="831251" y="4289116"/>
            <a:ext cx="838543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</p:txBody>
      </p:sp>
      <p:sp>
        <p:nvSpPr>
          <p:cNvPr id="22" name="Connector 21"/>
          <p:cNvSpPr>
            <a:spLocks noGrp="1"/>
          </p:cNvSpPr>
          <p:nvPr/>
        </p:nvSpPr>
        <p:spPr>
          <a:xfrm>
            <a:off x="1232294" y="4493046"/>
            <a:ext cx="0" cy="182200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TextBox 23"/>
          <p:cNvSpPr>
            <a:spLocks noGrp="1"/>
          </p:cNvSpPr>
          <p:nvPr/>
        </p:nvSpPr>
        <p:spPr>
          <a:xfrm>
            <a:off x="1035419" y="5210913"/>
            <a:ext cx="422917" cy="20406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</a:t>
            </a:r>
          </a:p>
        </p:txBody>
      </p:sp>
      <p:sp>
        <p:nvSpPr>
          <p:cNvPr id="27" name="Rounded Rectangle 26"/>
          <p:cNvSpPr>
            <a:spLocks noGrp="1"/>
          </p:cNvSpPr>
          <p:nvPr/>
        </p:nvSpPr>
        <p:spPr>
          <a:xfrm>
            <a:off x="9858356" y="1435734"/>
            <a:ext cx="1312503" cy="431449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1C5CE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10150023" y="1588782"/>
            <a:ext cx="729168" cy="1894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1C5C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查询流程</a:t>
            </a: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10208357" y="2375885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</a:t>
            </a:r>
          </a:p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（用户查询）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rgbClr val="282D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10047940" y="2375885"/>
            <a:ext cx="947918" cy="3133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Connector 31"/>
          <p:cNvSpPr>
            <a:spLocks noGrp="1"/>
          </p:cNvSpPr>
          <p:nvPr/>
        </p:nvSpPr>
        <p:spPr>
          <a:xfrm>
            <a:off x="10521899" y="2703844"/>
            <a:ext cx="0" cy="153048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TextBox 33"/>
          <p:cNvSpPr>
            <a:spLocks noGrp="1"/>
          </p:cNvSpPr>
          <p:nvPr/>
        </p:nvSpPr>
        <p:spPr>
          <a:xfrm>
            <a:off x="10135440" y="3352476"/>
            <a:ext cx="802085" cy="40812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embedding</a:t>
            </a:r>
          </a:p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（向量化）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>
              <a:solidFill>
                <a:srgbClr val="282D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Connector 35"/>
          <p:cNvSpPr>
            <a:spLocks noGrp="1"/>
          </p:cNvSpPr>
          <p:nvPr/>
        </p:nvSpPr>
        <p:spPr>
          <a:xfrm>
            <a:off x="10521899" y="3716875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8" name="TextBox 37"/>
          <p:cNvSpPr>
            <a:spLocks noGrp="1"/>
          </p:cNvSpPr>
          <p:nvPr/>
        </p:nvSpPr>
        <p:spPr>
          <a:xfrm>
            <a:off x="9794132" y="4348197"/>
            <a:ext cx="1470118" cy="34192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buNone/>
            </a:pPr>
            <a:r>
              <a:rPr sz="1100" b="0" i="0" u="none">
                <a:solidFill>
                  <a:srgbClr val="282D3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Similarity Search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(检索)</a:t>
            </a:r>
          </a:p>
        </p:txBody>
      </p:sp>
      <p:sp>
        <p:nvSpPr>
          <p:cNvPr id="40" name="Connector 39"/>
          <p:cNvSpPr>
            <a:spLocks noGrp="1"/>
          </p:cNvSpPr>
          <p:nvPr/>
        </p:nvSpPr>
        <p:spPr>
          <a:xfrm>
            <a:off x="10521899" y="4700754"/>
            <a:ext cx="0" cy="160336"/>
          </a:xfrm>
          <a:prstGeom prst="line">
            <a:avLst/>
          </a:prstGeom>
          <a:ln w="1651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2" name="TextBox 41"/>
          <p:cNvSpPr>
            <a:spLocks noGrp="1"/>
          </p:cNvSpPr>
          <p:nvPr/>
        </p:nvSpPr>
        <p:spPr>
          <a:xfrm>
            <a:off x="10150023" y="5276505"/>
            <a:ext cx="743751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返回结果</a:t>
            </a:r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10201065" y="5436841"/>
            <a:ext cx="641668" cy="16033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（结果集）</a:t>
            </a: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2209380" y="1260822"/>
            <a:ext cx="7218766" cy="10203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Rectangle 44"/>
          <p:cNvSpPr>
            <a:spLocks noGrp="1"/>
          </p:cNvSpPr>
          <p:nvPr/>
        </p:nvSpPr>
        <p:spPr>
          <a:xfrm>
            <a:off x="2209380" y="1260822"/>
            <a:ext cx="1079169" cy="1020318"/>
          </a:xfrm>
          <a:prstGeom prst="rect">
            <a:avLst/>
          </a:prstGeom>
          <a:solidFill>
            <a:srgbClr val="2675EE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TextBox 45"/>
          <p:cNvSpPr>
            <a:spLocks noGrp="1"/>
          </p:cNvSpPr>
          <p:nvPr/>
        </p:nvSpPr>
        <p:spPr>
          <a:xfrm>
            <a:off x="2450005" y="1381360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961" y="1651015"/>
            <a:ext cx="525001" cy="524735"/>
          </a:xfrm>
          <a:prstGeom prst="rect">
            <a:avLst/>
          </a:prstGeom>
        </p:spPr>
      </p:pic>
      <p:sp>
        <p:nvSpPr>
          <p:cNvPr id="48" name="Rounded Rectangle 47"/>
          <p:cNvSpPr>
            <a:spLocks noGrp="1"/>
          </p:cNvSpPr>
          <p:nvPr/>
        </p:nvSpPr>
        <p:spPr>
          <a:xfrm>
            <a:off x="2209380" y="2623676"/>
            <a:ext cx="7218766" cy="101303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Rectangle 48"/>
          <p:cNvSpPr>
            <a:spLocks noGrp="1"/>
          </p:cNvSpPr>
          <p:nvPr/>
        </p:nvSpPr>
        <p:spPr>
          <a:xfrm>
            <a:off x="2209380" y="2623676"/>
            <a:ext cx="1079169" cy="1013030"/>
          </a:xfrm>
          <a:prstGeom prst="rect">
            <a:avLst/>
          </a:prstGeom>
          <a:solidFill>
            <a:srgbClr val="029693"/>
          </a:solidFill>
          <a:ln>
            <a:solidFill>
              <a:srgbClr val="0597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2384380" y="2703844"/>
            <a:ext cx="729168" cy="43727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查询与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服务层</a:t>
            </a:r>
          </a:p>
        </p:txBody>
      </p:sp>
      <p:sp>
        <p:nvSpPr>
          <p:cNvPr id="52" name="Rounded Rectangle 51"/>
          <p:cNvSpPr>
            <a:spLocks noGrp="1"/>
          </p:cNvSpPr>
          <p:nvPr/>
        </p:nvSpPr>
        <p:spPr>
          <a:xfrm>
            <a:off x="2209380" y="3993819"/>
            <a:ext cx="7218766" cy="9037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Rectangle 52"/>
          <p:cNvSpPr>
            <a:spLocks noGrp="1"/>
          </p:cNvSpPr>
          <p:nvPr/>
        </p:nvSpPr>
        <p:spPr>
          <a:xfrm>
            <a:off x="2209380" y="3993819"/>
            <a:ext cx="1079169" cy="903710"/>
          </a:xfrm>
          <a:prstGeom prst="rect">
            <a:avLst/>
          </a:prstGeom>
          <a:solidFill>
            <a:srgbClr val="E98F03"/>
          </a:solidFill>
          <a:ln>
            <a:solidFill>
              <a:srgbClr val="EC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2450005" y="4139579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检索引擎层</a:t>
            </a:r>
          </a:p>
        </p:txBody>
      </p:sp>
      <p:sp>
        <p:nvSpPr>
          <p:cNvPr id="56" name="Rounded Rectangle 55"/>
          <p:cNvSpPr>
            <a:spLocks noGrp="1"/>
          </p:cNvSpPr>
          <p:nvPr/>
        </p:nvSpPr>
        <p:spPr>
          <a:xfrm>
            <a:off x="2209380" y="5232777"/>
            <a:ext cx="7218766" cy="896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Rectangle 56"/>
          <p:cNvSpPr>
            <a:spLocks noGrp="1"/>
          </p:cNvSpPr>
          <p:nvPr/>
        </p:nvSpPr>
        <p:spPr>
          <a:xfrm>
            <a:off x="2209380" y="5232777"/>
            <a:ext cx="1079169" cy="896422"/>
          </a:xfrm>
          <a:prstGeom prst="rect">
            <a:avLst/>
          </a:prstGeom>
          <a:solidFill>
            <a:srgbClr val="1C5CE0"/>
          </a:solidFill>
          <a:ln>
            <a:solidFill>
              <a:srgbClr val="1C5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TextBox 57"/>
          <p:cNvSpPr>
            <a:spLocks noGrp="1"/>
          </p:cNvSpPr>
          <p:nvPr/>
        </p:nvSpPr>
        <p:spPr>
          <a:xfrm>
            <a:off x="2450005" y="5378537"/>
            <a:ext cx="583334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存储层</a:t>
            </a:r>
          </a:p>
        </p:txBody>
      </p:sp>
      <p:sp>
        <p:nvSpPr>
          <p:cNvPr id="60" name="Rounded Rectangle 59"/>
          <p:cNvSpPr>
            <a:spLocks noGrp="1"/>
          </p:cNvSpPr>
          <p:nvPr/>
        </p:nvSpPr>
        <p:spPr>
          <a:xfrm>
            <a:off x="3441674" y="1413870"/>
            <a:ext cx="1844795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071" y="1433347"/>
            <a:ext cx="627084" cy="568463"/>
          </a:xfrm>
          <a:prstGeom prst="rect">
            <a:avLst/>
          </a:prstGeom>
        </p:spPr>
      </p:pic>
      <p:sp>
        <p:nvSpPr>
          <p:cNvPr id="62" name="TextBox 61"/>
          <p:cNvSpPr>
            <a:spLocks noGrp="1"/>
          </p:cNvSpPr>
          <p:nvPr/>
        </p:nvSpPr>
        <p:spPr>
          <a:xfrm>
            <a:off x="4021156" y="1559063"/>
            <a:ext cx="1192190" cy="5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（检索增强生成）</a:t>
            </a:r>
          </a:p>
        </p:txBody>
      </p:sp>
      <p:sp>
        <p:nvSpPr>
          <p:cNvPr id="63" name="Rounded Rectangle 62"/>
          <p:cNvSpPr>
            <a:spLocks noGrp="1"/>
          </p:cNvSpPr>
          <p:nvPr/>
        </p:nvSpPr>
        <p:spPr>
          <a:xfrm>
            <a:off x="5439596" y="1413870"/>
            <a:ext cx="1837504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3450" y="1424801"/>
            <a:ext cx="612501" cy="619479"/>
          </a:xfrm>
          <a:prstGeom prst="rect">
            <a:avLst/>
          </a:prstGeom>
        </p:spPr>
      </p:pic>
      <p:sp>
        <p:nvSpPr>
          <p:cNvPr id="65" name="TextBox 64"/>
          <p:cNvSpPr>
            <a:spLocks noGrp="1"/>
          </p:cNvSpPr>
          <p:nvPr/>
        </p:nvSpPr>
        <p:spPr>
          <a:xfrm>
            <a:off x="6263866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语义搜索</a:t>
            </a:r>
          </a:p>
        </p:txBody>
      </p:sp>
      <p:sp>
        <p:nvSpPr>
          <p:cNvPr id="66" name="Rounded Rectangle 65"/>
          <p:cNvSpPr>
            <a:spLocks noGrp="1"/>
          </p:cNvSpPr>
          <p:nvPr/>
        </p:nvSpPr>
        <p:spPr>
          <a:xfrm>
            <a:off x="7430225" y="1413870"/>
            <a:ext cx="1852087" cy="714223"/>
          </a:xfrm>
          <a:prstGeom prst="roundRect">
            <a:avLst/>
          </a:prstGeom>
          <a:solidFill>
            <a:srgbClr val="F6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087" y="1428444"/>
            <a:ext cx="612501" cy="612191"/>
          </a:xfrm>
          <a:prstGeom prst="rect">
            <a:avLst/>
          </a:prstGeom>
        </p:spPr>
      </p:pic>
      <p:sp>
        <p:nvSpPr>
          <p:cNvPr id="68" name="TextBox 67"/>
          <p:cNvSpPr>
            <a:spLocks noGrp="1"/>
          </p:cNvSpPr>
          <p:nvPr/>
        </p:nvSpPr>
        <p:spPr>
          <a:xfrm>
            <a:off x="8273713" y="1661661"/>
            <a:ext cx="714585" cy="21863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推荐系统</a:t>
            </a:r>
          </a:p>
        </p:txBody>
      </p:sp>
      <p:sp>
        <p:nvSpPr>
          <p:cNvPr id="69" name="Rounded Rectangle 68"/>
          <p:cNvSpPr>
            <a:spLocks noGrp="1"/>
          </p:cNvSpPr>
          <p:nvPr/>
        </p:nvSpPr>
        <p:spPr>
          <a:xfrm>
            <a:off x="3448966" y="2798588"/>
            <a:ext cx="133437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7006" y="2832229"/>
            <a:ext cx="641668" cy="553887"/>
          </a:xfrm>
          <a:prstGeom prst="rect">
            <a:avLst/>
          </a:prstGeom>
        </p:spPr>
      </p:pic>
      <p:sp>
        <p:nvSpPr>
          <p:cNvPr id="71" name="TextBox 70"/>
          <p:cNvSpPr>
            <a:spLocks noGrp="1"/>
          </p:cNvSpPr>
          <p:nvPr/>
        </p:nvSpPr>
        <p:spPr>
          <a:xfrm>
            <a:off x="4128674" y="3050023"/>
            <a:ext cx="619793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接口</a:t>
            </a: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4852615" y="2798588"/>
            <a:ext cx="1290628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TextBox 73"/>
          <p:cNvSpPr>
            <a:spLocks noGrp="1"/>
          </p:cNvSpPr>
          <p:nvPr/>
        </p:nvSpPr>
        <p:spPr>
          <a:xfrm>
            <a:off x="5472408" y="3053667"/>
            <a:ext cx="583334" cy="1749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查询解析</a:t>
            </a:r>
          </a:p>
        </p:txBody>
      </p:sp>
      <p:sp>
        <p:nvSpPr>
          <p:cNvPr id="75" name="Rounded Rectangle 74"/>
          <p:cNvSpPr>
            <a:spLocks noGrp="1"/>
          </p:cNvSpPr>
          <p:nvPr/>
        </p:nvSpPr>
        <p:spPr>
          <a:xfrm>
            <a:off x="6225939" y="2798588"/>
            <a:ext cx="1626045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TextBox 76"/>
          <p:cNvSpPr>
            <a:spLocks noGrp="1"/>
          </p:cNvSpPr>
          <p:nvPr/>
        </p:nvSpPr>
        <p:spPr>
          <a:xfrm>
            <a:off x="6752098" y="2999009"/>
            <a:ext cx="1006252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 Filter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（元数据过滤）</a:t>
            </a:r>
          </a:p>
        </p:txBody>
      </p:sp>
      <p:sp>
        <p:nvSpPr>
          <p:cNvPr id="78" name="Rounded Rectangle 77"/>
          <p:cNvSpPr>
            <a:spLocks noGrp="1"/>
          </p:cNvSpPr>
          <p:nvPr/>
        </p:nvSpPr>
        <p:spPr>
          <a:xfrm>
            <a:off x="7882310" y="2798588"/>
            <a:ext cx="1392711" cy="677783"/>
          </a:xfrm>
          <a:prstGeom prst="roundRect">
            <a:avLst/>
          </a:prstGeom>
          <a:solidFill>
            <a:srgbClr val="F0FBF9"/>
          </a:solidFill>
          <a:ln w="10160">
            <a:solidFill>
              <a:srgbClr val="91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TextBox 79"/>
          <p:cNvSpPr>
            <a:spLocks noGrp="1"/>
          </p:cNvSpPr>
          <p:nvPr/>
        </p:nvSpPr>
        <p:spPr>
          <a:xfrm>
            <a:off x="8569655" y="2999009"/>
            <a:ext cx="663543" cy="33524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（重排序）</a:t>
            </a:r>
          </a:p>
        </p:txBody>
      </p:sp>
      <p:sp>
        <p:nvSpPr>
          <p:cNvPr id="81" name="Rounded Rectangle 80"/>
          <p:cNvSpPr>
            <a:spLocks noGrp="1"/>
          </p:cNvSpPr>
          <p:nvPr/>
        </p:nvSpPr>
        <p:spPr>
          <a:xfrm>
            <a:off x="344896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901050" y="4321778"/>
            <a:ext cx="1319794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 Index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（近似最近邻索引）</a:t>
            </a:r>
          </a:p>
        </p:txBody>
      </p:sp>
      <p:sp>
        <p:nvSpPr>
          <p:cNvPr id="84" name="Rounded Rectangle 83"/>
          <p:cNvSpPr>
            <a:spLocks noGrp="1"/>
          </p:cNvSpPr>
          <p:nvPr/>
        </p:nvSpPr>
        <p:spPr>
          <a:xfrm>
            <a:off x="5439596" y="4146867"/>
            <a:ext cx="1837504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6052097" y="4321778"/>
            <a:ext cx="1203127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Similarity Search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（相似检索）</a:t>
            </a:r>
          </a:p>
        </p:txBody>
      </p:sp>
      <p:sp>
        <p:nvSpPr>
          <p:cNvPr id="87" name="Rounded Rectangle 86"/>
          <p:cNvSpPr>
            <a:spLocks noGrp="1"/>
          </p:cNvSpPr>
          <p:nvPr/>
        </p:nvSpPr>
        <p:spPr>
          <a:xfrm>
            <a:off x="7430225" y="4146867"/>
            <a:ext cx="1852087" cy="626767"/>
          </a:xfrm>
          <a:prstGeom prst="roundRect">
            <a:avLst/>
          </a:prstGeom>
          <a:solidFill>
            <a:srgbClr val="FEFBF2"/>
          </a:solidFill>
          <a:ln w="10160">
            <a:solidFill>
              <a:srgbClr val="D9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8152102" y="4321778"/>
            <a:ext cx="1093752" cy="3206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Planner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（查询规划）</a:t>
            </a:r>
          </a:p>
        </p:txBody>
      </p:sp>
      <p:sp>
        <p:nvSpPr>
          <p:cNvPr id="90" name="Rounded Rectangle 89"/>
          <p:cNvSpPr>
            <a:spLocks noGrp="1"/>
          </p:cNvSpPr>
          <p:nvPr/>
        </p:nvSpPr>
        <p:spPr>
          <a:xfrm>
            <a:off x="3448967" y="5393113"/>
            <a:ext cx="172501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4068758" y="5535228"/>
            <a:ext cx="98437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Storage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（向量存储）</a:t>
            </a:r>
          </a:p>
        </p:txBody>
      </p:sp>
      <p:sp>
        <p:nvSpPr>
          <p:cNvPr id="93" name="Rounded Rectangle 92"/>
          <p:cNvSpPr>
            <a:spLocks noGrp="1"/>
          </p:cNvSpPr>
          <p:nvPr/>
        </p:nvSpPr>
        <p:spPr>
          <a:xfrm>
            <a:off x="5273663" y="5390364"/>
            <a:ext cx="2009720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TextBox 94"/>
          <p:cNvSpPr>
            <a:spLocks noGrp="1"/>
          </p:cNvSpPr>
          <p:nvPr/>
        </p:nvSpPr>
        <p:spPr>
          <a:xfrm>
            <a:off x="6029213" y="5547055"/>
            <a:ext cx="1140287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Metadata Storge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（元数据存储）</a:t>
            </a:r>
          </a:p>
        </p:txBody>
      </p:sp>
      <p:sp>
        <p:nvSpPr>
          <p:cNvPr id="96" name="Rounded Rectangle 95"/>
          <p:cNvSpPr>
            <a:spLocks noGrp="1"/>
          </p:cNvSpPr>
          <p:nvPr/>
        </p:nvSpPr>
        <p:spPr>
          <a:xfrm>
            <a:off x="7364600" y="5393113"/>
            <a:ext cx="1925004" cy="604903"/>
          </a:xfrm>
          <a:prstGeom prst="roundRect">
            <a:avLst/>
          </a:prstGeom>
          <a:solidFill>
            <a:srgbClr val="F8FBFE"/>
          </a:solidFill>
          <a:ln w="10160">
            <a:solidFill>
              <a:srgbClr val="78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TextBox 97"/>
          <p:cNvSpPr>
            <a:spLocks noGrp="1"/>
          </p:cNvSpPr>
          <p:nvPr/>
        </p:nvSpPr>
        <p:spPr>
          <a:xfrm>
            <a:off x="8093768" y="5551087"/>
            <a:ext cx="1057294" cy="2915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Persistent Storage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282D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（持久化存储）</a:t>
            </a:r>
          </a:p>
        </p:txBody>
      </p:sp>
      <p:sp>
        <p:nvSpPr>
          <p:cNvPr id="99" name="Connector 98"/>
          <p:cNvSpPr>
            <a:spLocks noGrp="1"/>
          </p:cNvSpPr>
          <p:nvPr/>
        </p:nvSpPr>
        <p:spPr>
          <a:xfrm>
            <a:off x="419271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0" name="Connector 99"/>
          <p:cNvCxnSpPr/>
          <p:nvPr/>
        </p:nvCxnSpPr>
        <p:spPr>
          <a:xfrm flipV="1">
            <a:off x="419271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onnector 100"/>
          <p:cNvSpPr>
            <a:spLocks noGrp="1"/>
          </p:cNvSpPr>
          <p:nvPr/>
        </p:nvSpPr>
        <p:spPr>
          <a:xfrm>
            <a:off x="419271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2" name="Connector 101"/>
          <p:cNvCxnSpPr/>
          <p:nvPr/>
        </p:nvCxnSpPr>
        <p:spPr>
          <a:xfrm flipV="1">
            <a:off x="419271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Connector 102"/>
          <p:cNvSpPr>
            <a:spLocks noGrp="1"/>
          </p:cNvSpPr>
          <p:nvPr/>
        </p:nvSpPr>
        <p:spPr>
          <a:xfrm>
            <a:off x="419271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4" name="Connector 103"/>
          <p:cNvCxnSpPr/>
          <p:nvPr/>
        </p:nvCxnSpPr>
        <p:spPr>
          <a:xfrm flipV="1">
            <a:off x="419271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onnector 104"/>
          <p:cNvSpPr>
            <a:spLocks noGrp="1"/>
          </p:cNvSpPr>
          <p:nvPr/>
        </p:nvSpPr>
        <p:spPr>
          <a:xfrm>
            <a:off x="5928138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6" name="Connector 105"/>
          <p:cNvCxnSpPr/>
          <p:nvPr/>
        </p:nvCxnSpPr>
        <p:spPr>
          <a:xfrm flipV="1">
            <a:off x="5928138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Connector 106"/>
          <p:cNvSpPr>
            <a:spLocks noGrp="1"/>
          </p:cNvSpPr>
          <p:nvPr/>
        </p:nvSpPr>
        <p:spPr>
          <a:xfrm>
            <a:off x="5928138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08" name="Connector 107"/>
          <p:cNvCxnSpPr/>
          <p:nvPr/>
        </p:nvCxnSpPr>
        <p:spPr>
          <a:xfrm flipV="1">
            <a:off x="5928138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Connector 108"/>
          <p:cNvSpPr>
            <a:spLocks noGrp="1"/>
          </p:cNvSpPr>
          <p:nvPr/>
        </p:nvSpPr>
        <p:spPr>
          <a:xfrm>
            <a:off x="5928138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0" name="Connector 109"/>
          <p:cNvCxnSpPr/>
          <p:nvPr/>
        </p:nvCxnSpPr>
        <p:spPr>
          <a:xfrm flipV="1">
            <a:off x="5928138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nnector 110"/>
          <p:cNvSpPr>
            <a:spLocks noGrp="1"/>
          </p:cNvSpPr>
          <p:nvPr/>
        </p:nvSpPr>
        <p:spPr>
          <a:xfrm>
            <a:off x="7670851" y="2310293"/>
            <a:ext cx="0" cy="255080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2" name="Connector 111"/>
          <p:cNvCxnSpPr/>
          <p:nvPr/>
        </p:nvCxnSpPr>
        <p:spPr>
          <a:xfrm flipV="1">
            <a:off x="7670851" y="2317581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Connector 112"/>
          <p:cNvSpPr>
            <a:spLocks noGrp="1"/>
          </p:cNvSpPr>
          <p:nvPr/>
        </p:nvSpPr>
        <p:spPr>
          <a:xfrm>
            <a:off x="7670851" y="3665859"/>
            <a:ext cx="0" cy="262368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4" name="Connector 113"/>
          <p:cNvCxnSpPr/>
          <p:nvPr/>
        </p:nvCxnSpPr>
        <p:spPr>
          <a:xfrm flipV="1">
            <a:off x="7670851" y="3673147"/>
            <a:ext cx="0" cy="262368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Connector 114"/>
          <p:cNvSpPr>
            <a:spLocks noGrp="1"/>
          </p:cNvSpPr>
          <p:nvPr/>
        </p:nvSpPr>
        <p:spPr>
          <a:xfrm>
            <a:off x="7670851" y="4919394"/>
            <a:ext cx="0" cy="255079"/>
          </a:xfrm>
          <a:prstGeom prst="line">
            <a:avLst/>
          </a:prstGeom>
          <a:ln w="15240">
            <a:solidFill>
              <a:srgbClr val="1C5C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cxnSp>
        <p:nvCxnSpPr>
          <p:cNvPr id="116" name="Connector 115"/>
          <p:cNvCxnSpPr/>
          <p:nvPr/>
        </p:nvCxnSpPr>
        <p:spPr>
          <a:xfrm flipV="1">
            <a:off x="7670851" y="4926682"/>
            <a:ext cx="0" cy="255079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图片 1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68" y="1855448"/>
            <a:ext cx="592125" cy="495583"/>
          </a:xfrm>
          <a:prstGeom prst="rect">
            <a:avLst/>
          </a:prstGeom>
        </p:spPr>
      </p:pic>
      <p:pic>
        <p:nvPicPr>
          <p:cNvPr id="118" name="图片 1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121" y="2776724"/>
            <a:ext cx="619759" cy="488295"/>
          </a:xfrm>
          <a:prstGeom prst="rect">
            <a:avLst/>
          </a:prstGeom>
        </p:spPr>
      </p:pic>
      <p:pic>
        <p:nvPicPr>
          <p:cNvPr id="119" name="图片 1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7606" y="3775180"/>
            <a:ext cx="600283" cy="495582"/>
          </a:xfrm>
          <a:prstGeom prst="rect">
            <a:avLst/>
          </a:prstGeom>
        </p:spPr>
      </p:pic>
      <p:pic>
        <p:nvPicPr>
          <p:cNvPr id="120" name="图片 1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914" y="4692773"/>
            <a:ext cx="543215" cy="476076"/>
          </a:xfrm>
          <a:prstGeom prst="rect">
            <a:avLst/>
          </a:prstGeom>
        </p:spPr>
      </p:pic>
      <p:cxnSp>
        <p:nvCxnSpPr>
          <p:cNvPr id="121" name="连接符: 肘形 129"/>
          <p:cNvCxnSpPr>
            <a:stCxn id="12" idx="2"/>
            <a:endCxn id="57" idx="1"/>
          </p:cNvCxnSpPr>
          <p:nvPr/>
        </p:nvCxnSpPr>
        <p:spPr>
          <a:xfrm rot="16200000" flipH="1">
            <a:off x="1644317" y="5115924"/>
            <a:ext cx="163979" cy="966148"/>
          </a:xfrm>
          <a:prstGeom prst="bentConnector2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31"/>
          <p:cNvCxnSpPr>
            <a:stCxn id="48" idx="3"/>
          </p:cNvCxnSpPr>
          <p:nvPr/>
        </p:nvCxnSpPr>
        <p:spPr>
          <a:xfrm>
            <a:off x="9428146" y="3130191"/>
            <a:ext cx="430210" cy="10932"/>
          </a:xfrm>
          <a:prstGeom prst="straightConnector1">
            <a:avLst/>
          </a:prstGeom>
          <a:ln>
            <a:solidFill>
              <a:srgbClr val="1C5CE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图片 1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3024" y="2895152"/>
            <a:ext cx="448352" cy="491941"/>
          </a:xfrm>
          <a:prstGeom prst="rect">
            <a:avLst/>
          </a:prstGeom>
        </p:spPr>
      </p:pic>
      <p:pic>
        <p:nvPicPr>
          <p:cNvPr id="124" name="图片 1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8314" y="3156410"/>
            <a:ext cx="617569" cy="459411"/>
          </a:xfrm>
          <a:prstGeom prst="rect">
            <a:avLst/>
          </a:prstGeom>
        </p:spPr>
      </p:pic>
      <p:pic>
        <p:nvPicPr>
          <p:cNvPr id="125" name="图片 1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38314" y="4409234"/>
            <a:ext cx="562128" cy="488807"/>
          </a:xfrm>
          <a:prstGeom prst="rect">
            <a:avLst/>
          </a:prstGeom>
        </p:spPr>
      </p:pic>
      <p:pic>
        <p:nvPicPr>
          <p:cNvPr id="126" name="图片 1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6190" y="5625957"/>
            <a:ext cx="437267" cy="460903"/>
          </a:xfrm>
          <a:prstGeom prst="rect">
            <a:avLst/>
          </a:prstGeom>
        </p:spPr>
      </p:pic>
      <p:pic>
        <p:nvPicPr>
          <p:cNvPr id="127" name="图片 1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39603" y="2832930"/>
            <a:ext cx="621874" cy="594539"/>
          </a:xfrm>
          <a:prstGeom prst="rect">
            <a:avLst/>
          </a:prstGeom>
        </p:spPr>
      </p:pic>
      <p:pic>
        <p:nvPicPr>
          <p:cNvPr id="128" name="图片 1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3355" y="2915003"/>
            <a:ext cx="446920" cy="452240"/>
          </a:xfrm>
          <a:prstGeom prst="rect">
            <a:avLst/>
          </a:prstGeom>
        </p:spPr>
      </p:pic>
      <p:pic>
        <p:nvPicPr>
          <p:cNvPr id="129" name="图片 1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75589" y="4239193"/>
            <a:ext cx="592322" cy="507705"/>
          </a:xfrm>
          <a:prstGeom prst="rect">
            <a:avLst/>
          </a:prstGeom>
        </p:spPr>
      </p:pic>
      <p:pic>
        <p:nvPicPr>
          <p:cNvPr id="130" name="图片 15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50392" y="5466132"/>
            <a:ext cx="627085" cy="421661"/>
          </a:xfrm>
          <a:prstGeom prst="rect">
            <a:avLst/>
          </a:prstGeom>
        </p:spPr>
      </p:pic>
      <p:pic>
        <p:nvPicPr>
          <p:cNvPr id="131" name="图片 1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34732" y="5439177"/>
            <a:ext cx="558991" cy="483621"/>
          </a:xfrm>
          <a:prstGeom prst="rect">
            <a:avLst/>
          </a:prstGeom>
        </p:spPr>
      </p:pic>
      <p:pic>
        <p:nvPicPr>
          <p:cNvPr id="132" name="图片 1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8361" y="5427808"/>
            <a:ext cx="444516" cy="479154"/>
          </a:xfrm>
          <a:prstGeom prst="rect">
            <a:avLst/>
          </a:prstGeom>
        </p:spPr>
      </p:pic>
      <p:sp>
        <p:nvSpPr>
          <p:cNvPr id="156" name="AutoShape 2"/>
          <p:cNvSpPr>
            <a:spLocks noGrp="1"/>
          </p:cNvSpPr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>
            <a:endParaRPr/>
          </a:p>
        </p:txBody>
      </p:sp>
      <p:pic>
        <p:nvPicPr>
          <p:cNvPr id="157" name="图片 15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76053" y="4195256"/>
            <a:ext cx="591520" cy="551642"/>
          </a:xfrm>
          <a:prstGeom prst="rect">
            <a:avLst/>
          </a:prstGeom>
        </p:spPr>
      </p:pic>
      <p:pic>
        <p:nvPicPr>
          <p:cNvPr id="158" name="图片 159"/>
          <p:cNvPicPr>
            <a:picLocks noChangeAspect="1"/>
          </p:cNvPicPr>
          <p:nvPr/>
        </p:nvPicPr>
        <p:blipFill>
          <a:blip r:embed="rId23"/>
          <a:srcRect r="12001"/>
          <a:stretch>
            <a:fillRect/>
          </a:stretch>
        </p:blipFill>
        <p:spPr>
          <a:xfrm>
            <a:off x="7508088" y="4220718"/>
            <a:ext cx="534640" cy="515769"/>
          </a:xfrm>
          <a:prstGeom prst="rect">
            <a:avLst/>
          </a:prstGeom>
        </p:spPr>
      </p:pic>
      <p:pic>
        <p:nvPicPr>
          <p:cNvPr id="159" name="图片 16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39353" y="1792845"/>
            <a:ext cx="798172" cy="582000"/>
          </a:xfrm>
          <a:prstGeom prst="rect">
            <a:avLst/>
          </a:prstGeom>
        </p:spPr>
      </p:pic>
      <p:pic>
        <p:nvPicPr>
          <p:cNvPr id="160" name="图片 1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8617" y="2849605"/>
            <a:ext cx="600283" cy="495582"/>
          </a:xfrm>
          <a:prstGeom prst="rect">
            <a:avLst/>
          </a:prstGeom>
        </p:spPr>
      </p:pic>
      <p:pic>
        <p:nvPicPr>
          <p:cNvPr id="161" name="图片 16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282007" y="3957011"/>
            <a:ext cx="519209" cy="396385"/>
          </a:xfrm>
          <a:prstGeom prst="rect">
            <a:avLst/>
          </a:prstGeom>
        </p:spPr>
      </p:pic>
      <p:pic>
        <p:nvPicPr>
          <p:cNvPr id="162" name="图片 16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99922" y="4848663"/>
            <a:ext cx="443952" cy="419288"/>
          </a:xfrm>
          <a:prstGeom prst="rect">
            <a:avLst/>
          </a:prstGeom>
        </p:spPr>
      </p:pic>
      <p:sp>
        <p:nvSpPr>
          <p:cNvPr id="168" name="直角三角形 16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9" name="直角三角形 16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0" name="直角三角形 16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1" name="直角三角形 17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2" name="直角三角形 17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3" name="直角三角形 17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4" name="直角三角形 17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5" name="直角三角形 17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461C5086-6E16-4146-9990-0FBDBEE9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881" y="3736735"/>
            <a:ext cx="2712262" cy="161019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AA9E9720-12D5-44A1-8A16-610FEBD225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69"/>
          <a:stretch/>
        </p:blipFill>
        <p:spPr>
          <a:xfrm>
            <a:off x="8783616" y="3896108"/>
            <a:ext cx="2226825" cy="1349253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84B7091-456A-4E04-85F4-CE7CDDAF2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210" y="1623473"/>
            <a:ext cx="2737231" cy="1506132"/>
          </a:xfrm>
          <a:prstGeom prst="rect">
            <a:avLst/>
          </a:prstGeom>
        </p:spPr>
      </p:pic>
      <p:pic>
        <p:nvPicPr>
          <p:cNvPr id="2" name="图片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0894" y="1546839"/>
            <a:ext cx="2762073" cy="1662939"/>
          </a:xfrm>
          <a:prstGeom prst="rect">
            <a:avLst/>
          </a:prstGeom>
        </p:spPr>
      </p:pic>
      <p:sp>
        <p:nvSpPr>
          <p:cNvPr id="6" name="TextBox 5"/>
          <p:cNvSpPr>
            <a:spLocks noGrp="1"/>
          </p:cNvSpPr>
          <p:nvPr/>
        </p:nvSpPr>
        <p:spPr>
          <a:xfrm>
            <a:off x="3135424" y="182199"/>
            <a:ext cx="5979180" cy="6413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向量检索的查询类型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302093" y="932862"/>
            <a:ext cx="3937509" cy="27694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不同任务对应不同的相似性查询形式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2078130" y="1071333"/>
            <a:ext cx="1968754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494811" y="1056758"/>
            <a:ext cx="1806990" cy="0"/>
          </a:xfrm>
          <a:prstGeom prst="line">
            <a:avLst/>
          </a:prstGeom>
          <a:ln w="17780">
            <a:solidFill>
              <a:srgbClr val="005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041671" y="1034893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10301801" y="1034892"/>
            <a:ext cx="72916" cy="7287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875002" y="141386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6161472" y="141386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75002" y="3556539"/>
            <a:ext cx="5104178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6161472" y="3556539"/>
            <a:ext cx="4848969" cy="1938605"/>
          </a:xfrm>
          <a:prstGeom prst="roundRect">
            <a:avLst/>
          </a:prstGeom>
          <a:noFill/>
          <a:ln w="15240">
            <a:solidFill>
              <a:srgbClr val="0053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962502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1050002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6285431" y="1603357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6372931" y="1632509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962502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50002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22" name="Oval 21"/>
          <p:cNvSpPr>
            <a:spLocks noGrp="1"/>
          </p:cNvSpPr>
          <p:nvPr/>
        </p:nvSpPr>
        <p:spPr>
          <a:xfrm>
            <a:off x="6285431" y="3818906"/>
            <a:ext cx="408334" cy="408127"/>
          </a:xfrm>
          <a:prstGeom prst="ellipse">
            <a:avLst/>
          </a:prstGeom>
          <a:solidFill>
            <a:srgbClr val="0048DA"/>
          </a:solidFill>
          <a:ln>
            <a:solidFill>
              <a:srgbClr val="004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6372931" y="3848058"/>
            <a:ext cx="233333" cy="349823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1503634" y="1537910"/>
            <a:ext cx="1895837" cy="62272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Top-K Search</a:t>
            </a:r>
            <a:endParaRPr lang="en-US"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r>
              <a:rPr lang="en-US" sz="2000" b="1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 </a:t>
            </a:r>
            <a:r>
              <a:rPr lang="en-US" altLang="zh-CN"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kNN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1011619" y="2219069"/>
            <a:ext cx="1895837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返回最相似的 K 个结果</a:t>
            </a:r>
          </a:p>
        </p:txBody>
      </p:sp>
      <p:sp>
        <p:nvSpPr>
          <p:cNvPr id="26" name="TextBox 25"/>
          <p:cNvSpPr>
            <a:spLocks noGrp="1"/>
          </p:cNvSpPr>
          <p:nvPr/>
        </p:nvSpPr>
        <p:spPr>
          <a:xfrm>
            <a:off x="6811733" y="1603357"/>
            <a:ext cx="1895837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6291500" y="2185984"/>
            <a:ext cx="2203311" cy="230793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i="0" u="none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返回距离阈值内的对象</a:t>
            </a:r>
          </a:p>
        </p:txBody>
      </p:sp>
      <p:sp>
        <p:nvSpPr>
          <p:cNvPr id="28" name="TextBox 27"/>
          <p:cNvSpPr>
            <a:spLocks noGrp="1"/>
          </p:cNvSpPr>
          <p:nvPr/>
        </p:nvSpPr>
        <p:spPr>
          <a:xfrm>
            <a:off x="6795915" y="1639001"/>
            <a:ext cx="2041671" cy="32795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 Search</a:t>
            </a: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1130210" y="4584145"/>
            <a:ext cx="2041671" cy="2623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i="0" u="none">
              <a:solidFill>
                <a:srgbClr val="3232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795915" y="3869921"/>
            <a:ext cx="1994344" cy="65591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Hybrid Search</a:t>
            </a:r>
          </a:p>
        </p:txBody>
      </p:sp>
      <p:sp>
        <p:nvSpPr>
          <p:cNvPr id="32" name="TextBox 31"/>
          <p:cNvSpPr>
            <a:spLocks noGrp="1"/>
          </p:cNvSpPr>
          <p:nvPr/>
        </p:nvSpPr>
        <p:spPr>
          <a:xfrm>
            <a:off x="1035854" y="4334150"/>
            <a:ext cx="2661609" cy="334746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zh-CN" altLang="en-US" sz="1600" b="1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</a:rPr>
              <a:t>相似检索与条件过滤结合</a:t>
            </a:r>
            <a:endParaRPr sz="1600" b="1">
              <a:solidFill>
                <a:srgbClr val="3232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2743200" y="5837121"/>
            <a:ext cx="6636378" cy="740131"/>
          </a:xfrm>
          <a:prstGeom prst="roundRect">
            <a:avLst/>
          </a:prstGeom>
          <a:noFill/>
          <a:ln w="127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1756599" y="5894444"/>
            <a:ext cx="8740912" cy="60290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>
              <a:buNone/>
            </a:pP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RAG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中最常见的场景</a:t>
            </a:r>
            <a:r>
              <a:rPr lang="en-US" altLang="zh-CN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: 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给定</a:t>
            </a: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query vector，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先进行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Top-K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召回，</a:t>
            </a:r>
            <a:endParaRPr lang="en-US" altLang="zh-CN" b="1" i="0" u="none">
              <a:solidFill>
                <a:schemeClr val="tx1">
                  <a:lumMod val="95000"/>
                  <a:lumOff val="5000"/>
                </a:schemeClr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  <a:p>
            <a:pPr algn="ctr">
              <a:buNone/>
            </a:pP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再叠加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Filter</a:t>
            </a:r>
            <a:r>
              <a:rPr 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、 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Hybrid Search</a:t>
            </a:r>
            <a:r>
              <a:rPr lang="en-US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zh-CN" altLang="en-US" b="1" i="0" u="none">
                <a:solidFill>
                  <a:schemeClr val="tx1">
                    <a:lumMod val="95000"/>
                    <a:lumOff val="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与 </a:t>
            </a:r>
            <a:r>
              <a:rPr lang="en-US" sz="2000" b="1" i="0" u="none">
                <a:solidFill>
                  <a:srgbClr val="FF66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Rerank.</a:t>
            </a:r>
            <a:endParaRPr b="1" i="0" u="none">
              <a:solidFill>
                <a:srgbClr val="FF66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3" name="直角三角形 52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直角三角形 53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直角三角形 54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直角三角形 55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直角三角形 56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直角三角形 57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直角三角形 58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直角三角形 59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6EB2D0-1633-42D2-B152-1C9FBE3B9F6B}"/>
              </a:ext>
            </a:extLst>
          </p:cNvPr>
          <p:cNvSpPr txBox="1"/>
          <p:nvPr/>
        </p:nvSpPr>
        <p:spPr>
          <a:xfrm>
            <a:off x="938095" y="2467277"/>
            <a:ext cx="2280068" cy="85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query vector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为中心，按照相似度排序，返回最相关的 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Top-K 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结果。这是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中最常见的召回方式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7BF77D6-1693-4E89-A65B-F218A321DEA7}"/>
              </a:ext>
            </a:extLst>
          </p:cNvPr>
          <p:cNvSpPr txBox="1"/>
          <p:nvPr/>
        </p:nvSpPr>
        <p:spPr>
          <a:xfrm>
            <a:off x="6246222" y="2461036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不固定返回数量，而是找出距离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query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小于给定阀值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的所有对象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适合“足够相似才返回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的场景。</a:t>
            </a:r>
          </a:p>
        </p:txBody>
      </p:sp>
      <p:sp>
        <p:nvSpPr>
          <p:cNvPr id="50" name="TextBox 29">
            <a:extLst>
              <a:ext uri="{FF2B5EF4-FFF2-40B4-BE49-F238E27FC236}">
                <a16:creationId xmlns:a16="http://schemas.microsoft.com/office/drawing/2014/main" id="{0DF9CAF0-763D-4883-B8DF-CB86CD659168}"/>
              </a:ext>
            </a:extLst>
          </p:cNvPr>
          <p:cNvSpPr>
            <a:spLocks noGrp="1"/>
          </p:cNvSpPr>
          <p:nvPr/>
        </p:nvSpPr>
        <p:spPr>
          <a:xfrm>
            <a:off x="1462101" y="3854470"/>
            <a:ext cx="1994344" cy="37476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buNone/>
            </a:pPr>
            <a:r>
              <a:rPr sz="2000" b="1" i="0" u="none">
                <a:solidFill>
                  <a:srgbClr val="0055DC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Filtered Search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>
              <a:solidFill>
                <a:srgbClr val="0055DC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E8DC3EB-DE92-4D56-9CC7-0DF0BBC31FA1}"/>
              </a:ext>
            </a:extLst>
          </p:cNvPr>
          <p:cNvSpPr txBox="1"/>
          <p:nvPr/>
        </p:nvSpPr>
        <p:spPr>
          <a:xfrm>
            <a:off x="966628" y="4610721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在向量相似性检索基础上再加入</a:t>
            </a:r>
            <a:r>
              <a:rPr lang="en-US" altLang="zh-CN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metadata</a:t>
            </a: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条件例如时间、来源、标签或权限限制。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487A4B1-3AA1-498F-A81E-221CCD965A03}"/>
              </a:ext>
            </a:extLst>
          </p:cNvPr>
          <p:cNvSpPr txBox="1"/>
          <p:nvPr/>
        </p:nvSpPr>
        <p:spPr>
          <a:xfrm>
            <a:off x="6264773" y="4282805"/>
            <a:ext cx="6146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323241"/>
                </a:solidFill>
                <a:latin typeface="微软雅黑" panose="020B0503020204020204" charset="-122"/>
                <a:ea typeface="微软雅黑" panose="020B0503020204020204" charset="-122"/>
              </a:rPr>
              <a:t>向量检索与关键词检索结合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4C1B8CE-1FA8-4F3E-B191-B8B0188FBD1C}"/>
              </a:ext>
            </a:extLst>
          </p:cNvPr>
          <p:cNvSpPr txBox="1"/>
          <p:nvPr/>
        </p:nvSpPr>
        <p:spPr>
          <a:xfrm>
            <a:off x="6272926" y="4673683"/>
            <a:ext cx="2280068" cy="657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spc="5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同时考虑语义相似度和关键词匹配，兼顾召回能力与精确匹配能力，常用于真实检索系统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04088" y="166225"/>
            <a:ext cx="1095451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>
                <a:solidFill>
                  <a:srgbClr val="001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相似度如何度量？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210716" y="883955"/>
            <a:ext cx="3770263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向量检索中的三种常见度量方式</a:t>
            </a:r>
          </a:p>
        </p:txBody>
      </p:sp>
      <p:sp>
        <p:nvSpPr>
          <p:cNvPr id="8" name="Connector 7"/>
          <p:cNvSpPr>
            <a:spLocks noGrp="1"/>
          </p:cNvSpPr>
          <p:nvPr/>
        </p:nvSpPr>
        <p:spPr>
          <a:xfrm>
            <a:off x="3013710" y="951930"/>
            <a:ext cx="1069848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8028431" y="950976"/>
            <a:ext cx="960121" cy="0"/>
          </a:xfrm>
          <a:prstGeom prst="line">
            <a:avLst/>
          </a:prstGeom>
          <a:ln w="1524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Oval 9"/>
          <p:cNvSpPr>
            <a:spLocks noGrp="1"/>
          </p:cNvSpPr>
          <p:nvPr/>
        </p:nvSpPr>
        <p:spPr>
          <a:xfrm>
            <a:off x="2977134" y="915354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Oval 10"/>
          <p:cNvSpPr>
            <a:spLocks noGrp="1"/>
          </p:cNvSpPr>
          <p:nvPr/>
        </p:nvSpPr>
        <p:spPr>
          <a:xfrm>
            <a:off x="8961120" y="914400"/>
            <a:ext cx="73152" cy="73152"/>
          </a:xfrm>
          <a:prstGeom prst="ellipse">
            <a:avLst/>
          </a:prstGeom>
          <a:solidFill>
            <a:srgbClr val="045EEA"/>
          </a:solidFill>
          <a:ln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704088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04088" y="1252728"/>
            <a:ext cx="3438144" cy="530352"/>
          </a:xfrm>
          <a:prstGeom prst="rect">
            <a:avLst/>
          </a:prstGeom>
          <a:solidFill>
            <a:srgbClr val="F3F8FF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Connector 13"/>
          <p:cNvSpPr>
            <a:spLocks noGrp="1"/>
          </p:cNvSpPr>
          <p:nvPr/>
        </p:nvSpPr>
        <p:spPr>
          <a:xfrm>
            <a:off x="704088" y="1783080"/>
            <a:ext cx="3438143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Connector 14"/>
          <p:cNvSpPr>
            <a:spLocks noGrp="1"/>
          </p:cNvSpPr>
          <p:nvPr/>
        </p:nvSpPr>
        <p:spPr>
          <a:xfrm>
            <a:off x="768096" y="2339445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6" name="Connector 15"/>
          <p:cNvSpPr>
            <a:spLocks noGrp="1"/>
          </p:cNvSpPr>
          <p:nvPr/>
        </p:nvSpPr>
        <p:spPr>
          <a:xfrm>
            <a:off x="740664" y="2944889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705612" y="3534918"/>
            <a:ext cx="3438143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Connector 17"/>
          <p:cNvSpPr>
            <a:spLocks noGrp="1"/>
          </p:cNvSpPr>
          <p:nvPr/>
        </p:nvSpPr>
        <p:spPr>
          <a:xfrm>
            <a:off x="1600200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242816" y="1264883"/>
            <a:ext cx="3438144" cy="3414318"/>
          </a:xfrm>
          <a:prstGeom prst="roundRect">
            <a:avLst>
              <a:gd name="adj" fmla="val 6735"/>
            </a:avLst>
          </a:prstGeom>
          <a:solidFill>
            <a:srgbClr val="FFFFFF"/>
          </a:solidFill>
          <a:ln w="1270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Rectangle 19"/>
          <p:cNvSpPr>
            <a:spLocks noGrp="1"/>
          </p:cNvSpPr>
          <p:nvPr/>
        </p:nvSpPr>
        <p:spPr>
          <a:xfrm>
            <a:off x="4242816" y="1252728"/>
            <a:ext cx="3438144" cy="530352"/>
          </a:xfrm>
          <a:prstGeom prst="rect">
            <a:avLst/>
          </a:prstGeom>
          <a:solidFill>
            <a:srgbClr val="F1FCF8"/>
          </a:solidFill>
          <a:ln w="8890">
            <a:solidFill>
              <a:srgbClr val="0B8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Connector 20"/>
          <p:cNvSpPr>
            <a:spLocks noGrp="1"/>
          </p:cNvSpPr>
          <p:nvPr/>
        </p:nvSpPr>
        <p:spPr>
          <a:xfrm>
            <a:off x="4242816" y="1783080"/>
            <a:ext cx="3438143" cy="0"/>
          </a:xfrm>
          <a:prstGeom prst="line">
            <a:avLst/>
          </a:prstGeom>
          <a:ln w="8890">
            <a:solidFill>
              <a:srgbClr val="0B8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Connector 21"/>
          <p:cNvSpPr>
            <a:spLocks noGrp="1"/>
          </p:cNvSpPr>
          <p:nvPr/>
        </p:nvSpPr>
        <p:spPr>
          <a:xfrm>
            <a:off x="4267741" y="233944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Connector 22"/>
          <p:cNvSpPr>
            <a:spLocks noGrp="1"/>
          </p:cNvSpPr>
          <p:nvPr/>
        </p:nvSpPr>
        <p:spPr>
          <a:xfrm>
            <a:off x="4242816" y="2919565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Connector 23"/>
          <p:cNvSpPr>
            <a:spLocks noGrp="1"/>
          </p:cNvSpPr>
          <p:nvPr/>
        </p:nvSpPr>
        <p:spPr>
          <a:xfrm>
            <a:off x="4259791" y="3578961"/>
            <a:ext cx="3438143" cy="0"/>
          </a:xfrm>
          <a:prstGeom prst="line">
            <a:avLst/>
          </a:prstGeom>
          <a:ln w="7620">
            <a:solidFill>
              <a:srgbClr val="B5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5" name="Connector 24"/>
          <p:cNvSpPr>
            <a:spLocks noGrp="1"/>
          </p:cNvSpPr>
          <p:nvPr/>
        </p:nvSpPr>
        <p:spPr>
          <a:xfrm>
            <a:off x="5138927" y="1783080"/>
            <a:ext cx="0" cy="2907792"/>
          </a:xfrm>
          <a:prstGeom prst="line">
            <a:avLst/>
          </a:prstGeom>
          <a:ln w="7620">
            <a:solidFill>
              <a:srgbClr val="BFE9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7872983" y="1252728"/>
            <a:ext cx="3438144" cy="3438144"/>
          </a:xfrm>
          <a:prstGeom prst="roundRect">
            <a:avLst>
              <a:gd name="adj" fmla="val 7241"/>
            </a:avLst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Rectangle 26"/>
          <p:cNvSpPr>
            <a:spLocks noGrp="1"/>
          </p:cNvSpPr>
          <p:nvPr/>
        </p:nvSpPr>
        <p:spPr>
          <a:xfrm>
            <a:off x="7872983" y="1252728"/>
            <a:ext cx="3438144" cy="530352"/>
          </a:xfrm>
          <a:prstGeom prst="rect">
            <a:avLst/>
          </a:prstGeom>
          <a:solidFill>
            <a:srgbClr val="F1F7FD"/>
          </a:solidFill>
          <a:ln w="889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Connector 27"/>
          <p:cNvSpPr>
            <a:spLocks noGrp="1"/>
          </p:cNvSpPr>
          <p:nvPr/>
        </p:nvSpPr>
        <p:spPr>
          <a:xfrm>
            <a:off x="7872983" y="1783080"/>
            <a:ext cx="3438145" cy="0"/>
          </a:xfrm>
          <a:prstGeom prst="line">
            <a:avLst/>
          </a:prstGeom>
          <a:ln w="889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Connector 28"/>
          <p:cNvSpPr>
            <a:spLocks noGrp="1"/>
          </p:cNvSpPr>
          <p:nvPr/>
        </p:nvSpPr>
        <p:spPr>
          <a:xfrm>
            <a:off x="7891271" y="2409254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0" name="Connector 29"/>
          <p:cNvSpPr>
            <a:spLocks noGrp="1"/>
          </p:cNvSpPr>
          <p:nvPr/>
        </p:nvSpPr>
        <p:spPr>
          <a:xfrm>
            <a:off x="7891270" y="2971800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Connector 30"/>
          <p:cNvSpPr>
            <a:spLocks noGrp="1"/>
          </p:cNvSpPr>
          <p:nvPr/>
        </p:nvSpPr>
        <p:spPr>
          <a:xfrm>
            <a:off x="7891269" y="3534918"/>
            <a:ext cx="3438145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Connector 31"/>
          <p:cNvSpPr>
            <a:spLocks noGrp="1"/>
          </p:cNvSpPr>
          <p:nvPr/>
        </p:nvSpPr>
        <p:spPr>
          <a:xfrm>
            <a:off x="8769096" y="1783080"/>
            <a:ext cx="0" cy="2907792"/>
          </a:xfrm>
          <a:prstGeom prst="line">
            <a:avLst/>
          </a:prstGeom>
          <a:ln w="7620">
            <a:solidFill>
              <a:srgbClr val="C7D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80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71" y="1297262"/>
            <a:ext cx="481263" cy="393551"/>
          </a:xfrm>
          <a:prstGeom prst="rect">
            <a:avLst/>
          </a:prstGeom>
        </p:spPr>
      </p:pic>
      <p:pic>
        <p:nvPicPr>
          <p:cNvPr id="181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540" y="1304550"/>
            <a:ext cx="459387" cy="393551"/>
          </a:xfrm>
          <a:prstGeom prst="rect">
            <a:avLst/>
          </a:prstGeom>
        </p:spPr>
      </p:pic>
      <p:sp>
        <p:nvSpPr>
          <p:cNvPr id="36" name="TextBox 35"/>
          <p:cNvSpPr>
            <a:spLocks noGrp="1"/>
          </p:cNvSpPr>
          <p:nvPr/>
        </p:nvSpPr>
        <p:spPr>
          <a:xfrm>
            <a:off x="1691640" y="1426464"/>
            <a:ext cx="2011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Cosine Similarity</a:t>
            </a:r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5148072" y="1426464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 u="none">
                <a:solidFill>
                  <a:srgbClr val="0B8C8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Euclidean Distance (L2)</a:t>
            </a:r>
          </a:p>
        </p:txBody>
      </p:sp>
      <p:sp>
        <p:nvSpPr>
          <p:cNvPr id="38" name="TextBox 37"/>
          <p:cNvSpPr>
            <a:spLocks noGrp="1"/>
          </p:cNvSpPr>
          <p:nvPr/>
        </p:nvSpPr>
        <p:spPr>
          <a:xfrm>
            <a:off x="9034272" y="1426464"/>
            <a:ext cx="16459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>
                <a:solidFill>
                  <a:srgbClr val="045EE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Inner Product</a:t>
            </a:r>
          </a:p>
        </p:txBody>
      </p:sp>
      <p:sp>
        <p:nvSpPr>
          <p:cNvPr id="48" name="TextBox 47"/>
          <p:cNvSpPr>
            <a:spLocks noGrp="1"/>
          </p:cNvSpPr>
          <p:nvPr/>
        </p:nvSpPr>
        <p:spPr>
          <a:xfrm>
            <a:off x="1150998" y="199390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1152429" y="2586647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989077" y="3187042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51" name="TextBox 50"/>
          <p:cNvSpPr>
            <a:spLocks noGrp="1"/>
          </p:cNvSpPr>
          <p:nvPr/>
        </p:nvSpPr>
        <p:spPr>
          <a:xfrm>
            <a:off x="843281" y="4034476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sp>
        <p:nvSpPr>
          <p:cNvPr id="52" name="TextBox 51"/>
          <p:cNvSpPr>
            <a:spLocks noGrp="1"/>
          </p:cNvSpPr>
          <p:nvPr/>
        </p:nvSpPr>
        <p:spPr>
          <a:xfrm>
            <a:off x="4654296" y="200549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53" name="TextBox 52"/>
          <p:cNvSpPr>
            <a:spLocks noGrp="1"/>
          </p:cNvSpPr>
          <p:nvPr/>
        </p:nvSpPr>
        <p:spPr>
          <a:xfrm>
            <a:off x="4674281" y="2585150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4562570" y="3172684"/>
            <a:ext cx="551433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4352544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sp>
        <p:nvSpPr>
          <p:cNvPr id="60" name="TextBox 59"/>
          <p:cNvSpPr>
            <a:spLocks noGrp="1"/>
          </p:cNvSpPr>
          <p:nvPr/>
        </p:nvSpPr>
        <p:spPr>
          <a:xfrm>
            <a:off x="1719072" y="1883664"/>
            <a:ext cx="2000548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衡量两个向量夹角的余弦值，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只关注方向，不受长度影响。</a:t>
            </a:r>
          </a:p>
        </p:txBody>
      </p:sp>
      <p:sp>
        <p:nvSpPr>
          <p:cNvPr id="61" name="TextBox 60"/>
          <p:cNvSpPr>
            <a:spLocks noGrp="1"/>
          </p:cNvSpPr>
          <p:nvPr/>
        </p:nvSpPr>
        <p:spPr>
          <a:xfrm>
            <a:off x="5239512" y="1883664"/>
            <a:ext cx="2410916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衡量两个向量在空间中的直线距离，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关注绝对位置差异。</a:t>
            </a:r>
          </a:p>
        </p:txBody>
      </p:sp>
      <p:sp>
        <p:nvSpPr>
          <p:cNvPr id="62" name="TextBox 61"/>
          <p:cNvSpPr>
            <a:spLocks noGrp="1"/>
          </p:cNvSpPr>
          <p:nvPr/>
        </p:nvSpPr>
        <p:spPr>
          <a:xfrm>
            <a:off x="8853364" y="1912527"/>
            <a:ext cx="2154436" cy="3795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衡量两个向量的点积，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5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同时考虑方向与长度（幅值）。</a:t>
            </a:r>
          </a:p>
        </p:txBody>
      </p:sp>
      <p:sp>
        <p:nvSpPr>
          <p:cNvPr id="66" name="TextBox 65"/>
          <p:cNvSpPr>
            <a:spLocks noGrp="1"/>
          </p:cNvSpPr>
          <p:nvPr/>
        </p:nvSpPr>
        <p:spPr>
          <a:xfrm>
            <a:off x="1664122" y="3092320"/>
            <a:ext cx="2308324" cy="3549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7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余弦相似度关注方向夹角，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7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夹角越小（越接近），相似度越高。</a:t>
            </a:r>
          </a:p>
        </p:txBody>
      </p:sp>
      <p:sp>
        <p:nvSpPr>
          <p:cNvPr id="67" name="TextBox 66"/>
          <p:cNvSpPr>
            <a:spLocks noGrp="1"/>
          </p:cNvSpPr>
          <p:nvPr/>
        </p:nvSpPr>
        <p:spPr>
          <a:xfrm>
            <a:off x="5294876" y="3075702"/>
            <a:ext cx="1577355" cy="37035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距离关注空间距离，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2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距离越小，越相似。</a:t>
            </a:r>
          </a:p>
        </p:txBody>
      </p:sp>
      <p:sp>
        <p:nvSpPr>
          <p:cNvPr id="68" name="TextBox 67"/>
          <p:cNvSpPr>
            <a:spLocks noGrp="1"/>
          </p:cNvSpPr>
          <p:nvPr/>
        </p:nvSpPr>
        <p:spPr>
          <a:xfrm>
            <a:off x="8869680" y="3090672"/>
            <a:ext cx="2164054" cy="35804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8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内积兼顾方向与长度，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80" b="0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方向一致且长度越大，得分越高。</a:t>
            </a:r>
          </a:p>
        </p:txBody>
      </p:sp>
      <p:sp>
        <p:nvSpPr>
          <p:cNvPr id="72" name="Rounded Rectangle 71"/>
          <p:cNvSpPr>
            <a:spLocks noGrp="1"/>
          </p:cNvSpPr>
          <p:nvPr/>
        </p:nvSpPr>
        <p:spPr>
          <a:xfrm>
            <a:off x="813816" y="4855464"/>
            <a:ext cx="10515600" cy="1655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45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Connector 72"/>
          <p:cNvSpPr>
            <a:spLocks noGrp="1"/>
          </p:cNvSpPr>
          <p:nvPr/>
        </p:nvSpPr>
        <p:spPr>
          <a:xfrm>
            <a:off x="832104" y="5230368"/>
            <a:ext cx="10396728" cy="0"/>
          </a:xfrm>
          <a:prstGeom prst="line">
            <a:avLst/>
          </a:prstGeom>
          <a:ln w="10160">
            <a:solidFill>
              <a:srgbClr val="045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5" name="TextBox 74"/>
          <p:cNvSpPr>
            <a:spLocks noGrp="1"/>
          </p:cNvSpPr>
          <p:nvPr/>
        </p:nvSpPr>
        <p:spPr>
          <a:xfrm>
            <a:off x="2290856" y="4915482"/>
            <a:ext cx="778097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>
                <a:solidFill>
                  <a:srgbClr val="001A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embedding 检索中，选择何种度量方式，往往与向量是否归一化及模型训练目标有关</a:t>
            </a:r>
          </a:p>
        </p:txBody>
      </p:sp>
      <p:sp>
        <p:nvSpPr>
          <p:cNvPr id="76" name="Connector 75"/>
          <p:cNvSpPr>
            <a:spLocks noGrp="1"/>
          </p:cNvSpPr>
          <p:nvPr/>
        </p:nvSpPr>
        <p:spPr>
          <a:xfrm>
            <a:off x="2679191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7" name="Connector 76"/>
          <p:cNvSpPr>
            <a:spLocks noGrp="1"/>
          </p:cNvSpPr>
          <p:nvPr/>
        </p:nvSpPr>
        <p:spPr>
          <a:xfrm>
            <a:off x="546811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8" name="Connector 77"/>
          <p:cNvSpPr>
            <a:spLocks noGrp="1"/>
          </p:cNvSpPr>
          <p:nvPr/>
        </p:nvSpPr>
        <p:spPr>
          <a:xfrm>
            <a:off x="7936992" y="5239512"/>
            <a:ext cx="0" cy="1197864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79" name="Connector 78"/>
          <p:cNvSpPr>
            <a:spLocks noGrp="1"/>
          </p:cNvSpPr>
          <p:nvPr/>
        </p:nvSpPr>
        <p:spPr>
          <a:xfrm>
            <a:off x="896112" y="5532120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0" name="Connector 79"/>
          <p:cNvSpPr>
            <a:spLocks noGrp="1"/>
          </p:cNvSpPr>
          <p:nvPr/>
        </p:nvSpPr>
        <p:spPr>
          <a:xfrm>
            <a:off x="896112" y="5824728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1" name="Connector 80"/>
          <p:cNvSpPr>
            <a:spLocks noGrp="1"/>
          </p:cNvSpPr>
          <p:nvPr/>
        </p:nvSpPr>
        <p:spPr>
          <a:xfrm>
            <a:off x="896112" y="6117336"/>
            <a:ext cx="10058400" cy="0"/>
          </a:xfrm>
          <a:prstGeom prst="line">
            <a:avLst/>
          </a:prstGeom>
          <a:ln w="7620">
            <a:solidFill>
              <a:srgbClr val="B7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82" name="TextBox 81"/>
          <p:cNvSpPr>
            <a:spLocks noGrp="1"/>
          </p:cNvSpPr>
          <p:nvPr/>
        </p:nvSpPr>
        <p:spPr>
          <a:xfrm>
            <a:off x="1505523" y="5308872"/>
            <a:ext cx="564257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度量方式</a:t>
            </a:r>
          </a:p>
        </p:txBody>
      </p:sp>
      <p:sp>
        <p:nvSpPr>
          <p:cNvPr id="83" name="TextBox 82"/>
          <p:cNvSpPr>
            <a:spLocks noGrp="1"/>
          </p:cNvSpPr>
          <p:nvPr/>
        </p:nvSpPr>
        <p:spPr>
          <a:xfrm>
            <a:off x="3562293" y="5308872"/>
            <a:ext cx="1022716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适用场景 / 特点</a:t>
            </a:r>
          </a:p>
        </p:txBody>
      </p:sp>
      <p:sp>
        <p:nvSpPr>
          <p:cNvPr id="84" name="TextBox 83"/>
          <p:cNvSpPr>
            <a:spLocks noGrp="1"/>
          </p:cNvSpPr>
          <p:nvPr/>
        </p:nvSpPr>
        <p:spPr>
          <a:xfrm>
            <a:off x="6067763" y="5308872"/>
            <a:ext cx="1269578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B8C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是否需要向量归一化</a:t>
            </a:r>
          </a:p>
        </p:txBody>
      </p:sp>
      <p:sp>
        <p:nvSpPr>
          <p:cNvPr id="85" name="TextBox 84"/>
          <p:cNvSpPr>
            <a:spLocks noGrp="1"/>
          </p:cNvSpPr>
          <p:nvPr/>
        </p:nvSpPr>
        <p:spPr>
          <a:xfrm>
            <a:off x="8652265" y="5308872"/>
            <a:ext cx="158697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常见训练目标 / 模型倾向</a:t>
            </a:r>
          </a:p>
        </p:txBody>
      </p:sp>
      <p:sp>
        <p:nvSpPr>
          <p:cNvPr id="86" name="TextBox 85"/>
          <p:cNvSpPr>
            <a:spLocks noGrp="1"/>
          </p:cNvSpPr>
          <p:nvPr/>
        </p:nvSpPr>
        <p:spPr>
          <a:xfrm>
            <a:off x="1216983" y="5602930"/>
            <a:ext cx="1141338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Cosine Similarity</a:t>
            </a:r>
          </a:p>
        </p:txBody>
      </p:sp>
      <p:sp>
        <p:nvSpPr>
          <p:cNvPr id="87" name="TextBox 86"/>
          <p:cNvSpPr>
            <a:spLocks noGrp="1"/>
          </p:cNvSpPr>
          <p:nvPr/>
        </p:nvSpPr>
        <p:spPr>
          <a:xfrm>
            <a:off x="2798064" y="5610624"/>
            <a:ext cx="24365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关注语义方向，适合语义检索、文本匹配等</a:t>
            </a:r>
          </a:p>
        </p:txBody>
      </p:sp>
      <p:sp>
        <p:nvSpPr>
          <p:cNvPr id="88" name="TextBox 87"/>
          <p:cNvSpPr>
            <a:spLocks noGrp="1"/>
          </p:cNvSpPr>
          <p:nvPr/>
        </p:nvSpPr>
        <p:spPr>
          <a:xfrm>
            <a:off x="6381951" y="5610624"/>
            <a:ext cx="64120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建议归一化</a:t>
            </a:r>
          </a:p>
        </p:txBody>
      </p:sp>
      <p:sp>
        <p:nvSpPr>
          <p:cNvPr id="89" name="TextBox 88"/>
          <p:cNvSpPr>
            <a:spLocks noGrp="1"/>
          </p:cNvSpPr>
          <p:nvPr/>
        </p:nvSpPr>
        <p:spPr>
          <a:xfrm>
            <a:off x="8390976" y="5610624"/>
            <a:ext cx="2109552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对比学习（如 InfoNCE）、角度损失</a:t>
            </a:r>
          </a:p>
        </p:txBody>
      </p:sp>
      <p:sp>
        <p:nvSpPr>
          <p:cNvPr id="90" name="TextBox 89"/>
          <p:cNvSpPr>
            <a:spLocks noGrp="1"/>
          </p:cNvSpPr>
          <p:nvPr/>
        </p:nvSpPr>
        <p:spPr>
          <a:xfrm>
            <a:off x="992563" y="5895538"/>
            <a:ext cx="159017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Euclidean Distance (L2)</a:t>
            </a:r>
          </a:p>
        </p:txBody>
      </p:sp>
      <p:sp>
        <p:nvSpPr>
          <p:cNvPr id="91" name="TextBox 90"/>
          <p:cNvSpPr>
            <a:spLocks noGrp="1"/>
          </p:cNvSpPr>
          <p:nvPr/>
        </p:nvSpPr>
        <p:spPr>
          <a:xfrm>
            <a:off x="2798064" y="5903232"/>
            <a:ext cx="2564805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关注绝对差异，适合需要度量真实距离的任务</a:t>
            </a:r>
          </a:p>
        </p:txBody>
      </p:sp>
      <p:sp>
        <p:nvSpPr>
          <p:cNvPr id="92" name="TextBox 91"/>
          <p:cNvSpPr>
            <a:spLocks noGrp="1"/>
          </p:cNvSpPr>
          <p:nvPr/>
        </p:nvSpPr>
        <p:spPr>
          <a:xfrm>
            <a:off x="5790965" y="5897101"/>
            <a:ext cx="179536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不强制，但受向量尺度影响较大</a:t>
            </a:r>
          </a:p>
        </p:txBody>
      </p:sp>
      <p:sp>
        <p:nvSpPr>
          <p:cNvPr id="93" name="TextBox 92"/>
          <p:cNvSpPr>
            <a:spLocks noGrp="1"/>
          </p:cNvSpPr>
          <p:nvPr/>
        </p:nvSpPr>
        <p:spPr>
          <a:xfrm>
            <a:off x="8062361" y="5903232"/>
            <a:ext cx="276678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回归/重构类目标、度量学习（如 Triplet Loss）</a:t>
            </a:r>
          </a:p>
        </p:txBody>
      </p:sp>
      <p:sp>
        <p:nvSpPr>
          <p:cNvPr id="94" name="TextBox 93"/>
          <p:cNvSpPr>
            <a:spLocks noGrp="1"/>
          </p:cNvSpPr>
          <p:nvPr/>
        </p:nvSpPr>
        <p:spPr>
          <a:xfrm>
            <a:off x="1329192" y="6188146"/>
            <a:ext cx="91691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>
                <a:solidFill>
                  <a:srgbClr val="001A66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Inner Product</a:t>
            </a:r>
          </a:p>
        </p:txBody>
      </p:sp>
      <p:sp>
        <p:nvSpPr>
          <p:cNvPr id="95" name="TextBox 94"/>
          <p:cNvSpPr>
            <a:spLocks noGrp="1"/>
          </p:cNvSpPr>
          <p:nvPr/>
        </p:nvSpPr>
        <p:spPr>
          <a:xfrm>
            <a:off x="2798064" y="6195840"/>
            <a:ext cx="2308324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兼顾方向与长度，适合推荐、排序等场景</a:t>
            </a:r>
          </a:p>
        </p:txBody>
      </p:sp>
      <p:sp>
        <p:nvSpPr>
          <p:cNvPr id="96" name="TextBox 95"/>
          <p:cNvSpPr>
            <a:spLocks noGrp="1"/>
          </p:cNvSpPr>
          <p:nvPr/>
        </p:nvSpPr>
        <p:spPr>
          <a:xfrm>
            <a:off x="5997231" y="6195840"/>
            <a:ext cx="1410643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不强制，长度会影响得分</a:t>
            </a:r>
          </a:p>
        </p:txBody>
      </p:sp>
      <p:sp>
        <p:nvSpPr>
          <p:cNvPr id="97" name="TextBox 96"/>
          <p:cNvSpPr>
            <a:spLocks noGrp="1"/>
          </p:cNvSpPr>
          <p:nvPr/>
        </p:nvSpPr>
        <p:spPr>
          <a:xfrm>
            <a:off x="8129687" y="6195840"/>
            <a:ext cx="2632131" cy="153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点积 Softmax、推荐模型（如矩阵因子分解）</a:t>
            </a:r>
          </a:p>
        </p:txBody>
      </p:sp>
      <p:pic>
        <p:nvPicPr>
          <p:cNvPr id="224" name="图片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766" y="1301029"/>
            <a:ext cx="517330" cy="420331"/>
          </a:xfrm>
          <a:prstGeom prst="rect">
            <a:avLst/>
          </a:prstGeom>
        </p:spPr>
      </p:pic>
      <p:pic>
        <p:nvPicPr>
          <p:cNvPr id="225" name="图片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1639" y="2472388"/>
            <a:ext cx="1865903" cy="450186"/>
          </a:xfrm>
          <a:prstGeom prst="rect">
            <a:avLst/>
          </a:prstGeom>
        </p:spPr>
      </p:pic>
      <p:pic>
        <p:nvPicPr>
          <p:cNvPr id="226" name="图片 10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11" y="1844695"/>
            <a:ext cx="347988" cy="482212"/>
          </a:xfrm>
          <a:prstGeom prst="rect">
            <a:avLst/>
          </a:prstGeom>
        </p:spPr>
      </p:pic>
      <p:pic>
        <p:nvPicPr>
          <p:cNvPr id="227" name="图片 10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559" y="2413444"/>
            <a:ext cx="346293" cy="506121"/>
          </a:xfrm>
          <a:prstGeom prst="rect">
            <a:avLst/>
          </a:prstGeom>
        </p:spPr>
      </p:pic>
      <p:pic>
        <p:nvPicPr>
          <p:cNvPr id="228" name="图片 1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7" y="3075702"/>
            <a:ext cx="237744" cy="322973"/>
          </a:xfrm>
          <a:prstGeom prst="rect">
            <a:avLst/>
          </a:prstGeom>
        </p:spPr>
      </p:pic>
      <p:pic>
        <p:nvPicPr>
          <p:cNvPr id="229" name="图片 10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6320" y="3578961"/>
            <a:ext cx="2332219" cy="1044053"/>
          </a:xfrm>
          <a:prstGeom prst="rect">
            <a:avLst/>
          </a:prstGeom>
        </p:spPr>
      </p:pic>
      <p:sp>
        <p:nvSpPr>
          <p:cNvPr id="118" name="TextBox 47"/>
          <p:cNvSpPr>
            <a:spLocks noGrp="1"/>
          </p:cNvSpPr>
          <p:nvPr/>
        </p:nvSpPr>
        <p:spPr>
          <a:xfrm>
            <a:off x="8378411" y="2019174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</a:p>
        </p:txBody>
      </p:sp>
      <p:sp>
        <p:nvSpPr>
          <p:cNvPr id="119" name="TextBox 48"/>
          <p:cNvSpPr>
            <a:spLocks noGrp="1"/>
          </p:cNvSpPr>
          <p:nvPr/>
        </p:nvSpPr>
        <p:spPr>
          <a:xfrm>
            <a:off x="8379842" y="2611921"/>
            <a:ext cx="307777" cy="1769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</a:p>
        </p:txBody>
      </p:sp>
      <p:sp>
        <p:nvSpPr>
          <p:cNvPr id="120" name="TextBox 49"/>
          <p:cNvSpPr>
            <a:spLocks noGrp="1"/>
          </p:cNvSpPr>
          <p:nvPr/>
        </p:nvSpPr>
        <p:spPr>
          <a:xfrm>
            <a:off x="8169975" y="3212316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直观解释</a:t>
            </a:r>
          </a:p>
        </p:txBody>
      </p:sp>
      <p:sp>
        <p:nvSpPr>
          <p:cNvPr id="121" name="TextBox 50"/>
          <p:cNvSpPr>
            <a:spLocks noGrp="1"/>
          </p:cNvSpPr>
          <p:nvPr/>
        </p:nvSpPr>
        <p:spPr>
          <a:xfrm>
            <a:off x="8014051" y="4054669"/>
            <a:ext cx="689291" cy="15683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20" b="1" i="0" u="none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二维示意图</a:t>
            </a:r>
          </a:p>
        </p:txBody>
      </p:sp>
      <p:pic>
        <p:nvPicPr>
          <p:cNvPr id="234" name="图片 1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9024" y="1869969"/>
            <a:ext cx="347988" cy="482212"/>
          </a:xfrm>
          <a:prstGeom prst="rect">
            <a:avLst/>
          </a:prstGeom>
        </p:spPr>
      </p:pic>
      <p:pic>
        <p:nvPicPr>
          <p:cNvPr id="235" name="图片 1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6972" y="2438718"/>
            <a:ext cx="346293" cy="506121"/>
          </a:xfrm>
          <a:prstGeom prst="rect">
            <a:avLst/>
          </a:prstGeom>
        </p:spPr>
      </p:pic>
      <p:pic>
        <p:nvPicPr>
          <p:cNvPr id="236" name="图片 1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6135" y="3100976"/>
            <a:ext cx="237744" cy="322973"/>
          </a:xfrm>
          <a:prstGeom prst="rect">
            <a:avLst/>
          </a:prstGeom>
        </p:spPr>
      </p:pic>
      <p:pic>
        <p:nvPicPr>
          <p:cNvPr id="237" name="图片 1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5872" y="2447104"/>
            <a:ext cx="1965168" cy="512360"/>
          </a:xfrm>
          <a:prstGeom prst="rect">
            <a:avLst/>
          </a:prstGeom>
        </p:spPr>
      </p:pic>
      <p:pic>
        <p:nvPicPr>
          <p:cNvPr id="238" name="图片 1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3042" y="3659722"/>
            <a:ext cx="2292153" cy="976287"/>
          </a:xfrm>
          <a:prstGeom prst="rect">
            <a:avLst/>
          </a:prstGeom>
        </p:spPr>
      </p:pic>
      <p:pic>
        <p:nvPicPr>
          <p:cNvPr id="239" name="图片 1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5870" y="1861070"/>
            <a:ext cx="349147" cy="416453"/>
          </a:xfrm>
          <a:prstGeom prst="rect">
            <a:avLst/>
          </a:prstGeom>
        </p:spPr>
      </p:pic>
      <p:pic>
        <p:nvPicPr>
          <p:cNvPr id="240" name="图片 1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1890" y="2444413"/>
            <a:ext cx="380514" cy="416028"/>
          </a:xfrm>
          <a:prstGeom prst="rect">
            <a:avLst/>
          </a:prstGeom>
        </p:spPr>
      </p:pic>
      <p:pic>
        <p:nvPicPr>
          <p:cNvPr id="241" name="图片 1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79316" y="3066502"/>
            <a:ext cx="287078" cy="398719"/>
          </a:xfrm>
          <a:prstGeom prst="rect">
            <a:avLst/>
          </a:prstGeom>
        </p:spPr>
      </p:pic>
      <p:pic>
        <p:nvPicPr>
          <p:cNvPr id="242" name="图片 13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87163" y="2370553"/>
            <a:ext cx="1929151" cy="543856"/>
          </a:xfrm>
          <a:prstGeom prst="rect">
            <a:avLst/>
          </a:prstGeom>
        </p:spPr>
      </p:pic>
      <p:pic>
        <p:nvPicPr>
          <p:cNvPr id="243" name="图片 13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94876" y="3690662"/>
            <a:ext cx="2223524" cy="942232"/>
          </a:xfrm>
          <a:prstGeom prst="rect">
            <a:avLst/>
          </a:prstGeom>
        </p:spPr>
      </p:pic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396269" y="212873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为什么不能暴力搜索？Naive Search 的困境</a:t>
            </a:r>
            <a:endParaRPr sz="200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4"/>
            <a:ext cx="1826133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364626" y="932815"/>
            <a:ext cx="1960473" cy="8636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685680" y="817130"/>
            <a:ext cx="4686300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逐个比较虽然直观，但延迟会随规模线性增长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1447800"/>
            <a:ext cx="4686300" cy="4133850"/>
          </a:xfrm>
          <a:prstGeom prst="roundRect">
            <a:avLst>
              <a:gd name="adj" fmla="val 4147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" y="1409700"/>
            <a:ext cx="4686300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1619250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Naive Search：逐个计算距离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66800" y="2095500"/>
            <a:ext cx="2333625" cy="1666875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3335">
            <a:solidFill>
              <a:srgbClr val="D7DFEA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161415" y="2247900"/>
            <a:ext cx="2143760" cy="1371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输入：查询向量 q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 D = {v₁, v₂, …, vₙ}</a:t>
            </a:r>
            <a:endParaRPr sz="120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endParaRPr sz="12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each vᵢ ∈ D: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distance(q, vᵢ)</a:t>
            </a:r>
            <a:endParaRPr sz="120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endParaRPr sz="1200" b="0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None/>
            </a:pPr>
            <a:r>
              <a:rPr sz="1200" b="0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返回距离最小的 Top-K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4000500"/>
            <a:ext cx="3135630" cy="2381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每个查询都要遍历全部向量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>
                <a:spLocks noGrp="1"/>
              </p:cNvSpPr>
              <p:nvPr/>
            </p:nvSpPr>
            <p:spPr>
              <a:xfrm>
                <a:off x="1238250" y="4441825"/>
                <a:ext cx="3382475" cy="361950"/>
              </a:xfrm>
              <a:prstGeom prst="rect">
                <a:avLst/>
              </a:prstGeom>
            </p:spPr>
            <p:txBody>
              <a:bodyPr wrap="square" lIns="38100" tIns="19050" rIns="38100" bIns="19050" anchor="ctr"/>
              <a:lstStyle/>
              <a:p>
                <a:pPr algn="l">
                  <a:defRPr sz="2175" b="1" i="0">
                    <a:solidFill>
                      <a:srgbClr val="071B63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b="1" i="1" smtClean="0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𝑻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(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𝒏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) = 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𝑶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(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𝒏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 · </m:t>
                      </m:r>
                      <m:r>
                        <a:rPr lang="zh-CN" altLang="en-US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𝒅</m:t>
                      </m:r>
                      <m:r>
                        <a:rPr lang="en-US" altLang="zh-CN" sz="3200" b="1" i="1">
                          <a:solidFill>
                            <a:srgbClr val="071B63"/>
                          </a:solidFill>
                          <a:latin typeface="Cambria Math" panose="02040503050406030204" pitchFamily="18" charset="0"/>
                          <a:ea typeface="Arial" panose="020B0604020202020204"/>
                          <a:cs typeface="Arial" panose="020B0604020202020204"/>
                        </a:rPr>
                        <m:t>)</m:t>
                      </m:r>
                    </m:oMath>
                  </m:oMathPara>
                </a14:m>
                <a:endParaRPr sz="3200" b="1" i="0">
                  <a:solidFill>
                    <a:srgbClr val="071B63"/>
                  </a:solidFill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4441825"/>
                <a:ext cx="3382475" cy="361950"/>
              </a:xfrm>
              <a:prstGeom prst="rect">
                <a:avLst/>
              </a:prstGeom>
              <a:blipFill>
                <a:blip r:embed="rId3"/>
                <a:stretch>
                  <a:fillRect b="-186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矩形 26"/>
          <p:cNvSpPr>
            <a:spLocks noGrp="1"/>
          </p:cNvSpPr>
          <p:nvPr/>
        </p:nvSpPr>
        <p:spPr>
          <a:xfrm>
            <a:off x="1285875" y="5036185"/>
            <a:ext cx="271462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n：向量数量   d：向量维度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5791200" y="1447800"/>
            <a:ext cx="5657850" cy="4133850"/>
          </a:xfrm>
          <a:prstGeom prst="roundRect">
            <a:avLst>
              <a:gd name="adj" fmla="val 4147"/>
            </a:avLst>
          </a:prstGeom>
          <a:solidFill>
            <a:srgbClr val="E6E8EB"/>
          </a:solidFill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5753100" y="1409700"/>
            <a:ext cx="5657850" cy="4133850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019800" y="1619250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延迟随数据规模被放大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2750" y="1504950"/>
            <a:ext cx="438150" cy="438150"/>
          </a:xfrm>
          <a:prstGeom prst="rect">
            <a:avLst/>
          </a:prstGeom>
        </p:spPr>
      </p:pic>
      <p:sp>
        <p:nvSpPr>
          <p:cNvPr id="32" name="矩形 31"/>
          <p:cNvSpPr>
            <a:spLocks noGrp="1"/>
          </p:cNvSpPr>
          <p:nvPr/>
        </p:nvSpPr>
        <p:spPr>
          <a:xfrm>
            <a:off x="6115050" y="23812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万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905625" y="2400300"/>
            <a:ext cx="215265" cy="171450"/>
          </a:xfrm>
          <a:prstGeom prst="roundRect">
            <a:avLst>
              <a:gd name="adj" fmla="val 50000"/>
            </a:avLst>
          </a:prstGeom>
          <a:solidFill>
            <a:srgbClr val="00A663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306050" y="23812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 ms</a:t>
            </a: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115050" y="28384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万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6905625" y="2857500"/>
            <a:ext cx="542925" cy="168748"/>
          </a:xfrm>
          <a:prstGeom prst="roundRect">
            <a:avLst>
              <a:gd name="adj" fmla="val 50000"/>
            </a:avLst>
          </a:prstGeom>
          <a:solidFill>
            <a:srgbClr val="0057E7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306050" y="28384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 s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15050" y="3295650"/>
            <a:ext cx="7905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万</a:t>
            </a: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905625" y="3314700"/>
            <a:ext cx="1238915" cy="168748"/>
          </a:xfrm>
          <a:prstGeom prst="roundRect">
            <a:avLst>
              <a:gd name="adj" fmla="val 50000"/>
            </a:avLst>
          </a:prstGeom>
          <a:solidFill>
            <a:srgbClr val="FF6B1A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0306050" y="32956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 s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115050" y="3752850"/>
            <a:ext cx="714375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亿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905625" y="3771900"/>
            <a:ext cx="3253740" cy="171450"/>
          </a:xfrm>
          <a:prstGeom prst="roundRect">
            <a:avLst>
              <a:gd name="adj" fmla="val 50000"/>
            </a:avLst>
          </a:prstGeom>
          <a:solidFill>
            <a:srgbClr val="D8473F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306050" y="3752850"/>
            <a:ext cx="838200" cy="1905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r">
              <a:defRPr sz="975" b="1" i="0">
                <a:solidFill>
                  <a:srgbClr val="D847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D8473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100 s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5884428" y="2037715"/>
            <a:ext cx="116078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向量数量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752965" y="2095500"/>
            <a:ext cx="145732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单次查询延迟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60198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EAF9F7"/>
          </a:solidFill>
          <a:ln w="13335">
            <a:solidFill>
              <a:srgbClr val="00A663"/>
            </a:solidFill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1341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电商推荐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1341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万商品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&lt;20ms</a:t>
            </a: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7343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EDF5FF"/>
          </a:solidFill>
          <a:ln w="13335">
            <a:solidFill>
              <a:srgbClr val="0057E7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8486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 RAG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8486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万 chunks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&lt;3s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9448800" y="4457700"/>
            <a:ext cx="1562100" cy="742950"/>
          </a:xfrm>
          <a:prstGeom prst="roundRect">
            <a:avLst>
              <a:gd name="adj" fmla="val 15385"/>
            </a:avLst>
          </a:prstGeom>
          <a:solidFill>
            <a:srgbClr val="FFF4EB"/>
          </a:solidFill>
          <a:ln w="13335">
            <a:solidFill>
              <a:srgbClr val="FF6B1A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9563100" y="4552950"/>
            <a:ext cx="13144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语义搜索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9563100" y="4791075"/>
            <a:ext cx="1314450" cy="3238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百亿级网页</a:t>
            </a:r>
          </a:p>
          <a:p>
            <a:pPr algn="l">
              <a:defRPr sz="82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 &lt;500ms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965325" y="5812952"/>
            <a:ext cx="8108950" cy="44421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/>
              <a:t>暴力搜索的瓶颈在于每次查询都要执行 </a:t>
            </a:r>
            <a:r>
              <a:rPr lang="en-US" altLang="zh-CN" sz="1600"/>
              <a:t>O(n·d) </a:t>
            </a:r>
            <a:r>
              <a:rPr lang="zh-CN" altLang="en-US" sz="1600"/>
              <a:t>次相似度计算；当 </a:t>
            </a:r>
            <a:r>
              <a:rPr lang="en-US" altLang="zh-CN" sz="1600"/>
              <a:t>n </a:t>
            </a:r>
            <a:r>
              <a:rPr lang="zh-CN" altLang="en-US" sz="1600"/>
              <a:t>和 </a:t>
            </a:r>
            <a:r>
              <a:rPr lang="en-US" altLang="zh-CN" sz="1600"/>
              <a:t>d </a:t>
            </a:r>
            <a:r>
              <a:rPr lang="zh-CN" altLang="en-US" sz="1600"/>
              <a:t>同时增大时，</a:t>
            </a:r>
            <a:r>
              <a:rPr lang="en-US" altLang="zh-CN" sz="1600"/>
              <a:t>CPU / </a:t>
            </a:r>
            <a:r>
              <a:rPr lang="zh-CN" altLang="en-US" sz="1600"/>
              <a:t>内存带宽 </a:t>
            </a:r>
            <a:r>
              <a:rPr lang="en-US" altLang="zh-CN" sz="1600"/>
              <a:t>/ GPU </a:t>
            </a:r>
            <a:r>
              <a:rPr lang="zh-CN" altLang="en-US" sz="1600"/>
              <a:t>访存都会成为瓶颈。</a:t>
            </a:r>
            <a:endParaRPr sz="1100" b="1" i="0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直角三角形 59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直角三角形 60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直角三角形 61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直角三角形 62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直角三角形 63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直角三角形 64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直角三角形 65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直角三角形 66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-6350" y="19685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ANN：Approximate Nearest Neighbor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1832483" cy="45948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959422"/>
            <a:ext cx="1885949" cy="59753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15581" y="838200"/>
            <a:ext cx="4698926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近似不是妥协，而是面向工程约束的权衡艺术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14400" y="1400175"/>
            <a:ext cx="10439400" cy="838200"/>
          </a:xfrm>
          <a:prstGeom prst="roundRect">
            <a:avLst>
              <a:gd name="adj" fmla="val 18182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62075"/>
            <a:ext cx="10439400" cy="838200"/>
          </a:xfrm>
          <a:prstGeom prst="roundRect">
            <a:avLst>
              <a:gd name="adj" fmla="val 18182"/>
            </a:avLst>
          </a:prstGeom>
          <a:solidFill>
            <a:srgbClr val="F8F6FF"/>
          </a:solidFill>
          <a:ln w="14288">
            <a:solidFill>
              <a:srgbClr val="0057E7"/>
            </a:solidFill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1504950"/>
            <a:ext cx="523875" cy="523875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1790700" y="1476375"/>
            <a:ext cx="285750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3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ANN（近似最近邻搜索）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790700" y="1837055"/>
            <a:ext cx="94488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以较高概率找到足够接近的邻居，在召回率、速度、内存、构建时间和更新成本之间做权衡。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3450" y="2438400"/>
            <a:ext cx="3476625" cy="361950"/>
          </a:xfrm>
          <a:prstGeom prst="rect">
            <a:avLst/>
          </a:prstGeom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Trade-off 权衡艺术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4914900"/>
            <a:ext cx="35623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3067050"/>
            <a:ext cx="19050" cy="18478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886200" y="5065395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 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37490" y="3095625"/>
            <a:ext cx="85788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r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Speed </a:t>
            </a: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3333750" y="4495800"/>
            <a:ext cx="133350" cy="133350"/>
          </a:xfrm>
          <a:prstGeom prst="ellipse">
            <a:avLst/>
          </a:prstGeom>
          <a:solidFill>
            <a:srgbClr val="68778A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524250" y="4476750"/>
            <a:ext cx="1124585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暴力扫描</a:t>
            </a: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2266950" y="4048125"/>
            <a:ext cx="133350" cy="1333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457450" y="4029075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LSH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3076575" y="3638550"/>
            <a:ext cx="133350" cy="1333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267075" y="3619500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IVF-PQ</a:t>
            </a:r>
          </a:p>
        </p:txBody>
      </p:sp>
      <p:sp>
        <p:nvSpPr>
          <p:cNvPr id="35" name="椭圆 34"/>
          <p:cNvSpPr>
            <a:spLocks noGrp="1"/>
          </p:cNvSpPr>
          <p:nvPr/>
        </p:nvSpPr>
        <p:spPr>
          <a:xfrm>
            <a:off x="4019550" y="3286125"/>
            <a:ext cx="133350" cy="13335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4210050" y="3267075"/>
            <a:ext cx="857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0A6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</a:t>
            </a: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5419725" y="255270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5391150" y="25241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DF5FF"/>
          </a:solidFill>
          <a:ln w="14288">
            <a:solidFill>
              <a:srgbClr val="0057E7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543550" y="26574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 ↔ 召回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43550" y="2971800"/>
            <a:ext cx="2287270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搜索更深，召回更高；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但延迟也会上升。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315325" y="255270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43" name="圆角矩形 42"/>
          <p:cNvSpPr>
            <a:spLocks noGrp="1"/>
          </p:cNvSpPr>
          <p:nvPr/>
        </p:nvSpPr>
        <p:spPr>
          <a:xfrm>
            <a:off x="8286750" y="25241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AF9F7"/>
          </a:solidFill>
          <a:ln w="14288">
            <a:solidFill>
              <a:srgbClr val="00A663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439150" y="26574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 ↔ 质量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439150" y="2971800"/>
            <a:ext cx="2418715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完整向量 + 图结构更准；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压缩可显著节省内存。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5419725" y="38195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5391150" y="379095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FFF4EB"/>
          </a:solidFill>
          <a:ln w="14288">
            <a:solidFill>
              <a:srgbClr val="FF6B1A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543550" y="3924300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 ↔ 查询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543550" y="4238625"/>
            <a:ext cx="1991390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离线构建越充分，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在线查询通常越快。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8315325" y="3819525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E6E8EB"/>
          </a:solidFill>
        </p:spPr>
      </p:sp>
      <p:sp>
        <p:nvSpPr>
          <p:cNvPr id="53" name="圆角矩形 52"/>
          <p:cNvSpPr>
            <a:spLocks noGrp="1"/>
          </p:cNvSpPr>
          <p:nvPr/>
        </p:nvSpPr>
        <p:spPr>
          <a:xfrm>
            <a:off x="8286750" y="3790950"/>
            <a:ext cx="2647950" cy="1028700"/>
          </a:xfrm>
          <a:prstGeom prst="roundRect">
            <a:avLst>
              <a:gd name="adj" fmla="val 12963"/>
            </a:avLst>
          </a:prstGeom>
          <a:solidFill>
            <a:srgbClr val="F4F1FF"/>
          </a:solidFill>
          <a:ln w="14288">
            <a:solidFill>
              <a:srgbClr val="6557E8"/>
            </a:solidFill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8439150" y="3924300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 ↔ 稳定</a:t>
            </a: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8439150" y="4238625"/>
            <a:ext cx="2228215" cy="4191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动态写入越频繁，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索引维护越重要。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1819275" y="5546128"/>
            <a:ext cx="8839200" cy="78799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600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953813" y="5628680"/>
            <a:ext cx="6123114" cy="575868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/>
              <a:t>ANN </a:t>
            </a:r>
            <a:r>
              <a:rPr lang="zh-CN" altLang="en-US" sz="2000"/>
              <a:t>不追求每次都返回数学意义上的精确最近邻，而是在可接受召回率下显著降低延迟和资源消耗</a:t>
            </a:r>
            <a:endParaRPr lang="zh-CN" altLang="en-US" sz="2000" b="1" i="0">
              <a:solidFill>
                <a:srgbClr val="1323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向量索引方法全景图：四条技术路线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1960473" cy="571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 flipV="1">
            <a:off x="8382000" y="1019174"/>
            <a:ext cx="1943100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67150" y="838200"/>
            <a:ext cx="4550070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不同结构解决不同的规模、召回与资源问题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24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96202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933450" y="1657350"/>
            <a:ext cx="361950" cy="3619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3345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Hash-based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LSH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4775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775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相似向量映射到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相近哈希桶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47750" y="4163695"/>
            <a:ext cx="20002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</a:t>
            </a:r>
            <a:r>
              <a:rPr lang="zh-CN" altLang="en-US" sz="140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参数敏感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348615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368617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3657600" y="1657350"/>
            <a:ext cx="361950" cy="3619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65760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69570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Tree-based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69570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KD-tree · Annoy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77190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77190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递归划分空间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构建搜索树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771900" y="4163695"/>
            <a:ext cx="18859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低维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直观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高维退化</a:t>
            </a: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621030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DFE"/>
          </a:solidFill>
          <a:ln w="14288">
            <a:solidFill>
              <a:srgbClr val="FF6B1A"/>
            </a:solidFill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641032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6381750" y="1657350"/>
            <a:ext cx="361950" cy="3619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638175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41985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Graph-based</a:t>
            </a: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41985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HNSW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649605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649605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多层图导航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逐层逼近邻居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142185" y="4120270"/>
            <a:ext cx="2624913" cy="295911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高召回低延迟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开销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8934450" y="1504950"/>
            <a:ext cx="2457450" cy="2990850"/>
          </a:xfrm>
          <a:prstGeom prst="roundRect">
            <a:avLst>
              <a:gd name="adj" fmla="val 6977"/>
            </a:avLst>
          </a:prstGeom>
          <a:solidFill>
            <a:srgbClr val="FEFDFE"/>
          </a:solidFill>
          <a:ln w="14288">
            <a:solidFill>
              <a:srgbClr val="6557E8"/>
            </a:solidFill>
          </a:ln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9134475" y="168592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9105900" y="1657350"/>
            <a:ext cx="361950" cy="36195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9105900" y="171450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9144000" y="2895600"/>
            <a:ext cx="2019300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2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Quantization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9144000" y="3171825"/>
            <a:ext cx="20193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6557E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00" b="1" i="0">
                <a:solidFill>
                  <a:srgbClr val="6557E8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IVF · PQ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9220200" y="3514725"/>
            <a:ext cx="1885950" cy="9525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9220200" y="3619500"/>
            <a:ext cx="18859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聚类筛选候选</a:t>
            </a:r>
          </a:p>
          <a:p>
            <a:pPr algn="ctr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短码压缩向量</a:t>
            </a: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9210675" y="4163695"/>
            <a:ext cx="188595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节省内存，有损近似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790575" y="4848225"/>
            <a:ext cx="10572750" cy="876300"/>
          </a:xfrm>
          <a:prstGeom prst="roundRect">
            <a:avLst>
              <a:gd name="adj" fmla="val 17391"/>
            </a:avLst>
          </a:prstGeom>
          <a:solidFill>
            <a:srgbClr val="E6E8EB"/>
          </a:solidFill>
        </p:spPr>
      </p:sp>
      <p:sp>
        <p:nvSpPr>
          <p:cNvPr id="64" name="圆角矩形 63"/>
          <p:cNvSpPr>
            <a:spLocks noGrp="1"/>
          </p:cNvSpPr>
          <p:nvPr/>
        </p:nvSpPr>
        <p:spPr>
          <a:xfrm>
            <a:off x="762000" y="4819650"/>
            <a:ext cx="1057275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rgbClr val="002060"/>
            </a:solidFill>
          </a:ln>
        </p:spPr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933950"/>
            <a:ext cx="723900" cy="609600"/>
          </a:xfrm>
          <a:prstGeom prst="rect">
            <a:avLst/>
          </a:prstGeom>
        </p:spPr>
      </p:pic>
      <p:sp>
        <p:nvSpPr>
          <p:cNvPr id="66" name="矩形 65"/>
          <p:cNvSpPr>
            <a:spLocks noGrp="1"/>
          </p:cNvSpPr>
          <p:nvPr/>
        </p:nvSpPr>
        <p:spPr>
          <a:xfrm>
            <a:off x="1866900" y="4924425"/>
            <a:ext cx="4304665" cy="2190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 u="sng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当前趋势：混合索引成为主流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866900" y="5238750"/>
            <a:ext cx="945007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 + PQ（图导航 + 压缩）  ·  IVF + HNSW（聚类分区 + 图精排）  ·  DiskANN（磁盘友好图索引）</a:t>
            </a: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847850" y="590550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1828800" y="588645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002060"/>
            </a:solidFill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038350" y="5981700"/>
            <a:ext cx="2017395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快速选型：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105150" y="5981700"/>
            <a:ext cx="7327265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小规模重召回，中大规模求平衡，十亿级数据必须关注压缩与磁盘。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75" y="1685925"/>
            <a:ext cx="1320165" cy="11823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745" y="1685925"/>
            <a:ext cx="1504315" cy="1164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6575" y="1685925"/>
            <a:ext cx="1285875" cy="1186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3730" y="1685925"/>
            <a:ext cx="1348740" cy="11639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HNSW：多层图导航的智慧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899" y="1000124"/>
            <a:ext cx="254317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81925" y="973456"/>
            <a:ext cx="254317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从高空俯瞰到地面精细搜索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19150" y="1428750"/>
            <a:ext cx="5429250" cy="4114800"/>
          </a:xfrm>
          <a:prstGeom prst="roundRect">
            <a:avLst>
              <a:gd name="adj" fmla="val 4167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" y="1390650"/>
            <a:ext cx="5429250" cy="4114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66800" y="1590675"/>
            <a:ext cx="424688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分层小世界图：像高速公路一样逐层导航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313680" y="2057400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2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02030" y="2522855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少量节点 · 长距离边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95450" y="2219325"/>
            <a:ext cx="152400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219450" y="2219325"/>
            <a:ext cx="152400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1619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3143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4667250" y="2143125"/>
            <a:ext cx="152400" cy="1524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313680" y="3014345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1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5510" y="3566160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中等密度 · 缩小区域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45732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31457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17182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029075" y="3219450"/>
            <a:ext cx="8572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13811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223837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30956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395287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9" name="椭圆 38"/>
          <p:cNvSpPr>
            <a:spLocks noGrp="1"/>
          </p:cNvSpPr>
          <p:nvPr/>
        </p:nvSpPr>
        <p:spPr>
          <a:xfrm>
            <a:off x="4810125" y="3143250"/>
            <a:ext cx="152400" cy="1524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313680" y="3971925"/>
            <a:ext cx="8001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 0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002030" y="4589780"/>
            <a:ext cx="1472565" cy="20574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所有节点 · 局部精排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26682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79070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31457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283845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36232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388620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4410075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933950" y="4286250"/>
            <a:ext cx="523875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11906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171450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223837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276225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32861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381000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433387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4857750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5381625" y="4210050"/>
            <a:ext cx="152400" cy="1524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3219450" y="2295525"/>
            <a:ext cx="19050" cy="847725"/>
          </a:xfrm>
          <a:prstGeom prst="rect">
            <a:avLst/>
          </a:prstGeom>
          <a:solidFill>
            <a:srgbClr val="FF6B1A"/>
          </a:solidFill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4743450" y="2295525"/>
            <a:ext cx="19050" cy="847725"/>
          </a:xfrm>
          <a:prstGeom prst="rect">
            <a:avLst/>
          </a:prstGeom>
          <a:solidFill>
            <a:srgbClr val="FF6B1A"/>
          </a:solidFill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31457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17182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402907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4886325" y="3295650"/>
            <a:ext cx="19050" cy="9144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333750" y="2381250"/>
            <a:ext cx="1221105" cy="200025"/>
          </a:xfrm>
          <a:prstGeom prst="rect">
            <a:avLst/>
          </a:prstGeom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825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长距离跳转</a:t>
            </a: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6572250" y="1428750"/>
            <a:ext cx="4876800" cy="4114800"/>
          </a:xfrm>
          <a:prstGeom prst="roundRect">
            <a:avLst>
              <a:gd name="adj" fmla="val 4167"/>
            </a:avLst>
          </a:prstGeom>
          <a:solidFill>
            <a:srgbClr val="E6E8EB"/>
          </a:solidFill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6534150" y="1407160"/>
            <a:ext cx="4876800" cy="4114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819900" y="1590675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Greedy Search：三步逼近</a:t>
            </a:r>
          </a:p>
        </p:txBody>
      </p:sp>
      <p:sp>
        <p:nvSpPr>
          <p:cNvPr id="70" name="椭圆 69"/>
          <p:cNvSpPr>
            <a:spLocks noGrp="1"/>
          </p:cNvSpPr>
          <p:nvPr/>
        </p:nvSpPr>
        <p:spPr>
          <a:xfrm>
            <a:off x="6886575" y="208597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71" name="椭圆 70"/>
          <p:cNvSpPr>
            <a:spLocks noGrp="1"/>
          </p:cNvSpPr>
          <p:nvPr/>
        </p:nvSpPr>
        <p:spPr>
          <a:xfrm>
            <a:off x="6858000" y="2057400"/>
            <a:ext cx="381000" cy="3810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6858000" y="211455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467600" y="206692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入口点选择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7467600" y="2366645"/>
            <a:ext cx="33337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从最高层 entry point 开始，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快速获得全局视野。</a:t>
            </a: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7000875" y="2581275"/>
            <a:ext cx="190500" cy="247650"/>
          </a:xfrm>
          <a:prstGeom prst="rect">
            <a:avLst/>
          </a:prstGeom>
        </p:spPr>
        <p:txBody>
          <a:bodyPr wrap="square" lIns="38100" tIns="19050" rIns="38100" bIns="19050" anchor="ctr">
            <a:normAutofit fontScale="96667" lnSpcReduction="10000"/>
          </a:bodyPr>
          <a:lstStyle/>
          <a:p>
            <a:pPr algn="ctr">
              <a:defRPr sz="1500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1" i="0">
              <a:solidFill>
                <a:srgbClr val="6877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椭圆 75"/>
          <p:cNvSpPr>
            <a:spLocks noGrp="1"/>
          </p:cNvSpPr>
          <p:nvPr/>
        </p:nvSpPr>
        <p:spPr>
          <a:xfrm>
            <a:off x="6886575" y="294322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6858000" y="2914650"/>
            <a:ext cx="381000" cy="3810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6858000" y="297180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7467600" y="292417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逐层下降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7467600" y="3223895"/>
            <a:ext cx="33337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每层都移动到更接近 q 的邻居，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直到进入 Layer 0。</a:t>
            </a:r>
          </a:p>
        </p:txBody>
      </p:sp>
      <p:sp>
        <p:nvSpPr>
          <p:cNvPr id="82" name="椭圆 81"/>
          <p:cNvSpPr>
            <a:spLocks noGrp="1"/>
          </p:cNvSpPr>
          <p:nvPr/>
        </p:nvSpPr>
        <p:spPr>
          <a:xfrm>
            <a:off x="6886575" y="3800475"/>
            <a:ext cx="381000" cy="38100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83" name="椭圆 82"/>
          <p:cNvSpPr>
            <a:spLocks noGrp="1"/>
          </p:cNvSpPr>
          <p:nvPr/>
        </p:nvSpPr>
        <p:spPr>
          <a:xfrm>
            <a:off x="6858000" y="3771900"/>
            <a:ext cx="381000" cy="3810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6858000" y="3829050"/>
            <a:ext cx="38100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7467600" y="3781425"/>
            <a:ext cx="1619250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底层精排</a:t>
            </a: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7467600" y="4072890"/>
            <a:ext cx="3333750" cy="3619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扩展候选邻居，</a:t>
            </a:r>
          </a:p>
          <a:p>
            <a:pPr algn="l">
              <a:defRPr sz="9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返回最相关的 Top-K。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6743700" y="4695825"/>
            <a:ext cx="1447800" cy="649605"/>
          </a:xfrm>
          <a:prstGeom prst="roundRect">
            <a:avLst>
              <a:gd name="adj" fmla="val 16667"/>
            </a:avLst>
          </a:prstGeom>
          <a:solidFill>
            <a:srgbClr val="EDF5FF"/>
          </a:solidFill>
          <a:ln w="13335">
            <a:solidFill>
              <a:srgbClr val="0057E7"/>
            </a:solidFill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6915150" y="478155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6742430" y="5010150"/>
            <a:ext cx="153289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每个节点最大连接数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8245475" y="4695825"/>
            <a:ext cx="1412875" cy="649605"/>
          </a:xfrm>
          <a:prstGeom prst="roundRect">
            <a:avLst>
              <a:gd name="adj" fmla="val 16667"/>
            </a:avLst>
          </a:prstGeom>
          <a:solidFill>
            <a:srgbClr val="EAF9F7"/>
          </a:solidFill>
          <a:ln w="13335">
            <a:solidFill>
              <a:srgbClr val="009B9B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8382000" y="478155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efConstruction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8275320" y="5010150"/>
            <a:ext cx="143383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构建时搜索宽度</a:t>
            </a: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9706610" y="4695825"/>
            <a:ext cx="1438910" cy="649605"/>
          </a:xfrm>
          <a:prstGeom prst="roundRect">
            <a:avLst>
              <a:gd name="adj" fmla="val 16667"/>
            </a:avLst>
          </a:prstGeom>
          <a:solidFill>
            <a:srgbClr val="FFF4EB"/>
          </a:solidFill>
          <a:ln w="13335">
            <a:solidFill>
              <a:srgbClr val="FF6B1A"/>
            </a:solidFill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9848850" y="4781550"/>
            <a:ext cx="1200150" cy="18097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efSearch</a:t>
            </a: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742170" y="5010150"/>
            <a:ext cx="143383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查询时搜索宽度</a:t>
            </a:r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23530">
            <a:off x="1524000" y="5800725"/>
            <a:ext cx="428625" cy="476250"/>
          </a:xfrm>
          <a:prstGeom prst="rect">
            <a:avLst/>
          </a:prstGeom>
        </p:spPr>
      </p:pic>
      <p:sp>
        <p:nvSpPr>
          <p:cNvPr id="97" name="圆角矩形 96"/>
          <p:cNvSpPr>
            <a:spLocks noGrp="1"/>
          </p:cNvSpPr>
          <p:nvPr/>
        </p:nvSpPr>
        <p:spPr>
          <a:xfrm>
            <a:off x="184785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98" name="圆角矩形 97"/>
          <p:cNvSpPr>
            <a:spLocks noGrp="1"/>
          </p:cNvSpPr>
          <p:nvPr/>
        </p:nvSpPr>
        <p:spPr>
          <a:xfrm>
            <a:off x="1828800" y="58578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2038350" y="595312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</a:t>
            </a: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首选：</a:t>
            </a: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3143250" y="5948680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/>
              <a:t>工程实践中常用：低延迟、高召回、参数可调；代价是较高内存开销和构建成本</a:t>
            </a: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 与 PQ：面向大规模数据的量化索引</a:t>
            </a:r>
            <a:endParaRPr sz="255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先缩小搜索范围，再压缩向量表达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00100" y="14668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762000" y="14287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1628775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IVF：先去正确的“书架”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2057400"/>
            <a:ext cx="4363752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类比图书馆找书：先定位计算机科学区，再在小范围内检索。</a:t>
            </a: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619250" y="2914650"/>
            <a:ext cx="342900" cy="3429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619250" y="29813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c₁</a:t>
            </a: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4287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6192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8" name="椭圆 27"/>
          <p:cNvSpPr>
            <a:spLocks noGrp="1"/>
          </p:cNvSpPr>
          <p:nvPr/>
        </p:nvSpPr>
        <p:spPr>
          <a:xfrm>
            <a:off x="1809750" y="33147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1428750" y="35052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1619250" y="35052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2743200" y="2667000"/>
            <a:ext cx="342900" cy="34290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743200" y="273367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c₂</a:t>
            </a:r>
          </a:p>
        </p:txBody>
      </p:sp>
      <p:sp>
        <p:nvSpPr>
          <p:cNvPr id="33" name="椭圆 32"/>
          <p:cNvSpPr>
            <a:spLocks noGrp="1"/>
          </p:cNvSpPr>
          <p:nvPr/>
        </p:nvSpPr>
        <p:spPr>
          <a:xfrm>
            <a:off x="2552700" y="3067050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2743200" y="3067050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2933700" y="3067050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2552700" y="3257550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2743200" y="3257550"/>
            <a:ext cx="66675" cy="6667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4171950" y="3028950"/>
            <a:ext cx="342900" cy="3429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171950" y="30956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c₃</a:t>
            </a:r>
          </a:p>
        </p:txBody>
      </p:sp>
      <p:sp>
        <p:nvSpPr>
          <p:cNvPr id="40" name="椭圆 39"/>
          <p:cNvSpPr>
            <a:spLocks noGrp="1"/>
          </p:cNvSpPr>
          <p:nvPr/>
        </p:nvSpPr>
        <p:spPr>
          <a:xfrm>
            <a:off x="39814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1" name="椭圆 40"/>
          <p:cNvSpPr>
            <a:spLocks noGrp="1"/>
          </p:cNvSpPr>
          <p:nvPr/>
        </p:nvSpPr>
        <p:spPr>
          <a:xfrm>
            <a:off x="41719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4362450" y="34290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3981450" y="36195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4" name="椭圆 43"/>
          <p:cNvSpPr>
            <a:spLocks noGrp="1"/>
          </p:cNvSpPr>
          <p:nvPr/>
        </p:nvSpPr>
        <p:spPr>
          <a:xfrm>
            <a:off x="4171950" y="3619500"/>
            <a:ext cx="66675" cy="66675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2190750" y="4095750"/>
            <a:ext cx="342900" cy="34290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2190750" y="41624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c₄</a:t>
            </a: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20002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8" name="椭圆 47"/>
          <p:cNvSpPr>
            <a:spLocks noGrp="1"/>
          </p:cNvSpPr>
          <p:nvPr/>
        </p:nvSpPr>
        <p:spPr>
          <a:xfrm>
            <a:off x="21907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9" name="椭圆 48"/>
          <p:cNvSpPr>
            <a:spLocks noGrp="1"/>
          </p:cNvSpPr>
          <p:nvPr/>
        </p:nvSpPr>
        <p:spPr>
          <a:xfrm>
            <a:off x="2381250" y="44958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0" name="椭圆 49"/>
          <p:cNvSpPr>
            <a:spLocks noGrp="1"/>
          </p:cNvSpPr>
          <p:nvPr/>
        </p:nvSpPr>
        <p:spPr>
          <a:xfrm>
            <a:off x="2000250" y="46863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1" name="椭圆 50"/>
          <p:cNvSpPr>
            <a:spLocks noGrp="1"/>
          </p:cNvSpPr>
          <p:nvPr/>
        </p:nvSpPr>
        <p:spPr>
          <a:xfrm>
            <a:off x="2190750" y="4686300"/>
            <a:ext cx="66675" cy="66675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52" name="椭圆 51"/>
          <p:cNvSpPr>
            <a:spLocks noGrp="1"/>
          </p:cNvSpPr>
          <p:nvPr/>
        </p:nvSpPr>
        <p:spPr>
          <a:xfrm>
            <a:off x="3590925" y="3905250"/>
            <a:ext cx="342900" cy="3429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3590925" y="3971925"/>
            <a:ext cx="3429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c₅</a:t>
            </a:r>
          </a:p>
        </p:txBody>
      </p:sp>
      <p:sp>
        <p:nvSpPr>
          <p:cNvPr id="54" name="椭圆 53"/>
          <p:cNvSpPr>
            <a:spLocks noGrp="1"/>
          </p:cNvSpPr>
          <p:nvPr/>
        </p:nvSpPr>
        <p:spPr>
          <a:xfrm>
            <a:off x="35909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5" name="椭圆 54"/>
          <p:cNvSpPr>
            <a:spLocks noGrp="1"/>
          </p:cNvSpPr>
          <p:nvPr/>
        </p:nvSpPr>
        <p:spPr>
          <a:xfrm>
            <a:off x="37814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6" name="椭圆 55"/>
          <p:cNvSpPr>
            <a:spLocks noGrp="1"/>
          </p:cNvSpPr>
          <p:nvPr/>
        </p:nvSpPr>
        <p:spPr>
          <a:xfrm>
            <a:off x="3971925" y="43053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7" name="椭圆 56"/>
          <p:cNvSpPr>
            <a:spLocks noGrp="1"/>
          </p:cNvSpPr>
          <p:nvPr/>
        </p:nvSpPr>
        <p:spPr>
          <a:xfrm>
            <a:off x="3590925" y="44958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8" name="椭圆 57"/>
          <p:cNvSpPr>
            <a:spLocks noGrp="1"/>
          </p:cNvSpPr>
          <p:nvPr/>
        </p:nvSpPr>
        <p:spPr>
          <a:xfrm>
            <a:off x="3781425" y="4495800"/>
            <a:ext cx="66675" cy="6667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1047750" y="2400300"/>
            <a:ext cx="226885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K-Means 生成聚类中心</a:t>
            </a: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3000375" y="4953000"/>
            <a:ext cx="2524125" cy="292735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nprobe：探查最近的若干簇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6305550" y="14668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E6E8EB"/>
          </a:solidFill>
        </p:spPr>
      </p:sp>
      <p:sp>
        <p:nvSpPr>
          <p:cNvPr id="62" name="圆角矩形 61"/>
          <p:cNvSpPr>
            <a:spLocks noGrp="1"/>
          </p:cNvSpPr>
          <p:nvPr/>
        </p:nvSpPr>
        <p:spPr>
          <a:xfrm>
            <a:off x="6267450" y="1428750"/>
            <a:ext cx="5162550" cy="4000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534150" y="1628775"/>
            <a:ext cx="3429000" cy="2286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125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09B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PQ：把长向量编码成短码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5" y="1600200"/>
            <a:ext cx="764540" cy="654050"/>
          </a:xfrm>
          <a:prstGeom prst="rect">
            <a:avLst/>
          </a:prstGeom>
        </p:spPr>
      </p:pic>
      <p:sp>
        <p:nvSpPr>
          <p:cNvPr id="65" name="矩形 64"/>
          <p:cNvSpPr>
            <a:spLocks noGrp="1"/>
          </p:cNvSpPr>
          <p:nvPr/>
        </p:nvSpPr>
        <p:spPr>
          <a:xfrm>
            <a:off x="6534150" y="2016125"/>
            <a:ext cx="4293235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将向量切成 m 个子空间，每段只保存最接近的 code。</a:t>
            </a: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65722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67" name="圆角矩形 66"/>
          <p:cNvSpPr>
            <a:spLocks noGrp="1"/>
          </p:cNvSpPr>
          <p:nvPr/>
        </p:nvSpPr>
        <p:spPr>
          <a:xfrm>
            <a:off x="68294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68" name="圆角矩形 67"/>
          <p:cNvSpPr>
            <a:spLocks noGrp="1"/>
          </p:cNvSpPr>
          <p:nvPr/>
        </p:nvSpPr>
        <p:spPr>
          <a:xfrm>
            <a:off x="70866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73437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57E7"/>
          </a:solidFill>
        </p:spPr>
      </p:sp>
      <p:sp>
        <p:nvSpPr>
          <p:cNvPr id="70" name="圆角矩形 69"/>
          <p:cNvSpPr>
            <a:spLocks noGrp="1"/>
          </p:cNvSpPr>
          <p:nvPr/>
        </p:nvSpPr>
        <p:spPr>
          <a:xfrm>
            <a:off x="76009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1" name="圆角矩形 70"/>
          <p:cNvSpPr>
            <a:spLocks noGrp="1"/>
          </p:cNvSpPr>
          <p:nvPr/>
        </p:nvSpPr>
        <p:spPr>
          <a:xfrm>
            <a:off x="78581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2" name="圆角矩形 71"/>
          <p:cNvSpPr>
            <a:spLocks noGrp="1"/>
          </p:cNvSpPr>
          <p:nvPr/>
        </p:nvSpPr>
        <p:spPr>
          <a:xfrm>
            <a:off x="81153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3" name="圆角矩形 72"/>
          <p:cNvSpPr>
            <a:spLocks noGrp="1"/>
          </p:cNvSpPr>
          <p:nvPr/>
        </p:nvSpPr>
        <p:spPr>
          <a:xfrm>
            <a:off x="83724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00A663"/>
          </a:solidFill>
        </p:spPr>
      </p:sp>
      <p:sp>
        <p:nvSpPr>
          <p:cNvPr id="74" name="圆角矩形 73"/>
          <p:cNvSpPr>
            <a:spLocks noGrp="1"/>
          </p:cNvSpPr>
          <p:nvPr/>
        </p:nvSpPr>
        <p:spPr>
          <a:xfrm>
            <a:off x="86296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5" name="圆角矩形 74"/>
          <p:cNvSpPr>
            <a:spLocks noGrp="1"/>
          </p:cNvSpPr>
          <p:nvPr/>
        </p:nvSpPr>
        <p:spPr>
          <a:xfrm>
            <a:off x="88868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6" name="圆角矩形 75"/>
          <p:cNvSpPr>
            <a:spLocks noGrp="1"/>
          </p:cNvSpPr>
          <p:nvPr/>
        </p:nvSpPr>
        <p:spPr>
          <a:xfrm>
            <a:off x="91440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7" name="圆角矩形 76"/>
          <p:cNvSpPr>
            <a:spLocks noGrp="1"/>
          </p:cNvSpPr>
          <p:nvPr/>
        </p:nvSpPr>
        <p:spPr>
          <a:xfrm>
            <a:off x="94011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FF6B1A"/>
          </a:solidFill>
        </p:spPr>
      </p:sp>
      <p:sp>
        <p:nvSpPr>
          <p:cNvPr id="78" name="圆角矩形 77"/>
          <p:cNvSpPr>
            <a:spLocks noGrp="1"/>
          </p:cNvSpPr>
          <p:nvPr/>
        </p:nvSpPr>
        <p:spPr>
          <a:xfrm>
            <a:off x="965835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991552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10172700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10429875" y="2524125"/>
            <a:ext cx="190500" cy="285750"/>
          </a:xfrm>
          <a:prstGeom prst="roundRect">
            <a:avLst>
              <a:gd name="adj" fmla="val 25000"/>
            </a:avLst>
          </a:prstGeom>
          <a:solidFill>
            <a:srgbClr val="6557E8"/>
          </a:solidFill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572250" y="2266950"/>
            <a:ext cx="154686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原始向量</a:t>
            </a: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572250" y="2917825"/>
            <a:ext cx="1524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切分子向量</a:t>
            </a: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657225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sub-vector 1</a:t>
            </a: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657225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57E7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1</a:t>
            </a: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773430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A6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sub-vector 2</a:t>
            </a: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773430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00A6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2</a:t>
            </a: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889635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sub-vector 3</a:t>
            </a: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889635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3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0058400" y="324802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6557E8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sub-vector 4</a:t>
            </a: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0058400" y="3914775"/>
            <a:ext cx="1000125" cy="228600"/>
          </a:xfrm>
          <a:prstGeom prst="roundRect">
            <a:avLst>
              <a:gd name="adj" fmla="val 33333"/>
            </a:avLst>
          </a:prstGeom>
          <a:solidFill>
            <a:srgbClr val="6557E8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4</a:t>
            </a: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6572250" y="3609975"/>
            <a:ext cx="1524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↓ 映射到码本</a:t>
            </a: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6572250" y="4476750"/>
            <a:ext cx="4819650" cy="1372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用短码近似计算距离，显著节省内存与访存开销。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800725"/>
            <a:ext cx="428625" cy="476250"/>
          </a:xfrm>
          <a:prstGeom prst="rect">
            <a:avLst/>
          </a:prstGeom>
        </p:spPr>
      </p:pic>
      <p:sp>
        <p:nvSpPr>
          <p:cNvPr id="95" name="圆角矩形 94"/>
          <p:cNvSpPr>
            <a:spLocks noGrp="1"/>
          </p:cNvSpPr>
          <p:nvPr/>
        </p:nvSpPr>
        <p:spPr>
          <a:xfrm>
            <a:off x="184785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96" name="圆角矩形 95"/>
          <p:cNvSpPr>
            <a:spLocks noGrp="1"/>
          </p:cNvSpPr>
          <p:nvPr/>
        </p:nvSpPr>
        <p:spPr>
          <a:xfrm>
            <a:off x="1828800" y="58578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2038350" y="595312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组合策略：</a:t>
            </a: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3086100" y="5965190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IVF-PQ = 聚类筛选候选集 + PQ 压缩向量表达。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 RAG 查询：Filter、Hybrid 与 Rerank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4"/>
            <a:ext cx="1889937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0894" y="973456"/>
            <a:ext cx="189420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40783" y="852488"/>
            <a:ext cx="4690111" cy="28575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从“相似”走向“真正有用”的多阶段检索管线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95375" y="1381125"/>
            <a:ext cx="10048875" cy="552450"/>
          </a:xfrm>
          <a:prstGeom prst="roundRect">
            <a:avLst>
              <a:gd name="adj" fmla="val 22414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66800" y="1352550"/>
            <a:ext cx="10048875" cy="552450"/>
          </a:xfrm>
          <a:prstGeom prst="roundRect">
            <a:avLst>
              <a:gd name="adj" fmla="val 22414"/>
            </a:avLst>
          </a:prstGeom>
          <a:solidFill>
            <a:srgbClr val="FFFFFF"/>
          </a:solidFill>
          <a:ln w="14288">
            <a:solidFill>
              <a:schemeClr val="tx1">
                <a:lumMod val="95000"/>
                <a:lumOff val="5000"/>
              </a:schemeClr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1504950"/>
            <a:ext cx="8953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查询示例：查找 2024 年发布、GPU 优化相关、作者机构为阿里巴巴的论文</a:t>
            </a: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3345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565785" y="2247900"/>
            <a:ext cx="3472815" cy="2705100"/>
          </a:xfrm>
          <a:prstGeom prst="roundRect">
            <a:avLst>
              <a:gd name="adj" fmla="val 6338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748665" y="2437130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744855" y="2400300"/>
            <a:ext cx="361315" cy="3619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44855" y="2518410"/>
            <a:ext cx="361315" cy="20574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21105" y="2514600"/>
            <a:ext cx="1614170" cy="1619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Metadata Filter</a:t>
            </a: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2955" y="3234690"/>
            <a:ext cx="2658110" cy="14668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先约束候选空间</a:t>
            </a: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40105" y="3753485"/>
            <a:ext cx="2601595" cy="82804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73455" y="3905885"/>
            <a:ext cx="2335530" cy="51371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year = 2024</a:t>
            </a:r>
          </a:p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org = Alibaba</a:t>
            </a:r>
          </a:p>
          <a:p>
            <a:pPr algn="ctr">
              <a:defRPr sz="1125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57E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category = paper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86225" y="3429000"/>
            <a:ext cx="26670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1960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4381500" y="2247900"/>
            <a:ext cx="3612515" cy="2705100"/>
          </a:xfrm>
          <a:prstGeom prst="roundRect">
            <a:avLst>
              <a:gd name="adj" fmla="val 6338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4581525" y="242887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4552950" y="2400300"/>
            <a:ext cx="361950" cy="3619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552950" y="245745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29200" y="24669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Hybrid Search</a:t>
            </a: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4591050" y="3190875"/>
            <a:ext cx="2667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 + 关键词融合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4648200" y="3709035"/>
            <a:ext cx="2914015" cy="97155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4662686" y="3848100"/>
            <a:ext cx="3009265" cy="666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Dense Vector</a:t>
            </a:r>
            <a:r>
              <a:rPr lang="zh-CN"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（匹配语义）</a:t>
            </a:r>
          </a:p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</a:p>
          <a:p>
            <a:pPr algn="ctr">
              <a:defRPr sz="1125" b="1" i="0">
                <a:solidFill>
                  <a:srgbClr val="009B9B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Sparse / BM25</a:t>
            </a:r>
            <a:r>
              <a:rPr lang="zh-CN" sz="1600" b="1" i="0">
                <a:solidFill>
                  <a:srgbClr val="009B9B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（匹配关键词）</a:t>
            </a: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993380" y="3429000"/>
            <a:ext cx="26670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44" name="圆角矩形 43"/>
          <p:cNvSpPr>
            <a:spLocks noGrp="1"/>
          </p:cNvSpPr>
          <p:nvPr/>
        </p:nvSpPr>
        <p:spPr>
          <a:xfrm>
            <a:off x="8335010" y="2286000"/>
            <a:ext cx="3143250" cy="2705100"/>
          </a:xfrm>
          <a:prstGeom prst="roundRect">
            <a:avLst>
              <a:gd name="adj" fmla="val 6338"/>
            </a:avLst>
          </a:prstGeom>
          <a:solidFill>
            <a:srgbClr val="E6E8EB"/>
          </a:solidFill>
        </p:spPr>
      </p:sp>
      <p:sp>
        <p:nvSpPr>
          <p:cNvPr id="45" name="圆角矩形 44"/>
          <p:cNvSpPr>
            <a:spLocks noGrp="1"/>
          </p:cNvSpPr>
          <p:nvPr/>
        </p:nvSpPr>
        <p:spPr>
          <a:xfrm>
            <a:off x="8338185" y="2247900"/>
            <a:ext cx="3498850" cy="2705100"/>
          </a:xfrm>
          <a:prstGeom prst="roundRect">
            <a:avLst>
              <a:gd name="adj" fmla="val 6338"/>
            </a:avLst>
          </a:prstGeom>
          <a:solidFill>
            <a:srgbClr val="FDFDFD"/>
          </a:solidFill>
          <a:ln w="14288">
            <a:solidFill>
              <a:srgbClr val="FF6B1A"/>
            </a:solidFill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8538210" y="2428875"/>
            <a:ext cx="361950" cy="3619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7" name="椭圆 46"/>
          <p:cNvSpPr>
            <a:spLocks noGrp="1"/>
          </p:cNvSpPr>
          <p:nvPr/>
        </p:nvSpPr>
        <p:spPr>
          <a:xfrm>
            <a:off x="8509635" y="2400300"/>
            <a:ext cx="361950" cy="3619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8509635" y="2457450"/>
            <a:ext cx="3619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8985885" y="2466975"/>
            <a:ext cx="16192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7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Rerank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430895" y="3011805"/>
            <a:ext cx="26670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用更强模型精排</a:t>
            </a:r>
          </a:p>
        </p:txBody>
      </p:sp>
      <p:sp>
        <p:nvSpPr>
          <p:cNvPr id="52" name="圆角矩形 51"/>
          <p:cNvSpPr>
            <a:spLocks noGrp="1"/>
          </p:cNvSpPr>
          <p:nvPr/>
        </p:nvSpPr>
        <p:spPr>
          <a:xfrm>
            <a:off x="8604885" y="3609975"/>
            <a:ext cx="2609850" cy="971550"/>
          </a:xfrm>
          <a:prstGeom prst="roundRect">
            <a:avLst>
              <a:gd name="adj" fmla="val 10784"/>
            </a:avLst>
          </a:prstGeom>
          <a:solidFill>
            <a:srgbClr val="FFFFFF"/>
          </a:solidFill>
          <a:ln w="13335">
            <a:solidFill>
              <a:srgbClr val="D7DFEA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8738235" y="3752850"/>
            <a:ext cx="2343150" cy="666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ANN Top-50</a:t>
            </a:r>
          </a:p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↓</a:t>
            </a:r>
          </a:p>
          <a:p>
            <a:pPr algn="ctr">
              <a:defRPr sz="1125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6B1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Cross-Encoder Top-10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1162050" y="5372100"/>
            <a:ext cx="9906000" cy="514350"/>
          </a:xfrm>
          <a:prstGeom prst="roundRect">
            <a:avLst>
              <a:gd name="adj" fmla="val 22222"/>
            </a:avLst>
          </a:prstGeom>
          <a:solidFill>
            <a:srgbClr val="E6E8EB"/>
          </a:solidFill>
        </p:spPr>
      </p:sp>
      <p:sp>
        <p:nvSpPr>
          <p:cNvPr id="55" name="圆角矩形 54"/>
          <p:cNvSpPr>
            <a:spLocks noGrp="1"/>
          </p:cNvSpPr>
          <p:nvPr/>
        </p:nvSpPr>
        <p:spPr>
          <a:xfrm>
            <a:off x="1143000" y="5353050"/>
            <a:ext cx="9906000" cy="514350"/>
          </a:xfrm>
          <a:prstGeom prst="roundRect">
            <a:avLst>
              <a:gd name="adj" fmla="val 22222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1381125" y="5495925"/>
            <a:ext cx="97345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1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00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推荐链路： Filter  →  Hybrid Recall  →  ANN Top-N  →  Cross-Encoder Rerank  →  Top-K Evidence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075" y="2400300"/>
            <a:ext cx="1516380" cy="1206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505" y="2329180"/>
            <a:ext cx="1578610" cy="13481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9810" y="2329180"/>
            <a:ext cx="1858010" cy="9467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B0FF6F4-12D4-487F-A2A2-57C66666552F}"/>
              </a:ext>
            </a:extLst>
          </p:cNvPr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vs 传统关系数据库</a:t>
            </a:r>
            <a:endParaRPr sz="255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A13CF5-4315-4276-82D3-8D931BB1B218}"/>
              </a:ext>
            </a:extLst>
          </p:cNvPr>
          <p:cNvSpPr>
            <a:spLocks noGrp="1"/>
          </p:cNvSpPr>
          <p:nvPr/>
        </p:nvSpPr>
        <p:spPr>
          <a:xfrm flipV="1">
            <a:off x="1866900" y="954406"/>
            <a:ext cx="1960473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D723EF4-2523-4E28-96F3-8AAD188E4646}"/>
              </a:ext>
            </a:extLst>
          </p:cNvPr>
          <p:cNvSpPr>
            <a:spLocks noGrp="1"/>
          </p:cNvSpPr>
          <p:nvPr/>
        </p:nvSpPr>
        <p:spPr>
          <a:xfrm>
            <a:off x="5888000" y="6206091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D0D59A-E4C0-4C7A-B006-D723A49413E3}"/>
              </a:ext>
            </a:extLst>
          </p:cNvPr>
          <p:cNvSpPr>
            <a:spLocks noGrp="1"/>
          </p:cNvSpPr>
          <p:nvPr/>
        </p:nvSpPr>
        <p:spPr>
          <a:xfrm>
            <a:off x="8530412" y="968947"/>
            <a:ext cx="1794688" cy="50228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B78809C-663C-41F7-81A9-284AB7412DFE}"/>
              </a:ext>
            </a:extLst>
          </p:cNvPr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43F816-A6BC-4D55-9225-7375C8CB38F8}"/>
              </a:ext>
            </a:extLst>
          </p:cNvPr>
          <p:cNvSpPr>
            <a:spLocks noGrp="1"/>
          </p:cNvSpPr>
          <p:nvPr/>
        </p:nvSpPr>
        <p:spPr>
          <a:xfrm>
            <a:off x="3910787" y="800100"/>
            <a:ext cx="4572000" cy="285750"/>
          </a:xfrm>
          <a:prstGeom prst="rect">
            <a:avLst/>
          </a:prstGeom>
        </p:spPr>
        <p:txBody>
          <a:bodyPr wrap="square" lIns="0" tIns="0" rIns="0" bIns="0" anchor="ctr">
            <a:normAutofit fontScale="875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两者解决不同问题，生产环境中通常协同工作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9AD42A-2D81-430E-BC07-5BDE9B9C64D7}"/>
              </a:ext>
            </a:extLst>
          </p:cNvPr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 / 24</a:t>
            </a:r>
          </a:p>
        </p:txBody>
      </p:sp>
      <p:sp>
        <p:nvSpPr>
          <p:cNvPr id="13" name="圆角矩形 18">
            <a:extLst>
              <a:ext uri="{FF2B5EF4-FFF2-40B4-BE49-F238E27FC236}">
                <a16:creationId xmlns:a16="http://schemas.microsoft.com/office/drawing/2014/main" id="{E8F8F4DD-F5F3-4E7E-A489-5508D388E9E1}"/>
              </a:ext>
            </a:extLst>
          </p:cNvPr>
          <p:cNvSpPr>
            <a:spLocks noGrp="1"/>
          </p:cNvSpPr>
          <p:nvPr/>
        </p:nvSpPr>
        <p:spPr>
          <a:xfrm>
            <a:off x="990600" y="1447800"/>
            <a:ext cx="4572000" cy="3943350"/>
          </a:xfrm>
          <a:prstGeom prst="roundRect">
            <a:avLst>
              <a:gd name="adj" fmla="val 4348"/>
            </a:avLst>
          </a:prstGeom>
          <a:solidFill>
            <a:srgbClr val="E6E8EB"/>
          </a:solidFill>
        </p:spPr>
      </p:sp>
      <p:sp>
        <p:nvSpPr>
          <p:cNvPr id="14" name="圆角矩形 19">
            <a:extLst>
              <a:ext uri="{FF2B5EF4-FFF2-40B4-BE49-F238E27FC236}">
                <a16:creationId xmlns:a16="http://schemas.microsoft.com/office/drawing/2014/main" id="{016DA277-E23E-4980-8FBD-607111470DC1}"/>
              </a:ext>
            </a:extLst>
          </p:cNvPr>
          <p:cNvSpPr>
            <a:spLocks noGrp="1"/>
          </p:cNvSpPr>
          <p:nvPr/>
        </p:nvSpPr>
        <p:spPr>
          <a:xfrm>
            <a:off x="952500" y="1409700"/>
            <a:ext cx="4572000" cy="39433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sp>
        <p:nvSpPr>
          <p:cNvPr id="15" name="圆角矩形 20">
            <a:extLst>
              <a:ext uri="{FF2B5EF4-FFF2-40B4-BE49-F238E27FC236}">
                <a16:creationId xmlns:a16="http://schemas.microsoft.com/office/drawing/2014/main" id="{AE81630D-6C47-4BE9-9089-2303F258A020}"/>
              </a:ext>
            </a:extLst>
          </p:cNvPr>
          <p:cNvSpPr>
            <a:spLocks noGrp="1"/>
          </p:cNvSpPr>
          <p:nvPr/>
        </p:nvSpPr>
        <p:spPr>
          <a:xfrm>
            <a:off x="6705600" y="1447800"/>
            <a:ext cx="4572000" cy="3943350"/>
          </a:xfrm>
          <a:prstGeom prst="roundRect">
            <a:avLst>
              <a:gd name="adj" fmla="val 4348"/>
            </a:avLst>
          </a:prstGeom>
          <a:solidFill>
            <a:srgbClr val="E6E8EB"/>
          </a:solidFill>
        </p:spPr>
      </p:sp>
      <p:sp>
        <p:nvSpPr>
          <p:cNvPr id="16" name="圆角矩形 21">
            <a:extLst>
              <a:ext uri="{FF2B5EF4-FFF2-40B4-BE49-F238E27FC236}">
                <a16:creationId xmlns:a16="http://schemas.microsoft.com/office/drawing/2014/main" id="{0A66B721-EA9A-485C-ADCB-B7D5F79C6C19}"/>
              </a:ext>
            </a:extLst>
          </p:cNvPr>
          <p:cNvSpPr>
            <a:spLocks noGrp="1"/>
          </p:cNvSpPr>
          <p:nvPr/>
        </p:nvSpPr>
        <p:spPr>
          <a:xfrm>
            <a:off x="6667500" y="1409700"/>
            <a:ext cx="4572000" cy="39433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CBCA6D0-1427-4F95-A73D-21F7861B17D9}"/>
              </a:ext>
            </a:extLst>
          </p:cNvPr>
          <p:cNvSpPr>
            <a:spLocks noGrp="1"/>
          </p:cNvSpPr>
          <p:nvPr/>
        </p:nvSpPr>
        <p:spPr>
          <a:xfrm>
            <a:off x="1571625" y="2988310"/>
            <a:ext cx="3333750" cy="285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6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关系数据库 RDBMS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564CC0-1AFD-4C7A-9A11-A445770EEE29}"/>
              </a:ext>
            </a:extLst>
          </p:cNvPr>
          <p:cNvSpPr>
            <a:spLocks noGrp="1"/>
          </p:cNvSpPr>
          <p:nvPr/>
        </p:nvSpPr>
        <p:spPr>
          <a:xfrm>
            <a:off x="7286625" y="2988310"/>
            <a:ext cx="3333750" cy="2857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16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 Vector DB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01BBF2-A162-4BE0-AB95-5A3F735271CE}"/>
              </a:ext>
            </a:extLst>
          </p:cNvPr>
          <p:cNvSpPr>
            <a:spLocks noGrp="1"/>
          </p:cNvSpPr>
          <p:nvPr/>
        </p:nvSpPr>
        <p:spPr>
          <a:xfrm>
            <a:off x="1638300" y="3521710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表、行、列与约束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54C4E8-54C8-4172-9534-7FED686637D7}"/>
              </a:ext>
            </a:extLst>
          </p:cNvPr>
          <p:cNvSpPr>
            <a:spLocks noGrp="1"/>
          </p:cNvSpPr>
          <p:nvPr/>
        </p:nvSpPr>
        <p:spPr>
          <a:xfrm>
            <a:off x="1638300" y="3931285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SQL：JOIN / 聚合 / 事务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575C2EE-D767-4A03-B9C5-684C32129280}"/>
              </a:ext>
            </a:extLst>
          </p:cNvPr>
          <p:cNvSpPr>
            <a:spLocks noGrp="1"/>
          </p:cNvSpPr>
          <p:nvPr/>
        </p:nvSpPr>
        <p:spPr>
          <a:xfrm>
            <a:off x="1638300" y="4340860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B+ Tree · Hash Index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C8CFC3-EE33-469E-8124-3595C539A299}"/>
              </a:ext>
            </a:extLst>
          </p:cNvPr>
          <p:cNvSpPr>
            <a:spLocks noGrp="1"/>
          </p:cNvSpPr>
          <p:nvPr/>
        </p:nvSpPr>
        <p:spPr>
          <a:xfrm>
            <a:off x="1638300" y="4750435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ACID、一致性、业务事实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F019282-C407-486C-B9FB-7B8A2FEB21BB}"/>
              </a:ext>
            </a:extLst>
          </p:cNvPr>
          <p:cNvSpPr>
            <a:spLocks noGrp="1"/>
          </p:cNvSpPr>
          <p:nvPr/>
        </p:nvSpPr>
        <p:spPr>
          <a:xfrm>
            <a:off x="7181850" y="3580130"/>
            <a:ext cx="85725" cy="8572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CA2DCCA-0A52-48F8-B9B6-6AD1004D5289}"/>
              </a:ext>
            </a:extLst>
          </p:cNvPr>
          <p:cNvSpPr>
            <a:spLocks noGrp="1"/>
          </p:cNvSpPr>
          <p:nvPr/>
        </p:nvSpPr>
        <p:spPr>
          <a:xfrm>
            <a:off x="7353300" y="3521710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 + 元数据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83AB10-723C-44B7-A5E2-E77204C40657}"/>
              </a:ext>
            </a:extLst>
          </p:cNvPr>
          <p:cNvSpPr>
            <a:spLocks noGrp="1"/>
          </p:cNvSpPr>
          <p:nvPr/>
        </p:nvSpPr>
        <p:spPr>
          <a:xfrm>
            <a:off x="7353300" y="3931285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 / Range / Filter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B5B27F-B326-4BDE-A61A-2668DF31C4FC}"/>
              </a:ext>
            </a:extLst>
          </p:cNvPr>
          <p:cNvSpPr>
            <a:spLocks noGrp="1"/>
          </p:cNvSpPr>
          <p:nvPr/>
        </p:nvSpPr>
        <p:spPr>
          <a:xfrm>
            <a:off x="7353300" y="4340860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HNSW · IVF · PQ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12847E-09CA-42AA-91B3-19F298D31973}"/>
              </a:ext>
            </a:extLst>
          </p:cNvPr>
          <p:cNvSpPr>
            <a:spLocks noGrp="1"/>
          </p:cNvSpPr>
          <p:nvPr/>
        </p:nvSpPr>
        <p:spPr>
          <a:xfrm>
            <a:off x="7353300" y="4750435"/>
            <a:ext cx="33337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低延迟、高召回、语义相关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EEB3DC1-12E6-4660-8B3C-880F939E7036}"/>
              </a:ext>
            </a:extLst>
          </p:cNvPr>
          <p:cNvSpPr>
            <a:spLocks noGrp="1"/>
          </p:cNvSpPr>
          <p:nvPr/>
        </p:nvSpPr>
        <p:spPr>
          <a:xfrm>
            <a:off x="5810250" y="3028950"/>
            <a:ext cx="590550" cy="59055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BEA62A-A47B-41EE-A803-71BAE25DC68F}"/>
              </a:ext>
            </a:extLst>
          </p:cNvPr>
          <p:cNvSpPr>
            <a:spLocks noGrp="1"/>
          </p:cNvSpPr>
          <p:nvPr/>
        </p:nvSpPr>
        <p:spPr>
          <a:xfrm>
            <a:off x="5818778" y="3233737"/>
            <a:ext cx="590550" cy="238125"/>
          </a:xfrm>
          <a:prstGeom prst="rect">
            <a:avLst/>
          </a:prstGeom>
        </p:spPr>
        <p:txBody>
          <a:bodyPr wrap="square" lIns="38100" tIns="19050" rIns="38100" bIns="19050" anchor="ctr">
            <a:normAutofit fontScale="99605" lnSpcReduction="10000"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</a:t>
            </a:r>
            <a:r>
              <a:rPr lang="en-US" sz="1425" b="1" i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1425" b="1" i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EB75F3B-4DBF-4411-AF71-A77C429D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791200"/>
            <a:ext cx="428625" cy="476250"/>
          </a:xfrm>
          <a:prstGeom prst="rect">
            <a:avLst/>
          </a:prstGeom>
        </p:spPr>
      </p:pic>
      <p:sp>
        <p:nvSpPr>
          <p:cNvPr id="31" name="圆角矩形 45">
            <a:extLst>
              <a:ext uri="{FF2B5EF4-FFF2-40B4-BE49-F238E27FC236}">
                <a16:creationId xmlns:a16="http://schemas.microsoft.com/office/drawing/2014/main" id="{BABD5302-CDA7-45C1-9950-C315D37F642C}"/>
              </a:ext>
            </a:extLst>
          </p:cNvPr>
          <p:cNvSpPr>
            <a:spLocks noGrp="1"/>
          </p:cNvSpPr>
          <p:nvPr/>
        </p:nvSpPr>
        <p:spPr>
          <a:xfrm>
            <a:off x="1847850" y="586740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32" name="圆角矩形 46">
            <a:extLst>
              <a:ext uri="{FF2B5EF4-FFF2-40B4-BE49-F238E27FC236}">
                <a16:creationId xmlns:a16="http://schemas.microsoft.com/office/drawing/2014/main" id="{548293B4-9A88-4850-B033-8B2C8CED4F59}"/>
              </a:ext>
            </a:extLst>
          </p:cNvPr>
          <p:cNvSpPr>
            <a:spLocks noGrp="1"/>
          </p:cNvSpPr>
          <p:nvPr/>
        </p:nvSpPr>
        <p:spPr>
          <a:xfrm>
            <a:off x="1828800" y="5848350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3C1CE9-705A-4E9C-B496-B167ADB22D21}"/>
              </a:ext>
            </a:extLst>
          </p:cNvPr>
          <p:cNvSpPr>
            <a:spLocks noGrp="1"/>
          </p:cNvSpPr>
          <p:nvPr/>
        </p:nvSpPr>
        <p:spPr>
          <a:xfrm>
            <a:off x="2038350" y="5943600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最佳实践：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7F81B39-60FE-48E6-9630-22EDE56619E3}"/>
              </a:ext>
            </a:extLst>
          </p:cNvPr>
          <p:cNvSpPr>
            <a:spLocks noGrp="1"/>
          </p:cNvSpPr>
          <p:nvPr/>
        </p:nvSpPr>
        <p:spPr>
          <a:xfrm>
            <a:off x="3215005" y="5953125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结构化事实留在 SQL，语义召回交给 Vector DB 或 pgvector。</a:t>
            </a:r>
          </a:p>
        </p:txBody>
      </p:sp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D1EDFAEE-C46F-4E43-8815-78B99E37040A}"/>
              </a:ext>
            </a:extLst>
          </p:cNvPr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7FE4EBD9-E338-4B62-810B-2DCE7F2C8C45}"/>
              </a:ext>
            </a:extLst>
          </p:cNvPr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直角三角形 36">
            <a:extLst>
              <a:ext uri="{FF2B5EF4-FFF2-40B4-BE49-F238E27FC236}">
                <a16:creationId xmlns:a16="http://schemas.microsoft.com/office/drawing/2014/main" id="{16FBE460-5F3E-4538-9431-9396FCF29504}"/>
              </a:ext>
            </a:extLst>
          </p:cNvPr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直角三角形 37">
            <a:extLst>
              <a:ext uri="{FF2B5EF4-FFF2-40B4-BE49-F238E27FC236}">
                <a16:creationId xmlns:a16="http://schemas.microsoft.com/office/drawing/2014/main" id="{1D3CBE56-640E-4720-8543-E4B31AD0F02B}"/>
              </a:ext>
            </a:extLst>
          </p:cNvPr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9D063EA7-2EA6-4973-9B0F-B7EBE68B2D9A}"/>
              </a:ext>
            </a:extLst>
          </p:cNvPr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FEDA3F8E-10F2-45C0-AC6E-C3DE84B57A76}"/>
              </a:ext>
            </a:extLst>
          </p:cNvPr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直角三角形 40">
            <a:extLst>
              <a:ext uri="{FF2B5EF4-FFF2-40B4-BE49-F238E27FC236}">
                <a16:creationId xmlns:a16="http://schemas.microsoft.com/office/drawing/2014/main" id="{EA3141F2-51F8-490A-831D-1DB34FD73ABF}"/>
              </a:ext>
            </a:extLst>
          </p:cNvPr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直角三角形 41">
            <a:extLst>
              <a:ext uri="{FF2B5EF4-FFF2-40B4-BE49-F238E27FC236}">
                <a16:creationId xmlns:a16="http://schemas.microsoft.com/office/drawing/2014/main" id="{93FC59EE-B6D0-460E-8979-980549662162}"/>
              </a:ext>
            </a:extLst>
          </p:cNvPr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7CE8A63F-FF69-4F2C-8D5E-01D888BC8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710" y="1509395"/>
            <a:ext cx="1546860" cy="1435100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C67BE42A-39D8-4965-92AC-7D68B1D59BC5}"/>
              </a:ext>
            </a:extLst>
          </p:cNvPr>
          <p:cNvSpPr>
            <a:spLocks noGrp="1"/>
          </p:cNvSpPr>
          <p:nvPr/>
        </p:nvSpPr>
        <p:spPr>
          <a:xfrm>
            <a:off x="1466850" y="3577590"/>
            <a:ext cx="85725" cy="8572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9AF05BA7-8E41-4850-B1D6-CFA05CD1BC98}"/>
              </a:ext>
            </a:extLst>
          </p:cNvPr>
          <p:cNvSpPr>
            <a:spLocks noGrp="1"/>
          </p:cNvSpPr>
          <p:nvPr/>
        </p:nvSpPr>
        <p:spPr>
          <a:xfrm>
            <a:off x="1466850" y="3987165"/>
            <a:ext cx="85725" cy="8572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D8E033F-4B3E-43B6-96A8-400FE858888E}"/>
              </a:ext>
            </a:extLst>
          </p:cNvPr>
          <p:cNvSpPr>
            <a:spLocks noGrp="1"/>
          </p:cNvSpPr>
          <p:nvPr/>
        </p:nvSpPr>
        <p:spPr>
          <a:xfrm>
            <a:off x="1466850" y="4396740"/>
            <a:ext cx="85725" cy="8572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5D07B397-6220-44D1-B07B-596F6FB1162D}"/>
              </a:ext>
            </a:extLst>
          </p:cNvPr>
          <p:cNvSpPr>
            <a:spLocks noGrp="1"/>
          </p:cNvSpPr>
          <p:nvPr/>
        </p:nvSpPr>
        <p:spPr>
          <a:xfrm>
            <a:off x="1466850" y="4806315"/>
            <a:ext cx="85725" cy="85725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62FC7BB-105E-49C4-BCEF-69D286B4B7D9}"/>
              </a:ext>
            </a:extLst>
          </p:cNvPr>
          <p:cNvSpPr>
            <a:spLocks noGrp="1"/>
          </p:cNvSpPr>
          <p:nvPr/>
        </p:nvSpPr>
        <p:spPr>
          <a:xfrm>
            <a:off x="7181850" y="3987165"/>
            <a:ext cx="85725" cy="8572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2F99ECFF-C13E-446E-B798-254C7E36D5E5}"/>
              </a:ext>
            </a:extLst>
          </p:cNvPr>
          <p:cNvSpPr>
            <a:spLocks noGrp="1"/>
          </p:cNvSpPr>
          <p:nvPr/>
        </p:nvSpPr>
        <p:spPr>
          <a:xfrm>
            <a:off x="7181850" y="4396740"/>
            <a:ext cx="85725" cy="85725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5E063214-6E4C-4E00-9DF4-996813D706E0}"/>
              </a:ext>
            </a:extLst>
          </p:cNvPr>
          <p:cNvSpPr>
            <a:spLocks noGrp="1"/>
          </p:cNvSpPr>
          <p:nvPr/>
        </p:nvSpPr>
        <p:spPr>
          <a:xfrm>
            <a:off x="7181850" y="4806315"/>
            <a:ext cx="85725" cy="85725"/>
          </a:xfrm>
          <a:prstGeom prst="ellipse">
            <a:avLst/>
          </a:prstGeom>
          <a:solidFill>
            <a:srgbClr val="009B9B"/>
          </a:solidFill>
        </p:spPr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C0F4DDD8-1DE6-4B57-96A4-F71190C5C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805" y="1509395"/>
            <a:ext cx="1564640" cy="143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0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生产架构：SQL 与向量检索在应用层会合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 flipV="1">
            <a:off x="1866900" y="954405"/>
            <a:ext cx="1590675" cy="45719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20760" y="969499"/>
            <a:ext cx="1704340" cy="49676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303502" y="842298"/>
            <a:ext cx="5356395" cy="28575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结构化事实、语义召回与业务规则共同决定最终结果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772025" y="1400175"/>
            <a:ext cx="2705100" cy="552450"/>
          </a:xfrm>
          <a:prstGeom prst="roundRect">
            <a:avLst>
              <a:gd name="adj" fmla="val 24138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743450" y="1371600"/>
            <a:ext cx="2705100" cy="552450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950" y="1447800"/>
            <a:ext cx="400050" cy="40005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5448300" y="1543050"/>
            <a:ext cx="1809750" cy="209550"/>
          </a:xfrm>
          <a:prstGeom prst="rect">
            <a:avLst/>
          </a:prstGeom>
        </p:spPr>
        <p:txBody>
          <a:bodyPr wrap="square" lIns="38100" tIns="19050" rIns="38100" bIns="19050" anchor="ctr">
            <a:normAutofit fontScale="98343"/>
          </a:bodyPr>
          <a:lstStyle/>
          <a:p>
            <a:pPr algn="l">
              <a:defRPr sz="112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 / RAG Service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96000" y="1924050"/>
            <a:ext cx="19050" cy="3429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095500" y="2266950"/>
            <a:ext cx="8020050" cy="1905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3622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9429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9144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8FBFE"/>
          </a:solidFill>
          <a:ln w="14288">
            <a:solidFill>
              <a:srgbClr val="0057E7"/>
            </a:solidFill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2724150"/>
            <a:ext cx="723900" cy="68580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2066925" y="2705100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PostgreSQL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066925" y="3092450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事务主库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066925" y="3456305"/>
            <a:ext cx="17145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 · 订单 · 权限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8293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44100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43815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534025" y="2705100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 DB</a:t>
            </a: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34025" y="3059430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语义检索层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556885" y="3456305"/>
            <a:ext cx="1242695" cy="27368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</a:t>
            </a:r>
            <a:r>
              <a:rPr lang="en-US"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</a:t>
            </a:r>
          </a:p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metadata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296400" y="2266950"/>
            <a:ext cx="19050" cy="2667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40" name="圆角矩形 39"/>
          <p:cNvSpPr>
            <a:spLocks noGrp="1"/>
          </p:cNvSpPr>
          <p:nvPr/>
        </p:nvSpPr>
        <p:spPr>
          <a:xfrm>
            <a:off x="7877175" y="2562225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E6E8EB"/>
          </a:solidFill>
        </p:spPr>
      </p:sp>
      <p:sp>
        <p:nvSpPr>
          <p:cNvPr id="41" name="圆角矩形 40"/>
          <p:cNvSpPr>
            <a:spLocks noGrp="1"/>
          </p:cNvSpPr>
          <p:nvPr/>
        </p:nvSpPr>
        <p:spPr>
          <a:xfrm>
            <a:off x="7848600" y="2533650"/>
            <a:ext cx="2895600" cy="1485900"/>
          </a:xfrm>
          <a:prstGeom prst="roundRect">
            <a:avLst>
              <a:gd name="adj" fmla="val 10256"/>
            </a:avLst>
          </a:prstGeom>
          <a:solidFill>
            <a:srgbClr val="F6F9FD"/>
          </a:solidFill>
          <a:ln w="14288">
            <a:solidFill>
              <a:srgbClr val="0057E7"/>
            </a:solidFill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050" y="2724150"/>
            <a:ext cx="723900" cy="685800"/>
          </a:xfrm>
          <a:prstGeom prst="rect">
            <a:avLst/>
          </a:prstGeom>
        </p:spPr>
      </p:pic>
      <p:sp>
        <p:nvSpPr>
          <p:cNvPr id="43" name="矩形 42"/>
          <p:cNvSpPr>
            <a:spLocks noGrp="1"/>
          </p:cNvSpPr>
          <p:nvPr/>
        </p:nvSpPr>
        <p:spPr>
          <a:xfrm>
            <a:off x="9001125" y="2779395"/>
            <a:ext cx="171450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PostgreSQL + pgvector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001125" y="325691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75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轻量一体化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001125" y="3539490"/>
            <a:ext cx="171450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 JOIN + ANN</a:t>
            </a:r>
          </a:p>
        </p:txBody>
      </p:sp>
      <p:sp>
        <p:nvSpPr>
          <p:cNvPr id="46" name="圆角矩形 45"/>
          <p:cNvSpPr>
            <a:spLocks noGrp="1"/>
          </p:cNvSpPr>
          <p:nvPr/>
        </p:nvSpPr>
        <p:spPr>
          <a:xfrm>
            <a:off x="1028700" y="4239260"/>
            <a:ext cx="1534160" cy="323215"/>
          </a:xfrm>
          <a:prstGeom prst="roundRect">
            <a:avLst>
              <a:gd name="adj" fmla="val 33333"/>
            </a:avLst>
          </a:prstGeom>
          <a:solidFill>
            <a:srgbClr val="FF6B1A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电商推荐示例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9334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48" name="圆角矩形 47"/>
          <p:cNvSpPr>
            <a:spLocks noGrp="1"/>
          </p:cNvSpPr>
          <p:nvPr/>
        </p:nvSpPr>
        <p:spPr>
          <a:xfrm>
            <a:off x="9144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4838700"/>
            <a:ext cx="457200" cy="457200"/>
          </a:xfrm>
          <a:prstGeom prst="rect">
            <a:avLst/>
          </a:prstGeom>
        </p:spPr>
      </p:pic>
      <p:sp>
        <p:nvSpPr>
          <p:cNvPr id="50" name="矩形 49"/>
          <p:cNvSpPr>
            <a:spLocks noGrp="1"/>
          </p:cNvSpPr>
          <p:nvPr/>
        </p:nvSpPr>
        <p:spPr>
          <a:xfrm>
            <a:off x="16002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PG 查询</a:t>
            </a: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600200" y="5145405"/>
            <a:ext cx="1506855" cy="15176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用户画像、购买历史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2670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36766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36576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9B9B"/>
            </a:solidFill>
          </a:ln>
        </p:spPr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4838700"/>
            <a:ext cx="457200" cy="457200"/>
          </a:xfrm>
          <a:prstGeom prst="rect">
            <a:avLst/>
          </a:prstGeom>
        </p:spPr>
      </p:pic>
      <p:sp>
        <p:nvSpPr>
          <p:cNvPr id="56" name="矩形 55"/>
          <p:cNvSpPr>
            <a:spLocks noGrp="1"/>
          </p:cNvSpPr>
          <p:nvPr/>
        </p:nvSpPr>
        <p:spPr>
          <a:xfrm>
            <a:off x="43434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Search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43400" y="5137150"/>
            <a:ext cx="1428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召回相似商品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0102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64198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64008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0057E7"/>
            </a:solidFill>
          </a:ln>
        </p:spPr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4838700"/>
            <a:ext cx="457200" cy="457200"/>
          </a:xfrm>
          <a:prstGeom prst="rect">
            <a:avLst/>
          </a:prstGeom>
        </p:spPr>
      </p:pic>
      <p:sp>
        <p:nvSpPr>
          <p:cNvPr id="62" name="矩形 61"/>
          <p:cNvSpPr>
            <a:spLocks noGrp="1"/>
          </p:cNvSpPr>
          <p:nvPr/>
        </p:nvSpPr>
        <p:spPr>
          <a:xfrm>
            <a:off x="70866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业务规则</a:t>
            </a: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6981825" y="5095875"/>
            <a:ext cx="1638935" cy="20002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库存、价格、权限过滤</a:t>
            </a: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753475" y="4981575"/>
            <a:ext cx="285750" cy="238125"/>
          </a:xfrm>
          <a:prstGeom prst="rect">
            <a:avLst/>
          </a:prstGeom>
        </p:spPr>
        <p:txBody>
          <a:bodyPr wrap="square" lIns="0" tIns="0" rIns="0" bIns="0" anchor="ctr">
            <a:normAutofit fontScale="95580" lnSpcReduction="10000"/>
          </a:bodyPr>
          <a:lstStyle/>
          <a:p>
            <a:pPr algn="ctr">
              <a:def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</a:p>
        </p:txBody>
      </p:sp>
      <p:sp>
        <p:nvSpPr>
          <p:cNvPr id="65" name="圆角矩形 64"/>
          <p:cNvSpPr>
            <a:spLocks noGrp="1"/>
          </p:cNvSpPr>
          <p:nvPr/>
        </p:nvSpPr>
        <p:spPr>
          <a:xfrm>
            <a:off x="9163050" y="46863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E6E8EB"/>
          </a:solidFill>
        </p:spPr>
      </p:sp>
      <p:sp>
        <p:nvSpPr>
          <p:cNvPr id="66" name="圆角矩形 65"/>
          <p:cNvSpPr>
            <a:spLocks noGrp="1"/>
          </p:cNvSpPr>
          <p:nvPr/>
        </p:nvSpPr>
        <p:spPr>
          <a:xfrm>
            <a:off x="9144000" y="466725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4288">
            <a:solidFill>
              <a:srgbClr val="1AA5A5"/>
            </a:solidFill>
          </a:ln>
        </p:spPr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7825" y="4838700"/>
            <a:ext cx="457200" cy="457200"/>
          </a:xfrm>
          <a:prstGeom prst="rect">
            <a:avLst/>
          </a:prstGeom>
        </p:spPr>
      </p:pic>
      <p:sp>
        <p:nvSpPr>
          <p:cNvPr id="68" name="矩形 67"/>
          <p:cNvSpPr>
            <a:spLocks noGrp="1"/>
          </p:cNvSpPr>
          <p:nvPr/>
        </p:nvSpPr>
        <p:spPr>
          <a:xfrm>
            <a:off x="9829800" y="4800600"/>
            <a:ext cx="1428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结果合并</a:t>
            </a: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829800" y="5120640"/>
            <a:ext cx="1428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个性化推荐列表</a:t>
            </a: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1847850" y="589597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E6E8EB"/>
          </a:solidFill>
        </p:spPr>
      </p:sp>
      <p:sp>
        <p:nvSpPr>
          <p:cNvPr id="72" name="圆角矩形 71"/>
          <p:cNvSpPr>
            <a:spLocks noGrp="1"/>
          </p:cNvSpPr>
          <p:nvPr/>
        </p:nvSpPr>
        <p:spPr>
          <a:xfrm>
            <a:off x="1828800" y="5876925"/>
            <a:ext cx="8839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4288">
            <a:solidFill>
              <a:srgbClr val="FF6B1A"/>
            </a:solidFill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2038350" y="5972175"/>
            <a:ext cx="18097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defRPr sz="12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6B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核心原则：</a:t>
            </a: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3107055" y="5984240"/>
            <a:ext cx="6572250" cy="24765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l">
              <a:buClrTx/>
              <a:buSzTx/>
              <a:buFontTx/>
              <a:defRPr sz="12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不要做选择题，按数据职责拆分，再在应用层组合。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2775" y="2661285"/>
            <a:ext cx="1059180" cy="96774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814982">
            <a:off x="1420017" y="5749925"/>
            <a:ext cx="542925" cy="603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向量数据库生态：按能力边界与部署方式选型</a:t>
            </a:r>
            <a:endParaRPr sz="255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048125" y="838200"/>
            <a:ext cx="4095750" cy="285750"/>
          </a:xfrm>
          <a:prstGeom prst="rect">
            <a:avLst/>
          </a:prstGeom>
        </p:spPr>
        <p:txBody>
          <a:bodyPr wrap="square" lIns="0" tIns="0" rIns="0" bIns="0" anchor="ctr">
            <a:normAutofit fontScale="97500" lnSpcReduction="10000"/>
          </a:bodyPr>
          <a:lstStyle/>
          <a:p>
            <a:pPr algn="ctr"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产品只是实现，约束条件才是起点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0487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DF5FF"/>
          </a:solidFill>
          <a:ln w="14288">
            <a:solidFill>
              <a:srgbClr val="0057E7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32560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 Vector DB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32560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完整数据库能力</a:t>
            </a: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439102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436245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AF9F7"/>
          </a:solidFill>
          <a:ln w="14288">
            <a:solidFill>
              <a:srgbClr val="009B9B"/>
            </a:solidFill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257165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托管服务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257165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降低运维负担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877175" y="1419225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E6E8EB"/>
          </a:solidFill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48600" y="1390650"/>
            <a:ext cx="3143250" cy="1000125"/>
          </a:xfrm>
          <a:prstGeom prst="roundRect">
            <a:avLst>
              <a:gd name="adj" fmla="val 14286"/>
            </a:avLst>
          </a:prstGeom>
          <a:solidFill>
            <a:srgbClr val="FFF4EB"/>
          </a:solidFill>
          <a:ln w="14288">
            <a:solidFill>
              <a:srgbClr val="FF6B1A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611235" y="1581150"/>
            <a:ext cx="2165350" cy="2095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DB 扩展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611235" y="1914525"/>
            <a:ext cx="1905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9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复用现有基础设施</a:t>
            </a: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904875" y="2771775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35" name="圆角矩形 34"/>
          <p:cNvSpPr>
            <a:spLocks noGrp="1"/>
          </p:cNvSpPr>
          <p:nvPr/>
        </p:nvSpPr>
        <p:spPr>
          <a:xfrm>
            <a:off x="876300" y="2531745"/>
            <a:ext cx="4857750" cy="118300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371090" y="278574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Milvus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47440" y="278574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多索引体系</a:t>
            </a: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371090" y="306197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HNSW · IVF · DiskANN · GPU</a:t>
            </a: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2371089" y="3300094"/>
            <a:ext cx="2019935" cy="319405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大规模、多样工作负载</a:t>
            </a: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124575" y="2771775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6096000" y="2531745"/>
            <a:ext cx="4857750" cy="118300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508240" y="280225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Qdrant</a:t>
            </a: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8784590" y="280225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过滤友好的 HNSW</a:t>
            </a: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508240" y="307848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HNSW + payload index</a:t>
            </a:r>
          </a:p>
        </p:txBody>
      </p:sp>
      <p:sp>
        <p:nvSpPr>
          <p:cNvPr id="47" name="圆角矩形 46"/>
          <p:cNvSpPr>
            <a:spLocks noGrp="1"/>
          </p:cNvSpPr>
          <p:nvPr/>
        </p:nvSpPr>
        <p:spPr>
          <a:xfrm>
            <a:off x="7508239" y="3316605"/>
            <a:ext cx="2032709" cy="28575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低延迟、过滤检索</a:t>
            </a: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904875" y="3924300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876300" y="3895725"/>
            <a:ext cx="4857750" cy="1171575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FF6B1A"/>
            </a:solidFill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379345" y="4086860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Pinecone</a:t>
            </a: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3655695" y="4086860"/>
            <a:ext cx="2333625" cy="190500"/>
          </a:xfrm>
          <a:prstGeom prst="rect">
            <a:avLst/>
          </a:prstGeom>
          <a:noFill/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托管检索服务</a:t>
            </a: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379345" y="4363085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dense / sparse / hybrid</a:t>
            </a:r>
          </a:p>
        </p:txBody>
      </p:sp>
      <p:sp>
        <p:nvSpPr>
          <p:cNvPr id="54" name="圆角矩形 53"/>
          <p:cNvSpPr>
            <a:spLocks noGrp="1"/>
          </p:cNvSpPr>
          <p:nvPr/>
        </p:nvSpPr>
        <p:spPr>
          <a:xfrm>
            <a:off x="2379344" y="4601210"/>
            <a:ext cx="2011679" cy="29464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减少基础设施运维</a:t>
            </a: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6124575" y="3924300"/>
            <a:ext cx="4857750" cy="971550"/>
          </a:xfrm>
          <a:prstGeom prst="roundRect">
            <a:avLst>
              <a:gd name="adj" fmla="val 13725"/>
            </a:avLst>
          </a:prstGeom>
          <a:solidFill>
            <a:srgbClr val="E6E8EB"/>
          </a:solidFill>
        </p:spPr>
      </p:sp>
      <p:sp>
        <p:nvSpPr>
          <p:cNvPr id="56" name="圆角矩形 55"/>
          <p:cNvSpPr>
            <a:spLocks noGrp="1"/>
          </p:cNvSpPr>
          <p:nvPr/>
        </p:nvSpPr>
        <p:spPr>
          <a:xfrm>
            <a:off x="6096000" y="3895725"/>
            <a:ext cx="4857750" cy="1137920"/>
          </a:xfrm>
          <a:prstGeom prst="roundRect">
            <a:avLst>
              <a:gd name="adj" fmla="val 13725"/>
            </a:avLst>
          </a:prstGeom>
          <a:solidFill>
            <a:srgbClr val="FEFEFE"/>
          </a:solidFill>
          <a:ln w="14288">
            <a:solidFill>
              <a:srgbClr val="6557E8"/>
            </a:solidFill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458710" y="4078605"/>
            <a:ext cx="12382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800" b="1" i="0">
                <a:solidFill>
                  <a:srgbClr val="071B63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pgvector</a:t>
            </a: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8735060" y="4078605"/>
            <a:ext cx="2333625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1323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 扩展</a:t>
            </a: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458710" y="4354830"/>
            <a:ext cx="35242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400" b="0" i="0">
                <a:solidFill>
                  <a:srgbClr val="68778A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HNSW · IVFFlat · JOIN</a:t>
            </a:r>
          </a:p>
        </p:txBody>
      </p:sp>
      <p:sp>
        <p:nvSpPr>
          <p:cNvPr id="61" name="圆角矩形 60"/>
          <p:cNvSpPr>
            <a:spLocks noGrp="1"/>
          </p:cNvSpPr>
          <p:nvPr/>
        </p:nvSpPr>
        <p:spPr>
          <a:xfrm>
            <a:off x="7458710" y="4592955"/>
            <a:ext cx="2700559" cy="312420"/>
          </a:xfrm>
          <a:prstGeom prst="roundRect">
            <a:avLst>
              <a:gd name="adj" fmla="val 33333"/>
            </a:avLst>
          </a:prstGeom>
          <a:solidFill>
            <a:srgbClr val="071B63"/>
          </a:solidFill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 PostgreSQL 基础设施</a:t>
            </a: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876300" y="5238750"/>
            <a:ext cx="10458450" cy="638175"/>
          </a:xfrm>
          <a:prstGeom prst="roundRect">
            <a:avLst>
              <a:gd name="adj" fmla="val 17910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1123950" y="5342255"/>
            <a:ext cx="10600055" cy="408305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选型顺序： 数据规模 → 延迟与召回 → 过滤复杂度 → 运维能力 → 合规要求 → 用真实数据做 Benchmark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2613660"/>
            <a:ext cx="1094740" cy="1005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425" y="2620010"/>
            <a:ext cx="1198880" cy="10267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340" y="3979545"/>
            <a:ext cx="943610" cy="10039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" y="3945890"/>
            <a:ext cx="1096010" cy="108775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1524635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前沿挑战：从“更快 ANN”走向可信检索基础设施</a:t>
            </a:r>
            <a:endParaRPr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66901" y="1000124"/>
            <a:ext cx="1769376" cy="73738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8192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973456"/>
            <a:ext cx="1885949" cy="55244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277475" y="96202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7E7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724024" y="881063"/>
            <a:ext cx="4585512" cy="285750"/>
          </a:xfrm>
          <a:prstGeom prst="rect">
            <a:avLst/>
          </a:prstGeom>
        </p:spPr>
        <p:txBody>
          <a:bodyPr wrap="square" lIns="0" tIns="0" rIns="0" bIns="0" anchor="ctr">
            <a:normAutofit fontScale="95000" lnSpcReduction="10000"/>
          </a:bodyPr>
          <a:lstStyle/>
          <a:p>
            <a:pPr algn="ctr">
              <a:buClrTx/>
              <a:buSzTx/>
              <a:buFontTx/>
              <a:defRPr sz="1200" b="1" i="0">
                <a:solidFill>
                  <a:srgbClr val="0057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045E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动态性、多模态与评测体系正在成为新主线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858500" y="6543675"/>
            <a:ext cx="781050" cy="17145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r">
              <a:def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/ 24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90487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7630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9F9F9"/>
          </a:solidFill>
          <a:ln w="14288">
            <a:solidFill>
              <a:srgbClr val="0057E7"/>
            </a:solidFill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103822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1009650" y="1562100"/>
            <a:ext cx="323850" cy="3238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0965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66850" y="156210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超大规模低延迟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66850" y="186690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DiskANN · 异构计算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39102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436245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009B9B"/>
            </a:solidFill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452437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4495800" y="1562100"/>
            <a:ext cx="323850" cy="3238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49580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953000" y="156210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动态索引维护</a:t>
            </a: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953000" y="186690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增量更新 · 动态图</a:t>
            </a: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7877175" y="141922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36" name="圆角矩形 35"/>
          <p:cNvSpPr>
            <a:spLocks noGrp="1"/>
          </p:cNvSpPr>
          <p:nvPr/>
        </p:nvSpPr>
        <p:spPr>
          <a:xfrm>
            <a:off x="7848600" y="139065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FF6B1A"/>
            </a:solidFill>
          </a:ln>
        </p:spPr>
      </p:sp>
      <p:sp>
        <p:nvSpPr>
          <p:cNvPr id="37" name="椭圆 36"/>
          <p:cNvSpPr>
            <a:spLocks noGrp="1"/>
          </p:cNvSpPr>
          <p:nvPr/>
        </p:nvSpPr>
        <p:spPr>
          <a:xfrm>
            <a:off x="8010525" y="159067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7981950" y="1562100"/>
            <a:ext cx="323850" cy="32385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981950" y="161925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323580" y="1562100"/>
            <a:ext cx="193421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Vector + Scalar</a:t>
            </a: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23580" y="186690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联合优化 · 查询规划</a:t>
            </a: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90487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44" name="圆角矩形 43"/>
          <p:cNvSpPr>
            <a:spLocks noGrp="1"/>
          </p:cNvSpPr>
          <p:nvPr/>
        </p:nvSpPr>
        <p:spPr>
          <a:xfrm>
            <a:off x="87630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6557E8"/>
            </a:solidFill>
          </a:ln>
        </p:spPr>
      </p:sp>
      <p:sp>
        <p:nvSpPr>
          <p:cNvPr id="45" name="椭圆 44"/>
          <p:cNvSpPr>
            <a:spLocks noGrp="1"/>
          </p:cNvSpPr>
          <p:nvPr/>
        </p:nvSpPr>
        <p:spPr>
          <a:xfrm>
            <a:off x="103822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1009650" y="2647950"/>
            <a:ext cx="323850" cy="32385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0965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146685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Filtered Search</a:t>
            </a: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466850" y="295275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过滤后保持召回</a:t>
            </a:r>
          </a:p>
        </p:txBody>
      </p:sp>
      <p:sp>
        <p:nvSpPr>
          <p:cNvPr id="51" name="圆角矩形 50"/>
          <p:cNvSpPr>
            <a:spLocks noGrp="1"/>
          </p:cNvSpPr>
          <p:nvPr/>
        </p:nvSpPr>
        <p:spPr>
          <a:xfrm>
            <a:off x="439102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</p:spPr>
      </p:sp>
      <p:sp>
        <p:nvSpPr>
          <p:cNvPr id="52" name="圆角矩形 51"/>
          <p:cNvSpPr>
            <a:spLocks noGrp="1"/>
          </p:cNvSpPr>
          <p:nvPr/>
        </p:nvSpPr>
        <p:spPr>
          <a:xfrm>
            <a:off x="436245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EFEFE"/>
          </a:solidFill>
          <a:ln w="14288">
            <a:solidFill>
              <a:srgbClr val="0057E7"/>
            </a:solidFill>
          </a:ln>
        </p:spPr>
      </p:sp>
      <p:sp>
        <p:nvSpPr>
          <p:cNvPr id="53" name="椭圆 52"/>
          <p:cNvSpPr>
            <a:spLocks noGrp="1"/>
          </p:cNvSpPr>
          <p:nvPr/>
        </p:nvSpPr>
        <p:spPr>
          <a:xfrm>
            <a:off x="452437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54" name="椭圆 53"/>
          <p:cNvSpPr>
            <a:spLocks noGrp="1"/>
          </p:cNvSpPr>
          <p:nvPr/>
        </p:nvSpPr>
        <p:spPr>
          <a:xfrm>
            <a:off x="4495800" y="2647950"/>
            <a:ext cx="323850" cy="32385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449580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95300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多模态检索</a:t>
            </a: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4953000" y="2952750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统一嵌入空间</a:t>
            </a:r>
          </a:p>
        </p:txBody>
      </p:sp>
      <p:sp>
        <p:nvSpPr>
          <p:cNvPr id="59" name="圆角矩形 58"/>
          <p:cNvSpPr>
            <a:spLocks noGrp="1"/>
          </p:cNvSpPr>
          <p:nvPr/>
        </p:nvSpPr>
        <p:spPr>
          <a:xfrm>
            <a:off x="7877175" y="2505075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E6E8EB"/>
          </a:solidFill>
        </p:spPr>
      </p:sp>
      <p:sp>
        <p:nvSpPr>
          <p:cNvPr id="60" name="圆角矩形 59"/>
          <p:cNvSpPr>
            <a:spLocks noGrp="1"/>
          </p:cNvSpPr>
          <p:nvPr/>
        </p:nvSpPr>
        <p:spPr>
          <a:xfrm>
            <a:off x="7848600" y="2476500"/>
            <a:ext cx="3143250" cy="857250"/>
          </a:xfrm>
          <a:prstGeom prst="roundRect">
            <a:avLst>
              <a:gd name="adj" fmla="val 15556"/>
            </a:avLst>
          </a:prstGeom>
          <a:solidFill>
            <a:srgbClr val="FBFBFB"/>
          </a:solidFill>
          <a:ln w="14288">
            <a:solidFill>
              <a:srgbClr val="009B9B"/>
            </a:solidFill>
          </a:ln>
        </p:spPr>
      </p:sp>
      <p:sp>
        <p:nvSpPr>
          <p:cNvPr id="61" name="椭圆 60"/>
          <p:cNvSpPr>
            <a:spLocks noGrp="1"/>
          </p:cNvSpPr>
          <p:nvPr/>
        </p:nvSpPr>
        <p:spPr>
          <a:xfrm>
            <a:off x="8010525" y="2676525"/>
            <a:ext cx="323850" cy="323850"/>
          </a:xfrm>
          <a:prstGeom prst="ellipse">
            <a:avLst/>
          </a:prstGeom>
          <a:solidFill>
            <a:srgbClr val="D8DEE8"/>
          </a:solidFill>
        </p:spPr>
      </p:sp>
      <p:sp>
        <p:nvSpPr>
          <p:cNvPr id="62" name="椭圆 61"/>
          <p:cNvSpPr>
            <a:spLocks noGrp="1"/>
          </p:cNvSpPr>
          <p:nvPr/>
        </p:nvSpPr>
        <p:spPr>
          <a:xfrm>
            <a:off x="7981950" y="2647950"/>
            <a:ext cx="323850" cy="323850"/>
          </a:xfrm>
          <a:prstGeom prst="ellipse">
            <a:avLst/>
          </a:prstGeom>
          <a:solidFill>
            <a:srgbClr val="009B9B"/>
          </a:solidFill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7981950" y="2705100"/>
            <a:ext cx="323850" cy="2667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8439150" y="2647950"/>
            <a:ext cx="1809750" cy="1905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0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GraphRAG / Agentic RAG</a:t>
            </a: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439150" y="3060065"/>
            <a:ext cx="180975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825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多跳推理 · 自主检索</a:t>
            </a: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76275" y="3672840"/>
            <a:ext cx="2857500" cy="2286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/>
              <a:t>未来演进趋势</a:t>
            </a:r>
            <a:endParaRPr lang="zh-CN" altLang="en-US" sz="2400" b="1" i="0">
              <a:solidFill>
                <a:srgbClr val="071B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200150" y="4533900"/>
            <a:ext cx="9848850" cy="38100"/>
          </a:xfrm>
          <a:prstGeom prst="rect">
            <a:avLst/>
          </a:prstGeom>
          <a:solidFill>
            <a:srgbClr val="D7DFEA"/>
          </a:solidFill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1200150" y="4438650"/>
            <a:ext cx="228600" cy="228600"/>
          </a:xfrm>
          <a:prstGeom prst="ellipse">
            <a:avLst/>
          </a:prstGeom>
          <a:solidFill>
            <a:srgbClr val="0057E7"/>
          </a:solidFill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3345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762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硬件加速</a:t>
            </a: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47625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/ DiskANN</a:t>
            </a:r>
          </a:p>
        </p:txBody>
      </p:sp>
      <p:sp>
        <p:nvSpPr>
          <p:cNvPr id="73" name="椭圆 72"/>
          <p:cNvSpPr>
            <a:spLocks noGrp="1"/>
          </p:cNvSpPr>
          <p:nvPr/>
        </p:nvSpPr>
        <p:spPr>
          <a:xfrm>
            <a:off x="3657600" y="4438650"/>
            <a:ext cx="228600" cy="228600"/>
          </a:xfrm>
          <a:prstGeom prst="ellipse">
            <a:avLst/>
          </a:prstGeom>
          <a:solidFill>
            <a:srgbClr val="00A663"/>
          </a:solidFill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39090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2-5 年</a:t>
            </a: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313372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AI-Native</a:t>
            </a: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93370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自动选索引与调参</a:t>
            </a:r>
          </a:p>
        </p:txBody>
      </p:sp>
      <p:sp>
        <p:nvSpPr>
          <p:cNvPr id="77" name="椭圆 76"/>
          <p:cNvSpPr>
            <a:spLocks noGrp="1"/>
          </p:cNvSpPr>
          <p:nvPr/>
        </p:nvSpPr>
        <p:spPr>
          <a:xfrm>
            <a:off x="6115050" y="4438650"/>
            <a:ext cx="228600" cy="228600"/>
          </a:xfrm>
          <a:prstGeom prst="ellipse">
            <a:avLst/>
          </a:prstGeom>
          <a:solidFill>
            <a:srgbClr val="FF6B1A"/>
          </a:solidFill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84835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3-5 年</a:t>
            </a: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55911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多模态统一</a:t>
            </a: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539115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文本、图像、音视频</a:t>
            </a:r>
          </a:p>
        </p:txBody>
      </p:sp>
      <p:sp>
        <p:nvSpPr>
          <p:cNvPr id="81" name="椭圆 80"/>
          <p:cNvSpPr>
            <a:spLocks noGrp="1"/>
          </p:cNvSpPr>
          <p:nvPr/>
        </p:nvSpPr>
        <p:spPr>
          <a:xfrm>
            <a:off x="8572500" y="4438650"/>
            <a:ext cx="228600" cy="228600"/>
          </a:xfrm>
          <a:prstGeom prst="ellipse">
            <a:avLst/>
          </a:prstGeom>
          <a:solidFill>
            <a:srgbClr val="6557E8"/>
          </a:solidFill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830580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3-7 年</a:t>
            </a: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804862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边缘部署</a:t>
            </a: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7848600" y="5057775"/>
            <a:ext cx="17145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75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 i="0">
                <a:solidFill>
                  <a:srgbClr val="6877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轻量模型、本地推理</a:t>
            </a:r>
          </a:p>
        </p:txBody>
      </p:sp>
      <p:sp>
        <p:nvSpPr>
          <p:cNvPr id="85" name="椭圆 84"/>
          <p:cNvSpPr>
            <a:spLocks noGrp="1"/>
          </p:cNvSpPr>
          <p:nvPr/>
        </p:nvSpPr>
        <p:spPr>
          <a:xfrm>
            <a:off x="11029950" y="4438650"/>
            <a:ext cx="228600" cy="228600"/>
          </a:xfrm>
          <a:prstGeom prst="ellipse">
            <a:avLst/>
          </a:prstGeom>
          <a:solidFill>
            <a:srgbClr val="071B63"/>
          </a:solidFill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0763250" y="4095750"/>
            <a:ext cx="762000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82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</a:t>
            </a: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10506075" y="4819650"/>
            <a:ext cx="1285875" cy="17145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ctr">
              <a:defRPr sz="975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标准化</a:t>
            </a: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428750" y="5591175"/>
            <a:ext cx="9192590" cy="523875"/>
          </a:xfrm>
          <a:prstGeom prst="roundRect">
            <a:avLst>
              <a:gd name="adj" fmla="val 21818"/>
            </a:avLst>
          </a:prstGeom>
          <a:solidFill>
            <a:srgbClr val="071B63"/>
          </a:solidFill>
          <a:ln w="14288">
            <a:solidFill>
              <a:srgbClr val="071B63"/>
            </a:solidFill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1605071" y="5884544"/>
            <a:ext cx="9016269" cy="266700"/>
          </a:xfrm>
          <a:prstGeom prst="rect">
            <a:avLst/>
          </a:prstGeom>
        </p:spPr>
        <p:txBody>
          <a:bodyPr wrap="square" lIns="38100" tIns="19050" rIns="38100" bIns="19050" anchor="ctr"/>
          <a:lstStyle/>
          <a:p>
            <a:pPr algn="l">
              <a:def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结论：掌握向量检索，不只是会调一个索引，而是理解 AI 时代的数据基础设施。</a:t>
            </a:r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525270"/>
            <a:ext cx="640715" cy="5956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1494790"/>
            <a:ext cx="704215" cy="648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455" y="1530350"/>
            <a:ext cx="849630" cy="6184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7705" y="2613660"/>
            <a:ext cx="738505" cy="6407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583815"/>
            <a:ext cx="818515" cy="6705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1745" y="2545715"/>
            <a:ext cx="793750" cy="7550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-635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714500" y="228600"/>
            <a:ext cx="8763000" cy="495300"/>
          </a:xfrm>
          <a:prstGeom prst="rect">
            <a:avLst/>
          </a:prstGeom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defRPr sz="2550" b="1" i="0">
                <a:solidFill>
                  <a:srgbClr val="071B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00" b="1" i="0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 flipV="1">
            <a:off x="1866900" y="942975"/>
            <a:ext cx="8514715" cy="7620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172450" y="1000125"/>
            <a:ext cx="2152650" cy="19050"/>
          </a:xfrm>
          <a:prstGeom prst="rect">
            <a:avLst/>
          </a:prstGeom>
          <a:solidFill>
            <a:srgbClr val="0057E7"/>
          </a:solidFill>
        </p:spPr>
      </p:sp>
      <p:sp>
        <p:nvSpPr>
          <p:cNvPr id="31" name="直角三角形 30"/>
          <p:cNvSpPr>
            <a:spLocks noGrp="1"/>
          </p:cNvSpPr>
          <p:nvPr/>
        </p:nvSpPr>
        <p:spPr>
          <a:xfrm>
            <a:off x="-11628" y="5265497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直角三角形 31"/>
          <p:cNvSpPr>
            <a:spLocks noGrp="1"/>
          </p:cNvSpPr>
          <p:nvPr/>
        </p:nvSpPr>
        <p:spPr>
          <a:xfrm rot="5400000">
            <a:off x="-390044" y="624996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直角三角形 32"/>
          <p:cNvSpPr>
            <a:spLocks noGrp="1"/>
          </p:cNvSpPr>
          <p:nvPr/>
        </p:nvSpPr>
        <p:spPr>
          <a:xfrm rot="5400000">
            <a:off x="223454" y="-197419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直角三角形 33"/>
          <p:cNvSpPr>
            <a:spLocks noGrp="1"/>
          </p:cNvSpPr>
          <p:nvPr/>
        </p:nvSpPr>
        <p:spPr>
          <a:xfrm rot="10800000">
            <a:off x="9292125" y="2667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直角三角形 34"/>
          <p:cNvSpPr>
            <a:spLocks noGrp="1"/>
          </p:cNvSpPr>
          <p:nvPr/>
        </p:nvSpPr>
        <p:spPr>
          <a:xfrm rot="10800000">
            <a:off x="10593477" y="19685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角三角形 35"/>
          <p:cNvSpPr>
            <a:spLocks noGrp="1"/>
          </p:cNvSpPr>
          <p:nvPr/>
        </p:nvSpPr>
        <p:spPr>
          <a:xfrm>
            <a:off x="3175" y="4822177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直角三角形 36"/>
          <p:cNvSpPr>
            <a:spLocks noGrp="1"/>
          </p:cNvSpPr>
          <p:nvPr/>
        </p:nvSpPr>
        <p:spPr>
          <a:xfrm rot="16200000">
            <a:off x="10202630" y="484978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直角三角形 37"/>
          <p:cNvSpPr>
            <a:spLocks noGrp="1"/>
          </p:cNvSpPr>
          <p:nvPr/>
        </p:nvSpPr>
        <p:spPr>
          <a:xfrm rot="16200000">
            <a:off x="10387803" y="5022771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1478915" y="1031240"/>
            <a:ext cx="1021080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/>
              <a:t>[1] LEWIS P, PEREZ E, PIKTUS A, et al. Retrieval-Augmented Generation for Knowledge-Intensive NLP Tasks[C]//Advances in Neural Information Processing Systems. 2020. </a:t>
            </a:r>
          </a:p>
          <a:p>
            <a:r>
              <a:rPr lang="en-US" altLang="zh-CN"/>
              <a:t>[2] GAO Y, XIONG Y, GAO X, et al. Retrieval-Augmented Generation for Large Language Models: A Survey[EB/OL]. arXiv:2312.10997, 2024. </a:t>
            </a:r>
          </a:p>
          <a:p>
            <a:r>
              <a:rPr lang="en-US" altLang="zh-CN"/>
              <a:t>[3] PAN J J, WANG J, LI G. Survey of Vector Database Management Systems[EB/OL]. arXiv:2310.14021, 2023. </a:t>
            </a:r>
          </a:p>
          <a:p>
            <a:r>
              <a:rPr lang="en-US" altLang="zh-CN"/>
              <a:t>[4] MA L, ZHANG R, HAN Y, et al. A Comprehensive Survey on Vector Database: Storage and Retrieval Technique, Challenge[EB/OL]. arXiv:2310.11703, 2026. </a:t>
            </a:r>
          </a:p>
          <a:p>
            <a:r>
              <a:rPr lang="en-US" altLang="zh-CN"/>
              <a:t>[5] MALKOV Y A, YASHUNIN D A. Efficient and Robust Approximate Nearest Neighbor Search Using Hierarchical Navigable Small World Graphs[J]. IEEE Transactions on Pattern Analysis and Machine Intelligence, 2020, 42(4): 824-836. </a:t>
            </a:r>
          </a:p>
          <a:p>
            <a:r>
              <a:rPr lang="en-US" altLang="zh-CN"/>
              <a:t>[6] JOHNSON J, DOUZE M, JÉGOU H. Billion-scale Similarity Search with GPUs[J]. IEEE Transactions on Big Data, 2021, 7(3): 535-547. </a:t>
            </a:r>
          </a:p>
          <a:p>
            <a:r>
              <a:rPr lang="en-US" altLang="zh-CN"/>
              <a:t>[7] Datawhale. All-in-RAG: </a:t>
            </a:r>
            <a:r>
              <a:rPr lang="zh-CN" altLang="en-US"/>
              <a:t>大模型应用开发实战</a:t>
            </a:r>
            <a:r>
              <a:rPr lang="en-US" altLang="zh-CN"/>
              <a:t>——</a:t>
            </a:r>
            <a:r>
              <a:rPr lang="zh-CN" altLang="en-US"/>
              <a:t>向量数据库章节</a:t>
            </a:r>
            <a:r>
              <a:rPr lang="en-US" altLang="zh-CN"/>
              <a:t>[EB/OL]. </a:t>
            </a:r>
          </a:p>
          <a:p>
            <a:r>
              <a:rPr lang="en-US" altLang="zh-CN"/>
              <a:t>[8] Milvus. Index Explained[EB/OL]. Milvus Documentation. </a:t>
            </a:r>
          </a:p>
          <a:p>
            <a:r>
              <a:rPr lang="en-US" altLang="zh-CN"/>
              <a:t>[9] Milvus. IVF_PQ[EB/OL]. Milvus Documentation. </a:t>
            </a:r>
          </a:p>
          <a:p>
            <a:r>
              <a:rPr lang="en-US" altLang="zh-CN"/>
              <a:t>[10] Qdrant. Indexing[EB/OL]. Qdrant Documentation. </a:t>
            </a:r>
          </a:p>
          <a:p>
            <a:r>
              <a:rPr lang="en-US" altLang="zh-CN"/>
              <a:t>[11] Qdrant. Hybrid Search with Reranking[EB/OL]. Qdrant Documentation. </a:t>
            </a:r>
          </a:p>
          <a:p>
            <a:r>
              <a:rPr lang="en-US" altLang="zh-CN"/>
              <a:t>[12] Weaviate. Vector Indexing[EB/OL]. Weaviate Documentation. </a:t>
            </a:r>
          </a:p>
          <a:p>
            <a:r>
              <a:rPr lang="en-US" altLang="zh-CN"/>
              <a:t>[13] Weaviate. Hybrid Search[EB/OL]. Weaviate Documentation. </a:t>
            </a:r>
          </a:p>
          <a:p>
            <a:r>
              <a:rPr lang="en-US" altLang="zh-CN"/>
              <a:t>[14] pgvector. pgvector README[EB/OL]. GitHub Repository. </a:t>
            </a:r>
          </a:p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2" name="直角三角形 151"/>
          <p:cNvSpPr>
            <a:spLocks noGrp="1"/>
          </p:cNvSpPr>
          <p:nvPr/>
        </p:nvSpPr>
        <p:spPr>
          <a:xfrm>
            <a:off x="-6548" y="5245812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直角三角形 147"/>
          <p:cNvSpPr>
            <a:spLocks noGrp="1"/>
          </p:cNvSpPr>
          <p:nvPr/>
        </p:nvSpPr>
        <p:spPr>
          <a:xfrm rot="5400000">
            <a:off x="-396394" y="416081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直角三角形 148"/>
          <p:cNvSpPr>
            <a:spLocks noGrp="1"/>
          </p:cNvSpPr>
          <p:nvPr/>
        </p:nvSpPr>
        <p:spPr>
          <a:xfrm rot="5400000">
            <a:off x="217104" y="-217104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直角三角形 149"/>
          <p:cNvSpPr>
            <a:spLocks noGrp="1"/>
          </p:cNvSpPr>
          <p:nvPr/>
        </p:nvSpPr>
        <p:spPr>
          <a:xfrm rot="10800000">
            <a:off x="9452145" y="0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直角三角形 150"/>
          <p:cNvSpPr>
            <a:spLocks noGrp="1"/>
          </p:cNvSpPr>
          <p:nvPr/>
        </p:nvSpPr>
        <p:spPr>
          <a:xfrm rot="10800000">
            <a:off x="10593477" y="0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直角三角形 152"/>
          <p:cNvSpPr>
            <a:spLocks noGrp="1"/>
          </p:cNvSpPr>
          <p:nvPr/>
        </p:nvSpPr>
        <p:spPr>
          <a:xfrm>
            <a:off x="0" y="4802492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直角三角形 153"/>
          <p:cNvSpPr>
            <a:spLocks noGrp="1"/>
          </p:cNvSpPr>
          <p:nvPr/>
        </p:nvSpPr>
        <p:spPr>
          <a:xfrm rot="16200000">
            <a:off x="10207710" y="4788824"/>
            <a:ext cx="2384763" cy="1591978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5" name="直角三角形 154"/>
          <p:cNvSpPr>
            <a:spLocks noGrp="1"/>
          </p:cNvSpPr>
          <p:nvPr/>
        </p:nvSpPr>
        <p:spPr>
          <a:xfrm rot="16200000">
            <a:off x="10376373" y="5019596"/>
            <a:ext cx="1598523" cy="2032731"/>
          </a:xfrm>
          <a:prstGeom prst="rt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4272280" y="2667000"/>
            <a:ext cx="3769995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6600" b="1">
                <a:solidFill>
                  <a:srgbClr val="000D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2355</Words>
  <Application>Microsoft Office PowerPoint</Application>
  <PresentationFormat>宽屏</PresentationFormat>
  <Paragraphs>630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等线</vt:lpstr>
      <vt:lpstr>微软雅黑</vt:lpstr>
      <vt:lpstr>Arial</vt:lpstr>
      <vt:lpstr>Calibri</vt:lpstr>
      <vt:lpstr>Calibri Light</vt:lpstr>
      <vt:lpstr>Cambria Math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可函 幸</cp:lastModifiedBy>
  <cp:revision>34</cp:revision>
  <dcterms:created xsi:type="dcterms:W3CDTF">2026-06-01T07:39:00Z</dcterms:created>
  <dcterms:modified xsi:type="dcterms:W3CDTF">2026-06-02T07:44:47Z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C78B27AC058B45A6992452D8854CFF8E</vt:lpwstr>
  </property>
  <property fmtid="{D5CDD505-2E9C-101B-9397-08002B2CF9AE}" pid="3" name="KSOProductBuildVer">
    <vt:lpwstr>2052-11.8.2.12085</vt:lpwstr>
  </property>
</Properties>
</file>