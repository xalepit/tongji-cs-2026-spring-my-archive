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4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91" r:id="rId2"/>
    <p:sldId id="452" r:id="rId3"/>
    <p:sldId id="2076139145" r:id="rId4"/>
    <p:sldId id="2076139146" r:id="rId5"/>
    <p:sldId id="2076139180" r:id="rId6"/>
    <p:sldId id="2076139148" r:id="rId7"/>
    <p:sldId id="2076139149" r:id="rId8"/>
    <p:sldId id="2076139155" r:id="rId9"/>
    <p:sldId id="2076139151" r:id="rId10"/>
    <p:sldId id="2076139153" r:id="rId11"/>
    <p:sldId id="2076139183" r:id="rId12"/>
    <p:sldId id="2076139184" r:id="rId13"/>
    <p:sldId id="2076139181" r:id="rId14"/>
    <p:sldId id="2076139185" r:id="rId15"/>
    <p:sldId id="2076139157" r:id="rId16"/>
    <p:sldId id="2076139158" r:id="rId17"/>
    <p:sldId id="2076139159" r:id="rId18"/>
    <p:sldId id="2076139163" r:id="rId19"/>
    <p:sldId id="2076139164" r:id="rId20"/>
    <p:sldId id="2076139165" r:id="rId21"/>
    <p:sldId id="2076139182" r:id="rId22"/>
    <p:sldId id="2076139179" r:id="rId23"/>
    <p:sldId id="2076139162" r:id="rId24"/>
    <p:sldId id="2076139166" r:id="rId25"/>
    <p:sldId id="2076139167" r:id="rId26"/>
    <p:sldId id="2076139168" r:id="rId27"/>
    <p:sldId id="2076139169" r:id="rId28"/>
    <p:sldId id="2076139195" r:id="rId29"/>
    <p:sldId id="2076139170" r:id="rId30"/>
    <p:sldId id="2076139171" r:id="rId31"/>
    <p:sldId id="2076139172" r:id="rId32"/>
    <p:sldId id="2076139196" r:id="rId33"/>
    <p:sldId id="2076139173" r:id="rId34"/>
    <p:sldId id="2076139175" r:id="rId35"/>
    <p:sldId id="2076139197" r:id="rId36"/>
    <p:sldId id="2076139176" r:id="rId37"/>
    <p:sldId id="2076139194" r:id="rId38"/>
    <p:sldId id="2076139178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6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2" autoAdjust="0"/>
    <p:restoredTop sz="89727" autoAdjust="0"/>
  </p:normalViewPr>
  <p:slideViewPr>
    <p:cSldViewPr snapToGrid="0">
      <p:cViewPr varScale="1">
        <p:scale>
          <a:sx n="115" d="100"/>
          <a:sy n="115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68AE3-B0F5-4C80-8F83-2DB06710D5A2}" type="datetimeFigureOut">
              <a:rPr lang="zh-CN" altLang="en-US" smtClean="0"/>
              <a:t>2026-5-26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60A75-D360-4824-A020-85793697A3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721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manticscholar.org/paper/Learning-representations-by-back-propagating-errors-Rumelhart-Hinton/052b1d8ce63b07fec3de9dbb583772d860b7c769#citing-papers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97FE7-9E44-4705-9F7F-2B1202D9D66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204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正文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151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正文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022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细胞核、</a:t>
            </a:r>
            <a:endParaRPr lang="en-US" altLang="zh-CN" dirty="0" smtClean="0"/>
          </a:p>
          <a:p>
            <a:r>
              <a:rPr lang="zh-CN" altLang="en-US" dirty="0" smtClean="0"/>
              <a:t>树突</a:t>
            </a:r>
            <a:r>
              <a:rPr lang="en-US" altLang="zh-CN" dirty="0" smtClean="0"/>
              <a:t>Dendrite:</a:t>
            </a:r>
            <a:r>
              <a:rPr lang="zh-CN" altLang="en-US" dirty="0" smtClean="0"/>
              <a:t>神经元末端分支，接收其他神经元传来的信号</a:t>
            </a:r>
            <a:endParaRPr lang="en-US" altLang="zh-CN" dirty="0" smtClean="0"/>
          </a:p>
          <a:p>
            <a:r>
              <a:rPr lang="zh-CN" altLang="en-US" dirty="0" smtClean="0"/>
              <a:t>轴突：</a:t>
            </a:r>
            <a:r>
              <a:rPr lang="en-US" altLang="zh-CN" dirty="0" smtClean="0"/>
              <a:t>Axon</a:t>
            </a:r>
            <a:r>
              <a:rPr lang="zh-CN" altLang="en-US" dirty="0" smtClean="0"/>
              <a:t>，向其他神经元传递信号</a:t>
            </a:r>
            <a:endParaRPr lang="en-US" altLang="zh-CN" dirty="0" smtClean="0"/>
          </a:p>
          <a:p>
            <a:r>
              <a:rPr lang="zh-CN" altLang="en-US" dirty="0" smtClean="0"/>
              <a:t>突触</a:t>
            </a:r>
            <a:r>
              <a:rPr lang="en-US" altLang="zh-CN" dirty="0" smtClean="0"/>
              <a:t>synapse</a:t>
            </a:r>
            <a:r>
              <a:rPr lang="zh-CN" altLang="en-US" dirty="0" smtClean="0"/>
              <a:t>：神经元之间连接的结构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</a:rPr>
              <a:t>人类的大脑约有</a:t>
            </a:r>
            <a:r>
              <a:rPr lang="en-US" altLang="zh-CN" b="1" dirty="0" smtClean="0"/>
              <a:t>860</a:t>
            </a:r>
            <a:r>
              <a:rPr lang="zh-CN" altLang="en-US" b="1" dirty="0" smtClean="0"/>
              <a:t>亿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</a:rPr>
              <a:t>个神经元，</a:t>
            </a:r>
            <a:r>
              <a:rPr lang="zh-CN" altLang="en-US" dirty="0" smtClean="0"/>
              <a:t>约</a:t>
            </a:r>
            <a:r>
              <a:rPr lang="en-US" altLang="zh-CN" b="1" dirty="0" smtClean="0"/>
              <a:t>100~1,000</a:t>
            </a:r>
            <a:r>
              <a:rPr lang="zh-CN" altLang="en-US" b="1" dirty="0" smtClean="0"/>
              <a:t>万亿（</a:t>
            </a:r>
            <a:r>
              <a:rPr lang="en-US" altLang="zh-CN" b="1" dirty="0" smtClean="0"/>
              <a:t>10¹⁴~10¹⁵</a:t>
            </a:r>
            <a:r>
              <a:rPr lang="zh-CN" altLang="en-US" b="1" dirty="0" smtClean="0"/>
              <a:t>）个突触</a:t>
            </a:r>
            <a:endParaRPr lang="zh-CN" altLang="en-US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GPT-4 (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推测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~1.8T) 1T=10^12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56C15A-65A9-4188-BE47-91B53ACA74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83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正文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311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正文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093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正文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174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正文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061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正文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673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r>
              <a:rPr lang="zh-CN" altLang="en-US" dirty="0" smtClean="0"/>
              <a:t>激活将模型的输出压缩到</a:t>
            </a:r>
            <a:r>
              <a:rPr lang="en-US" altLang="zh-CN" dirty="0" smtClean="0"/>
              <a:t>(0, 1)</a:t>
            </a:r>
            <a:r>
              <a:rPr lang="zh-CN" altLang="en-US" dirty="0" smtClean="0"/>
              <a:t>区间内，代表给定输入下模型判断为正类的概率。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56C15A-65A9-4188-BE47-91B53ACA740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61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、</a:t>
            </a:r>
            <a:r>
              <a:rPr lang="en-US" altLang="zh-CN" dirty="0" err="1" smtClean="0"/>
              <a:t>ReLU</a:t>
            </a:r>
            <a:r>
              <a:rPr lang="zh-CN" altLang="en-US" dirty="0" smtClean="0"/>
              <a:t>函数优缺点</a:t>
            </a:r>
            <a:r>
              <a:rPr lang="en-US" altLang="zh-CN" dirty="0" smtClean="0"/>
              <a:t>3.1</a:t>
            </a:r>
            <a:r>
              <a:rPr lang="zh-CN" altLang="en-US" dirty="0" smtClean="0"/>
              <a:t>、优点</a:t>
            </a:r>
            <a:r>
              <a:rPr lang="en-US" altLang="zh-CN" dirty="0" smtClean="0"/>
              <a:t>1.</a:t>
            </a:r>
            <a:r>
              <a:rPr lang="zh-CN" altLang="en-US" dirty="0" smtClean="0"/>
              <a:t>不会发生梯度消失问题。</a:t>
            </a:r>
            <a:r>
              <a:rPr lang="en-US" altLang="zh-CN" dirty="0" smtClean="0"/>
              <a:t>Sigmoid</a:t>
            </a:r>
            <a:r>
              <a:rPr lang="zh-CN" altLang="en-US" dirty="0" smtClean="0"/>
              <a:t>函数在 </a:t>
            </a:r>
            <a:r>
              <a:rPr lang="en-US" altLang="zh-CN" dirty="0" smtClean="0"/>
              <a:t>x0 </a:t>
            </a:r>
            <a:r>
              <a:rPr lang="zh-CN" altLang="en-US" dirty="0" smtClean="0"/>
              <a:t>会发生梯度消失问题，造成信息损失，从而无法完成深度网络的训练。而 </a:t>
            </a:r>
            <a:r>
              <a:rPr lang="en-US" altLang="zh-CN" dirty="0" err="1" smtClean="0"/>
              <a:t>ReLU</a:t>
            </a:r>
            <a:r>
              <a:rPr lang="en-US" altLang="zh-CN" dirty="0" smtClean="0"/>
              <a:t> </a:t>
            </a:r>
            <a:r>
              <a:rPr lang="zh-CN" altLang="en-US" dirty="0" smtClean="0"/>
              <a:t>函数当</a:t>
            </a:r>
            <a:r>
              <a:rPr lang="en-US" altLang="zh-CN" dirty="0" smtClean="0"/>
              <a:t>x&gt;0 </a:t>
            </a:r>
            <a:r>
              <a:rPr lang="zh-CN" altLang="en-US" dirty="0" smtClean="0"/>
              <a:t>为线性结构，有固定的梯度，不会消失，</a:t>
            </a:r>
            <a:r>
              <a:rPr lang="en-US" altLang="zh-CN" dirty="0" smtClean="0"/>
              <a:t>2.ReLU</a:t>
            </a:r>
            <a:r>
              <a:rPr lang="zh-CN" altLang="en-US" dirty="0" smtClean="0"/>
              <a:t>激活函数在 </a:t>
            </a:r>
            <a:r>
              <a:rPr lang="en-US" altLang="zh-CN" dirty="0" smtClean="0"/>
              <a:t>x&lt;0 </a:t>
            </a:r>
            <a:r>
              <a:rPr lang="zh-CN" altLang="en-US" dirty="0" smtClean="0"/>
              <a:t>时会输出为</a:t>
            </a:r>
            <a:r>
              <a:rPr lang="en-US" altLang="zh-CN" dirty="0" smtClean="0"/>
              <a:t>0(</a:t>
            </a:r>
            <a:r>
              <a:rPr lang="zh-CN" altLang="en-US" dirty="0" smtClean="0"/>
              <a:t>失活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，这可以造成网络的稀疏性。这样可以很好的模拟人脑神经元工作的原理，且可以减少参数间的相互依赖，缓解了过拟合问题的发生。</a:t>
            </a:r>
            <a:r>
              <a:rPr lang="en-US" altLang="zh-CN" dirty="0" smtClean="0"/>
              <a:t>3. </a:t>
            </a:r>
            <a:r>
              <a:rPr lang="en-US" altLang="zh-CN" dirty="0" err="1" smtClean="0"/>
              <a:t>Siqmoid</a:t>
            </a:r>
            <a:r>
              <a:rPr lang="zh-CN" altLang="en-US" dirty="0" smtClean="0"/>
              <a:t>函数复杂，计算量大</a:t>
            </a:r>
            <a:r>
              <a:rPr lang="en-US" altLang="zh-CN" dirty="0" smtClean="0"/>
              <a:t>(</a:t>
            </a:r>
            <a:r>
              <a:rPr lang="zh-CN" altLang="en-US" dirty="0" smtClean="0"/>
              <a:t>前向传播</a:t>
            </a:r>
            <a:r>
              <a:rPr lang="en-US" altLang="zh-CN" dirty="0" smtClean="0"/>
              <a:t>+</a:t>
            </a:r>
            <a:r>
              <a:rPr lang="zh-CN" altLang="en-US" dirty="0" smtClean="0"/>
              <a:t>反向传播求导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，速度慢</a:t>
            </a:r>
            <a:r>
              <a:rPr lang="en-US" altLang="zh-CN" dirty="0" smtClean="0"/>
              <a:t>;</a:t>
            </a:r>
            <a:r>
              <a:rPr lang="zh-CN" altLang="en-US" dirty="0" smtClean="0"/>
              <a:t>而</a:t>
            </a:r>
            <a:r>
              <a:rPr lang="en-US" altLang="zh-CN" dirty="0" err="1" smtClean="0"/>
              <a:t>ReLU</a:t>
            </a:r>
            <a:r>
              <a:rPr lang="zh-CN" altLang="en-US" dirty="0" smtClean="0"/>
              <a:t>函数简单，计算量小，速度快</a:t>
            </a:r>
            <a:r>
              <a:rPr lang="en-US" altLang="zh-CN" dirty="0" smtClean="0"/>
              <a:t>3.2</a:t>
            </a:r>
            <a:r>
              <a:rPr lang="zh-CN" altLang="en-US" dirty="0" smtClean="0"/>
              <a:t>、缺点</a:t>
            </a:r>
            <a:r>
              <a:rPr lang="en-US" altLang="zh-CN" dirty="0" smtClean="0"/>
              <a:t>1.</a:t>
            </a:r>
            <a:r>
              <a:rPr lang="zh-CN" altLang="en-US" dirty="0" smtClean="0"/>
              <a:t>由于激活函数是没有上界的，有可能出现神经网络输出为</a:t>
            </a:r>
            <a:r>
              <a:rPr lang="en-US" altLang="zh-CN" dirty="0" err="1" smtClean="0"/>
              <a:t>NaN</a:t>
            </a:r>
            <a:r>
              <a:rPr lang="zh-CN" altLang="en-US" dirty="0" smtClean="0"/>
              <a:t>的情况</a:t>
            </a:r>
            <a:r>
              <a:rPr lang="en-US" altLang="zh-CN" dirty="0" smtClean="0"/>
              <a:t>2.(</a:t>
            </a:r>
            <a:r>
              <a:rPr lang="zh-CN" altLang="en-US" dirty="0" smtClean="0"/>
              <a:t>重要</a:t>
            </a:r>
            <a:r>
              <a:rPr lang="en-US" altLang="zh-CN" dirty="0" smtClean="0"/>
              <a:t>)</a:t>
            </a:r>
            <a:r>
              <a:rPr lang="en-US" altLang="zh-CN" dirty="0" err="1" smtClean="0"/>
              <a:t>ReLU</a:t>
            </a:r>
            <a:r>
              <a:rPr lang="zh-CN" altLang="en-US" dirty="0" smtClean="0"/>
              <a:t>在训练的时候很”脆弱”，很可能产生 </a:t>
            </a:r>
            <a:r>
              <a:rPr lang="en-US" altLang="zh-CN" dirty="0" smtClean="0"/>
              <a:t>Dead </a:t>
            </a:r>
            <a:r>
              <a:rPr lang="en-US" altLang="zh-CN" dirty="0" err="1" smtClean="0"/>
              <a:t>ReLU</a:t>
            </a:r>
            <a:r>
              <a:rPr lang="en-US" altLang="zh-CN" dirty="0" smtClean="0"/>
              <a:t> Problem(</a:t>
            </a:r>
            <a:r>
              <a:rPr lang="zh-CN" altLang="en-US" dirty="0" smtClean="0"/>
              <a:t>神经元坏死现象</a:t>
            </a:r>
            <a:r>
              <a:rPr lang="en-US" altLang="zh-CN" dirty="0" smtClean="0"/>
              <a:t>):</a:t>
            </a:r>
            <a:r>
              <a:rPr lang="zh-CN" altLang="en-US" dirty="0" smtClean="0"/>
              <a:t>某些神经元可能永远不会被激活，导致相应参数永远不会被更新</a:t>
            </a:r>
            <a:r>
              <a:rPr lang="en-US" altLang="zh-CN" dirty="0" smtClean="0"/>
              <a:t>(</a:t>
            </a:r>
            <a:r>
              <a:rPr lang="zh-CN" altLang="en-US" dirty="0" smtClean="0"/>
              <a:t>在负数部分，梯度为</a:t>
            </a:r>
            <a:r>
              <a:rPr lang="en-US" altLang="zh-CN" dirty="0" smtClean="0"/>
              <a:t>0)</a:t>
            </a:r>
            <a:r>
              <a:rPr lang="zh-CN" altLang="en-US" dirty="0" smtClean="0"/>
              <a:t>。举个例子</a:t>
            </a:r>
            <a:r>
              <a:rPr lang="en-US" altLang="zh-CN" dirty="0" smtClean="0"/>
              <a:t>:</a:t>
            </a:r>
            <a:r>
              <a:rPr lang="zh-CN" altLang="en-US" dirty="0" smtClean="0"/>
              <a:t>由于</a:t>
            </a:r>
            <a:r>
              <a:rPr lang="en-US" altLang="zh-CN" dirty="0" err="1" smtClean="0"/>
              <a:t>ReLU</a:t>
            </a:r>
            <a:r>
              <a:rPr lang="zh-CN" altLang="en-US" dirty="0" smtClean="0"/>
              <a:t>在</a:t>
            </a:r>
            <a:r>
              <a:rPr lang="en-US" altLang="zh-CN" dirty="0" smtClean="0"/>
              <a:t>x&lt;0</a:t>
            </a:r>
            <a:r>
              <a:rPr lang="zh-CN" altLang="en-US" dirty="0" smtClean="0"/>
              <a:t>时梯度为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，这样就导致负的梯度在这个</a:t>
            </a:r>
            <a:r>
              <a:rPr lang="en-US" altLang="zh-CN" dirty="0" err="1" smtClean="0"/>
              <a:t>ReLU</a:t>
            </a:r>
            <a:r>
              <a:rPr lang="zh-CN" altLang="en-US" dirty="0" smtClean="0"/>
              <a:t>被置零，而且这个神经元有可能再也不会被任何数据激活。如果这个情况发生了，那么这个神经元之后的梯度就永远是</a:t>
            </a:r>
            <a:r>
              <a:rPr lang="en-US" altLang="zh-CN" dirty="0" smtClean="0"/>
              <a:t>0</a:t>
            </a:r>
            <a:r>
              <a:rPr lang="zh-CN" altLang="en-US" dirty="0" smtClean="0"/>
              <a:t>了，也就是</a:t>
            </a:r>
            <a:r>
              <a:rPr lang="en-US" altLang="zh-CN" dirty="0" err="1" smtClean="0"/>
              <a:t>ReLU</a:t>
            </a:r>
            <a:r>
              <a:rPr lang="zh-CN" altLang="en-US" dirty="0" smtClean="0"/>
              <a:t>神经元坏死了，不再对任何数据有所响应。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56C15A-65A9-4188-BE47-91B53ACA740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471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56C15A-65A9-4188-BE47-91B53ACA740E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5567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正文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2138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正文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2196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正文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8413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线性回归中的最小二乘法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遗传算法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3095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截止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2024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年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9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月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22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日，这篇文献的引用量是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hlinkClick r:id="rId3"/>
              </a:rPr>
              <a:t>25591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u="none" strike="noStrike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  <a:hlinkClick r:id="rId3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u="none" strike="noStrike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  <a:hlinkClick r:id="rId3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56C15A-65A9-4188-BE47-91B53ACA740E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649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将</a:t>
            </a:r>
            <a:r>
              <a:rPr lang="en-US" altLang="zh-CN" dirty="0" smtClean="0"/>
              <a:t>-θ</a:t>
            </a:r>
            <a:r>
              <a:rPr lang="zh-CN" altLang="en-US" dirty="0" smtClean="0"/>
              <a:t>作为特殊权值，和</a:t>
            </a:r>
            <a:r>
              <a:rPr lang="en-US" altLang="zh-CN" dirty="0" smtClean="0"/>
              <a:t>W</a:t>
            </a:r>
            <a:r>
              <a:rPr lang="zh-CN" altLang="en-US" dirty="0" smtClean="0"/>
              <a:t>一样的更新方式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56C15A-65A9-4188-BE47-91B53ACA740E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309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Err6=</a:t>
            </a:r>
            <a:r>
              <a:rPr lang="zh-CN" altLang="en-US" dirty="0" smtClean="0"/>
              <a:t>（真值</a:t>
            </a:r>
            <a:r>
              <a:rPr lang="en-US" altLang="zh-CN" dirty="0" smtClean="0"/>
              <a:t>-out6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Err5=W56</a:t>
            </a:r>
            <a:r>
              <a:rPr lang="zh-CN" altLang="en-US" dirty="0" smtClean="0"/>
              <a:t>*修正误差</a:t>
            </a:r>
            <a:r>
              <a:rPr lang="en-US" altLang="zh-CN" dirty="0" smtClean="0"/>
              <a:t>6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g</a:t>
            </a:r>
            <a:r>
              <a:rPr lang="zh-CN" altLang="en-US" dirty="0" smtClean="0"/>
              <a:t>‘</a:t>
            </a:r>
            <a:r>
              <a:rPr lang="en-US" altLang="zh-CN" dirty="0" smtClean="0"/>
              <a:t>(ink)=g(ink)*(1-g(ink))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56C15A-65A9-4188-BE47-91B53ACA740E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9714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Err6=</a:t>
            </a:r>
            <a:r>
              <a:rPr lang="zh-CN" altLang="en-US" dirty="0" smtClean="0"/>
              <a:t>（真值</a:t>
            </a:r>
            <a:r>
              <a:rPr lang="en-US" altLang="zh-CN" dirty="0" smtClean="0"/>
              <a:t>-out6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Err5=W56</a:t>
            </a:r>
            <a:r>
              <a:rPr lang="zh-CN" altLang="en-US" dirty="0" smtClean="0"/>
              <a:t>*修正误差</a:t>
            </a:r>
            <a:r>
              <a:rPr lang="en-US" altLang="zh-CN" dirty="0" smtClean="0"/>
              <a:t>6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g</a:t>
            </a:r>
            <a:r>
              <a:rPr lang="zh-CN" altLang="en-US" dirty="0" smtClean="0"/>
              <a:t>‘</a:t>
            </a:r>
            <a:r>
              <a:rPr lang="en-US" altLang="zh-CN" dirty="0" smtClean="0"/>
              <a:t>(ink)=g(ink)*(1-g(ink))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56C15A-65A9-4188-BE47-91B53ACA740E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93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FB16-436E-4C3A-AC93-D953BF9B5BF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734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B8F071-FB18-EA87-B2ED-39E60BA9E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5BCBA4-5E94-FDE0-DAE8-740A695AD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AC3987-5DE5-E119-34B4-996431EAB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E4D3-C916-4415-A239-F3CB206B3795}" type="datetimeFigureOut">
              <a:rPr lang="zh-CN" altLang="en-US" smtClean="0"/>
              <a:t>2026-5-26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DE6A6B-E644-F8DD-B93F-077C7E5D3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367119-3746-F824-AC34-B53B52558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43F6-88AD-4D51-9312-33142D4A94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288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CAEF31-D4CA-53EF-D03F-EC6EA4D0F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19CDCF-287B-D5E0-0368-22A44E881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21F76A-2E10-C174-E658-4DF275BD2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E4D3-C916-4415-A239-F3CB206B3795}" type="datetimeFigureOut">
              <a:rPr lang="zh-CN" altLang="en-US" smtClean="0"/>
              <a:t>2026-5-26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792962-4EFE-0458-6442-5729C8C20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747B86-E796-9AB5-3403-181C7960A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43F6-88AD-4D51-9312-33142D4A94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448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30DED-8391-15BC-A4A1-A39F47A89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ECC848-A24F-87B4-E0BB-085217936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58F2DA-76B4-00C4-AF10-4C6858D92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E4D3-C916-4415-A239-F3CB206B3795}" type="datetimeFigureOut">
              <a:rPr lang="zh-CN" altLang="en-US" smtClean="0"/>
              <a:t>2026-5-26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842813-F9E7-707A-D2F5-4BFF43685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61E957-91E6-A833-D606-99696C07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43F6-88AD-4D51-9312-33142D4A94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524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73D65D-6419-8BCE-598E-78E6BE3A7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DB773D-2172-4C53-334A-939D0B0104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D162C6-7F6B-4CE5-5CF8-587BF583B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71B3C4-511D-9BF6-4797-7FE9CC801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E4D3-C916-4415-A239-F3CB206B3795}" type="datetimeFigureOut">
              <a:rPr lang="zh-CN" altLang="en-US" smtClean="0"/>
              <a:t>2026-5-26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FD6E41-C259-7599-D107-E91F2EFE4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CF30FE-E256-E2C9-4F82-AA3B62DFC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43F6-88AD-4D51-9312-33142D4A94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367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4B40F0-C4E6-AD4C-134C-2820D1044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51B091-3255-9217-BB7C-EDA945E6A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222165-BF2F-3ECA-0ED1-798D826E7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B80BC1-49AE-EE32-C884-85274F4A6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A19F7A5-12B3-0153-1201-C27A1FA7BA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360207-9F37-42AA-085A-42D4765BE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E4D3-C916-4415-A239-F3CB206B3795}" type="datetimeFigureOut">
              <a:rPr lang="zh-CN" altLang="en-US" smtClean="0"/>
              <a:t>2026-5-26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680E534-A321-9B55-EC63-0325829B6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87D32BC-A865-95FA-CA73-91B315B5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43F6-88AD-4D51-9312-33142D4A94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000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B4C514-BC0C-5620-F643-E489F6910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4D4AB8-EA4D-49A0-1EA2-A358DFE4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E4D3-C916-4415-A239-F3CB206B3795}" type="datetimeFigureOut">
              <a:rPr lang="zh-CN" altLang="en-US" smtClean="0"/>
              <a:t>2026-5-26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9CAE37B-C753-A1D8-DC23-4E7800EE3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FDABDD-5F86-F8F5-F9A8-CC566D84F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43F6-88AD-4D51-9312-33142D4A94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95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114EB0-2476-4D80-C6A2-A0EB0C864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E4D3-C916-4415-A239-F3CB206B3795}" type="datetimeFigureOut">
              <a:rPr lang="zh-CN" altLang="en-US" smtClean="0"/>
              <a:t>2026-5-26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7E9DCA9-8DF9-1259-A381-FC9DA7B0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C75CF3-E246-2687-68CB-F48C266C6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43F6-88AD-4D51-9312-33142D4A94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403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F85C34-CC72-CF09-15DA-923228FA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D5BDA0-18D4-311B-5428-ED6166483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F80B4B-4262-10E6-B646-171CAD2B9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181750-AAA6-B475-2672-2E8C40B1F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E4D3-C916-4415-A239-F3CB206B3795}" type="datetimeFigureOut">
              <a:rPr lang="zh-CN" altLang="en-US" smtClean="0"/>
              <a:t>2026-5-26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428C01-14AC-CBD7-27B8-DD5164CAA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FA5355-F42F-16B4-5EB0-D40699D32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43F6-88AD-4D51-9312-33142D4A94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591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912C7C-79FF-1FD0-5279-1DAC7D7C1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F72EC2B-C4FB-ECFD-76CB-D9058CB5EC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4B89B2-DBE1-B212-D59D-A178978BE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9EE5B9-1661-FBA4-2828-4D34954B1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E4D3-C916-4415-A239-F3CB206B3795}" type="datetimeFigureOut">
              <a:rPr lang="zh-CN" altLang="en-US" smtClean="0"/>
              <a:t>2026-5-26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E9800E-7986-F1A7-8B4E-522D713B9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95CD23-F65F-3178-BC8A-737A8AE70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43F6-88AD-4D51-9312-33142D4A94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620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4EDCC5-F2D5-D875-EA9D-B06E8ACDD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9111B8-3B34-A99A-46A9-2402C026D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F464F0-16D0-8CE6-09C6-239F2A9FF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E4D3-C916-4415-A239-F3CB206B3795}" type="datetimeFigureOut">
              <a:rPr lang="zh-CN" altLang="en-US" smtClean="0"/>
              <a:t>2026-5-26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0CA37D-37D7-B9FD-9D81-2D6753B77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12CF66-A994-868F-E4ED-A7316F192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43F6-88AD-4D51-9312-33142D4A94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783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3982199-ECC1-E07C-C470-B830D6B13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DA4D1C-20AD-58C8-5C6F-B4A04293C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034886-A435-4384-7C11-8E775FD48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E4D3-C916-4415-A239-F3CB206B3795}" type="datetimeFigureOut">
              <a:rPr lang="zh-CN" altLang="en-US" smtClean="0"/>
              <a:t>2026-5-26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0CA9AC-5D17-01E0-D255-2383A2731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DD2218-8087-5FDB-60CB-9E8A1C474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143F6-88AD-4D51-9312-33142D4A94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661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同济大学logo矢量图(第1页) - 一起扣扣网">
            <a:extLst>
              <a:ext uri="{FF2B5EF4-FFF2-40B4-BE49-F238E27FC236}">
                <a16:creationId xmlns:a16="http://schemas.microsoft.com/office/drawing/2014/main" id="{A0D5012C-67EA-42AC-AC25-27EFC90204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5">
                <a:lumMod val="60000"/>
                <a:lumOff val="4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17" y="158401"/>
            <a:ext cx="3088014" cy="803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589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同济大学logo矢量图(第1页) - 一起扣扣网">
            <a:extLst>
              <a:ext uri="{FF2B5EF4-FFF2-40B4-BE49-F238E27FC236}">
                <a16:creationId xmlns:a16="http://schemas.microsoft.com/office/drawing/2014/main" id="{A0D5012C-67EA-42AC-AC25-27EFC90204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5">
                <a:lumMod val="60000"/>
                <a:lumOff val="4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17" y="158401"/>
            <a:ext cx="3088014" cy="803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73165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  <p:extLst>
      <p:ext uri="{BB962C8B-B14F-4D97-AF65-F5344CB8AC3E}">
        <p14:creationId xmlns:p14="http://schemas.microsoft.com/office/powerpoint/2010/main" val="675314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EF16B5B-36CA-6DCC-B6BE-9237DC467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A676AE-D93E-E535-1B24-F3A2845A3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E06D8D-F052-62F2-DA03-D60ED86D1A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AE4D3-C916-4415-A239-F3CB206B3795}" type="datetimeFigureOut">
              <a:rPr lang="zh-CN" altLang="en-US" smtClean="0"/>
              <a:t>2026-5-26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FC3C43-4537-AC1E-464E-9A60EA7810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099422-7737-8A98-8864-4BC3168BC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143F6-88AD-4D51-9312-33142D4A94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565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jpe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35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hyperlink" Target="http://www.baidu.com/link?url=Kf088OxcPmPrEpJ0AgRIbWELHdMNSyUXkImbSYuJk4Et-8GXURXllHNJfIOfymGt" TargetMode="Externa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9.png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5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microsoft.com/office/2007/relationships/hdphoto" Target="../media/hdphoto2.wdp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microsoft.com/office/2007/relationships/hdphoto" Target="../media/hdphoto2.wdp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microsoft.com/office/2007/relationships/hdphoto" Target="../media/hdphoto2.wdp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370590" y="2465979"/>
            <a:ext cx="9673232" cy="12825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第十二周 </a:t>
            </a:r>
            <a:r>
              <a:rPr lang="zh-CN" altLang="en-US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神经网络模型</a:t>
            </a:r>
            <a:endParaRPr lang="zh-CN" altLang="en-US" sz="53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98235" y="791671"/>
            <a:ext cx="5410200" cy="589165"/>
          </a:xfrm>
        </p:spPr>
        <p:txBody>
          <a:bodyPr>
            <a:normAutofit/>
          </a:bodyPr>
          <a:lstStyle/>
          <a:p>
            <a:pPr algn="l"/>
            <a:r>
              <a:rPr lang="zh-CN" altLang="en-US" sz="3000" dirty="0">
                <a:ea typeface="宋体" panose="02010600030101010101" pitchFamily="2" charset="-122"/>
              </a:rPr>
              <a:t>课程</a:t>
            </a:r>
            <a:r>
              <a:rPr lang="en-US" altLang="zh-CN" sz="3000" dirty="0">
                <a:ea typeface="宋体" panose="02010600030101010101" pitchFamily="2" charset="-122"/>
              </a:rPr>
              <a:t>《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人工智能原理与技术</a:t>
            </a:r>
            <a:r>
              <a:rPr lang="en-US" altLang="zh-CN" sz="3000" i="0" dirty="0">
                <a:ea typeface="宋体" panose="02010600030101010101" pitchFamily="2" charset="-122"/>
              </a:rPr>
              <a:t>》</a:t>
            </a:r>
          </a:p>
        </p:txBody>
      </p:sp>
      <p:pic>
        <p:nvPicPr>
          <p:cNvPr id="10" name="图片 2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837" y="1312"/>
            <a:ext cx="3227677" cy="1379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7520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1EFC7-F189-6209-A72E-614D3E936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630522CE-BF99-1C2C-9E2C-76803CD02324}"/>
              </a:ext>
            </a:extLst>
          </p:cNvPr>
          <p:cNvGrpSpPr/>
          <p:nvPr/>
        </p:nvGrpSpPr>
        <p:grpSpPr>
          <a:xfrm>
            <a:off x="3869989" y="1594509"/>
            <a:ext cx="4452022" cy="4487848"/>
            <a:chOff x="3872379" y="1383943"/>
            <a:chExt cx="4452022" cy="4487848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A0ECAAFF-0D78-F81E-66DC-9A7C4C080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379" y="1383943"/>
              <a:ext cx="2161524" cy="2161524"/>
            </a:xfrm>
            <a:custGeom>
              <a:avLst/>
              <a:gdLst/>
              <a:ahLst/>
              <a:cxnLst>
                <a:cxn ang="0">
                  <a:pos x="673" y="233"/>
                </a:cxn>
                <a:cxn ang="0">
                  <a:pos x="233" y="233"/>
                </a:cxn>
                <a:cxn ang="0">
                  <a:pos x="233" y="673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673" y="233"/>
                </a:cxn>
              </a:cxnLst>
              <a:rect l="0" t="0" r="r" b="b"/>
              <a:pathLst>
                <a:path w="905" h="905">
                  <a:moveTo>
                    <a:pt x="673" y="233"/>
                  </a:moveTo>
                  <a:lnTo>
                    <a:pt x="233" y="233"/>
                  </a:lnTo>
                  <a:lnTo>
                    <a:pt x="233" y="673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673" y="23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C3115C7E-9558-718E-BA58-FE89B01EF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2877" y="1383943"/>
              <a:ext cx="2161524" cy="2161524"/>
            </a:xfrm>
            <a:custGeom>
              <a:avLst/>
              <a:gdLst/>
              <a:ahLst/>
              <a:cxnLst>
                <a:cxn ang="0">
                  <a:pos x="672" y="673"/>
                </a:cxn>
                <a:cxn ang="0">
                  <a:pos x="672" y="233"/>
                </a:cxn>
                <a:cxn ang="0">
                  <a:pos x="232" y="233"/>
                </a:cxn>
                <a:cxn ang="0">
                  <a:pos x="0" y="0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672" y="673"/>
                </a:cxn>
              </a:cxnLst>
              <a:rect l="0" t="0" r="r" b="b"/>
              <a:pathLst>
                <a:path w="905" h="905">
                  <a:moveTo>
                    <a:pt x="672" y="673"/>
                  </a:moveTo>
                  <a:lnTo>
                    <a:pt x="672" y="233"/>
                  </a:lnTo>
                  <a:lnTo>
                    <a:pt x="232" y="233"/>
                  </a:lnTo>
                  <a:lnTo>
                    <a:pt x="0" y="0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672" y="67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5C674E5A-1246-1811-6A98-F86077497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379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3" y="232"/>
                </a:cxn>
                <a:cxn ang="0">
                  <a:pos x="233" y="672"/>
                </a:cxn>
                <a:cxn ang="0">
                  <a:pos x="673" y="672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233" y="232"/>
                  </a:lnTo>
                  <a:lnTo>
                    <a:pt x="233" y="672"/>
                  </a:lnTo>
                  <a:lnTo>
                    <a:pt x="673" y="672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8567AC0D-A552-5BA9-4C32-F4A5369B7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2877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05"/>
                </a:cxn>
                <a:cxn ang="0">
                  <a:pos x="232" y="672"/>
                </a:cxn>
                <a:cxn ang="0">
                  <a:pos x="672" y="672"/>
                </a:cxn>
                <a:cxn ang="0">
                  <a:pos x="672" y="232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0" y="905"/>
                  </a:lnTo>
                  <a:lnTo>
                    <a:pt x="232" y="672"/>
                  </a:lnTo>
                  <a:lnTo>
                    <a:pt x="672" y="672"/>
                  </a:lnTo>
                  <a:lnTo>
                    <a:pt x="672" y="232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grpSp>
          <p:nvGrpSpPr>
            <p:cNvPr id="7" name="Group 44">
              <a:extLst>
                <a:ext uri="{FF2B5EF4-FFF2-40B4-BE49-F238E27FC236}">
                  <a16:creationId xmlns:a16="http://schemas.microsoft.com/office/drawing/2014/main" id="{C7096C22-7A18-CC04-F526-F57D5CC2E6F6}"/>
                </a:ext>
              </a:extLst>
            </p:cNvPr>
            <p:cNvGrpSpPr/>
            <p:nvPr/>
          </p:nvGrpSpPr>
          <p:grpSpPr>
            <a:xfrm>
              <a:off x="4569798" y="4627422"/>
              <a:ext cx="527842" cy="535007"/>
              <a:chOff x="3557588" y="3654425"/>
              <a:chExt cx="350838" cy="355600"/>
            </a:xfrm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4A1380A2-0863-55B6-BAE3-6FCEEBBD84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19501" y="3654425"/>
                <a:ext cx="288925" cy="163513"/>
              </a:xfrm>
              <a:custGeom>
                <a:avLst/>
                <a:gdLst/>
                <a:ahLst/>
                <a:cxnLst>
                  <a:cxn ang="0">
                    <a:pos x="40" y="55"/>
                  </a:cxn>
                  <a:cxn ang="0">
                    <a:pos x="41" y="55"/>
                  </a:cxn>
                  <a:cxn ang="0">
                    <a:pos x="95" y="55"/>
                  </a:cxn>
                  <a:cxn ang="0">
                    <a:pos x="97" y="55"/>
                  </a:cxn>
                  <a:cxn ang="0">
                    <a:pos x="97" y="53"/>
                  </a:cxn>
                  <a:cxn ang="0">
                    <a:pos x="78" y="15"/>
                  </a:cxn>
                  <a:cxn ang="0">
                    <a:pos x="38" y="0"/>
                  </a:cxn>
                  <a:cxn ang="0">
                    <a:pos x="1" y="13"/>
                  </a:cxn>
                  <a:cxn ang="0">
                    <a:pos x="0" y="15"/>
                  </a:cxn>
                  <a:cxn ang="0">
                    <a:pos x="1" y="16"/>
                  </a:cxn>
                  <a:cxn ang="0">
                    <a:pos x="40" y="55"/>
                  </a:cxn>
                  <a:cxn ang="0">
                    <a:pos x="32" y="34"/>
                  </a:cxn>
                  <a:cxn ang="0">
                    <a:pos x="48" y="11"/>
                  </a:cxn>
                  <a:cxn ang="0">
                    <a:pos x="53" y="12"/>
                  </a:cxn>
                  <a:cxn ang="0">
                    <a:pos x="36" y="38"/>
                  </a:cxn>
                  <a:cxn ang="0">
                    <a:pos x="32" y="34"/>
                  </a:cxn>
                  <a:cxn ang="0">
                    <a:pos x="38" y="10"/>
                  </a:cxn>
                  <a:cxn ang="0">
                    <a:pos x="40" y="10"/>
                  </a:cxn>
                  <a:cxn ang="0">
                    <a:pos x="27" y="29"/>
                  </a:cxn>
                  <a:cxn ang="0">
                    <a:pos x="23" y="25"/>
                  </a:cxn>
                  <a:cxn ang="0">
                    <a:pos x="33" y="10"/>
                  </a:cxn>
                  <a:cxn ang="0">
                    <a:pos x="38" y="10"/>
                  </a:cxn>
                  <a:cxn ang="0">
                    <a:pos x="23" y="12"/>
                  </a:cxn>
                  <a:cxn ang="0">
                    <a:pos x="18" y="19"/>
                  </a:cxn>
                  <a:cxn ang="0">
                    <a:pos x="14" y="16"/>
                  </a:cxn>
                  <a:cxn ang="0">
                    <a:pos x="21" y="13"/>
                  </a:cxn>
                  <a:cxn ang="0">
                    <a:pos x="23" y="12"/>
                  </a:cxn>
                  <a:cxn ang="0">
                    <a:pos x="69" y="46"/>
                  </a:cxn>
                  <a:cxn ang="0">
                    <a:pos x="79" y="31"/>
                  </a:cxn>
                  <a:cxn ang="0">
                    <a:pos x="81" y="34"/>
                  </a:cxn>
                  <a:cxn ang="0">
                    <a:pos x="73" y="46"/>
                  </a:cxn>
                  <a:cxn ang="0">
                    <a:pos x="69" y="46"/>
                  </a:cxn>
                  <a:cxn ang="0">
                    <a:pos x="82" y="46"/>
                  </a:cxn>
                  <a:cxn ang="0">
                    <a:pos x="85" y="41"/>
                  </a:cxn>
                  <a:cxn ang="0">
                    <a:pos x="86" y="46"/>
                  </a:cxn>
                  <a:cxn ang="0">
                    <a:pos x="82" y="46"/>
                  </a:cxn>
                  <a:cxn ang="0">
                    <a:pos x="54" y="46"/>
                  </a:cxn>
                  <a:cxn ang="0">
                    <a:pos x="70" y="22"/>
                  </a:cxn>
                  <a:cxn ang="0">
                    <a:pos x="72" y="23"/>
                  </a:cxn>
                  <a:cxn ang="0">
                    <a:pos x="74" y="25"/>
                  </a:cxn>
                  <a:cxn ang="0">
                    <a:pos x="60" y="46"/>
                  </a:cxn>
                  <a:cxn ang="0">
                    <a:pos x="54" y="46"/>
                  </a:cxn>
                  <a:cxn ang="0">
                    <a:pos x="46" y="46"/>
                  </a:cxn>
                  <a:cxn ang="0">
                    <a:pos x="44" y="46"/>
                  </a:cxn>
                  <a:cxn ang="0">
                    <a:pos x="41" y="43"/>
                  </a:cxn>
                  <a:cxn ang="0">
                    <a:pos x="60" y="15"/>
                  </a:cxn>
                  <a:cxn ang="0">
                    <a:pos x="65" y="17"/>
                  </a:cxn>
                  <a:cxn ang="0">
                    <a:pos x="46" y="46"/>
                  </a:cxn>
                  <a:cxn ang="0">
                    <a:pos x="46" y="46"/>
                  </a:cxn>
                  <a:cxn ang="0">
                    <a:pos x="46" y="46"/>
                  </a:cxn>
                </a:cxnLst>
                <a:rect l="0" t="0" r="r" b="b"/>
                <a:pathLst>
                  <a:path w="97" h="55">
                    <a:moveTo>
                      <a:pt x="40" y="55"/>
                    </a:moveTo>
                    <a:cubicBezTo>
                      <a:pt x="40" y="55"/>
                      <a:pt x="40" y="55"/>
                      <a:pt x="41" y="55"/>
                    </a:cubicBezTo>
                    <a:cubicBezTo>
                      <a:pt x="95" y="55"/>
                      <a:pt x="95" y="55"/>
                      <a:pt x="95" y="55"/>
                    </a:cubicBezTo>
                    <a:cubicBezTo>
                      <a:pt x="96" y="55"/>
                      <a:pt x="96" y="55"/>
                      <a:pt x="97" y="55"/>
                    </a:cubicBezTo>
                    <a:cubicBezTo>
                      <a:pt x="97" y="54"/>
                      <a:pt x="97" y="54"/>
                      <a:pt x="97" y="53"/>
                    </a:cubicBezTo>
                    <a:cubicBezTo>
                      <a:pt x="96" y="39"/>
                      <a:pt x="89" y="25"/>
                      <a:pt x="78" y="15"/>
                    </a:cubicBezTo>
                    <a:cubicBezTo>
                      <a:pt x="67" y="6"/>
                      <a:pt x="53" y="0"/>
                      <a:pt x="38" y="0"/>
                    </a:cubicBezTo>
                    <a:cubicBezTo>
                      <a:pt x="25" y="0"/>
                      <a:pt x="12" y="5"/>
                      <a:pt x="1" y="13"/>
                    </a:cubicBezTo>
                    <a:cubicBezTo>
                      <a:pt x="1" y="14"/>
                      <a:pt x="0" y="14"/>
                      <a:pt x="0" y="15"/>
                    </a:cubicBezTo>
                    <a:cubicBezTo>
                      <a:pt x="0" y="15"/>
                      <a:pt x="1" y="16"/>
                      <a:pt x="1" y="16"/>
                    </a:cubicBezTo>
                    <a:lnTo>
                      <a:pt x="40" y="55"/>
                    </a:lnTo>
                    <a:close/>
                    <a:moveTo>
                      <a:pt x="32" y="34"/>
                    </a:moveTo>
                    <a:cubicBezTo>
                      <a:pt x="48" y="11"/>
                      <a:pt x="48" y="11"/>
                      <a:pt x="48" y="11"/>
                    </a:cubicBezTo>
                    <a:cubicBezTo>
                      <a:pt x="50" y="11"/>
                      <a:pt x="51" y="12"/>
                      <a:pt x="53" y="12"/>
                    </a:cubicBezTo>
                    <a:cubicBezTo>
                      <a:pt x="36" y="38"/>
                      <a:pt x="36" y="38"/>
                      <a:pt x="36" y="38"/>
                    </a:cubicBezTo>
                    <a:lnTo>
                      <a:pt x="32" y="34"/>
                    </a:lnTo>
                    <a:close/>
                    <a:moveTo>
                      <a:pt x="38" y="10"/>
                    </a:moveTo>
                    <a:cubicBezTo>
                      <a:pt x="39" y="10"/>
                      <a:pt x="39" y="10"/>
                      <a:pt x="40" y="10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5" y="10"/>
                      <a:pt x="37" y="10"/>
                      <a:pt x="38" y="10"/>
                    </a:cubicBezTo>
                    <a:close/>
                    <a:moveTo>
                      <a:pt x="23" y="12"/>
                    </a:moveTo>
                    <a:cubicBezTo>
                      <a:pt x="18" y="19"/>
                      <a:pt x="18" y="19"/>
                      <a:pt x="18" y="19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5"/>
                      <a:pt x="19" y="14"/>
                      <a:pt x="21" y="13"/>
                    </a:cubicBezTo>
                    <a:cubicBezTo>
                      <a:pt x="22" y="13"/>
                      <a:pt x="22" y="12"/>
                      <a:pt x="23" y="12"/>
                    </a:cubicBezTo>
                    <a:close/>
                    <a:moveTo>
                      <a:pt x="69" y="46"/>
                    </a:moveTo>
                    <a:cubicBezTo>
                      <a:pt x="79" y="31"/>
                      <a:pt x="79" y="31"/>
                      <a:pt x="79" y="31"/>
                    </a:cubicBezTo>
                    <a:cubicBezTo>
                      <a:pt x="80" y="32"/>
                      <a:pt x="80" y="33"/>
                      <a:pt x="81" y="34"/>
                    </a:cubicBezTo>
                    <a:cubicBezTo>
                      <a:pt x="73" y="46"/>
                      <a:pt x="73" y="46"/>
                      <a:pt x="73" y="46"/>
                    </a:cubicBezTo>
                    <a:lnTo>
                      <a:pt x="69" y="46"/>
                    </a:lnTo>
                    <a:close/>
                    <a:moveTo>
                      <a:pt x="82" y="46"/>
                    </a:moveTo>
                    <a:cubicBezTo>
                      <a:pt x="85" y="41"/>
                      <a:pt x="85" y="41"/>
                      <a:pt x="85" y="41"/>
                    </a:cubicBezTo>
                    <a:cubicBezTo>
                      <a:pt x="85" y="43"/>
                      <a:pt x="86" y="44"/>
                      <a:pt x="86" y="46"/>
                    </a:cubicBezTo>
                    <a:lnTo>
                      <a:pt x="82" y="46"/>
                    </a:lnTo>
                    <a:close/>
                    <a:moveTo>
                      <a:pt x="54" y="46"/>
                    </a:moveTo>
                    <a:cubicBezTo>
                      <a:pt x="70" y="22"/>
                      <a:pt x="70" y="22"/>
                      <a:pt x="70" y="22"/>
                    </a:cubicBezTo>
                    <a:cubicBezTo>
                      <a:pt x="71" y="22"/>
                      <a:pt x="71" y="22"/>
                      <a:pt x="72" y="23"/>
                    </a:cubicBezTo>
                    <a:cubicBezTo>
                      <a:pt x="73" y="24"/>
                      <a:pt x="73" y="24"/>
                      <a:pt x="74" y="25"/>
                    </a:cubicBezTo>
                    <a:cubicBezTo>
                      <a:pt x="60" y="46"/>
                      <a:pt x="60" y="46"/>
                      <a:pt x="60" y="46"/>
                    </a:cubicBezTo>
                    <a:lnTo>
                      <a:pt x="54" y="46"/>
                    </a:lnTo>
                    <a:close/>
                    <a:moveTo>
                      <a:pt x="46" y="46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60" y="15"/>
                      <a:pt x="60" y="15"/>
                      <a:pt x="60" y="15"/>
                    </a:cubicBezTo>
                    <a:cubicBezTo>
                      <a:pt x="62" y="16"/>
                      <a:pt x="63" y="16"/>
                      <a:pt x="65" y="17"/>
                    </a:cubicBezTo>
                    <a:lnTo>
                      <a:pt x="46" y="46"/>
                    </a:lnTo>
                    <a:close/>
                    <a:moveTo>
                      <a:pt x="46" y="46"/>
                    </a:moveTo>
                    <a:cubicBezTo>
                      <a:pt x="46" y="46"/>
                      <a:pt x="46" y="46"/>
                      <a:pt x="46" y="4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35C59EC1-802B-3B7A-6F08-7379AB72BF9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57588" y="3719513"/>
                <a:ext cx="157163" cy="254000"/>
              </a:xfrm>
              <a:custGeom>
                <a:avLst/>
                <a:gdLst/>
                <a:ahLst/>
                <a:cxnLst>
                  <a:cxn ang="0">
                    <a:pos x="53" y="37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13" y="0"/>
                  </a:cxn>
                  <a:cxn ang="0">
                    <a:pos x="0" y="38"/>
                  </a:cxn>
                  <a:cxn ang="0">
                    <a:pos x="23" y="85"/>
                  </a:cxn>
                  <a:cxn ang="0">
                    <a:pos x="24" y="85"/>
                  </a:cxn>
                  <a:cxn ang="0">
                    <a:pos x="24" y="85"/>
                  </a:cxn>
                  <a:cxn ang="0">
                    <a:pos x="26" y="84"/>
                  </a:cxn>
                  <a:cxn ang="0">
                    <a:pos x="53" y="40"/>
                  </a:cxn>
                  <a:cxn ang="0">
                    <a:pos x="53" y="37"/>
                  </a:cxn>
                  <a:cxn ang="0">
                    <a:pos x="42" y="40"/>
                  </a:cxn>
                  <a:cxn ang="0">
                    <a:pos x="22" y="71"/>
                  </a:cxn>
                  <a:cxn ang="0">
                    <a:pos x="15" y="60"/>
                  </a:cxn>
                  <a:cxn ang="0">
                    <a:pos x="9" y="38"/>
                  </a:cxn>
                  <a:cxn ang="0">
                    <a:pos x="12" y="20"/>
                  </a:cxn>
                  <a:cxn ang="0">
                    <a:pos x="16" y="14"/>
                  </a:cxn>
                  <a:cxn ang="0">
                    <a:pos x="42" y="40"/>
                  </a:cxn>
                  <a:cxn ang="0">
                    <a:pos x="42" y="40"/>
                  </a:cxn>
                  <a:cxn ang="0">
                    <a:pos x="42" y="40"/>
                  </a:cxn>
                </a:cxnLst>
                <a:rect l="0" t="0" r="r" b="b"/>
                <a:pathLst>
                  <a:path w="53" h="85">
                    <a:moveTo>
                      <a:pt x="53" y="37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5" y="0"/>
                      <a:pt x="14" y="0"/>
                    </a:cubicBezTo>
                    <a:cubicBezTo>
                      <a:pt x="14" y="0"/>
                      <a:pt x="13" y="0"/>
                      <a:pt x="13" y="0"/>
                    </a:cubicBezTo>
                    <a:cubicBezTo>
                      <a:pt x="5" y="11"/>
                      <a:pt x="0" y="24"/>
                      <a:pt x="0" y="38"/>
                    </a:cubicBezTo>
                    <a:cubicBezTo>
                      <a:pt x="0" y="56"/>
                      <a:pt x="8" y="73"/>
                      <a:pt x="23" y="85"/>
                    </a:cubicBezTo>
                    <a:cubicBezTo>
                      <a:pt x="23" y="85"/>
                      <a:pt x="24" y="85"/>
                      <a:pt x="24" y="85"/>
                    </a:cubicBezTo>
                    <a:cubicBezTo>
                      <a:pt x="24" y="85"/>
                      <a:pt x="24" y="85"/>
                      <a:pt x="24" y="85"/>
                    </a:cubicBezTo>
                    <a:cubicBezTo>
                      <a:pt x="25" y="85"/>
                      <a:pt x="25" y="85"/>
                      <a:pt x="26" y="84"/>
                    </a:cubicBezTo>
                    <a:cubicBezTo>
                      <a:pt x="53" y="40"/>
                      <a:pt x="53" y="40"/>
                      <a:pt x="53" y="40"/>
                    </a:cubicBezTo>
                    <a:cubicBezTo>
                      <a:pt x="53" y="39"/>
                      <a:pt x="53" y="38"/>
                      <a:pt x="53" y="37"/>
                    </a:cubicBezTo>
                    <a:close/>
                    <a:moveTo>
                      <a:pt x="42" y="40"/>
                    </a:moveTo>
                    <a:cubicBezTo>
                      <a:pt x="22" y="71"/>
                      <a:pt x="22" y="71"/>
                      <a:pt x="22" y="71"/>
                    </a:cubicBezTo>
                    <a:cubicBezTo>
                      <a:pt x="19" y="68"/>
                      <a:pt x="17" y="64"/>
                      <a:pt x="15" y="60"/>
                    </a:cubicBezTo>
                    <a:cubicBezTo>
                      <a:pt x="11" y="53"/>
                      <a:pt x="9" y="46"/>
                      <a:pt x="9" y="38"/>
                    </a:cubicBezTo>
                    <a:cubicBezTo>
                      <a:pt x="9" y="32"/>
                      <a:pt x="10" y="26"/>
                      <a:pt x="12" y="20"/>
                    </a:cubicBezTo>
                    <a:cubicBezTo>
                      <a:pt x="13" y="18"/>
                      <a:pt x="14" y="16"/>
                      <a:pt x="16" y="14"/>
                    </a:cubicBezTo>
                    <a:lnTo>
                      <a:pt x="42" y="40"/>
                    </a:lnTo>
                    <a:close/>
                    <a:moveTo>
                      <a:pt x="42" y="40"/>
                    </a:moveTo>
                    <a:cubicBezTo>
                      <a:pt x="42" y="40"/>
                      <a:pt x="42" y="40"/>
                      <a:pt x="42" y="4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87F1F893-B51A-3BF1-C532-3EC9ED986B8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56013" y="3844925"/>
                <a:ext cx="252413" cy="165100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30" y="0"/>
                  </a:cxn>
                  <a:cxn ang="0">
                    <a:pos x="28" y="1"/>
                  </a:cxn>
                  <a:cxn ang="0">
                    <a:pos x="0" y="47"/>
                  </a:cxn>
                  <a:cxn ang="0">
                    <a:pos x="0" y="48"/>
                  </a:cxn>
                  <a:cxn ang="0">
                    <a:pos x="1" y="49"/>
                  </a:cxn>
                  <a:cxn ang="0">
                    <a:pos x="26" y="55"/>
                  </a:cxn>
                  <a:cxn ang="0">
                    <a:pos x="66" y="40"/>
                  </a:cxn>
                  <a:cxn ang="0">
                    <a:pos x="85" y="2"/>
                  </a:cxn>
                  <a:cxn ang="0">
                    <a:pos x="85" y="1"/>
                  </a:cxn>
                  <a:cxn ang="0">
                    <a:pos x="83" y="0"/>
                  </a:cxn>
                  <a:cxn ang="0">
                    <a:pos x="83" y="0"/>
                  </a:cxn>
                  <a:cxn ang="0">
                    <a:pos x="83" y="0"/>
                  </a:cxn>
                </a:cxnLst>
                <a:rect l="0" t="0" r="r" b="b"/>
                <a:pathLst>
                  <a:path w="85" h="55">
                    <a:moveTo>
                      <a:pt x="8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29" y="0"/>
                      <a:pt x="29" y="0"/>
                      <a:pt x="28" y="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7"/>
                      <a:pt x="0" y="48"/>
                      <a:pt x="0" y="48"/>
                    </a:cubicBezTo>
                    <a:cubicBezTo>
                      <a:pt x="0" y="49"/>
                      <a:pt x="0" y="49"/>
                      <a:pt x="1" y="49"/>
                    </a:cubicBezTo>
                    <a:cubicBezTo>
                      <a:pt x="9" y="53"/>
                      <a:pt x="17" y="55"/>
                      <a:pt x="26" y="55"/>
                    </a:cubicBezTo>
                    <a:cubicBezTo>
                      <a:pt x="41" y="55"/>
                      <a:pt x="55" y="50"/>
                      <a:pt x="66" y="40"/>
                    </a:cubicBezTo>
                    <a:cubicBezTo>
                      <a:pt x="77" y="30"/>
                      <a:pt x="84" y="17"/>
                      <a:pt x="85" y="2"/>
                    </a:cubicBezTo>
                    <a:cubicBezTo>
                      <a:pt x="85" y="2"/>
                      <a:pt x="85" y="1"/>
                      <a:pt x="85" y="1"/>
                    </a:cubicBezTo>
                    <a:cubicBezTo>
                      <a:pt x="84" y="0"/>
                      <a:pt x="84" y="0"/>
                      <a:pt x="83" y="0"/>
                    </a:cubicBezTo>
                    <a:close/>
                    <a:moveTo>
                      <a:pt x="83" y="0"/>
                    </a:moveTo>
                    <a:cubicBezTo>
                      <a:pt x="83" y="0"/>
                      <a:pt x="83" y="0"/>
                      <a:pt x="83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grpSp>
          <p:nvGrpSpPr>
            <p:cNvPr id="8" name="Group 48">
              <a:extLst>
                <a:ext uri="{FF2B5EF4-FFF2-40B4-BE49-F238E27FC236}">
                  <a16:creationId xmlns:a16="http://schemas.microsoft.com/office/drawing/2014/main" id="{9943C6E0-3A21-E68D-5ABB-CE1158C5D321}"/>
                </a:ext>
              </a:extLst>
            </p:cNvPr>
            <p:cNvGrpSpPr/>
            <p:nvPr/>
          </p:nvGrpSpPr>
          <p:grpSpPr>
            <a:xfrm>
              <a:off x="7025097" y="2098082"/>
              <a:ext cx="606660" cy="539784"/>
              <a:chOff x="5189538" y="1973263"/>
              <a:chExt cx="403225" cy="358775"/>
            </a:xfrm>
          </p:grpSpPr>
          <p:sp>
            <p:nvSpPr>
              <p:cNvPr id="18" name="Freeform 12">
                <a:extLst>
                  <a:ext uri="{FF2B5EF4-FFF2-40B4-BE49-F238E27FC236}">
                    <a16:creationId xmlns:a16="http://schemas.microsoft.com/office/drawing/2014/main" id="{70DC6184-5D36-2771-E4F8-12E0D6B900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10188" y="1973263"/>
                <a:ext cx="282575" cy="260350"/>
              </a:xfrm>
              <a:custGeom>
                <a:avLst/>
                <a:gdLst/>
                <a:ahLst/>
                <a:cxnLst>
                  <a:cxn ang="0">
                    <a:pos x="3" y="23"/>
                  </a:cxn>
                  <a:cxn ang="0">
                    <a:pos x="13" y="25"/>
                  </a:cxn>
                  <a:cxn ang="0">
                    <a:pos x="54" y="33"/>
                  </a:cxn>
                  <a:cxn ang="0">
                    <a:pos x="65" y="55"/>
                  </a:cxn>
                  <a:cxn ang="0">
                    <a:pos x="61" y="52"/>
                  </a:cxn>
                  <a:cxn ang="0">
                    <a:pos x="56" y="52"/>
                  </a:cxn>
                  <a:cxn ang="0">
                    <a:pos x="55" y="57"/>
                  </a:cxn>
                  <a:cxn ang="0">
                    <a:pos x="65" y="85"/>
                  </a:cxn>
                  <a:cxn ang="0">
                    <a:pos x="68" y="87"/>
                  </a:cxn>
                  <a:cxn ang="0">
                    <a:pos x="72" y="86"/>
                  </a:cxn>
                  <a:cxn ang="0">
                    <a:pos x="93" y="65"/>
                  </a:cxn>
                  <a:cxn ang="0">
                    <a:pos x="94" y="60"/>
                  </a:cxn>
                  <a:cxn ang="0">
                    <a:pos x="90" y="58"/>
                  </a:cxn>
                  <a:cxn ang="0">
                    <a:pos x="83" y="60"/>
                  </a:cxn>
                  <a:cxn ang="0">
                    <a:pos x="67" y="21"/>
                  </a:cxn>
                  <a:cxn ang="0">
                    <a:pos x="6" y="9"/>
                  </a:cxn>
                  <a:cxn ang="0">
                    <a:pos x="1" y="15"/>
                  </a:cxn>
                  <a:cxn ang="0">
                    <a:pos x="3" y="23"/>
                  </a:cxn>
                  <a:cxn ang="0">
                    <a:pos x="3" y="23"/>
                  </a:cxn>
                  <a:cxn ang="0">
                    <a:pos x="3" y="23"/>
                  </a:cxn>
                </a:cxnLst>
                <a:rect l="0" t="0" r="r" b="b"/>
                <a:pathLst>
                  <a:path w="95" h="87">
                    <a:moveTo>
                      <a:pt x="3" y="23"/>
                    </a:moveTo>
                    <a:cubicBezTo>
                      <a:pt x="6" y="26"/>
                      <a:pt x="10" y="27"/>
                      <a:pt x="13" y="25"/>
                    </a:cubicBezTo>
                    <a:cubicBezTo>
                      <a:pt x="27" y="20"/>
                      <a:pt x="43" y="22"/>
                      <a:pt x="54" y="33"/>
                    </a:cubicBezTo>
                    <a:cubicBezTo>
                      <a:pt x="60" y="39"/>
                      <a:pt x="64" y="47"/>
                      <a:pt x="65" y="55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59" y="51"/>
                      <a:pt x="57" y="51"/>
                      <a:pt x="56" y="52"/>
                    </a:cubicBezTo>
                    <a:cubicBezTo>
                      <a:pt x="55" y="53"/>
                      <a:pt x="54" y="55"/>
                      <a:pt x="55" y="57"/>
                    </a:cubicBezTo>
                    <a:cubicBezTo>
                      <a:pt x="65" y="85"/>
                      <a:pt x="65" y="85"/>
                      <a:pt x="65" y="85"/>
                    </a:cubicBezTo>
                    <a:cubicBezTo>
                      <a:pt x="66" y="86"/>
                      <a:pt x="67" y="87"/>
                      <a:pt x="68" y="87"/>
                    </a:cubicBezTo>
                    <a:cubicBezTo>
                      <a:pt x="69" y="87"/>
                      <a:pt x="71" y="87"/>
                      <a:pt x="72" y="86"/>
                    </a:cubicBezTo>
                    <a:cubicBezTo>
                      <a:pt x="93" y="65"/>
                      <a:pt x="93" y="65"/>
                      <a:pt x="93" y="65"/>
                    </a:cubicBezTo>
                    <a:cubicBezTo>
                      <a:pt x="94" y="64"/>
                      <a:pt x="95" y="62"/>
                      <a:pt x="94" y="60"/>
                    </a:cubicBezTo>
                    <a:cubicBezTo>
                      <a:pt x="93" y="59"/>
                      <a:pt x="91" y="58"/>
                      <a:pt x="90" y="58"/>
                    </a:cubicBezTo>
                    <a:cubicBezTo>
                      <a:pt x="83" y="60"/>
                      <a:pt x="83" y="60"/>
                      <a:pt x="83" y="60"/>
                    </a:cubicBezTo>
                    <a:cubicBezTo>
                      <a:pt x="83" y="46"/>
                      <a:pt x="77" y="31"/>
                      <a:pt x="67" y="21"/>
                    </a:cubicBezTo>
                    <a:cubicBezTo>
                      <a:pt x="50" y="4"/>
                      <a:pt x="26" y="0"/>
                      <a:pt x="6" y="9"/>
                    </a:cubicBezTo>
                    <a:cubicBezTo>
                      <a:pt x="4" y="10"/>
                      <a:pt x="1" y="12"/>
                      <a:pt x="1" y="15"/>
                    </a:cubicBezTo>
                    <a:cubicBezTo>
                      <a:pt x="0" y="18"/>
                      <a:pt x="1" y="21"/>
                      <a:pt x="3" y="23"/>
                    </a:cubicBezTo>
                    <a:close/>
                    <a:moveTo>
                      <a:pt x="3" y="23"/>
                    </a:moveTo>
                    <a:cubicBezTo>
                      <a:pt x="3" y="23"/>
                      <a:pt x="3" y="23"/>
                      <a:pt x="3" y="23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9" name="Freeform 13">
                <a:extLst>
                  <a:ext uri="{FF2B5EF4-FFF2-40B4-BE49-F238E27FC236}">
                    <a16:creationId xmlns:a16="http://schemas.microsoft.com/office/drawing/2014/main" id="{BA0B801C-B3B0-EE98-B69D-74762A7A167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89538" y="2071688"/>
                <a:ext cx="280988" cy="260350"/>
              </a:xfrm>
              <a:custGeom>
                <a:avLst/>
                <a:gdLst/>
                <a:ahLst/>
                <a:cxnLst>
                  <a:cxn ang="0">
                    <a:pos x="94" y="72"/>
                  </a:cxn>
                  <a:cxn ang="0">
                    <a:pos x="91" y="64"/>
                  </a:cxn>
                  <a:cxn ang="0">
                    <a:pos x="82" y="62"/>
                  </a:cxn>
                  <a:cxn ang="0">
                    <a:pos x="41" y="54"/>
                  </a:cxn>
                  <a:cxn ang="0">
                    <a:pos x="30" y="32"/>
                  </a:cxn>
                  <a:cxn ang="0">
                    <a:pos x="34" y="35"/>
                  </a:cxn>
                  <a:cxn ang="0">
                    <a:pos x="39" y="35"/>
                  </a:cxn>
                  <a:cxn ang="0">
                    <a:pos x="40" y="31"/>
                  </a:cxn>
                  <a:cxn ang="0">
                    <a:pos x="29" y="2"/>
                  </a:cxn>
                  <a:cxn ang="0">
                    <a:pos x="26" y="0"/>
                  </a:cxn>
                  <a:cxn ang="0">
                    <a:pos x="23" y="1"/>
                  </a:cxn>
                  <a:cxn ang="0">
                    <a:pos x="1" y="22"/>
                  </a:cxn>
                  <a:cxn ang="0">
                    <a:pos x="1" y="27"/>
                  </a:cxn>
                  <a:cxn ang="0">
                    <a:pos x="5" y="29"/>
                  </a:cxn>
                  <a:cxn ang="0">
                    <a:pos x="12" y="28"/>
                  </a:cxn>
                  <a:cxn ang="0">
                    <a:pos x="28" y="66"/>
                  </a:cxn>
                  <a:cxn ang="0">
                    <a:pos x="88" y="79"/>
                  </a:cxn>
                  <a:cxn ang="0">
                    <a:pos x="94" y="72"/>
                  </a:cxn>
                  <a:cxn ang="0">
                    <a:pos x="94" y="72"/>
                  </a:cxn>
                  <a:cxn ang="0">
                    <a:pos x="94" y="72"/>
                  </a:cxn>
                </a:cxnLst>
                <a:rect l="0" t="0" r="r" b="b"/>
                <a:pathLst>
                  <a:path w="94" h="87">
                    <a:moveTo>
                      <a:pt x="94" y="72"/>
                    </a:moveTo>
                    <a:cubicBezTo>
                      <a:pt x="94" y="69"/>
                      <a:pt x="93" y="66"/>
                      <a:pt x="91" y="64"/>
                    </a:cubicBezTo>
                    <a:cubicBezTo>
                      <a:pt x="89" y="61"/>
                      <a:pt x="85" y="61"/>
                      <a:pt x="82" y="62"/>
                    </a:cubicBezTo>
                    <a:cubicBezTo>
                      <a:pt x="68" y="68"/>
                      <a:pt x="52" y="65"/>
                      <a:pt x="41" y="54"/>
                    </a:cubicBezTo>
                    <a:cubicBezTo>
                      <a:pt x="34" y="48"/>
                      <a:pt x="31" y="40"/>
                      <a:pt x="30" y="32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7" y="36"/>
                      <a:pt x="39" y="35"/>
                    </a:cubicBezTo>
                    <a:cubicBezTo>
                      <a:pt x="40" y="34"/>
                      <a:pt x="41" y="32"/>
                      <a:pt x="40" y="31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5" y="0"/>
                      <a:pt x="24" y="0"/>
                      <a:pt x="23" y="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4"/>
                      <a:pt x="0" y="25"/>
                      <a:pt x="1" y="27"/>
                    </a:cubicBezTo>
                    <a:cubicBezTo>
                      <a:pt x="2" y="28"/>
                      <a:pt x="3" y="29"/>
                      <a:pt x="5" y="29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42"/>
                      <a:pt x="17" y="56"/>
                      <a:pt x="28" y="66"/>
                    </a:cubicBezTo>
                    <a:cubicBezTo>
                      <a:pt x="44" y="83"/>
                      <a:pt x="68" y="87"/>
                      <a:pt x="88" y="79"/>
                    </a:cubicBezTo>
                    <a:cubicBezTo>
                      <a:pt x="91" y="77"/>
                      <a:pt x="93" y="75"/>
                      <a:pt x="94" y="72"/>
                    </a:cubicBezTo>
                    <a:close/>
                    <a:moveTo>
                      <a:pt x="94" y="72"/>
                    </a:moveTo>
                    <a:cubicBezTo>
                      <a:pt x="94" y="72"/>
                      <a:pt x="94" y="72"/>
                      <a:pt x="94" y="72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grpSp>
          <p:nvGrpSpPr>
            <p:cNvPr id="9" name="Group 51">
              <a:extLst>
                <a:ext uri="{FF2B5EF4-FFF2-40B4-BE49-F238E27FC236}">
                  <a16:creationId xmlns:a16="http://schemas.microsoft.com/office/drawing/2014/main" id="{26FBF4FB-827C-6AF7-3427-35C4B2BCE2E6}"/>
                </a:ext>
              </a:extLst>
            </p:cNvPr>
            <p:cNvGrpSpPr/>
            <p:nvPr/>
          </p:nvGrpSpPr>
          <p:grpSpPr>
            <a:xfrm>
              <a:off x="6984495" y="4601150"/>
              <a:ext cx="599495" cy="587552"/>
              <a:chOff x="5162551" y="3636963"/>
              <a:chExt cx="398463" cy="390525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66BA17DF-0983-019B-C82E-340E3F754C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62551" y="3636963"/>
                <a:ext cx="233363" cy="234950"/>
              </a:xfrm>
              <a:custGeom>
                <a:avLst/>
                <a:gdLst/>
                <a:ahLst/>
                <a:cxnLst>
                  <a:cxn ang="0">
                    <a:pos x="9" y="48"/>
                  </a:cxn>
                  <a:cxn ang="0">
                    <a:pos x="12" y="55"/>
                  </a:cxn>
                  <a:cxn ang="0">
                    <a:pos x="8" y="59"/>
                  </a:cxn>
                  <a:cxn ang="0">
                    <a:pos x="8" y="64"/>
                  </a:cxn>
                  <a:cxn ang="0">
                    <a:pos x="14" y="70"/>
                  </a:cxn>
                  <a:cxn ang="0">
                    <a:pos x="19" y="70"/>
                  </a:cxn>
                  <a:cxn ang="0">
                    <a:pos x="23" y="67"/>
                  </a:cxn>
                  <a:cxn ang="0">
                    <a:pos x="31" y="70"/>
                  </a:cxn>
                  <a:cxn ang="0">
                    <a:pos x="31" y="75"/>
                  </a:cxn>
                  <a:cxn ang="0">
                    <a:pos x="35" y="79"/>
                  </a:cxn>
                  <a:cxn ang="0">
                    <a:pos x="43" y="79"/>
                  </a:cxn>
                  <a:cxn ang="0">
                    <a:pos x="47" y="75"/>
                  </a:cxn>
                  <a:cxn ang="0">
                    <a:pos x="47" y="70"/>
                  </a:cxn>
                  <a:cxn ang="0">
                    <a:pos x="55" y="67"/>
                  </a:cxn>
                  <a:cxn ang="0">
                    <a:pos x="59" y="70"/>
                  </a:cxn>
                  <a:cxn ang="0">
                    <a:pos x="64" y="70"/>
                  </a:cxn>
                  <a:cxn ang="0">
                    <a:pos x="70" y="64"/>
                  </a:cxn>
                  <a:cxn ang="0">
                    <a:pos x="70" y="59"/>
                  </a:cxn>
                  <a:cxn ang="0">
                    <a:pos x="67" y="55"/>
                  </a:cxn>
                  <a:cxn ang="0">
                    <a:pos x="70" y="48"/>
                  </a:cxn>
                  <a:cxn ang="0">
                    <a:pos x="75" y="47"/>
                  </a:cxn>
                  <a:cxn ang="0">
                    <a:pos x="78" y="43"/>
                  </a:cxn>
                  <a:cxn ang="0">
                    <a:pos x="78" y="35"/>
                  </a:cxn>
                  <a:cxn ang="0">
                    <a:pos x="75" y="31"/>
                  </a:cxn>
                  <a:cxn ang="0">
                    <a:pos x="70" y="31"/>
                  </a:cxn>
                  <a:cxn ang="0">
                    <a:pos x="67" y="23"/>
                  </a:cxn>
                  <a:cxn ang="0">
                    <a:pos x="70" y="20"/>
                  </a:cxn>
                  <a:cxn ang="0">
                    <a:pos x="70" y="15"/>
                  </a:cxn>
                  <a:cxn ang="0">
                    <a:pos x="64" y="9"/>
                  </a:cxn>
                  <a:cxn ang="0">
                    <a:pos x="59" y="8"/>
                  </a:cxn>
                  <a:cxn ang="0">
                    <a:pos x="56" y="11"/>
                  </a:cxn>
                  <a:cxn ang="0">
                    <a:pos x="48" y="8"/>
                  </a:cxn>
                  <a:cxn ang="0">
                    <a:pos x="47" y="3"/>
                  </a:cxn>
                  <a:cxn ang="0">
                    <a:pos x="44" y="0"/>
                  </a:cxn>
                  <a:cxn ang="0">
                    <a:pos x="35" y="0"/>
                  </a:cxn>
                  <a:cxn ang="0">
                    <a:pos x="32" y="3"/>
                  </a:cxn>
                  <a:cxn ang="0">
                    <a:pos x="31" y="8"/>
                  </a:cxn>
                  <a:cxn ang="0">
                    <a:pos x="23" y="12"/>
                  </a:cxn>
                  <a:cxn ang="0">
                    <a:pos x="19" y="8"/>
                  </a:cxn>
                  <a:cxn ang="0">
                    <a:pos x="14" y="9"/>
                  </a:cxn>
                  <a:cxn ang="0">
                    <a:pos x="8" y="15"/>
                  </a:cxn>
                  <a:cxn ang="0">
                    <a:pos x="8" y="20"/>
                  </a:cxn>
                  <a:cxn ang="0">
                    <a:pos x="11" y="24"/>
                  </a:cxn>
                  <a:cxn ang="0">
                    <a:pos x="8" y="31"/>
                  </a:cxn>
                  <a:cxn ang="0">
                    <a:pos x="3" y="32"/>
                  </a:cxn>
                  <a:cxn ang="0">
                    <a:pos x="0" y="35"/>
                  </a:cxn>
                  <a:cxn ang="0">
                    <a:pos x="0" y="44"/>
                  </a:cxn>
                  <a:cxn ang="0">
                    <a:pos x="3" y="47"/>
                  </a:cxn>
                  <a:cxn ang="0">
                    <a:pos x="9" y="48"/>
                  </a:cxn>
                  <a:cxn ang="0">
                    <a:pos x="39" y="25"/>
                  </a:cxn>
                  <a:cxn ang="0">
                    <a:pos x="53" y="39"/>
                  </a:cxn>
                  <a:cxn ang="0">
                    <a:pos x="39" y="53"/>
                  </a:cxn>
                  <a:cxn ang="0">
                    <a:pos x="25" y="39"/>
                  </a:cxn>
                  <a:cxn ang="0">
                    <a:pos x="39" y="25"/>
                  </a:cxn>
                  <a:cxn ang="0">
                    <a:pos x="39" y="25"/>
                  </a:cxn>
                  <a:cxn ang="0">
                    <a:pos x="39" y="25"/>
                  </a:cxn>
                </a:cxnLst>
                <a:rect l="0" t="0" r="r" b="b"/>
                <a:pathLst>
                  <a:path w="78" h="79">
                    <a:moveTo>
                      <a:pt x="9" y="48"/>
                    </a:moveTo>
                    <a:cubicBezTo>
                      <a:pt x="9" y="50"/>
                      <a:pt x="10" y="53"/>
                      <a:pt x="12" y="55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7" y="61"/>
                      <a:pt x="7" y="63"/>
                      <a:pt x="8" y="64"/>
                    </a:cubicBezTo>
                    <a:cubicBezTo>
                      <a:pt x="14" y="70"/>
                      <a:pt x="14" y="70"/>
                      <a:pt x="14" y="70"/>
                    </a:cubicBezTo>
                    <a:cubicBezTo>
                      <a:pt x="16" y="71"/>
                      <a:pt x="18" y="71"/>
                      <a:pt x="19" y="70"/>
                    </a:cubicBezTo>
                    <a:cubicBezTo>
                      <a:pt x="23" y="67"/>
                      <a:pt x="23" y="67"/>
                      <a:pt x="23" y="67"/>
                    </a:cubicBezTo>
                    <a:cubicBezTo>
                      <a:pt x="26" y="68"/>
                      <a:pt x="28" y="69"/>
                      <a:pt x="31" y="70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3" y="79"/>
                      <a:pt x="35" y="79"/>
                    </a:cubicBezTo>
                    <a:cubicBezTo>
                      <a:pt x="43" y="79"/>
                      <a:pt x="43" y="79"/>
                      <a:pt x="43" y="79"/>
                    </a:cubicBezTo>
                    <a:cubicBezTo>
                      <a:pt x="45" y="79"/>
                      <a:pt x="47" y="77"/>
                      <a:pt x="47" y="75"/>
                    </a:cubicBezTo>
                    <a:cubicBezTo>
                      <a:pt x="47" y="70"/>
                      <a:pt x="47" y="70"/>
                      <a:pt x="47" y="70"/>
                    </a:cubicBezTo>
                    <a:cubicBezTo>
                      <a:pt x="50" y="69"/>
                      <a:pt x="53" y="68"/>
                      <a:pt x="55" y="67"/>
                    </a:cubicBezTo>
                    <a:cubicBezTo>
                      <a:pt x="59" y="70"/>
                      <a:pt x="59" y="70"/>
                      <a:pt x="59" y="70"/>
                    </a:cubicBezTo>
                    <a:cubicBezTo>
                      <a:pt x="61" y="71"/>
                      <a:pt x="63" y="71"/>
                      <a:pt x="64" y="70"/>
                    </a:cubicBezTo>
                    <a:cubicBezTo>
                      <a:pt x="70" y="64"/>
                      <a:pt x="70" y="64"/>
                      <a:pt x="70" y="64"/>
                    </a:cubicBezTo>
                    <a:cubicBezTo>
                      <a:pt x="71" y="63"/>
                      <a:pt x="71" y="61"/>
                      <a:pt x="70" y="59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8" y="53"/>
                      <a:pt x="70" y="50"/>
                      <a:pt x="70" y="48"/>
                    </a:cubicBezTo>
                    <a:cubicBezTo>
                      <a:pt x="75" y="47"/>
                      <a:pt x="75" y="47"/>
                      <a:pt x="75" y="47"/>
                    </a:cubicBezTo>
                    <a:cubicBezTo>
                      <a:pt x="77" y="47"/>
                      <a:pt x="78" y="45"/>
                      <a:pt x="78" y="43"/>
                    </a:cubicBezTo>
                    <a:cubicBezTo>
                      <a:pt x="78" y="35"/>
                      <a:pt x="78" y="35"/>
                      <a:pt x="78" y="35"/>
                    </a:cubicBezTo>
                    <a:cubicBezTo>
                      <a:pt x="78" y="33"/>
                      <a:pt x="77" y="32"/>
                      <a:pt x="75" y="31"/>
                    </a:cubicBezTo>
                    <a:cubicBezTo>
                      <a:pt x="70" y="31"/>
                      <a:pt x="70" y="31"/>
                      <a:pt x="70" y="31"/>
                    </a:cubicBezTo>
                    <a:cubicBezTo>
                      <a:pt x="70" y="28"/>
                      <a:pt x="69" y="26"/>
                      <a:pt x="67" y="23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1" y="18"/>
                      <a:pt x="71" y="16"/>
                      <a:pt x="70" y="15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3" y="7"/>
                      <a:pt x="61" y="7"/>
                      <a:pt x="59" y="8"/>
                    </a:cubicBezTo>
                    <a:cubicBezTo>
                      <a:pt x="56" y="11"/>
                      <a:pt x="56" y="11"/>
                      <a:pt x="56" y="11"/>
                    </a:cubicBezTo>
                    <a:cubicBezTo>
                      <a:pt x="53" y="10"/>
                      <a:pt x="51" y="9"/>
                      <a:pt x="48" y="8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2"/>
                      <a:pt x="45" y="0"/>
                      <a:pt x="4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3" y="0"/>
                      <a:pt x="32" y="2"/>
                      <a:pt x="32" y="3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28" y="9"/>
                      <a:pt x="26" y="10"/>
                      <a:pt x="23" y="12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8" y="7"/>
                      <a:pt x="16" y="7"/>
                      <a:pt x="14" y="9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6"/>
                      <a:pt x="7" y="18"/>
                      <a:pt x="8" y="20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0" y="26"/>
                      <a:pt x="9" y="29"/>
                      <a:pt x="8" y="31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1" y="32"/>
                      <a:pt x="0" y="33"/>
                      <a:pt x="0" y="35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1" y="47"/>
                      <a:pt x="3" y="47"/>
                    </a:cubicBezTo>
                    <a:lnTo>
                      <a:pt x="9" y="48"/>
                    </a:lnTo>
                    <a:close/>
                    <a:moveTo>
                      <a:pt x="39" y="25"/>
                    </a:moveTo>
                    <a:cubicBezTo>
                      <a:pt x="47" y="25"/>
                      <a:pt x="53" y="31"/>
                      <a:pt x="53" y="39"/>
                    </a:cubicBezTo>
                    <a:cubicBezTo>
                      <a:pt x="53" y="47"/>
                      <a:pt x="47" y="53"/>
                      <a:pt x="39" y="53"/>
                    </a:cubicBezTo>
                    <a:cubicBezTo>
                      <a:pt x="32" y="53"/>
                      <a:pt x="25" y="47"/>
                      <a:pt x="25" y="39"/>
                    </a:cubicBezTo>
                    <a:cubicBezTo>
                      <a:pt x="25" y="31"/>
                      <a:pt x="32" y="25"/>
                      <a:pt x="39" y="25"/>
                    </a:cubicBezTo>
                    <a:close/>
                    <a:moveTo>
                      <a:pt x="39" y="25"/>
                    </a:moveTo>
                    <a:cubicBezTo>
                      <a:pt x="39" y="25"/>
                      <a:pt x="39" y="25"/>
                      <a:pt x="39" y="25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EF00F40-FF60-1F53-0058-3A407B3929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65751" y="3756025"/>
                <a:ext cx="195263" cy="193675"/>
              </a:xfrm>
              <a:custGeom>
                <a:avLst/>
                <a:gdLst/>
                <a:ahLst/>
                <a:cxnLst>
                  <a:cxn ang="0">
                    <a:pos x="55" y="10"/>
                  </a:cxn>
                  <a:cxn ang="0">
                    <a:pos x="51" y="6"/>
                  </a:cxn>
                  <a:cxn ang="0">
                    <a:pos x="46" y="6"/>
                  </a:cxn>
                  <a:cxn ang="0">
                    <a:pos x="44" y="9"/>
                  </a:cxn>
                  <a:cxn ang="0">
                    <a:pos x="37" y="7"/>
                  </a:cxn>
                  <a:cxn ang="0">
                    <a:pos x="36" y="3"/>
                  </a:cxn>
                  <a:cxn ang="0">
                    <a:pos x="32" y="0"/>
                  </a:cxn>
                  <a:cxn ang="0">
                    <a:pos x="27" y="1"/>
                  </a:cxn>
                  <a:cxn ang="0">
                    <a:pos x="23" y="4"/>
                  </a:cxn>
                  <a:cxn ang="0">
                    <a:pos x="23" y="8"/>
                  </a:cxn>
                  <a:cxn ang="0">
                    <a:pos x="17" y="11"/>
                  </a:cxn>
                  <a:cxn ang="0">
                    <a:pos x="14" y="9"/>
                  </a:cxn>
                  <a:cxn ang="0">
                    <a:pos x="9" y="10"/>
                  </a:cxn>
                  <a:cxn ang="0">
                    <a:pos x="6" y="14"/>
                  </a:cxn>
                  <a:cxn ang="0">
                    <a:pos x="6" y="19"/>
                  </a:cxn>
                  <a:cxn ang="0">
                    <a:pos x="8" y="22"/>
                  </a:cxn>
                  <a:cxn ang="0">
                    <a:pos x="6" y="28"/>
                  </a:cxn>
                  <a:cxn ang="0">
                    <a:pos x="3" y="29"/>
                  </a:cxn>
                  <a:cxn ang="0">
                    <a:pos x="0" y="33"/>
                  </a:cxn>
                  <a:cxn ang="0">
                    <a:pos x="0" y="38"/>
                  </a:cxn>
                  <a:cxn ang="0">
                    <a:pos x="4" y="42"/>
                  </a:cxn>
                  <a:cxn ang="0">
                    <a:pos x="8" y="42"/>
                  </a:cxn>
                  <a:cxn ang="0">
                    <a:pos x="11" y="47"/>
                  </a:cxn>
                  <a:cxn ang="0">
                    <a:pos x="8" y="51"/>
                  </a:cxn>
                  <a:cxn ang="0">
                    <a:pos x="9" y="55"/>
                  </a:cxn>
                  <a:cxn ang="0">
                    <a:pos x="14" y="59"/>
                  </a:cxn>
                  <a:cxn ang="0">
                    <a:pos x="18" y="59"/>
                  </a:cxn>
                  <a:cxn ang="0">
                    <a:pos x="21" y="56"/>
                  </a:cxn>
                  <a:cxn ang="0">
                    <a:pos x="27" y="58"/>
                  </a:cxn>
                  <a:cxn ang="0">
                    <a:pos x="28" y="62"/>
                  </a:cxn>
                  <a:cxn ang="0">
                    <a:pos x="32" y="65"/>
                  </a:cxn>
                  <a:cxn ang="0">
                    <a:pos x="38" y="64"/>
                  </a:cxn>
                  <a:cxn ang="0">
                    <a:pos x="41" y="61"/>
                  </a:cxn>
                  <a:cxn ang="0">
                    <a:pos x="41" y="57"/>
                  </a:cxn>
                  <a:cxn ang="0">
                    <a:pos x="47" y="54"/>
                  </a:cxn>
                  <a:cxn ang="0">
                    <a:pos x="50" y="56"/>
                  </a:cxn>
                  <a:cxn ang="0">
                    <a:pos x="55" y="56"/>
                  </a:cxn>
                  <a:cxn ang="0">
                    <a:pos x="59" y="51"/>
                  </a:cxn>
                  <a:cxn ang="0">
                    <a:pos x="59" y="46"/>
                  </a:cxn>
                  <a:cxn ang="0">
                    <a:pos x="56" y="44"/>
                  </a:cxn>
                  <a:cxn ang="0">
                    <a:pos x="58" y="37"/>
                  </a:cxn>
                  <a:cxn ang="0">
                    <a:pos x="62" y="37"/>
                  </a:cxn>
                  <a:cxn ang="0">
                    <a:pos x="64" y="33"/>
                  </a:cxn>
                  <a:cxn ang="0">
                    <a:pos x="64" y="27"/>
                  </a:cxn>
                  <a:cxn ang="0">
                    <a:pos x="60" y="24"/>
                  </a:cxn>
                  <a:cxn ang="0">
                    <a:pos x="57" y="24"/>
                  </a:cxn>
                  <a:cxn ang="0">
                    <a:pos x="54" y="18"/>
                  </a:cxn>
                  <a:cxn ang="0">
                    <a:pos x="56" y="15"/>
                  </a:cxn>
                  <a:cxn ang="0">
                    <a:pos x="55" y="10"/>
                  </a:cxn>
                  <a:cxn ang="0">
                    <a:pos x="33" y="44"/>
                  </a:cxn>
                  <a:cxn ang="0">
                    <a:pos x="21" y="33"/>
                  </a:cxn>
                  <a:cxn ang="0">
                    <a:pos x="31" y="21"/>
                  </a:cxn>
                  <a:cxn ang="0">
                    <a:pos x="44" y="31"/>
                  </a:cxn>
                  <a:cxn ang="0">
                    <a:pos x="33" y="44"/>
                  </a:cxn>
                  <a:cxn ang="0">
                    <a:pos x="33" y="44"/>
                  </a:cxn>
                  <a:cxn ang="0">
                    <a:pos x="33" y="44"/>
                  </a:cxn>
                </a:cxnLst>
                <a:rect l="0" t="0" r="r" b="b"/>
                <a:pathLst>
                  <a:path w="65" h="65">
                    <a:moveTo>
                      <a:pt x="55" y="10"/>
                    </a:moveTo>
                    <a:cubicBezTo>
                      <a:pt x="51" y="6"/>
                      <a:pt x="51" y="6"/>
                      <a:pt x="51" y="6"/>
                    </a:cubicBezTo>
                    <a:cubicBezTo>
                      <a:pt x="49" y="5"/>
                      <a:pt x="47" y="5"/>
                      <a:pt x="46" y="6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41" y="8"/>
                      <a:pt x="39" y="7"/>
                      <a:pt x="37" y="7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36" y="1"/>
                      <a:pt x="34" y="0"/>
                      <a:pt x="32" y="0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5" y="1"/>
                      <a:pt x="23" y="2"/>
                      <a:pt x="23" y="4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1" y="9"/>
                      <a:pt x="19" y="10"/>
                      <a:pt x="17" y="11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3" y="8"/>
                      <a:pt x="11" y="8"/>
                      <a:pt x="9" y="10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4" y="16"/>
                      <a:pt x="4" y="18"/>
                      <a:pt x="6" y="19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7" y="24"/>
                      <a:pt x="7" y="26"/>
                      <a:pt x="6" y="28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1" y="29"/>
                      <a:pt x="0" y="31"/>
                      <a:pt x="0" y="3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" y="40"/>
                      <a:pt x="2" y="42"/>
                      <a:pt x="4" y="42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9" y="44"/>
                      <a:pt x="9" y="45"/>
                      <a:pt x="11" y="47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2"/>
                      <a:pt x="8" y="54"/>
                      <a:pt x="9" y="55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5" y="60"/>
                      <a:pt x="17" y="60"/>
                      <a:pt x="18" y="59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3" y="57"/>
                      <a:pt x="25" y="58"/>
                      <a:pt x="27" y="58"/>
                    </a:cubicBezTo>
                    <a:cubicBezTo>
                      <a:pt x="28" y="62"/>
                      <a:pt x="28" y="62"/>
                      <a:pt x="28" y="62"/>
                    </a:cubicBezTo>
                    <a:cubicBezTo>
                      <a:pt x="28" y="64"/>
                      <a:pt x="30" y="65"/>
                      <a:pt x="32" y="65"/>
                    </a:cubicBezTo>
                    <a:cubicBezTo>
                      <a:pt x="38" y="64"/>
                      <a:pt x="38" y="64"/>
                      <a:pt x="38" y="64"/>
                    </a:cubicBezTo>
                    <a:cubicBezTo>
                      <a:pt x="39" y="64"/>
                      <a:pt x="41" y="63"/>
                      <a:pt x="41" y="61"/>
                    </a:cubicBezTo>
                    <a:cubicBezTo>
                      <a:pt x="41" y="57"/>
                      <a:pt x="41" y="57"/>
                      <a:pt x="41" y="57"/>
                    </a:cubicBezTo>
                    <a:cubicBezTo>
                      <a:pt x="43" y="56"/>
                      <a:pt x="45" y="55"/>
                      <a:pt x="47" y="54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2" y="57"/>
                      <a:pt x="54" y="57"/>
                      <a:pt x="55" y="56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0"/>
                      <a:pt x="60" y="48"/>
                      <a:pt x="59" y="46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7" y="42"/>
                      <a:pt x="58" y="39"/>
                      <a:pt x="58" y="37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3" y="36"/>
                      <a:pt x="65" y="35"/>
                      <a:pt x="64" y="33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5"/>
                      <a:pt x="62" y="24"/>
                      <a:pt x="60" y="24"/>
                    </a:cubicBezTo>
                    <a:cubicBezTo>
                      <a:pt x="57" y="24"/>
                      <a:pt x="57" y="24"/>
                      <a:pt x="57" y="24"/>
                    </a:cubicBezTo>
                    <a:cubicBezTo>
                      <a:pt x="56" y="21"/>
                      <a:pt x="55" y="20"/>
                      <a:pt x="54" y="18"/>
                    </a:cubicBezTo>
                    <a:cubicBezTo>
                      <a:pt x="56" y="15"/>
                      <a:pt x="56" y="15"/>
                      <a:pt x="56" y="15"/>
                    </a:cubicBezTo>
                    <a:cubicBezTo>
                      <a:pt x="57" y="13"/>
                      <a:pt x="57" y="11"/>
                      <a:pt x="55" y="10"/>
                    </a:cubicBezTo>
                    <a:close/>
                    <a:moveTo>
                      <a:pt x="33" y="44"/>
                    </a:moveTo>
                    <a:cubicBezTo>
                      <a:pt x="27" y="44"/>
                      <a:pt x="21" y="40"/>
                      <a:pt x="21" y="33"/>
                    </a:cubicBezTo>
                    <a:cubicBezTo>
                      <a:pt x="20" y="27"/>
                      <a:pt x="25" y="21"/>
                      <a:pt x="31" y="21"/>
                    </a:cubicBezTo>
                    <a:cubicBezTo>
                      <a:pt x="38" y="20"/>
                      <a:pt x="43" y="25"/>
                      <a:pt x="44" y="31"/>
                    </a:cubicBezTo>
                    <a:cubicBezTo>
                      <a:pt x="44" y="38"/>
                      <a:pt x="40" y="43"/>
                      <a:pt x="33" y="44"/>
                    </a:cubicBezTo>
                    <a:close/>
                    <a:moveTo>
                      <a:pt x="33" y="44"/>
                    </a:moveTo>
                    <a:cubicBezTo>
                      <a:pt x="33" y="44"/>
                      <a:pt x="33" y="44"/>
                      <a:pt x="33" y="44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5A2D1D32-66A3-E88C-E9C2-7BA04D131E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40338" y="3871913"/>
                <a:ext cx="155575" cy="155575"/>
              </a:xfrm>
              <a:custGeom>
                <a:avLst/>
                <a:gdLst/>
                <a:ahLst/>
                <a:cxnLst>
                  <a:cxn ang="0">
                    <a:pos x="3" y="21"/>
                  </a:cxn>
                  <a:cxn ang="0">
                    <a:pos x="0" y="24"/>
                  </a:cxn>
                  <a:cxn ang="0">
                    <a:pos x="0" y="28"/>
                  </a:cxn>
                  <a:cxn ang="0">
                    <a:pos x="3" y="31"/>
                  </a:cxn>
                  <a:cxn ang="0">
                    <a:pos x="6" y="32"/>
                  </a:cxn>
                  <a:cxn ang="0">
                    <a:pos x="7" y="36"/>
                  </a:cxn>
                  <a:cxn ang="0">
                    <a:pos x="6" y="38"/>
                  </a:cxn>
                  <a:cxn ang="0">
                    <a:pos x="6" y="43"/>
                  </a:cxn>
                  <a:cxn ang="0">
                    <a:pos x="9" y="45"/>
                  </a:cxn>
                  <a:cxn ang="0">
                    <a:pos x="13" y="46"/>
                  </a:cxn>
                  <a:cxn ang="0">
                    <a:pos x="15" y="44"/>
                  </a:cxn>
                  <a:cxn ang="0">
                    <a:pos x="20" y="46"/>
                  </a:cxn>
                  <a:cxn ang="0">
                    <a:pos x="20" y="49"/>
                  </a:cxn>
                  <a:cxn ang="0">
                    <a:pos x="24" y="52"/>
                  </a:cxn>
                  <a:cxn ang="0">
                    <a:pos x="27" y="52"/>
                  </a:cxn>
                  <a:cxn ang="0">
                    <a:pos x="31" y="49"/>
                  </a:cxn>
                  <a:cxn ang="0">
                    <a:pos x="31" y="47"/>
                  </a:cxn>
                  <a:cxn ang="0">
                    <a:pos x="36" y="45"/>
                  </a:cxn>
                  <a:cxn ang="0">
                    <a:pos x="38" y="46"/>
                  </a:cxn>
                  <a:cxn ang="0">
                    <a:pos x="43" y="46"/>
                  </a:cxn>
                  <a:cxn ang="0">
                    <a:pos x="46" y="43"/>
                  </a:cxn>
                  <a:cxn ang="0">
                    <a:pos x="46" y="39"/>
                  </a:cxn>
                  <a:cxn ang="0">
                    <a:pos x="45" y="37"/>
                  </a:cxn>
                  <a:cxn ang="0">
                    <a:pos x="47" y="32"/>
                  </a:cxn>
                  <a:cxn ang="0">
                    <a:pos x="49" y="32"/>
                  </a:cxn>
                  <a:cxn ang="0">
                    <a:pos x="52" y="28"/>
                  </a:cxn>
                  <a:cxn ang="0">
                    <a:pos x="52" y="24"/>
                  </a:cxn>
                  <a:cxn ang="0">
                    <a:pos x="49" y="21"/>
                  </a:cxn>
                  <a:cxn ang="0">
                    <a:pos x="47" y="21"/>
                  </a:cxn>
                  <a:cxn ang="0">
                    <a:pos x="45" y="16"/>
                  </a:cxn>
                  <a:cxn ang="0">
                    <a:pos x="46" y="14"/>
                  </a:cxn>
                  <a:cxn ang="0">
                    <a:pos x="46" y="9"/>
                  </a:cxn>
                  <a:cxn ang="0">
                    <a:pos x="44" y="7"/>
                  </a:cxn>
                  <a:cxn ang="0">
                    <a:pos x="39" y="6"/>
                  </a:cxn>
                  <a:cxn ang="0">
                    <a:pos x="37" y="8"/>
                  </a:cxn>
                  <a:cxn ang="0">
                    <a:pos x="32" y="5"/>
                  </a:cxn>
                  <a:cxn ang="0">
                    <a:pos x="32" y="3"/>
                  </a:cxn>
                  <a:cxn ang="0">
                    <a:pos x="28" y="0"/>
                  </a:cxn>
                  <a:cxn ang="0">
                    <a:pos x="25" y="0"/>
                  </a:cxn>
                  <a:cxn ang="0">
                    <a:pos x="21" y="3"/>
                  </a:cxn>
                  <a:cxn ang="0">
                    <a:pos x="21" y="5"/>
                  </a:cxn>
                  <a:cxn ang="0">
                    <a:pos x="16" y="7"/>
                  </a:cxn>
                  <a:cxn ang="0">
                    <a:pos x="14" y="6"/>
                  </a:cxn>
                  <a:cxn ang="0">
                    <a:pos x="9" y="6"/>
                  </a:cxn>
                  <a:cxn ang="0">
                    <a:pos x="6" y="9"/>
                  </a:cxn>
                  <a:cxn ang="0">
                    <a:pos x="6" y="13"/>
                  </a:cxn>
                  <a:cxn ang="0">
                    <a:pos x="8" y="15"/>
                  </a:cxn>
                  <a:cxn ang="0">
                    <a:pos x="6" y="20"/>
                  </a:cxn>
                  <a:cxn ang="0">
                    <a:pos x="3" y="21"/>
                  </a:cxn>
                  <a:cxn ang="0">
                    <a:pos x="26" y="16"/>
                  </a:cxn>
                  <a:cxn ang="0">
                    <a:pos x="36" y="26"/>
                  </a:cxn>
                  <a:cxn ang="0">
                    <a:pos x="26" y="35"/>
                  </a:cxn>
                  <a:cxn ang="0">
                    <a:pos x="17" y="26"/>
                  </a:cxn>
                  <a:cxn ang="0">
                    <a:pos x="26" y="16"/>
                  </a:cxn>
                  <a:cxn ang="0">
                    <a:pos x="26" y="16"/>
                  </a:cxn>
                  <a:cxn ang="0">
                    <a:pos x="26" y="16"/>
                  </a:cxn>
                </a:cxnLst>
                <a:rect l="0" t="0" r="r" b="b"/>
                <a:pathLst>
                  <a:path w="52" h="52">
                    <a:moveTo>
                      <a:pt x="3" y="21"/>
                    </a:moveTo>
                    <a:cubicBezTo>
                      <a:pt x="1" y="21"/>
                      <a:pt x="0" y="22"/>
                      <a:pt x="0" y="2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9"/>
                      <a:pt x="1" y="31"/>
                      <a:pt x="3" y="31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6" y="33"/>
                      <a:pt x="7" y="35"/>
                      <a:pt x="7" y="36"/>
                    </a:cubicBezTo>
                    <a:cubicBezTo>
                      <a:pt x="6" y="38"/>
                      <a:pt x="6" y="38"/>
                      <a:pt x="6" y="38"/>
                    </a:cubicBezTo>
                    <a:cubicBezTo>
                      <a:pt x="5" y="40"/>
                      <a:pt x="5" y="42"/>
                      <a:pt x="6" y="43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10" y="47"/>
                      <a:pt x="12" y="47"/>
                      <a:pt x="13" y="46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17" y="45"/>
                      <a:pt x="18" y="46"/>
                      <a:pt x="20" y="46"/>
                    </a:cubicBezTo>
                    <a:cubicBezTo>
                      <a:pt x="20" y="49"/>
                      <a:pt x="20" y="49"/>
                      <a:pt x="20" y="49"/>
                    </a:cubicBezTo>
                    <a:cubicBezTo>
                      <a:pt x="21" y="51"/>
                      <a:pt x="22" y="52"/>
                      <a:pt x="24" y="52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9" y="52"/>
                      <a:pt x="31" y="51"/>
                      <a:pt x="31" y="49"/>
                    </a:cubicBezTo>
                    <a:cubicBezTo>
                      <a:pt x="31" y="47"/>
                      <a:pt x="31" y="47"/>
                      <a:pt x="31" y="47"/>
                    </a:cubicBezTo>
                    <a:cubicBezTo>
                      <a:pt x="33" y="46"/>
                      <a:pt x="35" y="45"/>
                      <a:pt x="36" y="45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40" y="47"/>
                      <a:pt x="42" y="47"/>
                      <a:pt x="43" y="46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7" y="40"/>
                      <a:pt x="46" y="39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35"/>
                      <a:pt x="46" y="33"/>
                      <a:pt x="47" y="32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51" y="31"/>
                      <a:pt x="52" y="30"/>
                      <a:pt x="52" y="28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3"/>
                      <a:pt x="51" y="21"/>
                      <a:pt x="49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6" y="19"/>
                      <a:pt x="46" y="17"/>
                      <a:pt x="45" y="16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7" y="12"/>
                      <a:pt x="47" y="10"/>
                      <a:pt x="46" y="9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2" y="5"/>
                      <a:pt x="40" y="5"/>
                      <a:pt x="39" y="6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6" y="7"/>
                      <a:pt x="34" y="6"/>
                      <a:pt x="32" y="5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32" y="1"/>
                      <a:pt x="30" y="0"/>
                      <a:pt x="28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3" y="0"/>
                      <a:pt x="21" y="1"/>
                      <a:pt x="21" y="3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19" y="6"/>
                      <a:pt x="17" y="6"/>
                      <a:pt x="16" y="7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2" y="5"/>
                      <a:pt x="10" y="5"/>
                      <a:pt x="9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0"/>
                      <a:pt x="5" y="12"/>
                      <a:pt x="6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7"/>
                      <a:pt x="6" y="19"/>
                      <a:pt x="6" y="20"/>
                    </a:cubicBezTo>
                    <a:lnTo>
                      <a:pt x="3" y="21"/>
                    </a:lnTo>
                    <a:close/>
                    <a:moveTo>
                      <a:pt x="26" y="16"/>
                    </a:moveTo>
                    <a:cubicBezTo>
                      <a:pt x="31" y="17"/>
                      <a:pt x="36" y="21"/>
                      <a:pt x="36" y="26"/>
                    </a:cubicBezTo>
                    <a:cubicBezTo>
                      <a:pt x="35" y="31"/>
                      <a:pt x="31" y="35"/>
                      <a:pt x="26" y="35"/>
                    </a:cubicBezTo>
                    <a:cubicBezTo>
                      <a:pt x="21" y="35"/>
                      <a:pt x="17" y="31"/>
                      <a:pt x="17" y="26"/>
                    </a:cubicBezTo>
                    <a:cubicBezTo>
                      <a:pt x="17" y="21"/>
                      <a:pt x="21" y="16"/>
                      <a:pt x="26" y="16"/>
                    </a:cubicBezTo>
                    <a:close/>
                    <a:moveTo>
                      <a:pt x="26" y="16"/>
                    </a:moveTo>
                    <a:cubicBezTo>
                      <a:pt x="26" y="16"/>
                      <a:pt x="26" y="16"/>
                      <a:pt x="26" y="1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sp>
          <p:nvSpPr>
            <p:cNvPr id="10" name="Freeform 17">
              <a:extLst>
                <a:ext uri="{FF2B5EF4-FFF2-40B4-BE49-F238E27FC236}">
                  <a16:creationId xmlns:a16="http://schemas.microsoft.com/office/drawing/2014/main" id="{C05753DC-B785-D44D-77F7-74DB21C44C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22344" y="2067032"/>
              <a:ext cx="422752" cy="628156"/>
            </a:xfrm>
            <a:custGeom>
              <a:avLst/>
              <a:gdLst/>
              <a:ahLst/>
              <a:cxnLst>
                <a:cxn ang="0">
                  <a:pos x="47" y="0"/>
                </a:cxn>
                <a:cxn ang="0">
                  <a:pos x="10" y="76"/>
                </a:cxn>
                <a:cxn ang="0">
                  <a:pos x="24" y="124"/>
                </a:cxn>
                <a:cxn ang="0">
                  <a:pos x="34" y="128"/>
                </a:cxn>
                <a:cxn ang="0">
                  <a:pos x="44" y="140"/>
                </a:cxn>
                <a:cxn ang="0">
                  <a:pos x="62" y="130"/>
                </a:cxn>
                <a:cxn ang="0">
                  <a:pos x="67" y="128"/>
                </a:cxn>
                <a:cxn ang="0">
                  <a:pos x="72" y="94"/>
                </a:cxn>
                <a:cxn ang="0">
                  <a:pos x="94" y="46"/>
                </a:cxn>
                <a:cxn ang="0">
                  <a:pos x="32" y="53"/>
                </a:cxn>
                <a:cxn ang="0">
                  <a:pos x="43" y="56"/>
                </a:cxn>
                <a:cxn ang="0">
                  <a:pos x="47" y="56"/>
                </a:cxn>
                <a:cxn ang="0">
                  <a:pos x="55" y="55"/>
                </a:cxn>
                <a:cxn ang="0">
                  <a:pos x="58" y="56"/>
                </a:cxn>
                <a:cxn ang="0">
                  <a:pos x="54" y="89"/>
                </a:cxn>
                <a:cxn ang="0">
                  <a:pos x="62" y="98"/>
                </a:cxn>
                <a:cxn ang="0">
                  <a:pos x="33" y="106"/>
                </a:cxn>
                <a:cxn ang="0">
                  <a:pos x="62" y="98"/>
                </a:cxn>
                <a:cxn ang="0">
                  <a:pos x="33" y="111"/>
                </a:cxn>
                <a:cxn ang="0">
                  <a:pos x="62" y="118"/>
                </a:cxn>
                <a:cxn ang="0">
                  <a:pos x="64" y="88"/>
                </a:cxn>
                <a:cxn ang="0">
                  <a:pos x="70" y="49"/>
                </a:cxn>
                <a:cxn ang="0">
                  <a:pos x="63" y="48"/>
                </a:cxn>
                <a:cxn ang="0">
                  <a:pos x="58" y="51"/>
                </a:cxn>
                <a:cxn ang="0">
                  <a:pos x="52" y="42"/>
                </a:cxn>
                <a:cxn ang="0">
                  <a:pos x="44" y="51"/>
                </a:cxn>
                <a:cxn ang="0">
                  <a:pos x="36" y="45"/>
                </a:cxn>
                <a:cxn ang="0">
                  <a:pos x="31" y="48"/>
                </a:cxn>
                <a:cxn ang="0">
                  <a:pos x="24" y="50"/>
                </a:cxn>
                <a:cxn ang="0">
                  <a:pos x="31" y="89"/>
                </a:cxn>
                <a:cxn ang="0">
                  <a:pos x="9" y="47"/>
                </a:cxn>
                <a:cxn ang="0">
                  <a:pos x="85" y="47"/>
                </a:cxn>
                <a:cxn ang="0">
                  <a:pos x="64" y="88"/>
                </a:cxn>
                <a:cxn ang="0">
                  <a:pos x="64" y="88"/>
                </a:cxn>
              </a:cxnLst>
              <a:rect l="0" t="0" r="r" b="b"/>
              <a:pathLst>
                <a:path w="94" h="140">
                  <a:moveTo>
                    <a:pt x="94" y="46"/>
                  </a:moveTo>
                  <a:cubicBezTo>
                    <a:pt x="94" y="20"/>
                    <a:pt x="73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58"/>
                    <a:pt x="4" y="68"/>
                    <a:pt x="10" y="76"/>
                  </a:cubicBezTo>
                  <a:cubicBezTo>
                    <a:pt x="15" y="82"/>
                    <a:pt x="20" y="89"/>
                    <a:pt x="23" y="95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24" y="126"/>
                    <a:pt x="26" y="128"/>
                    <a:pt x="28" y="128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30"/>
                    <a:pt x="34" y="130"/>
                    <a:pt x="34" y="130"/>
                  </a:cubicBezTo>
                  <a:cubicBezTo>
                    <a:pt x="34" y="136"/>
                    <a:pt x="38" y="140"/>
                    <a:pt x="44" y="140"/>
                  </a:cubicBezTo>
                  <a:cubicBezTo>
                    <a:pt x="52" y="140"/>
                    <a:pt x="52" y="140"/>
                    <a:pt x="52" y="140"/>
                  </a:cubicBezTo>
                  <a:cubicBezTo>
                    <a:pt x="58" y="140"/>
                    <a:pt x="62" y="136"/>
                    <a:pt x="62" y="130"/>
                  </a:cubicBezTo>
                  <a:cubicBezTo>
                    <a:pt x="62" y="128"/>
                    <a:pt x="62" y="128"/>
                    <a:pt x="62" y="128"/>
                  </a:cubicBezTo>
                  <a:cubicBezTo>
                    <a:pt x="67" y="128"/>
                    <a:pt x="67" y="128"/>
                    <a:pt x="67" y="128"/>
                  </a:cubicBezTo>
                  <a:cubicBezTo>
                    <a:pt x="70" y="128"/>
                    <a:pt x="72" y="126"/>
                    <a:pt x="72" y="123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5" y="88"/>
                    <a:pt x="80" y="82"/>
                    <a:pt x="84" y="76"/>
                  </a:cubicBezTo>
                  <a:cubicBezTo>
                    <a:pt x="91" y="67"/>
                    <a:pt x="94" y="57"/>
                    <a:pt x="94" y="46"/>
                  </a:cubicBezTo>
                  <a:close/>
                  <a:moveTo>
                    <a:pt x="41" y="89"/>
                  </a:moveTo>
                  <a:cubicBezTo>
                    <a:pt x="32" y="53"/>
                    <a:pt x="32" y="53"/>
                    <a:pt x="32" y="53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4" y="56"/>
                    <a:pt x="44" y="56"/>
                    <a:pt x="45" y="56"/>
                  </a:cubicBezTo>
                  <a:cubicBezTo>
                    <a:pt x="46" y="56"/>
                    <a:pt x="46" y="56"/>
                    <a:pt x="47" y="56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56"/>
                    <a:pt x="56" y="56"/>
                    <a:pt x="57" y="56"/>
                  </a:cubicBezTo>
                  <a:cubicBezTo>
                    <a:pt x="57" y="56"/>
                    <a:pt x="58" y="56"/>
                    <a:pt x="58" y="56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54" y="89"/>
                    <a:pt x="54" y="89"/>
                    <a:pt x="54" y="89"/>
                  </a:cubicBezTo>
                  <a:lnTo>
                    <a:pt x="41" y="89"/>
                  </a:lnTo>
                  <a:close/>
                  <a:moveTo>
                    <a:pt x="62" y="98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33" y="106"/>
                    <a:pt x="33" y="106"/>
                    <a:pt x="33" y="106"/>
                  </a:cubicBezTo>
                  <a:cubicBezTo>
                    <a:pt x="33" y="98"/>
                    <a:pt x="33" y="98"/>
                    <a:pt x="33" y="98"/>
                  </a:cubicBezTo>
                  <a:lnTo>
                    <a:pt x="62" y="98"/>
                  </a:lnTo>
                  <a:close/>
                  <a:moveTo>
                    <a:pt x="33" y="119"/>
                  </a:moveTo>
                  <a:cubicBezTo>
                    <a:pt x="33" y="111"/>
                    <a:pt x="33" y="111"/>
                    <a:pt x="33" y="111"/>
                  </a:cubicBezTo>
                  <a:cubicBezTo>
                    <a:pt x="62" y="111"/>
                    <a:pt x="62" y="111"/>
                    <a:pt x="62" y="111"/>
                  </a:cubicBezTo>
                  <a:cubicBezTo>
                    <a:pt x="62" y="118"/>
                    <a:pt x="62" y="118"/>
                    <a:pt x="62" y="118"/>
                  </a:cubicBezTo>
                  <a:lnTo>
                    <a:pt x="33" y="119"/>
                  </a:lnTo>
                  <a:close/>
                  <a:moveTo>
                    <a:pt x="64" y="88"/>
                  </a:moveTo>
                  <a:cubicBezTo>
                    <a:pt x="62" y="88"/>
                    <a:pt x="62" y="88"/>
                    <a:pt x="62" y="88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1" y="48"/>
                    <a:pt x="69" y="46"/>
                    <a:pt x="67" y="45"/>
                  </a:cubicBezTo>
                  <a:cubicBezTo>
                    <a:pt x="66" y="45"/>
                    <a:pt x="64" y="46"/>
                    <a:pt x="63" y="48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3"/>
                    <a:pt x="53" y="43"/>
                    <a:pt x="52" y="42"/>
                  </a:cubicBezTo>
                  <a:cubicBezTo>
                    <a:pt x="52" y="42"/>
                    <a:pt x="51" y="43"/>
                    <a:pt x="50" y="43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8" y="45"/>
                    <a:pt x="37" y="45"/>
                    <a:pt x="36" y="45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6"/>
                    <a:pt x="29" y="45"/>
                    <a:pt x="27" y="46"/>
                  </a:cubicBezTo>
                  <a:cubicBezTo>
                    <a:pt x="25" y="46"/>
                    <a:pt x="24" y="48"/>
                    <a:pt x="24" y="50"/>
                  </a:cubicBezTo>
                  <a:cubicBezTo>
                    <a:pt x="33" y="89"/>
                    <a:pt x="33" y="89"/>
                    <a:pt x="33" y="89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27" y="82"/>
                    <a:pt x="22" y="76"/>
                    <a:pt x="18" y="70"/>
                  </a:cubicBezTo>
                  <a:cubicBezTo>
                    <a:pt x="12" y="64"/>
                    <a:pt x="10" y="56"/>
                    <a:pt x="9" y="47"/>
                  </a:cubicBezTo>
                  <a:cubicBezTo>
                    <a:pt x="9" y="26"/>
                    <a:pt x="26" y="9"/>
                    <a:pt x="47" y="9"/>
                  </a:cubicBezTo>
                  <a:cubicBezTo>
                    <a:pt x="68" y="9"/>
                    <a:pt x="85" y="26"/>
                    <a:pt x="85" y="47"/>
                  </a:cubicBezTo>
                  <a:cubicBezTo>
                    <a:pt x="85" y="55"/>
                    <a:pt x="82" y="63"/>
                    <a:pt x="77" y="70"/>
                  </a:cubicBezTo>
                  <a:cubicBezTo>
                    <a:pt x="72" y="76"/>
                    <a:pt x="68" y="82"/>
                    <a:pt x="64" y="88"/>
                  </a:cubicBezTo>
                  <a:close/>
                  <a:moveTo>
                    <a:pt x="64" y="88"/>
                  </a:moveTo>
                  <a:cubicBezTo>
                    <a:pt x="64" y="88"/>
                    <a:pt x="64" y="88"/>
                    <a:pt x="64" y="88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1" name="TextBox 56">
              <a:extLst>
                <a:ext uri="{FF2B5EF4-FFF2-40B4-BE49-F238E27FC236}">
                  <a16:creationId xmlns:a16="http://schemas.microsoft.com/office/drawing/2014/main" id="{E7D11705-3F6B-CB57-37C2-58C4B82DCFBA}"/>
                </a:ext>
              </a:extLst>
            </p:cNvPr>
            <p:cNvSpPr txBox="1"/>
            <p:nvPr/>
          </p:nvSpPr>
          <p:spPr>
            <a:xfrm>
              <a:off x="5281860" y="2496032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01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2" name="TextBox 57">
              <a:extLst>
                <a:ext uri="{FF2B5EF4-FFF2-40B4-BE49-F238E27FC236}">
                  <a16:creationId xmlns:a16="http://schemas.microsoft.com/office/drawing/2014/main" id="{1DE74504-49E8-8353-419B-519546BE4A69}"/>
                </a:ext>
              </a:extLst>
            </p:cNvPr>
            <p:cNvSpPr txBox="1"/>
            <p:nvPr/>
          </p:nvSpPr>
          <p:spPr>
            <a:xfrm>
              <a:off x="6355124" y="2496032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02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3" name="TextBox 58">
              <a:extLst>
                <a:ext uri="{FF2B5EF4-FFF2-40B4-BE49-F238E27FC236}">
                  <a16:creationId xmlns:a16="http://schemas.microsoft.com/office/drawing/2014/main" id="{CAD98C20-8863-2A54-C3EE-75B67ABAC8C3}"/>
                </a:ext>
              </a:extLst>
            </p:cNvPr>
            <p:cNvSpPr txBox="1"/>
            <p:nvPr/>
          </p:nvSpPr>
          <p:spPr>
            <a:xfrm>
              <a:off x="5281860" y="4095994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03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4" name="TextBox 59">
              <a:extLst>
                <a:ext uri="{FF2B5EF4-FFF2-40B4-BE49-F238E27FC236}">
                  <a16:creationId xmlns:a16="http://schemas.microsoft.com/office/drawing/2014/main" id="{4DD32CC4-7223-6DDF-38B8-99393251BE3E}"/>
                </a:ext>
              </a:extLst>
            </p:cNvPr>
            <p:cNvSpPr txBox="1"/>
            <p:nvPr/>
          </p:nvSpPr>
          <p:spPr>
            <a:xfrm>
              <a:off x="6355124" y="4095994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04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519BC2BC-D2E0-FC4E-70B5-202B000E3D05}"/>
              </a:ext>
            </a:extLst>
          </p:cNvPr>
          <p:cNvSpPr txBox="1"/>
          <p:nvPr/>
        </p:nvSpPr>
        <p:spPr>
          <a:xfrm>
            <a:off x="1199054" y="2504499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人工神经网络概述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C855F4D-256F-E2E8-82A4-C665B219CDEF}"/>
              </a:ext>
            </a:extLst>
          </p:cNvPr>
          <p:cNvSpPr txBox="1"/>
          <p:nvPr/>
        </p:nvSpPr>
        <p:spPr>
          <a:xfrm>
            <a:off x="8551048" y="4920321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24569D"/>
                </a:solidFill>
              </a:rPr>
              <a:t>误差反向传播</a:t>
            </a:r>
            <a:endParaRPr lang="zh-CN" altLang="en-US" sz="2400" b="1" dirty="0">
              <a:solidFill>
                <a:srgbClr val="24569D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8F1FF43-C5CA-33A6-6031-A6442D5988F0}"/>
              </a:ext>
            </a:extLst>
          </p:cNvPr>
          <p:cNvSpPr txBox="1"/>
          <p:nvPr/>
        </p:nvSpPr>
        <p:spPr>
          <a:xfrm>
            <a:off x="1106240" y="4862587"/>
            <a:ext cx="2969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24569D"/>
                </a:solidFill>
              </a:rPr>
              <a:t>激活函数与损失函数</a:t>
            </a:r>
            <a:endParaRPr lang="zh-CN" altLang="en-US" sz="2400" b="1" dirty="0">
              <a:solidFill>
                <a:srgbClr val="24569D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5DBC89-F105-4F49-BB60-1701ECA7B3C0}"/>
              </a:ext>
            </a:extLst>
          </p:cNvPr>
          <p:cNvSpPr/>
          <p:nvPr/>
        </p:nvSpPr>
        <p:spPr>
          <a:xfrm>
            <a:off x="745606" y="902626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目录</a:t>
            </a:r>
          </a:p>
        </p:txBody>
      </p:sp>
      <p:grpSp>
        <p:nvGrpSpPr>
          <p:cNvPr id="30" name="PA_组合 25">
            <a:extLst>
              <a:ext uri="{FF2B5EF4-FFF2-40B4-BE49-F238E27FC236}">
                <a16:creationId xmlns:a16="http://schemas.microsoft.com/office/drawing/2014/main" id="{65FD479B-C71F-D983-D2E0-58598A98470E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8143529" y="2621174"/>
            <a:ext cx="2855980" cy="1458074"/>
            <a:chOff x="656868" y="2635700"/>
            <a:chExt cx="2855980" cy="1458074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19BC2BC-D2E0-FC4E-70B5-202B000E3D05}"/>
                </a:ext>
              </a:extLst>
            </p:cNvPr>
            <p:cNvSpPr txBox="1"/>
            <p:nvPr/>
          </p:nvSpPr>
          <p:spPr>
            <a:xfrm>
              <a:off x="877066" y="2635700"/>
              <a:ext cx="20409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rgbClr val="24569D"/>
                  </a:solidFill>
                </a:rPr>
                <a:t>前馈神经网络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8587460-E77B-0D64-6CFB-4FAF4C33FDA8}"/>
                </a:ext>
              </a:extLst>
            </p:cNvPr>
            <p:cNvSpPr txBox="1"/>
            <p:nvPr/>
          </p:nvSpPr>
          <p:spPr>
            <a:xfrm>
              <a:off x="656868" y="3632109"/>
              <a:ext cx="28559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2400" dirty="0">
                <a:latin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924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802214" y="698373"/>
            <a:ext cx="7464387" cy="497934"/>
            <a:chOff x="4099943" y="2819853"/>
            <a:chExt cx="2570275" cy="497934"/>
          </a:xfrm>
        </p:grpSpPr>
        <p:sp>
          <p:nvSpPr>
            <p:cNvPr id="4" name="平行四边形 3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5" name="平行四边形 4"/>
            <p:cNvSpPr/>
            <p:nvPr/>
          </p:nvSpPr>
          <p:spPr bwMode="auto">
            <a:xfrm>
              <a:off x="4122533" y="2819853"/>
              <a:ext cx="2547685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216534" y="2853798"/>
              <a:ext cx="235968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人工神经网络概述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矩形: 圆角 6">
            <a:extLst>
              <a:ext uri="{FF2B5EF4-FFF2-40B4-BE49-F238E27FC236}">
                <a16:creationId xmlns:a16="http://schemas.microsoft.com/office/drawing/2014/main" id="{15B72201-1606-4C88-8F91-839FBCDACE0A}"/>
              </a:ext>
            </a:extLst>
          </p:cNvPr>
          <p:cNvSpPr/>
          <p:nvPr/>
        </p:nvSpPr>
        <p:spPr>
          <a:xfrm>
            <a:off x="101588" y="1688493"/>
            <a:ext cx="3876576" cy="3433465"/>
          </a:xfrm>
          <a:prstGeom prst="roundRect">
            <a:avLst>
              <a:gd name="adj" fmla="val 0"/>
            </a:avLst>
          </a:prstGeom>
          <a:gradFill>
            <a:gsLst>
              <a:gs pos="22000">
                <a:srgbClr val="016773"/>
              </a:gs>
              <a:gs pos="100000">
                <a:srgbClr val="00ABA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ABA8736-7A3C-423C-AE5A-BDA9E8807C56}"/>
              </a:ext>
            </a:extLst>
          </p:cNvPr>
          <p:cNvSpPr/>
          <p:nvPr/>
        </p:nvSpPr>
        <p:spPr>
          <a:xfrm>
            <a:off x="193570" y="1688493"/>
            <a:ext cx="3683006" cy="3585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1943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年， 神经科学家瓦伦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·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麦卡洛克（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Warren McCulloch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 和逻辑学家沃尔特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·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皮茨（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Walter Pitts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）合作提出了“</a:t>
            </a:r>
            <a:r>
              <a:rPr lang="en-US" altLang="zh-CN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McCulloch–Pitts</a:t>
            </a:r>
            <a:r>
              <a:rPr lang="zh-CN" altLang="en-US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MCP</a:t>
            </a:r>
            <a:r>
              <a:rPr lang="zh-CN" altLang="en-US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neuron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的思想。</a:t>
            </a:r>
            <a:endParaRPr lang="en-US" altLang="zh-C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4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历史意义</a:t>
            </a:r>
            <a:r>
              <a:rPr lang="zh-CN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我们在科学史上第一次知道了我们是怎么知道的</a:t>
            </a:r>
            <a:r>
              <a:rPr lang="zh-CN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 the first time in the history of science, we know how we know)”</a:t>
            </a:r>
            <a:endParaRPr lang="zh-CN" altLang="en-US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10E8B9-1D95-4CE9-92EF-F002D7192B96}"/>
              </a:ext>
            </a:extLst>
          </p:cNvPr>
          <p:cNvSpPr/>
          <p:nvPr/>
        </p:nvSpPr>
        <p:spPr>
          <a:xfrm>
            <a:off x="1001122" y="527166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神经网络基本单元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MCP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神经元</a:t>
            </a:r>
            <a:endParaRPr lang="zh-CN" altLang="en-US" sz="1600" b="1" dirty="0">
              <a:solidFill>
                <a:srgbClr val="C00000"/>
              </a:solidFill>
            </a:endParaRPr>
          </a:p>
        </p:txBody>
      </p:sp>
      <p:sp>
        <p:nvSpPr>
          <p:cNvPr id="10" name="矩形: 圆角 6">
            <a:extLst>
              <a:ext uri="{FF2B5EF4-FFF2-40B4-BE49-F238E27FC236}">
                <a16:creationId xmlns:a16="http://schemas.microsoft.com/office/drawing/2014/main" id="{C5C9A995-29B6-45F3-91B5-3A50D7488E4C}"/>
              </a:ext>
            </a:extLst>
          </p:cNvPr>
          <p:cNvSpPr/>
          <p:nvPr/>
        </p:nvSpPr>
        <p:spPr>
          <a:xfrm>
            <a:off x="4167319" y="1688493"/>
            <a:ext cx="3774987" cy="3433465"/>
          </a:xfrm>
          <a:prstGeom prst="roundRect">
            <a:avLst>
              <a:gd name="adj" fmla="val 0"/>
            </a:avLst>
          </a:prstGeom>
          <a:gradFill>
            <a:gsLst>
              <a:gs pos="22000">
                <a:srgbClr val="016773"/>
              </a:gs>
              <a:gs pos="100000">
                <a:srgbClr val="00ABA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AE04E0-06AB-42B5-8929-06C89E6852F3}"/>
              </a:ext>
            </a:extLst>
          </p:cNvPr>
          <p:cNvSpPr/>
          <p:nvPr/>
        </p:nvSpPr>
        <p:spPr>
          <a:xfrm>
            <a:off x="4157714" y="1527788"/>
            <a:ext cx="3683006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1949</a:t>
            </a:r>
            <a:r>
              <a:rPr lang="zh-CN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年，心理学家唐纳德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·</a:t>
            </a:r>
            <a:r>
              <a:rPr lang="zh-CN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赫布（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Donald Hebb</a:t>
            </a:r>
            <a:r>
              <a:rPr lang="zh-CN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）提出了赫布理论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(Hebbian theory</a:t>
            </a:r>
            <a:r>
              <a:rPr lang="zh-CN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神经元之间持续</a:t>
            </a:r>
            <a:r>
              <a:rPr lang="zh-CN" altLang="zh-CN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重复经验刺激</a:t>
            </a:r>
            <a:r>
              <a:rPr lang="zh-CN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可导致</a:t>
            </a:r>
            <a:r>
              <a:rPr lang="zh-CN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突触</a:t>
            </a:r>
            <a:r>
              <a:rPr lang="zh-CN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传递效能增加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(Neurons that fire together, wire together)”</a:t>
            </a:r>
          </a:p>
          <a:p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4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历史意义</a:t>
            </a:r>
            <a:r>
              <a:rPr lang="zh-CN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神经元之间突触的强弱变化是学习与记忆的生理学基础</a:t>
            </a:r>
            <a:endParaRPr lang="zh-CN" altLang="en-US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8B2FF70-A6F6-4750-BA57-8AE143FD163A}"/>
              </a:ext>
            </a:extLst>
          </p:cNvPr>
          <p:cNvSpPr/>
          <p:nvPr/>
        </p:nvSpPr>
        <p:spPr>
          <a:xfrm>
            <a:off x="5285521" y="5271660"/>
            <a:ext cx="13203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神经元链接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赫布理论</a:t>
            </a:r>
            <a:endParaRPr lang="zh-CN" altLang="en-US" sz="1600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: 圆角 6">
            <a:extLst>
              <a:ext uri="{FF2B5EF4-FFF2-40B4-BE49-F238E27FC236}">
                <a16:creationId xmlns:a16="http://schemas.microsoft.com/office/drawing/2014/main" id="{6D813CDE-7AFD-4EA5-A3E8-770E7B0444CC}"/>
              </a:ext>
            </a:extLst>
          </p:cNvPr>
          <p:cNvSpPr/>
          <p:nvPr/>
        </p:nvSpPr>
        <p:spPr>
          <a:xfrm>
            <a:off x="8223444" y="1688493"/>
            <a:ext cx="3774987" cy="3433465"/>
          </a:xfrm>
          <a:prstGeom prst="roundRect">
            <a:avLst>
              <a:gd name="adj" fmla="val 0"/>
            </a:avLst>
          </a:prstGeom>
          <a:gradFill>
            <a:gsLst>
              <a:gs pos="22000">
                <a:srgbClr val="016773"/>
              </a:gs>
              <a:gs pos="100000">
                <a:srgbClr val="00ABA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CADDAC-08B5-42A5-B93D-63BCCCDDB285}"/>
              </a:ext>
            </a:extLst>
          </p:cNvPr>
          <p:cNvSpPr/>
          <p:nvPr/>
        </p:nvSpPr>
        <p:spPr>
          <a:xfrm>
            <a:off x="8303407" y="1943286"/>
            <a:ext cx="3615060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世纪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50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年代弗朗克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·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罗森布拉特（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Frank Rosenblatt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提出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zh-CN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感知机</a:t>
            </a:r>
            <a:r>
              <a:rPr lang="zh-CN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perceptron</a:t>
            </a:r>
            <a:r>
              <a:rPr lang="zh-CN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zh-CN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一个仅包含输入层和输出层的两层神经网络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，可完成</a:t>
            </a:r>
            <a:r>
              <a:rPr lang="zh-CN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两类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问题的线性分类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历史意义</a:t>
            </a:r>
            <a:r>
              <a:rPr lang="zh-CN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：感知机模型被誉为 </a:t>
            </a:r>
            <a:r>
              <a:rPr lang="en-US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“Electronic 'Brain' Teaches Itself</a:t>
            </a:r>
            <a:r>
              <a:rPr lang="zh-CN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（能自学的电脑）”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98320FE-472E-4E4B-9ED7-FA6DE45B0EC8}"/>
              </a:ext>
            </a:extLst>
          </p:cNvPr>
          <p:cNvSpPr/>
          <p:nvPr/>
        </p:nvSpPr>
        <p:spPr>
          <a:xfrm>
            <a:off x="9006456" y="5271660"/>
            <a:ext cx="2082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神经元链接成“网” 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感知机</a:t>
            </a:r>
          </a:p>
        </p:txBody>
      </p:sp>
    </p:spTree>
    <p:extLst>
      <p:ext uri="{BB962C8B-B14F-4D97-AF65-F5344CB8AC3E}">
        <p14:creationId xmlns:p14="http://schemas.microsoft.com/office/powerpoint/2010/main" val="3534121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583380" y="726948"/>
            <a:ext cx="7464387" cy="497934"/>
            <a:chOff x="4099943" y="2819853"/>
            <a:chExt cx="2570275" cy="497934"/>
          </a:xfrm>
        </p:grpSpPr>
        <p:sp>
          <p:nvSpPr>
            <p:cNvPr id="4" name="平行四边形 3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5" name="平行四边形 4"/>
            <p:cNvSpPr/>
            <p:nvPr/>
          </p:nvSpPr>
          <p:spPr bwMode="auto">
            <a:xfrm>
              <a:off x="4122533" y="2819853"/>
              <a:ext cx="2547685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216534" y="2853798"/>
              <a:ext cx="235968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人工神经网络概述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矩形: 圆角 6">
            <a:extLst>
              <a:ext uri="{FF2B5EF4-FFF2-40B4-BE49-F238E27FC236}">
                <a16:creationId xmlns:a16="http://schemas.microsoft.com/office/drawing/2014/main" id="{15B72201-1606-4C88-8F91-839FBCDACE0A}"/>
              </a:ext>
            </a:extLst>
          </p:cNvPr>
          <p:cNvSpPr/>
          <p:nvPr/>
        </p:nvSpPr>
        <p:spPr>
          <a:xfrm>
            <a:off x="101588" y="1657351"/>
            <a:ext cx="3774987" cy="3464608"/>
          </a:xfrm>
          <a:prstGeom prst="roundRect">
            <a:avLst>
              <a:gd name="adj" fmla="val 0"/>
            </a:avLst>
          </a:prstGeom>
          <a:gradFill>
            <a:gsLst>
              <a:gs pos="22000">
                <a:srgbClr val="016773"/>
              </a:gs>
              <a:gs pos="100000">
                <a:srgbClr val="00ABA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ABA8736-7A3C-423C-AE5A-BDA9E8807C56}"/>
              </a:ext>
            </a:extLst>
          </p:cNvPr>
          <p:cNvSpPr/>
          <p:nvPr/>
        </p:nvSpPr>
        <p:spPr>
          <a:xfrm>
            <a:off x="147578" y="1507650"/>
            <a:ext cx="3683006" cy="312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1974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Werbos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在博士论文中提出</a:t>
            </a:r>
            <a:r>
              <a:rPr lang="zh-CN" altLang="en-US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误差后向传播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算法，后由鲁梅尔哈特（</a:t>
            </a: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Rumelhart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）和欣顿（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Hinton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）等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人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1986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年完善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，解决了多层感知机中参数优化这一难题。</a:t>
            </a:r>
            <a:endParaRPr lang="en-US" altLang="zh-C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4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历史意义</a:t>
            </a:r>
            <a:r>
              <a:rPr lang="zh-CN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：以数据驱动方式来根据输出误差自动优化神经网络参数成为可能</a:t>
            </a: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10E8B9-1D95-4CE9-92EF-F002D7192B96}"/>
              </a:ext>
            </a:extLst>
          </p:cNvPr>
          <p:cNvSpPr/>
          <p:nvPr/>
        </p:nvSpPr>
        <p:spPr>
          <a:xfrm>
            <a:off x="449236" y="5271660"/>
            <a:ext cx="30572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神经元之间刺激可层层递进学习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误差后向传播</a:t>
            </a:r>
            <a:endParaRPr lang="zh-CN" altLang="en-US" sz="1600" b="1" dirty="0">
              <a:solidFill>
                <a:srgbClr val="C00000"/>
              </a:solidFill>
            </a:endParaRPr>
          </a:p>
        </p:txBody>
      </p:sp>
      <p:sp>
        <p:nvSpPr>
          <p:cNvPr id="10" name="矩形: 圆角 6">
            <a:extLst>
              <a:ext uri="{FF2B5EF4-FFF2-40B4-BE49-F238E27FC236}">
                <a16:creationId xmlns:a16="http://schemas.microsoft.com/office/drawing/2014/main" id="{C5C9A995-29B6-45F3-91B5-3A50D7488E4C}"/>
              </a:ext>
            </a:extLst>
          </p:cNvPr>
          <p:cNvSpPr/>
          <p:nvPr/>
        </p:nvSpPr>
        <p:spPr>
          <a:xfrm>
            <a:off x="4167320" y="1657351"/>
            <a:ext cx="3774987" cy="3464607"/>
          </a:xfrm>
          <a:prstGeom prst="roundRect">
            <a:avLst>
              <a:gd name="adj" fmla="val 0"/>
            </a:avLst>
          </a:prstGeom>
          <a:gradFill>
            <a:gsLst>
              <a:gs pos="22000">
                <a:srgbClr val="016773"/>
              </a:gs>
              <a:gs pos="100000">
                <a:srgbClr val="00ABA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AE04E0-06AB-42B5-8929-06C89E6852F3}"/>
              </a:ext>
            </a:extLst>
          </p:cNvPr>
          <p:cNvSpPr/>
          <p:nvPr/>
        </p:nvSpPr>
        <p:spPr>
          <a:xfrm>
            <a:off x="4213310" y="1507650"/>
            <a:ext cx="3683006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2006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年，欣顿在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Science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等期刊上发表论文，首次提出“深度信念网络（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deep belief network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）”模型（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Hinton </a:t>
            </a: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etal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2006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），在相关分类任务中可取得性能超过传统浅层学习模型（如支持向量机）的结果。</a:t>
            </a:r>
            <a:endParaRPr lang="en-US" altLang="zh-C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4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历史意义</a:t>
            </a:r>
            <a:r>
              <a:rPr lang="zh-CN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：有别于分段式学习，端到端</a:t>
            </a:r>
            <a:r>
              <a:rPr lang="en-US" altLang="zh-CN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(end to end)</a:t>
            </a:r>
            <a:r>
              <a:rPr lang="zh-CN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的深度学习框架建立</a:t>
            </a:r>
          </a:p>
          <a:p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8B2FF70-A6F6-4750-BA57-8AE143FD163A}"/>
              </a:ext>
            </a:extLst>
          </p:cNvPr>
          <p:cNvSpPr/>
          <p:nvPr/>
        </p:nvSpPr>
        <p:spPr>
          <a:xfrm>
            <a:off x="5080337" y="5271659"/>
            <a:ext cx="20313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逐层抽象、层层递进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深度学习</a:t>
            </a:r>
          </a:p>
        </p:txBody>
      </p:sp>
      <p:sp>
        <p:nvSpPr>
          <p:cNvPr id="13" name="矩形: 圆角 6">
            <a:extLst>
              <a:ext uri="{FF2B5EF4-FFF2-40B4-BE49-F238E27FC236}">
                <a16:creationId xmlns:a16="http://schemas.microsoft.com/office/drawing/2014/main" id="{6D813CDE-7AFD-4EA5-A3E8-770E7B0444CC}"/>
              </a:ext>
            </a:extLst>
          </p:cNvPr>
          <p:cNvSpPr/>
          <p:nvPr/>
        </p:nvSpPr>
        <p:spPr>
          <a:xfrm>
            <a:off x="8223444" y="1657351"/>
            <a:ext cx="3774987" cy="3464607"/>
          </a:xfrm>
          <a:prstGeom prst="roundRect">
            <a:avLst>
              <a:gd name="adj" fmla="val 0"/>
            </a:avLst>
          </a:prstGeom>
          <a:gradFill>
            <a:gsLst>
              <a:gs pos="22000">
                <a:srgbClr val="016773"/>
              </a:gs>
              <a:gs pos="100000">
                <a:srgbClr val="00ABA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CADDAC-08B5-42A5-B93D-63BCCCDDB285}"/>
              </a:ext>
            </a:extLst>
          </p:cNvPr>
          <p:cNvSpPr/>
          <p:nvPr/>
        </p:nvSpPr>
        <p:spPr>
          <a:xfrm>
            <a:off x="8325033" y="1800037"/>
            <a:ext cx="3774987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RNN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LSTM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CNN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Word2vec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Transformer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BERT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GPT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LLM</a:t>
            </a:r>
            <a:endParaRPr lang="en-US" altLang="zh-CN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1400" b="1" dirty="0">
              <a:solidFill>
                <a:srgbClr val="FF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4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历史意义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：更</a:t>
            </a:r>
            <a:r>
              <a:rPr lang="zh-CN" alt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通用人工智能</a:t>
            </a: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98320FE-472E-4E4B-9ED7-FA6DE45B0EC8}"/>
              </a:ext>
            </a:extLst>
          </p:cNvPr>
          <p:cNvSpPr/>
          <p:nvPr/>
        </p:nvSpPr>
        <p:spPr>
          <a:xfrm>
            <a:off x="8781887" y="5252126"/>
            <a:ext cx="18373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引发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第三次崛起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大语言模型</a:t>
            </a:r>
          </a:p>
        </p:txBody>
      </p:sp>
    </p:spTree>
    <p:extLst>
      <p:ext uri="{BB962C8B-B14F-4D97-AF65-F5344CB8AC3E}">
        <p14:creationId xmlns:p14="http://schemas.microsoft.com/office/powerpoint/2010/main" val="1968494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1EFC7-F189-6209-A72E-614D3E936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630522CE-BF99-1C2C-9E2C-76803CD02324}"/>
              </a:ext>
            </a:extLst>
          </p:cNvPr>
          <p:cNvGrpSpPr/>
          <p:nvPr/>
        </p:nvGrpSpPr>
        <p:grpSpPr>
          <a:xfrm>
            <a:off x="3869989" y="1594509"/>
            <a:ext cx="4452022" cy="4487848"/>
            <a:chOff x="3872379" y="1383943"/>
            <a:chExt cx="4452022" cy="4487848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A0ECAAFF-0D78-F81E-66DC-9A7C4C080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379" y="1383943"/>
              <a:ext cx="2161524" cy="2161524"/>
            </a:xfrm>
            <a:custGeom>
              <a:avLst/>
              <a:gdLst/>
              <a:ahLst/>
              <a:cxnLst>
                <a:cxn ang="0">
                  <a:pos x="673" y="233"/>
                </a:cxn>
                <a:cxn ang="0">
                  <a:pos x="233" y="233"/>
                </a:cxn>
                <a:cxn ang="0">
                  <a:pos x="233" y="673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673" y="233"/>
                </a:cxn>
              </a:cxnLst>
              <a:rect l="0" t="0" r="r" b="b"/>
              <a:pathLst>
                <a:path w="905" h="905">
                  <a:moveTo>
                    <a:pt x="673" y="233"/>
                  </a:moveTo>
                  <a:lnTo>
                    <a:pt x="233" y="233"/>
                  </a:lnTo>
                  <a:lnTo>
                    <a:pt x="233" y="673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673" y="23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C3115C7E-9558-718E-BA58-FE89B01EF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2877" y="1383943"/>
              <a:ext cx="2161524" cy="2161524"/>
            </a:xfrm>
            <a:custGeom>
              <a:avLst/>
              <a:gdLst/>
              <a:ahLst/>
              <a:cxnLst>
                <a:cxn ang="0">
                  <a:pos x="672" y="673"/>
                </a:cxn>
                <a:cxn ang="0">
                  <a:pos x="672" y="233"/>
                </a:cxn>
                <a:cxn ang="0">
                  <a:pos x="232" y="233"/>
                </a:cxn>
                <a:cxn ang="0">
                  <a:pos x="0" y="0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672" y="673"/>
                </a:cxn>
              </a:cxnLst>
              <a:rect l="0" t="0" r="r" b="b"/>
              <a:pathLst>
                <a:path w="905" h="905">
                  <a:moveTo>
                    <a:pt x="672" y="673"/>
                  </a:moveTo>
                  <a:lnTo>
                    <a:pt x="672" y="233"/>
                  </a:lnTo>
                  <a:lnTo>
                    <a:pt x="232" y="233"/>
                  </a:lnTo>
                  <a:lnTo>
                    <a:pt x="0" y="0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672" y="67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5C674E5A-1246-1811-6A98-F86077497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379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3" y="232"/>
                </a:cxn>
                <a:cxn ang="0">
                  <a:pos x="233" y="672"/>
                </a:cxn>
                <a:cxn ang="0">
                  <a:pos x="673" y="672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233" y="232"/>
                  </a:lnTo>
                  <a:lnTo>
                    <a:pt x="233" y="672"/>
                  </a:lnTo>
                  <a:lnTo>
                    <a:pt x="673" y="672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8567AC0D-A552-5BA9-4C32-F4A5369B7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2877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05"/>
                </a:cxn>
                <a:cxn ang="0">
                  <a:pos x="232" y="672"/>
                </a:cxn>
                <a:cxn ang="0">
                  <a:pos x="672" y="672"/>
                </a:cxn>
                <a:cxn ang="0">
                  <a:pos x="672" y="232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0" y="905"/>
                  </a:lnTo>
                  <a:lnTo>
                    <a:pt x="232" y="672"/>
                  </a:lnTo>
                  <a:lnTo>
                    <a:pt x="672" y="672"/>
                  </a:lnTo>
                  <a:lnTo>
                    <a:pt x="672" y="232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grpSp>
          <p:nvGrpSpPr>
            <p:cNvPr id="7" name="Group 44">
              <a:extLst>
                <a:ext uri="{FF2B5EF4-FFF2-40B4-BE49-F238E27FC236}">
                  <a16:creationId xmlns:a16="http://schemas.microsoft.com/office/drawing/2014/main" id="{C7096C22-7A18-CC04-F526-F57D5CC2E6F6}"/>
                </a:ext>
              </a:extLst>
            </p:cNvPr>
            <p:cNvGrpSpPr/>
            <p:nvPr/>
          </p:nvGrpSpPr>
          <p:grpSpPr>
            <a:xfrm>
              <a:off x="4569798" y="4627422"/>
              <a:ext cx="527842" cy="535007"/>
              <a:chOff x="3557588" y="3654425"/>
              <a:chExt cx="350838" cy="355600"/>
            </a:xfrm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4A1380A2-0863-55B6-BAE3-6FCEEBBD84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19501" y="3654425"/>
                <a:ext cx="288925" cy="163513"/>
              </a:xfrm>
              <a:custGeom>
                <a:avLst/>
                <a:gdLst/>
                <a:ahLst/>
                <a:cxnLst>
                  <a:cxn ang="0">
                    <a:pos x="40" y="55"/>
                  </a:cxn>
                  <a:cxn ang="0">
                    <a:pos x="41" y="55"/>
                  </a:cxn>
                  <a:cxn ang="0">
                    <a:pos x="95" y="55"/>
                  </a:cxn>
                  <a:cxn ang="0">
                    <a:pos x="97" y="55"/>
                  </a:cxn>
                  <a:cxn ang="0">
                    <a:pos x="97" y="53"/>
                  </a:cxn>
                  <a:cxn ang="0">
                    <a:pos x="78" y="15"/>
                  </a:cxn>
                  <a:cxn ang="0">
                    <a:pos x="38" y="0"/>
                  </a:cxn>
                  <a:cxn ang="0">
                    <a:pos x="1" y="13"/>
                  </a:cxn>
                  <a:cxn ang="0">
                    <a:pos x="0" y="15"/>
                  </a:cxn>
                  <a:cxn ang="0">
                    <a:pos x="1" y="16"/>
                  </a:cxn>
                  <a:cxn ang="0">
                    <a:pos x="40" y="55"/>
                  </a:cxn>
                  <a:cxn ang="0">
                    <a:pos x="32" y="34"/>
                  </a:cxn>
                  <a:cxn ang="0">
                    <a:pos x="48" y="11"/>
                  </a:cxn>
                  <a:cxn ang="0">
                    <a:pos x="53" y="12"/>
                  </a:cxn>
                  <a:cxn ang="0">
                    <a:pos x="36" y="38"/>
                  </a:cxn>
                  <a:cxn ang="0">
                    <a:pos x="32" y="34"/>
                  </a:cxn>
                  <a:cxn ang="0">
                    <a:pos x="38" y="10"/>
                  </a:cxn>
                  <a:cxn ang="0">
                    <a:pos x="40" y="10"/>
                  </a:cxn>
                  <a:cxn ang="0">
                    <a:pos x="27" y="29"/>
                  </a:cxn>
                  <a:cxn ang="0">
                    <a:pos x="23" y="25"/>
                  </a:cxn>
                  <a:cxn ang="0">
                    <a:pos x="33" y="10"/>
                  </a:cxn>
                  <a:cxn ang="0">
                    <a:pos x="38" y="10"/>
                  </a:cxn>
                  <a:cxn ang="0">
                    <a:pos x="23" y="12"/>
                  </a:cxn>
                  <a:cxn ang="0">
                    <a:pos x="18" y="19"/>
                  </a:cxn>
                  <a:cxn ang="0">
                    <a:pos x="14" y="16"/>
                  </a:cxn>
                  <a:cxn ang="0">
                    <a:pos x="21" y="13"/>
                  </a:cxn>
                  <a:cxn ang="0">
                    <a:pos x="23" y="12"/>
                  </a:cxn>
                  <a:cxn ang="0">
                    <a:pos x="69" y="46"/>
                  </a:cxn>
                  <a:cxn ang="0">
                    <a:pos x="79" y="31"/>
                  </a:cxn>
                  <a:cxn ang="0">
                    <a:pos x="81" y="34"/>
                  </a:cxn>
                  <a:cxn ang="0">
                    <a:pos x="73" y="46"/>
                  </a:cxn>
                  <a:cxn ang="0">
                    <a:pos x="69" y="46"/>
                  </a:cxn>
                  <a:cxn ang="0">
                    <a:pos x="82" y="46"/>
                  </a:cxn>
                  <a:cxn ang="0">
                    <a:pos x="85" y="41"/>
                  </a:cxn>
                  <a:cxn ang="0">
                    <a:pos x="86" y="46"/>
                  </a:cxn>
                  <a:cxn ang="0">
                    <a:pos x="82" y="46"/>
                  </a:cxn>
                  <a:cxn ang="0">
                    <a:pos x="54" y="46"/>
                  </a:cxn>
                  <a:cxn ang="0">
                    <a:pos x="70" y="22"/>
                  </a:cxn>
                  <a:cxn ang="0">
                    <a:pos x="72" y="23"/>
                  </a:cxn>
                  <a:cxn ang="0">
                    <a:pos x="74" y="25"/>
                  </a:cxn>
                  <a:cxn ang="0">
                    <a:pos x="60" y="46"/>
                  </a:cxn>
                  <a:cxn ang="0">
                    <a:pos x="54" y="46"/>
                  </a:cxn>
                  <a:cxn ang="0">
                    <a:pos x="46" y="46"/>
                  </a:cxn>
                  <a:cxn ang="0">
                    <a:pos x="44" y="46"/>
                  </a:cxn>
                  <a:cxn ang="0">
                    <a:pos x="41" y="43"/>
                  </a:cxn>
                  <a:cxn ang="0">
                    <a:pos x="60" y="15"/>
                  </a:cxn>
                  <a:cxn ang="0">
                    <a:pos x="65" y="17"/>
                  </a:cxn>
                  <a:cxn ang="0">
                    <a:pos x="46" y="46"/>
                  </a:cxn>
                  <a:cxn ang="0">
                    <a:pos x="46" y="46"/>
                  </a:cxn>
                  <a:cxn ang="0">
                    <a:pos x="46" y="46"/>
                  </a:cxn>
                </a:cxnLst>
                <a:rect l="0" t="0" r="r" b="b"/>
                <a:pathLst>
                  <a:path w="97" h="55">
                    <a:moveTo>
                      <a:pt x="40" y="55"/>
                    </a:moveTo>
                    <a:cubicBezTo>
                      <a:pt x="40" y="55"/>
                      <a:pt x="40" y="55"/>
                      <a:pt x="41" y="55"/>
                    </a:cubicBezTo>
                    <a:cubicBezTo>
                      <a:pt x="95" y="55"/>
                      <a:pt x="95" y="55"/>
                      <a:pt x="95" y="55"/>
                    </a:cubicBezTo>
                    <a:cubicBezTo>
                      <a:pt x="96" y="55"/>
                      <a:pt x="96" y="55"/>
                      <a:pt x="97" y="55"/>
                    </a:cubicBezTo>
                    <a:cubicBezTo>
                      <a:pt x="97" y="54"/>
                      <a:pt x="97" y="54"/>
                      <a:pt x="97" y="53"/>
                    </a:cubicBezTo>
                    <a:cubicBezTo>
                      <a:pt x="96" y="39"/>
                      <a:pt x="89" y="25"/>
                      <a:pt x="78" y="15"/>
                    </a:cubicBezTo>
                    <a:cubicBezTo>
                      <a:pt x="67" y="6"/>
                      <a:pt x="53" y="0"/>
                      <a:pt x="38" y="0"/>
                    </a:cubicBezTo>
                    <a:cubicBezTo>
                      <a:pt x="25" y="0"/>
                      <a:pt x="12" y="5"/>
                      <a:pt x="1" y="13"/>
                    </a:cubicBezTo>
                    <a:cubicBezTo>
                      <a:pt x="1" y="14"/>
                      <a:pt x="0" y="14"/>
                      <a:pt x="0" y="15"/>
                    </a:cubicBezTo>
                    <a:cubicBezTo>
                      <a:pt x="0" y="15"/>
                      <a:pt x="1" y="16"/>
                      <a:pt x="1" y="16"/>
                    </a:cubicBezTo>
                    <a:lnTo>
                      <a:pt x="40" y="55"/>
                    </a:lnTo>
                    <a:close/>
                    <a:moveTo>
                      <a:pt x="32" y="34"/>
                    </a:moveTo>
                    <a:cubicBezTo>
                      <a:pt x="48" y="11"/>
                      <a:pt x="48" y="11"/>
                      <a:pt x="48" y="11"/>
                    </a:cubicBezTo>
                    <a:cubicBezTo>
                      <a:pt x="50" y="11"/>
                      <a:pt x="51" y="12"/>
                      <a:pt x="53" y="12"/>
                    </a:cubicBezTo>
                    <a:cubicBezTo>
                      <a:pt x="36" y="38"/>
                      <a:pt x="36" y="38"/>
                      <a:pt x="36" y="38"/>
                    </a:cubicBezTo>
                    <a:lnTo>
                      <a:pt x="32" y="34"/>
                    </a:lnTo>
                    <a:close/>
                    <a:moveTo>
                      <a:pt x="38" y="10"/>
                    </a:moveTo>
                    <a:cubicBezTo>
                      <a:pt x="39" y="10"/>
                      <a:pt x="39" y="10"/>
                      <a:pt x="40" y="10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5" y="10"/>
                      <a:pt x="37" y="10"/>
                      <a:pt x="38" y="10"/>
                    </a:cubicBezTo>
                    <a:close/>
                    <a:moveTo>
                      <a:pt x="23" y="12"/>
                    </a:moveTo>
                    <a:cubicBezTo>
                      <a:pt x="18" y="19"/>
                      <a:pt x="18" y="19"/>
                      <a:pt x="18" y="19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5"/>
                      <a:pt x="19" y="14"/>
                      <a:pt x="21" y="13"/>
                    </a:cubicBezTo>
                    <a:cubicBezTo>
                      <a:pt x="22" y="13"/>
                      <a:pt x="22" y="12"/>
                      <a:pt x="23" y="12"/>
                    </a:cubicBezTo>
                    <a:close/>
                    <a:moveTo>
                      <a:pt x="69" y="46"/>
                    </a:moveTo>
                    <a:cubicBezTo>
                      <a:pt x="79" y="31"/>
                      <a:pt x="79" y="31"/>
                      <a:pt x="79" y="31"/>
                    </a:cubicBezTo>
                    <a:cubicBezTo>
                      <a:pt x="80" y="32"/>
                      <a:pt x="80" y="33"/>
                      <a:pt x="81" y="34"/>
                    </a:cubicBezTo>
                    <a:cubicBezTo>
                      <a:pt x="73" y="46"/>
                      <a:pt x="73" y="46"/>
                      <a:pt x="73" y="46"/>
                    </a:cubicBezTo>
                    <a:lnTo>
                      <a:pt x="69" y="46"/>
                    </a:lnTo>
                    <a:close/>
                    <a:moveTo>
                      <a:pt x="82" y="46"/>
                    </a:moveTo>
                    <a:cubicBezTo>
                      <a:pt x="85" y="41"/>
                      <a:pt x="85" y="41"/>
                      <a:pt x="85" y="41"/>
                    </a:cubicBezTo>
                    <a:cubicBezTo>
                      <a:pt x="85" y="43"/>
                      <a:pt x="86" y="44"/>
                      <a:pt x="86" y="46"/>
                    </a:cubicBezTo>
                    <a:lnTo>
                      <a:pt x="82" y="46"/>
                    </a:lnTo>
                    <a:close/>
                    <a:moveTo>
                      <a:pt x="54" y="46"/>
                    </a:moveTo>
                    <a:cubicBezTo>
                      <a:pt x="70" y="22"/>
                      <a:pt x="70" y="22"/>
                      <a:pt x="70" y="22"/>
                    </a:cubicBezTo>
                    <a:cubicBezTo>
                      <a:pt x="71" y="22"/>
                      <a:pt x="71" y="22"/>
                      <a:pt x="72" y="23"/>
                    </a:cubicBezTo>
                    <a:cubicBezTo>
                      <a:pt x="73" y="24"/>
                      <a:pt x="73" y="24"/>
                      <a:pt x="74" y="25"/>
                    </a:cubicBezTo>
                    <a:cubicBezTo>
                      <a:pt x="60" y="46"/>
                      <a:pt x="60" y="46"/>
                      <a:pt x="60" y="46"/>
                    </a:cubicBezTo>
                    <a:lnTo>
                      <a:pt x="54" y="46"/>
                    </a:lnTo>
                    <a:close/>
                    <a:moveTo>
                      <a:pt x="46" y="46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60" y="15"/>
                      <a:pt x="60" y="15"/>
                      <a:pt x="60" y="15"/>
                    </a:cubicBezTo>
                    <a:cubicBezTo>
                      <a:pt x="62" y="16"/>
                      <a:pt x="63" y="16"/>
                      <a:pt x="65" y="17"/>
                    </a:cubicBezTo>
                    <a:lnTo>
                      <a:pt x="46" y="46"/>
                    </a:lnTo>
                    <a:close/>
                    <a:moveTo>
                      <a:pt x="46" y="46"/>
                    </a:moveTo>
                    <a:cubicBezTo>
                      <a:pt x="46" y="46"/>
                      <a:pt x="46" y="46"/>
                      <a:pt x="46" y="4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35C59EC1-802B-3B7A-6F08-7379AB72BF9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57588" y="3719513"/>
                <a:ext cx="157163" cy="254000"/>
              </a:xfrm>
              <a:custGeom>
                <a:avLst/>
                <a:gdLst/>
                <a:ahLst/>
                <a:cxnLst>
                  <a:cxn ang="0">
                    <a:pos x="53" y="37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13" y="0"/>
                  </a:cxn>
                  <a:cxn ang="0">
                    <a:pos x="0" y="38"/>
                  </a:cxn>
                  <a:cxn ang="0">
                    <a:pos x="23" y="85"/>
                  </a:cxn>
                  <a:cxn ang="0">
                    <a:pos x="24" y="85"/>
                  </a:cxn>
                  <a:cxn ang="0">
                    <a:pos x="24" y="85"/>
                  </a:cxn>
                  <a:cxn ang="0">
                    <a:pos x="26" y="84"/>
                  </a:cxn>
                  <a:cxn ang="0">
                    <a:pos x="53" y="40"/>
                  </a:cxn>
                  <a:cxn ang="0">
                    <a:pos x="53" y="37"/>
                  </a:cxn>
                  <a:cxn ang="0">
                    <a:pos x="42" y="40"/>
                  </a:cxn>
                  <a:cxn ang="0">
                    <a:pos x="22" y="71"/>
                  </a:cxn>
                  <a:cxn ang="0">
                    <a:pos x="15" y="60"/>
                  </a:cxn>
                  <a:cxn ang="0">
                    <a:pos x="9" y="38"/>
                  </a:cxn>
                  <a:cxn ang="0">
                    <a:pos x="12" y="20"/>
                  </a:cxn>
                  <a:cxn ang="0">
                    <a:pos x="16" y="14"/>
                  </a:cxn>
                  <a:cxn ang="0">
                    <a:pos x="42" y="40"/>
                  </a:cxn>
                  <a:cxn ang="0">
                    <a:pos x="42" y="40"/>
                  </a:cxn>
                  <a:cxn ang="0">
                    <a:pos x="42" y="40"/>
                  </a:cxn>
                </a:cxnLst>
                <a:rect l="0" t="0" r="r" b="b"/>
                <a:pathLst>
                  <a:path w="53" h="85">
                    <a:moveTo>
                      <a:pt x="53" y="37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5" y="0"/>
                      <a:pt x="14" y="0"/>
                    </a:cubicBezTo>
                    <a:cubicBezTo>
                      <a:pt x="14" y="0"/>
                      <a:pt x="13" y="0"/>
                      <a:pt x="13" y="0"/>
                    </a:cubicBezTo>
                    <a:cubicBezTo>
                      <a:pt x="5" y="11"/>
                      <a:pt x="0" y="24"/>
                      <a:pt x="0" y="38"/>
                    </a:cubicBezTo>
                    <a:cubicBezTo>
                      <a:pt x="0" y="56"/>
                      <a:pt x="8" y="73"/>
                      <a:pt x="23" y="85"/>
                    </a:cubicBezTo>
                    <a:cubicBezTo>
                      <a:pt x="23" y="85"/>
                      <a:pt x="24" y="85"/>
                      <a:pt x="24" y="85"/>
                    </a:cubicBezTo>
                    <a:cubicBezTo>
                      <a:pt x="24" y="85"/>
                      <a:pt x="24" y="85"/>
                      <a:pt x="24" y="85"/>
                    </a:cubicBezTo>
                    <a:cubicBezTo>
                      <a:pt x="25" y="85"/>
                      <a:pt x="25" y="85"/>
                      <a:pt x="26" y="84"/>
                    </a:cubicBezTo>
                    <a:cubicBezTo>
                      <a:pt x="53" y="40"/>
                      <a:pt x="53" y="40"/>
                      <a:pt x="53" y="40"/>
                    </a:cubicBezTo>
                    <a:cubicBezTo>
                      <a:pt x="53" y="39"/>
                      <a:pt x="53" y="38"/>
                      <a:pt x="53" y="37"/>
                    </a:cubicBezTo>
                    <a:close/>
                    <a:moveTo>
                      <a:pt x="42" y="40"/>
                    </a:moveTo>
                    <a:cubicBezTo>
                      <a:pt x="22" y="71"/>
                      <a:pt x="22" y="71"/>
                      <a:pt x="22" y="71"/>
                    </a:cubicBezTo>
                    <a:cubicBezTo>
                      <a:pt x="19" y="68"/>
                      <a:pt x="17" y="64"/>
                      <a:pt x="15" y="60"/>
                    </a:cubicBezTo>
                    <a:cubicBezTo>
                      <a:pt x="11" y="53"/>
                      <a:pt x="9" y="46"/>
                      <a:pt x="9" y="38"/>
                    </a:cubicBezTo>
                    <a:cubicBezTo>
                      <a:pt x="9" y="32"/>
                      <a:pt x="10" y="26"/>
                      <a:pt x="12" y="20"/>
                    </a:cubicBezTo>
                    <a:cubicBezTo>
                      <a:pt x="13" y="18"/>
                      <a:pt x="14" y="16"/>
                      <a:pt x="16" y="14"/>
                    </a:cubicBezTo>
                    <a:lnTo>
                      <a:pt x="42" y="40"/>
                    </a:lnTo>
                    <a:close/>
                    <a:moveTo>
                      <a:pt x="42" y="40"/>
                    </a:moveTo>
                    <a:cubicBezTo>
                      <a:pt x="42" y="40"/>
                      <a:pt x="42" y="40"/>
                      <a:pt x="42" y="4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87F1F893-B51A-3BF1-C532-3EC9ED986B8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56013" y="3844925"/>
                <a:ext cx="252413" cy="165100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30" y="0"/>
                  </a:cxn>
                  <a:cxn ang="0">
                    <a:pos x="28" y="1"/>
                  </a:cxn>
                  <a:cxn ang="0">
                    <a:pos x="0" y="47"/>
                  </a:cxn>
                  <a:cxn ang="0">
                    <a:pos x="0" y="48"/>
                  </a:cxn>
                  <a:cxn ang="0">
                    <a:pos x="1" y="49"/>
                  </a:cxn>
                  <a:cxn ang="0">
                    <a:pos x="26" y="55"/>
                  </a:cxn>
                  <a:cxn ang="0">
                    <a:pos x="66" y="40"/>
                  </a:cxn>
                  <a:cxn ang="0">
                    <a:pos x="85" y="2"/>
                  </a:cxn>
                  <a:cxn ang="0">
                    <a:pos x="85" y="1"/>
                  </a:cxn>
                  <a:cxn ang="0">
                    <a:pos x="83" y="0"/>
                  </a:cxn>
                  <a:cxn ang="0">
                    <a:pos x="83" y="0"/>
                  </a:cxn>
                  <a:cxn ang="0">
                    <a:pos x="83" y="0"/>
                  </a:cxn>
                </a:cxnLst>
                <a:rect l="0" t="0" r="r" b="b"/>
                <a:pathLst>
                  <a:path w="85" h="55">
                    <a:moveTo>
                      <a:pt x="8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29" y="0"/>
                      <a:pt x="29" y="0"/>
                      <a:pt x="28" y="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7"/>
                      <a:pt x="0" y="48"/>
                      <a:pt x="0" y="48"/>
                    </a:cubicBezTo>
                    <a:cubicBezTo>
                      <a:pt x="0" y="49"/>
                      <a:pt x="0" y="49"/>
                      <a:pt x="1" y="49"/>
                    </a:cubicBezTo>
                    <a:cubicBezTo>
                      <a:pt x="9" y="53"/>
                      <a:pt x="17" y="55"/>
                      <a:pt x="26" y="55"/>
                    </a:cubicBezTo>
                    <a:cubicBezTo>
                      <a:pt x="41" y="55"/>
                      <a:pt x="55" y="50"/>
                      <a:pt x="66" y="40"/>
                    </a:cubicBezTo>
                    <a:cubicBezTo>
                      <a:pt x="77" y="30"/>
                      <a:pt x="84" y="17"/>
                      <a:pt x="85" y="2"/>
                    </a:cubicBezTo>
                    <a:cubicBezTo>
                      <a:pt x="85" y="2"/>
                      <a:pt x="85" y="1"/>
                      <a:pt x="85" y="1"/>
                    </a:cubicBezTo>
                    <a:cubicBezTo>
                      <a:pt x="84" y="0"/>
                      <a:pt x="84" y="0"/>
                      <a:pt x="83" y="0"/>
                    </a:cubicBezTo>
                    <a:close/>
                    <a:moveTo>
                      <a:pt x="83" y="0"/>
                    </a:moveTo>
                    <a:cubicBezTo>
                      <a:pt x="83" y="0"/>
                      <a:pt x="83" y="0"/>
                      <a:pt x="83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grpSp>
          <p:nvGrpSpPr>
            <p:cNvPr id="8" name="Group 48">
              <a:extLst>
                <a:ext uri="{FF2B5EF4-FFF2-40B4-BE49-F238E27FC236}">
                  <a16:creationId xmlns:a16="http://schemas.microsoft.com/office/drawing/2014/main" id="{9943C6E0-3A21-E68D-5ABB-CE1158C5D321}"/>
                </a:ext>
              </a:extLst>
            </p:cNvPr>
            <p:cNvGrpSpPr/>
            <p:nvPr/>
          </p:nvGrpSpPr>
          <p:grpSpPr>
            <a:xfrm>
              <a:off x="7025097" y="2098082"/>
              <a:ext cx="606660" cy="539784"/>
              <a:chOff x="5189538" y="1973263"/>
              <a:chExt cx="403225" cy="358775"/>
            </a:xfrm>
          </p:grpSpPr>
          <p:sp>
            <p:nvSpPr>
              <p:cNvPr id="18" name="Freeform 12">
                <a:extLst>
                  <a:ext uri="{FF2B5EF4-FFF2-40B4-BE49-F238E27FC236}">
                    <a16:creationId xmlns:a16="http://schemas.microsoft.com/office/drawing/2014/main" id="{70DC6184-5D36-2771-E4F8-12E0D6B900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10188" y="1973263"/>
                <a:ext cx="282575" cy="260350"/>
              </a:xfrm>
              <a:custGeom>
                <a:avLst/>
                <a:gdLst/>
                <a:ahLst/>
                <a:cxnLst>
                  <a:cxn ang="0">
                    <a:pos x="3" y="23"/>
                  </a:cxn>
                  <a:cxn ang="0">
                    <a:pos x="13" y="25"/>
                  </a:cxn>
                  <a:cxn ang="0">
                    <a:pos x="54" y="33"/>
                  </a:cxn>
                  <a:cxn ang="0">
                    <a:pos x="65" y="55"/>
                  </a:cxn>
                  <a:cxn ang="0">
                    <a:pos x="61" y="52"/>
                  </a:cxn>
                  <a:cxn ang="0">
                    <a:pos x="56" y="52"/>
                  </a:cxn>
                  <a:cxn ang="0">
                    <a:pos x="55" y="57"/>
                  </a:cxn>
                  <a:cxn ang="0">
                    <a:pos x="65" y="85"/>
                  </a:cxn>
                  <a:cxn ang="0">
                    <a:pos x="68" y="87"/>
                  </a:cxn>
                  <a:cxn ang="0">
                    <a:pos x="72" y="86"/>
                  </a:cxn>
                  <a:cxn ang="0">
                    <a:pos x="93" y="65"/>
                  </a:cxn>
                  <a:cxn ang="0">
                    <a:pos x="94" y="60"/>
                  </a:cxn>
                  <a:cxn ang="0">
                    <a:pos x="90" y="58"/>
                  </a:cxn>
                  <a:cxn ang="0">
                    <a:pos x="83" y="60"/>
                  </a:cxn>
                  <a:cxn ang="0">
                    <a:pos x="67" y="21"/>
                  </a:cxn>
                  <a:cxn ang="0">
                    <a:pos x="6" y="9"/>
                  </a:cxn>
                  <a:cxn ang="0">
                    <a:pos x="1" y="15"/>
                  </a:cxn>
                  <a:cxn ang="0">
                    <a:pos x="3" y="23"/>
                  </a:cxn>
                  <a:cxn ang="0">
                    <a:pos x="3" y="23"/>
                  </a:cxn>
                  <a:cxn ang="0">
                    <a:pos x="3" y="23"/>
                  </a:cxn>
                </a:cxnLst>
                <a:rect l="0" t="0" r="r" b="b"/>
                <a:pathLst>
                  <a:path w="95" h="87">
                    <a:moveTo>
                      <a:pt x="3" y="23"/>
                    </a:moveTo>
                    <a:cubicBezTo>
                      <a:pt x="6" y="26"/>
                      <a:pt x="10" y="27"/>
                      <a:pt x="13" y="25"/>
                    </a:cubicBezTo>
                    <a:cubicBezTo>
                      <a:pt x="27" y="20"/>
                      <a:pt x="43" y="22"/>
                      <a:pt x="54" y="33"/>
                    </a:cubicBezTo>
                    <a:cubicBezTo>
                      <a:pt x="60" y="39"/>
                      <a:pt x="64" y="47"/>
                      <a:pt x="65" y="55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59" y="51"/>
                      <a:pt x="57" y="51"/>
                      <a:pt x="56" y="52"/>
                    </a:cubicBezTo>
                    <a:cubicBezTo>
                      <a:pt x="55" y="53"/>
                      <a:pt x="54" y="55"/>
                      <a:pt x="55" y="57"/>
                    </a:cubicBezTo>
                    <a:cubicBezTo>
                      <a:pt x="65" y="85"/>
                      <a:pt x="65" y="85"/>
                      <a:pt x="65" y="85"/>
                    </a:cubicBezTo>
                    <a:cubicBezTo>
                      <a:pt x="66" y="86"/>
                      <a:pt x="67" y="87"/>
                      <a:pt x="68" y="87"/>
                    </a:cubicBezTo>
                    <a:cubicBezTo>
                      <a:pt x="69" y="87"/>
                      <a:pt x="71" y="87"/>
                      <a:pt x="72" y="86"/>
                    </a:cubicBezTo>
                    <a:cubicBezTo>
                      <a:pt x="93" y="65"/>
                      <a:pt x="93" y="65"/>
                      <a:pt x="93" y="65"/>
                    </a:cubicBezTo>
                    <a:cubicBezTo>
                      <a:pt x="94" y="64"/>
                      <a:pt x="95" y="62"/>
                      <a:pt x="94" y="60"/>
                    </a:cubicBezTo>
                    <a:cubicBezTo>
                      <a:pt x="93" y="59"/>
                      <a:pt x="91" y="58"/>
                      <a:pt x="90" y="58"/>
                    </a:cubicBezTo>
                    <a:cubicBezTo>
                      <a:pt x="83" y="60"/>
                      <a:pt x="83" y="60"/>
                      <a:pt x="83" y="60"/>
                    </a:cubicBezTo>
                    <a:cubicBezTo>
                      <a:pt x="83" y="46"/>
                      <a:pt x="77" y="31"/>
                      <a:pt x="67" y="21"/>
                    </a:cubicBezTo>
                    <a:cubicBezTo>
                      <a:pt x="50" y="4"/>
                      <a:pt x="26" y="0"/>
                      <a:pt x="6" y="9"/>
                    </a:cubicBezTo>
                    <a:cubicBezTo>
                      <a:pt x="4" y="10"/>
                      <a:pt x="1" y="12"/>
                      <a:pt x="1" y="15"/>
                    </a:cubicBezTo>
                    <a:cubicBezTo>
                      <a:pt x="0" y="18"/>
                      <a:pt x="1" y="21"/>
                      <a:pt x="3" y="23"/>
                    </a:cubicBezTo>
                    <a:close/>
                    <a:moveTo>
                      <a:pt x="3" y="23"/>
                    </a:moveTo>
                    <a:cubicBezTo>
                      <a:pt x="3" y="23"/>
                      <a:pt x="3" y="23"/>
                      <a:pt x="3" y="23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9" name="Freeform 13">
                <a:extLst>
                  <a:ext uri="{FF2B5EF4-FFF2-40B4-BE49-F238E27FC236}">
                    <a16:creationId xmlns:a16="http://schemas.microsoft.com/office/drawing/2014/main" id="{BA0B801C-B3B0-EE98-B69D-74762A7A167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89538" y="2071688"/>
                <a:ext cx="280988" cy="260350"/>
              </a:xfrm>
              <a:custGeom>
                <a:avLst/>
                <a:gdLst/>
                <a:ahLst/>
                <a:cxnLst>
                  <a:cxn ang="0">
                    <a:pos x="94" y="72"/>
                  </a:cxn>
                  <a:cxn ang="0">
                    <a:pos x="91" y="64"/>
                  </a:cxn>
                  <a:cxn ang="0">
                    <a:pos x="82" y="62"/>
                  </a:cxn>
                  <a:cxn ang="0">
                    <a:pos x="41" y="54"/>
                  </a:cxn>
                  <a:cxn ang="0">
                    <a:pos x="30" y="32"/>
                  </a:cxn>
                  <a:cxn ang="0">
                    <a:pos x="34" y="35"/>
                  </a:cxn>
                  <a:cxn ang="0">
                    <a:pos x="39" y="35"/>
                  </a:cxn>
                  <a:cxn ang="0">
                    <a:pos x="40" y="31"/>
                  </a:cxn>
                  <a:cxn ang="0">
                    <a:pos x="29" y="2"/>
                  </a:cxn>
                  <a:cxn ang="0">
                    <a:pos x="26" y="0"/>
                  </a:cxn>
                  <a:cxn ang="0">
                    <a:pos x="23" y="1"/>
                  </a:cxn>
                  <a:cxn ang="0">
                    <a:pos x="1" y="22"/>
                  </a:cxn>
                  <a:cxn ang="0">
                    <a:pos x="1" y="27"/>
                  </a:cxn>
                  <a:cxn ang="0">
                    <a:pos x="5" y="29"/>
                  </a:cxn>
                  <a:cxn ang="0">
                    <a:pos x="12" y="28"/>
                  </a:cxn>
                  <a:cxn ang="0">
                    <a:pos x="28" y="66"/>
                  </a:cxn>
                  <a:cxn ang="0">
                    <a:pos x="88" y="79"/>
                  </a:cxn>
                  <a:cxn ang="0">
                    <a:pos x="94" y="72"/>
                  </a:cxn>
                  <a:cxn ang="0">
                    <a:pos x="94" y="72"/>
                  </a:cxn>
                  <a:cxn ang="0">
                    <a:pos x="94" y="72"/>
                  </a:cxn>
                </a:cxnLst>
                <a:rect l="0" t="0" r="r" b="b"/>
                <a:pathLst>
                  <a:path w="94" h="87">
                    <a:moveTo>
                      <a:pt x="94" y="72"/>
                    </a:moveTo>
                    <a:cubicBezTo>
                      <a:pt x="94" y="69"/>
                      <a:pt x="93" y="66"/>
                      <a:pt x="91" y="64"/>
                    </a:cubicBezTo>
                    <a:cubicBezTo>
                      <a:pt x="89" y="61"/>
                      <a:pt x="85" y="61"/>
                      <a:pt x="82" y="62"/>
                    </a:cubicBezTo>
                    <a:cubicBezTo>
                      <a:pt x="68" y="68"/>
                      <a:pt x="52" y="65"/>
                      <a:pt x="41" y="54"/>
                    </a:cubicBezTo>
                    <a:cubicBezTo>
                      <a:pt x="34" y="48"/>
                      <a:pt x="31" y="40"/>
                      <a:pt x="30" y="32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7" y="36"/>
                      <a:pt x="39" y="35"/>
                    </a:cubicBezTo>
                    <a:cubicBezTo>
                      <a:pt x="40" y="34"/>
                      <a:pt x="41" y="32"/>
                      <a:pt x="40" y="31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5" y="0"/>
                      <a:pt x="24" y="0"/>
                      <a:pt x="23" y="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4"/>
                      <a:pt x="0" y="25"/>
                      <a:pt x="1" y="27"/>
                    </a:cubicBezTo>
                    <a:cubicBezTo>
                      <a:pt x="2" y="28"/>
                      <a:pt x="3" y="29"/>
                      <a:pt x="5" y="29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42"/>
                      <a:pt x="17" y="56"/>
                      <a:pt x="28" y="66"/>
                    </a:cubicBezTo>
                    <a:cubicBezTo>
                      <a:pt x="44" y="83"/>
                      <a:pt x="68" y="87"/>
                      <a:pt x="88" y="79"/>
                    </a:cubicBezTo>
                    <a:cubicBezTo>
                      <a:pt x="91" y="77"/>
                      <a:pt x="93" y="75"/>
                      <a:pt x="94" y="72"/>
                    </a:cubicBezTo>
                    <a:close/>
                    <a:moveTo>
                      <a:pt x="94" y="72"/>
                    </a:moveTo>
                    <a:cubicBezTo>
                      <a:pt x="94" y="72"/>
                      <a:pt x="94" y="72"/>
                      <a:pt x="94" y="72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grpSp>
          <p:nvGrpSpPr>
            <p:cNvPr id="9" name="Group 51">
              <a:extLst>
                <a:ext uri="{FF2B5EF4-FFF2-40B4-BE49-F238E27FC236}">
                  <a16:creationId xmlns:a16="http://schemas.microsoft.com/office/drawing/2014/main" id="{26FBF4FB-827C-6AF7-3427-35C4B2BCE2E6}"/>
                </a:ext>
              </a:extLst>
            </p:cNvPr>
            <p:cNvGrpSpPr/>
            <p:nvPr/>
          </p:nvGrpSpPr>
          <p:grpSpPr>
            <a:xfrm>
              <a:off x="6984495" y="4601150"/>
              <a:ext cx="599495" cy="587552"/>
              <a:chOff x="5162551" y="3636963"/>
              <a:chExt cx="398463" cy="390525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66BA17DF-0983-019B-C82E-340E3F754C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62551" y="3636963"/>
                <a:ext cx="233363" cy="234950"/>
              </a:xfrm>
              <a:custGeom>
                <a:avLst/>
                <a:gdLst/>
                <a:ahLst/>
                <a:cxnLst>
                  <a:cxn ang="0">
                    <a:pos x="9" y="48"/>
                  </a:cxn>
                  <a:cxn ang="0">
                    <a:pos x="12" y="55"/>
                  </a:cxn>
                  <a:cxn ang="0">
                    <a:pos x="8" y="59"/>
                  </a:cxn>
                  <a:cxn ang="0">
                    <a:pos x="8" y="64"/>
                  </a:cxn>
                  <a:cxn ang="0">
                    <a:pos x="14" y="70"/>
                  </a:cxn>
                  <a:cxn ang="0">
                    <a:pos x="19" y="70"/>
                  </a:cxn>
                  <a:cxn ang="0">
                    <a:pos x="23" y="67"/>
                  </a:cxn>
                  <a:cxn ang="0">
                    <a:pos x="31" y="70"/>
                  </a:cxn>
                  <a:cxn ang="0">
                    <a:pos x="31" y="75"/>
                  </a:cxn>
                  <a:cxn ang="0">
                    <a:pos x="35" y="79"/>
                  </a:cxn>
                  <a:cxn ang="0">
                    <a:pos x="43" y="79"/>
                  </a:cxn>
                  <a:cxn ang="0">
                    <a:pos x="47" y="75"/>
                  </a:cxn>
                  <a:cxn ang="0">
                    <a:pos x="47" y="70"/>
                  </a:cxn>
                  <a:cxn ang="0">
                    <a:pos x="55" y="67"/>
                  </a:cxn>
                  <a:cxn ang="0">
                    <a:pos x="59" y="70"/>
                  </a:cxn>
                  <a:cxn ang="0">
                    <a:pos x="64" y="70"/>
                  </a:cxn>
                  <a:cxn ang="0">
                    <a:pos x="70" y="64"/>
                  </a:cxn>
                  <a:cxn ang="0">
                    <a:pos x="70" y="59"/>
                  </a:cxn>
                  <a:cxn ang="0">
                    <a:pos x="67" y="55"/>
                  </a:cxn>
                  <a:cxn ang="0">
                    <a:pos x="70" y="48"/>
                  </a:cxn>
                  <a:cxn ang="0">
                    <a:pos x="75" y="47"/>
                  </a:cxn>
                  <a:cxn ang="0">
                    <a:pos x="78" y="43"/>
                  </a:cxn>
                  <a:cxn ang="0">
                    <a:pos x="78" y="35"/>
                  </a:cxn>
                  <a:cxn ang="0">
                    <a:pos x="75" y="31"/>
                  </a:cxn>
                  <a:cxn ang="0">
                    <a:pos x="70" y="31"/>
                  </a:cxn>
                  <a:cxn ang="0">
                    <a:pos x="67" y="23"/>
                  </a:cxn>
                  <a:cxn ang="0">
                    <a:pos x="70" y="20"/>
                  </a:cxn>
                  <a:cxn ang="0">
                    <a:pos x="70" y="15"/>
                  </a:cxn>
                  <a:cxn ang="0">
                    <a:pos x="64" y="9"/>
                  </a:cxn>
                  <a:cxn ang="0">
                    <a:pos x="59" y="8"/>
                  </a:cxn>
                  <a:cxn ang="0">
                    <a:pos x="56" y="11"/>
                  </a:cxn>
                  <a:cxn ang="0">
                    <a:pos x="48" y="8"/>
                  </a:cxn>
                  <a:cxn ang="0">
                    <a:pos x="47" y="3"/>
                  </a:cxn>
                  <a:cxn ang="0">
                    <a:pos x="44" y="0"/>
                  </a:cxn>
                  <a:cxn ang="0">
                    <a:pos x="35" y="0"/>
                  </a:cxn>
                  <a:cxn ang="0">
                    <a:pos x="32" y="3"/>
                  </a:cxn>
                  <a:cxn ang="0">
                    <a:pos x="31" y="8"/>
                  </a:cxn>
                  <a:cxn ang="0">
                    <a:pos x="23" y="12"/>
                  </a:cxn>
                  <a:cxn ang="0">
                    <a:pos x="19" y="8"/>
                  </a:cxn>
                  <a:cxn ang="0">
                    <a:pos x="14" y="9"/>
                  </a:cxn>
                  <a:cxn ang="0">
                    <a:pos x="8" y="15"/>
                  </a:cxn>
                  <a:cxn ang="0">
                    <a:pos x="8" y="20"/>
                  </a:cxn>
                  <a:cxn ang="0">
                    <a:pos x="11" y="24"/>
                  </a:cxn>
                  <a:cxn ang="0">
                    <a:pos x="8" y="31"/>
                  </a:cxn>
                  <a:cxn ang="0">
                    <a:pos x="3" y="32"/>
                  </a:cxn>
                  <a:cxn ang="0">
                    <a:pos x="0" y="35"/>
                  </a:cxn>
                  <a:cxn ang="0">
                    <a:pos x="0" y="44"/>
                  </a:cxn>
                  <a:cxn ang="0">
                    <a:pos x="3" y="47"/>
                  </a:cxn>
                  <a:cxn ang="0">
                    <a:pos x="9" y="48"/>
                  </a:cxn>
                  <a:cxn ang="0">
                    <a:pos x="39" y="25"/>
                  </a:cxn>
                  <a:cxn ang="0">
                    <a:pos x="53" y="39"/>
                  </a:cxn>
                  <a:cxn ang="0">
                    <a:pos x="39" y="53"/>
                  </a:cxn>
                  <a:cxn ang="0">
                    <a:pos x="25" y="39"/>
                  </a:cxn>
                  <a:cxn ang="0">
                    <a:pos x="39" y="25"/>
                  </a:cxn>
                  <a:cxn ang="0">
                    <a:pos x="39" y="25"/>
                  </a:cxn>
                  <a:cxn ang="0">
                    <a:pos x="39" y="25"/>
                  </a:cxn>
                </a:cxnLst>
                <a:rect l="0" t="0" r="r" b="b"/>
                <a:pathLst>
                  <a:path w="78" h="79">
                    <a:moveTo>
                      <a:pt x="9" y="48"/>
                    </a:moveTo>
                    <a:cubicBezTo>
                      <a:pt x="9" y="50"/>
                      <a:pt x="10" y="53"/>
                      <a:pt x="12" y="55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7" y="61"/>
                      <a:pt x="7" y="63"/>
                      <a:pt x="8" y="64"/>
                    </a:cubicBezTo>
                    <a:cubicBezTo>
                      <a:pt x="14" y="70"/>
                      <a:pt x="14" y="70"/>
                      <a:pt x="14" y="70"/>
                    </a:cubicBezTo>
                    <a:cubicBezTo>
                      <a:pt x="16" y="71"/>
                      <a:pt x="18" y="71"/>
                      <a:pt x="19" y="70"/>
                    </a:cubicBezTo>
                    <a:cubicBezTo>
                      <a:pt x="23" y="67"/>
                      <a:pt x="23" y="67"/>
                      <a:pt x="23" y="67"/>
                    </a:cubicBezTo>
                    <a:cubicBezTo>
                      <a:pt x="26" y="68"/>
                      <a:pt x="28" y="69"/>
                      <a:pt x="31" y="70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3" y="79"/>
                      <a:pt x="35" y="79"/>
                    </a:cubicBezTo>
                    <a:cubicBezTo>
                      <a:pt x="43" y="79"/>
                      <a:pt x="43" y="79"/>
                      <a:pt x="43" y="79"/>
                    </a:cubicBezTo>
                    <a:cubicBezTo>
                      <a:pt x="45" y="79"/>
                      <a:pt x="47" y="77"/>
                      <a:pt x="47" y="75"/>
                    </a:cubicBezTo>
                    <a:cubicBezTo>
                      <a:pt x="47" y="70"/>
                      <a:pt x="47" y="70"/>
                      <a:pt x="47" y="70"/>
                    </a:cubicBezTo>
                    <a:cubicBezTo>
                      <a:pt x="50" y="69"/>
                      <a:pt x="53" y="68"/>
                      <a:pt x="55" y="67"/>
                    </a:cubicBezTo>
                    <a:cubicBezTo>
                      <a:pt x="59" y="70"/>
                      <a:pt x="59" y="70"/>
                      <a:pt x="59" y="70"/>
                    </a:cubicBezTo>
                    <a:cubicBezTo>
                      <a:pt x="61" y="71"/>
                      <a:pt x="63" y="71"/>
                      <a:pt x="64" y="70"/>
                    </a:cubicBezTo>
                    <a:cubicBezTo>
                      <a:pt x="70" y="64"/>
                      <a:pt x="70" y="64"/>
                      <a:pt x="70" y="64"/>
                    </a:cubicBezTo>
                    <a:cubicBezTo>
                      <a:pt x="71" y="63"/>
                      <a:pt x="71" y="61"/>
                      <a:pt x="70" y="59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8" y="53"/>
                      <a:pt x="70" y="50"/>
                      <a:pt x="70" y="48"/>
                    </a:cubicBezTo>
                    <a:cubicBezTo>
                      <a:pt x="75" y="47"/>
                      <a:pt x="75" y="47"/>
                      <a:pt x="75" y="47"/>
                    </a:cubicBezTo>
                    <a:cubicBezTo>
                      <a:pt x="77" y="47"/>
                      <a:pt x="78" y="45"/>
                      <a:pt x="78" y="43"/>
                    </a:cubicBezTo>
                    <a:cubicBezTo>
                      <a:pt x="78" y="35"/>
                      <a:pt x="78" y="35"/>
                      <a:pt x="78" y="35"/>
                    </a:cubicBezTo>
                    <a:cubicBezTo>
                      <a:pt x="78" y="33"/>
                      <a:pt x="77" y="32"/>
                      <a:pt x="75" y="31"/>
                    </a:cubicBezTo>
                    <a:cubicBezTo>
                      <a:pt x="70" y="31"/>
                      <a:pt x="70" y="31"/>
                      <a:pt x="70" y="31"/>
                    </a:cubicBezTo>
                    <a:cubicBezTo>
                      <a:pt x="70" y="28"/>
                      <a:pt x="69" y="26"/>
                      <a:pt x="67" y="23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1" y="18"/>
                      <a:pt x="71" y="16"/>
                      <a:pt x="70" y="15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3" y="7"/>
                      <a:pt x="61" y="7"/>
                      <a:pt x="59" y="8"/>
                    </a:cubicBezTo>
                    <a:cubicBezTo>
                      <a:pt x="56" y="11"/>
                      <a:pt x="56" y="11"/>
                      <a:pt x="56" y="11"/>
                    </a:cubicBezTo>
                    <a:cubicBezTo>
                      <a:pt x="53" y="10"/>
                      <a:pt x="51" y="9"/>
                      <a:pt x="48" y="8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2"/>
                      <a:pt x="45" y="0"/>
                      <a:pt x="4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3" y="0"/>
                      <a:pt x="32" y="2"/>
                      <a:pt x="32" y="3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28" y="9"/>
                      <a:pt x="26" y="10"/>
                      <a:pt x="23" y="12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8" y="7"/>
                      <a:pt x="16" y="7"/>
                      <a:pt x="14" y="9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6"/>
                      <a:pt x="7" y="18"/>
                      <a:pt x="8" y="20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0" y="26"/>
                      <a:pt x="9" y="29"/>
                      <a:pt x="8" y="31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1" y="32"/>
                      <a:pt x="0" y="33"/>
                      <a:pt x="0" y="35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1" y="47"/>
                      <a:pt x="3" y="47"/>
                    </a:cubicBezTo>
                    <a:lnTo>
                      <a:pt x="9" y="48"/>
                    </a:lnTo>
                    <a:close/>
                    <a:moveTo>
                      <a:pt x="39" y="25"/>
                    </a:moveTo>
                    <a:cubicBezTo>
                      <a:pt x="47" y="25"/>
                      <a:pt x="53" y="31"/>
                      <a:pt x="53" y="39"/>
                    </a:cubicBezTo>
                    <a:cubicBezTo>
                      <a:pt x="53" y="47"/>
                      <a:pt x="47" y="53"/>
                      <a:pt x="39" y="53"/>
                    </a:cubicBezTo>
                    <a:cubicBezTo>
                      <a:pt x="32" y="53"/>
                      <a:pt x="25" y="47"/>
                      <a:pt x="25" y="39"/>
                    </a:cubicBezTo>
                    <a:cubicBezTo>
                      <a:pt x="25" y="31"/>
                      <a:pt x="32" y="25"/>
                      <a:pt x="39" y="25"/>
                    </a:cubicBezTo>
                    <a:close/>
                    <a:moveTo>
                      <a:pt x="39" y="25"/>
                    </a:moveTo>
                    <a:cubicBezTo>
                      <a:pt x="39" y="25"/>
                      <a:pt x="39" y="25"/>
                      <a:pt x="39" y="25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EF00F40-FF60-1F53-0058-3A407B3929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65751" y="3756025"/>
                <a:ext cx="195263" cy="193675"/>
              </a:xfrm>
              <a:custGeom>
                <a:avLst/>
                <a:gdLst/>
                <a:ahLst/>
                <a:cxnLst>
                  <a:cxn ang="0">
                    <a:pos x="55" y="10"/>
                  </a:cxn>
                  <a:cxn ang="0">
                    <a:pos x="51" y="6"/>
                  </a:cxn>
                  <a:cxn ang="0">
                    <a:pos x="46" y="6"/>
                  </a:cxn>
                  <a:cxn ang="0">
                    <a:pos x="44" y="9"/>
                  </a:cxn>
                  <a:cxn ang="0">
                    <a:pos x="37" y="7"/>
                  </a:cxn>
                  <a:cxn ang="0">
                    <a:pos x="36" y="3"/>
                  </a:cxn>
                  <a:cxn ang="0">
                    <a:pos x="32" y="0"/>
                  </a:cxn>
                  <a:cxn ang="0">
                    <a:pos x="27" y="1"/>
                  </a:cxn>
                  <a:cxn ang="0">
                    <a:pos x="23" y="4"/>
                  </a:cxn>
                  <a:cxn ang="0">
                    <a:pos x="23" y="8"/>
                  </a:cxn>
                  <a:cxn ang="0">
                    <a:pos x="17" y="11"/>
                  </a:cxn>
                  <a:cxn ang="0">
                    <a:pos x="14" y="9"/>
                  </a:cxn>
                  <a:cxn ang="0">
                    <a:pos x="9" y="10"/>
                  </a:cxn>
                  <a:cxn ang="0">
                    <a:pos x="6" y="14"/>
                  </a:cxn>
                  <a:cxn ang="0">
                    <a:pos x="6" y="19"/>
                  </a:cxn>
                  <a:cxn ang="0">
                    <a:pos x="8" y="22"/>
                  </a:cxn>
                  <a:cxn ang="0">
                    <a:pos x="6" y="28"/>
                  </a:cxn>
                  <a:cxn ang="0">
                    <a:pos x="3" y="29"/>
                  </a:cxn>
                  <a:cxn ang="0">
                    <a:pos x="0" y="33"/>
                  </a:cxn>
                  <a:cxn ang="0">
                    <a:pos x="0" y="38"/>
                  </a:cxn>
                  <a:cxn ang="0">
                    <a:pos x="4" y="42"/>
                  </a:cxn>
                  <a:cxn ang="0">
                    <a:pos x="8" y="42"/>
                  </a:cxn>
                  <a:cxn ang="0">
                    <a:pos x="11" y="47"/>
                  </a:cxn>
                  <a:cxn ang="0">
                    <a:pos x="8" y="51"/>
                  </a:cxn>
                  <a:cxn ang="0">
                    <a:pos x="9" y="55"/>
                  </a:cxn>
                  <a:cxn ang="0">
                    <a:pos x="14" y="59"/>
                  </a:cxn>
                  <a:cxn ang="0">
                    <a:pos x="18" y="59"/>
                  </a:cxn>
                  <a:cxn ang="0">
                    <a:pos x="21" y="56"/>
                  </a:cxn>
                  <a:cxn ang="0">
                    <a:pos x="27" y="58"/>
                  </a:cxn>
                  <a:cxn ang="0">
                    <a:pos x="28" y="62"/>
                  </a:cxn>
                  <a:cxn ang="0">
                    <a:pos x="32" y="65"/>
                  </a:cxn>
                  <a:cxn ang="0">
                    <a:pos x="38" y="64"/>
                  </a:cxn>
                  <a:cxn ang="0">
                    <a:pos x="41" y="61"/>
                  </a:cxn>
                  <a:cxn ang="0">
                    <a:pos x="41" y="57"/>
                  </a:cxn>
                  <a:cxn ang="0">
                    <a:pos x="47" y="54"/>
                  </a:cxn>
                  <a:cxn ang="0">
                    <a:pos x="50" y="56"/>
                  </a:cxn>
                  <a:cxn ang="0">
                    <a:pos x="55" y="56"/>
                  </a:cxn>
                  <a:cxn ang="0">
                    <a:pos x="59" y="51"/>
                  </a:cxn>
                  <a:cxn ang="0">
                    <a:pos x="59" y="46"/>
                  </a:cxn>
                  <a:cxn ang="0">
                    <a:pos x="56" y="44"/>
                  </a:cxn>
                  <a:cxn ang="0">
                    <a:pos x="58" y="37"/>
                  </a:cxn>
                  <a:cxn ang="0">
                    <a:pos x="62" y="37"/>
                  </a:cxn>
                  <a:cxn ang="0">
                    <a:pos x="64" y="33"/>
                  </a:cxn>
                  <a:cxn ang="0">
                    <a:pos x="64" y="27"/>
                  </a:cxn>
                  <a:cxn ang="0">
                    <a:pos x="60" y="24"/>
                  </a:cxn>
                  <a:cxn ang="0">
                    <a:pos x="57" y="24"/>
                  </a:cxn>
                  <a:cxn ang="0">
                    <a:pos x="54" y="18"/>
                  </a:cxn>
                  <a:cxn ang="0">
                    <a:pos x="56" y="15"/>
                  </a:cxn>
                  <a:cxn ang="0">
                    <a:pos x="55" y="10"/>
                  </a:cxn>
                  <a:cxn ang="0">
                    <a:pos x="33" y="44"/>
                  </a:cxn>
                  <a:cxn ang="0">
                    <a:pos x="21" y="33"/>
                  </a:cxn>
                  <a:cxn ang="0">
                    <a:pos x="31" y="21"/>
                  </a:cxn>
                  <a:cxn ang="0">
                    <a:pos x="44" y="31"/>
                  </a:cxn>
                  <a:cxn ang="0">
                    <a:pos x="33" y="44"/>
                  </a:cxn>
                  <a:cxn ang="0">
                    <a:pos x="33" y="44"/>
                  </a:cxn>
                  <a:cxn ang="0">
                    <a:pos x="33" y="44"/>
                  </a:cxn>
                </a:cxnLst>
                <a:rect l="0" t="0" r="r" b="b"/>
                <a:pathLst>
                  <a:path w="65" h="65">
                    <a:moveTo>
                      <a:pt x="55" y="10"/>
                    </a:moveTo>
                    <a:cubicBezTo>
                      <a:pt x="51" y="6"/>
                      <a:pt x="51" y="6"/>
                      <a:pt x="51" y="6"/>
                    </a:cubicBezTo>
                    <a:cubicBezTo>
                      <a:pt x="49" y="5"/>
                      <a:pt x="47" y="5"/>
                      <a:pt x="46" y="6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41" y="8"/>
                      <a:pt x="39" y="7"/>
                      <a:pt x="37" y="7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36" y="1"/>
                      <a:pt x="34" y="0"/>
                      <a:pt x="32" y="0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5" y="1"/>
                      <a:pt x="23" y="2"/>
                      <a:pt x="23" y="4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1" y="9"/>
                      <a:pt x="19" y="10"/>
                      <a:pt x="17" y="11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3" y="8"/>
                      <a:pt x="11" y="8"/>
                      <a:pt x="9" y="10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4" y="16"/>
                      <a:pt x="4" y="18"/>
                      <a:pt x="6" y="19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7" y="24"/>
                      <a:pt x="7" y="26"/>
                      <a:pt x="6" y="28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1" y="29"/>
                      <a:pt x="0" y="31"/>
                      <a:pt x="0" y="3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" y="40"/>
                      <a:pt x="2" y="42"/>
                      <a:pt x="4" y="42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9" y="44"/>
                      <a:pt x="9" y="45"/>
                      <a:pt x="11" y="47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2"/>
                      <a:pt x="8" y="54"/>
                      <a:pt x="9" y="55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5" y="60"/>
                      <a:pt x="17" y="60"/>
                      <a:pt x="18" y="59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3" y="57"/>
                      <a:pt x="25" y="58"/>
                      <a:pt x="27" y="58"/>
                    </a:cubicBezTo>
                    <a:cubicBezTo>
                      <a:pt x="28" y="62"/>
                      <a:pt x="28" y="62"/>
                      <a:pt x="28" y="62"/>
                    </a:cubicBezTo>
                    <a:cubicBezTo>
                      <a:pt x="28" y="64"/>
                      <a:pt x="30" y="65"/>
                      <a:pt x="32" y="65"/>
                    </a:cubicBezTo>
                    <a:cubicBezTo>
                      <a:pt x="38" y="64"/>
                      <a:pt x="38" y="64"/>
                      <a:pt x="38" y="64"/>
                    </a:cubicBezTo>
                    <a:cubicBezTo>
                      <a:pt x="39" y="64"/>
                      <a:pt x="41" y="63"/>
                      <a:pt x="41" y="61"/>
                    </a:cubicBezTo>
                    <a:cubicBezTo>
                      <a:pt x="41" y="57"/>
                      <a:pt x="41" y="57"/>
                      <a:pt x="41" y="57"/>
                    </a:cubicBezTo>
                    <a:cubicBezTo>
                      <a:pt x="43" y="56"/>
                      <a:pt x="45" y="55"/>
                      <a:pt x="47" y="54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2" y="57"/>
                      <a:pt x="54" y="57"/>
                      <a:pt x="55" y="56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0"/>
                      <a:pt x="60" y="48"/>
                      <a:pt x="59" y="46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7" y="42"/>
                      <a:pt x="58" y="39"/>
                      <a:pt x="58" y="37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3" y="36"/>
                      <a:pt x="65" y="35"/>
                      <a:pt x="64" y="33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5"/>
                      <a:pt x="62" y="24"/>
                      <a:pt x="60" y="24"/>
                    </a:cubicBezTo>
                    <a:cubicBezTo>
                      <a:pt x="57" y="24"/>
                      <a:pt x="57" y="24"/>
                      <a:pt x="57" y="24"/>
                    </a:cubicBezTo>
                    <a:cubicBezTo>
                      <a:pt x="56" y="21"/>
                      <a:pt x="55" y="20"/>
                      <a:pt x="54" y="18"/>
                    </a:cubicBezTo>
                    <a:cubicBezTo>
                      <a:pt x="56" y="15"/>
                      <a:pt x="56" y="15"/>
                      <a:pt x="56" y="15"/>
                    </a:cubicBezTo>
                    <a:cubicBezTo>
                      <a:pt x="57" y="13"/>
                      <a:pt x="57" y="11"/>
                      <a:pt x="55" y="10"/>
                    </a:cubicBezTo>
                    <a:close/>
                    <a:moveTo>
                      <a:pt x="33" y="44"/>
                    </a:moveTo>
                    <a:cubicBezTo>
                      <a:pt x="27" y="44"/>
                      <a:pt x="21" y="40"/>
                      <a:pt x="21" y="33"/>
                    </a:cubicBezTo>
                    <a:cubicBezTo>
                      <a:pt x="20" y="27"/>
                      <a:pt x="25" y="21"/>
                      <a:pt x="31" y="21"/>
                    </a:cubicBezTo>
                    <a:cubicBezTo>
                      <a:pt x="38" y="20"/>
                      <a:pt x="43" y="25"/>
                      <a:pt x="44" y="31"/>
                    </a:cubicBezTo>
                    <a:cubicBezTo>
                      <a:pt x="44" y="38"/>
                      <a:pt x="40" y="43"/>
                      <a:pt x="33" y="44"/>
                    </a:cubicBezTo>
                    <a:close/>
                    <a:moveTo>
                      <a:pt x="33" y="44"/>
                    </a:moveTo>
                    <a:cubicBezTo>
                      <a:pt x="33" y="44"/>
                      <a:pt x="33" y="44"/>
                      <a:pt x="33" y="44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5A2D1D32-66A3-E88C-E9C2-7BA04D131E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40338" y="3871913"/>
                <a:ext cx="155575" cy="155575"/>
              </a:xfrm>
              <a:custGeom>
                <a:avLst/>
                <a:gdLst/>
                <a:ahLst/>
                <a:cxnLst>
                  <a:cxn ang="0">
                    <a:pos x="3" y="21"/>
                  </a:cxn>
                  <a:cxn ang="0">
                    <a:pos x="0" y="24"/>
                  </a:cxn>
                  <a:cxn ang="0">
                    <a:pos x="0" y="28"/>
                  </a:cxn>
                  <a:cxn ang="0">
                    <a:pos x="3" y="31"/>
                  </a:cxn>
                  <a:cxn ang="0">
                    <a:pos x="6" y="32"/>
                  </a:cxn>
                  <a:cxn ang="0">
                    <a:pos x="7" y="36"/>
                  </a:cxn>
                  <a:cxn ang="0">
                    <a:pos x="6" y="38"/>
                  </a:cxn>
                  <a:cxn ang="0">
                    <a:pos x="6" y="43"/>
                  </a:cxn>
                  <a:cxn ang="0">
                    <a:pos x="9" y="45"/>
                  </a:cxn>
                  <a:cxn ang="0">
                    <a:pos x="13" y="46"/>
                  </a:cxn>
                  <a:cxn ang="0">
                    <a:pos x="15" y="44"/>
                  </a:cxn>
                  <a:cxn ang="0">
                    <a:pos x="20" y="46"/>
                  </a:cxn>
                  <a:cxn ang="0">
                    <a:pos x="20" y="49"/>
                  </a:cxn>
                  <a:cxn ang="0">
                    <a:pos x="24" y="52"/>
                  </a:cxn>
                  <a:cxn ang="0">
                    <a:pos x="27" y="52"/>
                  </a:cxn>
                  <a:cxn ang="0">
                    <a:pos x="31" y="49"/>
                  </a:cxn>
                  <a:cxn ang="0">
                    <a:pos x="31" y="47"/>
                  </a:cxn>
                  <a:cxn ang="0">
                    <a:pos x="36" y="45"/>
                  </a:cxn>
                  <a:cxn ang="0">
                    <a:pos x="38" y="46"/>
                  </a:cxn>
                  <a:cxn ang="0">
                    <a:pos x="43" y="46"/>
                  </a:cxn>
                  <a:cxn ang="0">
                    <a:pos x="46" y="43"/>
                  </a:cxn>
                  <a:cxn ang="0">
                    <a:pos x="46" y="39"/>
                  </a:cxn>
                  <a:cxn ang="0">
                    <a:pos x="45" y="37"/>
                  </a:cxn>
                  <a:cxn ang="0">
                    <a:pos x="47" y="32"/>
                  </a:cxn>
                  <a:cxn ang="0">
                    <a:pos x="49" y="32"/>
                  </a:cxn>
                  <a:cxn ang="0">
                    <a:pos x="52" y="28"/>
                  </a:cxn>
                  <a:cxn ang="0">
                    <a:pos x="52" y="24"/>
                  </a:cxn>
                  <a:cxn ang="0">
                    <a:pos x="49" y="21"/>
                  </a:cxn>
                  <a:cxn ang="0">
                    <a:pos x="47" y="21"/>
                  </a:cxn>
                  <a:cxn ang="0">
                    <a:pos x="45" y="16"/>
                  </a:cxn>
                  <a:cxn ang="0">
                    <a:pos x="46" y="14"/>
                  </a:cxn>
                  <a:cxn ang="0">
                    <a:pos x="46" y="9"/>
                  </a:cxn>
                  <a:cxn ang="0">
                    <a:pos x="44" y="7"/>
                  </a:cxn>
                  <a:cxn ang="0">
                    <a:pos x="39" y="6"/>
                  </a:cxn>
                  <a:cxn ang="0">
                    <a:pos x="37" y="8"/>
                  </a:cxn>
                  <a:cxn ang="0">
                    <a:pos x="32" y="5"/>
                  </a:cxn>
                  <a:cxn ang="0">
                    <a:pos x="32" y="3"/>
                  </a:cxn>
                  <a:cxn ang="0">
                    <a:pos x="28" y="0"/>
                  </a:cxn>
                  <a:cxn ang="0">
                    <a:pos x="25" y="0"/>
                  </a:cxn>
                  <a:cxn ang="0">
                    <a:pos x="21" y="3"/>
                  </a:cxn>
                  <a:cxn ang="0">
                    <a:pos x="21" y="5"/>
                  </a:cxn>
                  <a:cxn ang="0">
                    <a:pos x="16" y="7"/>
                  </a:cxn>
                  <a:cxn ang="0">
                    <a:pos x="14" y="6"/>
                  </a:cxn>
                  <a:cxn ang="0">
                    <a:pos x="9" y="6"/>
                  </a:cxn>
                  <a:cxn ang="0">
                    <a:pos x="6" y="9"/>
                  </a:cxn>
                  <a:cxn ang="0">
                    <a:pos x="6" y="13"/>
                  </a:cxn>
                  <a:cxn ang="0">
                    <a:pos x="8" y="15"/>
                  </a:cxn>
                  <a:cxn ang="0">
                    <a:pos x="6" y="20"/>
                  </a:cxn>
                  <a:cxn ang="0">
                    <a:pos x="3" y="21"/>
                  </a:cxn>
                  <a:cxn ang="0">
                    <a:pos x="26" y="16"/>
                  </a:cxn>
                  <a:cxn ang="0">
                    <a:pos x="36" y="26"/>
                  </a:cxn>
                  <a:cxn ang="0">
                    <a:pos x="26" y="35"/>
                  </a:cxn>
                  <a:cxn ang="0">
                    <a:pos x="17" y="26"/>
                  </a:cxn>
                  <a:cxn ang="0">
                    <a:pos x="26" y="16"/>
                  </a:cxn>
                  <a:cxn ang="0">
                    <a:pos x="26" y="16"/>
                  </a:cxn>
                  <a:cxn ang="0">
                    <a:pos x="26" y="16"/>
                  </a:cxn>
                </a:cxnLst>
                <a:rect l="0" t="0" r="r" b="b"/>
                <a:pathLst>
                  <a:path w="52" h="52">
                    <a:moveTo>
                      <a:pt x="3" y="21"/>
                    </a:moveTo>
                    <a:cubicBezTo>
                      <a:pt x="1" y="21"/>
                      <a:pt x="0" y="22"/>
                      <a:pt x="0" y="2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9"/>
                      <a:pt x="1" y="31"/>
                      <a:pt x="3" y="31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6" y="33"/>
                      <a:pt x="7" y="35"/>
                      <a:pt x="7" y="36"/>
                    </a:cubicBezTo>
                    <a:cubicBezTo>
                      <a:pt x="6" y="38"/>
                      <a:pt x="6" y="38"/>
                      <a:pt x="6" y="38"/>
                    </a:cubicBezTo>
                    <a:cubicBezTo>
                      <a:pt x="5" y="40"/>
                      <a:pt x="5" y="42"/>
                      <a:pt x="6" y="43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10" y="47"/>
                      <a:pt x="12" y="47"/>
                      <a:pt x="13" y="46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17" y="45"/>
                      <a:pt x="18" y="46"/>
                      <a:pt x="20" y="46"/>
                    </a:cubicBezTo>
                    <a:cubicBezTo>
                      <a:pt x="20" y="49"/>
                      <a:pt x="20" y="49"/>
                      <a:pt x="20" y="49"/>
                    </a:cubicBezTo>
                    <a:cubicBezTo>
                      <a:pt x="21" y="51"/>
                      <a:pt x="22" y="52"/>
                      <a:pt x="24" y="52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9" y="52"/>
                      <a:pt x="31" y="51"/>
                      <a:pt x="31" y="49"/>
                    </a:cubicBezTo>
                    <a:cubicBezTo>
                      <a:pt x="31" y="47"/>
                      <a:pt x="31" y="47"/>
                      <a:pt x="31" y="47"/>
                    </a:cubicBezTo>
                    <a:cubicBezTo>
                      <a:pt x="33" y="46"/>
                      <a:pt x="35" y="45"/>
                      <a:pt x="36" y="45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40" y="47"/>
                      <a:pt x="42" y="47"/>
                      <a:pt x="43" y="46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7" y="40"/>
                      <a:pt x="46" y="39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35"/>
                      <a:pt x="46" y="33"/>
                      <a:pt x="47" y="32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51" y="31"/>
                      <a:pt x="52" y="30"/>
                      <a:pt x="52" y="28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3"/>
                      <a:pt x="51" y="21"/>
                      <a:pt x="49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6" y="19"/>
                      <a:pt x="46" y="17"/>
                      <a:pt x="45" y="16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7" y="12"/>
                      <a:pt x="47" y="10"/>
                      <a:pt x="46" y="9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2" y="5"/>
                      <a:pt x="40" y="5"/>
                      <a:pt x="39" y="6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6" y="7"/>
                      <a:pt x="34" y="6"/>
                      <a:pt x="32" y="5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32" y="1"/>
                      <a:pt x="30" y="0"/>
                      <a:pt x="28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3" y="0"/>
                      <a:pt x="21" y="1"/>
                      <a:pt x="21" y="3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19" y="6"/>
                      <a:pt x="17" y="6"/>
                      <a:pt x="16" y="7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2" y="5"/>
                      <a:pt x="10" y="5"/>
                      <a:pt x="9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0"/>
                      <a:pt x="5" y="12"/>
                      <a:pt x="6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7"/>
                      <a:pt x="6" y="19"/>
                      <a:pt x="6" y="20"/>
                    </a:cubicBezTo>
                    <a:lnTo>
                      <a:pt x="3" y="21"/>
                    </a:lnTo>
                    <a:close/>
                    <a:moveTo>
                      <a:pt x="26" y="16"/>
                    </a:moveTo>
                    <a:cubicBezTo>
                      <a:pt x="31" y="17"/>
                      <a:pt x="36" y="21"/>
                      <a:pt x="36" y="26"/>
                    </a:cubicBezTo>
                    <a:cubicBezTo>
                      <a:pt x="35" y="31"/>
                      <a:pt x="31" y="35"/>
                      <a:pt x="26" y="35"/>
                    </a:cubicBezTo>
                    <a:cubicBezTo>
                      <a:pt x="21" y="35"/>
                      <a:pt x="17" y="31"/>
                      <a:pt x="17" y="26"/>
                    </a:cubicBezTo>
                    <a:cubicBezTo>
                      <a:pt x="17" y="21"/>
                      <a:pt x="21" y="16"/>
                      <a:pt x="26" y="16"/>
                    </a:cubicBezTo>
                    <a:close/>
                    <a:moveTo>
                      <a:pt x="26" y="16"/>
                    </a:moveTo>
                    <a:cubicBezTo>
                      <a:pt x="26" y="16"/>
                      <a:pt x="26" y="16"/>
                      <a:pt x="26" y="1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sp>
          <p:nvSpPr>
            <p:cNvPr id="10" name="Freeform 17">
              <a:extLst>
                <a:ext uri="{FF2B5EF4-FFF2-40B4-BE49-F238E27FC236}">
                  <a16:creationId xmlns:a16="http://schemas.microsoft.com/office/drawing/2014/main" id="{C05753DC-B785-D44D-77F7-74DB21C44C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22344" y="2067032"/>
              <a:ext cx="422752" cy="628156"/>
            </a:xfrm>
            <a:custGeom>
              <a:avLst/>
              <a:gdLst/>
              <a:ahLst/>
              <a:cxnLst>
                <a:cxn ang="0">
                  <a:pos x="47" y="0"/>
                </a:cxn>
                <a:cxn ang="0">
                  <a:pos x="10" y="76"/>
                </a:cxn>
                <a:cxn ang="0">
                  <a:pos x="24" y="124"/>
                </a:cxn>
                <a:cxn ang="0">
                  <a:pos x="34" y="128"/>
                </a:cxn>
                <a:cxn ang="0">
                  <a:pos x="44" y="140"/>
                </a:cxn>
                <a:cxn ang="0">
                  <a:pos x="62" y="130"/>
                </a:cxn>
                <a:cxn ang="0">
                  <a:pos x="67" y="128"/>
                </a:cxn>
                <a:cxn ang="0">
                  <a:pos x="72" y="94"/>
                </a:cxn>
                <a:cxn ang="0">
                  <a:pos x="94" y="46"/>
                </a:cxn>
                <a:cxn ang="0">
                  <a:pos x="32" y="53"/>
                </a:cxn>
                <a:cxn ang="0">
                  <a:pos x="43" y="56"/>
                </a:cxn>
                <a:cxn ang="0">
                  <a:pos x="47" y="56"/>
                </a:cxn>
                <a:cxn ang="0">
                  <a:pos x="55" y="55"/>
                </a:cxn>
                <a:cxn ang="0">
                  <a:pos x="58" y="56"/>
                </a:cxn>
                <a:cxn ang="0">
                  <a:pos x="54" y="89"/>
                </a:cxn>
                <a:cxn ang="0">
                  <a:pos x="62" y="98"/>
                </a:cxn>
                <a:cxn ang="0">
                  <a:pos x="33" y="106"/>
                </a:cxn>
                <a:cxn ang="0">
                  <a:pos x="62" y="98"/>
                </a:cxn>
                <a:cxn ang="0">
                  <a:pos x="33" y="111"/>
                </a:cxn>
                <a:cxn ang="0">
                  <a:pos x="62" y="118"/>
                </a:cxn>
                <a:cxn ang="0">
                  <a:pos x="64" y="88"/>
                </a:cxn>
                <a:cxn ang="0">
                  <a:pos x="70" y="49"/>
                </a:cxn>
                <a:cxn ang="0">
                  <a:pos x="63" y="48"/>
                </a:cxn>
                <a:cxn ang="0">
                  <a:pos x="58" y="51"/>
                </a:cxn>
                <a:cxn ang="0">
                  <a:pos x="52" y="42"/>
                </a:cxn>
                <a:cxn ang="0">
                  <a:pos x="44" y="51"/>
                </a:cxn>
                <a:cxn ang="0">
                  <a:pos x="36" y="45"/>
                </a:cxn>
                <a:cxn ang="0">
                  <a:pos x="31" y="48"/>
                </a:cxn>
                <a:cxn ang="0">
                  <a:pos x="24" y="50"/>
                </a:cxn>
                <a:cxn ang="0">
                  <a:pos x="31" y="89"/>
                </a:cxn>
                <a:cxn ang="0">
                  <a:pos x="9" y="47"/>
                </a:cxn>
                <a:cxn ang="0">
                  <a:pos x="85" y="47"/>
                </a:cxn>
                <a:cxn ang="0">
                  <a:pos x="64" y="88"/>
                </a:cxn>
                <a:cxn ang="0">
                  <a:pos x="64" y="88"/>
                </a:cxn>
              </a:cxnLst>
              <a:rect l="0" t="0" r="r" b="b"/>
              <a:pathLst>
                <a:path w="94" h="140">
                  <a:moveTo>
                    <a:pt x="94" y="46"/>
                  </a:moveTo>
                  <a:cubicBezTo>
                    <a:pt x="94" y="20"/>
                    <a:pt x="73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58"/>
                    <a:pt x="4" y="68"/>
                    <a:pt x="10" y="76"/>
                  </a:cubicBezTo>
                  <a:cubicBezTo>
                    <a:pt x="15" y="82"/>
                    <a:pt x="20" y="89"/>
                    <a:pt x="23" y="95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24" y="126"/>
                    <a:pt x="26" y="128"/>
                    <a:pt x="28" y="128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30"/>
                    <a:pt x="34" y="130"/>
                    <a:pt x="34" y="130"/>
                  </a:cubicBezTo>
                  <a:cubicBezTo>
                    <a:pt x="34" y="136"/>
                    <a:pt x="38" y="140"/>
                    <a:pt x="44" y="140"/>
                  </a:cubicBezTo>
                  <a:cubicBezTo>
                    <a:pt x="52" y="140"/>
                    <a:pt x="52" y="140"/>
                    <a:pt x="52" y="140"/>
                  </a:cubicBezTo>
                  <a:cubicBezTo>
                    <a:pt x="58" y="140"/>
                    <a:pt x="62" y="136"/>
                    <a:pt x="62" y="130"/>
                  </a:cubicBezTo>
                  <a:cubicBezTo>
                    <a:pt x="62" y="128"/>
                    <a:pt x="62" y="128"/>
                    <a:pt x="62" y="128"/>
                  </a:cubicBezTo>
                  <a:cubicBezTo>
                    <a:pt x="67" y="128"/>
                    <a:pt x="67" y="128"/>
                    <a:pt x="67" y="128"/>
                  </a:cubicBezTo>
                  <a:cubicBezTo>
                    <a:pt x="70" y="128"/>
                    <a:pt x="72" y="126"/>
                    <a:pt x="72" y="123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5" y="88"/>
                    <a:pt x="80" y="82"/>
                    <a:pt x="84" y="76"/>
                  </a:cubicBezTo>
                  <a:cubicBezTo>
                    <a:pt x="91" y="67"/>
                    <a:pt x="94" y="57"/>
                    <a:pt x="94" y="46"/>
                  </a:cubicBezTo>
                  <a:close/>
                  <a:moveTo>
                    <a:pt x="41" y="89"/>
                  </a:moveTo>
                  <a:cubicBezTo>
                    <a:pt x="32" y="53"/>
                    <a:pt x="32" y="53"/>
                    <a:pt x="32" y="53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4" y="56"/>
                    <a:pt x="44" y="56"/>
                    <a:pt x="45" y="56"/>
                  </a:cubicBezTo>
                  <a:cubicBezTo>
                    <a:pt x="46" y="56"/>
                    <a:pt x="46" y="56"/>
                    <a:pt x="47" y="56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56"/>
                    <a:pt x="56" y="56"/>
                    <a:pt x="57" y="56"/>
                  </a:cubicBezTo>
                  <a:cubicBezTo>
                    <a:pt x="57" y="56"/>
                    <a:pt x="58" y="56"/>
                    <a:pt x="58" y="56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54" y="89"/>
                    <a:pt x="54" y="89"/>
                    <a:pt x="54" y="89"/>
                  </a:cubicBezTo>
                  <a:lnTo>
                    <a:pt x="41" y="89"/>
                  </a:lnTo>
                  <a:close/>
                  <a:moveTo>
                    <a:pt x="62" y="98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33" y="106"/>
                    <a:pt x="33" y="106"/>
                    <a:pt x="33" y="106"/>
                  </a:cubicBezTo>
                  <a:cubicBezTo>
                    <a:pt x="33" y="98"/>
                    <a:pt x="33" y="98"/>
                    <a:pt x="33" y="98"/>
                  </a:cubicBezTo>
                  <a:lnTo>
                    <a:pt x="62" y="98"/>
                  </a:lnTo>
                  <a:close/>
                  <a:moveTo>
                    <a:pt x="33" y="119"/>
                  </a:moveTo>
                  <a:cubicBezTo>
                    <a:pt x="33" y="111"/>
                    <a:pt x="33" y="111"/>
                    <a:pt x="33" y="111"/>
                  </a:cubicBezTo>
                  <a:cubicBezTo>
                    <a:pt x="62" y="111"/>
                    <a:pt x="62" y="111"/>
                    <a:pt x="62" y="111"/>
                  </a:cubicBezTo>
                  <a:cubicBezTo>
                    <a:pt x="62" y="118"/>
                    <a:pt x="62" y="118"/>
                    <a:pt x="62" y="118"/>
                  </a:cubicBezTo>
                  <a:lnTo>
                    <a:pt x="33" y="119"/>
                  </a:lnTo>
                  <a:close/>
                  <a:moveTo>
                    <a:pt x="64" y="88"/>
                  </a:moveTo>
                  <a:cubicBezTo>
                    <a:pt x="62" y="88"/>
                    <a:pt x="62" y="88"/>
                    <a:pt x="62" y="88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1" y="48"/>
                    <a:pt x="69" y="46"/>
                    <a:pt x="67" y="45"/>
                  </a:cubicBezTo>
                  <a:cubicBezTo>
                    <a:pt x="66" y="45"/>
                    <a:pt x="64" y="46"/>
                    <a:pt x="63" y="48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3"/>
                    <a:pt x="53" y="43"/>
                    <a:pt x="52" y="42"/>
                  </a:cubicBezTo>
                  <a:cubicBezTo>
                    <a:pt x="52" y="42"/>
                    <a:pt x="51" y="43"/>
                    <a:pt x="50" y="43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8" y="45"/>
                    <a:pt x="37" y="45"/>
                    <a:pt x="36" y="45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6"/>
                    <a:pt x="29" y="45"/>
                    <a:pt x="27" y="46"/>
                  </a:cubicBezTo>
                  <a:cubicBezTo>
                    <a:pt x="25" y="46"/>
                    <a:pt x="24" y="48"/>
                    <a:pt x="24" y="50"/>
                  </a:cubicBezTo>
                  <a:cubicBezTo>
                    <a:pt x="33" y="89"/>
                    <a:pt x="33" y="89"/>
                    <a:pt x="33" y="89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27" y="82"/>
                    <a:pt x="22" y="76"/>
                    <a:pt x="18" y="70"/>
                  </a:cubicBezTo>
                  <a:cubicBezTo>
                    <a:pt x="12" y="64"/>
                    <a:pt x="10" y="56"/>
                    <a:pt x="9" y="47"/>
                  </a:cubicBezTo>
                  <a:cubicBezTo>
                    <a:pt x="9" y="26"/>
                    <a:pt x="26" y="9"/>
                    <a:pt x="47" y="9"/>
                  </a:cubicBezTo>
                  <a:cubicBezTo>
                    <a:pt x="68" y="9"/>
                    <a:pt x="85" y="26"/>
                    <a:pt x="85" y="47"/>
                  </a:cubicBezTo>
                  <a:cubicBezTo>
                    <a:pt x="85" y="55"/>
                    <a:pt x="82" y="63"/>
                    <a:pt x="77" y="70"/>
                  </a:cubicBezTo>
                  <a:cubicBezTo>
                    <a:pt x="72" y="76"/>
                    <a:pt x="68" y="82"/>
                    <a:pt x="64" y="88"/>
                  </a:cubicBezTo>
                  <a:close/>
                  <a:moveTo>
                    <a:pt x="64" y="88"/>
                  </a:moveTo>
                  <a:cubicBezTo>
                    <a:pt x="64" y="88"/>
                    <a:pt x="64" y="88"/>
                    <a:pt x="64" y="88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1" name="TextBox 56">
              <a:extLst>
                <a:ext uri="{FF2B5EF4-FFF2-40B4-BE49-F238E27FC236}">
                  <a16:creationId xmlns:a16="http://schemas.microsoft.com/office/drawing/2014/main" id="{E7D11705-3F6B-CB57-37C2-58C4B82DCFBA}"/>
                </a:ext>
              </a:extLst>
            </p:cNvPr>
            <p:cNvSpPr txBox="1"/>
            <p:nvPr/>
          </p:nvSpPr>
          <p:spPr>
            <a:xfrm>
              <a:off x="5281860" y="2496032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01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2" name="TextBox 57">
              <a:extLst>
                <a:ext uri="{FF2B5EF4-FFF2-40B4-BE49-F238E27FC236}">
                  <a16:creationId xmlns:a16="http://schemas.microsoft.com/office/drawing/2014/main" id="{1DE74504-49E8-8353-419B-519546BE4A69}"/>
                </a:ext>
              </a:extLst>
            </p:cNvPr>
            <p:cNvSpPr txBox="1"/>
            <p:nvPr/>
          </p:nvSpPr>
          <p:spPr>
            <a:xfrm>
              <a:off x="6355124" y="2496032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02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3" name="TextBox 58">
              <a:extLst>
                <a:ext uri="{FF2B5EF4-FFF2-40B4-BE49-F238E27FC236}">
                  <a16:creationId xmlns:a16="http://schemas.microsoft.com/office/drawing/2014/main" id="{CAD98C20-8863-2A54-C3EE-75B67ABAC8C3}"/>
                </a:ext>
              </a:extLst>
            </p:cNvPr>
            <p:cNvSpPr txBox="1"/>
            <p:nvPr/>
          </p:nvSpPr>
          <p:spPr>
            <a:xfrm>
              <a:off x="5281860" y="4095994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03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4" name="TextBox 59">
              <a:extLst>
                <a:ext uri="{FF2B5EF4-FFF2-40B4-BE49-F238E27FC236}">
                  <a16:creationId xmlns:a16="http://schemas.microsoft.com/office/drawing/2014/main" id="{4DD32CC4-7223-6DDF-38B8-99393251BE3E}"/>
                </a:ext>
              </a:extLst>
            </p:cNvPr>
            <p:cNvSpPr txBox="1"/>
            <p:nvPr/>
          </p:nvSpPr>
          <p:spPr>
            <a:xfrm>
              <a:off x="6355124" y="4095994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04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519BC2BC-D2E0-FC4E-70B5-202B000E3D05}"/>
              </a:ext>
            </a:extLst>
          </p:cNvPr>
          <p:cNvSpPr txBox="1"/>
          <p:nvPr/>
        </p:nvSpPr>
        <p:spPr>
          <a:xfrm>
            <a:off x="1202253" y="2617599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24569D"/>
                </a:solidFill>
              </a:rPr>
              <a:t>人工神经网络概述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C855F4D-256F-E2E8-82A4-C665B219CDEF}"/>
              </a:ext>
            </a:extLst>
          </p:cNvPr>
          <p:cNvSpPr txBox="1"/>
          <p:nvPr/>
        </p:nvSpPr>
        <p:spPr>
          <a:xfrm>
            <a:off x="8551048" y="4920321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24569D"/>
                </a:solidFill>
              </a:rPr>
              <a:t>误差反向传播</a:t>
            </a:r>
            <a:endParaRPr lang="zh-CN" altLang="en-US" sz="2400" b="1" dirty="0">
              <a:solidFill>
                <a:srgbClr val="24569D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8F1FF43-C5CA-33A6-6031-A6442D5988F0}"/>
              </a:ext>
            </a:extLst>
          </p:cNvPr>
          <p:cNvSpPr txBox="1"/>
          <p:nvPr/>
        </p:nvSpPr>
        <p:spPr>
          <a:xfrm>
            <a:off x="1106240" y="4862587"/>
            <a:ext cx="2969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24569D"/>
                </a:solidFill>
              </a:rPr>
              <a:t>激活函数与损失函数</a:t>
            </a:r>
            <a:endParaRPr lang="zh-CN" altLang="en-US" sz="2400" b="1" dirty="0">
              <a:solidFill>
                <a:srgbClr val="24569D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5DBC89-F105-4F49-BB60-1701ECA7B3C0}"/>
              </a:ext>
            </a:extLst>
          </p:cNvPr>
          <p:cNvSpPr/>
          <p:nvPr/>
        </p:nvSpPr>
        <p:spPr>
          <a:xfrm>
            <a:off x="745606" y="902626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目录</a:t>
            </a:r>
          </a:p>
        </p:txBody>
      </p:sp>
      <p:grpSp>
        <p:nvGrpSpPr>
          <p:cNvPr id="30" name="PA_组合 25">
            <a:extLst>
              <a:ext uri="{FF2B5EF4-FFF2-40B4-BE49-F238E27FC236}">
                <a16:creationId xmlns:a16="http://schemas.microsoft.com/office/drawing/2014/main" id="{65FD479B-C71F-D983-D2E0-58598A98470E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8143529" y="2621174"/>
            <a:ext cx="2855980" cy="1458074"/>
            <a:chOff x="656868" y="2635700"/>
            <a:chExt cx="2855980" cy="1458074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19BC2BC-D2E0-FC4E-70B5-202B000E3D05}"/>
                </a:ext>
              </a:extLst>
            </p:cNvPr>
            <p:cNvSpPr txBox="1"/>
            <p:nvPr/>
          </p:nvSpPr>
          <p:spPr>
            <a:xfrm>
              <a:off x="877066" y="2635700"/>
              <a:ext cx="20409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</a:rPr>
                <a:t>前馈神经网络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8587460-E77B-0D64-6CFB-4FAF4C33FDA8}"/>
                </a:ext>
              </a:extLst>
            </p:cNvPr>
            <p:cNvSpPr txBox="1"/>
            <p:nvPr/>
          </p:nvSpPr>
          <p:spPr>
            <a:xfrm>
              <a:off x="656868" y="3632109"/>
              <a:ext cx="28559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2400" dirty="0">
                <a:latin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378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77982" y="0"/>
            <a:ext cx="12192000" cy="1143000"/>
          </a:xfrm>
        </p:spPr>
        <p:txBody>
          <a:bodyPr/>
          <a:lstStyle/>
          <a:p>
            <a:pPr algn="l" eaLnBrk="1" hangingPunct="1"/>
            <a:r>
              <a:rPr lang="zh-CN" altLang="en-US" dirty="0" smtClean="0"/>
              <a:t>仿生学派</a:t>
            </a:r>
            <a:endParaRPr 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65513" y="1325906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 smtClean="0"/>
              <a:t>灵感：人类神经元</a:t>
            </a:r>
            <a:endParaRPr lang="en-US" sz="2800" dirty="0"/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256817"/>
            <a:ext cx="5486400" cy="3229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矩形 1"/>
          <p:cNvSpPr/>
          <p:nvPr/>
        </p:nvSpPr>
        <p:spPr>
          <a:xfrm>
            <a:off x="419100" y="3341449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树突</a:t>
            </a:r>
          </a:p>
        </p:txBody>
      </p:sp>
      <p:sp>
        <p:nvSpPr>
          <p:cNvPr id="3" name="矩形 2"/>
          <p:cNvSpPr/>
          <p:nvPr/>
        </p:nvSpPr>
        <p:spPr>
          <a:xfrm>
            <a:off x="3505200" y="3966959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轴突</a:t>
            </a:r>
          </a:p>
        </p:txBody>
      </p:sp>
      <p:sp>
        <p:nvSpPr>
          <p:cNvPr id="5" name="矩形 4"/>
          <p:cNvSpPr/>
          <p:nvPr/>
        </p:nvSpPr>
        <p:spPr>
          <a:xfrm>
            <a:off x="2209800" y="266700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突触</a:t>
            </a:r>
          </a:p>
        </p:txBody>
      </p:sp>
      <p:sp>
        <p:nvSpPr>
          <p:cNvPr id="10" name="矩形 9"/>
          <p:cNvSpPr/>
          <p:nvPr/>
        </p:nvSpPr>
        <p:spPr>
          <a:xfrm>
            <a:off x="4800600" y="495300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突触</a:t>
            </a:r>
          </a:p>
        </p:txBody>
      </p:sp>
      <p:sp>
        <p:nvSpPr>
          <p:cNvPr id="6" name="矩形 5"/>
          <p:cNvSpPr/>
          <p:nvPr/>
        </p:nvSpPr>
        <p:spPr>
          <a:xfrm>
            <a:off x="2761818" y="447801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细胞核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839172"/>
            <a:ext cx="5695671" cy="364722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457700" y="6232645"/>
            <a:ext cx="86293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人类的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</a:rPr>
              <a:t>大脑约有</a:t>
            </a:r>
            <a:r>
              <a:rPr lang="en-US" altLang="zh-CN" b="1" dirty="0"/>
              <a:t>860</a:t>
            </a:r>
            <a:r>
              <a:rPr lang="zh-CN" altLang="en-US" b="1" dirty="0"/>
              <a:t>亿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</a:rPr>
              <a:t>个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神经元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</a:rPr>
              <a:t>，</a:t>
            </a:r>
            <a:r>
              <a:rPr lang="zh-CN" altLang="en-US" dirty="0" smtClean="0"/>
              <a:t>约</a:t>
            </a:r>
            <a:r>
              <a:rPr lang="en-US" altLang="zh-CN" b="1" dirty="0" smtClean="0"/>
              <a:t>100~1,000</a:t>
            </a:r>
            <a:r>
              <a:rPr lang="zh-CN" altLang="en-US" b="1" dirty="0"/>
              <a:t>万亿（</a:t>
            </a:r>
            <a:r>
              <a:rPr lang="en-US" altLang="zh-CN" b="1" dirty="0"/>
              <a:t>10¹⁴~10¹⁵</a:t>
            </a:r>
            <a:r>
              <a:rPr lang="zh-CN" altLang="en-US" b="1" dirty="0"/>
              <a:t>）个突触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401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352D5CE-1D19-4BEC-AA72-F9E105516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599" y="1170721"/>
            <a:ext cx="5887401" cy="4187414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30755" y="331531"/>
            <a:ext cx="7464387" cy="497934"/>
            <a:chOff x="4099943" y="2819853"/>
            <a:chExt cx="2570275" cy="497934"/>
          </a:xfrm>
        </p:grpSpPr>
        <p:sp>
          <p:nvSpPr>
            <p:cNvPr id="4" name="平行四边形 3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5" name="平行四边形 4"/>
            <p:cNvSpPr/>
            <p:nvPr/>
          </p:nvSpPr>
          <p:spPr bwMode="auto">
            <a:xfrm>
              <a:off x="4122533" y="2819853"/>
              <a:ext cx="2547685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216534" y="2853798"/>
              <a:ext cx="235968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前馈神经网络：神经元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3AA15EDD-17E8-41A2-8438-9BF013800155}"/>
              </a:ext>
            </a:extLst>
          </p:cNvPr>
          <p:cNvSpPr/>
          <p:nvPr/>
        </p:nvSpPr>
        <p:spPr>
          <a:xfrm>
            <a:off x="311127" y="1708945"/>
            <a:ext cx="5870598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在生物学中，神经元细胞有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兴奋与抑制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两种状态。大多数神经元细胞在正常情况下处于抑制状态，一旦某个神经元受到刺激并且电位超过一定的阈值后，这个神经元细胞就被激活，处于兴奋状态，并向其他神经元传递信息。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基于神经元细胞的结构特性与信息传递方式，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神经科学家瓦伦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·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麦卡洛克和逻辑学家沃尔特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·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皮茨合作提出了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MCP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。在人工神经网络中，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MCP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模型成为最基本的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0A81B79-C4F1-4565-9245-8D0712C8610F}"/>
                  </a:ext>
                </a:extLst>
              </p:cNvPr>
              <p:cNvSpPr/>
              <p:nvPr/>
            </p:nvSpPr>
            <p:spPr>
              <a:xfrm>
                <a:off x="7912154" y="1170721"/>
                <a:ext cx="3974057" cy="10764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y</m:t>
                      </m:r>
                      <m:r>
                        <a:rPr lang="en-US" altLang="zh-CN" sz="2000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1" i="1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𝚽</m:t>
                      </m:r>
                      <m:r>
                        <a:rPr lang="en-US" altLang="zh-CN" sz="2000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zh-CN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0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0A81B79-C4F1-4565-9245-8D0712C861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154" y="1170721"/>
                <a:ext cx="3974057" cy="10764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6313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352D5CE-1D19-4BEC-AA72-F9E105516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599" y="1060861"/>
            <a:ext cx="5887401" cy="4187414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30755" y="331531"/>
            <a:ext cx="7464387" cy="497934"/>
            <a:chOff x="4099943" y="2819853"/>
            <a:chExt cx="2570275" cy="497934"/>
          </a:xfrm>
        </p:grpSpPr>
        <p:sp>
          <p:nvSpPr>
            <p:cNvPr id="4" name="平行四边形 3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5" name="平行四边形 4"/>
            <p:cNvSpPr/>
            <p:nvPr/>
          </p:nvSpPr>
          <p:spPr bwMode="auto">
            <a:xfrm>
              <a:off x="4122533" y="2819853"/>
              <a:ext cx="2547685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216534" y="2853798"/>
              <a:ext cx="235968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前馈神经网络：神经元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AA15EDD-17E8-41A2-8438-9BF013800155}"/>
                  </a:ext>
                </a:extLst>
              </p:cNvPr>
              <p:cNvSpPr/>
              <p:nvPr/>
            </p:nvSpPr>
            <p:spPr>
              <a:xfrm>
                <a:off x="282552" y="1170721"/>
                <a:ext cx="5870598" cy="54938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spcAft>
                    <a:spcPts val="0"/>
                  </a:spcAft>
                  <a:buFont typeface="Wingdings" panose="05000000000000000000" pitchFamily="2" charset="2"/>
                  <a:buChar char="l"/>
                </a:pPr>
                <a:r>
                  <a:rPr lang="zh-CN" altLang="en-US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基于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神经元细胞的结构特性与信息传递方式，</a:t>
                </a:r>
                <a:r>
                  <a:rPr lang="zh-CN" altLang="en-US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神经科学家瓦伦</a:t>
                </a:r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·</a:t>
                </a:r>
                <a:r>
                  <a:rPr lang="zh-CN" altLang="en-US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麦卡洛克和逻辑学家沃尔特</a:t>
                </a:r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·</a:t>
                </a:r>
                <a:r>
                  <a:rPr lang="zh-CN" altLang="en-US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皮茨合作提出了</a:t>
                </a: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MCP</a:t>
                </a:r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模型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。在人工神经网络中，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MCP</a:t>
                </a:r>
                <a:r>
                  <a:rPr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模型成为最基本的结构</a:t>
                </a:r>
                <a:endPara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spcAft>
                    <a:spcPts val="0"/>
                  </a:spcAft>
                  <a:buFont typeface="Wingdings" panose="05000000000000000000" pitchFamily="2" charset="2"/>
                  <a:buChar char="l"/>
                </a:pPr>
                <a:r>
                  <a:rPr lang="zh-CN" altLang="zh-CN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给定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个二值化（</a:t>
                </a:r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或</a:t>
                </a:r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）的输入数据</a:t>
                </a:r>
                <a14:m>
                  <m:oMath xmlns:m="http://schemas.openxmlformats.org/officeDocument/2006/math">
                    <m:r>
                      <a:rPr lang="zh-CN" altLang="zh-CN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与连接参数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MCP</a:t>
                </a:r>
                <a:r>
                  <a:rPr lang="zh-CN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神经元模型对输入数据线性加权求和，然后使用函数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𝛟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zh-CN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将加权累加结果映射为</a:t>
                </a:r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或</a:t>
                </a:r>
                <a:r>
                  <a:rPr lang="en-US" altLang="zh-CN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。</a:t>
                </a:r>
                <a:endParaRPr lang="en-US" altLang="zh-CN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从另外一个角度来看，对于任何输入数据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MCP</a:t>
                </a:r>
                <a:r>
                  <a:rPr lang="zh-CN" altLang="zh-CN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模型实现</a:t>
                </a:r>
                <a:r>
                  <a:rPr lang="zh-CN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了将输入数据分类到</a:t>
                </a:r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或</a:t>
                </a:r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两个类别中，解决了二分类问题</a:t>
                </a:r>
                <a:r>
                  <a:rPr lang="zh-CN" altLang="zh-CN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en-US" altLang="zh-CN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MCP</a:t>
                </a:r>
                <a:r>
                  <a:rPr lang="zh-CN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神经元模型虽简单，却开启了建立神经网络大厦地基的征途。</a:t>
                </a:r>
                <a:endParaRPr lang="zh-CN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AA15EDD-17E8-41A2-8438-9BF013800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552" y="1170721"/>
                <a:ext cx="5870598" cy="5493812"/>
              </a:xfrm>
              <a:prstGeom prst="rect">
                <a:avLst/>
              </a:prstGeom>
              <a:blipFill>
                <a:blip r:embed="rId4"/>
                <a:stretch>
                  <a:fillRect l="-623" r="-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0A81B79-C4F1-4565-9245-8D0712C8610F}"/>
                  </a:ext>
                </a:extLst>
              </p:cNvPr>
              <p:cNvSpPr/>
              <p:nvPr/>
            </p:nvSpPr>
            <p:spPr>
              <a:xfrm>
                <a:off x="7912154" y="1170721"/>
                <a:ext cx="3974057" cy="10764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y</m:t>
                      </m:r>
                      <m:r>
                        <a:rPr lang="en-US" altLang="zh-CN" sz="2000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1" i="1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𝚽</m:t>
                      </m:r>
                      <m:r>
                        <a:rPr lang="en-US" altLang="zh-CN" sz="2000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zh-CN" altLang="zh-CN" sz="20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0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0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0A81B79-C4F1-4565-9245-8D0712C861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154" y="1170721"/>
                <a:ext cx="3974057" cy="10764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 descr="https://bkimg.cdn.bcebos.com/pic/d000baa1cd11728b445e79fccbfcc3cec2fd2cf8?x-bce-process=image/watermark,image_d2F0ZXIvYmFpa2UxMTY=,g_7,xp_5,yp_5/format,f_auto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9237"/>
          <a:stretch>
            <a:fillRect/>
          </a:stretch>
        </p:blipFill>
        <p:spPr bwMode="auto">
          <a:xfrm>
            <a:off x="9518149" y="5251448"/>
            <a:ext cx="2368062" cy="1497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6695584" y="5525178"/>
                <a:ext cx="28648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阈值</a:t>
                </a:r>
                <a:r>
                  <a:rPr lang="zh-CN" altLang="en-US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激活函数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𝛟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CN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阶跃函数</a:t>
                </a:r>
                <a:endParaRPr lang="en-US" altLang="zh-CN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584" y="5525178"/>
                <a:ext cx="2864887" cy="646331"/>
              </a:xfrm>
              <a:prstGeom prst="rect">
                <a:avLst/>
              </a:prstGeom>
              <a:blipFill>
                <a:blip r:embed="rId7"/>
                <a:stretch>
                  <a:fillRect l="-1702" t="-6604" r="-14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4236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25980" y="269748"/>
            <a:ext cx="7464387" cy="497934"/>
            <a:chOff x="4099943" y="2819853"/>
            <a:chExt cx="2570275" cy="497934"/>
          </a:xfrm>
        </p:grpSpPr>
        <p:sp>
          <p:nvSpPr>
            <p:cNvPr id="4" name="平行四边形 3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5" name="平行四边形 4"/>
            <p:cNvSpPr/>
            <p:nvPr/>
          </p:nvSpPr>
          <p:spPr bwMode="auto">
            <a:xfrm>
              <a:off x="4122533" y="2819853"/>
              <a:ext cx="2547685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216534" y="2853798"/>
              <a:ext cx="235968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前馈神经网络：感知机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AA15EDD-17E8-41A2-8438-9BF013800155}"/>
                  </a:ext>
                </a:extLst>
              </p:cNvPr>
              <p:cNvSpPr/>
              <p:nvPr/>
            </p:nvSpPr>
            <p:spPr>
              <a:xfrm>
                <a:off x="70339" y="1484266"/>
                <a:ext cx="5406536" cy="52629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spcAft>
                    <a:spcPts val="0"/>
                  </a:spcAft>
                  <a:buFont typeface="Wingdings" panose="05000000000000000000" pitchFamily="2" charset="2"/>
                  <a:buChar char="l"/>
                </a:pPr>
                <a:r>
                  <a:rPr lang="zh-CN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早期的</a:t>
                </a:r>
                <a:r>
                  <a:rPr lang="zh-CN" altLang="zh-CN" sz="16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感知机</a:t>
                </a:r>
                <a:r>
                  <a:rPr lang="zh-CN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结构和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MCP</a:t>
                </a:r>
                <a:r>
                  <a:rPr lang="zh-CN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模型相似，由一个输入层和一个输出层构成，因此也被称为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“</a:t>
                </a:r>
                <a:r>
                  <a:rPr lang="zh-CN" altLang="zh-CN" sz="16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单层感知机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zh-CN" sz="1600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对于具有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个输入以及对应连接权重系数为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的感知机，首先通过线性加权得到输入数据的累加结果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zh-CN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altLang="zh-CN" sz="16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600">
                        <a:latin typeface="Cambria Math" panose="02040503050406030204" pitchFamily="18" charset="0"/>
                      </a:rPr>
                      <m:t>+…+</m:t>
                    </m:r>
                    <m:r>
                      <a:rPr lang="en-US" altLang="zh-CN" sz="160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zh-CN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为偏置项（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bias</a:t>
                </a:r>
                <a:r>
                  <a:rPr lang="zh-CN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）。</a:t>
                </a:r>
                <a:r>
                  <a:rPr lang="zh-CN" altLang="zh-CN" sz="1600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然后</a:t>
                </a:r>
                <a:r>
                  <a:rPr lang="zh-CN" altLang="en-US" sz="1600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通过</a:t>
                </a:r>
                <a:r>
                  <a:rPr lang="zh-CN" altLang="zh-CN" sz="1600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激活函数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𝛟</m:t>
                    </m:r>
                    <m:r>
                      <a:rPr lang="en-US" altLang="zh-CN" sz="1600">
                        <a:latin typeface="Cambria Math" panose="02040503050406030204" pitchFamily="18" charset="0"/>
                      </a:rPr>
                      <m:t>(∙)</m:t>
                    </m:r>
                  </m:oMath>
                </a14:m>
                <a:r>
                  <a:rPr lang="zh-CN" altLang="en-US" sz="1600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将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zh-CN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与某一</a:t>
                </a:r>
                <a:r>
                  <a:rPr lang="zh-CN" altLang="zh-CN" sz="1600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阈值进行</a:t>
                </a:r>
                <a:r>
                  <a:rPr lang="zh-CN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比较，如果大于该阈值则感知器输出为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，否则输出为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-1</a:t>
                </a:r>
                <a:r>
                  <a:rPr lang="zh-CN" altLang="zh-CN" sz="1600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en-US" altLang="zh-CN" sz="1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感知机中的连接权重参数并不是预先设定好的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，而是通过多次迭代训练得到的。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具体而言，单层感知机构建损失函数，来计算模型预测值与数据真实值之间的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误差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，通过最小化损失函数取值，来优化模型参数。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endParaRPr lang="zh-CN" altLang="zh-CN" sz="16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spcAft>
                    <a:spcPts val="0"/>
                  </a:spcAft>
                  <a:buFont typeface="Wingdings" panose="05000000000000000000" pitchFamily="2" charset="2"/>
                  <a:buChar char="l"/>
                </a:pPr>
                <a:endPara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AA15EDD-17E8-41A2-8438-9BF013800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9" y="1484266"/>
                <a:ext cx="5406536" cy="5262979"/>
              </a:xfrm>
              <a:prstGeom prst="rect">
                <a:avLst/>
              </a:prstGeom>
              <a:blipFill>
                <a:blip r:embed="rId3"/>
                <a:stretch>
                  <a:fillRect l="-451" r="-4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E01A3989-5DB5-4D44-A58B-3DF101B2D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3483" y="1993363"/>
            <a:ext cx="6605546" cy="376237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04800" y="6264835"/>
            <a:ext cx="119089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err="1" smtClean="0">
                <a:latin typeface="微软雅黑" panose="020B0503020204020204" pitchFamily="34" charset="-122"/>
              </a:rPr>
              <a:t>Rosebblatt</a:t>
            </a:r>
            <a:r>
              <a:rPr lang="en-US" altLang="zh-CN" sz="1600" dirty="0" smtClean="0">
                <a:latin typeface="微软雅黑" panose="020B0503020204020204" pitchFamily="34" charset="-122"/>
              </a:rPr>
              <a:t>, </a:t>
            </a:r>
            <a:r>
              <a:rPr lang="en-US" altLang="zh-CN" sz="1600" dirty="0" smtClean="0">
                <a:latin typeface="Arial" panose="020B0604020202020204" pitchFamily="34" charset="0"/>
              </a:rPr>
              <a:t>The</a:t>
            </a:r>
            <a:r>
              <a:rPr lang="en-US" altLang="zh-CN" sz="1600" dirty="0">
                <a:latin typeface="Arial" panose="020B0604020202020204" pitchFamily="34" charset="0"/>
              </a:rPr>
              <a:t> perceptron: a probabilistic model for information storage and organization in the brain[J]. Psychological review, 1958, 65(6): 386-408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75666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7905" y="355473"/>
            <a:ext cx="7464387" cy="497934"/>
            <a:chOff x="4099943" y="2819853"/>
            <a:chExt cx="2570275" cy="497934"/>
          </a:xfrm>
        </p:grpSpPr>
        <p:sp>
          <p:nvSpPr>
            <p:cNvPr id="4" name="平行四边形 3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5" name="平行四边形 4"/>
            <p:cNvSpPr/>
            <p:nvPr/>
          </p:nvSpPr>
          <p:spPr bwMode="auto">
            <a:xfrm>
              <a:off x="4122533" y="2819853"/>
              <a:ext cx="2547685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216534" y="2853798"/>
              <a:ext cx="235968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前馈神经网络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2F9EB5A4-D5A1-43FD-8D13-88A81F02C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899" y="1609723"/>
            <a:ext cx="7867127" cy="407670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2DCCAD8-DEEE-467E-B1F3-33EF7B098F06}"/>
              </a:ext>
            </a:extLst>
          </p:cNvPr>
          <p:cNvSpPr/>
          <p:nvPr/>
        </p:nvSpPr>
        <p:spPr>
          <a:xfrm>
            <a:off x="262969" y="1609724"/>
            <a:ext cx="418993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zh-CN" sz="16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在感知机模型中增加若干隐藏层，增强神经网络的非线性表达能力，就会让神经网络具有更强的拟合能力。因此，由多个隐藏层构成的</a:t>
            </a:r>
            <a:r>
              <a:rPr lang="zh-CN" altLang="zh-CN" sz="1600" b="1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多层</a:t>
            </a:r>
            <a:r>
              <a:rPr lang="zh-CN" altLang="zh-CN" sz="1600" b="1" dirty="0" smtClean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感知机</a:t>
            </a:r>
            <a:r>
              <a:rPr lang="zh-CN" altLang="en-US" sz="1600" b="1" dirty="0" smtClean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600" b="1" dirty="0" smtClean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MLP</a:t>
            </a:r>
            <a:r>
              <a:rPr lang="zh-CN" altLang="en-US" sz="1600" b="1" dirty="0" smtClean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）</a:t>
            </a:r>
            <a:r>
              <a:rPr lang="zh-CN" altLang="zh-CN" sz="1600" dirty="0" smtClean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被</a:t>
            </a:r>
            <a:r>
              <a:rPr lang="zh-CN" altLang="zh-CN" sz="16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提出，这也被称为</a:t>
            </a:r>
            <a:r>
              <a:rPr lang="zh-CN" altLang="zh-CN" sz="1600" b="1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前馈</a:t>
            </a:r>
            <a:r>
              <a:rPr lang="zh-CN" altLang="zh-CN" sz="1600" b="1" dirty="0" smtClean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神经网络</a:t>
            </a:r>
            <a:r>
              <a:rPr lang="zh-CN" altLang="en-US" sz="1600" b="1" dirty="0" smtClean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（</a:t>
            </a:r>
            <a:r>
              <a:rPr lang="en-US" altLang="zh-CN" sz="1600" b="1" dirty="0" smtClean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FNN</a:t>
            </a:r>
            <a:r>
              <a:rPr lang="zh-CN" altLang="en-US" sz="1600" b="1" dirty="0" smtClean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）</a:t>
            </a:r>
            <a:r>
              <a:rPr lang="zh-CN" altLang="zh-CN" sz="1600" dirty="0" smtClean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  <a:endParaRPr lang="zh-CN" altLang="zh-CN" sz="1600" dirty="0">
              <a:solidFill>
                <a:srgbClr val="000000"/>
              </a:solidFill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 dirty="0" smtClean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zh-CN" sz="1600" dirty="0" smtClean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前馈</a:t>
            </a:r>
            <a:r>
              <a:rPr lang="zh-CN" altLang="zh-CN" sz="16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神经网络中相邻层所包含的神经元之间通常使用</a:t>
            </a:r>
            <a:r>
              <a:rPr lang="en-US" altLang="zh-CN" sz="16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“</a:t>
            </a:r>
            <a:r>
              <a:rPr lang="zh-CN" altLang="zh-CN" sz="16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全连接</a:t>
            </a:r>
            <a:r>
              <a:rPr lang="en-US" altLang="zh-CN" sz="16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”</a:t>
            </a:r>
            <a:r>
              <a:rPr lang="zh-CN" altLang="zh-CN" sz="16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方式进行连接。所谓</a:t>
            </a:r>
            <a:r>
              <a:rPr lang="en-US" altLang="zh-CN" sz="1600" b="1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“</a:t>
            </a:r>
            <a:r>
              <a:rPr lang="zh-CN" altLang="zh-CN" sz="1600" b="1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全连接</a:t>
            </a:r>
            <a:r>
              <a:rPr lang="en-US" altLang="zh-CN" sz="1600" b="1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”</a:t>
            </a:r>
            <a:r>
              <a:rPr lang="zh-CN" altLang="zh-CN" sz="1600" b="1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是指两个相邻层之间的神经元相互成对连接，但同一层内神经元之间没有连接</a:t>
            </a:r>
            <a:r>
              <a:rPr lang="zh-CN" altLang="zh-CN" sz="16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。</a:t>
            </a:r>
            <a:r>
              <a:rPr lang="zh-CN" altLang="zh-CN" sz="1600" dirty="0">
                <a:solidFill>
                  <a:srgbClr val="FF0000"/>
                </a:solidFill>
                <a:latin typeface="+mj-ea"/>
                <a:ea typeface="+mj-ea"/>
                <a:cs typeface="Times New Roman" panose="02020603050405020304" pitchFamily="18" charset="0"/>
              </a:rPr>
              <a:t>前馈神经网络可以模拟复杂非线性函数功能</a:t>
            </a:r>
            <a:r>
              <a:rPr lang="zh-CN" altLang="zh-CN" sz="1600" dirty="0">
                <a:solidFill>
                  <a:srgbClr val="000000"/>
                </a:solidFill>
                <a:latin typeface="+mj-ea"/>
                <a:ea typeface="+mj-ea"/>
                <a:cs typeface="Times New Roman" panose="02020603050405020304" pitchFamily="18" charset="0"/>
              </a:rPr>
              <a:t>，所模拟函数的复杂性取决于网络隐藏层数目和各层中神经元数目。</a:t>
            </a:r>
          </a:p>
        </p:txBody>
      </p:sp>
    </p:spTree>
    <p:extLst>
      <p:ext uri="{BB962C8B-B14F-4D97-AF65-F5344CB8AC3E}">
        <p14:creationId xmlns:p14="http://schemas.microsoft.com/office/powerpoint/2010/main" val="88219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279400"/>
            <a:ext cx="10515600" cy="1325563"/>
          </a:xfrm>
        </p:spPr>
        <p:txBody>
          <a:bodyPr/>
          <a:lstStyle/>
          <a:p>
            <a:r>
              <a:rPr lang="zh-CN" altLang="en-US" dirty="0"/>
              <a:t>前馈</a:t>
            </a:r>
            <a:r>
              <a:rPr lang="zh-CN" altLang="en-US" dirty="0" smtClean="0"/>
              <a:t>神经网络的表示能力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904999"/>
            <a:ext cx="5848350" cy="5107363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lnSpc>
                <a:spcPct val="200000"/>
              </a:lnSpc>
            </a:pPr>
            <a:r>
              <a:rPr lang="zh-CN" altLang="en-US" sz="2800" dirty="0">
                <a:ea typeface="微软雅黑" panose="020B0503020204020204" pitchFamily="34" charset="-122"/>
              </a:rPr>
              <a:t>万</a:t>
            </a:r>
            <a:r>
              <a:rPr lang="zh-CN" altLang="en-US" sz="2800" dirty="0" smtClean="0">
                <a:ea typeface="微软雅黑" panose="020B0503020204020204" pitchFamily="34" charset="-122"/>
              </a:rPr>
              <a:t>能近似定理</a:t>
            </a:r>
            <a:r>
              <a:rPr lang="zh-CN" altLang="en-US" sz="2800" dirty="0" smtClean="0">
                <a:solidFill>
                  <a:schemeClr val="tx2"/>
                </a:solidFill>
                <a:ea typeface="微软雅黑" panose="020B0503020204020204" pitchFamily="34" charset="-122"/>
              </a:rPr>
              <a:t>（</a:t>
            </a:r>
            <a:r>
              <a:rPr lang="zh-CN" altLang="en-US" dirty="0" smtClean="0"/>
              <a:t>神经网络</a:t>
            </a:r>
            <a:r>
              <a:rPr lang="en-US" altLang="zh-CN" dirty="0" smtClean="0"/>
              <a:t>=</a:t>
            </a:r>
            <a:r>
              <a:rPr lang="zh-CN" altLang="en-US" dirty="0" smtClean="0"/>
              <a:t>通用</a:t>
            </a:r>
            <a:r>
              <a:rPr lang="zh-CN" altLang="en-US" dirty="0"/>
              <a:t>逼近器</a:t>
            </a:r>
            <a:r>
              <a:rPr lang="zh-CN" altLang="en-US" sz="2800" dirty="0" smtClean="0">
                <a:solidFill>
                  <a:schemeClr val="tx2"/>
                </a:solidFill>
                <a:ea typeface="微软雅黑" panose="020B0503020204020204" pitchFamily="34" charset="-122"/>
              </a:rPr>
              <a:t>）</a:t>
            </a:r>
            <a:endParaRPr lang="en-US" altLang="zh-CN" sz="2800" dirty="0" smtClean="0">
              <a:solidFill>
                <a:schemeClr val="tx2"/>
              </a:solidFill>
              <a:ea typeface="微软雅黑" panose="020B0503020204020204" pitchFamily="34" charset="-122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zh-CN" altLang="en-US" sz="2900" dirty="0" smtClean="0"/>
              <a:t>        只需</a:t>
            </a:r>
            <a:r>
              <a:rPr lang="zh-CN" altLang="en-US" sz="2900" dirty="0"/>
              <a:t>要</a:t>
            </a:r>
            <a:r>
              <a:rPr lang="zh-CN" altLang="en-US" sz="2900" b="1" dirty="0">
                <a:solidFill>
                  <a:srgbClr val="FF0000"/>
                </a:solidFill>
              </a:rPr>
              <a:t>一个</a:t>
            </a:r>
            <a:r>
              <a:rPr lang="zh-CN" altLang="en-US" sz="2900" dirty="0"/>
              <a:t>包含</a:t>
            </a:r>
            <a:r>
              <a:rPr lang="zh-CN" altLang="en-US" sz="2900" dirty="0">
                <a:solidFill>
                  <a:srgbClr val="FF0000"/>
                </a:solidFill>
              </a:rPr>
              <a:t>足够多神经元</a:t>
            </a:r>
            <a:r>
              <a:rPr lang="zh-CN" altLang="en-US" sz="2900" dirty="0"/>
              <a:t>的隐</a:t>
            </a:r>
            <a:r>
              <a:rPr lang="zh-CN" altLang="en-US" sz="2900" dirty="0" smtClean="0"/>
              <a:t>层</a:t>
            </a:r>
            <a:r>
              <a:rPr lang="zh-CN" altLang="en-US" sz="2900" dirty="0"/>
              <a:t>，</a:t>
            </a:r>
            <a:r>
              <a:rPr lang="zh-CN" altLang="en-US" sz="2900" dirty="0" smtClean="0"/>
              <a:t>带有</a:t>
            </a:r>
            <a:r>
              <a:rPr lang="zh-CN" altLang="en-US" sz="2900" dirty="0">
                <a:solidFill>
                  <a:srgbClr val="FF0000"/>
                </a:solidFill>
              </a:rPr>
              <a:t>非线性</a:t>
            </a:r>
            <a:r>
              <a:rPr lang="zh-CN" altLang="en-US" sz="2900" dirty="0" smtClean="0">
                <a:solidFill>
                  <a:srgbClr val="FF0000"/>
                </a:solidFill>
              </a:rPr>
              <a:t>激活函数</a:t>
            </a:r>
            <a:r>
              <a:rPr lang="zh-CN" altLang="en-US" sz="2900" dirty="0" smtClean="0"/>
              <a:t>的多</a:t>
            </a:r>
            <a:r>
              <a:rPr lang="zh-CN" altLang="en-US" sz="2900" dirty="0"/>
              <a:t>层前馈神经网络就能以</a:t>
            </a:r>
            <a:r>
              <a:rPr lang="zh-CN" altLang="en-US" sz="2900" dirty="0">
                <a:solidFill>
                  <a:srgbClr val="FF0000"/>
                </a:solidFill>
              </a:rPr>
              <a:t>任意</a:t>
            </a:r>
            <a:r>
              <a:rPr lang="zh-CN" altLang="en-US" sz="2900" dirty="0"/>
              <a:t>精度逼近</a:t>
            </a:r>
            <a:r>
              <a:rPr lang="zh-CN" altLang="en-US" sz="2900" dirty="0">
                <a:solidFill>
                  <a:srgbClr val="FF0000"/>
                </a:solidFill>
              </a:rPr>
              <a:t>任意</a:t>
            </a:r>
            <a:r>
              <a:rPr lang="zh-CN" altLang="en-US" sz="2900" dirty="0"/>
              <a:t>复杂度的</a:t>
            </a:r>
            <a:r>
              <a:rPr lang="zh-CN" altLang="en-US" sz="2900" dirty="0">
                <a:solidFill>
                  <a:srgbClr val="FF0000"/>
                </a:solidFill>
              </a:rPr>
              <a:t>连续函数</a:t>
            </a:r>
            <a:r>
              <a:rPr lang="en-US" altLang="zh-CN" sz="2900" b="1" dirty="0">
                <a:solidFill>
                  <a:srgbClr val="C00000"/>
                </a:solidFill>
              </a:rPr>
              <a:t>[</a:t>
            </a:r>
            <a:r>
              <a:rPr lang="en-US" altLang="zh-CN" sz="2900" b="1" dirty="0" err="1">
                <a:solidFill>
                  <a:srgbClr val="C00000"/>
                </a:solidFill>
              </a:rPr>
              <a:t>Hornik</a:t>
            </a:r>
            <a:r>
              <a:rPr lang="en-US" altLang="zh-CN" sz="2900" b="1" dirty="0">
                <a:solidFill>
                  <a:srgbClr val="C00000"/>
                </a:solidFill>
              </a:rPr>
              <a:t> et al. ,  1989</a:t>
            </a:r>
            <a:r>
              <a:rPr lang="en-US" altLang="zh-CN" sz="2900" b="1" dirty="0" smtClean="0">
                <a:solidFill>
                  <a:srgbClr val="C00000"/>
                </a:solidFill>
              </a:rPr>
              <a:t>]</a:t>
            </a:r>
          </a:p>
          <a:p>
            <a:pPr marL="457200" lvl="1" indent="0">
              <a:lnSpc>
                <a:spcPct val="200000"/>
              </a:lnSpc>
              <a:buNone/>
            </a:pPr>
            <a:r>
              <a:rPr lang="en-US" altLang="zh-CN" sz="2900" dirty="0" smtClean="0">
                <a:solidFill>
                  <a:schemeClr val="accent2"/>
                </a:solidFill>
              </a:rPr>
              <a:t> </a:t>
            </a:r>
          </a:p>
          <a:p>
            <a:pPr marL="457200" lvl="1" indent="0">
              <a:lnSpc>
                <a:spcPct val="200000"/>
              </a:lnSpc>
              <a:buNone/>
            </a:pPr>
            <a:r>
              <a:rPr lang="zh-CN" altLang="en-US" sz="2900" dirty="0" smtClean="0">
                <a:solidFill>
                  <a:schemeClr val="accent2"/>
                </a:solidFill>
              </a:rPr>
              <a:t>不幸的是，并没有告诉我们如何解锁这个上限。</a:t>
            </a:r>
            <a:r>
              <a:rPr lang="en-US" altLang="zh-CN" sz="2900" dirty="0" smtClean="0">
                <a:solidFill>
                  <a:schemeClr val="accent2"/>
                </a:solidFill>
              </a:rPr>
              <a:t>                       </a:t>
            </a:r>
          </a:p>
          <a:p>
            <a:pPr marL="457200" lvl="1" indent="0">
              <a:lnSpc>
                <a:spcPct val="200000"/>
              </a:lnSpc>
              <a:buNone/>
            </a:pPr>
            <a:r>
              <a:rPr lang="en-US" altLang="zh-CN" sz="2000" dirty="0" smtClean="0"/>
              <a:t>                        </a:t>
            </a:r>
            <a:endParaRPr lang="en-US" altLang="zh-CN" sz="2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17D6318-216A-4F2A-A984-9F116259AE89}"/>
              </a:ext>
            </a:extLst>
          </p:cNvPr>
          <p:cNvSpPr/>
          <p:nvPr/>
        </p:nvSpPr>
        <p:spPr>
          <a:xfrm>
            <a:off x="381000" y="6235125"/>
            <a:ext cx="11658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31424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Hornik</a:t>
            </a:r>
            <a:r>
              <a:rPr lang="en-US" altLang="zh-CN" sz="1600" dirty="0">
                <a:solidFill>
                  <a:srgbClr val="31424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K., Stinchcombe, M. B., and White, H. (1989). Multilayer feedforward networks are universal </a:t>
            </a:r>
            <a:r>
              <a:rPr lang="en-US" altLang="zh-CN" sz="1600" dirty="0" err="1">
                <a:solidFill>
                  <a:srgbClr val="31424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approximators</a:t>
            </a:r>
            <a:r>
              <a:rPr lang="en-US" altLang="zh-CN" sz="1600" dirty="0">
                <a:solidFill>
                  <a:srgbClr val="31424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</a:p>
          <a:p>
            <a:r>
              <a:rPr lang="en-US" altLang="zh-CN" sz="1600" dirty="0" err="1">
                <a:solidFill>
                  <a:srgbClr val="31424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Cybenko</a:t>
            </a:r>
            <a:r>
              <a:rPr lang="en-US" altLang="zh-CN" sz="1600" dirty="0">
                <a:solidFill>
                  <a:srgbClr val="31424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(1989) “Approximations by </a:t>
            </a:r>
            <a:r>
              <a:rPr lang="en-US" altLang="zh-CN" sz="1600" dirty="0" err="1">
                <a:solidFill>
                  <a:srgbClr val="31424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superpositions</a:t>
            </a:r>
            <a:r>
              <a:rPr lang="en-US" altLang="zh-CN" sz="1600" dirty="0">
                <a:solidFill>
                  <a:srgbClr val="31424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of sigmoidal functions”</a:t>
            </a:r>
            <a:endParaRPr lang="zh-CN" altLang="en-US" sz="1600" dirty="0">
              <a:solidFill>
                <a:srgbClr val="31424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5" name="object 2"/>
          <p:cNvGrpSpPr/>
          <p:nvPr/>
        </p:nvGrpSpPr>
        <p:grpSpPr>
          <a:xfrm>
            <a:off x="4674394" y="2238375"/>
            <a:ext cx="8920163" cy="2820844"/>
            <a:chOff x="-4762" y="1026480"/>
            <a:chExt cx="12201525" cy="3498215"/>
          </a:xfrm>
        </p:grpSpPr>
        <p:pic>
          <p:nvPicPr>
            <p:cNvPr id="6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3624" y="1130363"/>
              <a:ext cx="7507513" cy="3365436"/>
            </a:xfrm>
            <a:prstGeom prst="rect">
              <a:avLst/>
            </a:prstGeom>
          </p:spPr>
        </p:pic>
        <p:sp>
          <p:nvSpPr>
            <p:cNvPr id="7" name="object 4"/>
            <p:cNvSpPr/>
            <p:nvPr/>
          </p:nvSpPr>
          <p:spPr>
            <a:xfrm>
              <a:off x="2296578" y="1116076"/>
              <a:ext cx="7599045" cy="3394075"/>
            </a:xfrm>
            <a:custGeom>
              <a:avLst/>
              <a:gdLst/>
              <a:ahLst/>
              <a:cxnLst/>
              <a:rect l="l" t="t" r="r" b="b"/>
              <a:pathLst>
                <a:path w="7599045" h="3394075">
                  <a:moveTo>
                    <a:pt x="0" y="0"/>
                  </a:moveTo>
                  <a:lnTo>
                    <a:pt x="7598848" y="0"/>
                  </a:lnTo>
                  <a:lnTo>
                    <a:pt x="7598848" y="3394012"/>
                  </a:lnTo>
                  <a:lnTo>
                    <a:pt x="0" y="3394012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2536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474" y="942181"/>
            <a:ext cx="5076825" cy="5238750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72954" y="1933632"/>
            <a:ext cx="126829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000000"/>
                </a:solidFill>
                <a:ea typeface="Helvetica" panose="020B0604020202020204" pitchFamily="34" charset="0"/>
              </a:rPr>
              <a:t>曲线函数：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858" y="2600855"/>
            <a:ext cx="3637547" cy="334246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12683" y="6321032"/>
            <a:ext cx="113666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本质上，使用一个单层神经网络构建了一个</a:t>
            </a:r>
            <a:r>
              <a:rPr lang="en-US" altLang="zh-CN" dirty="0"/>
              <a:t>lookup</a:t>
            </a:r>
            <a:r>
              <a:rPr lang="zh-CN" altLang="en-US" dirty="0"/>
              <a:t>表，不同区间对应不同的值，区间分的越细小，就越准确。</a:t>
            </a:r>
          </a:p>
        </p:txBody>
      </p:sp>
      <p:sp>
        <p:nvSpPr>
          <p:cNvPr id="9" name="矩形 8"/>
          <p:cNvSpPr/>
          <p:nvPr/>
        </p:nvSpPr>
        <p:spPr>
          <a:xfrm>
            <a:off x="10070889" y="5394736"/>
            <a:ext cx="16337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阈值激活函数</a:t>
            </a:r>
            <a:r>
              <a:rPr lang="en-US" altLang="zh-CN" i="1" dirty="0" smtClean="0"/>
              <a:t> </a:t>
            </a:r>
            <a:endParaRPr lang="zh-CN" altLang="en-US" i="1" dirty="0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381000" y="279400"/>
            <a:ext cx="10515600" cy="1325563"/>
          </a:xfrm>
        </p:spPr>
        <p:txBody>
          <a:bodyPr/>
          <a:lstStyle/>
          <a:p>
            <a:r>
              <a:rPr lang="zh-CN" altLang="en-US" dirty="0"/>
              <a:t>前馈</a:t>
            </a:r>
            <a:r>
              <a:rPr lang="zh-CN" altLang="en-US" dirty="0" smtClean="0"/>
              <a:t>神经网络的表示能力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9730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1EFC7-F189-6209-A72E-614D3E936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630522CE-BF99-1C2C-9E2C-76803CD02324}"/>
              </a:ext>
            </a:extLst>
          </p:cNvPr>
          <p:cNvGrpSpPr/>
          <p:nvPr/>
        </p:nvGrpSpPr>
        <p:grpSpPr>
          <a:xfrm>
            <a:off x="3869989" y="1594509"/>
            <a:ext cx="4452022" cy="4487848"/>
            <a:chOff x="3872379" y="1383943"/>
            <a:chExt cx="4452022" cy="4487848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A0ECAAFF-0D78-F81E-66DC-9A7C4C080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379" y="1383943"/>
              <a:ext cx="2161524" cy="2161524"/>
            </a:xfrm>
            <a:custGeom>
              <a:avLst/>
              <a:gdLst/>
              <a:ahLst/>
              <a:cxnLst>
                <a:cxn ang="0">
                  <a:pos x="673" y="233"/>
                </a:cxn>
                <a:cxn ang="0">
                  <a:pos x="233" y="233"/>
                </a:cxn>
                <a:cxn ang="0">
                  <a:pos x="233" y="673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673" y="233"/>
                </a:cxn>
              </a:cxnLst>
              <a:rect l="0" t="0" r="r" b="b"/>
              <a:pathLst>
                <a:path w="905" h="905">
                  <a:moveTo>
                    <a:pt x="673" y="233"/>
                  </a:moveTo>
                  <a:lnTo>
                    <a:pt x="233" y="233"/>
                  </a:lnTo>
                  <a:lnTo>
                    <a:pt x="233" y="673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673" y="23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C3115C7E-9558-718E-BA58-FE89B01EF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2877" y="1383943"/>
              <a:ext cx="2161524" cy="2161524"/>
            </a:xfrm>
            <a:custGeom>
              <a:avLst/>
              <a:gdLst/>
              <a:ahLst/>
              <a:cxnLst>
                <a:cxn ang="0">
                  <a:pos x="672" y="673"/>
                </a:cxn>
                <a:cxn ang="0">
                  <a:pos x="672" y="233"/>
                </a:cxn>
                <a:cxn ang="0">
                  <a:pos x="232" y="233"/>
                </a:cxn>
                <a:cxn ang="0">
                  <a:pos x="0" y="0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672" y="673"/>
                </a:cxn>
              </a:cxnLst>
              <a:rect l="0" t="0" r="r" b="b"/>
              <a:pathLst>
                <a:path w="905" h="905">
                  <a:moveTo>
                    <a:pt x="672" y="673"/>
                  </a:moveTo>
                  <a:lnTo>
                    <a:pt x="672" y="233"/>
                  </a:lnTo>
                  <a:lnTo>
                    <a:pt x="232" y="233"/>
                  </a:lnTo>
                  <a:lnTo>
                    <a:pt x="0" y="0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672" y="67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5C674E5A-1246-1811-6A98-F86077497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379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3" y="232"/>
                </a:cxn>
                <a:cxn ang="0">
                  <a:pos x="233" y="672"/>
                </a:cxn>
                <a:cxn ang="0">
                  <a:pos x="673" y="672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233" y="232"/>
                  </a:lnTo>
                  <a:lnTo>
                    <a:pt x="233" y="672"/>
                  </a:lnTo>
                  <a:lnTo>
                    <a:pt x="673" y="672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8567AC0D-A552-5BA9-4C32-F4A5369B7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2877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05"/>
                </a:cxn>
                <a:cxn ang="0">
                  <a:pos x="232" y="672"/>
                </a:cxn>
                <a:cxn ang="0">
                  <a:pos x="672" y="672"/>
                </a:cxn>
                <a:cxn ang="0">
                  <a:pos x="672" y="232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0" y="905"/>
                  </a:lnTo>
                  <a:lnTo>
                    <a:pt x="232" y="672"/>
                  </a:lnTo>
                  <a:lnTo>
                    <a:pt x="672" y="672"/>
                  </a:lnTo>
                  <a:lnTo>
                    <a:pt x="672" y="232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grpSp>
          <p:nvGrpSpPr>
            <p:cNvPr id="7" name="Group 44">
              <a:extLst>
                <a:ext uri="{FF2B5EF4-FFF2-40B4-BE49-F238E27FC236}">
                  <a16:creationId xmlns:a16="http://schemas.microsoft.com/office/drawing/2014/main" id="{C7096C22-7A18-CC04-F526-F57D5CC2E6F6}"/>
                </a:ext>
              </a:extLst>
            </p:cNvPr>
            <p:cNvGrpSpPr/>
            <p:nvPr/>
          </p:nvGrpSpPr>
          <p:grpSpPr>
            <a:xfrm>
              <a:off x="4569798" y="4627422"/>
              <a:ext cx="527842" cy="535007"/>
              <a:chOff x="3557588" y="3654425"/>
              <a:chExt cx="350838" cy="355600"/>
            </a:xfrm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4A1380A2-0863-55B6-BAE3-6FCEEBBD84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19501" y="3654425"/>
                <a:ext cx="288925" cy="163513"/>
              </a:xfrm>
              <a:custGeom>
                <a:avLst/>
                <a:gdLst/>
                <a:ahLst/>
                <a:cxnLst>
                  <a:cxn ang="0">
                    <a:pos x="40" y="55"/>
                  </a:cxn>
                  <a:cxn ang="0">
                    <a:pos x="41" y="55"/>
                  </a:cxn>
                  <a:cxn ang="0">
                    <a:pos x="95" y="55"/>
                  </a:cxn>
                  <a:cxn ang="0">
                    <a:pos x="97" y="55"/>
                  </a:cxn>
                  <a:cxn ang="0">
                    <a:pos x="97" y="53"/>
                  </a:cxn>
                  <a:cxn ang="0">
                    <a:pos x="78" y="15"/>
                  </a:cxn>
                  <a:cxn ang="0">
                    <a:pos x="38" y="0"/>
                  </a:cxn>
                  <a:cxn ang="0">
                    <a:pos x="1" y="13"/>
                  </a:cxn>
                  <a:cxn ang="0">
                    <a:pos x="0" y="15"/>
                  </a:cxn>
                  <a:cxn ang="0">
                    <a:pos x="1" y="16"/>
                  </a:cxn>
                  <a:cxn ang="0">
                    <a:pos x="40" y="55"/>
                  </a:cxn>
                  <a:cxn ang="0">
                    <a:pos x="32" y="34"/>
                  </a:cxn>
                  <a:cxn ang="0">
                    <a:pos x="48" y="11"/>
                  </a:cxn>
                  <a:cxn ang="0">
                    <a:pos x="53" y="12"/>
                  </a:cxn>
                  <a:cxn ang="0">
                    <a:pos x="36" y="38"/>
                  </a:cxn>
                  <a:cxn ang="0">
                    <a:pos x="32" y="34"/>
                  </a:cxn>
                  <a:cxn ang="0">
                    <a:pos x="38" y="10"/>
                  </a:cxn>
                  <a:cxn ang="0">
                    <a:pos x="40" y="10"/>
                  </a:cxn>
                  <a:cxn ang="0">
                    <a:pos x="27" y="29"/>
                  </a:cxn>
                  <a:cxn ang="0">
                    <a:pos x="23" y="25"/>
                  </a:cxn>
                  <a:cxn ang="0">
                    <a:pos x="33" y="10"/>
                  </a:cxn>
                  <a:cxn ang="0">
                    <a:pos x="38" y="10"/>
                  </a:cxn>
                  <a:cxn ang="0">
                    <a:pos x="23" y="12"/>
                  </a:cxn>
                  <a:cxn ang="0">
                    <a:pos x="18" y="19"/>
                  </a:cxn>
                  <a:cxn ang="0">
                    <a:pos x="14" y="16"/>
                  </a:cxn>
                  <a:cxn ang="0">
                    <a:pos x="21" y="13"/>
                  </a:cxn>
                  <a:cxn ang="0">
                    <a:pos x="23" y="12"/>
                  </a:cxn>
                  <a:cxn ang="0">
                    <a:pos x="69" y="46"/>
                  </a:cxn>
                  <a:cxn ang="0">
                    <a:pos x="79" y="31"/>
                  </a:cxn>
                  <a:cxn ang="0">
                    <a:pos x="81" y="34"/>
                  </a:cxn>
                  <a:cxn ang="0">
                    <a:pos x="73" y="46"/>
                  </a:cxn>
                  <a:cxn ang="0">
                    <a:pos x="69" y="46"/>
                  </a:cxn>
                  <a:cxn ang="0">
                    <a:pos x="82" y="46"/>
                  </a:cxn>
                  <a:cxn ang="0">
                    <a:pos x="85" y="41"/>
                  </a:cxn>
                  <a:cxn ang="0">
                    <a:pos x="86" y="46"/>
                  </a:cxn>
                  <a:cxn ang="0">
                    <a:pos x="82" y="46"/>
                  </a:cxn>
                  <a:cxn ang="0">
                    <a:pos x="54" y="46"/>
                  </a:cxn>
                  <a:cxn ang="0">
                    <a:pos x="70" y="22"/>
                  </a:cxn>
                  <a:cxn ang="0">
                    <a:pos x="72" y="23"/>
                  </a:cxn>
                  <a:cxn ang="0">
                    <a:pos x="74" y="25"/>
                  </a:cxn>
                  <a:cxn ang="0">
                    <a:pos x="60" y="46"/>
                  </a:cxn>
                  <a:cxn ang="0">
                    <a:pos x="54" y="46"/>
                  </a:cxn>
                  <a:cxn ang="0">
                    <a:pos x="46" y="46"/>
                  </a:cxn>
                  <a:cxn ang="0">
                    <a:pos x="44" y="46"/>
                  </a:cxn>
                  <a:cxn ang="0">
                    <a:pos x="41" y="43"/>
                  </a:cxn>
                  <a:cxn ang="0">
                    <a:pos x="60" y="15"/>
                  </a:cxn>
                  <a:cxn ang="0">
                    <a:pos x="65" y="17"/>
                  </a:cxn>
                  <a:cxn ang="0">
                    <a:pos x="46" y="46"/>
                  </a:cxn>
                  <a:cxn ang="0">
                    <a:pos x="46" y="46"/>
                  </a:cxn>
                  <a:cxn ang="0">
                    <a:pos x="46" y="46"/>
                  </a:cxn>
                </a:cxnLst>
                <a:rect l="0" t="0" r="r" b="b"/>
                <a:pathLst>
                  <a:path w="97" h="55">
                    <a:moveTo>
                      <a:pt x="40" y="55"/>
                    </a:moveTo>
                    <a:cubicBezTo>
                      <a:pt x="40" y="55"/>
                      <a:pt x="40" y="55"/>
                      <a:pt x="41" y="55"/>
                    </a:cubicBezTo>
                    <a:cubicBezTo>
                      <a:pt x="95" y="55"/>
                      <a:pt x="95" y="55"/>
                      <a:pt x="95" y="55"/>
                    </a:cubicBezTo>
                    <a:cubicBezTo>
                      <a:pt x="96" y="55"/>
                      <a:pt x="96" y="55"/>
                      <a:pt x="97" y="55"/>
                    </a:cubicBezTo>
                    <a:cubicBezTo>
                      <a:pt x="97" y="54"/>
                      <a:pt x="97" y="54"/>
                      <a:pt x="97" y="53"/>
                    </a:cubicBezTo>
                    <a:cubicBezTo>
                      <a:pt x="96" y="39"/>
                      <a:pt x="89" y="25"/>
                      <a:pt x="78" y="15"/>
                    </a:cubicBezTo>
                    <a:cubicBezTo>
                      <a:pt x="67" y="6"/>
                      <a:pt x="53" y="0"/>
                      <a:pt x="38" y="0"/>
                    </a:cubicBezTo>
                    <a:cubicBezTo>
                      <a:pt x="25" y="0"/>
                      <a:pt x="12" y="5"/>
                      <a:pt x="1" y="13"/>
                    </a:cubicBezTo>
                    <a:cubicBezTo>
                      <a:pt x="1" y="14"/>
                      <a:pt x="0" y="14"/>
                      <a:pt x="0" y="15"/>
                    </a:cubicBezTo>
                    <a:cubicBezTo>
                      <a:pt x="0" y="15"/>
                      <a:pt x="1" y="16"/>
                      <a:pt x="1" y="16"/>
                    </a:cubicBezTo>
                    <a:lnTo>
                      <a:pt x="40" y="55"/>
                    </a:lnTo>
                    <a:close/>
                    <a:moveTo>
                      <a:pt x="32" y="34"/>
                    </a:moveTo>
                    <a:cubicBezTo>
                      <a:pt x="48" y="11"/>
                      <a:pt x="48" y="11"/>
                      <a:pt x="48" y="11"/>
                    </a:cubicBezTo>
                    <a:cubicBezTo>
                      <a:pt x="50" y="11"/>
                      <a:pt x="51" y="12"/>
                      <a:pt x="53" y="12"/>
                    </a:cubicBezTo>
                    <a:cubicBezTo>
                      <a:pt x="36" y="38"/>
                      <a:pt x="36" y="38"/>
                      <a:pt x="36" y="38"/>
                    </a:cubicBezTo>
                    <a:lnTo>
                      <a:pt x="32" y="34"/>
                    </a:lnTo>
                    <a:close/>
                    <a:moveTo>
                      <a:pt x="38" y="10"/>
                    </a:moveTo>
                    <a:cubicBezTo>
                      <a:pt x="39" y="10"/>
                      <a:pt x="39" y="10"/>
                      <a:pt x="40" y="10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5" y="10"/>
                      <a:pt x="37" y="10"/>
                      <a:pt x="38" y="10"/>
                    </a:cubicBezTo>
                    <a:close/>
                    <a:moveTo>
                      <a:pt x="23" y="12"/>
                    </a:moveTo>
                    <a:cubicBezTo>
                      <a:pt x="18" y="19"/>
                      <a:pt x="18" y="19"/>
                      <a:pt x="18" y="19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5"/>
                      <a:pt x="19" y="14"/>
                      <a:pt x="21" y="13"/>
                    </a:cubicBezTo>
                    <a:cubicBezTo>
                      <a:pt x="22" y="13"/>
                      <a:pt x="22" y="12"/>
                      <a:pt x="23" y="12"/>
                    </a:cubicBezTo>
                    <a:close/>
                    <a:moveTo>
                      <a:pt x="69" y="46"/>
                    </a:moveTo>
                    <a:cubicBezTo>
                      <a:pt x="79" y="31"/>
                      <a:pt x="79" y="31"/>
                      <a:pt x="79" y="31"/>
                    </a:cubicBezTo>
                    <a:cubicBezTo>
                      <a:pt x="80" y="32"/>
                      <a:pt x="80" y="33"/>
                      <a:pt x="81" y="34"/>
                    </a:cubicBezTo>
                    <a:cubicBezTo>
                      <a:pt x="73" y="46"/>
                      <a:pt x="73" y="46"/>
                      <a:pt x="73" y="46"/>
                    </a:cubicBezTo>
                    <a:lnTo>
                      <a:pt x="69" y="46"/>
                    </a:lnTo>
                    <a:close/>
                    <a:moveTo>
                      <a:pt x="82" y="46"/>
                    </a:moveTo>
                    <a:cubicBezTo>
                      <a:pt x="85" y="41"/>
                      <a:pt x="85" y="41"/>
                      <a:pt x="85" y="41"/>
                    </a:cubicBezTo>
                    <a:cubicBezTo>
                      <a:pt x="85" y="43"/>
                      <a:pt x="86" y="44"/>
                      <a:pt x="86" y="46"/>
                    </a:cubicBezTo>
                    <a:lnTo>
                      <a:pt x="82" y="46"/>
                    </a:lnTo>
                    <a:close/>
                    <a:moveTo>
                      <a:pt x="54" y="46"/>
                    </a:moveTo>
                    <a:cubicBezTo>
                      <a:pt x="70" y="22"/>
                      <a:pt x="70" y="22"/>
                      <a:pt x="70" y="22"/>
                    </a:cubicBezTo>
                    <a:cubicBezTo>
                      <a:pt x="71" y="22"/>
                      <a:pt x="71" y="22"/>
                      <a:pt x="72" y="23"/>
                    </a:cubicBezTo>
                    <a:cubicBezTo>
                      <a:pt x="73" y="24"/>
                      <a:pt x="73" y="24"/>
                      <a:pt x="74" y="25"/>
                    </a:cubicBezTo>
                    <a:cubicBezTo>
                      <a:pt x="60" y="46"/>
                      <a:pt x="60" y="46"/>
                      <a:pt x="60" y="46"/>
                    </a:cubicBezTo>
                    <a:lnTo>
                      <a:pt x="54" y="46"/>
                    </a:lnTo>
                    <a:close/>
                    <a:moveTo>
                      <a:pt x="46" y="46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60" y="15"/>
                      <a:pt x="60" y="15"/>
                      <a:pt x="60" y="15"/>
                    </a:cubicBezTo>
                    <a:cubicBezTo>
                      <a:pt x="62" y="16"/>
                      <a:pt x="63" y="16"/>
                      <a:pt x="65" y="17"/>
                    </a:cubicBezTo>
                    <a:lnTo>
                      <a:pt x="46" y="46"/>
                    </a:lnTo>
                    <a:close/>
                    <a:moveTo>
                      <a:pt x="46" y="46"/>
                    </a:moveTo>
                    <a:cubicBezTo>
                      <a:pt x="46" y="46"/>
                      <a:pt x="46" y="46"/>
                      <a:pt x="46" y="4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35C59EC1-802B-3B7A-6F08-7379AB72BF9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57588" y="3719513"/>
                <a:ext cx="157163" cy="254000"/>
              </a:xfrm>
              <a:custGeom>
                <a:avLst/>
                <a:gdLst/>
                <a:ahLst/>
                <a:cxnLst>
                  <a:cxn ang="0">
                    <a:pos x="53" y="37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13" y="0"/>
                  </a:cxn>
                  <a:cxn ang="0">
                    <a:pos x="0" y="38"/>
                  </a:cxn>
                  <a:cxn ang="0">
                    <a:pos x="23" y="85"/>
                  </a:cxn>
                  <a:cxn ang="0">
                    <a:pos x="24" y="85"/>
                  </a:cxn>
                  <a:cxn ang="0">
                    <a:pos x="24" y="85"/>
                  </a:cxn>
                  <a:cxn ang="0">
                    <a:pos x="26" y="84"/>
                  </a:cxn>
                  <a:cxn ang="0">
                    <a:pos x="53" y="40"/>
                  </a:cxn>
                  <a:cxn ang="0">
                    <a:pos x="53" y="37"/>
                  </a:cxn>
                  <a:cxn ang="0">
                    <a:pos x="42" y="40"/>
                  </a:cxn>
                  <a:cxn ang="0">
                    <a:pos x="22" y="71"/>
                  </a:cxn>
                  <a:cxn ang="0">
                    <a:pos x="15" y="60"/>
                  </a:cxn>
                  <a:cxn ang="0">
                    <a:pos x="9" y="38"/>
                  </a:cxn>
                  <a:cxn ang="0">
                    <a:pos x="12" y="20"/>
                  </a:cxn>
                  <a:cxn ang="0">
                    <a:pos x="16" y="14"/>
                  </a:cxn>
                  <a:cxn ang="0">
                    <a:pos x="42" y="40"/>
                  </a:cxn>
                  <a:cxn ang="0">
                    <a:pos x="42" y="40"/>
                  </a:cxn>
                  <a:cxn ang="0">
                    <a:pos x="42" y="40"/>
                  </a:cxn>
                </a:cxnLst>
                <a:rect l="0" t="0" r="r" b="b"/>
                <a:pathLst>
                  <a:path w="53" h="85">
                    <a:moveTo>
                      <a:pt x="53" y="37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5" y="0"/>
                      <a:pt x="14" y="0"/>
                    </a:cubicBezTo>
                    <a:cubicBezTo>
                      <a:pt x="14" y="0"/>
                      <a:pt x="13" y="0"/>
                      <a:pt x="13" y="0"/>
                    </a:cubicBezTo>
                    <a:cubicBezTo>
                      <a:pt x="5" y="11"/>
                      <a:pt x="0" y="24"/>
                      <a:pt x="0" y="38"/>
                    </a:cubicBezTo>
                    <a:cubicBezTo>
                      <a:pt x="0" y="56"/>
                      <a:pt x="8" y="73"/>
                      <a:pt x="23" y="85"/>
                    </a:cubicBezTo>
                    <a:cubicBezTo>
                      <a:pt x="23" y="85"/>
                      <a:pt x="24" y="85"/>
                      <a:pt x="24" y="85"/>
                    </a:cubicBezTo>
                    <a:cubicBezTo>
                      <a:pt x="24" y="85"/>
                      <a:pt x="24" y="85"/>
                      <a:pt x="24" y="85"/>
                    </a:cubicBezTo>
                    <a:cubicBezTo>
                      <a:pt x="25" y="85"/>
                      <a:pt x="25" y="85"/>
                      <a:pt x="26" y="84"/>
                    </a:cubicBezTo>
                    <a:cubicBezTo>
                      <a:pt x="53" y="40"/>
                      <a:pt x="53" y="40"/>
                      <a:pt x="53" y="40"/>
                    </a:cubicBezTo>
                    <a:cubicBezTo>
                      <a:pt x="53" y="39"/>
                      <a:pt x="53" y="38"/>
                      <a:pt x="53" y="37"/>
                    </a:cubicBezTo>
                    <a:close/>
                    <a:moveTo>
                      <a:pt x="42" y="40"/>
                    </a:moveTo>
                    <a:cubicBezTo>
                      <a:pt x="22" y="71"/>
                      <a:pt x="22" y="71"/>
                      <a:pt x="22" y="71"/>
                    </a:cubicBezTo>
                    <a:cubicBezTo>
                      <a:pt x="19" y="68"/>
                      <a:pt x="17" y="64"/>
                      <a:pt x="15" y="60"/>
                    </a:cubicBezTo>
                    <a:cubicBezTo>
                      <a:pt x="11" y="53"/>
                      <a:pt x="9" y="46"/>
                      <a:pt x="9" y="38"/>
                    </a:cubicBezTo>
                    <a:cubicBezTo>
                      <a:pt x="9" y="32"/>
                      <a:pt x="10" y="26"/>
                      <a:pt x="12" y="20"/>
                    </a:cubicBezTo>
                    <a:cubicBezTo>
                      <a:pt x="13" y="18"/>
                      <a:pt x="14" y="16"/>
                      <a:pt x="16" y="14"/>
                    </a:cubicBezTo>
                    <a:lnTo>
                      <a:pt x="42" y="40"/>
                    </a:lnTo>
                    <a:close/>
                    <a:moveTo>
                      <a:pt x="42" y="40"/>
                    </a:moveTo>
                    <a:cubicBezTo>
                      <a:pt x="42" y="40"/>
                      <a:pt x="42" y="40"/>
                      <a:pt x="42" y="4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87F1F893-B51A-3BF1-C532-3EC9ED986B8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56013" y="3844925"/>
                <a:ext cx="252413" cy="165100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30" y="0"/>
                  </a:cxn>
                  <a:cxn ang="0">
                    <a:pos x="28" y="1"/>
                  </a:cxn>
                  <a:cxn ang="0">
                    <a:pos x="0" y="47"/>
                  </a:cxn>
                  <a:cxn ang="0">
                    <a:pos x="0" y="48"/>
                  </a:cxn>
                  <a:cxn ang="0">
                    <a:pos x="1" y="49"/>
                  </a:cxn>
                  <a:cxn ang="0">
                    <a:pos x="26" y="55"/>
                  </a:cxn>
                  <a:cxn ang="0">
                    <a:pos x="66" y="40"/>
                  </a:cxn>
                  <a:cxn ang="0">
                    <a:pos x="85" y="2"/>
                  </a:cxn>
                  <a:cxn ang="0">
                    <a:pos x="85" y="1"/>
                  </a:cxn>
                  <a:cxn ang="0">
                    <a:pos x="83" y="0"/>
                  </a:cxn>
                  <a:cxn ang="0">
                    <a:pos x="83" y="0"/>
                  </a:cxn>
                  <a:cxn ang="0">
                    <a:pos x="83" y="0"/>
                  </a:cxn>
                </a:cxnLst>
                <a:rect l="0" t="0" r="r" b="b"/>
                <a:pathLst>
                  <a:path w="85" h="55">
                    <a:moveTo>
                      <a:pt x="8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29" y="0"/>
                      <a:pt x="29" y="0"/>
                      <a:pt x="28" y="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7"/>
                      <a:pt x="0" y="48"/>
                      <a:pt x="0" y="48"/>
                    </a:cubicBezTo>
                    <a:cubicBezTo>
                      <a:pt x="0" y="49"/>
                      <a:pt x="0" y="49"/>
                      <a:pt x="1" y="49"/>
                    </a:cubicBezTo>
                    <a:cubicBezTo>
                      <a:pt x="9" y="53"/>
                      <a:pt x="17" y="55"/>
                      <a:pt x="26" y="55"/>
                    </a:cubicBezTo>
                    <a:cubicBezTo>
                      <a:pt x="41" y="55"/>
                      <a:pt x="55" y="50"/>
                      <a:pt x="66" y="40"/>
                    </a:cubicBezTo>
                    <a:cubicBezTo>
                      <a:pt x="77" y="30"/>
                      <a:pt x="84" y="17"/>
                      <a:pt x="85" y="2"/>
                    </a:cubicBezTo>
                    <a:cubicBezTo>
                      <a:pt x="85" y="2"/>
                      <a:pt x="85" y="1"/>
                      <a:pt x="85" y="1"/>
                    </a:cubicBezTo>
                    <a:cubicBezTo>
                      <a:pt x="84" y="0"/>
                      <a:pt x="84" y="0"/>
                      <a:pt x="83" y="0"/>
                    </a:cubicBezTo>
                    <a:close/>
                    <a:moveTo>
                      <a:pt x="83" y="0"/>
                    </a:moveTo>
                    <a:cubicBezTo>
                      <a:pt x="83" y="0"/>
                      <a:pt x="83" y="0"/>
                      <a:pt x="83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grpSp>
          <p:nvGrpSpPr>
            <p:cNvPr id="8" name="Group 48">
              <a:extLst>
                <a:ext uri="{FF2B5EF4-FFF2-40B4-BE49-F238E27FC236}">
                  <a16:creationId xmlns:a16="http://schemas.microsoft.com/office/drawing/2014/main" id="{9943C6E0-3A21-E68D-5ABB-CE1158C5D321}"/>
                </a:ext>
              </a:extLst>
            </p:cNvPr>
            <p:cNvGrpSpPr/>
            <p:nvPr/>
          </p:nvGrpSpPr>
          <p:grpSpPr>
            <a:xfrm>
              <a:off x="7025097" y="2098082"/>
              <a:ext cx="606660" cy="539784"/>
              <a:chOff x="5189538" y="1973263"/>
              <a:chExt cx="403225" cy="358775"/>
            </a:xfrm>
          </p:grpSpPr>
          <p:sp>
            <p:nvSpPr>
              <p:cNvPr id="18" name="Freeform 12">
                <a:extLst>
                  <a:ext uri="{FF2B5EF4-FFF2-40B4-BE49-F238E27FC236}">
                    <a16:creationId xmlns:a16="http://schemas.microsoft.com/office/drawing/2014/main" id="{70DC6184-5D36-2771-E4F8-12E0D6B900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10188" y="1973263"/>
                <a:ext cx="282575" cy="260350"/>
              </a:xfrm>
              <a:custGeom>
                <a:avLst/>
                <a:gdLst/>
                <a:ahLst/>
                <a:cxnLst>
                  <a:cxn ang="0">
                    <a:pos x="3" y="23"/>
                  </a:cxn>
                  <a:cxn ang="0">
                    <a:pos x="13" y="25"/>
                  </a:cxn>
                  <a:cxn ang="0">
                    <a:pos x="54" y="33"/>
                  </a:cxn>
                  <a:cxn ang="0">
                    <a:pos x="65" y="55"/>
                  </a:cxn>
                  <a:cxn ang="0">
                    <a:pos x="61" y="52"/>
                  </a:cxn>
                  <a:cxn ang="0">
                    <a:pos x="56" y="52"/>
                  </a:cxn>
                  <a:cxn ang="0">
                    <a:pos x="55" y="57"/>
                  </a:cxn>
                  <a:cxn ang="0">
                    <a:pos x="65" y="85"/>
                  </a:cxn>
                  <a:cxn ang="0">
                    <a:pos x="68" y="87"/>
                  </a:cxn>
                  <a:cxn ang="0">
                    <a:pos x="72" y="86"/>
                  </a:cxn>
                  <a:cxn ang="0">
                    <a:pos x="93" y="65"/>
                  </a:cxn>
                  <a:cxn ang="0">
                    <a:pos x="94" y="60"/>
                  </a:cxn>
                  <a:cxn ang="0">
                    <a:pos x="90" y="58"/>
                  </a:cxn>
                  <a:cxn ang="0">
                    <a:pos x="83" y="60"/>
                  </a:cxn>
                  <a:cxn ang="0">
                    <a:pos x="67" y="21"/>
                  </a:cxn>
                  <a:cxn ang="0">
                    <a:pos x="6" y="9"/>
                  </a:cxn>
                  <a:cxn ang="0">
                    <a:pos x="1" y="15"/>
                  </a:cxn>
                  <a:cxn ang="0">
                    <a:pos x="3" y="23"/>
                  </a:cxn>
                  <a:cxn ang="0">
                    <a:pos x="3" y="23"/>
                  </a:cxn>
                  <a:cxn ang="0">
                    <a:pos x="3" y="23"/>
                  </a:cxn>
                </a:cxnLst>
                <a:rect l="0" t="0" r="r" b="b"/>
                <a:pathLst>
                  <a:path w="95" h="87">
                    <a:moveTo>
                      <a:pt x="3" y="23"/>
                    </a:moveTo>
                    <a:cubicBezTo>
                      <a:pt x="6" y="26"/>
                      <a:pt x="10" y="27"/>
                      <a:pt x="13" y="25"/>
                    </a:cubicBezTo>
                    <a:cubicBezTo>
                      <a:pt x="27" y="20"/>
                      <a:pt x="43" y="22"/>
                      <a:pt x="54" y="33"/>
                    </a:cubicBezTo>
                    <a:cubicBezTo>
                      <a:pt x="60" y="39"/>
                      <a:pt x="64" y="47"/>
                      <a:pt x="65" y="55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59" y="51"/>
                      <a:pt x="57" y="51"/>
                      <a:pt x="56" y="52"/>
                    </a:cubicBezTo>
                    <a:cubicBezTo>
                      <a:pt x="55" y="53"/>
                      <a:pt x="54" y="55"/>
                      <a:pt x="55" y="57"/>
                    </a:cubicBezTo>
                    <a:cubicBezTo>
                      <a:pt x="65" y="85"/>
                      <a:pt x="65" y="85"/>
                      <a:pt x="65" y="85"/>
                    </a:cubicBezTo>
                    <a:cubicBezTo>
                      <a:pt x="66" y="86"/>
                      <a:pt x="67" y="87"/>
                      <a:pt x="68" y="87"/>
                    </a:cubicBezTo>
                    <a:cubicBezTo>
                      <a:pt x="69" y="87"/>
                      <a:pt x="71" y="87"/>
                      <a:pt x="72" y="86"/>
                    </a:cubicBezTo>
                    <a:cubicBezTo>
                      <a:pt x="93" y="65"/>
                      <a:pt x="93" y="65"/>
                      <a:pt x="93" y="65"/>
                    </a:cubicBezTo>
                    <a:cubicBezTo>
                      <a:pt x="94" y="64"/>
                      <a:pt x="95" y="62"/>
                      <a:pt x="94" y="60"/>
                    </a:cubicBezTo>
                    <a:cubicBezTo>
                      <a:pt x="93" y="59"/>
                      <a:pt x="91" y="58"/>
                      <a:pt x="90" y="58"/>
                    </a:cubicBezTo>
                    <a:cubicBezTo>
                      <a:pt x="83" y="60"/>
                      <a:pt x="83" y="60"/>
                      <a:pt x="83" y="60"/>
                    </a:cubicBezTo>
                    <a:cubicBezTo>
                      <a:pt x="83" y="46"/>
                      <a:pt x="77" y="31"/>
                      <a:pt x="67" y="21"/>
                    </a:cubicBezTo>
                    <a:cubicBezTo>
                      <a:pt x="50" y="4"/>
                      <a:pt x="26" y="0"/>
                      <a:pt x="6" y="9"/>
                    </a:cubicBezTo>
                    <a:cubicBezTo>
                      <a:pt x="4" y="10"/>
                      <a:pt x="1" y="12"/>
                      <a:pt x="1" y="15"/>
                    </a:cubicBezTo>
                    <a:cubicBezTo>
                      <a:pt x="0" y="18"/>
                      <a:pt x="1" y="21"/>
                      <a:pt x="3" y="23"/>
                    </a:cubicBezTo>
                    <a:close/>
                    <a:moveTo>
                      <a:pt x="3" y="23"/>
                    </a:moveTo>
                    <a:cubicBezTo>
                      <a:pt x="3" y="23"/>
                      <a:pt x="3" y="23"/>
                      <a:pt x="3" y="23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9" name="Freeform 13">
                <a:extLst>
                  <a:ext uri="{FF2B5EF4-FFF2-40B4-BE49-F238E27FC236}">
                    <a16:creationId xmlns:a16="http://schemas.microsoft.com/office/drawing/2014/main" id="{BA0B801C-B3B0-EE98-B69D-74762A7A167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89538" y="2071688"/>
                <a:ext cx="280988" cy="260350"/>
              </a:xfrm>
              <a:custGeom>
                <a:avLst/>
                <a:gdLst/>
                <a:ahLst/>
                <a:cxnLst>
                  <a:cxn ang="0">
                    <a:pos x="94" y="72"/>
                  </a:cxn>
                  <a:cxn ang="0">
                    <a:pos x="91" y="64"/>
                  </a:cxn>
                  <a:cxn ang="0">
                    <a:pos x="82" y="62"/>
                  </a:cxn>
                  <a:cxn ang="0">
                    <a:pos x="41" y="54"/>
                  </a:cxn>
                  <a:cxn ang="0">
                    <a:pos x="30" y="32"/>
                  </a:cxn>
                  <a:cxn ang="0">
                    <a:pos x="34" y="35"/>
                  </a:cxn>
                  <a:cxn ang="0">
                    <a:pos x="39" y="35"/>
                  </a:cxn>
                  <a:cxn ang="0">
                    <a:pos x="40" y="31"/>
                  </a:cxn>
                  <a:cxn ang="0">
                    <a:pos x="29" y="2"/>
                  </a:cxn>
                  <a:cxn ang="0">
                    <a:pos x="26" y="0"/>
                  </a:cxn>
                  <a:cxn ang="0">
                    <a:pos x="23" y="1"/>
                  </a:cxn>
                  <a:cxn ang="0">
                    <a:pos x="1" y="22"/>
                  </a:cxn>
                  <a:cxn ang="0">
                    <a:pos x="1" y="27"/>
                  </a:cxn>
                  <a:cxn ang="0">
                    <a:pos x="5" y="29"/>
                  </a:cxn>
                  <a:cxn ang="0">
                    <a:pos x="12" y="28"/>
                  </a:cxn>
                  <a:cxn ang="0">
                    <a:pos x="28" y="66"/>
                  </a:cxn>
                  <a:cxn ang="0">
                    <a:pos x="88" y="79"/>
                  </a:cxn>
                  <a:cxn ang="0">
                    <a:pos x="94" y="72"/>
                  </a:cxn>
                  <a:cxn ang="0">
                    <a:pos x="94" y="72"/>
                  </a:cxn>
                  <a:cxn ang="0">
                    <a:pos x="94" y="72"/>
                  </a:cxn>
                </a:cxnLst>
                <a:rect l="0" t="0" r="r" b="b"/>
                <a:pathLst>
                  <a:path w="94" h="87">
                    <a:moveTo>
                      <a:pt x="94" y="72"/>
                    </a:moveTo>
                    <a:cubicBezTo>
                      <a:pt x="94" y="69"/>
                      <a:pt x="93" y="66"/>
                      <a:pt x="91" y="64"/>
                    </a:cubicBezTo>
                    <a:cubicBezTo>
                      <a:pt x="89" y="61"/>
                      <a:pt x="85" y="61"/>
                      <a:pt x="82" y="62"/>
                    </a:cubicBezTo>
                    <a:cubicBezTo>
                      <a:pt x="68" y="68"/>
                      <a:pt x="52" y="65"/>
                      <a:pt x="41" y="54"/>
                    </a:cubicBezTo>
                    <a:cubicBezTo>
                      <a:pt x="34" y="48"/>
                      <a:pt x="31" y="40"/>
                      <a:pt x="30" y="32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7" y="36"/>
                      <a:pt x="39" y="35"/>
                    </a:cubicBezTo>
                    <a:cubicBezTo>
                      <a:pt x="40" y="34"/>
                      <a:pt x="41" y="32"/>
                      <a:pt x="40" y="31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5" y="0"/>
                      <a:pt x="24" y="0"/>
                      <a:pt x="23" y="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4"/>
                      <a:pt x="0" y="25"/>
                      <a:pt x="1" y="27"/>
                    </a:cubicBezTo>
                    <a:cubicBezTo>
                      <a:pt x="2" y="28"/>
                      <a:pt x="3" y="29"/>
                      <a:pt x="5" y="29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42"/>
                      <a:pt x="17" y="56"/>
                      <a:pt x="28" y="66"/>
                    </a:cubicBezTo>
                    <a:cubicBezTo>
                      <a:pt x="44" y="83"/>
                      <a:pt x="68" y="87"/>
                      <a:pt x="88" y="79"/>
                    </a:cubicBezTo>
                    <a:cubicBezTo>
                      <a:pt x="91" y="77"/>
                      <a:pt x="93" y="75"/>
                      <a:pt x="94" y="72"/>
                    </a:cubicBezTo>
                    <a:close/>
                    <a:moveTo>
                      <a:pt x="94" y="72"/>
                    </a:moveTo>
                    <a:cubicBezTo>
                      <a:pt x="94" y="72"/>
                      <a:pt x="94" y="72"/>
                      <a:pt x="94" y="72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grpSp>
          <p:nvGrpSpPr>
            <p:cNvPr id="9" name="Group 51">
              <a:extLst>
                <a:ext uri="{FF2B5EF4-FFF2-40B4-BE49-F238E27FC236}">
                  <a16:creationId xmlns:a16="http://schemas.microsoft.com/office/drawing/2014/main" id="{26FBF4FB-827C-6AF7-3427-35C4B2BCE2E6}"/>
                </a:ext>
              </a:extLst>
            </p:cNvPr>
            <p:cNvGrpSpPr/>
            <p:nvPr/>
          </p:nvGrpSpPr>
          <p:grpSpPr>
            <a:xfrm>
              <a:off x="6984495" y="4601150"/>
              <a:ext cx="599495" cy="587552"/>
              <a:chOff x="5162551" y="3636963"/>
              <a:chExt cx="398463" cy="390525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66BA17DF-0983-019B-C82E-340E3F754C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62551" y="3636963"/>
                <a:ext cx="233363" cy="234950"/>
              </a:xfrm>
              <a:custGeom>
                <a:avLst/>
                <a:gdLst/>
                <a:ahLst/>
                <a:cxnLst>
                  <a:cxn ang="0">
                    <a:pos x="9" y="48"/>
                  </a:cxn>
                  <a:cxn ang="0">
                    <a:pos x="12" y="55"/>
                  </a:cxn>
                  <a:cxn ang="0">
                    <a:pos x="8" y="59"/>
                  </a:cxn>
                  <a:cxn ang="0">
                    <a:pos x="8" y="64"/>
                  </a:cxn>
                  <a:cxn ang="0">
                    <a:pos x="14" y="70"/>
                  </a:cxn>
                  <a:cxn ang="0">
                    <a:pos x="19" y="70"/>
                  </a:cxn>
                  <a:cxn ang="0">
                    <a:pos x="23" y="67"/>
                  </a:cxn>
                  <a:cxn ang="0">
                    <a:pos x="31" y="70"/>
                  </a:cxn>
                  <a:cxn ang="0">
                    <a:pos x="31" y="75"/>
                  </a:cxn>
                  <a:cxn ang="0">
                    <a:pos x="35" y="79"/>
                  </a:cxn>
                  <a:cxn ang="0">
                    <a:pos x="43" y="79"/>
                  </a:cxn>
                  <a:cxn ang="0">
                    <a:pos x="47" y="75"/>
                  </a:cxn>
                  <a:cxn ang="0">
                    <a:pos x="47" y="70"/>
                  </a:cxn>
                  <a:cxn ang="0">
                    <a:pos x="55" y="67"/>
                  </a:cxn>
                  <a:cxn ang="0">
                    <a:pos x="59" y="70"/>
                  </a:cxn>
                  <a:cxn ang="0">
                    <a:pos x="64" y="70"/>
                  </a:cxn>
                  <a:cxn ang="0">
                    <a:pos x="70" y="64"/>
                  </a:cxn>
                  <a:cxn ang="0">
                    <a:pos x="70" y="59"/>
                  </a:cxn>
                  <a:cxn ang="0">
                    <a:pos x="67" y="55"/>
                  </a:cxn>
                  <a:cxn ang="0">
                    <a:pos x="70" y="48"/>
                  </a:cxn>
                  <a:cxn ang="0">
                    <a:pos x="75" y="47"/>
                  </a:cxn>
                  <a:cxn ang="0">
                    <a:pos x="78" y="43"/>
                  </a:cxn>
                  <a:cxn ang="0">
                    <a:pos x="78" y="35"/>
                  </a:cxn>
                  <a:cxn ang="0">
                    <a:pos x="75" y="31"/>
                  </a:cxn>
                  <a:cxn ang="0">
                    <a:pos x="70" y="31"/>
                  </a:cxn>
                  <a:cxn ang="0">
                    <a:pos x="67" y="23"/>
                  </a:cxn>
                  <a:cxn ang="0">
                    <a:pos x="70" y="20"/>
                  </a:cxn>
                  <a:cxn ang="0">
                    <a:pos x="70" y="15"/>
                  </a:cxn>
                  <a:cxn ang="0">
                    <a:pos x="64" y="9"/>
                  </a:cxn>
                  <a:cxn ang="0">
                    <a:pos x="59" y="8"/>
                  </a:cxn>
                  <a:cxn ang="0">
                    <a:pos x="56" y="11"/>
                  </a:cxn>
                  <a:cxn ang="0">
                    <a:pos x="48" y="8"/>
                  </a:cxn>
                  <a:cxn ang="0">
                    <a:pos x="47" y="3"/>
                  </a:cxn>
                  <a:cxn ang="0">
                    <a:pos x="44" y="0"/>
                  </a:cxn>
                  <a:cxn ang="0">
                    <a:pos x="35" y="0"/>
                  </a:cxn>
                  <a:cxn ang="0">
                    <a:pos x="32" y="3"/>
                  </a:cxn>
                  <a:cxn ang="0">
                    <a:pos x="31" y="8"/>
                  </a:cxn>
                  <a:cxn ang="0">
                    <a:pos x="23" y="12"/>
                  </a:cxn>
                  <a:cxn ang="0">
                    <a:pos x="19" y="8"/>
                  </a:cxn>
                  <a:cxn ang="0">
                    <a:pos x="14" y="9"/>
                  </a:cxn>
                  <a:cxn ang="0">
                    <a:pos x="8" y="15"/>
                  </a:cxn>
                  <a:cxn ang="0">
                    <a:pos x="8" y="20"/>
                  </a:cxn>
                  <a:cxn ang="0">
                    <a:pos x="11" y="24"/>
                  </a:cxn>
                  <a:cxn ang="0">
                    <a:pos x="8" y="31"/>
                  </a:cxn>
                  <a:cxn ang="0">
                    <a:pos x="3" y="32"/>
                  </a:cxn>
                  <a:cxn ang="0">
                    <a:pos x="0" y="35"/>
                  </a:cxn>
                  <a:cxn ang="0">
                    <a:pos x="0" y="44"/>
                  </a:cxn>
                  <a:cxn ang="0">
                    <a:pos x="3" y="47"/>
                  </a:cxn>
                  <a:cxn ang="0">
                    <a:pos x="9" y="48"/>
                  </a:cxn>
                  <a:cxn ang="0">
                    <a:pos x="39" y="25"/>
                  </a:cxn>
                  <a:cxn ang="0">
                    <a:pos x="53" y="39"/>
                  </a:cxn>
                  <a:cxn ang="0">
                    <a:pos x="39" y="53"/>
                  </a:cxn>
                  <a:cxn ang="0">
                    <a:pos x="25" y="39"/>
                  </a:cxn>
                  <a:cxn ang="0">
                    <a:pos x="39" y="25"/>
                  </a:cxn>
                  <a:cxn ang="0">
                    <a:pos x="39" y="25"/>
                  </a:cxn>
                  <a:cxn ang="0">
                    <a:pos x="39" y="25"/>
                  </a:cxn>
                </a:cxnLst>
                <a:rect l="0" t="0" r="r" b="b"/>
                <a:pathLst>
                  <a:path w="78" h="79">
                    <a:moveTo>
                      <a:pt x="9" y="48"/>
                    </a:moveTo>
                    <a:cubicBezTo>
                      <a:pt x="9" y="50"/>
                      <a:pt x="10" y="53"/>
                      <a:pt x="12" y="55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7" y="61"/>
                      <a:pt x="7" y="63"/>
                      <a:pt x="8" y="64"/>
                    </a:cubicBezTo>
                    <a:cubicBezTo>
                      <a:pt x="14" y="70"/>
                      <a:pt x="14" y="70"/>
                      <a:pt x="14" y="70"/>
                    </a:cubicBezTo>
                    <a:cubicBezTo>
                      <a:pt x="16" y="71"/>
                      <a:pt x="18" y="71"/>
                      <a:pt x="19" y="70"/>
                    </a:cubicBezTo>
                    <a:cubicBezTo>
                      <a:pt x="23" y="67"/>
                      <a:pt x="23" y="67"/>
                      <a:pt x="23" y="67"/>
                    </a:cubicBezTo>
                    <a:cubicBezTo>
                      <a:pt x="26" y="68"/>
                      <a:pt x="28" y="69"/>
                      <a:pt x="31" y="70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3" y="79"/>
                      <a:pt x="35" y="79"/>
                    </a:cubicBezTo>
                    <a:cubicBezTo>
                      <a:pt x="43" y="79"/>
                      <a:pt x="43" y="79"/>
                      <a:pt x="43" y="79"/>
                    </a:cubicBezTo>
                    <a:cubicBezTo>
                      <a:pt x="45" y="79"/>
                      <a:pt x="47" y="77"/>
                      <a:pt x="47" y="75"/>
                    </a:cubicBezTo>
                    <a:cubicBezTo>
                      <a:pt x="47" y="70"/>
                      <a:pt x="47" y="70"/>
                      <a:pt x="47" y="70"/>
                    </a:cubicBezTo>
                    <a:cubicBezTo>
                      <a:pt x="50" y="69"/>
                      <a:pt x="53" y="68"/>
                      <a:pt x="55" y="67"/>
                    </a:cubicBezTo>
                    <a:cubicBezTo>
                      <a:pt x="59" y="70"/>
                      <a:pt x="59" y="70"/>
                      <a:pt x="59" y="70"/>
                    </a:cubicBezTo>
                    <a:cubicBezTo>
                      <a:pt x="61" y="71"/>
                      <a:pt x="63" y="71"/>
                      <a:pt x="64" y="70"/>
                    </a:cubicBezTo>
                    <a:cubicBezTo>
                      <a:pt x="70" y="64"/>
                      <a:pt x="70" y="64"/>
                      <a:pt x="70" y="64"/>
                    </a:cubicBezTo>
                    <a:cubicBezTo>
                      <a:pt x="71" y="63"/>
                      <a:pt x="71" y="61"/>
                      <a:pt x="70" y="59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8" y="53"/>
                      <a:pt x="70" y="50"/>
                      <a:pt x="70" y="48"/>
                    </a:cubicBezTo>
                    <a:cubicBezTo>
                      <a:pt x="75" y="47"/>
                      <a:pt x="75" y="47"/>
                      <a:pt x="75" y="47"/>
                    </a:cubicBezTo>
                    <a:cubicBezTo>
                      <a:pt x="77" y="47"/>
                      <a:pt x="78" y="45"/>
                      <a:pt x="78" y="43"/>
                    </a:cubicBezTo>
                    <a:cubicBezTo>
                      <a:pt x="78" y="35"/>
                      <a:pt x="78" y="35"/>
                      <a:pt x="78" y="35"/>
                    </a:cubicBezTo>
                    <a:cubicBezTo>
                      <a:pt x="78" y="33"/>
                      <a:pt x="77" y="32"/>
                      <a:pt x="75" y="31"/>
                    </a:cubicBezTo>
                    <a:cubicBezTo>
                      <a:pt x="70" y="31"/>
                      <a:pt x="70" y="31"/>
                      <a:pt x="70" y="31"/>
                    </a:cubicBezTo>
                    <a:cubicBezTo>
                      <a:pt x="70" y="28"/>
                      <a:pt x="69" y="26"/>
                      <a:pt x="67" y="23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1" y="18"/>
                      <a:pt x="71" y="16"/>
                      <a:pt x="70" y="15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3" y="7"/>
                      <a:pt x="61" y="7"/>
                      <a:pt x="59" y="8"/>
                    </a:cubicBezTo>
                    <a:cubicBezTo>
                      <a:pt x="56" y="11"/>
                      <a:pt x="56" y="11"/>
                      <a:pt x="56" y="11"/>
                    </a:cubicBezTo>
                    <a:cubicBezTo>
                      <a:pt x="53" y="10"/>
                      <a:pt x="51" y="9"/>
                      <a:pt x="48" y="8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2"/>
                      <a:pt x="45" y="0"/>
                      <a:pt x="4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3" y="0"/>
                      <a:pt x="32" y="2"/>
                      <a:pt x="32" y="3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28" y="9"/>
                      <a:pt x="26" y="10"/>
                      <a:pt x="23" y="12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8" y="7"/>
                      <a:pt x="16" y="7"/>
                      <a:pt x="14" y="9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6"/>
                      <a:pt x="7" y="18"/>
                      <a:pt x="8" y="20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0" y="26"/>
                      <a:pt x="9" y="29"/>
                      <a:pt x="8" y="31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1" y="32"/>
                      <a:pt x="0" y="33"/>
                      <a:pt x="0" y="35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1" y="47"/>
                      <a:pt x="3" y="47"/>
                    </a:cubicBezTo>
                    <a:lnTo>
                      <a:pt x="9" y="48"/>
                    </a:lnTo>
                    <a:close/>
                    <a:moveTo>
                      <a:pt x="39" y="25"/>
                    </a:moveTo>
                    <a:cubicBezTo>
                      <a:pt x="47" y="25"/>
                      <a:pt x="53" y="31"/>
                      <a:pt x="53" y="39"/>
                    </a:cubicBezTo>
                    <a:cubicBezTo>
                      <a:pt x="53" y="47"/>
                      <a:pt x="47" y="53"/>
                      <a:pt x="39" y="53"/>
                    </a:cubicBezTo>
                    <a:cubicBezTo>
                      <a:pt x="32" y="53"/>
                      <a:pt x="25" y="47"/>
                      <a:pt x="25" y="39"/>
                    </a:cubicBezTo>
                    <a:cubicBezTo>
                      <a:pt x="25" y="31"/>
                      <a:pt x="32" y="25"/>
                      <a:pt x="39" y="25"/>
                    </a:cubicBezTo>
                    <a:close/>
                    <a:moveTo>
                      <a:pt x="39" y="25"/>
                    </a:moveTo>
                    <a:cubicBezTo>
                      <a:pt x="39" y="25"/>
                      <a:pt x="39" y="25"/>
                      <a:pt x="39" y="25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EF00F40-FF60-1F53-0058-3A407B3929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65751" y="3756025"/>
                <a:ext cx="195263" cy="193675"/>
              </a:xfrm>
              <a:custGeom>
                <a:avLst/>
                <a:gdLst/>
                <a:ahLst/>
                <a:cxnLst>
                  <a:cxn ang="0">
                    <a:pos x="55" y="10"/>
                  </a:cxn>
                  <a:cxn ang="0">
                    <a:pos x="51" y="6"/>
                  </a:cxn>
                  <a:cxn ang="0">
                    <a:pos x="46" y="6"/>
                  </a:cxn>
                  <a:cxn ang="0">
                    <a:pos x="44" y="9"/>
                  </a:cxn>
                  <a:cxn ang="0">
                    <a:pos x="37" y="7"/>
                  </a:cxn>
                  <a:cxn ang="0">
                    <a:pos x="36" y="3"/>
                  </a:cxn>
                  <a:cxn ang="0">
                    <a:pos x="32" y="0"/>
                  </a:cxn>
                  <a:cxn ang="0">
                    <a:pos x="27" y="1"/>
                  </a:cxn>
                  <a:cxn ang="0">
                    <a:pos x="23" y="4"/>
                  </a:cxn>
                  <a:cxn ang="0">
                    <a:pos x="23" y="8"/>
                  </a:cxn>
                  <a:cxn ang="0">
                    <a:pos x="17" y="11"/>
                  </a:cxn>
                  <a:cxn ang="0">
                    <a:pos x="14" y="9"/>
                  </a:cxn>
                  <a:cxn ang="0">
                    <a:pos x="9" y="10"/>
                  </a:cxn>
                  <a:cxn ang="0">
                    <a:pos x="6" y="14"/>
                  </a:cxn>
                  <a:cxn ang="0">
                    <a:pos x="6" y="19"/>
                  </a:cxn>
                  <a:cxn ang="0">
                    <a:pos x="8" y="22"/>
                  </a:cxn>
                  <a:cxn ang="0">
                    <a:pos x="6" y="28"/>
                  </a:cxn>
                  <a:cxn ang="0">
                    <a:pos x="3" y="29"/>
                  </a:cxn>
                  <a:cxn ang="0">
                    <a:pos x="0" y="33"/>
                  </a:cxn>
                  <a:cxn ang="0">
                    <a:pos x="0" y="38"/>
                  </a:cxn>
                  <a:cxn ang="0">
                    <a:pos x="4" y="42"/>
                  </a:cxn>
                  <a:cxn ang="0">
                    <a:pos x="8" y="42"/>
                  </a:cxn>
                  <a:cxn ang="0">
                    <a:pos x="11" y="47"/>
                  </a:cxn>
                  <a:cxn ang="0">
                    <a:pos x="8" y="51"/>
                  </a:cxn>
                  <a:cxn ang="0">
                    <a:pos x="9" y="55"/>
                  </a:cxn>
                  <a:cxn ang="0">
                    <a:pos x="14" y="59"/>
                  </a:cxn>
                  <a:cxn ang="0">
                    <a:pos x="18" y="59"/>
                  </a:cxn>
                  <a:cxn ang="0">
                    <a:pos x="21" y="56"/>
                  </a:cxn>
                  <a:cxn ang="0">
                    <a:pos x="27" y="58"/>
                  </a:cxn>
                  <a:cxn ang="0">
                    <a:pos x="28" y="62"/>
                  </a:cxn>
                  <a:cxn ang="0">
                    <a:pos x="32" y="65"/>
                  </a:cxn>
                  <a:cxn ang="0">
                    <a:pos x="38" y="64"/>
                  </a:cxn>
                  <a:cxn ang="0">
                    <a:pos x="41" y="61"/>
                  </a:cxn>
                  <a:cxn ang="0">
                    <a:pos x="41" y="57"/>
                  </a:cxn>
                  <a:cxn ang="0">
                    <a:pos x="47" y="54"/>
                  </a:cxn>
                  <a:cxn ang="0">
                    <a:pos x="50" y="56"/>
                  </a:cxn>
                  <a:cxn ang="0">
                    <a:pos x="55" y="56"/>
                  </a:cxn>
                  <a:cxn ang="0">
                    <a:pos x="59" y="51"/>
                  </a:cxn>
                  <a:cxn ang="0">
                    <a:pos x="59" y="46"/>
                  </a:cxn>
                  <a:cxn ang="0">
                    <a:pos x="56" y="44"/>
                  </a:cxn>
                  <a:cxn ang="0">
                    <a:pos x="58" y="37"/>
                  </a:cxn>
                  <a:cxn ang="0">
                    <a:pos x="62" y="37"/>
                  </a:cxn>
                  <a:cxn ang="0">
                    <a:pos x="64" y="33"/>
                  </a:cxn>
                  <a:cxn ang="0">
                    <a:pos x="64" y="27"/>
                  </a:cxn>
                  <a:cxn ang="0">
                    <a:pos x="60" y="24"/>
                  </a:cxn>
                  <a:cxn ang="0">
                    <a:pos x="57" y="24"/>
                  </a:cxn>
                  <a:cxn ang="0">
                    <a:pos x="54" y="18"/>
                  </a:cxn>
                  <a:cxn ang="0">
                    <a:pos x="56" y="15"/>
                  </a:cxn>
                  <a:cxn ang="0">
                    <a:pos x="55" y="10"/>
                  </a:cxn>
                  <a:cxn ang="0">
                    <a:pos x="33" y="44"/>
                  </a:cxn>
                  <a:cxn ang="0">
                    <a:pos x="21" y="33"/>
                  </a:cxn>
                  <a:cxn ang="0">
                    <a:pos x="31" y="21"/>
                  </a:cxn>
                  <a:cxn ang="0">
                    <a:pos x="44" y="31"/>
                  </a:cxn>
                  <a:cxn ang="0">
                    <a:pos x="33" y="44"/>
                  </a:cxn>
                  <a:cxn ang="0">
                    <a:pos x="33" y="44"/>
                  </a:cxn>
                  <a:cxn ang="0">
                    <a:pos x="33" y="44"/>
                  </a:cxn>
                </a:cxnLst>
                <a:rect l="0" t="0" r="r" b="b"/>
                <a:pathLst>
                  <a:path w="65" h="65">
                    <a:moveTo>
                      <a:pt x="55" y="10"/>
                    </a:moveTo>
                    <a:cubicBezTo>
                      <a:pt x="51" y="6"/>
                      <a:pt x="51" y="6"/>
                      <a:pt x="51" y="6"/>
                    </a:cubicBezTo>
                    <a:cubicBezTo>
                      <a:pt x="49" y="5"/>
                      <a:pt x="47" y="5"/>
                      <a:pt x="46" y="6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41" y="8"/>
                      <a:pt x="39" y="7"/>
                      <a:pt x="37" y="7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36" y="1"/>
                      <a:pt x="34" y="0"/>
                      <a:pt x="32" y="0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5" y="1"/>
                      <a:pt x="23" y="2"/>
                      <a:pt x="23" y="4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1" y="9"/>
                      <a:pt x="19" y="10"/>
                      <a:pt x="17" y="11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3" y="8"/>
                      <a:pt x="11" y="8"/>
                      <a:pt x="9" y="10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4" y="16"/>
                      <a:pt x="4" y="18"/>
                      <a:pt x="6" y="19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7" y="24"/>
                      <a:pt x="7" y="26"/>
                      <a:pt x="6" y="28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1" y="29"/>
                      <a:pt x="0" y="31"/>
                      <a:pt x="0" y="3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" y="40"/>
                      <a:pt x="2" y="42"/>
                      <a:pt x="4" y="42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9" y="44"/>
                      <a:pt x="9" y="45"/>
                      <a:pt x="11" y="47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2"/>
                      <a:pt x="8" y="54"/>
                      <a:pt x="9" y="55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5" y="60"/>
                      <a:pt x="17" y="60"/>
                      <a:pt x="18" y="59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3" y="57"/>
                      <a:pt x="25" y="58"/>
                      <a:pt x="27" y="58"/>
                    </a:cubicBezTo>
                    <a:cubicBezTo>
                      <a:pt x="28" y="62"/>
                      <a:pt x="28" y="62"/>
                      <a:pt x="28" y="62"/>
                    </a:cubicBezTo>
                    <a:cubicBezTo>
                      <a:pt x="28" y="64"/>
                      <a:pt x="30" y="65"/>
                      <a:pt x="32" y="65"/>
                    </a:cubicBezTo>
                    <a:cubicBezTo>
                      <a:pt x="38" y="64"/>
                      <a:pt x="38" y="64"/>
                      <a:pt x="38" y="64"/>
                    </a:cubicBezTo>
                    <a:cubicBezTo>
                      <a:pt x="39" y="64"/>
                      <a:pt x="41" y="63"/>
                      <a:pt x="41" y="61"/>
                    </a:cubicBezTo>
                    <a:cubicBezTo>
                      <a:pt x="41" y="57"/>
                      <a:pt x="41" y="57"/>
                      <a:pt x="41" y="57"/>
                    </a:cubicBezTo>
                    <a:cubicBezTo>
                      <a:pt x="43" y="56"/>
                      <a:pt x="45" y="55"/>
                      <a:pt x="47" y="54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2" y="57"/>
                      <a:pt x="54" y="57"/>
                      <a:pt x="55" y="56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0"/>
                      <a:pt x="60" y="48"/>
                      <a:pt x="59" y="46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7" y="42"/>
                      <a:pt x="58" y="39"/>
                      <a:pt x="58" y="37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3" y="36"/>
                      <a:pt x="65" y="35"/>
                      <a:pt x="64" y="33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5"/>
                      <a:pt x="62" y="24"/>
                      <a:pt x="60" y="24"/>
                    </a:cubicBezTo>
                    <a:cubicBezTo>
                      <a:pt x="57" y="24"/>
                      <a:pt x="57" y="24"/>
                      <a:pt x="57" y="24"/>
                    </a:cubicBezTo>
                    <a:cubicBezTo>
                      <a:pt x="56" y="21"/>
                      <a:pt x="55" y="20"/>
                      <a:pt x="54" y="18"/>
                    </a:cubicBezTo>
                    <a:cubicBezTo>
                      <a:pt x="56" y="15"/>
                      <a:pt x="56" y="15"/>
                      <a:pt x="56" y="15"/>
                    </a:cubicBezTo>
                    <a:cubicBezTo>
                      <a:pt x="57" y="13"/>
                      <a:pt x="57" y="11"/>
                      <a:pt x="55" y="10"/>
                    </a:cubicBezTo>
                    <a:close/>
                    <a:moveTo>
                      <a:pt x="33" y="44"/>
                    </a:moveTo>
                    <a:cubicBezTo>
                      <a:pt x="27" y="44"/>
                      <a:pt x="21" y="40"/>
                      <a:pt x="21" y="33"/>
                    </a:cubicBezTo>
                    <a:cubicBezTo>
                      <a:pt x="20" y="27"/>
                      <a:pt x="25" y="21"/>
                      <a:pt x="31" y="21"/>
                    </a:cubicBezTo>
                    <a:cubicBezTo>
                      <a:pt x="38" y="20"/>
                      <a:pt x="43" y="25"/>
                      <a:pt x="44" y="31"/>
                    </a:cubicBezTo>
                    <a:cubicBezTo>
                      <a:pt x="44" y="38"/>
                      <a:pt x="40" y="43"/>
                      <a:pt x="33" y="44"/>
                    </a:cubicBezTo>
                    <a:close/>
                    <a:moveTo>
                      <a:pt x="33" y="44"/>
                    </a:moveTo>
                    <a:cubicBezTo>
                      <a:pt x="33" y="44"/>
                      <a:pt x="33" y="44"/>
                      <a:pt x="33" y="44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5A2D1D32-66A3-E88C-E9C2-7BA04D131E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40338" y="3871913"/>
                <a:ext cx="155575" cy="155575"/>
              </a:xfrm>
              <a:custGeom>
                <a:avLst/>
                <a:gdLst/>
                <a:ahLst/>
                <a:cxnLst>
                  <a:cxn ang="0">
                    <a:pos x="3" y="21"/>
                  </a:cxn>
                  <a:cxn ang="0">
                    <a:pos x="0" y="24"/>
                  </a:cxn>
                  <a:cxn ang="0">
                    <a:pos x="0" y="28"/>
                  </a:cxn>
                  <a:cxn ang="0">
                    <a:pos x="3" y="31"/>
                  </a:cxn>
                  <a:cxn ang="0">
                    <a:pos x="6" y="32"/>
                  </a:cxn>
                  <a:cxn ang="0">
                    <a:pos x="7" y="36"/>
                  </a:cxn>
                  <a:cxn ang="0">
                    <a:pos x="6" y="38"/>
                  </a:cxn>
                  <a:cxn ang="0">
                    <a:pos x="6" y="43"/>
                  </a:cxn>
                  <a:cxn ang="0">
                    <a:pos x="9" y="45"/>
                  </a:cxn>
                  <a:cxn ang="0">
                    <a:pos x="13" y="46"/>
                  </a:cxn>
                  <a:cxn ang="0">
                    <a:pos x="15" y="44"/>
                  </a:cxn>
                  <a:cxn ang="0">
                    <a:pos x="20" y="46"/>
                  </a:cxn>
                  <a:cxn ang="0">
                    <a:pos x="20" y="49"/>
                  </a:cxn>
                  <a:cxn ang="0">
                    <a:pos x="24" y="52"/>
                  </a:cxn>
                  <a:cxn ang="0">
                    <a:pos x="27" y="52"/>
                  </a:cxn>
                  <a:cxn ang="0">
                    <a:pos x="31" y="49"/>
                  </a:cxn>
                  <a:cxn ang="0">
                    <a:pos x="31" y="47"/>
                  </a:cxn>
                  <a:cxn ang="0">
                    <a:pos x="36" y="45"/>
                  </a:cxn>
                  <a:cxn ang="0">
                    <a:pos x="38" y="46"/>
                  </a:cxn>
                  <a:cxn ang="0">
                    <a:pos x="43" y="46"/>
                  </a:cxn>
                  <a:cxn ang="0">
                    <a:pos x="46" y="43"/>
                  </a:cxn>
                  <a:cxn ang="0">
                    <a:pos x="46" y="39"/>
                  </a:cxn>
                  <a:cxn ang="0">
                    <a:pos x="45" y="37"/>
                  </a:cxn>
                  <a:cxn ang="0">
                    <a:pos x="47" y="32"/>
                  </a:cxn>
                  <a:cxn ang="0">
                    <a:pos x="49" y="32"/>
                  </a:cxn>
                  <a:cxn ang="0">
                    <a:pos x="52" y="28"/>
                  </a:cxn>
                  <a:cxn ang="0">
                    <a:pos x="52" y="24"/>
                  </a:cxn>
                  <a:cxn ang="0">
                    <a:pos x="49" y="21"/>
                  </a:cxn>
                  <a:cxn ang="0">
                    <a:pos x="47" y="21"/>
                  </a:cxn>
                  <a:cxn ang="0">
                    <a:pos x="45" y="16"/>
                  </a:cxn>
                  <a:cxn ang="0">
                    <a:pos x="46" y="14"/>
                  </a:cxn>
                  <a:cxn ang="0">
                    <a:pos x="46" y="9"/>
                  </a:cxn>
                  <a:cxn ang="0">
                    <a:pos x="44" y="7"/>
                  </a:cxn>
                  <a:cxn ang="0">
                    <a:pos x="39" y="6"/>
                  </a:cxn>
                  <a:cxn ang="0">
                    <a:pos x="37" y="8"/>
                  </a:cxn>
                  <a:cxn ang="0">
                    <a:pos x="32" y="5"/>
                  </a:cxn>
                  <a:cxn ang="0">
                    <a:pos x="32" y="3"/>
                  </a:cxn>
                  <a:cxn ang="0">
                    <a:pos x="28" y="0"/>
                  </a:cxn>
                  <a:cxn ang="0">
                    <a:pos x="25" y="0"/>
                  </a:cxn>
                  <a:cxn ang="0">
                    <a:pos x="21" y="3"/>
                  </a:cxn>
                  <a:cxn ang="0">
                    <a:pos x="21" y="5"/>
                  </a:cxn>
                  <a:cxn ang="0">
                    <a:pos x="16" y="7"/>
                  </a:cxn>
                  <a:cxn ang="0">
                    <a:pos x="14" y="6"/>
                  </a:cxn>
                  <a:cxn ang="0">
                    <a:pos x="9" y="6"/>
                  </a:cxn>
                  <a:cxn ang="0">
                    <a:pos x="6" y="9"/>
                  </a:cxn>
                  <a:cxn ang="0">
                    <a:pos x="6" y="13"/>
                  </a:cxn>
                  <a:cxn ang="0">
                    <a:pos x="8" y="15"/>
                  </a:cxn>
                  <a:cxn ang="0">
                    <a:pos x="6" y="20"/>
                  </a:cxn>
                  <a:cxn ang="0">
                    <a:pos x="3" y="21"/>
                  </a:cxn>
                  <a:cxn ang="0">
                    <a:pos x="26" y="16"/>
                  </a:cxn>
                  <a:cxn ang="0">
                    <a:pos x="36" y="26"/>
                  </a:cxn>
                  <a:cxn ang="0">
                    <a:pos x="26" y="35"/>
                  </a:cxn>
                  <a:cxn ang="0">
                    <a:pos x="17" y="26"/>
                  </a:cxn>
                  <a:cxn ang="0">
                    <a:pos x="26" y="16"/>
                  </a:cxn>
                  <a:cxn ang="0">
                    <a:pos x="26" y="16"/>
                  </a:cxn>
                  <a:cxn ang="0">
                    <a:pos x="26" y="16"/>
                  </a:cxn>
                </a:cxnLst>
                <a:rect l="0" t="0" r="r" b="b"/>
                <a:pathLst>
                  <a:path w="52" h="52">
                    <a:moveTo>
                      <a:pt x="3" y="21"/>
                    </a:moveTo>
                    <a:cubicBezTo>
                      <a:pt x="1" y="21"/>
                      <a:pt x="0" y="22"/>
                      <a:pt x="0" y="2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9"/>
                      <a:pt x="1" y="31"/>
                      <a:pt x="3" y="31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6" y="33"/>
                      <a:pt x="7" y="35"/>
                      <a:pt x="7" y="36"/>
                    </a:cubicBezTo>
                    <a:cubicBezTo>
                      <a:pt x="6" y="38"/>
                      <a:pt x="6" y="38"/>
                      <a:pt x="6" y="38"/>
                    </a:cubicBezTo>
                    <a:cubicBezTo>
                      <a:pt x="5" y="40"/>
                      <a:pt x="5" y="42"/>
                      <a:pt x="6" y="43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10" y="47"/>
                      <a:pt x="12" y="47"/>
                      <a:pt x="13" y="46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17" y="45"/>
                      <a:pt x="18" y="46"/>
                      <a:pt x="20" y="46"/>
                    </a:cubicBezTo>
                    <a:cubicBezTo>
                      <a:pt x="20" y="49"/>
                      <a:pt x="20" y="49"/>
                      <a:pt x="20" y="49"/>
                    </a:cubicBezTo>
                    <a:cubicBezTo>
                      <a:pt x="21" y="51"/>
                      <a:pt x="22" y="52"/>
                      <a:pt x="24" y="52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9" y="52"/>
                      <a:pt x="31" y="51"/>
                      <a:pt x="31" y="49"/>
                    </a:cubicBezTo>
                    <a:cubicBezTo>
                      <a:pt x="31" y="47"/>
                      <a:pt x="31" y="47"/>
                      <a:pt x="31" y="47"/>
                    </a:cubicBezTo>
                    <a:cubicBezTo>
                      <a:pt x="33" y="46"/>
                      <a:pt x="35" y="45"/>
                      <a:pt x="36" y="45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40" y="47"/>
                      <a:pt x="42" y="47"/>
                      <a:pt x="43" y="46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7" y="40"/>
                      <a:pt x="46" y="39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35"/>
                      <a:pt x="46" y="33"/>
                      <a:pt x="47" y="32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51" y="31"/>
                      <a:pt x="52" y="30"/>
                      <a:pt x="52" y="28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3"/>
                      <a:pt x="51" y="21"/>
                      <a:pt x="49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6" y="19"/>
                      <a:pt x="46" y="17"/>
                      <a:pt x="45" y="16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7" y="12"/>
                      <a:pt x="47" y="10"/>
                      <a:pt x="46" y="9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2" y="5"/>
                      <a:pt x="40" y="5"/>
                      <a:pt x="39" y="6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6" y="7"/>
                      <a:pt x="34" y="6"/>
                      <a:pt x="32" y="5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32" y="1"/>
                      <a:pt x="30" y="0"/>
                      <a:pt x="28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3" y="0"/>
                      <a:pt x="21" y="1"/>
                      <a:pt x="21" y="3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19" y="6"/>
                      <a:pt x="17" y="6"/>
                      <a:pt x="16" y="7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2" y="5"/>
                      <a:pt x="10" y="5"/>
                      <a:pt x="9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0"/>
                      <a:pt x="5" y="12"/>
                      <a:pt x="6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7"/>
                      <a:pt x="6" y="19"/>
                      <a:pt x="6" y="20"/>
                    </a:cubicBezTo>
                    <a:lnTo>
                      <a:pt x="3" y="21"/>
                    </a:lnTo>
                    <a:close/>
                    <a:moveTo>
                      <a:pt x="26" y="16"/>
                    </a:moveTo>
                    <a:cubicBezTo>
                      <a:pt x="31" y="17"/>
                      <a:pt x="36" y="21"/>
                      <a:pt x="36" y="26"/>
                    </a:cubicBezTo>
                    <a:cubicBezTo>
                      <a:pt x="35" y="31"/>
                      <a:pt x="31" y="35"/>
                      <a:pt x="26" y="35"/>
                    </a:cubicBezTo>
                    <a:cubicBezTo>
                      <a:pt x="21" y="35"/>
                      <a:pt x="17" y="31"/>
                      <a:pt x="17" y="26"/>
                    </a:cubicBezTo>
                    <a:cubicBezTo>
                      <a:pt x="17" y="21"/>
                      <a:pt x="21" y="16"/>
                      <a:pt x="26" y="16"/>
                    </a:cubicBezTo>
                    <a:close/>
                    <a:moveTo>
                      <a:pt x="26" y="16"/>
                    </a:moveTo>
                    <a:cubicBezTo>
                      <a:pt x="26" y="16"/>
                      <a:pt x="26" y="16"/>
                      <a:pt x="26" y="1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sp>
          <p:nvSpPr>
            <p:cNvPr id="10" name="Freeform 17">
              <a:extLst>
                <a:ext uri="{FF2B5EF4-FFF2-40B4-BE49-F238E27FC236}">
                  <a16:creationId xmlns:a16="http://schemas.microsoft.com/office/drawing/2014/main" id="{C05753DC-B785-D44D-77F7-74DB21C44C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22344" y="2067032"/>
              <a:ext cx="422752" cy="628156"/>
            </a:xfrm>
            <a:custGeom>
              <a:avLst/>
              <a:gdLst/>
              <a:ahLst/>
              <a:cxnLst>
                <a:cxn ang="0">
                  <a:pos x="47" y="0"/>
                </a:cxn>
                <a:cxn ang="0">
                  <a:pos x="10" y="76"/>
                </a:cxn>
                <a:cxn ang="0">
                  <a:pos x="24" y="124"/>
                </a:cxn>
                <a:cxn ang="0">
                  <a:pos x="34" y="128"/>
                </a:cxn>
                <a:cxn ang="0">
                  <a:pos x="44" y="140"/>
                </a:cxn>
                <a:cxn ang="0">
                  <a:pos x="62" y="130"/>
                </a:cxn>
                <a:cxn ang="0">
                  <a:pos x="67" y="128"/>
                </a:cxn>
                <a:cxn ang="0">
                  <a:pos x="72" y="94"/>
                </a:cxn>
                <a:cxn ang="0">
                  <a:pos x="94" y="46"/>
                </a:cxn>
                <a:cxn ang="0">
                  <a:pos x="32" y="53"/>
                </a:cxn>
                <a:cxn ang="0">
                  <a:pos x="43" y="56"/>
                </a:cxn>
                <a:cxn ang="0">
                  <a:pos x="47" y="56"/>
                </a:cxn>
                <a:cxn ang="0">
                  <a:pos x="55" y="55"/>
                </a:cxn>
                <a:cxn ang="0">
                  <a:pos x="58" y="56"/>
                </a:cxn>
                <a:cxn ang="0">
                  <a:pos x="54" y="89"/>
                </a:cxn>
                <a:cxn ang="0">
                  <a:pos x="62" y="98"/>
                </a:cxn>
                <a:cxn ang="0">
                  <a:pos x="33" y="106"/>
                </a:cxn>
                <a:cxn ang="0">
                  <a:pos x="62" y="98"/>
                </a:cxn>
                <a:cxn ang="0">
                  <a:pos x="33" y="111"/>
                </a:cxn>
                <a:cxn ang="0">
                  <a:pos x="62" y="118"/>
                </a:cxn>
                <a:cxn ang="0">
                  <a:pos x="64" y="88"/>
                </a:cxn>
                <a:cxn ang="0">
                  <a:pos x="70" y="49"/>
                </a:cxn>
                <a:cxn ang="0">
                  <a:pos x="63" y="48"/>
                </a:cxn>
                <a:cxn ang="0">
                  <a:pos x="58" y="51"/>
                </a:cxn>
                <a:cxn ang="0">
                  <a:pos x="52" y="42"/>
                </a:cxn>
                <a:cxn ang="0">
                  <a:pos x="44" y="51"/>
                </a:cxn>
                <a:cxn ang="0">
                  <a:pos x="36" y="45"/>
                </a:cxn>
                <a:cxn ang="0">
                  <a:pos x="31" y="48"/>
                </a:cxn>
                <a:cxn ang="0">
                  <a:pos x="24" y="50"/>
                </a:cxn>
                <a:cxn ang="0">
                  <a:pos x="31" y="89"/>
                </a:cxn>
                <a:cxn ang="0">
                  <a:pos x="9" y="47"/>
                </a:cxn>
                <a:cxn ang="0">
                  <a:pos x="85" y="47"/>
                </a:cxn>
                <a:cxn ang="0">
                  <a:pos x="64" y="88"/>
                </a:cxn>
                <a:cxn ang="0">
                  <a:pos x="64" y="88"/>
                </a:cxn>
              </a:cxnLst>
              <a:rect l="0" t="0" r="r" b="b"/>
              <a:pathLst>
                <a:path w="94" h="140">
                  <a:moveTo>
                    <a:pt x="94" y="46"/>
                  </a:moveTo>
                  <a:cubicBezTo>
                    <a:pt x="94" y="20"/>
                    <a:pt x="73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58"/>
                    <a:pt x="4" y="68"/>
                    <a:pt x="10" y="76"/>
                  </a:cubicBezTo>
                  <a:cubicBezTo>
                    <a:pt x="15" y="82"/>
                    <a:pt x="20" y="89"/>
                    <a:pt x="23" y="95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24" y="126"/>
                    <a:pt x="26" y="128"/>
                    <a:pt x="28" y="128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30"/>
                    <a:pt x="34" y="130"/>
                    <a:pt x="34" y="130"/>
                  </a:cubicBezTo>
                  <a:cubicBezTo>
                    <a:pt x="34" y="136"/>
                    <a:pt x="38" y="140"/>
                    <a:pt x="44" y="140"/>
                  </a:cubicBezTo>
                  <a:cubicBezTo>
                    <a:pt x="52" y="140"/>
                    <a:pt x="52" y="140"/>
                    <a:pt x="52" y="140"/>
                  </a:cubicBezTo>
                  <a:cubicBezTo>
                    <a:pt x="58" y="140"/>
                    <a:pt x="62" y="136"/>
                    <a:pt x="62" y="130"/>
                  </a:cubicBezTo>
                  <a:cubicBezTo>
                    <a:pt x="62" y="128"/>
                    <a:pt x="62" y="128"/>
                    <a:pt x="62" y="128"/>
                  </a:cubicBezTo>
                  <a:cubicBezTo>
                    <a:pt x="67" y="128"/>
                    <a:pt x="67" y="128"/>
                    <a:pt x="67" y="128"/>
                  </a:cubicBezTo>
                  <a:cubicBezTo>
                    <a:pt x="70" y="128"/>
                    <a:pt x="72" y="126"/>
                    <a:pt x="72" y="123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5" y="88"/>
                    <a:pt x="80" y="82"/>
                    <a:pt x="84" y="76"/>
                  </a:cubicBezTo>
                  <a:cubicBezTo>
                    <a:pt x="91" y="67"/>
                    <a:pt x="94" y="57"/>
                    <a:pt x="94" y="46"/>
                  </a:cubicBezTo>
                  <a:close/>
                  <a:moveTo>
                    <a:pt x="41" y="89"/>
                  </a:moveTo>
                  <a:cubicBezTo>
                    <a:pt x="32" y="53"/>
                    <a:pt x="32" y="53"/>
                    <a:pt x="32" y="53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4" y="56"/>
                    <a:pt x="44" y="56"/>
                    <a:pt x="45" y="56"/>
                  </a:cubicBezTo>
                  <a:cubicBezTo>
                    <a:pt x="46" y="56"/>
                    <a:pt x="46" y="56"/>
                    <a:pt x="47" y="56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56"/>
                    <a:pt x="56" y="56"/>
                    <a:pt x="57" y="56"/>
                  </a:cubicBezTo>
                  <a:cubicBezTo>
                    <a:pt x="57" y="56"/>
                    <a:pt x="58" y="56"/>
                    <a:pt x="58" y="56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54" y="89"/>
                    <a:pt x="54" y="89"/>
                    <a:pt x="54" y="89"/>
                  </a:cubicBezTo>
                  <a:lnTo>
                    <a:pt x="41" y="89"/>
                  </a:lnTo>
                  <a:close/>
                  <a:moveTo>
                    <a:pt x="62" y="98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33" y="106"/>
                    <a:pt x="33" y="106"/>
                    <a:pt x="33" y="106"/>
                  </a:cubicBezTo>
                  <a:cubicBezTo>
                    <a:pt x="33" y="98"/>
                    <a:pt x="33" y="98"/>
                    <a:pt x="33" y="98"/>
                  </a:cubicBezTo>
                  <a:lnTo>
                    <a:pt x="62" y="98"/>
                  </a:lnTo>
                  <a:close/>
                  <a:moveTo>
                    <a:pt x="33" y="119"/>
                  </a:moveTo>
                  <a:cubicBezTo>
                    <a:pt x="33" y="111"/>
                    <a:pt x="33" y="111"/>
                    <a:pt x="33" y="111"/>
                  </a:cubicBezTo>
                  <a:cubicBezTo>
                    <a:pt x="62" y="111"/>
                    <a:pt x="62" y="111"/>
                    <a:pt x="62" y="111"/>
                  </a:cubicBezTo>
                  <a:cubicBezTo>
                    <a:pt x="62" y="118"/>
                    <a:pt x="62" y="118"/>
                    <a:pt x="62" y="118"/>
                  </a:cubicBezTo>
                  <a:lnTo>
                    <a:pt x="33" y="119"/>
                  </a:lnTo>
                  <a:close/>
                  <a:moveTo>
                    <a:pt x="64" y="88"/>
                  </a:moveTo>
                  <a:cubicBezTo>
                    <a:pt x="62" y="88"/>
                    <a:pt x="62" y="88"/>
                    <a:pt x="62" y="88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1" y="48"/>
                    <a:pt x="69" y="46"/>
                    <a:pt x="67" y="45"/>
                  </a:cubicBezTo>
                  <a:cubicBezTo>
                    <a:pt x="66" y="45"/>
                    <a:pt x="64" y="46"/>
                    <a:pt x="63" y="48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3"/>
                    <a:pt x="53" y="43"/>
                    <a:pt x="52" y="42"/>
                  </a:cubicBezTo>
                  <a:cubicBezTo>
                    <a:pt x="52" y="42"/>
                    <a:pt x="51" y="43"/>
                    <a:pt x="50" y="43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8" y="45"/>
                    <a:pt x="37" y="45"/>
                    <a:pt x="36" y="45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6"/>
                    <a:pt x="29" y="45"/>
                    <a:pt x="27" y="46"/>
                  </a:cubicBezTo>
                  <a:cubicBezTo>
                    <a:pt x="25" y="46"/>
                    <a:pt x="24" y="48"/>
                    <a:pt x="24" y="50"/>
                  </a:cubicBezTo>
                  <a:cubicBezTo>
                    <a:pt x="33" y="89"/>
                    <a:pt x="33" y="89"/>
                    <a:pt x="33" y="89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27" y="82"/>
                    <a:pt x="22" y="76"/>
                    <a:pt x="18" y="70"/>
                  </a:cubicBezTo>
                  <a:cubicBezTo>
                    <a:pt x="12" y="64"/>
                    <a:pt x="10" y="56"/>
                    <a:pt x="9" y="47"/>
                  </a:cubicBezTo>
                  <a:cubicBezTo>
                    <a:pt x="9" y="26"/>
                    <a:pt x="26" y="9"/>
                    <a:pt x="47" y="9"/>
                  </a:cubicBezTo>
                  <a:cubicBezTo>
                    <a:pt x="68" y="9"/>
                    <a:pt x="85" y="26"/>
                    <a:pt x="85" y="47"/>
                  </a:cubicBezTo>
                  <a:cubicBezTo>
                    <a:pt x="85" y="55"/>
                    <a:pt x="82" y="63"/>
                    <a:pt x="77" y="70"/>
                  </a:cubicBezTo>
                  <a:cubicBezTo>
                    <a:pt x="72" y="76"/>
                    <a:pt x="68" y="82"/>
                    <a:pt x="64" y="88"/>
                  </a:cubicBezTo>
                  <a:close/>
                  <a:moveTo>
                    <a:pt x="64" y="88"/>
                  </a:moveTo>
                  <a:cubicBezTo>
                    <a:pt x="64" y="88"/>
                    <a:pt x="64" y="88"/>
                    <a:pt x="64" y="88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1" name="TextBox 56">
              <a:extLst>
                <a:ext uri="{FF2B5EF4-FFF2-40B4-BE49-F238E27FC236}">
                  <a16:creationId xmlns:a16="http://schemas.microsoft.com/office/drawing/2014/main" id="{E7D11705-3F6B-CB57-37C2-58C4B82DCFBA}"/>
                </a:ext>
              </a:extLst>
            </p:cNvPr>
            <p:cNvSpPr txBox="1"/>
            <p:nvPr/>
          </p:nvSpPr>
          <p:spPr>
            <a:xfrm>
              <a:off x="5281860" y="2496032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01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2" name="TextBox 57">
              <a:extLst>
                <a:ext uri="{FF2B5EF4-FFF2-40B4-BE49-F238E27FC236}">
                  <a16:creationId xmlns:a16="http://schemas.microsoft.com/office/drawing/2014/main" id="{1DE74504-49E8-8353-419B-519546BE4A69}"/>
                </a:ext>
              </a:extLst>
            </p:cNvPr>
            <p:cNvSpPr txBox="1"/>
            <p:nvPr/>
          </p:nvSpPr>
          <p:spPr>
            <a:xfrm>
              <a:off x="6355124" y="2496032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02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3" name="TextBox 58">
              <a:extLst>
                <a:ext uri="{FF2B5EF4-FFF2-40B4-BE49-F238E27FC236}">
                  <a16:creationId xmlns:a16="http://schemas.microsoft.com/office/drawing/2014/main" id="{CAD98C20-8863-2A54-C3EE-75B67ABAC8C3}"/>
                </a:ext>
              </a:extLst>
            </p:cNvPr>
            <p:cNvSpPr txBox="1"/>
            <p:nvPr/>
          </p:nvSpPr>
          <p:spPr>
            <a:xfrm>
              <a:off x="5281860" y="4095994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03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4" name="TextBox 59">
              <a:extLst>
                <a:ext uri="{FF2B5EF4-FFF2-40B4-BE49-F238E27FC236}">
                  <a16:creationId xmlns:a16="http://schemas.microsoft.com/office/drawing/2014/main" id="{4DD32CC4-7223-6DDF-38B8-99393251BE3E}"/>
                </a:ext>
              </a:extLst>
            </p:cNvPr>
            <p:cNvSpPr txBox="1"/>
            <p:nvPr/>
          </p:nvSpPr>
          <p:spPr>
            <a:xfrm>
              <a:off x="6355124" y="4095994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04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519BC2BC-D2E0-FC4E-70B5-202B000E3D05}"/>
              </a:ext>
            </a:extLst>
          </p:cNvPr>
          <p:cNvSpPr txBox="1"/>
          <p:nvPr/>
        </p:nvSpPr>
        <p:spPr>
          <a:xfrm>
            <a:off x="1199054" y="2504499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24569D"/>
                </a:solidFill>
              </a:rPr>
              <a:t>人工神经网络概述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C855F4D-256F-E2E8-82A4-C665B219CDEF}"/>
              </a:ext>
            </a:extLst>
          </p:cNvPr>
          <p:cNvSpPr txBox="1"/>
          <p:nvPr/>
        </p:nvSpPr>
        <p:spPr>
          <a:xfrm>
            <a:off x="8551048" y="4920321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24569D"/>
                </a:solidFill>
              </a:rPr>
              <a:t>误差反向传播</a:t>
            </a:r>
            <a:endParaRPr lang="zh-CN" altLang="en-US" sz="2400" b="1" dirty="0">
              <a:solidFill>
                <a:srgbClr val="24569D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8F1FF43-C5CA-33A6-6031-A6442D5988F0}"/>
              </a:ext>
            </a:extLst>
          </p:cNvPr>
          <p:cNvSpPr txBox="1"/>
          <p:nvPr/>
        </p:nvSpPr>
        <p:spPr>
          <a:xfrm>
            <a:off x="1106240" y="4862587"/>
            <a:ext cx="2969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激活函数与损失函数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5DBC89-F105-4F49-BB60-1701ECA7B3C0}"/>
              </a:ext>
            </a:extLst>
          </p:cNvPr>
          <p:cNvSpPr/>
          <p:nvPr/>
        </p:nvSpPr>
        <p:spPr>
          <a:xfrm>
            <a:off x="745606" y="902626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目录</a:t>
            </a:r>
          </a:p>
        </p:txBody>
      </p:sp>
      <p:grpSp>
        <p:nvGrpSpPr>
          <p:cNvPr id="30" name="PA_组合 25">
            <a:extLst>
              <a:ext uri="{FF2B5EF4-FFF2-40B4-BE49-F238E27FC236}">
                <a16:creationId xmlns:a16="http://schemas.microsoft.com/office/drawing/2014/main" id="{65FD479B-C71F-D983-D2E0-58598A98470E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8143529" y="2621174"/>
            <a:ext cx="2855980" cy="1458074"/>
            <a:chOff x="656868" y="2635700"/>
            <a:chExt cx="2855980" cy="1458074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19BC2BC-D2E0-FC4E-70B5-202B000E3D05}"/>
                </a:ext>
              </a:extLst>
            </p:cNvPr>
            <p:cNvSpPr txBox="1"/>
            <p:nvPr/>
          </p:nvSpPr>
          <p:spPr>
            <a:xfrm>
              <a:off x="877066" y="2635700"/>
              <a:ext cx="20409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rgbClr val="24569D"/>
                  </a:solidFill>
                </a:rPr>
                <a:t>前馈神经网络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8587460-E77B-0D64-6CFB-4FAF4C33FDA8}"/>
                </a:ext>
              </a:extLst>
            </p:cNvPr>
            <p:cNvSpPr txBox="1"/>
            <p:nvPr/>
          </p:nvSpPr>
          <p:spPr>
            <a:xfrm>
              <a:off x="656868" y="3632109"/>
              <a:ext cx="28559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2400" dirty="0">
                <a:latin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3438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7905" y="355473"/>
            <a:ext cx="7464387" cy="497934"/>
            <a:chOff x="4099943" y="2819853"/>
            <a:chExt cx="2570275" cy="497934"/>
          </a:xfrm>
        </p:grpSpPr>
        <p:sp>
          <p:nvSpPr>
            <p:cNvPr id="4" name="平行四边形 3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5" name="平行四边形 4"/>
            <p:cNvSpPr/>
            <p:nvPr/>
          </p:nvSpPr>
          <p:spPr bwMode="auto">
            <a:xfrm>
              <a:off x="4122533" y="2819853"/>
              <a:ext cx="2547685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216534" y="2853798"/>
              <a:ext cx="235968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激活函数与损失函数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2F9EB5A4-D5A1-43FD-8D13-88A81F02C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05" y="1352548"/>
            <a:ext cx="9320251" cy="482970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518112" y="618225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隐藏层的激活函数</a:t>
            </a:r>
          </a:p>
        </p:txBody>
      </p:sp>
      <p:sp>
        <p:nvSpPr>
          <p:cNvPr id="7" name="矩形 6"/>
          <p:cNvSpPr/>
          <p:nvPr/>
        </p:nvSpPr>
        <p:spPr>
          <a:xfrm>
            <a:off x="7136629" y="617325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输出层的激活函数</a:t>
            </a:r>
          </a:p>
        </p:txBody>
      </p:sp>
      <p:sp>
        <p:nvSpPr>
          <p:cNvPr id="10" name="矩形 9"/>
          <p:cNvSpPr/>
          <p:nvPr/>
        </p:nvSpPr>
        <p:spPr>
          <a:xfrm>
            <a:off x="10190202" y="317765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损失函数</a:t>
            </a:r>
          </a:p>
        </p:txBody>
      </p:sp>
    </p:spTree>
    <p:extLst>
      <p:ext uri="{BB962C8B-B14F-4D97-AF65-F5344CB8AC3E}">
        <p14:creationId xmlns:p14="http://schemas.microsoft.com/office/powerpoint/2010/main" val="174914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9189" y="228600"/>
            <a:ext cx="10515600" cy="1325563"/>
          </a:xfrm>
        </p:spPr>
        <p:txBody>
          <a:bodyPr/>
          <a:lstStyle/>
          <a:p>
            <a:r>
              <a:rPr lang="zh-CN" altLang="en-US" dirty="0"/>
              <a:t>隐藏</a:t>
            </a:r>
            <a:r>
              <a:rPr lang="zh-CN" altLang="en-US" dirty="0" smtClean="0"/>
              <a:t>层的激活函数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2E184CE-95CF-4F20-98AA-D518FE8EEEF6}"/>
                  </a:ext>
                </a:extLst>
              </p:cNvPr>
              <p:cNvSpPr/>
              <p:nvPr/>
            </p:nvSpPr>
            <p:spPr>
              <a:xfrm>
                <a:off x="609600" y="1855296"/>
                <a:ext cx="7238011" cy="49705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sz="16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优点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概率形式输出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sigmoid</a:t>
                </a:r>
                <a:r>
                  <a:rPr lang="zh-CN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函数值域为</a:t>
                </a:r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(0</a:t>
                </a:r>
                <a:r>
                  <a:rPr lang="zh-CN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1)</a:t>
                </a:r>
                <a:r>
                  <a:rPr lang="zh-CN" altLang="zh-CN" sz="16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，输出</a:t>
                </a:r>
                <a:r>
                  <a:rPr lang="zh-CN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可视为概率</a:t>
                </a:r>
                <a:r>
                  <a:rPr lang="zh-CN" altLang="zh-CN" sz="16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值</a:t>
                </a:r>
                <a:r>
                  <a:rPr lang="zh-CN" altLang="en-US" sz="16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，二分类时判断为正类的概率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；</a:t>
                </a:r>
                <a:endParaRPr lang="en-US" altLang="zh-CN" sz="16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16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单调递增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Sigmoid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函数对输入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取值范围没有限制，但当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大于一定值后，函数输出无限趋近于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，而小于一定数值后，函数输出无限趋近于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。特别地，当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=0 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时，函数输出为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0.5</a:t>
                </a:r>
                <a:r>
                  <a:rPr lang="zh-CN" altLang="zh-CN" sz="16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；</a:t>
                </a:r>
                <a:endParaRPr lang="en-US" altLang="zh-CN" sz="16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16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16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非线性变化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取值在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附近时，函数输出值的变化幅度比较大（函数值变化陡峭），意味着函数在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附近容易被激活且是非线性变化。当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取值很大或很小时，函数输出值几乎不变，这是基于概率的一种认识与需要。</a:t>
                </a:r>
              </a:p>
              <a:p>
                <a:pPr indent="266700" algn="just">
                  <a:lnSpc>
                    <a:spcPct val="150000"/>
                  </a:lnSpc>
                  <a:spcAft>
                    <a:spcPts val="600"/>
                  </a:spcAft>
                </a:pPr>
                <a:endParaRPr lang="zh-CN" altLang="zh-CN" sz="1600" kern="1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0&lt;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&lt;1</m:t>
                    </m:r>
                  </m:oMath>
                </a14:m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0&lt;1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&lt;1</m:t>
                    </m:r>
                  </m:oMath>
                </a14:m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，因此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Sigmoid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函数的导数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(1−</m:t>
                    </m:r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_GB231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小于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在使用反向传播算法更新参数过程中易出现导数过于接近于</a:t>
                </a:r>
                <a:r>
                  <a:rPr lang="en-US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的情况，即</a:t>
                </a:r>
                <a:r>
                  <a:rPr lang="zh-CN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梯度消失（</a:t>
                </a:r>
                <a:r>
                  <a:rPr lang="en-US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vanishing gradient</a:t>
                </a:r>
                <a:r>
                  <a:rPr lang="zh-CN" altLang="zh-CN" sz="1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）的问题</a:t>
                </a:r>
                <a:r>
                  <a:rPr lang="zh-CN" altLang="zh-CN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，并且这个问题会随着网络的深度增加而变得愈发严重。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2E184CE-95CF-4F20-98AA-D518FE8EEE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855296"/>
                <a:ext cx="7238011" cy="4970591"/>
              </a:xfrm>
              <a:prstGeom prst="rect">
                <a:avLst/>
              </a:prstGeom>
              <a:blipFill>
                <a:blip r:embed="rId3"/>
                <a:stretch>
                  <a:fillRect l="-421" r="-3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9BCBB10-E3AB-4833-973E-1D77A2C29E20}"/>
                  </a:ext>
                </a:extLst>
              </p:cNvPr>
              <p:cNvSpPr/>
              <p:nvPr/>
            </p:nvSpPr>
            <p:spPr>
              <a:xfrm>
                <a:off x="8958643" y="4340592"/>
                <a:ext cx="1759712" cy="6173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kern="10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9BCBB10-E3AB-4833-973E-1D77A2C29E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8643" y="4340592"/>
                <a:ext cx="1759712" cy="6173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object 4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77200" y="2101017"/>
            <a:ext cx="3522598" cy="21072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8602448" y="5410200"/>
                <a:ext cx="272343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(1−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i="1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2448" y="5410200"/>
                <a:ext cx="2723438" cy="369332"/>
              </a:xfrm>
              <a:prstGeom prst="rect">
                <a:avLst/>
              </a:prstGeom>
              <a:blipFill>
                <a:blip r:embed="rId6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07AA08C2-64DA-46C3-8D52-03A7B0581850}"/>
              </a:ext>
            </a:extLst>
          </p:cNvPr>
          <p:cNvSpPr/>
          <p:nvPr/>
        </p:nvSpPr>
        <p:spPr>
          <a:xfrm>
            <a:off x="4800600" y="842535"/>
            <a:ext cx="2286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sz="2400" dirty="0">
              <a:solidFill>
                <a:srgbClr val="000000"/>
              </a:solidFill>
              <a:latin typeface="Helvetica Light"/>
            </a:endParaRPr>
          </a:p>
          <a:p>
            <a:pPr algn="just"/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1350999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9189" y="228600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隐藏层的激活函数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8602448" y="5410200"/>
                <a:ext cx="205915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 kern="100"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kern="100"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   1   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CN" dirty="0" smtClean="0"/>
                  <a:t>&gt;0</a:t>
                </a:r>
              </a:p>
              <a:p>
                <a:r>
                  <a:rPr lang="en-US" altLang="zh-CN" dirty="0" smtClean="0"/>
                  <a:t>               0   </a:t>
                </a:r>
                <a14:m>
                  <m:oMath xmlns:m="http://schemas.openxmlformats.org/officeDocument/2006/math">
                    <m:r>
                      <a:rPr lang="en-US" altLang="zh-CN" i="1" kern="100"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zh-CN" dirty="0" smtClean="0"/>
                  <a:t>&lt;=0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2448" y="5410200"/>
                <a:ext cx="2059153" cy="646331"/>
              </a:xfrm>
              <a:prstGeom prst="rect">
                <a:avLst/>
              </a:prstGeom>
              <a:blipFill>
                <a:blip r:embed="rId3"/>
                <a:stretch>
                  <a:fillRect l="-888" t="-5660" r="-1479" b="-13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07AA08C2-64DA-46C3-8D52-03A7B0581850}"/>
              </a:ext>
            </a:extLst>
          </p:cNvPr>
          <p:cNvSpPr/>
          <p:nvPr/>
        </p:nvSpPr>
        <p:spPr>
          <a:xfrm>
            <a:off x="5791200" y="675885"/>
            <a:ext cx="2286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sz="2400" dirty="0">
              <a:solidFill>
                <a:srgbClr val="000000"/>
              </a:solidFill>
              <a:latin typeface="Helvetica Light"/>
            </a:endParaRPr>
          </a:p>
          <a:p>
            <a:pPr algn="just"/>
            <a:r>
              <a:rPr lang="en-US" altLang="zh-CN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zh-CN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[2011]</a:t>
            </a:r>
            <a:endParaRPr lang="zh-CN" alt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71863D59-987D-426A-B6FF-D5C0BBE73298}"/>
                  </a:ext>
                </a:extLst>
              </p:cNvPr>
              <p:cNvSpPr/>
              <p:nvPr/>
            </p:nvSpPr>
            <p:spPr>
              <a:xfrm>
                <a:off x="839189" y="1636475"/>
                <a:ext cx="6373869" cy="44200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lang="en-US" altLang="zh-CN" kern="100" dirty="0" err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ReLU</a:t>
                </a:r>
                <a:r>
                  <a:rPr lang="zh-CN" altLang="zh-CN" kern="1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函数的导数为：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i="1" kern="100"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 kern="100"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0, </m:t>
                            </m:r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𝑓𝑜𝑟</m:t>
                            </m:r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&lt;0</m:t>
                            </m:r>
                          </m:e>
                          <m:e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1, </m:t>
                            </m:r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𝑓𝑜𝑟</m:t>
                            </m:r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i="1" kern="10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≥0</m:t>
                            </m:r>
                          </m:e>
                        </m:eqArr>
                      </m:e>
                    </m:d>
                  </m:oMath>
                </a14:m>
                <a:endParaRPr lang="zh-CN" altLang="zh-CN" kern="1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当输入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时，</a:t>
                </a:r>
                <a:r>
                  <a:rPr lang="en-US" altLang="zh-CN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ReLU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的导数为常数，这样可有效缓解梯度消失这一问题。当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_GB2312"/>
                        <a:cs typeface="Times New Roman" panose="02020603050405020304" pitchFamily="18" charset="0"/>
                      </a:rPr>
                      <m:t>&lt;0</m:t>
                    </m:r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时， </a:t>
                </a:r>
                <a:r>
                  <a:rPr lang="en-US" altLang="zh-CN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ReLU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的梯度总是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，导致神经网络中若干参数激活值为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，即参与分类等任务神经元数目稀缺，这种</a:t>
                </a:r>
                <a:r>
                  <a:rPr lang="zh-CN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稀疏性可以在一定程度上克服机器学习中经常出现的过拟合现象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。然而，当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x &lt; 0 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时，</a:t>
                </a:r>
                <a:r>
                  <a:rPr lang="en-US" altLang="zh-CN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ReLU</a:t>
                </a:r>
                <a:r>
                  <a:rPr lang="zh-CN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梯度为</a:t>
                </a:r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也导致神经元</a:t>
                </a:r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“</a:t>
                </a:r>
                <a:r>
                  <a:rPr lang="zh-CN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死亡</a:t>
                </a:r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，即神经元对应权重永远不会更新。为了解决这个问题，可以使用其他激活函数，如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Leaky </a:t>
                </a:r>
                <a:r>
                  <a:rPr lang="en-US" altLang="zh-CN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ReLU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或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Parametric </a:t>
                </a:r>
                <a:r>
                  <a:rPr lang="en-US" altLang="zh-CN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ReLU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，它们在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 &lt; 0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时梯度取值非零。</a:t>
                </a: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71863D59-987D-426A-B6FF-D5C0BBE732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89" y="1636475"/>
                <a:ext cx="6373869" cy="4420056"/>
              </a:xfrm>
              <a:prstGeom prst="rect">
                <a:avLst/>
              </a:prstGeom>
              <a:blipFill>
                <a:blip r:embed="rId4"/>
                <a:stretch>
                  <a:fillRect l="-861" r="-43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1C07977-F466-4E62-94A5-0DED93C63908}"/>
                  </a:ext>
                </a:extLst>
              </p:cNvPr>
              <p:cNvSpPr/>
              <p:nvPr/>
            </p:nvSpPr>
            <p:spPr>
              <a:xfrm>
                <a:off x="8839200" y="4419600"/>
                <a:ext cx="195829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max</m:t>
                      </m:r>
                      <m:r>
                        <a:rPr lang="en-US" altLang="zh-CN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⁡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(0,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1C07977-F466-4E62-94A5-0DED93C639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0" y="4419600"/>
                <a:ext cx="1958293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秒懂AI-深度学习四种常用激活函数：Sigmoid、Tanh、ReLU和Softmax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2290598"/>
            <a:ext cx="3819525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左大括号 3"/>
          <p:cNvSpPr/>
          <p:nvPr/>
        </p:nvSpPr>
        <p:spPr>
          <a:xfrm>
            <a:off x="9525906" y="5580965"/>
            <a:ext cx="76200" cy="3048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603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输出层的激活函数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BCDC1FE-864A-4716-83F9-0501E6D86C1F}"/>
                  </a:ext>
                </a:extLst>
              </p:cNvPr>
              <p:cNvSpPr/>
              <p:nvPr/>
            </p:nvSpPr>
            <p:spPr>
              <a:xfrm>
                <a:off x="609600" y="1945476"/>
                <a:ext cx="6705600" cy="46628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b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Softmax</a:t>
                </a:r>
                <a:r>
                  <a:rPr lang="zh-CN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函数一般用于多分类问题中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，它是对逻辑斯蒂（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logistic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）回归的一种推广，也被称为多项逻辑斯蒂回归模型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(multi-nominal logistic mode)</a:t>
                </a:r>
                <a:r>
                  <a:rPr lang="zh-CN" altLang="zh-CN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en-US" altLang="zh-CN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假设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要实现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个类别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的分类任务，</a:t>
                </a:r>
                <a:r>
                  <a:rPr lang="en-US" altLang="zh-CN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Softmax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函数将</a:t>
                </a:r>
                <a:r>
                  <a:rPr lang="zh-CN" altLang="zh-CN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输入数据映射到</a:t>
                </a:r>
                <a:r>
                  <a:rPr lang="zh-CN" altLang="en-US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某</a:t>
                </a:r>
                <a:r>
                  <a:rPr lang="zh-CN" altLang="zh-CN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类别的</a:t>
                </a:r>
                <a:r>
                  <a:rPr lang="zh-CN" altLang="zh-CN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概率</a:t>
                </a:r>
                <a:r>
                  <a:rPr lang="zh-CN" altLang="en-US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en-US" altLang="zh-CN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endPara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右</a:t>
                </a:r>
                <a:r>
                  <a:rPr lang="zh-CN" altLang="zh-CN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图给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出了</a:t>
                </a:r>
                <a:r>
                  <a:rPr lang="zh-CN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三类分类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问题的</a:t>
                </a:r>
                <a:r>
                  <a:rPr lang="en-US" altLang="zh-CN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Softmax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输出示意图。在图中，</a:t>
                </a:r>
                <a:r>
                  <a:rPr lang="zh-CN" altLang="zh-CN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对于</a:t>
                </a:r>
                <a:r>
                  <a:rPr lang="zh-CN" altLang="en-US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输出层</a:t>
                </a:r>
                <a:r>
                  <a:rPr lang="zh-CN" altLang="zh-CN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取值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zh-CN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，通过</a:t>
                </a:r>
                <a:r>
                  <a:rPr lang="en-US" altLang="zh-CN" dirty="0" err="1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Softmax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变换后，将其映射到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(0,1)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之间的概率值。</a:t>
                </a: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由于</a:t>
                </a:r>
                <a:r>
                  <a:rPr lang="en-US" altLang="zh-CN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Softmax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输出结果的值累加起来为</a:t>
                </a:r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，因此可将输出概率最大的作为分类</a:t>
                </a:r>
                <a:r>
                  <a:rPr lang="zh-CN" altLang="zh-CN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目标。</a:t>
                </a:r>
                <a:endParaRPr lang="zh-CN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BCDC1FE-864A-4716-83F9-0501E6D86C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945476"/>
                <a:ext cx="6705600" cy="4662815"/>
              </a:xfrm>
              <a:prstGeom prst="rect">
                <a:avLst/>
              </a:prstGeom>
              <a:blipFill>
                <a:blip r:embed="rId3"/>
                <a:stretch>
                  <a:fillRect l="-727" r="-727" b="-1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07AA08C2-64DA-46C3-8D52-03A7B0581850}"/>
              </a:ext>
            </a:extLst>
          </p:cNvPr>
          <p:cNvSpPr/>
          <p:nvPr/>
        </p:nvSpPr>
        <p:spPr>
          <a:xfrm>
            <a:off x="6022054" y="763053"/>
            <a:ext cx="2586291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sz="2800" dirty="0">
              <a:solidFill>
                <a:srgbClr val="000000"/>
              </a:solidFill>
              <a:latin typeface="Helvetica Light"/>
            </a:endParaRPr>
          </a:p>
          <a:p>
            <a:pPr algn="just"/>
            <a:r>
              <a:rPr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zh-CN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激活函数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9EE2B80-0081-4515-8633-74BA45AF6844}"/>
                  </a:ext>
                </a:extLst>
              </p:cNvPr>
              <p:cNvSpPr/>
              <p:nvPr/>
            </p:nvSpPr>
            <p:spPr>
              <a:xfrm>
                <a:off x="8077200" y="5615609"/>
                <a:ext cx="3033010" cy="7378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i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9EE2B80-0081-4515-8633-74BA45AF68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5615609"/>
                <a:ext cx="3033010" cy="7378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747D83A9-4663-4929-AC0D-09F30CED8C1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2560"/>
          <a:stretch/>
        </p:blipFill>
        <p:spPr>
          <a:xfrm>
            <a:off x="7543800" y="2199289"/>
            <a:ext cx="4343400" cy="337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683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68855" y="374958"/>
            <a:ext cx="7464387" cy="497934"/>
            <a:chOff x="4099943" y="2819853"/>
            <a:chExt cx="2570275" cy="497934"/>
          </a:xfrm>
        </p:grpSpPr>
        <p:sp>
          <p:nvSpPr>
            <p:cNvPr id="4" name="平行四边形 3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5" name="平行四边形 4"/>
            <p:cNvSpPr/>
            <p:nvPr/>
          </p:nvSpPr>
          <p:spPr bwMode="auto">
            <a:xfrm>
              <a:off x="4122533" y="2819853"/>
              <a:ext cx="2547685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216534" y="2853798"/>
              <a:ext cx="235968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神经网络参数优化：损失函数</a:t>
              </a: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E15CC129-5086-4774-84D7-68BD1FC82AFB}"/>
              </a:ext>
            </a:extLst>
          </p:cNvPr>
          <p:cNvSpPr/>
          <p:nvPr/>
        </p:nvSpPr>
        <p:spPr>
          <a:xfrm>
            <a:off x="284220" y="1124217"/>
            <a:ext cx="527550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2800" dirty="0">
              <a:solidFill>
                <a:srgbClr val="000000"/>
              </a:solidFill>
              <a:latin typeface="汉仪玄宋.."/>
            </a:endParaRP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损失函数（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loss function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）又称为代价函数（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cost function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），用来计算模型预测值与真实值之间的误差。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损失函数是神经网络设计中的一个重要组成部分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。通过定义与任务相关的良好损失函数，在训练过程中可根据损失函数来计算神经网络的误差大小，进而优化神经网络参数。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两种最常用的损失函数：均方误差损失函数和交叉熵损失函数。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402B3B0-5B29-4777-AC79-EC087C528FD9}"/>
                  </a:ext>
                </a:extLst>
              </p:cNvPr>
              <p:cNvSpPr/>
              <p:nvPr/>
            </p:nvSpPr>
            <p:spPr>
              <a:xfrm>
                <a:off x="6086476" y="3835135"/>
                <a:ext cx="5554136" cy="27238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200000"/>
                  </a:lnSpc>
                  <a:spcAft>
                    <a:spcPts val="0"/>
                  </a:spcAft>
                </a:pPr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均方误差损失函数通过计算预测值和实际值之间距离（即误差）的平方来衡量模型优劣。假设有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个训练数据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，每个训练数据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的真实输出为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，模型对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的预测值为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j-ea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。</a:t>
                </a:r>
                <a:r>
                  <a:rPr lang="en-US" altLang="zh-CN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 </a:t>
                </a:r>
                <a:endParaRPr lang="zh-CN" altLang="zh-CN" dirty="0">
                  <a:solidFill>
                    <a:srgbClr val="00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600"/>
                  </a:spcAft>
                </a:pPr>
                <a:endParaRPr lang="zh-CN" altLang="zh-CN" kern="100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2402B3B0-5B29-4777-AC79-EC087C528F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6476" y="3835135"/>
                <a:ext cx="5554136" cy="2723823"/>
              </a:xfrm>
              <a:prstGeom prst="rect">
                <a:avLst/>
              </a:prstGeom>
              <a:blipFill>
                <a:blip r:embed="rId3"/>
                <a:stretch>
                  <a:fillRect l="-877" r="-8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E37E31E-537A-4D33-A02A-C37C636B8B4B}"/>
                  </a:ext>
                </a:extLst>
              </p:cNvPr>
              <p:cNvSpPr/>
              <p:nvPr/>
            </p:nvSpPr>
            <p:spPr>
              <a:xfrm>
                <a:off x="6538830" y="2618983"/>
                <a:ext cx="4220194" cy="8338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kern="10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MSE</m:t>
                      </m:r>
                      <m:r>
                        <a:rPr lang="en-US" altLang="zh-CN" sz="2400" b="0" i="1" kern="10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400" i="1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Loss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CN" altLang="zh-CN" sz="2400" i="1" kern="1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 kern="100">
                                          <a:latin typeface="Cambria Math" panose="02040503050406030204" pitchFamily="18" charset="0"/>
                                          <a:ea typeface="华文楷体" panose="02010600040101010101" pitchFamily="2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华文楷体" panose="0201060004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E37E31E-537A-4D33-A02A-C37C636B8B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8830" y="2618983"/>
                <a:ext cx="4220194" cy="8338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4A0A42BB-7C58-475D-B372-484EEAD11064}"/>
              </a:ext>
            </a:extLst>
          </p:cNvPr>
          <p:cNvSpPr/>
          <p:nvPr/>
        </p:nvSpPr>
        <p:spPr>
          <a:xfrm>
            <a:off x="7440108" y="185451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均方误差损失函数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222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09966" y="345948"/>
            <a:ext cx="7464387" cy="497934"/>
            <a:chOff x="4099943" y="2819853"/>
            <a:chExt cx="2570275" cy="497934"/>
          </a:xfrm>
        </p:grpSpPr>
        <p:sp>
          <p:nvSpPr>
            <p:cNvPr id="4" name="平行四边形 3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5" name="平行四边形 4"/>
            <p:cNvSpPr/>
            <p:nvPr/>
          </p:nvSpPr>
          <p:spPr bwMode="auto">
            <a:xfrm>
              <a:off x="4122533" y="2819853"/>
              <a:ext cx="2547685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216534" y="2853798"/>
              <a:ext cx="235968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神经网络参数优化：损失函数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15CC129-5086-4774-84D7-68BD1FC82AFB}"/>
                  </a:ext>
                </a:extLst>
              </p:cNvPr>
              <p:cNvSpPr/>
              <p:nvPr/>
            </p:nvSpPr>
            <p:spPr>
              <a:xfrm>
                <a:off x="509966" y="2753106"/>
                <a:ext cx="11088904" cy="32694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“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熵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被用来表示热力学系统所呈现的无序程度。香农将这一概念引入信息论领域，提出了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“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信息熵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概念，通过对数函数来测量信息的不确定性。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交叉熵（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cross entropy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）是信息论中的重要概念，主要用来度量两个概率分布间的差异。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分类的真实概率、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是模型预测概率，通过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来表示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的交叉熵可如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上</a:t>
                </a:r>
                <a:r>
                  <a:rPr lang="zh-CN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计算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zh-CN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交叉熵刻画了两个概率分布之间的距离，旨在描绘通过概率分布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来表达概率分布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的困难程度。根据公式不难理解，两个概率分布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0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越接近，交叉熵越小。也就是说，预测类别分布概率与实际类别分布概率之间的差距越小，交叉熵就越小。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15CC129-5086-4774-84D7-68BD1FC82A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66" y="2753106"/>
                <a:ext cx="11088904" cy="3269421"/>
              </a:xfrm>
              <a:prstGeom prst="rect">
                <a:avLst/>
              </a:prstGeom>
              <a:blipFill>
                <a:blip r:embed="rId3"/>
                <a:stretch>
                  <a:fillRect l="-495" r="-2804" b="-24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3717B4BB-9F00-4E05-8674-F55C75CADA00}"/>
              </a:ext>
            </a:extLst>
          </p:cNvPr>
          <p:cNvSpPr/>
          <p:nvPr/>
        </p:nvSpPr>
        <p:spPr>
          <a:xfrm>
            <a:off x="1281491" y="1822731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交叉熵损失函数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E37E31E-537A-4D33-A02A-C37C636B8B4B}"/>
                  </a:ext>
                </a:extLst>
              </p:cNvPr>
              <p:cNvSpPr/>
              <p:nvPr/>
            </p:nvSpPr>
            <p:spPr>
              <a:xfrm>
                <a:off x="4088330" y="1556046"/>
                <a:ext cx="4534896" cy="8338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 kern="10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CE</m:t>
                      </m:r>
                      <m:r>
                        <a:rPr lang="en-US" altLang="zh-CN" sz="2400" b="0" i="0" kern="10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400" i="1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Loss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zh-CN" altLang="en-US" sz="2400" dirty="0"/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E37E31E-537A-4D33-A02A-C37C636B8B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8330" y="1556046"/>
                <a:ext cx="4534896" cy="8338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657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02130" y="376680"/>
            <a:ext cx="7464387" cy="497934"/>
            <a:chOff x="4099943" y="2819853"/>
            <a:chExt cx="2570275" cy="497934"/>
          </a:xfrm>
        </p:grpSpPr>
        <p:sp>
          <p:nvSpPr>
            <p:cNvPr id="4" name="平行四边形 3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5" name="平行四边形 4"/>
            <p:cNvSpPr/>
            <p:nvPr/>
          </p:nvSpPr>
          <p:spPr bwMode="auto">
            <a:xfrm>
              <a:off x="4122533" y="2819853"/>
              <a:ext cx="2547685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216534" y="2853798"/>
              <a:ext cx="235968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神经网络参数优化：损失函数</a:t>
              </a: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C2B9FEA3-3F1C-4017-9FA1-98627DF086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564" b="58199"/>
          <a:stretch/>
        </p:blipFill>
        <p:spPr>
          <a:xfrm>
            <a:off x="1515008" y="2300339"/>
            <a:ext cx="8874364" cy="215541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3717B4BB-9F00-4E05-8674-F55C75CADA00}"/>
              </a:ext>
            </a:extLst>
          </p:cNvPr>
          <p:cNvSpPr/>
          <p:nvPr/>
        </p:nvSpPr>
        <p:spPr>
          <a:xfrm>
            <a:off x="424241" y="162881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交叉熵损失函数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E37E31E-537A-4D33-A02A-C37C636B8B4B}"/>
                  </a:ext>
                </a:extLst>
              </p:cNvPr>
              <p:cNvSpPr/>
              <p:nvPr/>
            </p:nvSpPr>
            <p:spPr>
              <a:xfrm>
                <a:off x="2497655" y="1489158"/>
                <a:ext cx="3454535" cy="6486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kern="10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CE</m:t>
                      </m:r>
                      <m:r>
                        <a:rPr lang="en-US" altLang="zh-CN" b="0" i="0" kern="10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i="1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Loss</m:t>
                      </m:r>
                      <m:r>
                        <a:rPr lang="en-US" altLang="zh-CN" kern="10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b="0" i="1" kern="100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𝑙𝑜𝑔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zh-CN" altLang="en-US" dirty="0"/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E37E31E-537A-4D33-A02A-C37C636B8B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655" y="1489158"/>
                <a:ext cx="3454535" cy="6486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C2B9FEA3-3F1C-4017-9FA1-98627DF086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41" t="40017" r="-2141" b="34569"/>
          <a:stretch/>
        </p:blipFill>
        <p:spPr>
          <a:xfrm>
            <a:off x="0" y="4595411"/>
            <a:ext cx="7233591" cy="163930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2B9FEA3-3F1C-4017-9FA1-98627DF086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85" t="65470" r="8844" b="11081"/>
          <a:stretch/>
        </p:blipFill>
        <p:spPr>
          <a:xfrm>
            <a:off x="6271977" y="4800600"/>
            <a:ext cx="5729486" cy="139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1EFC7-F189-6209-A72E-614D3E936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630522CE-BF99-1C2C-9E2C-76803CD02324}"/>
              </a:ext>
            </a:extLst>
          </p:cNvPr>
          <p:cNvGrpSpPr/>
          <p:nvPr/>
        </p:nvGrpSpPr>
        <p:grpSpPr>
          <a:xfrm>
            <a:off x="3869989" y="1594509"/>
            <a:ext cx="4452022" cy="4487848"/>
            <a:chOff x="3872379" y="1383943"/>
            <a:chExt cx="4452022" cy="4487848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A0ECAAFF-0D78-F81E-66DC-9A7C4C080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379" y="1383943"/>
              <a:ext cx="2161524" cy="2161524"/>
            </a:xfrm>
            <a:custGeom>
              <a:avLst/>
              <a:gdLst/>
              <a:ahLst/>
              <a:cxnLst>
                <a:cxn ang="0">
                  <a:pos x="673" y="233"/>
                </a:cxn>
                <a:cxn ang="0">
                  <a:pos x="233" y="233"/>
                </a:cxn>
                <a:cxn ang="0">
                  <a:pos x="233" y="673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673" y="233"/>
                </a:cxn>
              </a:cxnLst>
              <a:rect l="0" t="0" r="r" b="b"/>
              <a:pathLst>
                <a:path w="905" h="905">
                  <a:moveTo>
                    <a:pt x="673" y="233"/>
                  </a:moveTo>
                  <a:lnTo>
                    <a:pt x="233" y="233"/>
                  </a:lnTo>
                  <a:lnTo>
                    <a:pt x="233" y="673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673" y="23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C3115C7E-9558-718E-BA58-FE89B01EF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2877" y="1383943"/>
              <a:ext cx="2161524" cy="2161524"/>
            </a:xfrm>
            <a:custGeom>
              <a:avLst/>
              <a:gdLst/>
              <a:ahLst/>
              <a:cxnLst>
                <a:cxn ang="0">
                  <a:pos x="672" y="673"/>
                </a:cxn>
                <a:cxn ang="0">
                  <a:pos x="672" y="233"/>
                </a:cxn>
                <a:cxn ang="0">
                  <a:pos x="232" y="233"/>
                </a:cxn>
                <a:cxn ang="0">
                  <a:pos x="0" y="0"/>
                </a:cxn>
                <a:cxn ang="0">
                  <a:pos x="0" y="905"/>
                </a:cxn>
                <a:cxn ang="0">
                  <a:pos x="905" y="905"/>
                </a:cxn>
                <a:cxn ang="0">
                  <a:pos x="672" y="673"/>
                </a:cxn>
              </a:cxnLst>
              <a:rect l="0" t="0" r="r" b="b"/>
              <a:pathLst>
                <a:path w="905" h="905">
                  <a:moveTo>
                    <a:pt x="672" y="673"/>
                  </a:moveTo>
                  <a:lnTo>
                    <a:pt x="672" y="233"/>
                  </a:lnTo>
                  <a:lnTo>
                    <a:pt x="232" y="233"/>
                  </a:lnTo>
                  <a:lnTo>
                    <a:pt x="0" y="0"/>
                  </a:lnTo>
                  <a:lnTo>
                    <a:pt x="0" y="905"/>
                  </a:lnTo>
                  <a:lnTo>
                    <a:pt x="905" y="905"/>
                  </a:lnTo>
                  <a:lnTo>
                    <a:pt x="672" y="673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5C674E5A-1246-1811-6A98-F86077497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379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3" y="232"/>
                </a:cxn>
                <a:cxn ang="0">
                  <a:pos x="233" y="672"/>
                </a:cxn>
                <a:cxn ang="0">
                  <a:pos x="673" y="672"/>
                </a:cxn>
                <a:cxn ang="0">
                  <a:pos x="905" y="905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233" y="232"/>
                  </a:lnTo>
                  <a:lnTo>
                    <a:pt x="233" y="672"/>
                  </a:lnTo>
                  <a:lnTo>
                    <a:pt x="673" y="672"/>
                  </a:lnTo>
                  <a:lnTo>
                    <a:pt x="905" y="905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8567AC0D-A552-5BA9-4C32-F4A5369B7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2877" y="3710267"/>
              <a:ext cx="2161524" cy="21615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05"/>
                </a:cxn>
                <a:cxn ang="0">
                  <a:pos x="232" y="672"/>
                </a:cxn>
                <a:cxn ang="0">
                  <a:pos x="672" y="672"/>
                </a:cxn>
                <a:cxn ang="0">
                  <a:pos x="672" y="232"/>
                </a:cxn>
                <a:cxn ang="0">
                  <a:pos x="905" y="0"/>
                </a:cxn>
                <a:cxn ang="0">
                  <a:pos x="0" y="0"/>
                </a:cxn>
              </a:cxnLst>
              <a:rect l="0" t="0" r="r" b="b"/>
              <a:pathLst>
                <a:path w="905" h="905">
                  <a:moveTo>
                    <a:pt x="0" y="0"/>
                  </a:moveTo>
                  <a:lnTo>
                    <a:pt x="0" y="905"/>
                  </a:lnTo>
                  <a:lnTo>
                    <a:pt x="232" y="672"/>
                  </a:lnTo>
                  <a:lnTo>
                    <a:pt x="672" y="672"/>
                  </a:lnTo>
                  <a:lnTo>
                    <a:pt x="672" y="232"/>
                  </a:lnTo>
                  <a:lnTo>
                    <a:pt x="9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569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grpSp>
          <p:nvGrpSpPr>
            <p:cNvPr id="7" name="Group 44">
              <a:extLst>
                <a:ext uri="{FF2B5EF4-FFF2-40B4-BE49-F238E27FC236}">
                  <a16:creationId xmlns:a16="http://schemas.microsoft.com/office/drawing/2014/main" id="{C7096C22-7A18-CC04-F526-F57D5CC2E6F6}"/>
                </a:ext>
              </a:extLst>
            </p:cNvPr>
            <p:cNvGrpSpPr/>
            <p:nvPr/>
          </p:nvGrpSpPr>
          <p:grpSpPr>
            <a:xfrm>
              <a:off x="4569798" y="4627422"/>
              <a:ext cx="527842" cy="535007"/>
              <a:chOff x="3557588" y="3654425"/>
              <a:chExt cx="350838" cy="355600"/>
            </a:xfrm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4A1380A2-0863-55B6-BAE3-6FCEEBBD84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19501" y="3654425"/>
                <a:ext cx="288925" cy="163513"/>
              </a:xfrm>
              <a:custGeom>
                <a:avLst/>
                <a:gdLst/>
                <a:ahLst/>
                <a:cxnLst>
                  <a:cxn ang="0">
                    <a:pos x="40" y="55"/>
                  </a:cxn>
                  <a:cxn ang="0">
                    <a:pos x="41" y="55"/>
                  </a:cxn>
                  <a:cxn ang="0">
                    <a:pos x="95" y="55"/>
                  </a:cxn>
                  <a:cxn ang="0">
                    <a:pos x="97" y="55"/>
                  </a:cxn>
                  <a:cxn ang="0">
                    <a:pos x="97" y="53"/>
                  </a:cxn>
                  <a:cxn ang="0">
                    <a:pos x="78" y="15"/>
                  </a:cxn>
                  <a:cxn ang="0">
                    <a:pos x="38" y="0"/>
                  </a:cxn>
                  <a:cxn ang="0">
                    <a:pos x="1" y="13"/>
                  </a:cxn>
                  <a:cxn ang="0">
                    <a:pos x="0" y="15"/>
                  </a:cxn>
                  <a:cxn ang="0">
                    <a:pos x="1" y="16"/>
                  </a:cxn>
                  <a:cxn ang="0">
                    <a:pos x="40" y="55"/>
                  </a:cxn>
                  <a:cxn ang="0">
                    <a:pos x="32" y="34"/>
                  </a:cxn>
                  <a:cxn ang="0">
                    <a:pos x="48" y="11"/>
                  </a:cxn>
                  <a:cxn ang="0">
                    <a:pos x="53" y="12"/>
                  </a:cxn>
                  <a:cxn ang="0">
                    <a:pos x="36" y="38"/>
                  </a:cxn>
                  <a:cxn ang="0">
                    <a:pos x="32" y="34"/>
                  </a:cxn>
                  <a:cxn ang="0">
                    <a:pos x="38" y="10"/>
                  </a:cxn>
                  <a:cxn ang="0">
                    <a:pos x="40" y="10"/>
                  </a:cxn>
                  <a:cxn ang="0">
                    <a:pos x="27" y="29"/>
                  </a:cxn>
                  <a:cxn ang="0">
                    <a:pos x="23" y="25"/>
                  </a:cxn>
                  <a:cxn ang="0">
                    <a:pos x="33" y="10"/>
                  </a:cxn>
                  <a:cxn ang="0">
                    <a:pos x="38" y="10"/>
                  </a:cxn>
                  <a:cxn ang="0">
                    <a:pos x="23" y="12"/>
                  </a:cxn>
                  <a:cxn ang="0">
                    <a:pos x="18" y="19"/>
                  </a:cxn>
                  <a:cxn ang="0">
                    <a:pos x="14" y="16"/>
                  </a:cxn>
                  <a:cxn ang="0">
                    <a:pos x="21" y="13"/>
                  </a:cxn>
                  <a:cxn ang="0">
                    <a:pos x="23" y="12"/>
                  </a:cxn>
                  <a:cxn ang="0">
                    <a:pos x="69" y="46"/>
                  </a:cxn>
                  <a:cxn ang="0">
                    <a:pos x="79" y="31"/>
                  </a:cxn>
                  <a:cxn ang="0">
                    <a:pos x="81" y="34"/>
                  </a:cxn>
                  <a:cxn ang="0">
                    <a:pos x="73" y="46"/>
                  </a:cxn>
                  <a:cxn ang="0">
                    <a:pos x="69" y="46"/>
                  </a:cxn>
                  <a:cxn ang="0">
                    <a:pos x="82" y="46"/>
                  </a:cxn>
                  <a:cxn ang="0">
                    <a:pos x="85" y="41"/>
                  </a:cxn>
                  <a:cxn ang="0">
                    <a:pos x="86" y="46"/>
                  </a:cxn>
                  <a:cxn ang="0">
                    <a:pos x="82" y="46"/>
                  </a:cxn>
                  <a:cxn ang="0">
                    <a:pos x="54" y="46"/>
                  </a:cxn>
                  <a:cxn ang="0">
                    <a:pos x="70" y="22"/>
                  </a:cxn>
                  <a:cxn ang="0">
                    <a:pos x="72" y="23"/>
                  </a:cxn>
                  <a:cxn ang="0">
                    <a:pos x="74" y="25"/>
                  </a:cxn>
                  <a:cxn ang="0">
                    <a:pos x="60" y="46"/>
                  </a:cxn>
                  <a:cxn ang="0">
                    <a:pos x="54" y="46"/>
                  </a:cxn>
                  <a:cxn ang="0">
                    <a:pos x="46" y="46"/>
                  </a:cxn>
                  <a:cxn ang="0">
                    <a:pos x="44" y="46"/>
                  </a:cxn>
                  <a:cxn ang="0">
                    <a:pos x="41" y="43"/>
                  </a:cxn>
                  <a:cxn ang="0">
                    <a:pos x="60" y="15"/>
                  </a:cxn>
                  <a:cxn ang="0">
                    <a:pos x="65" y="17"/>
                  </a:cxn>
                  <a:cxn ang="0">
                    <a:pos x="46" y="46"/>
                  </a:cxn>
                  <a:cxn ang="0">
                    <a:pos x="46" y="46"/>
                  </a:cxn>
                  <a:cxn ang="0">
                    <a:pos x="46" y="46"/>
                  </a:cxn>
                </a:cxnLst>
                <a:rect l="0" t="0" r="r" b="b"/>
                <a:pathLst>
                  <a:path w="97" h="55">
                    <a:moveTo>
                      <a:pt x="40" y="55"/>
                    </a:moveTo>
                    <a:cubicBezTo>
                      <a:pt x="40" y="55"/>
                      <a:pt x="40" y="55"/>
                      <a:pt x="41" y="55"/>
                    </a:cubicBezTo>
                    <a:cubicBezTo>
                      <a:pt x="95" y="55"/>
                      <a:pt x="95" y="55"/>
                      <a:pt x="95" y="55"/>
                    </a:cubicBezTo>
                    <a:cubicBezTo>
                      <a:pt x="96" y="55"/>
                      <a:pt x="96" y="55"/>
                      <a:pt x="97" y="55"/>
                    </a:cubicBezTo>
                    <a:cubicBezTo>
                      <a:pt x="97" y="54"/>
                      <a:pt x="97" y="54"/>
                      <a:pt x="97" y="53"/>
                    </a:cubicBezTo>
                    <a:cubicBezTo>
                      <a:pt x="96" y="39"/>
                      <a:pt x="89" y="25"/>
                      <a:pt x="78" y="15"/>
                    </a:cubicBezTo>
                    <a:cubicBezTo>
                      <a:pt x="67" y="6"/>
                      <a:pt x="53" y="0"/>
                      <a:pt x="38" y="0"/>
                    </a:cubicBezTo>
                    <a:cubicBezTo>
                      <a:pt x="25" y="0"/>
                      <a:pt x="12" y="5"/>
                      <a:pt x="1" y="13"/>
                    </a:cubicBezTo>
                    <a:cubicBezTo>
                      <a:pt x="1" y="14"/>
                      <a:pt x="0" y="14"/>
                      <a:pt x="0" y="15"/>
                    </a:cubicBezTo>
                    <a:cubicBezTo>
                      <a:pt x="0" y="15"/>
                      <a:pt x="1" y="16"/>
                      <a:pt x="1" y="16"/>
                    </a:cubicBezTo>
                    <a:lnTo>
                      <a:pt x="40" y="55"/>
                    </a:lnTo>
                    <a:close/>
                    <a:moveTo>
                      <a:pt x="32" y="34"/>
                    </a:moveTo>
                    <a:cubicBezTo>
                      <a:pt x="48" y="11"/>
                      <a:pt x="48" y="11"/>
                      <a:pt x="48" y="11"/>
                    </a:cubicBezTo>
                    <a:cubicBezTo>
                      <a:pt x="50" y="11"/>
                      <a:pt x="51" y="12"/>
                      <a:pt x="53" y="12"/>
                    </a:cubicBezTo>
                    <a:cubicBezTo>
                      <a:pt x="36" y="38"/>
                      <a:pt x="36" y="38"/>
                      <a:pt x="36" y="38"/>
                    </a:cubicBezTo>
                    <a:lnTo>
                      <a:pt x="32" y="34"/>
                    </a:lnTo>
                    <a:close/>
                    <a:moveTo>
                      <a:pt x="38" y="10"/>
                    </a:moveTo>
                    <a:cubicBezTo>
                      <a:pt x="39" y="10"/>
                      <a:pt x="39" y="10"/>
                      <a:pt x="40" y="10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5" y="10"/>
                      <a:pt x="37" y="10"/>
                      <a:pt x="38" y="10"/>
                    </a:cubicBezTo>
                    <a:close/>
                    <a:moveTo>
                      <a:pt x="23" y="12"/>
                    </a:moveTo>
                    <a:cubicBezTo>
                      <a:pt x="18" y="19"/>
                      <a:pt x="18" y="19"/>
                      <a:pt x="18" y="19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6" y="15"/>
                      <a:pt x="19" y="14"/>
                      <a:pt x="21" y="13"/>
                    </a:cubicBezTo>
                    <a:cubicBezTo>
                      <a:pt x="22" y="13"/>
                      <a:pt x="22" y="12"/>
                      <a:pt x="23" y="12"/>
                    </a:cubicBezTo>
                    <a:close/>
                    <a:moveTo>
                      <a:pt x="69" y="46"/>
                    </a:moveTo>
                    <a:cubicBezTo>
                      <a:pt x="79" y="31"/>
                      <a:pt x="79" y="31"/>
                      <a:pt x="79" y="31"/>
                    </a:cubicBezTo>
                    <a:cubicBezTo>
                      <a:pt x="80" y="32"/>
                      <a:pt x="80" y="33"/>
                      <a:pt x="81" y="34"/>
                    </a:cubicBezTo>
                    <a:cubicBezTo>
                      <a:pt x="73" y="46"/>
                      <a:pt x="73" y="46"/>
                      <a:pt x="73" y="46"/>
                    </a:cubicBezTo>
                    <a:lnTo>
                      <a:pt x="69" y="46"/>
                    </a:lnTo>
                    <a:close/>
                    <a:moveTo>
                      <a:pt x="82" y="46"/>
                    </a:moveTo>
                    <a:cubicBezTo>
                      <a:pt x="85" y="41"/>
                      <a:pt x="85" y="41"/>
                      <a:pt x="85" y="41"/>
                    </a:cubicBezTo>
                    <a:cubicBezTo>
                      <a:pt x="85" y="43"/>
                      <a:pt x="86" y="44"/>
                      <a:pt x="86" y="46"/>
                    </a:cubicBezTo>
                    <a:lnTo>
                      <a:pt x="82" y="46"/>
                    </a:lnTo>
                    <a:close/>
                    <a:moveTo>
                      <a:pt x="54" y="46"/>
                    </a:moveTo>
                    <a:cubicBezTo>
                      <a:pt x="70" y="22"/>
                      <a:pt x="70" y="22"/>
                      <a:pt x="70" y="22"/>
                    </a:cubicBezTo>
                    <a:cubicBezTo>
                      <a:pt x="71" y="22"/>
                      <a:pt x="71" y="22"/>
                      <a:pt x="72" y="23"/>
                    </a:cubicBezTo>
                    <a:cubicBezTo>
                      <a:pt x="73" y="24"/>
                      <a:pt x="73" y="24"/>
                      <a:pt x="74" y="25"/>
                    </a:cubicBezTo>
                    <a:cubicBezTo>
                      <a:pt x="60" y="46"/>
                      <a:pt x="60" y="46"/>
                      <a:pt x="60" y="46"/>
                    </a:cubicBezTo>
                    <a:lnTo>
                      <a:pt x="54" y="46"/>
                    </a:lnTo>
                    <a:close/>
                    <a:moveTo>
                      <a:pt x="46" y="46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60" y="15"/>
                      <a:pt x="60" y="15"/>
                      <a:pt x="60" y="15"/>
                    </a:cubicBezTo>
                    <a:cubicBezTo>
                      <a:pt x="62" y="16"/>
                      <a:pt x="63" y="16"/>
                      <a:pt x="65" y="17"/>
                    </a:cubicBezTo>
                    <a:lnTo>
                      <a:pt x="46" y="46"/>
                    </a:lnTo>
                    <a:close/>
                    <a:moveTo>
                      <a:pt x="46" y="46"/>
                    </a:moveTo>
                    <a:cubicBezTo>
                      <a:pt x="46" y="46"/>
                      <a:pt x="46" y="46"/>
                      <a:pt x="46" y="4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35C59EC1-802B-3B7A-6F08-7379AB72BF9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57588" y="3719513"/>
                <a:ext cx="157163" cy="254000"/>
              </a:xfrm>
              <a:custGeom>
                <a:avLst/>
                <a:gdLst/>
                <a:ahLst/>
                <a:cxnLst>
                  <a:cxn ang="0">
                    <a:pos x="53" y="37"/>
                  </a:cxn>
                  <a:cxn ang="0">
                    <a:pos x="16" y="0"/>
                  </a:cxn>
                  <a:cxn ang="0">
                    <a:pos x="14" y="0"/>
                  </a:cxn>
                  <a:cxn ang="0">
                    <a:pos x="13" y="0"/>
                  </a:cxn>
                  <a:cxn ang="0">
                    <a:pos x="0" y="38"/>
                  </a:cxn>
                  <a:cxn ang="0">
                    <a:pos x="23" y="85"/>
                  </a:cxn>
                  <a:cxn ang="0">
                    <a:pos x="24" y="85"/>
                  </a:cxn>
                  <a:cxn ang="0">
                    <a:pos x="24" y="85"/>
                  </a:cxn>
                  <a:cxn ang="0">
                    <a:pos x="26" y="84"/>
                  </a:cxn>
                  <a:cxn ang="0">
                    <a:pos x="53" y="40"/>
                  </a:cxn>
                  <a:cxn ang="0">
                    <a:pos x="53" y="37"/>
                  </a:cxn>
                  <a:cxn ang="0">
                    <a:pos x="42" y="40"/>
                  </a:cxn>
                  <a:cxn ang="0">
                    <a:pos x="22" y="71"/>
                  </a:cxn>
                  <a:cxn ang="0">
                    <a:pos x="15" y="60"/>
                  </a:cxn>
                  <a:cxn ang="0">
                    <a:pos x="9" y="38"/>
                  </a:cxn>
                  <a:cxn ang="0">
                    <a:pos x="12" y="20"/>
                  </a:cxn>
                  <a:cxn ang="0">
                    <a:pos x="16" y="14"/>
                  </a:cxn>
                  <a:cxn ang="0">
                    <a:pos x="42" y="40"/>
                  </a:cxn>
                  <a:cxn ang="0">
                    <a:pos x="42" y="40"/>
                  </a:cxn>
                  <a:cxn ang="0">
                    <a:pos x="42" y="40"/>
                  </a:cxn>
                </a:cxnLst>
                <a:rect l="0" t="0" r="r" b="b"/>
                <a:pathLst>
                  <a:path w="53" h="85">
                    <a:moveTo>
                      <a:pt x="53" y="37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5" y="0"/>
                      <a:pt x="14" y="0"/>
                    </a:cubicBezTo>
                    <a:cubicBezTo>
                      <a:pt x="14" y="0"/>
                      <a:pt x="13" y="0"/>
                      <a:pt x="13" y="0"/>
                    </a:cubicBezTo>
                    <a:cubicBezTo>
                      <a:pt x="5" y="11"/>
                      <a:pt x="0" y="24"/>
                      <a:pt x="0" y="38"/>
                    </a:cubicBezTo>
                    <a:cubicBezTo>
                      <a:pt x="0" y="56"/>
                      <a:pt x="8" y="73"/>
                      <a:pt x="23" y="85"/>
                    </a:cubicBezTo>
                    <a:cubicBezTo>
                      <a:pt x="23" y="85"/>
                      <a:pt x="24" y="85"/>
                      <a:pt x="24" y="85"/>
                    </a:cubicBezTo>
                    <a:cubicBezTo>
                      <a:pt x="24" y="85"/>
                      <a:pt x="24" y="85"/>
                      <a:pt x="24" y="85"/>
                    </a:cubicBezTo>
                    <a:cubicBezTo>
                      <a:pt x="25" y="85"/>
                      <a:pt x="25" y="85"/>
                      <a:pt x="26" y="84"/>
                    </a:cubicBezTo>
                    <a:cubicBezTo>
                      <a:pt x="53" y="40"/>
                      <a:pt x="53" y="40"/>
                      <a:pt x="53" y="40"/>
                    </a:cubicBezTo>
                    <a:cubicBezTo>
                      <a:pt x="53" y="39"/>
                      <a:pt x="53" y="38"/>
                      <a:pt x="53" y="37"/>
                    </a:cubicBezTo>
                    <a:close/>
                    <a:moveTo>
                      <a:pt x="42" y="40"/>
                    </a:moveTo>
                    <a:cubicBezTo>
                      <a:pt x="22" y="71"/>
                      <a:pt x="22" y="71"/>
                      <a:pt x="22" y="71"/>
                    </a:cubicBezTo>
                    <a:cubicBezTo>
                      <a:pt x="19" y="68"/>
                      <a:pt x="17" y="64"/>
                      <a:pt x="15" y="60"/>
                    </a:cubicBezTo>
                    <a:cubicBezTo>
                      <a:pt x="11" y="53"/>
                      <a:pt x="9" y="46"/>
                      <a:pt x="9" y="38"/>
                    </a:cubicBezTo>
                    <a:cubicBezTo>
                      <a:pt x="9" y="32"/>
                      <a:pt x="10" y="26"/>
                      <a:pt x="12" y="20"/>
                    </a:cubicBezTo>
                    <a:cubicBezTo>
                      <a:pt x="13" y="18"/>
                      <a:pt x="14" y="16"/>
                      <a:pt x="16" y="14"/>
                    </a:cubicBezTo>
                    <a:lnTo>
                      <a:pt x="42" y="40"/>
                    </a:lnTo>
                    <a:close/>
                    <a:moveTo>
                      <a:pt x="42" y="40"/>
                    </a:moveTo>
                    <a:cubicBezTo>
                      <a:pt x="42" y="40"/>
                      <a:pt x="42" y="40"/>
                      <a:pt x="42" y="4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87F1F893-B51A-3BF1-C532-3EC9ED986B8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56013" y="3844925"/>
                <a:ext cx="252413" cy="165100"/>
              </a:xfrm>
              <a:custGeom>
                <a:avLst/>
                <a:gdLst/>
                <a:ahLst/>
                <a:cxnLst>
                  <a:cxn ang="0">
                    <a:pos x="83" y="0"/>
                  </a:cxn>
                  <a:cxn ang="0">
                    <a:pos x="30" y="0"/>
                  </a:cxn>
                  <a:cxn ang="0">
                    <a:pos x="28" y="1"/>
                  </a:cxn>
                  <a:cxn ang="0">
                    <a:pos x="0" y="47"/>
                  </a:cxn>
                  <a:cxn ang="0">
                    <a:pos x="0" y="48"/>
                  </a:cxn>
                  <a:cxn ang="0">
                    <a:pos x="1" y="49"/>
                  </a:cxn>
                  <a:cxn ang="0">
                    <a:pos x="26" y="55"/>
                  </a:cxn>
                  <a:cxn ang="0">
                    <a:pos x="66" y="40"/>
                  </a:cxn>
                  <a:cxn ang="0">
                    <a:pos x="85" y="2"/>
                  </a:cxn>
                  <a:cxn ang="0">
                    <a:pos x="85" y="1"/>
                  </a:cxn>
                  <a:cxn ang="0">
                    <a:pos x="83" y="0"/>
                  </a:cxn>
                  <a:cxn ang="0">
                    <a:pos x="83" y="0"/>
                  </a:cxn>
                  <a:cxn ang="0">
                    <a:pos x="83" y="0"/>
                  </a:cxn>
                </a:cxnLst>
                <a:rect l="0" t="0" r="r" b="b"/>
                <a:pathLst>
                  <a:path w="85" h="55">
                    <a:moveTo>
                      <a:pt x="83" y="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29" y="0"/>
                      <a:pt x="29" y="0"/>
                      <a:pt x="28" y="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7"/>
                      <a:pt x="0" y="48"/>
                      <a:pt x="0" y="48"/>
                    </a:cubicBezTo>
                    <a:cubicBezTo>
                      <a:pt x="0" y="49"/>
                      <a:pt x="0" y="49"/>
                      <a:pt x="1" y="49"/>
                    </a:cubicBezTo>
                    <a:cubicBezTo>
                      <a:pt x="9" y="53"/>
                      <a:pt x="17" y="55"/>
                      <a:pt x="26" y="55"/>
                    </a:cubicBezTo>
                    <a:cubicBezTo>
                      <a:pt x="41" y="55"/>
                      <a:pt x="55" y="50"/>
                      <a:pt x="66" y="40"/>
                    </a:cubicBezTo>
                    <a:cubicBezTo>
                      <a:pt x="77" y="30"/>
                      <a:pt x="84" y="17"/>
                      <a:pt x="85" y="2"/>
                    </a:cubicBezTo>
                    <a:cubicBezTo>
                      <a:pt x="85" y="2"/>
                      <a:pt x="85" y="1"/>
                      <a:pt x="85" y="1"/>
                    </a:cubicBezTo>
                    <a:cubicBezTo>
                      <a:pt x="84" y="0"/>
                      <a:pt x="84" y="0"/>
                      <a:pt x="83" y="0"/>
                    </a:cubicBezTo>
                    <a:close/>
                    <a:moveTo>
                      <a:pt x="83" y="0"/>
                    </a:moveTo>
                    <a:cubicBezTo>
                      <a:pt x="83" y="0"/>
                      <a:pt x="83" y="0"/>
                      <a:pt x="83" y="0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grpSp>
          <p:nvGrpSpPr>
            <p:cNvPr id="8" name="Group 48">
              <a:extLst>
                <a:ext uri="{FF2B5EF4-FFF2-40B4-BE49-F238E27FC236}">
                  <a16:creationId xmlns:a16="http://schemas.microsoft.com/office/drawing/2014/main" id="{9943C6E0-3A21-E68D-5ABB-CE1158C5D321}"/>
                </a:ext>
              </a:extLst>
            </p:cNvPr>
            <p:cNvGrpSpPr/>
            <p:nvPr/>
          </p:nvGrpSpPr>
          <p:grpSpPr>
            <a:xfrm>
              <a:off x="7025097" y="2098082"/>
              <a:ext cx="606660" cy="539784"/>
              <a:chOff x="5189538" y="1973263"/>
              <a:chExt cx="403225" cy="358775"/>
            </a:xfrm>
          </p:grpSpPr>
          <p:sp>
            <p:nvSpPr>
              <p:cNvPr id="18" name="Freeform 12">
                <a:extLst>
                  <a:ext uri="{FF2B5EF4-FFF2-40B4-BE49-F238E27FC236}">
                    <a16:creationId xmlns:a16="http://schemas.microsoft.com/office/drawing/2014/main" id="{70DC6184-5D36-2771-E4F8-12E0D6B900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10188" y="1973263"/>
                <a:ext cx="282575" cy="260350"/>
              </a:xfrm>
              <a:custGeom>
                <a:avLst/>
                <a:gdLst/>
                <a:ahLst/>
                <a:cxnLst>
                  <a:cxn ang="0">
                    <a:pos x="3" y="23"/>
                  </a:cxn>
                  <a:cxn ang="0">
                    <a:pos x="13" y="25"/>
                  </a:cxn>
                  <a:cxn ang="0">
                    <a:pos x="54" y="33"/>
                  </a:cxn>
                  <a:cxn ang="0">
                    <a:pos x="65" y="55"/>
                  </a:cxn>
                  <a:cxn ang="0">
                    <a:pos x="61" y="52"/>
                  </a:cxn>
                  <a:cxn ang="0">
                    <a:pos x="56" y="52"/>
                  </a:cxn>
                  <a:cxn ang="0">
                    <a:pos x="55" y="57"/>
                  </a:cxn>
                  <a:cxn ang="0">
                    <a:pos x="65" y="85"/>
                  </a:cxn>
                  <a:cxn ang="0">
                    <a:pos x="68" y="87"/>
                  </a:cxn>
                  <a:cxn ang="0">
                    <a:pos x="72" y="86"/>
                  </a:cxn>
                  <a:cxn ang="0">
                    <a:pos x="93" y="65"/>
                  </a:cxn>
                  <a:cxn ang="0">
                    <a:pos x="94" y="60"/>
                  </a:cxn>
                  <a:cxn ang="0">
                    <a:pos x="90" y="58"/>
                  </a:cxn>
                  <a:cxn ang="0">
                    <a:pos x="83" y="60"/>
                  </a:cxn>
                  <a:cxn ang="0">
                    <a:pos x="67" y="21"/>
                  </a:cxn>
                  <a:cxn ang="0">
                    <a:pos x="6" y="9"/>
                  </a:cxn>
                  <a:cxn ang="0">
                    <a:pos x="1" y="15"/>
                  </a:cxn>
                  <a:cxn ang="0">
                    <a:pos x="3" y="23"/>
                  </a:cxn>
                  <a:cxn ang="0">
                    <a:pos x="3" y="23"/>
                  </a:cxn>
                  <a:cxn ang="0">
                    <a:pos x="3" y="23"/>
                  </a:cxn>
                </a:cxnLst>
                <a:rect l="0" t="0" r="r" b="b"/>
                <a:pathLst>
                  <a:path w="95" h="87">
                    <a:moveTo>
                      <a:pt x="3" y="23"/>
                    </a:moveTo>
                    <a:cubicBezTo>
                      <a:pt x="6" y="26"/>
                      <a:pt x="10" y="27"/>
                      <a:pt x="13" y="25"/>
                    </a:cubicBezTo>
                    <a:cubicBezTo>
                      <a:pt x="27" y="20"/>
                      <a:pt x="43" y="22"/>
                      <a:pt x="54" y="33"/>
                    </a:cubicBezTo>
                    <a:cubicBezTo>
                      <a:pt x="60" y="39"/>
                      <a:pt x="64" y="47"/>
                      <a:pt x="65" y="55"/>
                    </a:cubicBezTo>
                    <a:cubicBezTo>
                      <a:pt x="61" y="52"/>
                      <a:pt x="61" y="52"/>
                      <a:pt x="61" y="52"/>
                    </a:cubicBezTo>
                    <a:cubicBezTo>
                      <a:pt x="59" y="51"/>
                      <a:pt x="57" y="51"/>
                      <a:pt x="56" y="52"/>
                    </a:cubicBezTo>
                    <a:cubicBezTo>
                      <a:pt x="55" y="53"/>
                      <a:pt x="54" y="55"/>
                      <a:pt x="55" y="57"/>
                    </a:cubicBezTo>
                    <a:cubicBezTo>
                      <a:pt x="65" y="85"/>
                      <a:pt x="65" y="85"/>
                      <a:pt x="65" y="85"/>
                    </a:cubicBezTo>
                    <a:cubicBezTo>
                      <a:pt x="66" y="86"/>
                      <a:pt x="67" y="87"/>
                      <a:pt x="68" y="87"/>
                    </a:cubicBezTo>
                    <a:cubicBezTo>
                      <a:pt x="69" y="87"/>
                      <a:pt x="71" y="87"/>
                      <a:pt x="72" y="86"/>
                    </a:cubicBezTo>
                    <a:cubicBezTo>
                      <a:pt x="93" y="65"/>
                      <a:pt x="93" y="65"/>
                      <a:pt x="93" y="65"/>
                    </a:cubicBezTo>
                    <a:cubicBezTo>
                      <a:pt x="94" y="64"/>
                      <a:pt x="95" y="62"/>
                      <a:pt x="94" y="60"/>
                    </a:cubicBezTo>
                    <a:cubicBezTo>
                      <a:pt x="93" y="59"/>
                      <a:pt x="91" y="58"/>
                      <a:pt x="90" y="58"/>
                    </a:cubicBezTo>
                    <a:cubicBezTo>
                      <a:pt x="83" y="60"/>
                      <a:pt x="83" y="60"/>
                      <a:pt x="83" y="60"/>
                    </a:cubicBezTo>
                    <a:cubicBezTo>
                      <a:pt x="83" y="46"/>
                      <a:pt x="77" y="31"/>
                      <a:pt x="67" y="21"/>
                    </a:cubicBezTo>
                    <a:cubicBezTo>
                      <a:pt x="50" y="4"/>
                      <a:pt x="26" y="0"/>
                      <a:pt x="6" y="9"/>
                    </a:cubicBezTo>
                    <a:cubicBezTo>
                      <a:pt x="4" y="10"/>
                      <a:pt x="1" y="12"/>
                      <a:pt x="1" y="15"/>
                    </a:cubicBezTo>
                    <a:cubicBezTo>
                      <a:pt x="0" y="18"/>
                      <a:pt x="1" y="21"/>
                      <a:pt x="3" y="23"/>
                    </a:cubicBezTo>
                    <a:close/>
                    <a:moveTo>
                      <a:pt x="3" y="23"/>
                    </a:moveTo>
                    <a:cubicBezTo>
                      <a:pt x="3" y="23"/>
                      <a:pt x="3" y="23"/>
                      <a:pt x="3" y="23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9" name="Freeform 13">
                <a:extLst>
                  <a:ext uri="{FF2B5EF4-FFF2-40B4-BE49-F238E27FC236}">
                    <a16:creationId xmlns:a16="http://schemas.microsoft.com/office/drawing/2014/main" id="{BA0B801C-B3B0-EE98-B69D-74762A7A167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89538" y="2071688"/>
                <a:ext cx="280988" cy="260350"/>
              </a:xfrm>
              <a:custGeom>
                <a:avLst/>
                <a:gdLst/>
                <a:ahLst/>
                <a:cxnLst>
                  <a:cxn ang="0">
                    <a:pos x="94" y="72"/>
                  </a:cxn>
                  <a:cxn ang="0">
                    <a:pos x="91" y="64"/>
                  </a:cxn>
                  <a:cxn ang="0">
                    <a:pos x="82" y="62"/>
                  </a:cxn>
                  <a:cxn ang="0">
                    <a:pos x="41" y="54"/>
                  </a:cxn>
                  <a:cxn ang="0">
                    <a:pos x="30" y="32"/>
                  </a:cxn>
                  <a:cxn ang="0">
                    <a:pos x="34" y="35"/>
                  </a:cxn>
                  <a:cxn ang="0">
                    <a:pos x="39" y="35"/>
                  </a:cxn>
                  <a:cxn ang="0">
                    <a:pos x="40" y="31"/>
                  </a:cxn>
                  <a:cxn ang="0">
                    <a:pos x="29" y="2"/>
                  </a:cxn>
                  <a:cxn ang="0">
                    <a:pos x="26" y="0"/>
                  </a:cxn>
                  <a:cxn ang="0">
                    <a:pos x="23" y="1"/>
                  </a:cxn>
                  <a:cxn ang="0">
                    <a:pos x="1" y="22"/>
                  </a:cxn>
                  <a:cxn ang="0">
                    <a:pos x="1" y="27"/>
                  </a:cxn>
                  <a:cxn ang="0">
                    <a:pos x="5" y="29"/>
                  </a:cxn>
                  <a:cxn ang="0">
                    <a:pos x="12" y="28"/>
                  </a:cxn>
                  <a:cxn ang="0">
                    <a:pos x="28" y="66"/>
                  </a:cxn>
                  <a:cxn ang="0">
                    <a:pos x="88" y="79"/>
                  </a:cxn>
                  <a:cxn ang="0">
                    <a:pos x="94" y="72"/>
                  </a:cxn>
                  <a:cxn ang="0">
                    <a:pos x="94" y="72"/>
                  </a:cxn>
                  <a:cxn ang="0">
                    <a:pos x="94" y="72"/>
                  </a:cxn>
                </a:cxnLst>
                <a:rect l="0" t="0" r="r" b="b"/>
                <a:pathLst>
                  <a:path w="94" h="87">
                    <a:moveTo>
                      <a:pt x="94" y="72"/>
                    </a:moveTo>
                    <a:cubicBezTo>
                      <a:pt x="94" y="69"/>
                      <a:pt x="93" y="66"/>
                      <a:pt x="91" y="64"/>
                    </a:cubicBezTo>
                    <a:cubicBezTo>
                      <a:pt x="89" y="61"/>
                      <a:pt x="85" y="61"/>
                      <a:pt x="82" y="62"/>
                    </a:cubicBezTo>
                    <a:cubicBezTo>
                      <a:pt x="68" y="68"/>
                      <a:pt x="52" y="65"/>
                      <a:pt x="41" y="54"/>
                    </a:cubicBezTo>
                    <a:cubicBezTo>
                      <a:pt x="34" y="48"/>
                      <a:pt x="31" y="40"/>
                      <a:pt x="30" y="32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7" y="36"/>
                      <a:pt x="39" y="35"/>
                    </a:cubicBezTo>
                    <a:cubicBezTo>
                      <a:pt x="40" y="34"/>
                      <a:pt x="41" y="32"/>
                      <a:pt x="40" y="31"/>
                    </a:cubicBezTo>
                    <a:cubicBezTo>
                      <a:pt x="29" y="2"/>
                      <a:pt x="29" y="2"/>
                      <a:pt x="29" y="2"/>
                    </a:cubicBezTo>
                    <a:cubicBezTo>
                      <a:pt x="29" y="1"/>
                      <a:pt x="28" y="0"/>
                      <a:pt x="26" y="0"/>
                    </a:cubicBezTo>
                    <a:cubicBezTo>
                      <a:pt x="25" y="0"/>
                      <a:pt x="24" y="0"/>
                      <a:pt x="23" y="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0" y="24"/>
                      <a:pt x="0" y="25"/>
                      <a:pt x="1" y="27"/>
                    </a:cubicBezTo>
                    <a:cubicBezTo>
                      <a:pt x="2" y="28"/>
                      <a:pt x="3" y="29"/>
                      <a:pt x="5" y="29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42"/>
                      <a:pt x="17" y="56"/>
                      <a:pt x="28" y="66"/>
                    </a:cubicBezTo>
                    <a:cubicBezTo>
                      <a:pt x="44" y="83"/>
                      <a:pt x="68" y="87"/>
                      <a:pt x="88" y="79"/>
                    </a:cubicBezTo>
                    <a:cubicBezTo>
                      <a:pt x="91" y="77"/>
                      <a:pt x="93" y="75"/>
                      <a:pt x="94" y="72"/>
                    </a:cubicBezTo>
                    <a:close/>
                    <a:moveTo>
                      <a:pt x="94" y="72"/>
                    </a:moveTo>
                    <a:cubicBezTo>
                      <a:pt x="94" y="72"/>
                      <a:pt x="94" y="72"/>
                      <a:pt x="94" y="72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grpSp>
          <p:nvGrpSpPr>
            <p:cNvPr id="9" name="Group 51">
              <a:extLst>
                <a:ext uri="{FF2B5EF4-FFF2-40B4-BE49-F238E27FC236}">
                  <a16:creationId xmlns:a16="http://schemas.microsoft.com/office/drawing/2014/main" id="{26FBF4FB-827C-6AF7-3427-35C4B2BCE2E6}"/>
                </a:ext>
              </a:extLst>
            </p:cNvPr>
            <p:cNvGrpSpPr/>
            <p:nvPr/>
          </p:nvGrpSpPr>
          <p:grpSpPr>
            <a:xfrm>
              <a:off x="6984495" y="4601150"/>
              <a:ext cx="599495" cy="587552"/>
              <a:chOff x="5162551" y="3636963"/>
              <a:chExt cx="398463" cy="390525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66BA17DF-0983-019B-C82E-340E3F754C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62551" y="3636963"/>
                <a:ext cx="233363" cy="234950"/>
              </a:xfrm>
              <a:custGeom>
                <a:avLst/>
                <a:gdLst/>
                <a:ahLst/>
                <a:cxnLst>
                  <a:cxn ang="0">
                    <a:pos x="9" y="48"/>
                  </a:cxn>
                  <a:cxn ang="0">
                    <a:pos x="12" y="55"/>
                  </a:cxn>
                  <a:cxn ang="0">
                    <a:pos x="8" y="59"/>
                  </a:cxn>
                  <a:cxn ang="0">
                    <a:pos x="8" y="64"/>
                  </a:cxn>
                  <a:cxn ang="0">
                    <a:pos x="14" y="70"/>
                  </a:cxn>
                  <a:cxn ang="0">
                    <a:pos x="19" y="70"/>
                  </a:cxn>
                  <a:cxn ang="0">
                    <a:pos x="23" y="67"/>
                  </a:cxn>
                  <a:cxn ang="0">
                    <a:pos x="31" y="70"/>
                  </a:cxn>
                  <a:cxn ang="0">
                    <a:pos x="31" y="75"/>
                  </a:cxn>
                  <a:cxn ang="0">
                    <a:pos x="35" y="79"/>
                  </a:cxn>
                  <a:cxn ang="0">
                    <a:pos x="43" y="79"/>
                  </a:cxn>
                  <a:cxn ang="0">
                    <a:pos x="47" y="75"/>
                  </a:cxn>
                  <a:cxn ang="0">
                    <a:pos x="47" y="70"/>
                  </a:cxn>
                  <a:cxn ang="0">
                    <a:pos x="55" y="67"/>
                  </a:cxn>
                  <a:cxn ang="0">
                    <a:pos x="59" y="70"/>
                  </a:cxn>
                  <a:cxn ang="0">
                    <a:pos x="64" y="70"/>
                  </a:cxn>
                  <a:cxn ang="0">
                    <a:pos x="70" y="64"/>
                  </a:cxn>
                  <a:cxn ang="0">
                    <a:pos x="70" y="59"/>
                  </a:cxn>
                  <a:cxn ang="0">
                    <a:pos x="67" y="55"/>
                  </a:cxn>
                  <a:cxn ang="0">
                    <a:pos x="70" y="48"/>
                  </a:cxn>
                  <a:cxn ang="0">
                    <a:pos x="75" y="47"/>
                  </a:cxn>
                  <a:cxn ang="0">
                    <a:pos x="78" y="43"/>
                  </a:cxn>
                  <a:cxn ang="0">
                    <a:pos x="78" y="35"/>
                  </a:cxn>
                  <a:cxn ang="0">
                    <a:pos x="75" y="31"/>
                  </a:cxn>
                  <a:cxn ang="0">
                    <a:pos x="70" y="31"/>
                  </a:cxn>
                  <a:cxn ang="0">
                    <a:pos x="67" y="23"/>
                  </a:cxn>
                  <a:cxn ang="0">
                    <a:pos x="70" y="20"/>
                  </a:cxn>
                  <a:cxn ang="0">
                    <a:pos x="70" y="15"/>
                  </a:cxn>
                  <a:cxn ang="0">
                    <a:pos x="64" y="9"/>
                  </a:cxn>
                  <a:cxn ang="0">
                    <a:pos x="59" y="8"/>
                  </a:cxn>
                  <a:cxn ang="0">
                    <a:pos x="56" y="11"/>
                  </a:cxn>
                  <a:cxn ang="0">
                    <a:pos x="48" y="8"/>
                  </a:cxn>
                  <a:cxn ang="0">
                    <a:pos x="47" y="3"/>
                  </a:cxn>
                  <a:cxn ang="0">
                    <a:pos x="44" y="0"/>
                  </a:cxn>
                  <a:cxn ang="0">
                    <a:pos x="35" y="0"/>
                  </a:cxn>
                  <a:cxn ang="0">
                    <a:pos x="32" y="3"/>
                  </a:cxn>
                  <a:cxn ang="0">
                    <a:pos x="31" y="8"/>
                  </a:cxn>
                  <a:cxn ang="0">
                    <a:pos x="23" y="12"/>
                  </a:cxn>
                  <a:cxn ang="0">
                    <a:pos x="19" y="8"/>
                  </a:cxn>
                  <a:cxn ang="0">
                    <a:pos x="14" y="9"/>
                  </a:cxn>
                  <a:cxn ang="0">
                    <a:pos x="8" y="15"/>
                  </a:cxn>
                  <a:cxn ang="0">
                    <a:pos x="8" y="20"/>
                  </a:cxn>
                  <a:cxn ang="0">
                    <a:pos x="11" y="24"/>
                  </a:cxn>
                  <a:cxn ang="0">
                    <a:pos x="8" y="31"/>
                  </a:cxn>
                  <a:cxn ang="0">
                    <a:pos x="3" y="32"/>
                  </a:cxn>
                  <a:cxn ang="0">
                    <a:pos x="0" y="35"/>
                  </a:cxn>
                  <a:cxn ang="0">
                    <a:pos x="0" y="44"/>
                  </a:cxn>
                  <a:cxn ang="0">
                    <a:pos x="3" y="47"/>
                  </a:cxn>
                  <a:cxn ang="0">
                    <a:pos x="9" y="48"/>
                  </a:cxn>
                  <a:cxn ang="0">
                    <a:pos x="39" y="25"/>
                  </a:cxn>
                  <a:cxn ang="0">
                    <a:pos x="53" y="39"/>
                  </a:cxn>
                  <a:cxn ang="0">
                    <a:pos x="39" y="53"/>
                  </a:cxn>
                  <a:cxn ang="0">
                    <a:pos x="25" y="39"/>
                  </a:cxn>
                  <a:cxn ang="0">
                    <a:pos x="39" y="25"/>
                  </a:cxn>
                  <a:cxn ang="0">
                    <a:pos x="39" y="25"/>
                  </a:cxn>
                  <a:cxn ang="0">
                    <a:pos x="39" y="25"/>
                  </a:cxn>
                </a:cxnLst>
                <a:rect l="0" t="0" r="r" b="b"/>
                <a:pathLst>
                  <a:path w="78" h="79">
                    <a:moveTo>
                      <a:pt x="9" y="48"/>
                    </a:moveTo>
                    <a:cubicBezTo>
                      <a:pt x="9" y="50"/>
                      <a:pt x="10" y="53"/>
                      <a:pt x="12" y="55"/>
                    </a:cubicBezTo>
                    <a:cubicBezTo>
                      <a:pt x="8" y="59"/>
                      <a:pt x="8" y="59"/>
                      <a:pt x="8" y="59"/>
                    </a:cubicBezTo>
                    <a:cubicBezTo>
                      <a:pt x="7" y="61"/>
                      <a:pt x="7" y="63"/>
                      <a:pt x="8" y="64"/>
                    </a:cubicBezTo>
                    <a:cubicBezTo>
                      <a:pt x="14" y="70"/>
                      <a:pt x="14" y="70"/>
                      <a:pt x="14" y="70"/>
                    </a:cubicBezTo>
                    <a:cubicBezTo>
                      <a:pt x="16" y="71"/>
                      <a:pt x="18" y="71"/>
                      <a:pt x="19" y="70"/>
                    </a:cubicBezTo>
                    <a:cubicBezTo>
                      <a:pt x="23" y="67"/>
                      <a:pt x="23" y="67"/>
                      <a:pt x="23" y="67"/>
                    </a:cubicBezTo>
                    <a:cubicBezTo>
                      <a:pt x="26" y="68"/>
                      <a:pt x="28" y="69"/>
                      <a:pt x="31" y="70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3" y="79"/>
                      <a:pt x="35" y="79"/>
                    </a:cubicBezTo>
                    <a:cubicBezTo>
                      <a:pt x="43" y="79"/>
                      <a:pt x="43" y="79"/>
                      <a:pt x="43" y="79"/>
                    </a:cubicBezTo>
                    <a:cubicBezTo>
                      <a:pt x="45" y="79"/>
                      <a:pt x="47" y="77"/>
                      <a:pt x="47" y="75"/>
                    </a:cubicBezTo>
                    <a:cubicBezTo>
                      <a:pt x="47" y="70"/>
                      <a:pt x="47" y="70"/>
                      <a:pt x="47" y="70"/>
                    </a:cubicBezTo>
                    <a:cubicBezTo>
                      <a:pt x="50" y="69"/>
                      <a:pt x="53" y="68"/>
                      <a:pt x="55" y="67"/>
                    </a:cubicBezTo>
                    <a:cubicBezTo>
                      <a:pt x="59" y="70"/>
                      <a:pt x="59" y="70"/>
                      <a:pt x="59" y="70"/>
                    </a:cubicBezTo>
                    <a:cubicBezTo>
                      <a:pt x="61" y="71"/>
                      <a:pt x="63" y="71"/>
                      <a:pt x="64" y="70"/>
                    </a:cubicBezTo>
                    <a:cubicBezTo>
                      <a:pt x="70" y="64"/>
                      <a:pt x="70" y="64"/>
                      <a:pt x="70" y="64"/>
                    </a:cubicBezTo>
                    <a:cubicBezTo>
                      <a:pt x="71" y="63"/>
                      <a:pt x="71" y="61"/>
                      <a:pt x="70" y="59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8" y="53"/>
                      <a:pt x="70" y="50"/>
                      <a:pt x="70" y="48"/>
                    </a:cubicBezTo>
                    <a:cubicBezTo>
                      <a:pt x="75" y="47"/>
                      <a:pt x="75" y="47"/>
                      <a:pt x="75" y="47"/>
                    </a:cubicBezTo>
                    <a:cubicBezTo>
                      <a:pt x="77" y="47"/>
                      <a:pt x="78" y="45"/>
                      <a:pt x="78" y="43"/>
                    </a:cubicBezTo>
                    <a:cubicBezTo>
                      <a:pt x="78" y="35"/>
                      <a:pt x="78" y="35"/>
                      <a:pt x="78" y="35"/>
                    </a:cubicBezTo>
                    <a:cubicBezTo>
                      <a:pt x="78" y="33"/>
                      <a:pt x="77" y="32"/>
                      <a:pt x="75" y="31"/>
                    </a:cubicBezTo>
                    <a:cubicBezTo>
                      <a:pt x="70" y="31"/>
                      <a:pt x="70" y="31"/>
                      <a:pt x="70" y="31"/>
                    </a:cubicBezTo>
                    <a:cubicBezTo>
                      <a:pt x="70" y="28"/>
                      <a:pt x="69" y="26"/>
                      <a:pt x="67" y="23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1" y="18"/>
                      <a:pt x="71" y="16"/>
                      <a:pt x="70" y="15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3" y="7"/>
                      <a:pt x="61" y="7"/>
                      <a:pt x="59" y="8"/>
                    </a:cubicBezTo>
                    <a:cubicBezTo>
                      <a:pt x="56" y="11"/>
                      <a:pt x="56" y="11"/>
                      <a:pt x="56" y="11"/>
                    </a:cubicBezTo>
                    <a:cubicBezTo>
                      <a:pt x="53" y="10"/>
                      <a:pt x="51" y="9"/>
                      <a:pt x="48" y="8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2"/>
                      <a:pt x="45" y="0"/>
                      <a:pt x="44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3" y="0"/>
                      <a:pt x="32" y="2"/>
                      <a:pt x="32" y="3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28" y="9"/>
                      <a:pt x="26" y="10"/>
                      <a:pt x="23" y="12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8" y="7"/>
                      <a:pt x="16" y="7"/>
                      <a:pt x="14" y="9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6"/>
                      <a:pt x="7" y="18"/>
                      <a:pt x="8" y="20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0" y="26"/>
                      <a:pt x="9" y="29"/>
                      <a:pt x="8" y="31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1" y="32"/>
                      <a:pt x="0" y="33"/>
                      <a:pt x="0" y="35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1" y="47"/>
                      <a:pt x="3" y="47"/>
                    </a:cubicBezTo>
                    <a:lnTo>
                      <a:pt x="9" y="48"/>
                    </a:lnTo>
                    <a:close/>
                    <a:moveTo>
                      <a:pt x="39" y="25"/>
                    </a:moveTo>
                    <a:cubicBezTo>
                      <a:pt x="47" y="25"/>
                      <a:pt x="53" y="31"/>
                      <a:pt x="53" y="39"/>
                    </a:cubicBezTo>
                    <a:cubicBezTo>
                      <a:pt x="53" y="47"/>
                      <a:pt x="47" y="53"/>
                      <a:pt x="39" y="53"/>
                    </a:cubicBezTo>
                    <a:cubicBezTo>
                      <a:pt x="32" y="53"/>
                      <a:pt x="25" y="47"/>
                      <a:pt x="25" y="39"/>
                    </a:cubicBezTo>
                    <a:cubicBezTo>
                      <a:pt x="25" y="31"/>
                      <a:pt x="32" y="25"/>
                      <a:pt x="39" y="25"/>
                    </a:cubicBezTo>
                    <a:close/>
                    <a:moveTo>
                      <a:pt x="39" y="25"/>
                    </a:moveTo>
                    <a:cubicBezTo>
                      <a:pt x="39" y="25"/>
                      <a:pt x="39" y="25"/>
                      <a:pt x="39" y="25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EF00F40-FF60-1F53-0058-3A407B3929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65751" y="3756025"/>
                <a:ext cx="195263" cy="193675"/>
              </a:xfrm>
              <a:custGeom>
                <a:avLst/>
                <a:gdLst/>
                <a:ahLst/>
                <a:cxnLst>
                  <a:cxn ang="0">
                    <a:pos x="55" y="10"/>
                  </a:cxn>
                  <a:cxn ang="0">
                    <a:pos x="51" y="6"/>
                  </a:cxn>
                  <a:cxn ang="0">
                    <a:pos x="46" y="6"/>
                  </a:cxn>
                  <a:cxn ang="0">
                    <a:pos x="44" y="9"/>
                  </a:cxn>
                  <a:cxn ang="0">
                    <a:pos x="37" y="7"/>
                  </a:cxn>
                  <a:cxn ang="0">
                    <a:pos x="36" y="3"/>
                  </a:cxn>
                  <a:cxn ang="0">
                    <a:pos x="32" y="0"/>
                  </a:cxn>
                  <a:cxn ang="0">
                    <a:pos x="27" y="1"/>
                  </a:cxn>
                  <a:cxn ang="0">
                    <a:pos x="23" y="4"/>
                  </a:cxn>
                  <a:cxn ang="0">
                    <a:pos x="23" y="8"/>
                  </a:cxn>
                  <a:cxn ang="0">
                    <a:pos x="17" y="11"/>
                  </a:cxn>
                  <a:cxn ang="0">
                    <a:pos x="14" y="9"/>
                  </a:cxn>
                  <a:cxn ang="0">
                    <a:pos x="9" y="10"/>
                  </a:cxn>
                  <a:cxn ang="0">
                    <a:pos x="6" y="14"/>
                  </a:cxn>
                  <a:cxn ang="0">
                    <a:pos x="6" y="19"/>
                  </a:cxn>
                  <a:cxn ang="0">
                    <a:pos x="8" y="22"/>
                  </a:cxn>
                  <a:cxn ang="0">
                    <a:pos x="6" y="28"/>
                  </a:cxn>
                  <a:cxn ang="0">
                    <a:pos x="3" y="29"/>
                  </a:cxn>
                  <a:cxn ang="0">
                    <a:pos x="0" y="33"/>
                  </a:cxn>
                  <a:cxn ang="0">
                    <a:pos x="0" y="38"/>
                  </a:cxn>
                  <a:cxn ang="0">
                    <a:pos x="4" y="42"/>
                  </a:cxn>
                  <a:cxn ang="0">
                    <a:pos x="8" y="42"/>
                  </a:cxn>
                  <a:cxn ang="0">
                    <a:pos x="11" y="47"/>
                  </a:cxn>
                  <a:cxn ang="0">
                    <a:pos x="8" y="51"/>
                  </a:cxn>
                  <a:cxn ang="0">
                    <a:pos x="9" y="55"/>
                  </a:cxn>
                  <a:cxn ang="0">
                    <a:pos x="14" y="59"/>
                  </a:cxn>
                  <a:cxn ang="0">
                    <a:pos x="18" y="59"/>
                  </a:cxn>
                  <a:cxn ang="0">
                    <a:pos x="21" y="56"/>
                  </a:cxn>
                  <a:cxn ang="0">
                    <a:pos x="27" y="58"/>
                  </a:cxn>
                  <a:cxn ang="0">
                    <a:pos x="28" y="62"/>
                  </a:cxn>
                  <a:cxn ang="0">
                    <a:pos x="32" y="65"/>
                  </a:cxn>
                  <a:cxn ang="0">
                    <a:pos x="38" y="64"/>
                  </a:cxn>
                  <a:cxn ang="0">
                    <a:pos x="41" y="61"/>
                  </a:cxn>
                  <a:cxn ang="0">
                    <a:pos x="41" y="57"/>
                  </a:cxn>
                  <a:cxn ang="0">
                    <a:pos x="47" y="54"/>
                  </a:cxn>
                  <a:cxn ang="0">
                    <a:pos x="50" y="56"/>
                  </a:cxn>
                  <a:cxn ang="0">
                    <a:pos x="55" y="56"/>
                  </a:cxn>
                  <a:cxn ang="0">
                    <a:pos x="59" y="51"/>
                  </a:cxn>
                  <a:cxn ang="0">
                    <a:pos x="59" y="46"/>
                  </a:cxn>
                  <a:cxn ang="0">
                    <a:pos x="56" y="44"/>
                  </a:cxn>
                  <a:cxn ang="0">
                    <a:pos x="58" y="37"/>
                  </a:cxn>
                  <a:cxn ang="0">
                    <a:pos x="62" y="37"/>
                  </a:cxn>
                  <a:cxn ang="0">
                    <a:pos x="64" y="33"/>
                  </a:cxn>
                  <a:cxn ang="0">
                    <a:pos x="64" y="27"/>
                  </a:cxn>
                  <a:cxn ang="0">
                    <a:pos x="60" y="24"/>
                  </a:cxn>
                  <a:cxn ang="0">
                    <a:pos x="57" y="24"/>
                  </a:cxn>
                  <a:cxn ang="0">
                    <a:pos x="54" y="18"/>
                  </a:cxn>
                  <a:cxn ang="0">
                    <a:pos x="56" y="15"/>
                  </a:cxn>
                  <a:cxn ang="0">
                    <a:pos x="55" y="10"/>
                  </a:cxn>
                  <a:cxn ang="0">
                    <a:pos x="33" y="44"/>
                  </a:cxn>
                  <a:cxn ang="0">
                    <a:pos x="21" y="33"/>
                  </a:cxn>
                  <a:cxn ang="0">
                    <a:pos x="31" y="21"/>
                  </a:cxn>
                  <a:cxn ang="0">
                    <a:pos x="44" y="31"/>
                  </a:cxn>
                  <a:cxn ang="0">
                    <a:pos x="33" y="44"/>
                  </a:cxn>
                  <a:cxn ang="0">
                    <a:pos x="33" y="44"/>
                  </a:cxn>
                  <a:cxn ang="0">
                    <a:pos x="33" y="44"/>
                  </a:cxn>
                </a:cxnLst>
                <a:rect l="0" t="0" r="r" b="b"/>
                <a:pathLst>
                  <a:path w="65" h="65">
                    <a:moveTo>
                      <a:pt x="55" y="10"/>
                    </a:moveTo>
                    <a:cubicBezTo>
                      <a:pt x="51" y="6"/>
                      <a:pt x="51" y="6"/>
                      <a:pt x="51" y="6"/>
                    </a:cubicBezTo>
                    <a:cubicBezTo>
                      <a:pt x="49" y="5"/>
                      <a:pt x="47" y="5"/>
                      <a:pt x="46" y="6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41" y="8"/>
                      <a:pt x="39" y="7"/>
                      <a:pt x="37" y="7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36" y="1"/>
                      <a:pt x="34" y="0"/>
                      <a:pt x="32" y="0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5" y="1"/>
                      <a:pt x="23" y="2"/>
                      <a:pt x="23" y="4"/>
                    </a:cubicBezTo>
                    <a:cubicBezTo>
                      <a:pt x="23" y="8"/>
                      <a:pt x="23" y="8"/>
                      <a:pt x="23" y="8"/>
                    </a:cubicBezTo>
                    <a:cubicBezTo>
                      <a:pt x="21" y="9"/>
                      <a:pt x="19" y="10"/>
                      <a:pt x="17" y="11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3" y="8"/>
                      <a:pt x="11" y="8"/>
                      <a:pt x="9" y="10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4" y="16"/>
                      <a:pt x="4" y="18"/>
                      <a:pt x="6" y="19"/>
                    </a:cubicBezTo>
                    <a:cubicBezTo>
                      <a:pt x="8" y="22"/>
                      <a:pt x="8" y="22"/>
                      <a:pt x="8" y="22"/>
                    </a:cubicBezTo>
                    <a:cubicBezTo>
                      <a:pt x="7" y="24"/>
                      <a:pt x="7" y="26"/>
                      <a:pt x="6" y="28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1" y="29"/>
                      <a:pt x="0" y="31"/>
                      <a:pt x="0" y="33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" y="40"/>
                      <a:pt x="2" y="42"/>
                      <a:pt x="4" y="42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9" y="44"/>
                      <a:pt x="9" y="45"/>
                      <a:pt x="11" y="47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2"/>
                      <a:pt x="8" y="54"/>
                      <a:pt x="9" y="55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5" y="60"/>
                      <a:pt x="17" y="60"/>
                      <a:pt x="18" y="59"/>
                    </a:cubicBezTo>
                    <a:cubicBezTo>
                      <a:pt x="21" y="56"/>
                      <a:pt x="21" y="56"/>
                      <a:pt x="21" y="56"/>
                    </a:cubicBezTo>
                    <a:cubicBezTo>
                      <a:pt x="23" y="57"/>
                      <a:pt x="25" y="58"/>
                      <a:pt x="27" y="58"/>
                    </a:cubicBezTo>
                    <a:cubicBezTo>
                      <a:pt x="28" y="62"/>
                      <a:pt x="28" y="62"/>
                      <a:pt x="28" y="62"/>
                    </a:cubicBezTo>
                    <a:cubicBezTo>
                      <a:pt x="28" y="64"/>
                      <a:pt x="30" y="65"/>
                      <a:pt x="32" y="65"/>
                    </a:cubicBezTo>
                    <a:cubicBezTo>
                      <a:pt x="38" y="64"/>
                      <a:pt x="38" y="64"/>
                      <a:pt x="38" y="64"/>
                    </a:cubicBezTo>
                    <a:cubicBezTo>
                      <a:pt x="39" y="64"/>
                      <a:pt x="41" y="63"/>
                      <a:pt x="41" y="61"/>
                    </a:cubicBezTo>
                    <a:cubicBezTo>
                      <a:pt x="41" y="57"/>
                      <a:pt x="41" y="57"/>
                      <a:pt x="41" y="57"/>
                    </a:cubicBezTo>
                    <a:cubicBezTo>
                      <a:pt x="43" y="56"/>
                      <a:pt x="45" y="55"/>
                      <a:pt x="47" y="54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2" y="57"/>
                      <a:pt x="54" y="57"/>
                      <a:pt x="55" y="56"/>
                    </a:cubicBezTo>
                    <a:cubicBezTo>
                      <a:pt x="59" y="51"/>
                      <a:pt x="59" y="51"/>
                      <a:pt x="59" y="51"/>
                    </a:cubicBezTo>
                    <a:cubicBezTo>
                      <a:pt x="60" y="50"/>
                      <a:pt x="60" y="48"/>
                      <a:pt x="59" y="46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7" y="42"/>
                      <a:pt x="58" y="39"/>
                      <a:pt x="58" y="37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3" y="36"/>
                      <a:pt x="65" y="35"/>
                      <a:pt x="64" y="33"/>
                    </a:cubicBezTo>
                    <a:cubicBezTo>
                      <a:pt x="64" y="27"/>
                      <a:pt x="64" y="27"/>
                      <a:pt x="64" y="27"/>
                    </a:cubicBezTo>
                    <a:cubicBezTo>
                      <a:pt x="64" y="25"/>
                      <a:pt x="62" y="24"/>
                      <a:pt x="60" y="24"/>
                    </a:cubicBezTo>
                    <a:cubicBezTo>
                      <a:pt x="57" y="24"/>
                      <a:pt x="57" y="24"/>
                      <a:pt x="57" y="24"/>
                    </a:cubicBezTo>
                    <a:cubicBezTo>
                      <a:pt x="56" y="21"/>
                      <a:pt x="55" y="20"/>
                      <a:pt x="54" y="18"/>
                    </a:cubicBezTo>
                    <a:cubicBezTo>
                      <a:pt x="56" y="15"/>
                      <a:pt x="56" y="15"/>
                      <a:pt x="56" y="15"/>
                    </a:cubicBezTo>
                    <a:cubicBezTo>
                      <a:pt x="57" y="13"/>
                      <a:pt x="57" y="11"/>
                      <a:pt x="55" y="10"/>
                    </a:cubicBezTo>
                    <a:close/>
                    <a:moveTo>
                      <a:pt x="33" y="44"/>
                    </a:moveTo>
                    <a:cubicBezTo>
                      <a:pt x="27" y="44"/>
                      <a:pt x="21" y="40"/>
                      <a:pt x="21" y="33"/>
                    </a:cubicBezTo>
                    <a:cubicBezTo>
                      <a:pt x="20" y="27"/>
                      <a:pt x="25" y="21"/>
                      <a:pt x="31" y="21"/>
                    </a:cubicBezTo>
                    <a:cubicBezTo>
                      <a:pt x="38" y="20"/>
                      <a:pt x="43" y="25"/>
                      <a:pt x="44" y="31"/>
                    </a:cubicBezTo>
                    <a:cubicBezTo>
                      <a:pt x="44" y="38"/>
                      <a:pt x="40" y="43"/>
                      <a:pt x="33" y="44"/>
                    </a:cubicBezTo>
                    <a:close/>
                    <a:moveTo>
                      <a:pt x="33" y="44"/>
                    </a:moveTo>
                    <a:cubicBezTo>
                      <a:pt x="33" y="44"/>
                      <a:pt x="33" y="44"/>
                      <a:pt x="33" y="44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5A2D1D32-66A3-E88C-E9C2-7BA04D131E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40338" y="3871913"/>
                <a:ext cx="155575" cy="155575"/>
              </a:xfrm>
              <a:custGeom>
                <a:avLst/>
                <a:gdLst/>
                <a:ahLst/>
                <a:cxnLst>
                  <a:cxn ang="0">
                    <a:pos x="3" y="21"/>
                  </a:cxn>
                  <a:cxn ang="0">
                    <a:pos x="0" y="24"/>
                  </a:cxn>
                  <a:cxn ang="0">
                    <a:pos x="0" y="28"/>
                  </a:cxn>
                  <a:cxn ang="0">
                    <a:pos x="3" y="31"/>
                  </a:cxn>
                  <a:cxn ang="0">
                    <a:pos x="6" y="32"/>
                  </a:cxn>
                  <a:cxn ang="0">
                    <a:pos x="7" y="36"/>
                  </a:cxn>
                  <a:cxn ang="0">
                    <a:pos x="6" y="38"/>
                  </a:cxn>
                  <a:cxn ang="0">
                    <a:pos x="6" y="43"/>
                  </a:cxn>
                  <a:cxn ang="0">
                    <a:pos x="9" y="45"/>
                  </a:cxn>
                  <a:cxn ang="0">
                    <a:pos x="13" y="46"/>
                  </a:cxn>
                  <a:cxn ang="0">
                    <a:pos x="15" y="44"/>
                  </a:cxn>
                  <a:cxn ang="0">
                    <a:pos x="20" y="46"/>
                  </a:cxn>
                  <a:cxn ang="0">
                    <a:pos x="20" y="49"/>
                  </a:cxn>
                  <a:cxn ang="0">
                    <a:pos x="24" y="52"/>
                  </a:cxn>
                  <a:cxn ang="0">
                    <a:pos x="27" y="52"/>
                  </a:cxn>
                  <a:cxn ang="0">
                    <a:pos x="31" y="49"/>
                  </a:cxn>
                  <a:cxn ang="0">
                    <a:pos x="31" y="47"/>
                  </a:cxn>
                  <a:cxn ang="0">
                    <a:pos x="36" y="45"/>
                  </a:cxn>
                  <a:cxn ang="0">
                    <a:pos x="38" y="46"/>
                  </a:cxn>
                  <a:cxn ang="0">
                    <a:pos x="43" y="46"/>
                  </a:cxn>
                  <a:cxn ang="0">
                    <a:pos x="46" y="43"/>
                  </a:cxn>
                  <a:cxn ang="0">
                    <a:pos x="46" y="39"/>
                  </a:cxn>
                  <a:cxn ang="0">
                    <a:pos x="45" y="37"/>
                  </a:cxn>
                  <a:cxn ang="0">
                    <a:pos x="47" y="32"/>
                  </a:cxn>
                  <a:cxn ang="0">
                    <a:pos x="49" y="32"/>
                  </a:cxn>
                  <a:cxn ang="0">
                    <a:pos x="52" y="28"/>
                  </a:cxn>
                  <a:cxn ang="0">
                    <a:pos x="52" y="24"/>
                  </a:cxn>
                  <a:cxn ang="0">
                    <a:pos x="49" y="21"/>
                  </a:cxn>
                  <a:cxn ang="0">
                    <a:pos x="47" y="21"/>
                  </a:cxn>
                  <a:cxn ang="0">
                    <a:pos x="45" y="16"/>
                  </a:cxn>
                  <a:cxn ang="0">
                    <a:pos x="46" y="14"/>
                  </a:cxn>
                  <a:cxn ang="0">
                    <a:pos x="46" y="9"/>
                  </a:cxn>
                  <a:cxn ang="0">
                    <a:pos x="44" y="7"/>
                  </a:cxn>
                  <a:cxn ang="0">
                    <a:pos x="39" y="6"/>
                  </a:cxn>
                  <a:cxn ang="0">
                    <a:pos x="37" y="8"/>
                  </a:cxn>
                  <a:cxn ang="0">
                    <a:pos x="32" y="5"/>
                  </a:cxn>
                  <a:cxn ang="0">
                    <a:pos x="32" y="3"/>
                  </a:cxn>
                  <a:cxn ang="0">
                    <a:pos x="28" y="0"/>
                  </a:cxn>
                  <a:cxn ang="0">
                    <a:pos x="25" y="0"/>
                  </a:cxn>
                  <a:cxn ang="0">
                    <a:pos x="21" y="3"/>
                  </a:cxn>
                  <a:cxn ang="0">
                    <a:pos x="21" y="5"/>
                  </a:cxn>
                  <a:cxn ang="0">
                    <a:pos x="16" y="7"/>
                  </a:cxn>
                  <a:cxn ang="0">
                    <a:pos x="14" y="6"/>
                  </a:cxn>
                  <a:cxn ang="0">
                    <a:pos x="9" y="6"/>
                  </a:cxn>
                  <a:cxn ang="0">
                    <a:pos x="6" y="9"/>
                  </a:cxn>
                  <a:cxn ang="0">
                    <a:pos x="6" y="13"/>
                  </a:cxn>
                  <a:cxn ang="0">
                    <a:pos x="8" y="15"/>
                  </a:cxn>
                  <a:cxn ang="0">
                    <a:pos x="6" y="20"/>
                  </a:cxn>
                  <a:cxn ang="0">
                    <a:pos x="3" y="21"/>
                  </a:cxn>
                  <a:cxn ang="0">
                    <a:pos x="26" y="16"/>
                  </a:cxn>
                  <a:cxn ang="0">
                    <a:pos x="36" y="26"/>
                  </a:cxn>
                  <a:cxn ang="0">
                    <a:pos x="26" y="35"/>
                  </a:cxn>
                  <a:cxn ang="0">
                    <a:pos x="17" y="26"/>
                  </a:cxn>
                  <a:cxn ang="0">
                    <a:pos x="26" y="16"/>
                  </a:cxn>
                  <a:cxn ang="0">
                    <a:pos x="26" y="16"/>
                  </a:cxn>
                  <a:cxn ang="0">
                    <a:pos x="26" y="16"/>
                  </a:cxn>
                </a:cxnLst>
                <a:rect l="0" t="0" r="r" b="b"/>
                <a:pathLst>
                  <a:path w="52" h="52">
                    <a:moveTo>
                      <a:pt x="3" y="21"/>
                    </a:moveTo>
                    <a:cubicBezTo>
                      <a:pt x="1" y="21"/>
                      <a:pt x="0" y="22"/>
                      <a:pt x="0" y="2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9"/>
                      <a:pt x="1" y="31"/>
                      <a:pt x="3" y="31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6" y="33"/>
                      <a:pt x="7" y="35"/>
                      <a:pt x="7" y="36"/>
                    </a:cubicBezTo>
                    <a:cubicBezTo>
                      <a:pt x="6" y="38"/>
                      <a:pt x="6" y="38"/>
                      <a:pt x="6" y="38"/>
                    </a:cubicBezTo>
                    <a:cubicBezTo>
                      <a:pt x="5" y="40"/>
                      <a:pt x="5" y="42"/>
                      <a:pt x="6" y="43"/>
                    </a:cubicBezTo>
                    <a:cubicBezTo>
                      <a:pt x="9" y="45"/>
                      <a:pt x="9" y="45"/>
                      <a:pt x="9" y="45"/>
                    </a:cubicBezTo>
                    <a:cubicBezTo>
                      <a:pt x="10" y="47"/>
                      <a:pt x="12" y="47"/>
                      <a:pt x="13" y="46"/>
                    </a:cubicBezTo>
                    <a:cubicBezTo>
                      <a:pt x="15" y="44"/>
                      <a:pt x="15" y="44"/>
                      <a:pt x="15" y="44"/>
                    </a:cubicBezTo>
                    <a:cubicBezTo>
                      <a:pt x="17" y="45"/>
                      <a:pt x="18" y="46"/>
                      <a:pt x="20" y="46"/>
                    </a:cubicBezTo>
                    <a:cubicBezTo>
                      <a:pt x="20" y="49"/>
                      <a:pt x="20" y="49"/>
                      <a:pt x="20" y="49"/>
                    </a:cubicBezTo>
                    <a:cubicBezTo>
                      <a:pt x="21" y="51"/>
                      <a:pt x="22" y="52"/>
                      <a:pt x="24" y="52"/>
                    </a:cubicBezTo>
                    <a:cubicBezTo>
                      <a:pt x="27" y="52"/>
                      <a:pt x="27" y="52"/>
                      <a:pt x="27" y="52"/>
                    </a:cubicBezTo>
                    <a:cubicBezTo>
                      <a:pt x="29" y="52"/>
                      <a:pt x="31" y="51"/>
                      <a:pt x="31" y="49"/>
                    </a:cubicBezTo>
                    <a:cubicBezTo>
                      <a:pt x="31" y="47"/>
                      <a:pt x="31" y="47"/>
                      <a:pt x="31" y="47"/>
                    </a:cubicBezTo>
                    <a:cubicBezTo>
                      <a:pt x="33" y="46"/>
                      <a:pt x="35" y="45"/>
                      <a:pt x="36" y="45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40" y="47"/>
                      <a:pt x="42" y="47"/>
                      <a:pt x="43" y="46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7" y="40"/>
                      <a:pt x="46" y="39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35"/>
                      <a:pt x="46" y="33"/>
                      <a:pt x="47" y="32"/>
                    </a:cubicBezTo>
                    <a:cubicBezTo>
                      <a:pt x="49" y="32"/>
                      <a:pt x="49" y="32"/>
                      <a:pt x="49" y="32"/>
                    </a:cubicBezTo>
                    <a:cubicBezTo>
                      <a:pt x="51" y="31"/>
                      <a:pt x="52" y="30"/>
                      <a:pt x="52" y="28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3"/>
                      <a:pt x="51" y="21"/>
                      <a:pt x="49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6" y="19"/>
                      <a:pt x="46" y="17"/>
                      <a:pt x="45" y="16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7" y="12"/>
                      <a:pt x="47" y="10"/>
                      <a:pt x="46" y="9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2" y="5"/>
                      <a:pt x="40" y="5"/>
                      <a:pt x="39" y="6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6" y="7"/>
                      <a:pt x="34" y="6"/>
                      <a:pt x="32" y="5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32" y="1"/>
                      <a:pt x="30" y="0"/>
                      <a:pt x="28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3" y="0"/>
                      <a:pt x="21" y="1"/>
                      <a:pt x="21" y="3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19" y="6"/>
                      <a:pt x="17" y="6"/>
                      <a:pt x="16" y="7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2" y="5"/>
                      <a:pt x="10" y="5"/>
                      <a:pt x="9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0"/>
                      <a:pt x="5" y="12"/>
                      <a:pt x="6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7" y="17"/>
                      <a:pt x="6" y="19"/>
                      <a:pt x="6" y="20"/>
                    </a:cubicBezTo>
                    <a:lnTo>
                      <a:pt x="3" y="21"/>
                    </a:lnTo>
                    <a:close/>
                    <a:moveTo>
                      <a:pt x="26" y="16"/>
                    </a:moveTo>
                    <a:cubicBezTo>
                      <a:pt x="31" y="17"/>
                      <a:pt x="36" y="21"/>
                      <a:pt x="36" y="26"/>
                    </a:cubicBezTo>
                    <a:cubicBezTo>
                      <a:pt x="35" y="31"/>
                      <a:pt x="31" y="35"/>
                      <a:pt x="26" y="35"/>
                    </a:cubicBezTo>
                    <a:cubicBezTo>
                      <a:pt x="21" y="35"/>
                      <a:pt x="17" y="31"/>
                      <a:pt x="17" y="26"/>
                    </a:cubicBezTo>
                    <a:cubicBezTo>
                      <a:pt x="17" y="21"/>
                      <a:pt x="21" y="16"/>
                      <a:pt x="26" y="16"/>
                    </a:cubicBezTo>
                    <a:close/>
                    <a:moveTo>
                      <a:pt x="26" y="16"/>
                    </a:moveTo>
                    <a:cubicBezTo>
                      <a:pt x="26" y="16"/>
                      <a:pt x="26" y="16"/>
                      <a:pt x="26" y="16"/>
                    </a:cubicBezTo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sym typeface="+mn-lt"/>
                </a:endParaRPr>
              </a:p>
            </p:txBody>
          </p:sp>
        </p:grpSp>
        <p:sp>
          <p:nvSpPr>
            <p:cNvPr id="10" name="Freeform 17">
              <a:extLst>
                <a:ext uri="{FF2B5EF4-FFF2-40B4-BE49-F238E27FC236}">
                  <a16:creationId xmlns:a16="http://schemas.microsoft.com/office/drawing/2014/main" id="{C05753DC-B785-D44D-77F7-74DB21C44C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22344" y="2067032"/>
              <a:ext cx="422752" cy="628156"/>
            </a:xfrm>
            <a:custGeom>
              <a:avLst/>
              <a:gdLst/>
              <a:ahLst/>
              <a:cxnLst>
                <a:cxn ang="0">
                  <a:pos x="47" y="0"/>
                </a:cxn>
                <a:cxn ang="0">
                  <a:pos x="10" y="76"/>
                </a:cxn>
                <a:cxn ang="0">
                  <a:pos x="24" y="124"/>
                </a:cxn>
                <a:cxn ang="0">
                  <a:pos x="34" y="128"/>
                </a:cxn>
                <a:cxn ang="0">
                  <a:pos x="44" y="140"/>
                </a:cxn>
                <a:cxn ang="0">
                  <a:pos x="62" y="130"/>
                </a:cxn>
                <a:cxn ang="0">
                  <a:pos x="67" y="128"/>
                </a:cxn>
                <a:cxn ang="0">
                  <a:pos x="72" y="94"/>
                </a:cxn>
                <a:cxn ang="0">
                  <a:pos x="94" y="46"/>
                </a:cxn>
                <a:cxn ang="0">
                  <a:pos x="32" y="53"/>
                </a:cxn>
                <a:cxn ang="0">
                  <a:pos x="43" y="56"/>
                </a:cxn>
                <a:cxn ang="0">
                  <a:pos x="47" y="56"/>
                </a:cxn>
                <a:cxn ang="0">
                  <a:pos x="55" y="55"/>
                </a:cxn>
                <a:cxn ang="0">
                  <a:pos x="58" y="56"/>
                </a:cxn>
                <a:cxn ang="0">
                  <a:pos x="54" y="89"/>
                </a:cxn>
                <a:cxn ang="0">
                  <a:pos x="62" y="98"/>
                </a:cxn>
                <a:cxn ang="0">
                  <a:pos x="33" y="106"/>
                </a:cxn>
                <a:cxn ang="0">
                  <a:pos x="62" y="98"/>
                </a:cxn>
                <a:cxn ang="0">
                  <a:pos x="33" y="111"/>
                </a:cxn>
                <a:cxn ang="0">
                  <a:pos x="62" y="118"/>
                </a:cxn>
                <a:cxn ang="0">
                  <a:pos x="64" y="88"/>
                </a:cxn>
                <a:cxn ang="0">
                  <a:pos x="70" y="49"/>
                </a:cxn>
                <a:cxn ang="0">
                  <a:pos x="63" y="48"/>
                </a:cxn>
                <a:cxn ang="0">
                  <a:pos x="58" y="51"/>
                </a:cxn>
                <a:cxn ang="0">
                  <a:pos x="52" y="42"/>
                </a:cxn>
                <a:cxn ang="0">
                  <a:pos x="44" y="51"/>
                </a:cxn>
                <a:cxn ang="0">
                  <a:pos x="36" y="45"/>
                </a:cxn>
                <a:cxn ang="0">
                  <a:pos x="31" y="48"/>
                </a:cxn>
                <a:cxn ang="0">
                  <a:pos x="24" y="50"/>
                </a:cxn>
                <a:cxn ang="0">
                  <a:pos x="31" y="89"/>
                </a:cxn>
                <a:cxn ang="0">
                  <a:pos x="9" y="47"/>
                </a:cxn>
                <a:cxn ang="0">
                  <a:pos x="85" y="47"/>
                </a:cxn>
                <a:cxn ang="0">
                  <a:pos x="64" y="88"/>
                </a:cxn>
                <a:cxn ang="0">
                  <a:pos x="64" y="88"/>
                </a:cxn>
              </a:cxnLst>
              <a:rect l="0" t="0" r="r" b="b"/>
              <a:pathLst>
                <a:path w="94" h="140">
                  <a:moveTo>
                    <a:pt x="94" y="46"/>
                  </a:moveTo>
                  <a:cubicBezTo>
                    <a:pt x="94" y="20"/>
                    <a:pt x="73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58"/>
                    <a:pt x="4" y="68"/>
                    <a:pt x="10" y="76"/>
                  </a:cubicBezTo>
                  <a:cubicBezTo>
                    <a:pt x="15" y="82"/>
                    <a:pt x="20" y="89"/>
                    <a:pt x="23" y="95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24" y="126"/>
                    <a:pt x="26" y="128"/>
                    <a:pt x="28" y="128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30"/>
                    <a:pt x="34" y="130"/>
                    <a:pt x="34" y="130"/>
                  </a:cubicBezTo>
                  <a:cubicBezTo>
                    <a:pt x="34" y="136"/>
                    <a:pt x="38" y="140"/>
                    <a:pt x="44" y="140"/>
                  </a:cubicBezTo>
                  <a:cubicBezTo>
                    <a:pt x="52" y="140"/>
                    <a:pt x="52" y="140"/>
                    <a:pt x="52" y="140"/>
                  </a:cubicBezTo>
                  <a:cubicBezTo>
                    <a:pt x="58" y="140"/>
                    <a:pt x="62" y="136"/>
                    <a:pt x="62" y="130"/>
                  </a:cubicBezTo>
                  <a:cubicBezTo>
                    <a:pt x="62" y="128"/>
                    <a:pt x="62" y="128"/>
                    <a:pt x="62" y="128"/>
                  </a:cubicBezTo>
                  <a:cubicBezTo>
                    <a:pt x="67" y="128"/>
                    <a:pt x="67" y="128"/>
                    <a:pt x="67" y="128"/>
                  </a:cubicBezTo>
                  <a:cubicBezTo>
                    <a:pt x="70" y="128"/>
                    <a:pt x="72" y="126"/>
                    <a:pt x="72" y="123"/>
                  </a:cubicBezTo>
                  <a:cubicBezTo>
                    <a:pt x="72" y="94"/>
                    <a:pt x="72" y="94"/>
                    <a:pt x="72" y="94"/>
                  </a:cubicBezTo>
                  <a:cubicBezTo>
                    <a:pt x="75" y="88"/>
                    <a:pt x="80" y="82"/>
                    <a:pt x="84" y="76"/>
                  </a:cubicBezTo>
                  <a:cubicBezTo>
                    <a:pt x="91" y="67"/>
                    <a:pt x="94" y="57"/>
                    <a:pt x="94" y="46"/>
                  </a:cubicBezTo>
                  <a:close/>
                  <a:moveTo>
                    <a:pt x="41" y="89"/>
                  </a:moveTo>
                  <a:cubicBezTo>
                    <a:pt x="32" y="53"/>
                    <a:pt x="32" y="53"/>
                    <a:pt x="32" y="53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4" y="56"/>
                    <a:pt x="44" y="56"/>
                    <a:pt x="45" y="56"/>
                  </a:cubicBezTo>
                  <a:cubicBezTo>
                    <a:pt x="46" y="56"/>
                    <a:pt x="46" y="56"/>
                    <a:pt x="47" y="56"/>
                  </a:cubicBezTo>
                  <a:cubicBezTo>
                    <a:pt x="52" y="49"/>
                    <a:pt x="52" y="49"/>
                    <a:pt x="52" y="49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56"/>
                    <a:pt x="56" y="56"/>
                    <a:pt x="57" y="56"/>
                  </a:cubicBezTo>
                  <a:cubicBezTo>
                    <a:pt x="57" y="56"/>
                    <a:pt x="58" y="56"/>
                    <a:pt x="58" y="56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54" y="89"/>
                    <a:pt x="54" y="89"/>
                    <a:pt x="54" y="89"/>
                  </a:cubicBezTo>
                  <a:lnTo>
                    <a:pt x="41" y="89"/>
                  </a:lnTo>
                  <a:close/>
                  <a:moveTo>
                    <a:pt x="62" y="98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33" y="106"/>
                    <a:pt x="33" y="106"/>
                    <a:pt x="33" y="106"/>
                  </a:cubicBezTo>
                  <a:cubicBezTo>
                    <a:pt x="33" y="98"/>
                    <a:pt x="33" y="98"/>
                    <a:pt x="33" y="98"/>
                  </a:cubicBezTo>
                  <a:lnTo>
                    <a:pt x="62" y="98"/>
                  </a:lnTo>
                  <a:close/>
                  <a:moveTo>
                    <a:pt x="33" y="119"/>
                  </a:moveTo>
                  <a:cubicBezTo>
                    <a:pt x="33" y="111"/>
                    <a:pt x="33" y="111"/>
                    <a:pt x="33" y="111"/>
                  </a:cubicBezTo>
                  <a:cubicBezTo>
                    <a:pt x="62" y="111"/>
                    <a:pt x="62" y="111"/>
                    <a:pt x="62" y="111"/>
                  </a:cubicBezTo>
                  <a:cubicBezTo>
                    <a:pt x="62" y="118"/>
                    <a:pt x="62" y="118"/>
                    <a:pt x="62" y="118"/>
                  </a:cubicBezTo>
                  <a:lnTo>
                    <a:pt x="33" y="119"/>
                  </a:lnTo>
                  <a:close/>
                  <a:moveTo>
                    <a:pt x="64" y="88"/>
                  </a:moveTo>
                  <a:cubicBezTo>
                    <a:pt x="62" y="88"/>
                    <a:pt x="62" y="88"/>
                    <a:pt x="62" y="88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1" y="48"/>
                    <a:pt x="69" y="46"/>
                    <a:pt x="67" y="45"/>
                  </a:cubicBezTo>
                  <a:cubicBezTo>
                    <a:pt x="66" y="45"/>
                    <a:pt x="64" y="46"/>
                    <a:pt x="63" y="48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43"/>
                    <a:pt x="53" y="43"/>
                    <a:pt x="52" y="42"/>
                  </a:cubicBezTo>
                  <a:cubicBezTo>
                    <a:pt x="52" y="42"/>
                    <a:pt x="51" y="43"/>
                    <a:pt x="50" y="43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8" y="45"/>
                    <a:pt x="37" y="45"/>
                    <a:pt x="36" y="45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6"/>
                    <a:pt x="29" y="45"/>
                    <a:pt x="27" y="46"/>
                  </a:cubicBezTo>
                  <a:cubicBezTo>
                    <a:pt x="25" y="46"/>
                    <a:pt x="24" y="48"/>
                    <a:pt x="24" y="50"/>
                  </a:cubicBezTo>
                  <a:cubicBezTo>
                    <a:pt x="33" y="89"/>
                    <a:pt x="33" y="89"/>
                    <a:pt x="33" y="89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27" y="82"/>
                    <a:pt x="22" y="76"/>
                    <a:pt x="18" y="70"/>
                  </a:cubicBezTo>
                  <a:cubicBezTo>
                    <a:pt x="12" y="64"/>
                    <a:pt x="10" y="56"/>
                    <a:pt x="9" y="47"/>
                  </a:cubicBezTo>
                  <a:cubicBezTo>
                    <a:pt x="9" y="26"/>
                    <a:pt x="26" y="9"/>
                    <a:pt x="47" y="9"/>
                  </a:cubicBezTo>
                  <a:cubicBezTo>
                    <a:pt x="68" y="9"/>
                    <a:pt x="85" y="26"/>
                    <a:pt x="85" y="47"/>
                  </a:cubicBezTo>
                  <a:cubicBezTo>
                    <a:pt x="85" y="55"/>
                    <a:pt x="82" y="63"/>
                    <a:pt x="77" y="70"/>
                  </a:cubicBezTo>
                  <a:cubicBezTo>
                    <a:pt x="72" y="76"/>
                    <a:pt x="68" y="82"/>
                    <a:pt x="64" y="88"/>
                  </a:cubicBezTo>
                  <a:close/>
                  <a:moveTo>
                    <a:pt x="64" y="88"/>
                  </a:moveTo>
                  <a:cubicBezTo>
                    <a:pt x="64" y="88"/>
                    <a:pt x="64" y="88"/>
                    <a:pt x="64" y="88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1" name="TextBox 56">
              <a:extLst>
                <a:ext uri="{FF2B5EF4-FFF2-40B4-BE49-F238E27FC236}">
                  <a16:creationId xmlns:a16="http://schemas.microsoft.com/office/drawing/2014/main" id="{E7D11705-3F6B-CB57-37C2-58C4B82DCFBA}"/>
                </a:ext>
              </a:extLst>
            </p:cNvPr>
            <p:cNvSpPr txBox="1"/>
            <p:nvPr/>
          </p:nvSpPr>
          <p:spPr>
            <a:xfrm>
              <a:off x="5281860" y="2496032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01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2" name="TextBox 57">
              <a:extLst>
                <a:ext uri="{FF2B5EF4-FFF2-40B4-BE49-F238E27FC236}">
                  <a16:creationId xmlns:a16="http://schemas.microsoft.com/office/drawing/2014/main" id="{1DE74504-49E8-8353-419B-519546BE4A69}"/>
                </a:ext>
              </a:extLst>
            </p:cNvPr>
            <p:cNvSpPr txBox="1"/>
            <p:nvPr/>
          </p:nvSpPr>
          <p:spPr>
            <a:xfrm>
              <a:off x="6355124" y="2496032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02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3" name="TextBox 58">
              <a:extLst>
                <a:ext uri="{FF2B5EF4-FFF2-40B4-BE49-F238E27FC236}">
                  <a16:creationId xmlns:a16="http://schemas.microsoft.com/office/drawing/2014/main" id="{CAD98C20-8863-2A54-C3EE-75B67ABAC8C3}"/>
                </a:ext>
              </a:extLst>
            </p:cNvPr>
            <p:cNvSpPr txBox="1"/>
            <p:nvPr/>
          </p:nvSpPr>
          <p:spPr>
            <a:xfrm>
              <a:off x="5281860" y="4095994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03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  <p:sp>
          <p:nvSpPr>
            <p:cNvPr id="14" name="TextBox 59">
              <a:extLst>
                <a:ext uri="{FF2B5EF4-FFF2-40B4-BE49-F238E27FC236}">
                  <a16:creationId xmlns:a16="http://schemas.microsoft.com/office/drawing/2014/main" id="{4DD32CC4-7223-6DDF-38B8-99393251BE3E}"/>
                </a:ext>
              </a:extLst>
            </p:cNvPr>
            <p:cNvSpPr txBox="1"/>
            <p:nvPr/>
          </p:nvSpPr>
          <p:spPr>
            <a:xfrm>
              <a:off x="6355124" y="4095994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>04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  <a:t/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sym typeface="+mn-lt"/>
                </a:rPr>
              </a:b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sym typeface="+mn-lt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519BC2BC-D2E0-FC4E-70B5-202B000E3D05}"/>
              </a:ext>
            </a:extLst>
          </p:cNvPr>
          <p:cNvSpPr txBox="1"/>
          <p:nvPr/>
        </p:nvSpPr>
        <p:spPr>
          <a:xfrm>
            <a:off x="1199054" y="2504499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24569D"/>
                </a:solidFill>
              </a:rPr>
              <a:t>人工神经网络概述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C855F4D-256F-E2E8-82A4-C665B219CDEF}"/>
              </a:ext>
            </a:extLst>
          </p:cNvPr>
          <p:cNvSpPr txBox="1"/>
          <p:nvPr/>
        </p:nvSpPr>
        <p:spPr>
          <a:xfrm>
            <a:off x="8551048" y="4920321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误差反向传播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8F1FF43-C5CA-33A6-6031-A6442D5988F0}"/>
              </a:ext>
            </a:extLst>
          </p:cNvPr>
          <p:cNvSpPr txBox="1"/>
          <p:nvPr/>
        </p:nvSpPr>
        <p:spPr>
          <a:xfrm>
            <a:off x="1106240" y="4862587"/>
            <a:ext cx="2969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24569D"/>
                </a:solidFill>
              </a:rPr>
              <a:t>激活函数与损失函数</a:t>
            </a:r>
            <a:endParaRPr lang="zh-CN" altLang="en-US" sz="2400" b="1" dirty="0">
              <a:solidFill>
                <a:srgbClr val="24569D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5DBC89-F105-4F49-BB60-1701ECA7B3C0}"/>
              </a:ext>
            </a:extLst>
          </p:cNvPr>
          <p:cNvSpPr/>
          <p:nvPr/>
        </p:nvSpPr>
        <p:spPr>
          <a:xfrm>
            <a:off x="745606" y="902626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目录</a:t>
            </a:r>
          </a:p>
        </p:txBody>
      </p:sp>
      <p:grpSp>
        <p:nvGrpSpPr>
          <p:cNvPr id="30" name="PA_组合 25">
            <a:extLst>
              <a:ext uri="{FF2B5EF4-FFF2-40B4-BE49-F238E27FC236}">
                <a16:creationId xmlns:a16="http://schemas.microsoft.com/office/drawing/2014/main" id="{65FD479B-C71F-D983-D2E0-58598A98470E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8143529" y="2621174"/>
            <a:ext cx="2855980" cy="1458074"/>
            <a:chOff x="656868" y="2635700"/>
            <a:chExt cx="2855980" cy="1458074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19BC2BC-D2E0-FC4E-70B5-202B000E3D05}"/>
                </a:ext>
              </a:extLst>
            </p:cNvPr>
            <p:cNvSpPr txBox="1"/>
            <p:nvPr/>
          </p:nvSpPr>
          <p:spPr>
            <a:xfrm>
              <a:off x="877066" y="2635700"/>
              <a:ext cx="20409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rgbClr val="24569D"/>
                  </a:solidFill>
                </a:rPr>
                <a:t>前馈神经网络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8587460-E77B-0D64-6CFB-4FAF4C33FDA8}"/>
                </a:ext>
              </a:extLst>
            </p:cNvPr>
            <p:cNvSpPr txBox="1"/>
            <p:nvPr/>
          </p:nvSpPr>
          <p:spPr>
            <a:xfrm>
              <a:off x="656868" y="3632109"/>
              <a:ext cx="28559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2400" dirty="0">
                <a:latin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3916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11705" y="317373"/>
            <a:ext cx="7464387" cy="497934"/>
            <a:chOff x="4099943" y="2819853"/>
            <a:chExt cx="2570275" cy="497934"/>
          </a:xfrm>
        </p:grpSpPr>
        <p:sp>
          <p:nvSpPr>
            <p:cNvPr id="4" name="平行四边形 3"/>
            <p:cNvSpPr/>
            <p:nvPr/>
          </p:nvSpPr>
          <p:spPr bwMode="auto">
            <a:xfrm>
              <a:off x="4099943" y="2849787"/>
              <a:ext cx="2547685" cy="468000"/>
            </a:xfrm>
            <a:prstGeom prst="parallelogram">
              <a:avLst/>
            </a:prstGeom>
            <a:solidFill>
              <a:srgbClr val="016773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5" name="平行四边形 4"/>
            <p:cNvSpPr/>
            <p:nvPr/>
          </p:nvSpPr>
          <p:spPr bwMode="auto">
            <a:xfrm>
              <a:off x="4122533" y="2819853"/>
              <a:ext cx="2547685" cy="468000"/>
            </a:xfrm>
            <a:prstGeom prst="parallelogram">
              <a:avLst/>
            </a:prstGeom>
            <a:solidFill>
              <a:srgbClr val="FAFAFA"/>
            </a:solidFill>
            <a:ln w="19050">
              <a:gradFill>
                <a:gsLst>
                  <a:gs pos="65000">
                    <a:srgbClr val="81C7C9"/>
                  </a:gs>
                  <a:gs pos="100000">
                    <a:srgbClr val="016773"/>
                  </a:gs>
                </a:gsLst>
                <a:lin ang="17400000" scaled="0"/>
              </a:gradFill>
            </a:ln>
            <a:effectLst>
              <a:outerShdw blurRad="50800" dist="38100" dir="18900000" algn="bl" rotWithShape="0">
                <a:schemeClr val="bg2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4216534" y="2853798"/>
              <a:ext cx="235968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神经网络参数优化：梯度下降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C60F69D-AF20-4F07-818C-DA9395BBB02C}"/>
                  </a:ext>
                </a:extLst>
              </p:cNvPr>
              <p:cNvSpPr/>
              <p:nvPr/>
            </p:nvSpPr>
            <p:spPr>
              <a:xfrm>
                <a:off x="427441" y="1322403"/>
                <a:ext cx="10491251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梯度下降（</a:t>
                </a:r>
                <a:r>
                  <a:rPr lang="en-US" altLang="zh-CN" sz="16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gradient descent</a:t>
                </a:r>
                <a:r>
                  <a:rPr lang="zh-CN" altLang="en-US" sz="16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）算法</a:t>
                </a:r>
                <a:r>
                  <a:rPr lang="zh-CN" altLang="en-US" sz="1600" b="1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是一</a:t>
                </a:r>
                <a:r>
                  <a:rPr lang="zh-CN" altLang="en-US" sz="16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类</a:t>
                </a:r>
                <a:r>
                  <a:rPr lang="zh-CN" altLang="en-US" sz="1600" b="1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最优化方法</a:t>
                </a:r>
                <a:r>
                  <a:rPr lang="zh-CN" altLang="en-US" sz="1600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，常用于机器学习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中对模型参数进行</a:t>
                </a:r>
                <a:r>
                  <a:rPr lang="zh-CN" altLang="en-US" sz="1600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优化。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为了让模型预测结果与真实结果之间的损失误差最小，利用梯度下降法来逐步迭代优化模型参数。</a:t>
                </a:r>
                <a:r>
                  <a:rPr lang="zh-CN" altLang="en-US" sz="16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当损失误差最小时，此时学习得到的模型参数即为模型的最优参数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。梯度下降</a:t>
                </a:r>
                <a:r>
                  <a:rPr lang="zh-CN" altLang="en-US" sz="16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是一种使</a:t>
                </a:r>
                <a:r>
                  <a:rPr lang="zh-CN" alt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损失函数</a:t>
                </a:r>
                <a:r>
                  <a:rPr lang="zh-CN" altLang="en-US" sz="16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最小化的方法。一元变量所构成函数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  <a:ea typeface="黑体" pitchFamily="49" charset="-122"/>
                      </a:rPr>
                      <m:t>𝒇</m:t>
                    </m:r>
                  </m:oMath>
                </a14:m>
                <a:r>
                  <a:rPr lang="zh-CN" altLang="en-US" sz="16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zh-CN" altLang="en-US" sz="16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处梯度为：</a:t>
                </a: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C60F69D-AF20-4F07-818C-DA9395BBB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441" y="1322403"/>
                <a:ext cx="10491251" cy="1200329"/>
              </a:xfrm>
              <a:prstGeom prst="rect">
                <a:avLst/>
              </a:prstGeom>
              <a:blipFill>
                <a:blip r:embed="rId3"/>
                <a:stretch>
                  <a:fillRect l="-291" b="-2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D05161C-3AA6-4B6E-8664-34D127BD319C}"/>
                  </a:ext>
                </a:extLst>
              </p:cNvPr>
              <p:cNvSpPr txBox="1"/>
              <p:nvPr/>
            </p:nvSpPr>
            <p:spPr>
              <a:xfrm>
                <a:off x="3821630" y="3201642"/>
                <a:ext cx="4068358" cy="7466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500" i="1" smtClean="0">
                              <a:latin typeface="Cambria Math" panose="02040503050406030204" pitchFamily="18" charset="0"/>
                              <a:ea typeface="黑体" pitchFamily="49" charset="-122"/>
                            </a:rPr>
                          </m:ctrlPr>
                        </m:fPr>
                        <m:num>
                          <m:r>
                            <a:rPr lang="en-US" altLang="zh-CN" sz="2500" b="0" i="1" smtClean="0">
                              <a:latin typeface="Cambria Math" panose="02040503050406030204" pitchFamily="18" charset="0"/>
                              <a:ea typeface="黑体" pitchFamily="49" charset="-122"/>
                            </a:rPr>
                            <m:t>𝑑𝑓</m:t>
                          </m:r>
                          <m:r>
                            <a:rPr lang="en-US" altLang="zh-CN" sz="2500" b="0" i="1" smtClean="0">
                              <a:latin typeface="Cambria Math" panose="02040503050406030204" pitchFamily="18" charset="0"/>
                              <a:ea typeface="黑体" pitchFamily="49" charset="-122"/>
                            </a:rPr>
                            <m:t>(</m:t>
                          </m:r>
                          <m:r>
                            <a:rPr lang="en-US" altLang="zh-CN" sz="2500" b="0" i="1" smtClean="0">
                              <a:latin typeface="Cambria Math" panose="02040503050406030204" pitchFamily="18" charset="0"/>
                              <a:ea typeface="黑体" pitchFamily="49" charset="-122"/>
                            </a:rPr>
                            <m:t>𝑥</m:t>
                          </m:r>
                          <m:r>
                            <a:rPr lang="en-US" altLang="zh-CN" sz="2500" b="0" i="1" smtClean="0">
                              <a:latin typeface="Cambria Math" panose="02040503050406030204" pitchFamily="18" charset="0"/>
                              <a:ea typeface="黑体" pitchFamily="49" charset="-122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500" b="0" i="1" smtClean="0">
                              <a:latin typeface="Cambria Math" panose="02040503050406030204" pitchFamily="18" charset="0"/>
                              <a:ea typeface="黑体" pitchFamily="49" charset="-122"/>
                            </a:rPr>
                            <m:t>𝑑𝑥</m:t>
                          </m:r>
                        </m:den>
                      </m:f>
                      <m:r>
                        <a:rPr lang="en-US" altLang="zh-CN" sz="2500" b="0" i="1" smtClean="0">
                          <a:latin typeface="Cambria Math" panose="02040503050406030204" pitchFamily="18" charset="0"/>
                          <a:ea typeface="黑体" pitchFamily="49" charset="-122"/>
                        </a:rPr>
                        <m:t>=</m:t>
                      </m:r>
                      <m:func>
                        <m:funcPr>
                          <m:ctrlPr>
                            <a:rPr lang="pt-BR" altLang="zh-CN" sz="2500" b="0" i="1" smtClean="0">
                              <a:latin typeface="Cambria Math" panose="02040503050406030204" pitchFamily="18" charset="0"/>
                              <a:ea typeface="黑体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altLang="zh-CN" sz="2500" b="0" i="1" smtClean="0">
                                  <a:latin typeface="Cambria Math" panose="02040503050406030204" pitchFamily="18" charset="0"/>
                                  <a:ea typeface="黑体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altLang="zh-CN" sz="2500" b="0" i="0" smtClean="0">
                                  <a:latin typeface="Cambria Math" panose="02040503050406030204" pitchFamily="18" charset="0"/>
                                  <a:ea typeface="黑体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2500" b="0" i="1" smtClean="0">
                                  <a:latin typeface="Cambria Math" panose="02040503050406030204" pitchFamily="18" charset="0"/>
                                  <a:ea typeface="黑体" pitchFamily="49" charset="-122"/>
                                </a:rPr>
                                <m:t>h</m:t>
                              </m:r>
                              <m:r>
                                <a:rPr lang="pt-BR" altLang="zh-CN" sz="2500" b="0" i="1" smtClean="0">
                                  <a:latin typeface="Cambria Math" panose="02040503050406030204" pitchFamily="18" charset="0"/>
                                  <a:ea typeface="黑体" pitchFamily="49" charset="-122"/>
                                </a:rPr>
                                <m:t>→</m:t>
                              </m:r>
                              <m:r>
                                <a:rPr lang="en-US" altLang="zh-CN" sz="2500" b="0" i="1" smtClean="0">
                                  <a:latin typeface="Cambria Math" panose="02040503050406030204" pitchFamily="18" charset="0"/>
                                  <a:ea typeface="黑体" pitchFamily="49" charset="-122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altLang="zh-CN" sz="2500" b="0" i="1" smtClean="0">
                                  <a:latin typeface="Cambria Math" panose="02040503050406030204" pitchFamily="18" charset="0"/>
                                  <a:ea typeface="黑体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500" b="0" i="1" smtClean="0">
                                  <a:latin typeface="Cambria Math" panose="02040503050406030204" pitchFamily="18" charset="0"/>
                                  <a:ea typeface="黑体" pitchFamily="49" charset="-122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500" b="0" i="1" smtClean="0">
                                      <a:latin typeface="Cambria Math" panose="02040503050406030204" pitchFamily="18" charset="0"/>
                                      <a:ea typeface="黑体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500" b="0" i="1" smtClean="0">
                                      <a:latin typeface="Cambria Math" panose="02040503050406030204" pitchFamily="18" charset="0"/>
                                      <a:ea typeface="黑体" pitchFamily="49" charset="-122"/>
                                    </a:rPr>
                                    <m:t>𝑥</m:t>
                                  </m:r>
                                  <m:r>
                                    <a:rPr lang="en-US" altLang="zh-CN" sz="2500" b="0" i="1" smtClean="0">
                                      <a:latin typeface="Cambria Math" panose="02040503050406030204" pitchFamily="18" charset="0"/>
                                      <a:ea typeface="黑体" pitchFamily="49" charset="-122"/>
                                    </a:rPr>
                                    <m:t>+</m:t>
                                  </m:r>
                                  <m:r>
                                    <a:rPr lang="en-US" altLang="zh-CN" sz="2500" b="0" i="1" smtClean="0">
                                      <a:latin typeface="Cambria Math" panose="02040503050406030204" pitchFamily="18" charset="0"/>
                                      <a:ea typeface="黑体" pitchFamily="49" charset="-122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altLang="zh-CN" sz="2500" b="0" i="1" smtClean="0">
                                  <a:latin typeface="Cambria Math" panose="02040503050406030204" pitchFamily="18" charset="0"/>
                                  <a:ea typeface="黑体" pitchFamily="49" charset="-122"/>
                                </a:rPr>
                                <m:t>−</m:t>
                              </m:r>
                              <m:r>
                                <a:rPr lang="en-US" altLang="zh-CN" sz="2500" b="0" i="1" smtClean="0">
                                  <a:latin typeface="Cambria Math" panose="02040503050406030204" pitchFamily="18" charset="0"/>
                                  <a:ea typeface="黑体" pitchFamily="49" charset="-122"/>
                                </a:rPr>
                                <m:t>𝑓</m:t>
                              </m:r>
                              <m:r>
                                <a:rPr lang="en-US" altLang="zh-CN" sz="2500" b="0" i="1" smtClean="0">
                                  <a:latin typeface="Cambria Math" panose="02040503050406030204" pitchFamily="18" charset="0"/>
                                  <a:ea typeface="黑体" pitchFamily="49" charset="-122"/>
                                </a:rPr>
                                <m:t>(</m:t>
                              </m:r>
                              <m:r>
                                <a:rPr lang="en-US" altLang="zh-CN" sz="2500" b="0" i="1" smtClean="0">
                                  <a:latin typeface="Cambria Math" panose="02040503050406030204" pitchFamily="18" charset="0"/>
                                  <a:ea typeface="黑体" pitchFamily="49" charset="-122"/>
                                </a:rPr>
                                <m:t>𝑥</m:t>
                              </m:r>
                              <m:r>
                                <a:rPr lang="en-US" altLang="zh-CN" sz="2500" b="0" i="1" smtClean="0">
                                  <a:latin typeface="Cambria Math" panose="02040503050406030204" pitchFamily="18" charset="0"/>
                                  <a:ea typeface="黑体" pitchFamily="49" charset="-122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2500" b="0" i="1" smtClean="0">
                                  <a:latin typeface="Cambria Math" panose="02040503050406030204" pitchFamily="18" charset="0"/>
                                  <a:ea typeface="黑体" pitchFamily="49" charset="-122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500" dirty="0"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D05161C-3AA6-4B6E-8664-34D127BD3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630" y="3201642"/>
                <a:ext cx="4068358" cy="7466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F2EA14EE-85EA-40C6-A882-E5DB9A47D7A3}"/>
              </a:ext>
            </a:extLst>
          </p:cNvPr>
          <p:cNvSpPr/>
          <p:nvPr/>
        </p:nvSpPr>
        <p:spPr>
          <a:xfrm>
            <a:off x="747937" y="5257517"/>
            <a:ext cx="86183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j-ea"/>
                <a:ea typeface="+mj-ea"/>
                <a:cs typeface="Times New Roman" panose="02020603050405020304" pitchFamily="18" charset="0"/>
              </a:rPr>
              <a:t>在多元函数中，梯度是对每一变量所求导数组成的向量</a:t>
            </a:r>
            <a:endParaRPr lang="en-US" altLang="zh-CN" b="1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j-ea"/>
                <a:ea typeface="+mj-ea"/>
                <a:cs typeface="Times New Roman" panose="02020603050405020304" pitchFamily="18" charset="0"/>
              </a:rPr>
              <a:t>梯度的反方向是函数值下降最快的方向，因此是损失函数求解的方向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6B579CF-89D0-448B-ABE6-91F3179EA5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475" y="2947202"/>
            <a:ext cx="2232246" cy="199023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6"/>
          <a:srcRect t="62005"/>
          <a:stretch/>
        </p:blipFill>
        <p:spPr>
          <a:xfrm>
            <a:off x="314534" y="4224563"/>
            <a:ext cx="11082549" cy="263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190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943" y="309486"/>
            <a:ext cx="9964705" cy="1096962"/>
          </a:xfrm>
        </p:spPr>
        <p:txBody>
          <a:bodyPr/>
          <a:lstStyle/>
          <a:p>
            <a:r>
              <a:rPr lang="zh-CN" altLang="en-US" sz="3200" dirty="0" smtClean="0"/>
              <a:t>误差反向</a:t>
            </a:r>
            <a:r>
              <a:rPr lang="zh-CN" altLang="en-US" sz="3000" dirty="0" smtClean="0"/>
              <a:t>传播算法</a:t>
            </a:r>
            <a:r>
              <a:rPr lang="zh-CN" altLang="en-US" sz="3000" dirty="0"/>
              <a:t>（</a:t>
            </a:r>
            <a:r>
              <a:rPr lang="en-US" altLang="zh-CN" sz="3000" dirty="0"/>
              <a:t>Error </a:t>
            </a:r>
            <a:r>
              <a:rPr lang="en-US" altLang="zh-CN" sz="3000" dirty="0" err="1"/>
              <a:t>BackPropagation</a:t>
            </a:r>
            <a:r>
              <a:rPr lang="en-US" altLang="zh-CN" sz="3000" dirty="0"/>
              <a:t>, </a:t>
            </a:r>
            <a:r>
              <a:rPr lang="zh-CN" altLang="en-US" sz="3000" dirty="0" smtClean="0"/>
              <a:t> </a:t>
            </a:r>
            <a:r>
              <a:rPr lang="en-US" altLang="zh-CN" sz="3000" dirty="0" smtClean="0"/>
              <a:t>BP</a:t>
            </a:r>
            <a:r>
              <a:rPr lang="zh-CN" altLang="en-US" sz="3000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3545" y="1283705"/>
            <a:ext cx="10362752" cy="5269279"/>
          </a:xfrm>
        </p:spPr>
        <p:txBody>
          <a:bodyPr>
            <a:noAutofit/>
          </a:bodyPr>
          <a:lstStyle/>
          <a:p>
            <a:pPr marL="0" indent="0">
              <a:lnSpc>
                <a:spcPct val="220000"/>
              </a:lnSpc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BP</a:t>
            </a:r>
            <a:r>
              <a:rPr lang="zh-CN" altLang="en-US" sz="2400" dirty="0" smtClean="0">
                <a:solidFill>
                  <a:srgbClr val="C00000"/>
                </a:solidFill>
              </a:rPr>
              <a:t>算法</a:t>
            </a:r>
            <a:r>
              <a:rPr lang="en-US" altLang="zh-CN" sz="2400" baseline="30000" dirty="0"/>
              <a:t>[</a:t>
            </a:r>
            <a:r>
              <a:rPr lang="en-US" altLang="zh-CN" sz="2400" baseline="30000" dirty="0" err="1"/>
              <a:t>Rumelhart</a:t>
            </a:r>
            <a:r>
              <a:rPr lang="en-US" altLang="zh-CN" sz="2400" baseline="30000" dirty="0"/>
              <a:t> &amp; Hinton, 1986]</a:t>
            </a:r>
            <a:r>
              <a:rPr lang="zh-CN" altLang="en-US" sz="2400" dirty="0" smtClean="0"/>
              <a:t>是</a:t>
            </a:r>
            <a:r>
              <a:rPr lang="zh-CN" altLang="en-US" sz="2400" dirty="0"/>
              <a:t>最成功的训练多层前馈神经网络的学习</a:t>
            </a:r>
            <a:r>
              <a:rPr lang="zh-CN" altLang="en-US" sz="2400" dirty="0" smtClean="0"/>
              <a:t>算法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sz="2400" dirty="0"/>
          </a:p>
          <a:p>
            <a:pPr marL="342900" indent="-342900">
              <a:lnSpc>
                <a:spcPct val="22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参数优化</a:t>
            </a:r>
            <a:r>
              <a:rPr lang="en-US" altLang="zh-CN" sz="2400" dirty="0">
                <a:solidFill>
                  <a:srgbClr val="FF0000"/>
                </a:solidFill>
              </a:rPr>
              <a:t> : </a:t>
            </a:r>
          </a:p>
          <a:p>
            <a:pPr marL="742950" lvl="1" indent="-342900">
              <a:lnSpc>
                <a:spcPct val="220000"/>
              </a:lnSpc>
            </a:pPr>
            <a:r>
              <a:rPr lang="en-US" altLang="zh-CN" sz="2000" dirty="0"/>
              <a:t>BP</a:t>
            </a:r>
            <a:r>
              <a:rPr lang="zh-CN" altLang="en-US" sz="2000" dirty="0"/>
              <a:t>是一个</a:t>
            </a:r>
            <a:r>
              <a:rPr lang="zh-CN" altLang="en-US" sz="2000" dirty="0">
                <a:solidFill>
                  <a:srgbClr val="FF0000"/>
                </a:solidFill>
              </a:rPr>
              <a:t>迭代学习算法</a:t>
            </a:r>
            <a:r>
              <a:rPr lang="en-US" altLang="zh-CN" sz="2000" dirty="0"/>
              <a:t>, </a:t>
            </a:r>
            <a:r>
              <a:rPr lang="zh-CN" altLang="en-US" sz="2000" dirty="0"/>
              <a:t>在迭代的每一轮中对参数进行一次更新估计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775" y="2352673"/>
            <a:ext cx="4626143" cy="3131345"/>
          </a:xfrm>
          <a:prstGeom prst="rect">
            <a:avLst/>
          </a:prstGeom>
        </p:spPr>
      </p:pic>
      <p:pic>
        <p:nvPicPr>
          <p:cNvPr id="5" name="Picture 4" descr="https://pic1.zhimg.com/v2-d68c1fcd698f51c2092f4de9479f5e78_r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0055" y="2124075"/>
            <a:ext cx="364925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840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sz="3200" dirty="0"/>
              <a:t>反向</a:t>
            </a:r>
            <a:r>
              <a:rPr lang="zh-CN" altLang="en-US" sz="3000" dirty="0" smtClean="0"/>
              <a:t>传播算法</a:t>
            </a:r>
            <a:r>
              <a:rPr lang="zh-CN" altLang="en-US" sz="3000" dirty="0"/>
              <a:t>（</a:t>
            </a:r>
            <a:r>
              <a:rPr lang="en-US" altLang="zh-CN" sz="3000" dirty="0"/>
              <a:t>Error </a:t>
            </a:r>
            <a:r>
              <a:rPr lang="en-US" altLang="zh-CN" sz="3000" dirty="0" err="1"/>
              <a:t>BackPropagation</a:t>
            </a:r>
            <a:r>
              <a:rPr lang="en-US" altLang="zh-CN" sz="3000" dirty="0"/>
              <a:t>, </a:t>
            </a:r>
            <a:r>
              <a:rPr lang="zh-CN" altLang="en-US" sz="3000" dirty="0"/>
              <a:t>简称</a:t>
            </a:r>
            <a:r>
              <a:rPr lang="en-US" altLang="zh-CN" sz="3000" dirty="0"/>
              <a:t>BP</a:t>
            </a:r>
            <a:r>
              <a:rPr lang="zh-CN" altLang="en-US" sz="3000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2830" y="1371600"/>
            <a:ext cx="10362752" cy="5269279"/>
          </a:xfrm>
        </p:spPr>
        <p:txBody>
          <a:bodyPr>
            <a:noAutofit/>
          </a:bodyPr>
          <a:lstStyle/>
          <a:p>
            <a:pPr marL="0" indent="0">
              <a:lnSpc>
                <a:spcPct val="220000"/>
              </a:lnSpc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BP</a:t>
            </a:r>
            <a:r>
              <a:rPr lang="zh-CN" altLang="en-US" sz="2400" dirty="0">
                <a:solidFill>
                  <a:srgbClr val="C00000"/>
                </a:solidFill>
              </a:rPr>
              <a:t>算法</a:t>
            </a:r>
            <a:r>
              <a:rPr lang="zh-CN" altLang="en-US" sz="2400" dirty="0"/>
              <a:t>是最成功的训练多层前馈神经网络的学习算法</a:t>
            </a:r>
            <a:endParaRPr lang="en-US" altLang="zh-CN" sz="2400" dirty="0"/>
          </a:p>
          <a:p>
            <a:pPr marL="342900" indent="-342900">
              <a:lnSpc>
                <a:spcPct val="22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反向计算</a:t>
            </a:r>
            <a:r>
              <a:rPr lang="en-US" altLang="zh-CN" sz="2400" dirty="0">
                <a:solidFill>
                  <a:srgbClr val="FF0000"/>
                </a:solidFill>
              </a:rPr>
              <a:t>	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dirty="0"/>
              <a:t>    step1: </a:t>
            </a:r>
            <a:r>
              <a:rPr lang="zh-CN" altLang="en-US" sz="2400" dirty="0"/>
              <a:t>计算输出层的梯度</a:t>
            </a:r>
            <a:endParaRPr lang="en-US" altLang="zh-CN" sz="24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dirty="0"/>
              <a:t>    step2: </a:t>
            </a:r>
            <a:r>
              <a:rPr lang="zh-CN" altLang="en-US" sz="2400" dirty="0" smtClean="0"/>
              <a:t>从输出层开始，循环直到最早的隐藏层</a:t>
            </a:r>
            <a:endParaRPr lang="en-US" altLang="zh-CN" sz="2400" dirty="0" smtClean="0"/>
          </a:p>
          <a:p>
            <a:pPr marL="400031" lvl="1" indent="0">
              <a:lnSpc>
                <a:spcPct val="200000"/>
              </a:lnSpc>
              <a:buNone/>
            </a:pPr>
            <a:r>
              <a:rPr lang="en-US" altLang="zh-CN" sz="2000" dirty="0" smtClean="0"/>
              <a:t>    2.1:  </a:t>
            </a:r>
            <a:r>
              <a:rPr lang="zh-CN" altLang="en-US" sz="2000" dirty="0" smtClean="0"/>
              <a:t>将误差传播回前一层</a:t>
            </a:r>
            <a:endParaRPr lang="en-US" altLang="zh-CN" sz="2000" dirty="0" smtClean="0"/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step3:  </a:t>
            </a:r>
            <a:r>
              <a:rPr lang="zh-CN" altLang="en-US" sz="2400" dirty="0" smtClean="0"/>
              <a:t>更新权重</a:t>
            </a:r>
            <a:r>
              <a:rPr lang="zh-CN" altLang="en-US" sz="2400" dirty="0"/>
              <a:t>与阈值</a:t>
            </a:r>
            <a:endParaRPr lang="en-US" altLang="zh-CN" sz="2400" dirty="0"/>
          </a:p>
          <a:p>
            <a:pPr marL="0" indent="0">
              <a:lnSpc>
                <a:spcPct val="200000"/>
              </a:lnSpc>
              <a:buNone/>
            </a:pPr>
            <a:endParaRPr lang="en-US" altLang="zh-CN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2D6002A-FBF9-489A-8EAB-E2B9D742C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2895600"/>
            <a:ext cx="4626143" cy="313134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135243" y="6393848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333333"/>
                </a:solidFill>
                <a:latin typeface="PingFang SC"/>
              </a:rPr>
              <a:t>出自：</a:t>
            </a:r>
            <a:r>
              <a:rPr lang="en-US" altLang="zh-CN" dirty="0" smtClean="0">
                <a:solidFill>
                  <a:srgbClr val="333333"/>
                </a:solidFill>
                <a:latin typeface="PingFang SC"/>
              </a:rPr>
              <a:t>《</a:t>
            </a:r>
            <a:r>
              <a:rPr lang="zh-CN" altLang="en-US" dirty="0">
                <a:solidFill>
                  <a:srgbClr val="333333"/>
                </a:solidFill>
                <a:latin typeface="PingFang SC"/>
              </a:rPr>
              <a:t>人工智能：现代方法</a:t>
            </a:r>
            <a:r>
              <a:rPr lang="en-US" altLang="zh-CN" dirty="0">
                <a:solidFill>
                  <a:srgbClr val="333333"/>
                </a:solidFill>
                <a:latin typeface="PingFang SC"/>
              </a:rPr>
              <a:t>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1178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325" y="0"/>
            <a:ext cx="7818181" cy="64874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73963"/>
            <a:ext cx="10515600" cy="1325563"/>
          </a:xfrm>
        </p:spPr>
        <p:txBody>
          <a:bodyPr/>
          <a:lstStyle/>
          <a:p>
            <a:pPr algn="l"/>
            <a:r>
              <a:rPr lang="en-US" altLang="zh-CN" dirty="0" smtClean="0"/>
              <a:t>BP</a:t>
            </a:r>
            <a:r>
              <a:rPr lang="zh-CN" altLang="en-US" dirty="0" smtClean="0"/>
              <a:t>算法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427406" y="2134225"/>
            <a:ext cx="4686300" cy="152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450580" y="3736820"/>
            <a:ext cx="5006025" cy="12931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99407" y="3273352"/>
            <a:ext cx="2713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CC00CC"/>
                </a:solidFill>
                <a:latin typeface="Calibri"/>
                <a:cs typeface="Calibri"/>
              </a:rPr>
              <a:t>前向计算  </a:t>
            </a:r>
            <a:r>
              <a:rPr lang="en-US" altLang="zh-CN" dirty="0" err="1" smtClean="0">
                <a:solidFill>
                  <a:srgbClr val="CC00CC"/>
                </a:solidFill>
                <a:latin typeface="Calibri"/>
                <a:cs typeface="Calibri"/>
              </a:rPr>
              <a:t>a</a:t>
            </a:r>
            <a:r>
              <a:rPr lang="en-US" altLang="zh-CN" baseline="-16339" dirty="0" err="1" smtClean="0">
                <a:solidFill>
                  <a:srgbClr val="CC00CC"/>
                </a:solidFill>
                <a:latin typeface="Calibri"/>
                <a:cs typeface="Calibri"/>
              </a:rPr>
              <a:t>j</a:t>
            </a:r>
            <a:r>
              <a:rPr lang="en-US" altLang="zh-CN" baseline="-16339" dirty="0" smtClean="0">
                <a:solidFill>
                  <a:srgbClr val="CC00CC"/>
                </a:solidFill>
                <a:latin typeface="Calibri"/>
                <a:cs typeface="Calibri"/>
              </a:rPr>
              <a:t> </a:t>
            </a:r>
            <a:r>
              <a:rPr lang="en-US" altLang="zh-CN" dirty="0" smtClean="0">
                <a:solidFill>
                  <a:srgbClr val="CC00CC"/>
                </a:solidFill>
                <a:latin typeface="Cambria Math"/>
                <a:cs typeface="Cambria Math"/>
              </a:rPr>
              <a:t>=</a:t>
            </a:r>
            <a:r>
              <a:rPr lang="zh-CN" altLang="en-US" dirty="0">
                <a:solidFill>
                  <a:srgbClr val="00B050"/>
                </a:solidFill>
                <a:latin typeface="Cambria Math"/>
                <a:cs typeface="Cambria Math"/>
              </a:rPr>
              <a:t>𝑔</a:t>
            </a:r>
            <a:r>
              <a:rPr lang="en-US" altLang="zh-CN" spc="375" dirty="0" smtClean="0">
                <a:solidFill>
                  <a:srgbClr val="00B050"/>
                </a:solidFill>
                <a:latin typeface="Cambria Math"/>
                <a:cs typeface="Cambria Math"/>
              </a:rPr>
              <a:t>(</a:t>
            </a:r>
            <a:r>
              <a:rPr lang="en-US" altLang="zh-CN" dirty="0" smtClean="0">
                <a:solidFill>
                  <a:srgbClr val="CC00CC"/>
                </a:solidFill>
                <a:latin typeface="Calibri"/>
                <a:cs typeface="Calibri"/>
                <a:sym typeface="Symbol" panose="05050102010706020507" pitchFamily="18" charset="2"/>
              </a:rPr>
              <a:t></a:t>
            </a:r>
            <a:r>
              <a:rPr lang="en-US" altLang="zh-CN" spc="652" baseline="-16339" dirty="0" err="1" smtClean="0">
                <a:solidFill>
                  <a:srgbClr val="CC00CC"/>
                </a:solidFill>
                <a:latin typeface="Calibri"/>
                <a:cs typeface="Calibri"/>
              </a:rPr>
              <a:t>i</a:t>
            </a:r>
            <a:r>
              <a:rPr lang="en-US" altLang="zh-CN" dirty="0" err="1" smtClean="0">
                <a:solidFill>
                  <a:srgbClr val="CC00CC"/>
                </a:solidFill>
                <a:latin typeface="Calibri"/>
                <a:cs typeface="Calibri"/>
              </a:rPr>
              <a:t>w</a:t>
            </a:r>
            <a:r>
              <a:rPr lang="en-US" altLang="zh-CN" baseline="-16339" dirty="0" err="1" smtClean="0">
                <a:solidFill>
                  <a:srgbClr val="CC00CC"/>
                </a:solidFill>
                <a:latin typeface="Calibri"/>
                <a:cs typeface="Calibri"/>
              </a:rPr>
              <a:t>ij</a:t>
            </a:r>
            <a:r>
              <a:rPr lang="en-US" altLang="zh-CN" baseline="-16339" dirty="0" smtClean="0">
                <a:solidFill>
                  <a:srgbClr val="CC00CC"/>
                </a:solidFill>
                <a:latin typeface="Calibri"/>
                <a:cs typeface="Calibri"/>
              </a:rPr>
              <a:t> </a:t>
            </a:r>
            <a:r>
              <a:rPr lang="en-US" altLang="zh-CN" spc="-50" dirty="0" err="1" smtClean="0">
                <a:solidFill>
                  <a:srgbClr val="CC00CC"/>
                </a:solidFill>
                <a:latin typeface="Cambria Math"/>
                <a:cs typeface="Cambria Math"/>
              </a:rPr>
              <a:t>a</a:t>
            </a:r>
            <a:r>
              <a:rPr lang="en-US" altLang="zh-CN" baseline="-16339" dirty="0" err="1">
                <a:solidFill>
                  <a:srgbClr val="CC00CC"/>
                </a:solidFill>
                <a:latin typeface="Calibri"/>
                <a:cs typeface="Calibri"/>
              </a:rPr>
              <a:t>i</a:t>
            </a:r>
            <a:r>
              <a:rPr lang="en-US" altLang="zh-CN" spc="375" dirty="0" smtClean="0">
                <a:solidFill>
                  <a:srgbClr val="00B050"/>
                </a:solidFill>
                <a:latin typeface="Cambria Math"/>
                <a:cs typeface="Cambria Math"/>
              </a:rPr>
              <a:t>)</a:t>
            </a:r>
            <a:r>
              <a:rPr lang="en-US" altLang="zh-CN" spc="-50" dirty="0" smtClean="0">
                <a:solidFill>
                  <a:srgbClr val="CC00CC"/>
                </a:solidFill>
                <a:latin typeface="Cambria Math"/>
                <a:cs typeface="Cambria Math"/>
              </a:rPr>
              <a:t> 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893857" y="411756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CC00CC"/>
                </a:solidFill>
                <a:latin typeface="Calibri"/>
                <a:cs typeface="Calibri"/>
              </a:rPr>
              <a:t>反向计算误差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893857" y="549806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CC00CC"/>
                </a:solidFill>
                <a:latin typeface="Calibri"/>
                <a:cs typeface="Calibri"/>
              </a:rPr>
              <a:t>更新权重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759" y="5917257"/>
            <a:ext cx="2962275" cy="5429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53161" y="5907539"/>
            <a:ext cx="115768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i="1" dirty="0" err="1" smtClean="0">
                <a:latin typeface="Adobe Devanagari" panose="02040503050201020203" pitchFamily="18" charset="0"/>
                <a:cs typeface="Adobe Devanagari" panose="02040503050201020203" pitchFamily="18" charset="0"/>
              </a:rPr>
              <a:t>w</a:t>
            </a:r>
            <a:r>
              <a:rPr lang="en-US" altLang="zh-CN" i="1" baseline="-25000" dirty="0" err="1" smtClean="0">
                <a:latin typeface="Adobe Devanagari" panose="02040503050201020203" pitchFamily="18" charset="0"/>
                <a:cs typeface="Adobe Devanagari" panose="02040503050201020203" pitchFamily="18" charset="0"/>
              </a:rPr>
              <a:t>i</a:t>
            </a:r>
            <a:r>
              <a:rPr lang="en-US" altLang="zh-CN" i="1" baseline="-25000" dirty="0" smtClean="0">
                <a:latin typeface="Adobe Devanagari" panose="02040503050201020203" pitchFamily="18" charset="0"/>
                <a:cs typeface="Adobe Devanagari" panose="02040503050201020203" pitchFamily="18" charset="0"/>
              </a:rPr>
              <a:t>, j </a:t>
            </a:r>
            <a:r>
              <a:rPr lang="en-US" altLang="zh-CN" dirty="0" smtClean="0">
                <a:latin typeface="Adobe Devanagari" panose="02040503050201020203" pitchFamily="18" charset="0"/>
                <a:cs typeface="Adobe Devanagari" panose="02040503050201020203" pitchFamily="18" charset="0"/>
                <a:sym typeface="Symbol" panose="05050102010706020507" pitchFamily="18" charset="2"/>
              </a:rPr>
              <a:t></a:t>
            </a:r>
            <a:r>
              <a:rPr lang="en-US" altLang="zh-CN" i="1" dirty="0" smtClean="0"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en-US" altLang="zh-CN" i="1" dirty="0" err="1" smtClean="0">
                <a:latin typeface="Adobe Devanagari" panose="02040503050201020203" pitchFamily="18" charset="0"/>
                <a:cs typeface="Adobe Devanagari" panose="02040503050201020203" pitchFamily="18" charset="0"/>
              </a:rPr>
              <a:t>w</a:t>
            </a:r>
            <a:r>
              <a:rPr lang="en-US" altLang="zh-CN" i="1" baseline="-25000" dirty="0" err="1" smtClean="0">
                <a:latin typeface="Adobe Devanagari" panose="02040503050201020203" pitchFamily="18" charset="0"/>
                <a:cs typeface="Adobe Devanagari" panose="02040503050201020203" pitchFamily="18" charset="0"/>
              </a:rPr>
              <a:t>i</a:t>
            </a:r>
            <a:r>
              <a:rPr lang="en-US" altLang="zh-CN" i="1" baseline="-25000" dirty="0" smtClean="0">
                <a:latin typeface="Adobe Devanagari" panose="02040503050201020203" pitchFamily="18" charset="0"/>
                <a:cs typeface="Adobe Devanagari" panose="02040503050201020203" pitchFamily="18" charset="0"/>
              </a:rPr>
              <a:t>, </a:t>
            </a:r>
            <a:r>
              <a:rPr lang="en-US" altLang="zh-CN" i="1" baseline="-250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j</a:t>
            </a:r>
            <a:endParaRPr lang="zh-CN" altLang="en-US" baseline="-250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450580" y="5065474"/>
            <a:ext cx="3977326" cy="650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342" y="4536756"/>
            <a:ext cx="2800350" cy="10477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80172"/>
            <a:ext cx="3895725" cy="168592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0271985" y="2448556"/>
            <a:ext cx="1160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C00CC"/>
                </a:solidFill>
                <a:latin typeface="Calibri"/>
                <a:cs typeface="Calibri"/>
              </a:rPr>
              <a:t>前向计算 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0498667" y="396935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C00CC"/>
                </a:solidFill>
                <a:latin typeface="Calibri"/>
                <a:cs typeface="Calibri"/>
              </a:rPr>
              <a:t>反向计算误差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0294085" y="530549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CC00CC"/>
                </a:solidFill>
                <a:latin typeface="Calibri"/>
                <a:cs typeface="Calibri"/>
              </a:rPr>
              <a:t>更新权重</a:t>
            </a:r>
            <a:endParaRPr lang="zh-CN" altLang="en-US" dirty="0"/>
          </a:p>
        </p:txBody>
      </p:sp>
      <p:cxnSp>
        <p:nvCxnSpPr>
          <p:cNvPr id="17" name="直接连接符 16"/>
          <p:cNvCxnSpPr/>
          <p:nvPr/>
        </p:nvCxnSpPr>
        <p:spPr>
          <a:xfrm>
            <a:off x="5236906" y="1648325"/>
            <a:ext cx="2438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9601837" y="1112420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CC00CC"/>
                </a:solidFill>
                <a:latin typeface="Calibri"/>
                <a:cs typeface="Calibri"/>
              </a:rPr>
              <a:t>损失函数：均方误差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63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2216" y="60777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反向传播公式推导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2450" y="1441905"/>
            <a:ext cx="10515600" cy="4351338"/>
          </a:xfrm>
        </p:spPr>
        <p:txBody>
          <a:bodyPr/>
          <a:lstStyle/>
          <a:p>
            <a:r>
              <a:rPr lang="zh-CN" altLang="en-US" sz="2800" dirty="0"/>
              <a:t>在单个样本上的平方误差定义为：</a:t>
            </a:r>
            <a:endParaRPr lang="en-US" altLang="zh-CN" sz="2800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   </a:t>
            </a:r>
            <a:r>
              <a:rPr lang="zh-CN" altLang="en-US" sz="2800" dirty="0"/>
              <a:t>其中，求和是对输出层的所有节点进行的。</a:t>
            </a:r>
          </a:p>
        </p:txBody>
      </p:sp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45015" y="2048464"/>
            <a:ext cx="2816313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11884" y="4077072"/>
            <a:ext cx="8856116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/>
          <p:nvPr/>
        </p:nvSpPr>
        <p:spPr>
          <a:xfrm>
            <a:off x="796221" y="3791130"/>
            <a:ext cx="21355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Verdana" panose="020B0604030504040204" pitchFamily="34" charset="0"/>
              </a:rPr>
              <a:t>输出层的权值更</a:t>
            </a:r>
            <a:r>
              <a:rPr lang="zh-CN" altLang="en-US" dirty="0" smtClean="0">
                <a:solidFill>
                  <a:srgbClr val="FF0000"/>
                </a:solidFill>
                <a:latin typeface="Verdana" panose="020B0604030504040204" pitchFamily="34" charset="0"/>
              </a:rPr>
              <a:t>新</a:t>
            </a:r>
            <a:r>
              <a:rPr lang="en-US" altLang="zh-CN" dirty="0" smtClean="0">
                <a:solidFill>
                  <a:srgbClr val="3366FF"/>
                </a:solidFill>
                <a:latin typeface="Verdana" panose="020B0604030504040204" pitchFamily="34" charset="0"/>
              </a:rPr>
              <a:t>: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6322332"/>
            <a:ext cx="3048000" cy="464518"/>
          </a:xfrm>
          <a:prstGeom prst="rect">
            <a:avLst/>
          </a:prstGeom>
          <a:ln>
            <a:noFill/>
          </a:ln>
        </p:spPr>
      </p:pic>
      <p:sp>
        <p:nvSpPr>
          <p:cNvPr id="5" name="矩形 4"/>
          <p:cNvSpPr/>
          <p:nvPr/>
        </p:nvSpPr>
        <p:spPr>
          <a:xfrm>
            <a:off x="9120417" y="5936214"/>
            <a:ext cx="2057400" cy="838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953" y="1204116"/>
            <a:ext cx="3843772" cy="1647331"/>
          </a:xfrm>
          <a:prstGeom prst="rect">
            <a:avLst/>
          </a:prstGeom>
        </p:spPr>
      </p:pic>
      <p:sp>
        <p:nvSpPr>
          <p:cNvPr id="10" name="椭圆 9"/>
          <p:cNvSpPr/>
          <p:nvPr/>
        </p:nvSpPr>
        <p:spPr>
          <a:xfrm>
            <a:off x="10667999" y="1787004"/>
            <a:ext cx="509817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2800" y="6144120"/>
            <a:ext cx="2276475" cy="67627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8958663" y="3156638"/>
            <a:ext cx="27330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CC00CC"/>
                </a:solidFill>
                <a:latin typeface="Calibri"/>
                <a:cs typeface="Calibri"/>
              </a:rPr>
              <a:t>前向计算  </a:t>
            </a:r>
            <a:r>
              <a:rPr lang="en-US" altLang="zh-CN" dirty="0" err="1" smtClean="0">
                <a:solidFill>
                  <a:srgbClr val="CC00CC"/>
                </a:solidFill>
                <a:latin typeface="Calibri"/>
                <a:cs typeface="Calibri"/>
              </a:rPr>
              <a:t>a</a:t>
            </a:r>
            <a:r>
              <a:rPr lang="en-US" altLang="zh-CN" baseline="-16339" dirty="0" err="1" smtClean="0">
                <a:solidFill>
                  <a:srgbClr val="CC00CC"/>
                </a:solidFill>
                <a:latin typeface="Calibri"/>
                <a:cs typeface="Calibri"/>
              </a:rPr>
              <a:t>i</a:t>
            </a:r>
            <a:r>
              <a:rPr lang="en-US" altLang="zh-CN" baseline="-16339" dirty="0" smtClean="0">
                <a:solidFill>
                  <a:srgbClr val="CC00CC"/>
                </a:solidFill>
                <a:latin typeface="Calibri"/>
                <a:cs typeface="Calibri"/>
              </a:rPr>
              <a:t> </a:t>
            </a:r>
            <a:r>
              <a:rPr lang="en-US" altLang="zh-CN" dirty="0">
                <a:solidFill>
                  <a:srgbClr val="CC00CC"/>
                </a:solidFill>
                <a:latin typeface="Cambria Math"/>
                <a:cs typeface="Cambria Math"/>
              </a:rPr>
              <a:t>=</a:t>
            </a:r>
            <a:r>
              <a:rPr lang="zh-CN" altLang="en-US" dirty="0">
                <a:solidFill>
                  <a:srgbClr val="00B050"/>
                </a:solidFill>
                <a:latin typeface="Cambria Math"/>
                <a:cs typeface="Cambria Math"/>
              </a:rPr>
              <a:t>𝑔</a:t>
            </a:r>
            <a:r>
              <a:rPr lang="en-US" altLang="zh-CN" spc="375" dirty="0" smtClean="0">
                <a:solidFill>
                  <a:srgbClr val="00B050"/>
                </a:solidFill>
                <a:latin typeface="Cambria Math"/>
                <a:cs typeface="Cambria Math"/>
              </a:rPr>
              <a:t>(</a:t>
            </a:r>
            <a:r>
              <a:rPr lang="en-US" altLang="zh-CN" i="1" dirty="0" err="1" smtClean="0">
                <a:solidFill>
                  <a:srgbClr val="CC00CC"/>
                </a:solidFill>
                <a:latin typeface="Calibri"/>
                <a:cs typeface="Calibri"/>
                <a:sym typeface="Symbol" panose="05050102010706020507" pitchFamily="18" charset="2"/>
              </a:rPr>
              <a:t>in</a:t>
            </a:r>
            <a:r>
              <a:rPr lang="en-US" altLang="zh-CN" i="1" spc="652" baseline="-16339" dirty="0" err="1" smtClean="0">
                <a:solidFill>
                  <a:srgbClr val="CC00CC"/>
                </a:solidFill>
                <a:latin typeface="Calibri"/>
                <a:cs typeface="Calibri"/>
              </a:rPr>
              <a:t>i</a:t>
            </a:r>
            <a:r>
              <a:rPr lang="en-US" altLang="zh-CN" spc="375" dirty="0" smtClean="0">
                <a:solidFill>
                  <a:srgbClr val="00B050"/>
                </a:solidFill>
                <a:latin typeface="Cambria Math"/>
                <a:cs typeface="Cambria Math"/>
              </a:rPr>
              <a:t>)</a:t>
            </a:r>
            <a:endParaRPr lang="en-US" altLang="zh-CN" baseline="-16339" dirty="0" smtClean="0">
              <a:solidFill>
                <a:srgbClr val="CC00CC"/>
              </a:solidFill>
              <a:latin typeface="Calibri"/>
              <a:cs typeface="Calibri"/>
            </a:endParaRPr>
          </a:p>
          <a:p>
            <a:r>
              <a:rPr lang="en-US" altLang="zh-CN" dirty="0" smtClean="0">
                <a:solidFill>
                  <a:srgbClr val="CC00CC"/>
                </a:solidFill>
                <a:latin typeface="Cambria Math"/>
                <a:cs typeface="Cambria Math"/>
              </a:rPr>
              <a:t>                        =</a:t>
            </a:r>
            <a:r>
              <a:rPr lang="zh-CN" altLang="en-US" dirty="0" smtClean="0">
                <a:solidFill>
                  <a:srgbClr val="00B050"/>
                </a:solidFill>
                <a:latin typeface="Cambria Math"/>
                <a:cs typeface="Cambria Math"/>
              </a:rPr>
              <a:t>𝑔</a:t>
            </a:r>
            <a:r>
              <a:rPr lang="en-US" altLang="zh-CN" spc="375" dirty="0" smtClean="0">
                <a:solidFill>
                  <a:srgbClr val="00B050"/>
                </a:solidFill>
                <a:latin typeface="Cambria Math"/>
                <a:cs typeface="Cambria Math"/>
              </a:rPr>
              <a:t>(</a:t>
            </a:r>
            <a:r>
              <a:rPr lang="en-US" altLang="zh-CN" dirty="0" smtClean="0">
                <a:solidFill>
                  <a:srgbClr val="CC00CC"/>
                </a:solidFill>
                <a:latin typeface="Calibri"/>
                <a:cs typeface="Calibri"/>
                <a:sym typeface="Symbol" panose="05050102010706020507" pitchFamily="18" charset="2"/>
              </a:rPr>
              <a:t></a:t>
            </a:r>
            <a:r>
              <a:rPr lang="en-US" altLang="zh-CN" i="1" spc="652" baseline="-16339" dirty="0" err="1" smtClean="0">
                <a:solidFill>
                  <a:srgbClr val="CC00CC"/>
                </a:solidFill>
                <a:latin typeface="Calibri"/>
                <a:cs typeface="Calibri"/>
              </a:rPr>
              <a:t>j</a:t>
            </a:r>
            <a:r>
              <a:rPr lang="en-US" altLang="zh-CN" i="1" dirty="0" err="1" smtClean="0">
                <a:solidFill>
                  <a:srgbClr val="CC00CC"/>
                </a:solidFill>
                <a:latin typeface="Calibri"/>
                <a:cs typeface="Calibri"/>
              </a:rPr>
              <a:t>w</a:t>
            </a:r>
            <a:r>
              <a:rPr lang="en-US" altLang="zh-CN" i="1" baseline="-16339" dirty="0" err="1" smtClean="0">
                <a:solidFill>
                  <a:srgbClr val="CC00CC"/>
                </a:solidFill>
                <a:latin typeface="Calibri"/>
                <a:cs typeface="Calibri"/>
              </a:rPr>
              <a:t>ji</a:t>
            </a:r>
            <a:r>
              <a:rPr lang="en-US" altLang="zh-CN" i="1" baseline="-16339" dirty="0" smtClean="0">
                <a:solidFill>
                  <a:srgbClr val="CC00CC"/>
                </a:solidFill>
                <a:latin typeface="Calibri"/>
                <a:cs typeface="Calibri"/>
              </a:rPr>
              <a:t> </a:t>
            </a:r>
            <a:r>
              <a:rPr lang="en-US" altLang="zh-CN" i="1" spc="-50" dirty="0" err="1" smtClean="0">
                <a:solidFill>
                  <a:srgbClr val="CC00CC"/>
                </a:solidFill>
                <a:latin typeface="Cambria Math"/>
                <a:cs typeface="Cambria Math"/>
              </a:rPr>
              <a:t>a</a:t>
            </a:r>
            <a:r>
              <a:rPr lang="en-US" altLang="zh-CN" i="1" baseline="-16339" dirty="0" err="1" smtClean="0">
                <a:solidFill>
                  <a:srgbClr val="CC00CC"/>
                </a:solidFill>
                <a:latin typeface="Calibri"/>
                <a:cs typeface="Calibri"/>
              </a:rPr>
              <a:t>j</a:t>
            </a:r>
            <a:r>
              <a:rPr lang="en-US" altLang="zh-CN" spc="375" dirty="0" smtClean="0">
                <a:solidFill>
                  <a:srgbClr val="00B050"/>
                </a:solidFill>
                <a:latin typeface="Cambria Math"/>
                <a:cs typeface="Cambria Math"/>
              </a:rPr>
              <a:t>)</a:t>
            </a:r>
            <a:r>
              <a:rPr lang="en-US" altLang="zh-CN" spc="-50" dirty="0" smtClean="0">
                <a:solidFill>
                  <a:srgbClr val="CC00CC"/>
                </a:solidFill>
                <a:latin typeface="Cambria Math"/>
                <a:cs typeface="Cambria Math"/>
              </a:rPr>
              <a:t> 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9829800" y="6395498"/>
            <a:ext cx="2185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u="sng" dirty="0" smtClean="0">
                <a:solidFill>
                  <a:srgbClr val="2440B3"/>
                </a:solidFill>
                <a:latin typeface="Arial" panose="020B0604020202020204" pitchFamily="34" charset="0"/>
                <a:hlinkClick r:id="rId7"/>
              </a:rPr>
              <a:t>函数</a:t>
            </a:r>
            <a:r>
              <a:rPr lang="zh-CN" altLang="en-US" u="sng" dirty="0">
                <a:solidFill>
                  <a:srgbClr val="F73131"/>
                </a:solidFill>
                <a:latin typeface="Arial" panose="020B0604020202020204" pitchFamily="34" charset="0"/>
                <a:hlinkClick r:id="rId7"/>
              </a:rPr>
              <a:t>求导</a:t>
            </a:r>
            <a:r>
              <a:rPr lang="en-US" altLang="zh-CN" u="sng" dirty="0">
                <a:solidFill>
                  <a:srgbClr val="2440B3"/>
                </a:solidFill>
                <a:latin typeface="Arial" panose="020B0604020202020204" pitchFamily="34" charset="0"/>
                <a:hlinkClick r:id="rId7"/>
              </a:rPr>
              <a:t>(</a:t>
            </a:r>
            <a:r>
              <a:rPr lang="zh-CN" altLang="en-US" u="sng" dirty="0">
                <a:solidFill>
                  <a:srgbClr val="F73131"/>
                </a:solidFill>
                <a:latin typeface="Arial" panose="020B0604020202020204" pitchFamily="34" charset="0"/>
                <a:hlinkClick r:id="rId7"/>
              </a:rPr>
              <a:t>链式</a:t>
            </a:r>
            <a:r>
              <a:rPr lang="zh-CN" altLang="en-US" u="sng" dirty="0">
                <a:solidFill>
                  <a:srgbClr val="2440B3"/>
                </a:solidFill>
                <a:latin typeface="Arial" panose="020B0604020202020204" pitchFamily="34" charset="0"/>
                <a:hlinkClick r:id="rId7"/>
              </a:rPr>
              <a:t>法则</a:t>
            </a:r>
            <a:r>
              <a:rPr lang="en-US" altLang="zh-CN" u="sng" dirty="0">
                <a:solidFill>
                  <a:srgbClr val="2440B3"/>
                </a:solidFill>
                <a:latin typeface="Arial" panose="020B0604020202020204" pitchFamily="34" charset="0"/>
                <a:hlinkClick r:id="rId7"/>
              </a:rPr>
              <a:t>)</a:t>
            </a:r>
            <a:endParaRPr lang="zh-CN" altLang="en-US" b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481930" y="1823316"/>
            <a:ext cx="509817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3438525" y="6219825"/>
            <a:ext cx="1743075" cy="95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5016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375" y="19612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反向传播公式推导（续）</a:t>
            </a:r>
            <a:endParaRPr lang="zh-CN" altLang="en-US" dirty="0"/>
          </a:p>
        </p:txBody>
      </p:sp>
      <p:pic>
        <p:nvPicPr>
          <p:cNvPr id="983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7532" y="1236773"/>
            <a:ext cx="9199307" cy="5702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/>
          <p:nvPr/>
        </p:nvSpPr>
        <p:spPr>
          <a:xfrm>
            <a:off x="762000" y="1160509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Verdana" panose="020B0604030504040204" pitchFamily="34" charset="0"/>
              </a:rPr>
              <a:t>隐藏层</a:t>
            </a:r>
            <a:r>
              <a:rPr lang="zh-CN" altLang="en-US" dirty="0">
                <a:solidFill>
                  <a:srgbClr val="FF0000"/>
                </a:solidFill>
                <a:latin typeface="Verdana" panose="020B0604030504040204" pitchFamily="34" charset="0"/>
              </a:rPr>
              <a:t>的权值更</a:t>
            </a:r>
            <a:r>
              <a:rPr lang="zh-CN" altLang="en-US" dirty="0" smtClean="0">
                <a:solidFill>
                  <a:srgbClr val="FF0000"/>
                </a:solidFill>
                <a:latin typeface="Verdana" panose="020B0604030504040204" pitchFamily="34" charset="0"/>
              </a:rPr>
              <a:t>新：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649" y="6123055"/>
            <a:ext cx="3048000" cy="464518"/>
          </a:xfrm>
          <a:prstGeom prst="rect">
            <a:avLst/>
          </a:prstGeom>
          <a:ln>
            <a:noFill/>
          </a:ln>
        </p:spPr>
      </p:pic>
      <p:sp>
        <p:nvSpPr>
          <p:cNvPr id="6" name="矩形 5"/>
          <p:cNvSpPr/>
          <p:nvPr/>
        </p:nvSpPr>
        <p:spPr>
          <a:xfrm>
            <a:off x="9120417" y="5936214"/>
            <a:ext cx="2057400" cy="838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517" y="3610817"/>
            <a:ext cx="3843772" cy="1647331"/>
          </a:xfrm>
          <a:prstGeom prst="rect">
            <a:avLst/>
          </a:prstGeom>
        </p:spPr>
      </p:pic>
      <p:sp>
        <p:nvSpPr>
          <p:cNvPr id="4" name="椭圆 3"/>
          <p:cNvSpPr/>
          <p:nvPr/>
        </p:nvSpPr>
        <p:spPr>
          <a:xfrm>
            <a:off x="9436478" y="4167782"/>
            <a:ext cx="6096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533" y="6117064"/>
            <a:ext cx="2457450" cy="571500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2819400" y="3124200"/>
            <a:ext cx="1828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549087" y="3124200"/>
            <a:ext cx="32855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8205849" y="4167782"/>
            <a:ext cx="6096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2419350" y="6477000"/>
            <a:ext cx="208597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712260" y="286827"/>
            <a:ext cx="2816313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3810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19" y="332875"/>
            <a:ext cx="7818181" cy="64874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96672"/>
            <a:ext cx="10515600" cy="1325563"/>
          </a:xfrm>
        </p:spPr>
        <p:txBody>
          <a:bodyPr/>
          <a:lstStyle/>
          <a:p>
            <a:pPr algn="l"/>
            <a:r>
              <a:rPr lang="en-US" altLang="zh-CN" dirty="0" smtClean="0"/>
              <a:t>BP</a:t>
            </a:r>
            <a:r>
              <a:rPr lang="zh-CN" altLang="en-US" dirty="0" smtClean="0"/>
              <a:t>算法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524500" y="2467100"/>
            <a:ext cx="4686300" cy="152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547674" y="4069695"/>
            <a:ext cx="5006025" cy="12931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99407" y="3273352"/>
            <a:ext cx="2713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CC00CC"/>
                </a:solidFill>
                <a:latin typeface="Calibri"/>
                <a:cs typeface="Calibri"/>
              </a:rPr>
              <a:t>前向计算  </a:t>
            </a:r>
            <a:r>
              <a:rPr lang="en-US" altLang="zh-CN" dirty="0" err="1" smtClean="0">
                <a:solidFill>
                  <a:srgbClr val="CC00CC"/>
                </a:solidFill>
                <a:latin typeface="Calibri"/>
                <a:cs typeface="Calibri"/>
              </a:rPr>
              <a:t>a</a:t>
            </a:r>
            <a:r>
              <a:rPr lang="en-US" altLang="zh-CN" baseline="-16339" dirty="0" err="1" smtClean="0">
                <a:solidFill>
                  <a:srgbClr val="CC00CC"/>
                </a:solidFill>
                <a:latin typeface="Calibri"/>
                <a:cs typeface="Calibri"/>
              </a:rPr>
              <a:t>j</a:t>
            </a:r>
            <a:r>
              <a:rPr lang="en-US" altLang="zh-CN" baseline="-16339" dirty="0" smtClean="0">
                <a:solidFill>
                  <a:srgbClr val="CC00CC"/>
                </a:solidFill>
                <a:latin typeface="Calibri"/>
                <a:cs typeface="Calibri"/>
              </a:rPr>
              <a:t> </a:t>
            </a:r>
            <a:r>
              <a:rPr lang="en-US" altLang="zh-CN" dirty="0" smtClean="0">
                <a:solidFill>
                  <a:srgbClr val="CC00CC"/>
                </a:solidFill>
                <a:latin typeface="Cambria Math"/>
                <a:cs typeface="Cambria Math"/>
              </a:rPr>
              <a:t>=</a:t>
            </a:r>
            <a:r>
              <a:rPr lang="zh-CN" altLang="en-US" dirty="0">
                <a:solidFill>
                  <a:srgbClr val="00B050"/>
                </a:solidFill>
                <a:latin typeface="Cambria Math"/>
                <a:cs typeface="Cambria Math"/>
              </a:rPr>
              <a:t>𝑔</a:t>
            </a:r>
            <a:r>
              <a:rPr lang="en-US" altLang="zh-CN" spc="375" dirty="0" smtClean="0">
                <a:solidFill>
                  <a:srgbClr val="00B050"/>
                </a:solidFill>
                <a:latin typeface="Cambria Math"/>
                <a:cs typeface="Cambria Math"/>
              </a:rPr>
              <a:t>(</a:t>
            </a:r>
            <a:r>
              <a:rPr lang="en-US" altLang="zh-CN" dirty="0" smtClean="0">
                <a:solidFill>
                  <a:srgbClr val="CC00CC"/>
                </a:solidFill>
                <a:latin typeface="Calibri"/>
                <a:cs typeface="Calibri"/>
                <a:sym typeface="Symbol" panose="05050102010706020507" pitchFamily="18" charset="2"/>
              </a:rPr>
              <a:t></a:t>
            </a:r>
            <a:r>
              <a:rPr lang="en-US" altLang="zh-CN" spc="652" baseline="-16339" dirty="0" err="1" smtClean="0">
                <a:solidFill>
                  <a:srgbClr val="CC00CC"/>
                </a:solidFill>
                <a:latin typeface="Calibri"/>
                <a:cs typeface="Calibri"/>
              </a:rPr>
              <a:t>i</a:t>
            </a:r>
            <a:r>
              <a:rPr lang="en-US" altLang="zh-CN" dirty="0" err="1" smtClean="0">
                <a:solidFill>
                  <a:srgbClr val="CC00CC"/>
                </a:solidFill>
                <a:latin typeface="Calibri"/>
                <a:cs typeface="Calibri"/>
              </a:rPr>
              <a:t>w</a:t>
            </a:r>
            <a:r>
              <a:rPr lang="en-US" altLang="zh-CN" baseline="-16339" dirty="0" err="1" smtClean="0">
                <a:solidFill>
                  <a:srgbClr val="CC00CC"/>
                </a:solidFill>
                <a:latin typeface="Calibri"/>
                <a:cs typeface="Calibri"/>
              </a:rPr>
              <a:t>ij</a:t>
            </a:r>
            <a:r>
              <a:rPr lang="en-US" altLang="zh-CN" baseline="-16339" dirty="0" smtClean="0">
                <a:solidFill>
                  <a:srgbClr val="CC00CC"/>
                </a:solidFill>
                <a:latin typeface="Calibri"/>
                <a:cs typeface="Calibri"/>
              </a:rPr>
              <a:t> </a:t>
            </a:r>
            <a:r>
              <a:rPr lang="en-US" altLang="zh-CN" spc="-50" dirty="0" err="1" smtClean="0">
                <a:solidFill>
                  <a:srgbClr val="CC00CC"/>
                </a:solidFill>
                <a:latin typeface="Cambria Math"/>
                <a:cs typeface="Cambria Math"/>
              </a:rPr>
              <a:t>a</a:t>
            </a:r>
            <a:r>
              <a:rPr lang="en-US" altLang="zh-CN" baseline="-16339" dirty="0" err="1">
                <a:solidFill>
                  <a:srgbClr val="CC00CC"/>
                </a:solidFill>
                <a:latin typeface="Calibri"/>
                <a:cs typeface="Calibri"/>
              </a:rPr>
              <a:t>i</a:t>
            </a:r>
            <a:r>
              <a:rPr lang="en-US" altLang="zh-CN" spc="375" dirty="0" smtClean="0">
                <a:solidFill>
                  <a:srgbClr val="00B050"/>
                </a:solidFill>
                <a:latin typeface="Cambria Math"/>
                <a:cs typeface="Cambria Math"/>
              </a:rPr>
              <a:t>)</a:t>
            </a:r>
            <a:r>
              <a:rPr lang="en-US" altLang="zh-CN" spc="-50" dirty="0" smtClean="0">
                <a:solidFill>
                  <a:srgbClr val="CC00CC"/>
                </a:solidFill>
                <a:latin typeface="Cambria Math"/>
                <a:cs typeface="Cambria Math"/>
              </a:rPr>
              <a:t> 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893857" y="411756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CC00CC"/>
                </a:solidFill>
                <a:latin typeface="Calibri"/>
                <a:cs typeface="Calibri"/>
              </a:rPr>
              <a:t>反向计算误差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893857" y="549806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CC00CC"/>
                </a:solidFill>
                <a:latin typeface="Calibri"/>
                <a:cs typeface="Calibri"/>
              </a:rPr>
              <a:t>更新权重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759" y="5917257"/>
            <a:ext cx="2962275" cy="5429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13935" y="5928637"/>
            <a:ext cx="115768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i="1" dirty="0" err="1" smtClean="0">
                <a:latin typeface="Adobe Devanagari" panose="02040503050201020203" pitchFamily="18" charset="0"/>
                <a:cs typeface="Adobe Devanagari" panose="02040503050201020203" pitchFamily="18" charset="0"/>
              </a:rPr>
              <a:t>w</a:t>
            </a:r>
            <a:r>
              <a:rPr lang="en-US" altLang="zh-CN" i="1" baseline="-25000" dirty="0" err="1" smtClean="0">
                <a:latin typeface="Adobe Devanagari" panose="02040503050201020203" pitchFamily="18" charset="0"/>
                <a:cs typeface="Adobe Devanagari" panose="02040503050201020203" pitchFamily="18" charset="0"/>
              </a:rPr>
              <a:t>i</a:t>
            </a:r>
            <a:r>
              <a:rPr lang="en-US" altLang="zh-CN" i="1" baseline="-25000" dirty="0" smtClean="0">
                <a:latin typeface="Adobe Devanagari" panose="02040503050201020203" pitchFamily="18" charset="0"/>
                <a:cs typeface="Adobe Devanagari" panose="02040503050201020203" pitchFamily="18" charset="0"/>
              </a:rPr>
              <a:t>, j </a:t>
            </a:r>
            <a:r>
              <a:rPr lang="en-US" altLang="zh-CN" dirty="0" smtClean="0">
                <a:latin typeface="Adobe Devanagari" panose="02040503050201020203" pitchFamily="18" charset="0"/>
                <a:cs typeface="Adobe Devanagari" panose="02040503050201020203" pitchFamily="18" charset="0"/>
                <a:sym typeface="Symbol" panose="05050102010706020507" pitchFamily="18" charset="2"/>
              </a:rPr>
              <a:t></a:t>
            </a:r>
            <a:r>
              <a:rPr lang="en-US" altLang="zh-CN" i="1" dirty="0" smtClean="0"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en-US" altLang="zh-CN" i="1" dirty="0" err="1" smtClean="0">
                <a:latin typeface="Adobe Devanagari" panose="02040503050201020203" pitchFamily="18" charset="0"/>
                <a:cs typeface="Adobe Devanagari" panose="02040503050201020203" pitchFamily="18" charset="0"/>
              </a:rPr>
              <a:t>w</a:t>
            </a:r>
            <a:r>
              <a:rPr lang="en-US" altLang="zh-CN" i="1" baseline="-25000" dirty="0" err="1" smtClean="0">
                <a:latin typeface="Adobe Devanagari" panose="02040503050201020203" pitchFamily="18" charset="0"/>
                <a:cs typeface="Adobe Devanagari" panose="02040503050201020203" pitchFamily="18" charset="0"/>
              </a:rPr>
              <a:t>i</a:t>
            </a:r>
            <a:r>
              <a:rPr lang="en-US" altLang="zh-CN" i="1" baseline="-25000" dirty="0" smtClean="0">
                <a:latin typeface="Adobe Devanagari" panose="02040503050201020203" pitchFamily="18" charset="0"/>
                <a:cs typeface="Adobe Devanagari" panose="02040503050201020203" pitchFamily="18" charset="0"/>
              </a:rPr>
              <a:t>, </a:t>
            </a:r>
            <a:r>
              <a:rPr lang="en-US" altLang="zh-CN" i="1" baseline="-250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j</a:t>
            </a:r>
            <a:endParaRPr lang="zh-CN" altLang="en-US" baseline="-250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547674" y="5398349"/>
            <a:ext cx="3977326" cy="650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342" y="4536756"/>
            <a:ext cx="2800350" cy="10477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80172"/>
            <a:ext cx="3895725" cy="168592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0369079" y="2781431"/>
            <a:ext cx="1160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C00CC"/>
                </a:solidFill>
                <a:latin typeface="Calibri"/>
                <a:cs typeface="Calibri"/>
              </a:rPr>
              <a:t>前向计算 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0595761" y="430223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C00CC"/>
                </a:solidFill>
                <a:latin typeface="Calibri"/>
                <a:cs typeface="Calibri"/>
              </a:rPr>
              <a:t>反向计算误差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0391179" y="563836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CC00CC"/>
                </a:solidFill>
                <a:latin typeface="Calibri"/>
                <a:cs typeface="Calibri"/>
              </a:rPr>
              <a:t>更新权重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9118433" y="1675012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Calibri"/>
                <a:cs typeface="Calibri"/>
              </a:rPr>
              <a:t>损失函数：交叉熵？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458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Group 2"/>
          <p:cNvGraphicFramePr>
            <a:graphicFrameLocks noGrp="1"/>
          </p:cNvGraphicFramePr>
          <p:nvPr>
            <p:extLst/>
          </p:nvPr>
        </p:nvGraphicFramePr>
        <p:xfrm>
          <a:off x="3505200" y="5279871"/>
          <a:ext cx="8496300" cy="93662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60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48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191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W14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W15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W24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W25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W34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W35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W46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W56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kumimoji="0" lang="ru-RU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-0.5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3079" name="Picture 77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14471"/>
            <a:ext cx="3962400" cy="333369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</p:pic>
      <p:sp>
        <p:nvSpPr>
          <p:cNvPr id="43097" name="Text Box 95"/>
          <p:cNvSpPr txBox="1">
            <a:spLocks noChangeArrowheads="1"/>
          </p:cNvSpPr>
          <p:nvPr/>
        </p:nvSpPr>
        <p:spPr bwMode="auto">
          <a:xfrm>
            <a:off x="770053" y="5257800"/>
            <a:ext cx="3240088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宋体" pitchFamily="2" charset="-122"/>
              </a:rPr>
              <a:t>训练样本x={1,0,1}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宋体" pitchFamily="2" charset="-122"/>
              </a:rPr>
              <a:t>类</a:t>
            </a:r>
            <a:r>
              <a:rPr lang="zh-CN" altLang="en-US" sz="1800" b="1" dirty="0" smtClean="0">
                <a:latin typeface="宋体" pitchFamily="2" charset="-122"/>
              </a:rPr>
              <a:t>标号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标签</a:t>
            </a:r>
            <a:r>
              <a:rPr lang="en-US" altLang="zh-CN" sz="1800" b="1" dirty="0" smtClean="0">
                <a:latin typeface="宋体" pitchFamily="2" charset="-122"/>
              </a:rPr>
              <a:t>)y=</a:t>
            </a:r>
            <a:r>
              <a:rPr lang="zh-CN" altLang="en-US" sz="1800" b="1" dirty="0" smtClean="0">
                <a:latin typeface="宋体" pitchFamily="2" charset="-122"/>
              </a:rPr>
              <a:t>1</a:t>
            </a:r>
            <a:endParaRPr lang="zh-CN" altLang="en-US" sz="1800" b="1" dirty="0">
              <a:latin typeface="宋体" pitchFamily="2" charset="-122"/>
            </a:endParaRPr>
          </a:p>
        </p:txBody>
      </p:sp>
      <p:sp>
        <p:nvSpPr>
          <p:cNvPr id="43098" name="Rectangle 96"/>
          <p:cNvSpPr>
            <a:spLocks noChangeArrowheads="1"/>
          </p:cNvSpPr>
          <p:nvPr/>
        </p:nvSpPr>
        <p:spPr bwMode="auto">
          <a:xfrm>
            <a:off x="4267200" y="115396"/>
            <a:ext cx="2133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9pPr>
          </a:lstStyle>
          <a:p>
            <a:pPr algn="ctr">
              <a:buClr>
                <a:srgbClr val="FF0000"/>
              </a:buClr>
              <a:buSzPct val="100000"/>
              <a:buNone/>
            </a:pP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课堂练习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sym typeface="Arial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459132" y="2805809"/>
            <a:ext cx="3477234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Verdana" panose="020B0604030504040204" pitchFamily="34" charset="0"/>
              </a:rPr>
              <a:t>Step 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2 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反向传播计算修正误差</a:t>
            </a:r>
            <a:endParaRPr lang="en-US" altLang="zh-CN" b="1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altLang="zh-CN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altLang="zh-CN" b="1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altLang="zh-CN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altLang="zh-CN" b="1" dirty="0">
                <a:solidFill>
                  <a:srgbClr val="000000"/>
                </a:solidFill>
                <a:latin typeface="Verdana" panose="020B0604030504040204" pitchFamily="34" charset="0"/>
              </a:rPr>
              <a:t>Step 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3  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计算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权重和阈值的更新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732584" y="6067597"/>
            <a:ext cx="2701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Verdana" panose="020B0604030504040204" pitchFamily="34" charset="0"/>
              </a:rPr>
              <a:t>激活函数为</a:t>
            </a:r>
            <a:r>
              <a:rPr lang="en-US" altLang="zh-CN" dirty="0">
                <a:solidFill>
                  <a:srgbClr val="FF0000"/>
                </a:solidFill>
                <a:latin typeface="Verdana" panose="020B0604030504040204" pitchFamily="34" charset="0"/>
              </a:rPr>
              <a:t>sigmoid</a:t>
            </a:r>
            <a:r>
              <a:rPr lang="zh-CN" altLang="en-US" dirty="0">
                <a:solidFill>
                  <a:srgbClr val="FF0000"/>
                </a:solidFill>
                <a:latin typeface="Verdana" panose="020B0604030504040204" pitchFamily="34" charset="0"/>
              </a:rPr>
              <a:t>函数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6640" y="1138337"/>
            <a:ext cx="7239559" cy="425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用一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个训练样本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，示例了神经网络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学习过程中的一次迭代过程。</a:t>
            </a:r>
          </a:p>
        </p:txBody>
      </p:sp>
      <p:sp>
        <p:nvSpPr>
          <p:cNvPr id="12" name="矩形 11"/>
          <p:cNvSpPr/>
          <p:nvPr/>
        </p:nvSpPr>
        <p:spPr>
          <a:xfrm>
            <a:off x="5437361" y="2154175"/>
            <a:ext cx="20136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Verdana" panose="020B0604030504040204" pitchFamily="34" charset="0"/>
              </a:rPr>
              <a:t>Step 1 </a:t>
            </a: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前向传播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540634"/>
            <a:ext cx="2209800" cy="8667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167" y="4433824"/>
            <a:ext cx="3249833" cy="57026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6366" y="3119964"/>
            <a:ext cx="2543175" cy="695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6366" y="2597072"/>
            <a:ext cx="2371725" cy="35242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" name="矩形 4"/>
          <p:cNvSpPr/>
          <p:nvPr/>
        </p:nvSpPr>
        <p:spPr>
          <a:xfrm>
            <a:off x="7941307" y="1752571"/>
            <a:ext cx="31290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  <a:cs typeface="Times New Roman" panose="02020603050405020304" pitchFamily="18" charset="0"/>
              </a:rPr>
              <a:t>g</a:t>
            </a:r>
            <a:endParaRPr lang="zh-CN" altLang="en-US" i="1" dirty="0"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577417" y="2180702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CC00CC"/>
                </a:solidFill>
                <a:latin typeface="Calibri"/>
                <a:cs typeface="Calibri"/>
              </a:rPr>
              <a:t>损失函数：均方误差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9016131" y="6436929"/>
            <a:ext cx="3175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对于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θ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，设定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θ=w</a:t>
            </a:r>
            <a:r>
              <a:rPr lang="en-US" altLang="zh-CN" b="1" baseline="-250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0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，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x</a:t>
            </a:r>
            <a:r>
              <a:rPr lang="en-US" altLang="zh-CN" b="1" baseline="-250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0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=-1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224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81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509335"/>
              </p:ext>
            </p:extLst>
          </p:nvPr>
        </p:nvGraphicFramePr>
        <p:xfrm>
          <a:off x="5943600" y="2748281"/>
          <a:ext cx="4953444" cy="20206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02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1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86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神经元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    输入 net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输出o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4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3079" name="Picture 77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14471"/>
            <a:ext cx="3962400" cy="333369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</p:pic>
      <p:sp>
        <p:nvSpPr>
          <p:cNvPr id="43097" name="Text Box 95"/>
          <p:cNvSpPr txBox="1">
            <a:spLocks noChangeArrowheads="1"/>
          </p:cNvSpPr>
          <p:nvPr/>
        </p:nvSpPr>
        <p:spPr bwMode="auto">
          <a:xfrm>
            <a:off x="770053" y="5257800"/>
            <a:ext cx="3240088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宋体" pitchFamily="2" charset="-122"/>
              </a:rPr>
              <a:t>训练样本x={1,0,1}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宋体" pitchFamily="2" charset="-122"/>
              </a:rPr>
              <a:t>类</a:t>
            </a:r>
            <a:r>
              <a:rPr lang="zh-CN" altLang="en-US" sz="1800" b="1" dirty="0" smtClean="0">
                <a:latin typeface="宋体" pitchFamily="2" charset="-122"/>
              </a:rPr>
              <a:t>标号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标签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sz="1800" b="1" dirty="0" smtClean="0">
                <a:latin typeface="宋体" pitchFamily="2" charset="-122"/>
              </a:rPr>
              <a:t>为</a:t>
            </a:r>
            <a:r>
              <a:rPr lang="zh-CN" altLang="en-US" sz="1800" b="1" dirty="0">
                <a:latin typeface="宋体" pitchFamily="2" charset="-122"/>
              </a:rPr>
              <a:t>1</a:t>
            </a:r>
          </a:p>
        </p:txBody>
      </p:sp>
      <p:sp>
        <p:nvSpPr>
          <p:cNvPr id="43098" name="Rectangle 96"/>
          <p:cNvSpPr>
            <a:spLocks noChangeArrowheads="1"/>
          </p:cNvSpPr>
          <p:nvPr/>
        </p:nvSpPr>
        <p:spPr bwMode="auto">
          <a:xfrm>
            <a:off x="4267200" y="115396"/>
            <a:ext cx="2133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9pPr>
          </a:lstStyle>
          <a:p>
            <a:pPr algn="ctr">
              <a:buClr>
                <a:srgbClr val="FF0000"/>
              </a:buClr>
              <a:buSzPct val="100000"/>
              <a:buNone/>
            </a:pP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课堂练习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sym typeface="Arial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943600" y="1958060"/>
            <a:ext cx="20136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Verdana" panose="020B0604030504040204" pitchFamily="34" charset="0"/>
              </a:rPr>
              <a:t>Step 1 </a:t>
            </a:r>
            <a:r>
              <a:rPr lang="zh-CN" altLang="en-US" b="1" dirty="0">
                <a:solidFill>
                  <a:srgbClr val="FF0000"/>
                </a:solidFill>
                <a:latin typeface="Verdana" panose="020B0604030504040204" pitchFamily="34" charset="0"/>
              </a:rPr>
              <a:t>前向传播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727619" y="6085089"/>
            <a:ext cx="2701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激活函数为</a:t>
            </a:r>
            <a:r>
              <a:rPr lang="en-US" altLang="zh-CN" dirty="0">
                <a:solidFill>
                  <a:srgbClr val="000000"/>
                </a:solidFill>
                <a:latin typeface="Verdana" panose="020B0604030504040204" pitchFamily="34" charset="0"/>
              </a:rPr>
              <a:t>sigmoid</a:t>
            </a:r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函数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56641" y="1138337"/>
            <a:ext cx="6096000" cy="4257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用一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个训练样本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，示例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了网络学习过程中的一次迭代过程。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3993" y="1308940"/>
            <a:ext cx="2209800" cy="866775"/>
          </a:xfrm>
          <a:prstGeom prst="rect">
            <a:avLst/>
          </a:prstGeom>
        </p:spPr>
      </p:pic>
      <p:graphicFrame>
        <p:nvGraphicFramePr>
          <p:cNvPr id="12" name="Group 2"/>
          <p:cNvGraphicFramePr>
            <a:graphicFrameLocks noGrp="1"/>
          </p:cNvGraphicFramePr>
          <p:nvPr>
            <p:extLst/>
          </p:nvPr>
        </p:nvGraphicFramePr>
        <p:xfrm>
          <a:off x="3505200" y="5279871"/>
          <a:ext cx="8496300" cy="93662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60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48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191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W14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W15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W24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W25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W34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W35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W46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W56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kumimoji="0" lang="ru-RU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-0.5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8608057" y="1529805"/>
            <a:ext cx="31290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  <a:cs typeface="Times New Roman" panose="02020603050405020304" pitchFamily="18" charset="0"/>
              </a:rPr>
              <a:t>g</a:t>
            </a:r>
            <a:endParaRPr lang="zh-CN" altLang="en-US" i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03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81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491759"/>
              </p:ext>
            </p:extLst>
          </p:nvPr>
        </p:nvGraphicFramePr>
        <p:xfrm>
          <a:off x="5410200" y="2748281"/>
          <a:ext cx="6400800" cy="20206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6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8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86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神经元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    输入 </a:t>
                      </a: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in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输出o</a:t>
                      </a:r>
                      <a:r>
                        <a:rPr kumimoji="0" lang="en-US" altLang="zh-CN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ut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0.2*1+0.4*0+(-0.5)*1-0.4=-0.7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1/(1+e-(-0.7))=0.332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(-0.3)*1+0.1*0+(0.2)*1-(-0.2)=0.1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1/(1+e(-0.1))=0.525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6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3079" name="Picture 77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14471"/>
            <a:ext cx="3962400" cy="333369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</p:pic>
      <p:sp>
        <p:nvSpPr>
          <p:cNvPr id="43097" name="Text Box 95"/>
          <p:cNvSpPr txBox="1">
            <a:spLocks noChangeArrowheads="1"/>
          </p:cNvSpPr>
          <p:nvPr/>
        </p:nvSpPr>
        <p:spPr bwMode="auto">
          <a:xfrm>
            <a:off x="770053" y="5257800"/>
            <a:ext cx="3240088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宋体" pitchFamily="2" charset="-122"/>
              </a:rPr>
              <a:t>训练样本x={1,0,1}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宋体" pitchFamily="2" charset="-122"/>
              </a:rPr>
              <a:t>类</a:t>
            </a:r>
            <a:r>
              <a:rPr lang="zh-CN" altLang="en-US" sz="1800" b="1" dirty="0" smtClean="0">
                <a:latin typeface="宋体" pitchFamily="2" charset="-122"/>
              </a:rPr>
              <a:t>标号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标签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sz="1800" b="1" dirty="0" smtClean="0">
                <a:latin typeface="宋体" pitchFamily="2" charset="-122"/>
              </a:rPr>
              <a:t>为</a:t>
            </a:r>
            <a:r>
              <a:rPr lang="zh-CN" altLang="en-US" sz="1800" b="1" dirty="0">
                <a:latin typeface="宋体" pitchFamily="2" charset="-122"/>
              </a:rPr>
              <a:t>1</a:t>
            </a:r>
          </a:p>
        </p:txBody>
      </p:sp>
      <p:sp>
        <p:nvSpPr>
          <p:cNvPr id="43098" name="Rectangle 96"/>
          <p:cNvSpPr>
            <a:spLocks noChangeArrowheads="1"/>
          </p:cNvSpPr>
          <p:nvPr/>
        </p:nvSpPr>
        <p:spPr bwMode="auto">
          <a:xfrm>
            <a:off x="4267200" y="115396"/>
            <a:ext cx="2133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9pPr>
          </a:lstStyle>
          <a:p>
            <a:pPr algn="ctr">
              <a:buClr>
                <a:srgbClr val="FF0000"/>
              </a:buClr>
              <a:buSzPct val="100000"/>
              <a:buNone/>
            </a:pP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课堂练习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sym typeface="Arial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943600" y="1958060"/>
            <a:ext cx="20136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Verdana" panose="020B0604030504040204" pitchFamily="34" charset="0"/>
              </a:rPr>
              <a:t>Step 1 </a:t>
            </a:r>
            <a:r>
              <a:rPr lang="zh-CN" altLang="en-US" b="1" dirty="0">
                <a:solidFill>
                  <a:srgbClr val="FF0000"/>
                </a:solidFill>
                <a:latin typeface="Verdana" panose="020B0604030504040204" pitchFamily="34" charset="0"/>
              </a:rPr>
              <a:t>前向传播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727619" y="6085089"/>
            <a:ext cx="2701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激活函数为</a:t>
            </a:r>
            <a:r>
              <a:rPr lang="en-US" altLang="zh-CN" dirty="0">
                <a:solidFill>
                  <a:srgbClr val="000000"/>
                </a:solidFill>
                <a:latin typeface="Verdana" panose="020B0604030504040204" pitchFamily="34" charset="0"/>
              </a:rPr>
              <a:t>sigmoid</a:t>
            </a:r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函数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56641" y="1138337"/>
            <a:ext cx="6096000" cy="4257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用一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个训练样本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，示例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了网络学习过程中的一次迭代过程。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993" y="1308940"/>
            <a:ext cx="2209800" cy="866775"/>
          </a:xfrm>
          <a:prstGeom prst="rect">
            <a:avLst/>
          </a:prstGeom>
        </p:spPr>
      </p:pic>
      <p:graphicFrame>
        <p:nvGraphicFramePr>
          <p:cNvPr id="11" name="Group 2"/>
          <p:cNvGraphicFramePr>
            <a:graphicFrameLocks noGrp="1"/>
          </p:cNvGraphicFramePr>
          <p:nvPr>
            <p:extLst/>
          </p:nvPr>
        </p:nvGraphicFramePr>
        <p:xfrm>
          <a:off x="3505200" y="5279871"/>
          <a:ext cx="8496300" cy="93662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60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48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191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W14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W15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W24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W25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W34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W35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W46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W56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kumimoji="0" lang="ru-RU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-0.5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8610600" y="1529805"/>
            <a:ext cx="31290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  <a:cs typeface="Times New Roman" panose="02020603050405020304" pitchFamily="18" charset="0"/>
              </a:rPr>
              <a:t>g</a:t>
            </a:r>
            <a:endParaRPr lang="zh-CN" altLang="en-US" i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017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81" name="Group 49"/>
          <p:cNvGraphicFramePr>
            <a:graphicFrameLocks noGrp="1"/>
          </p:cNvGraphicFramePr>
          <p:nvPr>
            <p:extLst/>
          </p:nvPr>
        </p:nvGraphicFramePr>
        <p:xfrm>
          <a:off x="5410200" y="2748281"/>
          <a:ext cx="6400800" cy="20206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6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8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86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神经元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    输入 </a:t>
                      </a: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in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输出o</a:t>
                      </a:r>
                      <a:r>
                        <a:rPr kumimoji="0" lang="en-US" altLang="zh-CN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ut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0.2*1+0.4*0+(-0.5)*1-0.4=-0.7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1/(1+e-(-0.7))=0.332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(-0.3)*1+0.1*0+(0.2)*1-(-0.2)=0.1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1/(1+e(-0.1))=0.525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(-0.3)*0.332+(-0.2)*0.525-(-0.1)=-0.105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1/(1+e-(-0.105))=0.474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3079" name="Picture 77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14471"/>
            <a:ext cx="3962400" cy="333369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</p:pic>
      <p:sp>
        <p:nvSpPr>
          <p:cNvPr id="43097" name="Text Box 95"/>
          <p:cNvSpPr txBox="1">
            <a:spLocks noChangeArrowheads="1"/>
          </p:cNvSpPr>
          <p:nvPr/>
        </p:nvSpPr>
        <p:spPr bwMode="auto">
          <a:xfrm>
            <a:off x="770053" y="5257800"/>
            <a:ext cx="3240088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宋体" pitchFamily="2" charset="-122"/>
              </a:rPr>
              <a:t>训练样本x={1,0,1}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宋体" pitchFamily="2" charset="-122"/>
              </a:rPr>
              <a:t>类</a:t>
            </a:r>
            <a:r>
              <a:rPr lang="zh-CN" altLang="en-US" sz="1800" b="1" dirty="0" smtClean="0">
                <a:latin typeface="宋体" pitchFamily="2" charset="-122"/>
              </a:rPr>
              <a:t>标号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标签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sz="1800" b="1" dirty="0" smtClean="0">
                <a:latin typeface="宋体" pitchFamily="2" charset="-122"/>
              </a:rPr>
              <a:t>为</a:t>
            </a:r>
            <a:r>
              <a:rPr lang="zh-CN" altLang="en-US" sz="1800" b="1" dirty="0">
                <a:latin typeface="宋体" pitchFamily="2" charset="-122"/>
              </a:rPr>
              <a:t>1</a:t>
            </a:r>
          </a:p>
        </p:txBody>
      </p:sp>
      <p:sp>
        <p:nvSpPr>
          <p:cNvPr id="43098" name="Rectangle 96"/>
          <p:cNvSpPr>
            <a:spLocks noChangeArrowheads="1"/>
          </p:cNvSpPr>
          <p:nvPr/>
        </p:nvSpPr>
        <p:spPr bwMode="auto">
          <a:xfrm>
            <a:off x="4267200" y="115396"/>
            <a:ext cx="2133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9pPr>
          </a:lstStyle>
          <a:p>
            <a:pPr algn="ctr">
              <a:buClr>
                <a:srgbClr val="FF0000"/>
              </a:buClr>
              <a:buSzPct val="100000"/>
              <a:buNone/>
            </a:pP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课堂练习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sym typeface="Arial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943600" y="1958060"/>
            <a:ext cx="20136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Verdana" panose="020B0604030504040204" pitchFamily="34" charset="0"/>
              </a:rPr>
              <a:t>Step 1 </a:t>
            </a:r>
            <a:r>
              <a:rPr lang="zh-CN" altLang="en-US" b="1" dirty="0">
                <a:solidFill>
                  <a:srgbClr val="FF0000"/>
                </a:solidFill>
                <a:latin typeface="Verdana" panose="020B0604030504040204" pitchFamily="34" charset="0"/>
              </a:rPr>
              <a:t>前向传播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727619" y="6085089"/>
            <a:ext cx="2701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激活函数为</a:t>
            </a:r>
            <a:r>
              <a:rPr lang="en-US" altLang="zh-CN" dirty="0">
                <a:solidFill>
                  <a:srgbClr val="000000"/>
                </a:solidFill>
                <a:latin typeface="Verdana" panose="020B0604030504040204" pitchFamily="34" charset="0"/>
              </a:rPr>
              <a:t>sigmoid</a:t>
            </a:r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函数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56641" y="1138337"/>
            <a:ext cx="6096000" cy="4257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用一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个训练样本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，示例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了网络学习过程中的一次迭代过程。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993" y="1308940"/>
            <a:ext cx="2209800" cy="866775"/>
          </a:xfrm>
          <a:prstGeom prst="rect">
            <a:avLst/>
          </a:prstGeom>
        </p:spPr>
      </p:pic>
      <p:graphicFrame>
        <p:nvGraphicFramePr>
          <p:cNvPr id="11" name="Group 2"/>
          <p:cNvGraphicFramePr>
            <a:graphicFrameLocks noGrp="1"/>
          </p:cNvGraphicFramePr>
          <p:nvPr>
            <p:extLst/>
          </p:nvPr>
        </p:nvGraphicFramePr>
        <p:xfrm>
          <a:off x="3505200" y="5279871"/>
          <a:ext cx="8496300" cy="93662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60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48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191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W14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W15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W24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W25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W34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W35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W46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W56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kumimoji="0" lang="ru-RU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-0.5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8610600" y="1529805"/>
            <a:ext cx="31290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  <a:cs typeface="Times New Roman" panose="02020603050405020304" pitchFamily="18" charset="0"/>
              </a:rPr>
              <a:t>g</a:t>
            </a:r>
            <a:endParaRPr lang="zh-CN" altLang="en-US" i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53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81" name="Group 49"/>
          <p:cNvGraphicFramePr>
            <a:graphicFrameLocks noGrp="1"/>
          </p:cNvGraphicFramePr>
          <p:nvPr>
            <p:extLst/>
          </p:nvPr>
        </p:nvGraphicFramePr>
        <p:xfrm>
          <a:off x="6950446" y="366404"/>
          <a:ext cx="5045364" cy="139467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1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5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神经元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    输入 </a:t>
                      </a: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in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输出o</a:t>
                      </a:r>
                      <a:r>
                        <a:rPr kumimoji="0" lang="en-US" altLang="zh-CN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ut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5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-0.7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0.332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5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0.1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0.525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88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0.105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0.474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3079" name="Picture 77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14471"/>
            <a:ext cx="3962400" cy="333369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</p:pic>
      <p:sp>
        <p:nvSpPr>
          <p:cNvPr id="43097" name="Text Box 95"/>
          <p:cNvSpPr txBox="1">
            <a:spLocks noChangeArrowheads="1"/>
          </p:cNvSpPr>
          <p:nvPr/>
        </p:nvSpPr>
        <p:spPr bwMode="auto">
          <a:xfrm>
            <a:off x="770053" y="5257800"/>
            <a:ext cx="3240088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宋体" pitchFamily="2" charset="-122"/>
              </a:rPr>
              <a:t>训练样本x={1,0,1}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宋体" pitchFamily="2" charset="-122"/>
              </a:rPr>
              <a:t>类</a:t>
            </a:r>
            <a:r>
              <a:rPr lang="zh-CN" altLang="en-US" sz="1800" b="1" dirty="0" smtClean="0">
                <a:latin typeface="宋体" pitchFamily="2" charset="-122"/>
              </a:rPr>
              <a:t>标号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标签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sz="1800" b="1" dirty="0" smtClean="0">
                <a:latin typeface="宋体" pitchFamily="2" charset="-122"/>
              </a:rPr>
              <a:t>为</a:t>
            </a:r>
            <a:r>
              <a:rPr lang="zh-CN" altLang="en-US" sz="1800" b="1" dirty="0">
                <a:latin typeface="宋体" pitchFamily="2" charset="-122"/>
              </a:rPr>
              <a:t>1</a:t>
            </a:r>
          </a:p>
        </p:txBody>
      </p:sp>
      <p:sp>
        <p:nvSpPr>
          <p:cNvPr id="43098" name="Rectangle 96"/>
          <p:cNvSpPr>
            <a:spLocks noChangeArrowheads="1"/>
          </p:cNvSpPr>
          <p:nvPr/>
        </p:nvSpPr>
        <p:spPr bwMode="auto">
          <a:xfrm>
            <a:off x="4267200" y="115396"/>
            <a:ext cx="2133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9pPr>
          </a:lstStyle>
          <a:p>
            <a:pPr algn="ctr">
              <a:buClr>
                <a:srgbClr val="FF0000"/>
              </a:buClr>
              <a:buSzPct val="100000"/>
              <a:buNone/>
            </a:pP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课堂练习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sym typeface="Arial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45794" y="1992782"/>
            <a:ext cx="229421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Verdana" panose="020B0604030504040204" pitchFamily="34" charset="0"/>
              </a:rPr>
              <a:t>Step </a:t>
            </a:r>
            <a:r>
              <a:rPr lang="en-US" altLang="zh-CN" b="1" dirty="0" smtClean="0">
                <a:solidFill>
                  <a:srgbClr val="FF0000"/>
                </a:solidFill>
                <a:latin typeface="Verdana" panose="020B0604030504040204" pitchFamily="34" charset="0"/>
              </a:rPr>
              <a:t>2 </a:t>
            </a:r>
            <a:r>
              <a:rPr lang="zh-CN" altLang="en-US" b="1" dirty="0" smtClean="0">
                <a:solidFill>
                  <a:srgbClr val="FF0000"/>
                </a:solidFill>
                <a:latin typeface="Verdana" panose="020B0604030504040204" pitchFamily="34" charset="0"/>
              </a:rPr>
              <a:t>反向传播</a:t>
            </a:r>
            <a:endParaRPr lang="en-US" altLang="zh-CN" b="1" dirty="0" smtClean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endParaRPr lang="en-US" altLang="zh-CN" b="1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  <a:latin typeface="Verdana" panose="020B0604030504040204" pitchFamily="34" charset="0"/>
              </a:rPr>
              <a:t>   2.1 </a:t>
            </a:r>
            <a:r>
              <a:rPr lang="zh-CN" altLang="en-US" b="1" dirty="0" smtClean="0">
                <a:solidFill>
                  <a:srgbClr val="FF0000"/>
                </a:solidFill>
                <a:latin typeface="Verdana" panose="020B0604030504040204" pitchFamily="34" charset="0"/>
              </a:rPr>
              <a:t>计算修正误差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727619" y="6085089"/>
            <a:ext cx="2701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激活函数为</a:t>
            </a:r>
            <a:r>
              <a:rPr lang="en-US" altLang="zh-CN" dirty="0">
                <a:solidFill>
                  <a:srgbClr val="000000"/>
                </a:solidFill>
                <a:latin typeface="Verdana" panose="020B0604030504040204" pitchFamily="34" charset="0"/>
              </a:rPr>
              <a:t>sigmoid</a:t>
            </a:r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函数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56641" y="1138337"/>
            <a:ext cx="6096000" cy="4257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用一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个训练样本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，示例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了网络学习过程中的一次迭代过程。</a:t>
            </a:r>
          </a:p>
        </p:txBody>
      </p:sp>
      <p:graphicFrame>
        <p:nvGraphicFramePr>
          <p:cNvPr id="10" name="Group 72"/>
          <p:cNvGraphicFramePr>
            <a:graphicFrameLocks noGrp="1"/>
          </p:cNvGraphicFramePr>
          <p:nvPr>
            <p:extLst/>
          </p:nvPr>
        </p:nvGraphicFramePr>
        <p:xfrm>
          <a:off x="5376630" y="3414272"/>
          <a:ext cx="4926763" cy="1341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神经元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  <a:ea typeface="宋体" pitchFamily="2" charset="-122"/>
                        </a:rPr>
                        <a:t>修正误差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6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6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4716" y="2527281"/>
            <a:ext cx="2543175" cy="695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4716" y="2004389"/>
            <a:ext cx="2371725" cy="35242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9400" y="3655440"/>
            <a:ext cx="1933683" cy="858783"/>
          </a:xfrm>
          <a:prstGeom prst="rect">
            <a:avLst/>
          </a:prstGeom>
        </p:spPr>
      </p:pic>
      <p:graphicFrame>
        <p:nvGraphicFramePr>
          <p:cNvPr id="14" name="Group 2"/>
          <p:cNvGraphicFramePr>
            <a:graphicFrameLocks noGrp="1"/>
          </p:cNvGraphicFramePr>
          <p:nvPr>
            <p:extLst/>
          </p:nvPr>
        </p:nvGraphicFramePr>
        <p:xfrm>
          <a:off x="3505200" y="5279871"/>
          <a:ext cx="8496300" cy="93662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60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48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191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W14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W15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W24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W25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W34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W35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W46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W56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kumimoji="0" lang="ru-RU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-0.5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4714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81" name="Group 49"/>
          <p:cNvGraphicFramePr>
            <a:graphicFrameLocks noGrp="1"/>
          </p:cNvGraphicFramePr>
          <p:nvPr>
            <p:extLst/>
          </p:nvPr>
        </p:nvGraphicFramePr>
        <p:xfrm>
          <a:off x="6950446" y="366404"/>
          <a:ext cx="5045364" cy="139467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1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5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神经元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    输入 </a:t>
                      </a: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in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输出o</a:t>
                      </a:r>
                      <a:r>
                        <a:rPr kumimoji="0" lang="en-US" altLang="zh-CN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ut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5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-0.7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0.332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5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0.1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0.525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88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0.105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0.474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3079" name="Picture 77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14471"/>
            <a:ext cx="3962400" cy="333369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</p:pic>
      <p:sp>
        <p:nvSpPr>
          <p:cNvPr id="43097" name="Text Box 95"/>
          <p:cNvSpPr txBox="1">
            <a:spLocks noChangeArrowheads="1"/>
          </p:cNvSpPr>
          <p:nvPr/>
        </p:nvSpPr>
        <p:spPr bwMode="auto">
          <a:xfrm>
            <a:off x="770053" y="5257800"/>
            <a:ext cx="3240088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宋体" pitchFamily="2" charset="-122"/>
              </a:rPr>
              <a:t>训练样本x={1,0,1}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宋体" pitchFamily="2" charset="-122"/>
              </a:rPr>
              <a:t>类</a:t>
            </a:r>
            <a:r>
              <a:rPr lang="zh-CN" altLang="en-US" sz="1800" b="1" dirty="0" smtClean="0">
                <a:latin typeface="宋体" pitchFamily="2" charset="-122"/>
              </a:rPr>
              <a:t>标号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标签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sz="1800" b="1" dirty="0" smtClean="0">
                <a:latin typeface="宋体" pitchFamily="2" charset="-122"/>
              </a:rPr>
              <a:t>为</a:t>
            </a:r>
            <a:r>
              <a:rPr lang="zh-CN" altLang="en-US" sz="1800" b="1" dirty="0">
                <a:latin typeface="宋体" pitchFamily="2" charset="-122"/>
              </a:rPr>
              <a:t>1</a:t>
            </a:r>
          </a:p>
        </p:txBody>
      </p:sp>
      <p:sp>
        <p:nvSpPr>
          <p:cNvPr id="43098" name="Rectangle 96"/>
          <p:cNvSpPr>
            <a:spLocks noChangeArrowheads="1"/>
          </p:cNvSpPr>
          <p:nvPr/>
        </p:nvSpPr>
        <p:spPr bwMode="auto">
          <a:xfrm>
            <a:off x="4267200" y="115396"/>
            <a:ext cx="2133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9pPr>
          </a:lstStyle>
          <a:p>
            <a:pPr algn="ctr">
              <a:buClr>
                <a:srgbClr val="FF0000"/>
              </a:buClr>
              <a:buSzPct val="100000"/>
              <a:buNone/>
            </a:pP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课堂练习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sym typeface="Arial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45794" y="1992782"/>
            <a:ext cx="204094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Verdana" panose="020B0604030504040204" pitchFamily="34" charset="0"/>
              </a:rPr>
              <a:t>Step </a:t>
            </a:r>
            <a:r>
              <a:rPr lang="en-US" altLang="zh-CN" b="1" dirty="0" smtClean="0">
                <a:solidFill>
                  <a:srgbClr val="FF0000"/>
                </a:solidFill>
                <a:latin typeface="Verdana" panose="020B0604030504040204" pitchFamily="34" charset="0"/>
              </a:rPr>
              <a:t>2 </a:t>
            </a:r>
            <a:r>
              <a:rPr lang="zh-CN" altLang="en-US" b="1" dirty="0" smtClean="0">
                <a:solidFill>
                  <a:srgbClr val="FF0000"/>
                </a:solidFill>
                <a:latin typeface="Verdana" panose="020B0604030504040204" pitchFamily="34" charset="0"/>
              </a:rPr>
              <a:t>反向传播</a:t>
            </a:r>
            <a:endParaRPr lang="en-US" altLang="zh-CN" b="1" dirty="0" smtClean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endParaRPr lang="en-US" altLang="zh-CN" b="1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latin typeface="Verdana" panose="020B0604030504040204" pitchFamily="34" charset="0"/>
              </a:rPr>
              <a:t>      计算修正误差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727619" y="6085089"/>
            <a:ext cx="2701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激活函数为</a:t>
            </a:r>
            <a:r>
              <a:rPr lang="en-US" altLang="zh-CN" dirty="0">
                <a:solidFill>
                  <a:srgbClr val="000000"/>
                </a:solidFill>
                <a:latin typeface="Verdana" panose="020B0604030504040204" pitchFamily="34" charset="0"/>
              </a:rPr>
              <a:t>sigmoid</a:t>
            </a:r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函数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56641" y="1138337"/>
            <a:ext cx="6096000" cy="4257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用一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个训练样本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，示例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了网络学习过程中的一次迭代过程。</a:t>
            </a:r>
          </a:p>
        </p:txBody>
      </p:sp>
      <p:graphicFrame>
        <p:nvGraphicFramePr>
          <p:cNvPr id="10" name="Group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824291"/>
              </p:ext>
            </p:extLst>
          </p:nvPr>
        </p:nvGraphicFramePr>
        <p:xfrm>
          <a:off x="5376630" y="3414272"/>
          <a:ext cx="4926763" cy="1341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神经元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  <a:ea typeface="宋体" pitchFamily="2" charset="-122"/>
                        </a:rPr>
                        <a:t>修正误差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6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0.474*(1-0.474)</a:t>
                      </a: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*(1-0.474)</a:t>
                      </a: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=0.1311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6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4716" y="2527281"/>
            <a:ext cx="2543175" cy="695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4716" y="2004389"/>
            <a:ext cx="2371725" cy="35242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9400" y="3896609"/>
            <a:ext cx="1933683" cy="858783"/>
          </a:xfrm>
          <a:prstGeom prst="rect">
            <a:avLst/>
          </a:prstGeom>
        </p:spPr>
      </p:pic>
      <p:graphicFrame>
        <p:nvGraphicFramePr>
          <p:cNvPr id="15" name="Group 2"/>
          <p:cNvGraphicFramePr>
            <a:graphicFrameLocks noGrp="1"/>
          </p:cNvGraphicFramePr>
          <p:nvPr>
            <p:extLst/>
          </p:nvPr>
        </p:nvGraphicFramePr>
        <p:xfrm>
          <a:off x="3505200" y="5279871"/>
          <a:ext cx="8496300" cy="93662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60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48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191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W14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W15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W24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W25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W34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W35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W46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W56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kumimoji="0" lang="ru-RU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-0.5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259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81" name="Group 49"/>
          <p:cNvGraphicFramePr>
            <a:graphicFrameLocks noGrp="1"/>
          </p:cNvGraphicFramePr>
          <p:nvPr>
            <p:extLst/>
          </p:nvPr>
        </p:nvGraphicFramePr>
        <p:xfrm>
          <a:off x="6950446" y="366404"/>
          <a:ext cx="5045364" cy="139467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1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5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神经元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    输入 </a:t>
                      </a: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in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输出o</a:t>
                      </a:r>
                      <a:r>
                        <a:rPr kumimoji="0" lang="en-US" altLang="zh-CN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ut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5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-0.7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0.332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5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0.1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0.525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88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0.105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0.474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3079" name="Picture 77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14471"/>
            <a:ext cx="3962400" cy="333369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</p:pic>
      <p:sp>
        <p:nvSpPr>
          <p:cNvPr id="43097" name="Text Box 95"/>
          <p:cNvSpPr txBox="1">
            <a:spLocks noChangeArrowheads="1"/>
          </p:cNvSpPr>
          <p:nvPr/>
        </p:nvSpPr>
        <p:spPr bwMode="auto">
          <a:xfrm>
            <a:off x="770053" y="5257800"/>
            <a:ext cx="3240088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宋体" pitchFamily="2" charset="-122"/>
              </a:rPr>
              <a:t>训练样本x={1,0,1}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宋体" pitchFamily="2" charset="-122"/>
              </a:rPr>
              <a:t>类</a:t>
            </a:r>
            <a:r>
              <a:rPr lang="zh-CN" altLang="en-US" sz="1800" b="1" dirty="0" smtClean="0">
                <a:latin typeface="宋体" pitchFamily="2" charset="-122"/>
              </a:rPr>
              <a:t>标号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标签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sz="1800" b="1" dirty="0" smtClean="0">
                <a:latin typeface="宋体" pitchFamily="2" charset="-122"/>
              </a:rPr>
              <a:t>为</a:t>
            </a:r>
            <a:r>
              <a:rPr lang="zh-CN" altLang="en-US" sz="1800" b="1" dirty="0">
                <a:latin typeface="宋体" pitchFamily="2" charset="-122"/>
              </a:rPr>
              <a:t>1</a:t>
            </a:r>
          </a:p>
        </p:txBody>
      </p:sp>
      <p:sp>
        <p:nvSpPr>
          <p:cNvPr id="43098" name="Rectangle 96"/>
          <p:cNvSpPr>
            <a:spLocks noChangeArrowheads="1"/>
          </p:cNvSpPr>
          <p:nvPr/>
        </p:nvSpPr>
        <p:spPr bwMode="auto">
          <a:xfrm>
            <a:off x="4267200" y="115396"/>
            <a:ext cx="2133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Garamond" pitchFamily="18" charset="0"/>
                <a:ea typeface="宋体" pitchFamily="2" charset="-122"/>
              </a:defRPr>
            </a:lvl9pPr>
          </a:lstStyle>
          <a:p>
            <a:pPr algn="ctr">
              <a:buClr>
                <a:srgbClr val="FF0000"/>
              </a:buClr>
              <a:buSzPct val="100000"/>
              <a:buNone/>
            </a:pP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课堂练习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sym typeface="Arial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45794" y="1992782"/>
            <a:ext cx="204094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Verdana" panose="020B0604030504040204" pitchFamily="34" charset="0"/>
              </a:rPr>
              <a:t>Step </a:t>
            </a:r>
            <a:r>
              <a:rPr lang="en-US" altLang="zh-CN" b="1" dirty="0" smtClean="0">
                <a:solidFill>
                  <a:srgbClr val="FF0000"/>
                </a:solidFill>
                <a:latin typeface="Verdana" panose="020B0604030504040204" pitchFamily="34" charset="0"/>
              </a:rPr>
              <a:t>2 </a:t>
            </a:r>
            <a:r>
              <a:rPr lang="zh-CN" altLang="en-US" b="1" dirty="0" smtClean="0">
                <a:solidFill>
                  <a:srgbClr val="FF0000"/>
                </a:solidFill>
                <a:latin typeface="Verdana" panose="020B0604030504040204" pitchFamily="34" charset="0"/>
              </a:rPr>
              <a:t>反向传播</a:t>
            </a:r>
            <a:endParaRPr lang="en-US" altLang="zh-CN" b="1" dirty="0" smtClean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endParaRPr lang="en-US" altLang="zh-CN" b="1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latin typeface="Verdana" panose="020B0604030504040204" pitchFamily="34" charset="0"/>
              </a:rPr>
              <a:t>      计算修正误差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727619" y="6085089"/>
            <a:ext cx="2701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激活函数为</a:t>
            </a:r>
            <a:r>
              <a:rPr lang="en-US" altLang="zh-CN" dirty="0">
                <a:solidFill>
                  <a:srgbClr val="000000"/>
                </a:solidFill>
                <a:latin typeface="Verdana" panose="020B0604030504040204" pitchFamily="34" charset="0"/>
              </a:rPr>
              <a:t>sigmoid</a:t>
            </a:r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函数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56641" y="1138337"/>
            <a:ext cx="6096000" cy="4257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6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用一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个训练样本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，示例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Arial" pitchFamily="34" charset="0"/>
              </a:rPr>
              <a:t>了网络学习过程中的一次迭代过程。</a:t>
            </a:r>
          </a:p>
        </p:txBody>
      </p:sp>
      <p:graphicFrame>
        <p:nvGraphicFramePr>
          <p:cNvPr id="10" name="Group 72"/>
          <p:cNvGraphicFramePr>
            <a:graphicFrameLocks noGrp="1"/>
          </p:cNvGraphicFramePr>
          <p:nvPr>
            <p:extLst/>
          </p:nvPr>
        </p:nvGraphicFramePr>
        <p:xfrm>
          <a:off x="5376630" y="3414272"/>
          <a:ext cx="4926763" cy="1341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神经元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  <a:ea typeface="宋体" pitchFamily="2" charset="-122"/>
                        </a:rPr>
                        <a:t>修正误差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6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0.474*(1-0.474)</a:t>
                      </a: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*(1-0.474)</a:t>
                      </a: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 </a:t>
                      </a: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=0.1311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0.525*(1-0.525)</a:t>
                      </a: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*(0.1311*(-0.2)) =-0.0065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6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0.332*(1-0.332)</a:t>
                      </a: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*(0.1311*(-0.3))=-0.0087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4716" y="2527281"/>
            <a:ext cx="2543175" cy="695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4716" y="2004389"/>
            <a:ext cx="2371725" cy="35242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9400" y="3896609"/>
            <a:ext cx="1933683" cy="858783"/>
          </a:xfrm>
          <a:prstGeom prst="rect">
            <a:avLst/>
          </a:prstGeom>
        </p:spPr>
      </p:pic>
      <p:graphicFrame>
        <p:nvGraphicFramePr>
          <p:cNvPr id="15" name="Group 2"/>
          <p:cNvGraphicFramePr>
            <a:graphicFrameLocks noGrp="1"/>
          </p:cNvGraphicFramePr>
          <p:nvPr>
            <p:extLst/>
          </p:nvPr>
        </p:nvGraphicFramePr>
        <p:xfrm>
          <a:off x="3505200" y="5279871"/>
          <a:ext cx="8496300" cy="93662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60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48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191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W14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W15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W24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W25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W34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W35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W46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W56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kumimoji="0" lang="ru-RU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-0.5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889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326169"/>
              </p:ext>
            </p:extLst>
          </p:nvPr>
        </p:nvGraphicFramePr>
        <p:xfrm>
          <a:off x="6486694" y="1912677"/>
          <a:ext cx="4824412" cy="449008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0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1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w46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-0.3+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0.9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*0.332*0.1311=-0.216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w56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-0.2+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0.9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*0.525*0.1311=-0.138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w14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0.2+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0.9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</a:t>
                      </a:r>
                      <a:r>
                        <a:rPr kumimoji="0" lang="en-US" altLang="zh-CN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1*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(-0.0087)=0.192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w15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-0.3+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0.9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</a:t>
                      </a:r>
                      <a:r>
                        <a:rPr kumimoji="0" lang="en-US" altLang="zh-CN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1*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(-0.0065) =-0.306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w24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0.4+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0.9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</a:t>
                      </a:r>
                      <a:r>
                        <a:rPr kumimoji="0" lang="en-US" altLang="zh-CN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0*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(-0.0087)=0.</a:t>
                      </a:r>
                      <a:r>
                        <a:rPr kumimoji="0" lang="en-US" altLang="zh-CN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w25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0.1+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0.9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</a:t>
                      </a:r>
                      <a:r>
                        <a:rPr kumimoji="0" lang="en-US" altLang="zh-CN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0*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(-0.0065)=0.1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w34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-0.5+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0.9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</a:t>
                      </a:r>
                      <a:r>
                        <a:rPr kumimoji="0" lang="en-US" altLang="zh-CN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1*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(-0.0087)=-0.508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w35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0.2+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0.9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</a:t>
                      </a:r>
                      <a:r>
                        <a:rPr kumimoji="0" lang="en-US" altLang="zh-CN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1*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(-0.0065)=-0.194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6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-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0.1+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0.9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</a:t>
                      </a:r>
                      <a:r>
                        <a:rPr kumimoji="0" lang="en-US" altLang="zh-CN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(-1)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*0.1311=</a:t>
                      </a:r>
                      <a:r>
                        <a:rPr kumimoji="0" lang="en-US" altLang="zh-CN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-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0.218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5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-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0.2+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0.9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</a:t>
                      </a:r>
                      <a:r>
                        <a:rPr kumimoji="0" lang="en-US" altLang="zh-CN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(-1)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*(-0.0065)=</a:t>
                      </a:r>
                      <a:r>
                        <a:rPr kumimoji="0" lang="en-US" altLang="zh-CN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-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0.194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4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0.4+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0.9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</a:t>
                      </a:r>
                      <a:r>
                        <a:rPr kumimoji="0" lang="en-US" altLang="zh-CN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(-1)</a:t>
                      </a:r>
                      <a:r>
                        <a:rPr kumimoji="0" lang="zh-CN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*(-0.0087)=0.408</a:t>
                      </a:r>
                      <a:endParaRPr kumimoji="0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304800" y="654547"/>
            <a:ext cx="288572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Verdana" panose="020B0604030504040204" pitchFamily="34" charset="0"/>
              </a:rPr>
              <a:t>Step </a:t>
            </a:r>
            <a:r>
              <a:rPr lang="en-US" altLang="zh-CN" b="1" dirty="0" smtClean="0">
                <a:solidFill>
                  <a:srgbClr val="FF0000"/>
                </a:solidFill>
                <a:latin typeface="Verdana" panose="020B0604030504040204" pitchFamily="34" charset="0"/>
              </a:rPr>
              <a:t>3 </a:t>
            </a:r>
            <a:r>
              <a:rPr lang="zh-CN" altLang="en-US" b="1" dirty="0" smtClean="0">
                <a:solidFill>
                  <a:srgbClr val="FF0000"/>
                </a:solidFill>
                <a:latin typeface="Verdana" panose="020B0604030504040204" pitchFamily="34" charset="0"/>
              </a:rPr>
              <a:t>反向传播</a:t>
            </a:r>
            <a:endParaRPr lang="en-US" altLang="zh-CN" b="1" dirty="0" smtClean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endParaRPr lang="en-US" altLang="zh-CN" b="1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  <a:latin typeface="Verdana" panose="020B0604030504040204" pitchFamily="34" charset="0"/>
              </a:rPr>
              <a:t>     </a:t>
            </a:r>
            <a:r>
              <a:rPr lang="zh-CN" altLang="en-US" b="1" dirty="0" smtClean="0">
                <a:solidFill>
                  <a:srgbClr val="FF0000"/>
                </a:solidFill>
                <a:latin typeface="Verdana" panose="020B0604030504040204" pitchFamily="34" charset="0"/>
              </a:rPr>
              <a:t>计算权重和阈值的更新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683" y="1831395"/>
            <a:ext cx="3887518" cy="682165"/>
          </a:xfrm>
          <a:prstGeom prst="rect">
            <a:avLst/>
          </a:prstGeom>
        </p:spPr>
      </p:pic>
      <p:graphicFrame>
        <p:nvGraphicFramePr>
          <p:cNvPr id="11" name="Group 49"/>
          <p:cNvGraphicFramePr>
            <a:graphicFrameLocks noGrp="1"/>
          </p:cNvGraphicFramePr>
          <p:nvPr>
            <p:extLst/>
          </p:nvPr>
        </p:nvGraphicFramePr>
        <p:xfrm>
          <a:off x="609600" y="3249854"/>
          <a:ext cx="4926763" cy="139467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69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60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5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神经元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    输入 </a:t>
                      </a:r>
                      <a:r>
                        <a:rPr kumimoji="0" lang="en-US" altLang="zh-CN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in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输出o</a:t>
                      </a:r>
                      <a:r>
                        <a:rPr kumimoji="0" lang="en-US" altLang="zh-CN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ut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5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-0.7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0.332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5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0.1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0.525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88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0.105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0.474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marL="0" marR="0" marT="45712" marB="45712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Group 72"/>
          <p:cNvGraphicFramePr>
            <a:graphicFrameLocks noGrp="1"/>
          </p:cNvGraphicFramePr>
          <p:nvPr>
            <p:extLst/>
          </p:nvPr>
        </p:nvGraphicFramePr>
        <p:xfrm>
          <a:off x="609600" y="5036762"/>
          <a:ext cx="4926763" cy="147071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神经元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aramond" pitchFamily="18" charset="0"/>
                          <a:ea typeface="宋体" pitchFamily="2" charset="-122"/>
                        </a:rPr>
                        <a:t>修正误差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0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(1-0.474)*</a:t>
                      </a: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0.474*(1-0.474) </a:t>
                      </a: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=0.1311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7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(0.1311*(-0.2))*</a:t>
                      </a: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0.525*(1-0.525)</a:t>
                      </a: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=-0.0065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6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(0.1311*(-0.3))*</a:t>
                      </a: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</a:rPr>
                        <a:t>0.332*(1-0.332)</a:t>
                      </a:r>
                      <a:r>
                        <a:rPr kumimoji="0" lang="zh-CN" alt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=-0.0087</a:t>
                      </a:r>
                      <a:endParaRPr kumimoji="0" lang="zh-CN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2618410" y="2420041"/>
            <a:ext cx="21194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itchFamily="34" charset="0"/>
              </a:rPr>
              <a:t>学习</a:t>
            </a:r>
            <a:r>
              <a:rPr lang="zh-CN" altLang="en-US" sz="1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itchFamily="34" charset="0"/>
              </a:rPr>
              <a:t>率</a:t>
            </a:r>
            <a:r>
              <a:rPr lang="en-US" altLang="zh-CN" sz="1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itchFamily="34" charset="0"/>
              </a:rPr>
              <a:t>α</a:t>
            </a:r>
            <a:r>
              <a:rPr lang="zh-CN" altLang="en-US" sz="1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itchFamily="34" charset="0"/>
              </a:rPr>
              <a:t>，此处取值为</a:t>
            </a:r>
            <a:r>
              <a:rPr lang="en-US" altLang="zh-CN" sz="1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itchFamily="34" charset="0"/>
              </a:rPr>
              <a:t>0.9</a:t>
            </a:r>
            <a:endParaRPr lang="zh-CN" altLang="en-US" sz="1400" dirty="0"/>
          </a:p>
        </p:txBody>
      </p:sp>
      <p:sp>
        <p:nvSpPr>
          <p:cNvPr id="4" name="矩形 3"/>
          <p:cNvSpPr/>
          <p:nvPr/>
        </p:nvSpPr>
        <p:spPr>
          <a:xfrm>
            <a:off x="601824" y="2700361"/>
            <a:ext cx="1237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latin typeface="宋体" pitchFamily="2" charset="-122"/>
              </a:rPr>
              <a:t>x={1,0,1}</a:t>
            </a:r>
          </a:p>
        </p:txBody>
      </p:sp>
      <p:graphicFrame>
        <p:nvGraphicFramePr>
          <p:cNvPr id="13" name="Group 2"/>
          <p:cNvGraphicFramePr>
            <a:graphicFrameLocks noGrp="1"/>
          </p:cNvGraphicFramePr>
          <p:nvPr>
            <p:extLst/>
          </p:nvPr>
        </p:nvGraphicFramePr>
        <p:xfrm>
          <a:off x="3654012" y="28669"/>
          <a:ext cx="8496300" cy="93662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60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48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191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W14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W15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W24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W25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W34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W35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W46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W56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kumimoji="0" lang="ru-RU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-0.5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0.4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-0.1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3"/>
          <a:srcRect l="84133" r="5578" b="24972"/>
          <a:stretch/>
        </p:blipFill>
        <p:spPr>
          <a:xfrm>
            <a:off x="4038600" y="5065673"/>
            <a:ext cx="169091" cy="268327"/>
          </a:xfrm>
          <a:prstGeom prst="rect">
            <a:avLst/>
          </a:prstGeom>
        </p:spPr>
      </p:pic>
      <p:graphicFrame>
        <p:nvGraphicFramePr>
          <p:cNvPr id="15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032290"/>
              </p:ext>
            </p:extLst>
          </p:nvPr>
        </p:nvGraphicFramePr>
        <p:xfrm>
          <a:off x="3654012" y="1030072"/>
          <a:ext cx="8496300" cy="93662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60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48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191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X2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X3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W14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W15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W24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W25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W34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W35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W46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W56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kumimoji="0" lang="ru-RU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Ө</a:t>
                      </a: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  <a:cs typeface="Tahoma" pitchFamily="34" charset="0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0.</a:t>
                      </a: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192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-0.3</a:t>
                      </a: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06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0.4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0.1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-0.5</a:t>
                      </a: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08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0.</a:t>
                      </a: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194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-0.</a:t>
                      </a: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216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-0.</a:t>
                      </a: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138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0.4</a:t>
                      </a: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08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-0.</a:t>
                      </a: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194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Garamond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-0.</a:t>
                      </a:r>
                      <a:r>
                        <a:rPr kumimoji="0" lang="en-US" altLang="zh-CN" sz="1300" b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218</a:t>
                      </a:r>
                      <a:endParaRPr kumimoji="0" lang="zh-CN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Garamond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>
          <a:xfrm>
            <a:off x="9016131" y="6436929"/>
            <a:ext cx="3175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对于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θ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，设定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θ=w</a:t>
            </a:r>
            <a:r>
              <a:rPr lang="en-US" altLang="zh-CN" b="1" baseline="-250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0</a:t>
            </a:r>
            <a:r>
              <a:rPr lang="zh-CN" altLang="en-US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，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x</a:t>
            </a:r>
            <a:r>
              <a:rPr lang="en-US" altLang="zh-CN" b="1" baseline="-250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0</a:t>
            </a:r>
            <a:r>
              <a:rPr lang="en-US" altLang="zh-CN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=-1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6043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标题 1">
            <a:extLst>
              <a:ext uri="{FF2B5EF4-FFF2-40B4-BE49-F238E27FC236}">
                <a16:creationId xmlns:a16="http://schemas.microsoft.com/office/drawing/2014/main" id="{262C296A-7CD3-4F78-9942-E70AD8F30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 demo from Google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6259" name="内容占位符 2">
            <a:extLst>
              <a:ext uri="{FF2B5EF4-FFF2-40B4-BE49-F238E27FC236}">
                <a16:creationId xmlns:a16="http://schemas.microsoft.com/office/drawing/2014/main" id="{6C70D88E-7C75-4078-9A0D-85C37D50C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6260" name="矩形 4">
            <a:extLst>
              <a:ext uri="{FF2B5EF4-FFF2-40B4-BE49-F238E27FC236}">
                <a16:creationId xmlns:a16="http://schemas.microsoft.com/office/drawing/2014/main" id="{CB9A455D-0714-4239-985F-CF844779A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3911" y="6409927"/>
            <a:ext cx="3467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http://playground.tensorflow.org/</a:t>
            </a:r>
            <a:endParaRPr lang="zh-CN" altLang="en-US" sz="1800" dirty="0"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248" y="1836136"/>
            <a:ext cx="8756103" cy="457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666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2532484" y="2301424"/>
            <a:ext cx="5734050" cy="2219691"/>
          </a:xfrm>
        </p:spPr>
        <p:txBody>
          <a:bodyPr/>
          <a:lstStyle/>
          <a:p>
            <a:r>
              <a:rPr lang="zh-CN" altLang="en-US" dirty="0"/>
              <a:t>谢谢！</a:t>
            </a: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2509599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8716</TotalTime>
  <Words>5086</Words>
  <Application>Microsoft Office PowerPoint</Application>
  <PresentationFormat>宽屏</PresentationFormat>
  <Paragraphs>725</Paragraphs>
  <Slides>38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61" baseType="lpstr">
      <vt:lpstr>Adobe Devanagari</vt:lpstr>
      <vt:lpstr>Helvetica Light</vt:lpstr>
      <vt:lpstr>microsoft yahei</vt:lpstr>
      <vt:lpstr>PingFang SC</vt:lpstr>
      <vt:lpstr>等线</vt:lpstr>
      <vt:lpstr>汉仪玄宋..</vt:lpstr>
      <vt:lpstr>黑体</vt:lpstr>
      <vt:lpstr>华文楷体</vt:lpstr>
      <vt:lpstr>楷体_GB2312</vt:lpstr>
      <vt:lpstr>宋体</vt:lpstr>
      <vt:lpstr>微软雅黑</vt:lpstr>
      <vt:lpstr>Arial</vt:lpstr>
      <vt:lpstr>Arial Black</vt:lpstr>
      <vt:lpstr>Calibri</vt:lpstr>
      <vt:lpstr>Cambria Math</vt:lpstr>
      <vt:lpstr>Garamond</vt:lpstr>
      <vt:lpstr>Helvetica</vt:lpstr>
      <vt:lpstr>Symbol</vt:lpstr>
      <vt:lpstr>Tahoma</vt:lpstr>
      <vt:lpstr>Times New Roman</vt:lpstr>
      <vt:lpstr>Verdana</vt:lpstr>
      <vt:lpstr>Wingdings</vt:lpstr>
      <vt:lpstr>Office 主题​​</vt:lpstr>
      <vt:lpstr>课程《人工智能原理与技术》</vt:lpstr>
      <vt:lpstr>PowerPoint 演示文稿</vt:lpstr>
      <vt:lpstr>PowerPoint 演示文稿</vt:lpstr>
      <vt:lpstr>PowerPoint 演示文稿</vt:lpstr>
      <vt:lpstr>PowerPoint 演示文稿</vt:lpstr>
      <vt:lpstr>仿生学派</vt:lpstr>
      <vt:lpstr>PowerPoint 演示文稿</vt:lpstr>
      <vt:lpstr>PowerPoint 演示文稿</vt:lpstr>
      <vt:lpstr>PowerPoint 演示文稿</vt:lpstr>
      <vt:lpstr>PowerPoint 演示文稿</vt:lpstr>
      <vt:lpstr>前馈神经网络的表示能力</vt:lpstr>
      <vt:lpstr>前馈神经网络的表示能力</vt:lpstr>
      <vt:lpstr>PowerPoint 演示文稿</vt:lpstr>
      <vt:lpstr>PowerPoint 演示文稿</vt:lpstr>
      <vt:lpstr>隐藏层的激活函数</vt:lpstr>
      <vt:lpstr>隐藏层的激活函数</vt:lpstr>
      <vt:lpstr>输出层的激活函数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误差反向传播算法（Error BackPropagation,  BP）</vt:lpstr>
      <vt:lpstr>反向传播算法（Error BackPropagation, 简称BP）</vt:lpstr>
      <vt:lpstr>BP算法</vt:lpstr>
      <vt:lpstr>反向传播公式推导</vt:lpstr>
      <vt:lpstr>反向传播公式推导（续）</vt:lpstr>
      <vt:lpstr>BP算法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 demo from Google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课程《人工智能原理与技术》</dc:title>
  <dc:creator>8618017028101</dc:creator>
  <cp:lastModifiedBy>WJL</cp:lastModifiedBy>
  <cp:revision>94</cp:revision>
  <dcterms:created xsi:type="dcterms:W3CDTF">2025-03-02T03:24:13Z</dcterms:created>
  <dcterms:modified xsi:type="dcterms:W3CDTF">2026-05-26T12:18:14Z</dcterms:modified>
</cp:coreProperties>
</file>