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8.jpg" ContentType="image/pn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91" r:id="rId2"/>
    <p:sldId id="812" r:id="rId3"/>
    <p:sldId id="294" r:id="rId4"/>
    <p:sldId id="807" r:id="rId5"/>
    <p:sldId id="728" r:id="rId6"/>
    <p:sldId id="808" r:id="rId7"/>
    <p:sldId id="809" r:id="rId8"/>
    <p:sldId id="810" r:id="rId9"/>
    <p:sldId id="811" r:id="rId10"/>
    <p:sldId id="729" r:id="rId11"/>
    <p:sldId id="731" r:id="rId12"/>
    <p:sldId id="814" r:id="rId13"/>
    <p:sldId id="817" r:id="rId14"/>
    <p:sldId id="818" r:id="rId15"/>
    <p:sldId id="816" r:id="rId16"/>
    <p:sldId id="743" r:id="rId17"/>
    <p:sldId id="744" r:id="rId18"/>
    <p:sldId id="830" r:id="rId19"/>
    <p:sldId id="821" r:id="rId20"/>
    <p:sldId id="823" r:id="rId21"/>
    <p:sldId id="824" r:id="rId22"/>
    <p:sldId id="825" r:id="rId23"/>
    <p:sldId id="826" r:id="rId24"/>
    <p:sldId id="827" r:id="rId25"/>
    <p:sldId id="828" r:id="rId26"/>
    <p:sldId id="829" r:id="rId27"/>
    <p:sldId id="758" r:id="rId28"/>
    <p:sldId id="831" r:id="rId29"/>
    <p:sldId id="832" r:id="rId30"/>
    <p:sldId id="833" r:id="rId31"/>
    <p:sldId id="834" r:id="rId32"/>
    <p:sldId id="835" r:id="rId33"/>
    <p:sldId id="836" r:id="rId34"/>
    <p:sldId id="837" r:id="rId35"/>
    <p:sldId id="838" r:id="rId36"/>
    <p:sldId id="867" r:id="rId37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同济大学" initials="同济大学" lastIdx="1" clrIdx="0">
    <p:extLst>
      <p:ext uri="{19B8F6BF-5375-455C-9EA6-DF929625EA0E}">
        <p15:presenceInfo xmlns:p15="http://schemas.microsoft.com/office/powerpoint/2012/main" userId="同济大学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11" autoAdjust="0"/>
    <p:restoredTop sz="95214" autoAdjust="0"/>
  </p:normalViewPr>
  <p:slideViewPr>
    <p:cSldViewPr snapToGrid="0">
      <p:cViewPr varScale="1">
        <p:scale>
          <a:sx n="77" d="100"/>
          <a:sy n="77" d="100"/>
        </p:scale>
        <p:origin x="72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4203F-7AEF-4A7F-94F0-3925A564E5DE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97FE7-9E44-4705-9F7F-2B1202D9D6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66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第一把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都出了剪刀，这是我知道的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第一条信息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然后呢？根据规则，我知道下把我只能出锤子或者布，这是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其二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同样，我知道对方下一把也只能出锤子或者布，这是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第三条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由于我们都只能出锤子或者布，出哪一个更好呢？答案是绝对的，布赢锤子，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出布！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+mn-cs"/>
            </a:endParaRPr>
          </a:p>
          <a:p>
            <a:endParaRPr lang="en-US" altLang="zh-CN" sz="1200" b="1" i="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第一把是平局的话游戏就没有进行的必要了，聪明的我俩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压根不会进行第二轮划拳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。这个决定，仅凭前两条信息是得不出来的，也就是说，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我知道这些还不够，我还得知道“他知道”。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10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915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“使双方都不后悔的理性解”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,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纳什均衡可以认为是博弈论实现人工智能的一个基本基石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78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A</a:t>
            </a:r>
            <a:r>
              <a:rPr lang="zh-CN" altLang="en-US" dirty="0"/>
              <a:t>的视角，</a:t>
            </a:r>
            <a:r>
              <a:rPr lang="en-US" altLang="zh-CN" dirty="0"/>
              <a:t>B</a:t>
            </a:r>
            <a:r>
              <a:rPr lang="zh-CN" altLang="en-US" dirty="0"/>
              <a:t>有两种选择，</a:t>
            </a:r>
            <a:r>
              <a:rPr lang="en-US" altLang="zh-CN" dirty="0"/>
              <a:t>B</a:t>
            </a:r>
            <a:r>
              <a:rPr lang="zh-CN" altLang="en-US" dirty="0"/>
              <a:t>揭发，</a:t>
            </a:r>
            <a:r>
              <a:rPr lang="en-US" altLang="zh-CN" dirty="0"/>
              <a:t>A</a:t>
            </a:r>
            <a:r>
              <a:rPr lang="zh-CN" altLang="en-US" dirty="0"/>
              <a:t>选揭发（</a:t>
            </a:r>
            <a:r>
              <a:rPr lang="en-US" altLang="zh-CN" dirty="0"/>
              <a:t>8&lt;10</a:t>
            </a:r>
            <a:r>
              <a:rPr lang="zh-CN" altLang="en-US" dirty="0"/>
              <a:t>）</a:t>
            </a:r>
            <a:r>
              <a:rPr lang="en-US" altLang="zh-CN" dirty="0"/>
              <a:t>; B</a:t>
            </a:r>
            <a:r>
              <a:rPr lang="zh-CN" altLang="en-US" dirty="0"/>
              <a:t>沉默，</a:t>
            </a:r>
            <a:r>
              <a:rPr lang="en-US" altLang="zh-CN" dirty="0"/>
              <a:t>A</a:t>
            </a:r>
            <a:r>
              <a:rPr lang="zh-CN" altLang="en-US" dirty="0"/>
              <a:t>选揭发（</a:t>
            </a:r>
            <a:r>
              <a:rPr lang="en-US" altLang="zh-CN" dirty="0"/>
              <a:t>0&lt;1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976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930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lnSpc>
                <a:spcPct val="160000"/>
              </a:lnSpc>
              <a:buFontTx/>
              <a:buNone/>
            </a:pPr>
            <a:r>
              <a:rPr lang="zh-CN" altLang="en-US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信息完备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，对垒双方所得到的信息是一样的，不存在一方能看到，而另一方看不到的情况。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739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00100" lvl="1" indent="-342900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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两个智能体，有完整信息，零和游戏</a:t>
            </a:r>
            <a:endParaRPr lang="en-US" altLang="zh-CN" sz="2400" dirty="0">
              <a:latin typeface="Times New Roman" panose="02020603050405020304" pitchFamily="18" charset="0"/>
              <a:ea typeface="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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两个智能体轮流出招，直到一方获胜或平局</a:t>
            </a:r>
            <a:r>
              <a:rPr lang="en-US" altLang="ko-KR" sz="2400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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每个参与者对游戏的环境，规则，行为有相应的完整理解模式。</a:t>
            </a:r>
            <a:endParaRPr lang="en-US" altLang="zh-CN" sz="2400" dirty="0">
              <a:latin typeface="Times New Roman" panose="02020603050405020304" pitchFamily="18" charset="0"/>
              <a:ea typeface="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26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760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868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F027FC-5BC0-42F1-89EB-2B8A298EE3B3}" type="slidenum">
              <a:rPr lang="en-US" smtClean="0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</a:rPr>
              <a:t>井字棋，在</a:t>
            </a:r>
            <a:r>
              <a:rPr lang="en-US" altLang="zh-CN" dirty="0">
                <a:latin typeface="Arial" charset="0"/>
              </a:rPr>
              <a:t>3</a:t>
            </a:r>
            <a:r>
              <a:rPr lang="zh-CN" altLang="en-US" dirty="0">
                <a:latin typeface="Arial" charset="0"/>
              </a:rPr>
              <a:t>*</a:t>
            </a:r>
            <a:r>
              <a:rPr lang="en-US" altLang="zh-CN" dirty="0">
                <a:latin typeface="Arial" charset="0"/>
              </a:rPr>
              <a:t>3</a:t>
            </a:r>
            <a:r>
              <a:rPr lang="zh-CN" altLang="en-US" dirty="0">
                <a:latin typeface="Arial" charset="0"/>
              </a:rPr>
              <a:t>的格子上进行连珠游戏，和五子棋类似。</a:t>
            </a:r>
            <a:endParaRPr lang="en-US" altLang="zh-CN" dirty="0">
              <a:latin typeface="Arial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效用函数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（又称目标函数或者收益函数）：对终止状态给出一个数值。例如，在国际象棋中，结果是赢、输或平局，分别赋予＋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1" hangingPunct="1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917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切蛋糕，运用“极小极大原理”：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“极小”</a:t>
            </a:r>
            <a:r>
              <a:rPr lang="zh-CN" altLang="en-US" dirty="0"/>
              <a:t>指的是</a:t>
            </a:r>
            <a:r>
              <a:rPr lang="en-US" altLang="zh-CN" dirty="0"/>
              <a:t>B</a:t>
            </a:r>
            <a:r>
              <a:rPr lang="zh-CN" altLang="en-US" dirty="0"/>
              <a:t>一定会挑选大块，所以留给自己的肯定是小块；</a:t>
            </a:r>
            <a:br>
              <a:rPr lang="zh-CN" altLang="en-US" dirty="0"/>
            </a:br>
            <a:r>
              <a:rPr lang="zh-CN" altLang="en-US" dirty="0">
                <a:solidFill>
                  <a:srgbClr val="FF0000"/>
                </a:solidFill>
              </a:rPr>
              <a:t>“极大”</a:t>
            </a:r>
            <a:r>
              <a:rPr lang="zh-CN" altLang="en-US" dirty="0"/>
              <a:t>指的是</a:t>
            </a:r>
            <a:r>
              <a:rPr lang="en-US" altLang="zh-CN" dirty="0"/>
              <a:t>A</a:t>
            </a:r>
            <a:r>
              <a:rPr lang="zh-CN" altLang="en-US" dirty="0"/>
              <a:t>要使自己的蛋糕尽量大；</a:t>
            </a:r>
            <a:br>
              <a:rPr lang="zh-CN" altLang="en-US" dirty="0"/>
            </a:br>
            <a:r>
              <a:rPr lang="zh-CN" altLang="en-US" dirty="0"/>
              <a:t>“极小极大”组合起来的意思是，</a:t>
            </a:r>
            <a:r>
              <a:rPr lang="en-US" altLang="zh-CN" dirty="0"/>
              <a:t>A</a:t>
            </a:r>
            <a:r>
              <a:rPr lang="zh-CN" altLang="en-US" dirty="0"/>
              <a:t>已知</a:t>
            </a:r>
            <a:r>
              <a:rPr lang="en-US" altLang="zh-CN" dirty="0"/>
              <a:t>B</a:t>
            </a:r>
            <a:r>
              <a:rPr lang="zh-CN" altLang="en-US" dirty="0"/>
              <a:t>会选大块，所以会把较小的一块切得大一些。对</a:t>
            </a:r>
            <a:r>
              <a:rPr lang="en-US" altLang="zh-CN" dirty="0"/>
              <a:t>A</a:t>
            </a:r>
            <a:r>
              <a:rPr lang="zh-CN" altLang="en-US" dirty="0"/>
              <a:t>来说，最好的结果就是 “一半、一半”，即两人各分得半块蛋糕，这就是这个问题的理性解。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346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F027FC-5BC0-42F1-89EB-2B8A298EE3B3}" type="slidenum">
              <a:rPr lang="en-US" smtClean="0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588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为什么反方是</a:t>
            </a:r>
            <a:r>
              <a:rPr lang="en-US" altLang="zh-CN" dirty="0"/>
              <a:t>min</a:t>
            </a:r>
            <a:r>
              <a:rPr lang="zh-CN" altLang="en-US" dirty="0"/>
              <a:t>？？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739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562BC8-C3F2-47A7-AF2C-13A94AF36327}" type="slidenum">
              <a:rPr lang="en-US" smtClean="0">
                <a:latin typeface="Arial" charset="0"/>
              </a:rPr>
              <a:pPr/>
              <a:t>21</a:t>
            </a:fld>
            <a:endParaRPr lang="en-US">
              <a:latin typeface="Arial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minimax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+mn-cs"/>
              </a:rPr>
              <a:t>算法执行深度优先搜索算法</a:t>
            </a: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085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both ghosts go the same way, </a:t>
            </a:r>
            <a:r>
              <a:rPr lang="en-US" dirty="0" err="1"/>
              <a:t>pacman</a:t>
            </a:r>
            <a:r>
              <a:rPr lang="en-US" dirty="0"/>
              <a:t> wins; if they go different ways, </a:t>
            </a:r>
            <a:r>
              <a:rPr lang="en-US" dirty="0" err="1"/>
              <a:t>pacman</a:t>
            </a:r>
            <a:r>
              <a:rPr lang="en-US" dirty="0"/>
              <a:t> loses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43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在极小极大搜索方法中，由于要生成指定深度以内的所有节点，其</a:t>
            </a:r>
            <a:r>
              <a: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节点数将随着搜索深度的增加成指数增长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这极大地限制了极小极大搜索方法的使用。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能否在搜索深度不变的情况下，利用已有的搜索信息减少生成的节点数呢？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110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46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一种基于剪枝（ </a:t>
            </a:r>
            <a:r>
              <a:rPr lang="en-US" altLang="zh-CN" dirty="0"/>
              <a:t>α-β cut-off</a:t>
            </a:r>
            <a:r>
              <a:rPr lang="zh-CN" altLang="en-US" dirty="0"/>
              <a:t>）的深度优先搜索（</a:t>
            </a:r>
            <a:r>
              <a:rPr lang="en-US" altLang="zh-CN" dirty="0"/>
              <a:t>depth-first search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将走棋方定为</a:t>
            </a:r>
            <a:r>
              <a:rPr lang="en-US" altLang="zh-CN" dirty="0"/>
              <a:t>MAX</a:t>
            </a:r>
            <a:r>
              <a:rPr lang="zh-CN" altLang="en-US" dirty="0"/>
              <a:t>方，因为它选择着法时总是对其子节点的评估值取极大值，即选择对自己最为有利的着法；</a:t>
            </a:r>
          </a:p>
          <a:p>
            <a:r>
              <a:rPr lang="zh-CN" altLang="en-US" dirty="0"/>
              <a:t>将应对方定为</a:t>
            </a:r>
            <a:r>
              <a:rPr lang="en-US" altLang="zh-CN" dirty="0"/>
              <a:t>MIN</a:t>
            </a:r>
            <a:r>
              <a:rPr lang="zh-CN" altLang="en-US" dirty="0"/>
              <a:t>方，因为它走棋时需要对其子节点的评估值取极小值，即选择对走棋方最为不利的、最有钳制作用的着法。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775EDB-97FF-400B-B072-C882786A0D0E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0458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•</a:t>
            </a:r>
            <a:r>
              <a:rPr lang="zh-CN" altLang="en-US" dirty="0"/>
              <a:t>同理，由左路分枝的叶节点倒推得到某一层</a:t>
            </a:r>
            <a:r>
              <a:rPr lang="en-US" altLang="zh-CN" dirty="0"/>
              <a:t>MIN</a:t>
            </a:r>
            <a:r>
              <a:rPr lang="zh-CN" altLang="en-US" dirty="0"/>
              <a:t>节点的值，可表示到此为止对方着法的钳制值，记为</a:t>
            </a:r>
            <a:r>
              <a:rPr lang="en-US" altLang="zh-CN" dirty="0"/>
              <a:t>β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•</a:t>
            </a:r>
            <a:r>
              <a:rPr lang="zh-CN" altLang="en-US" dirty="0"/>
              <a:t>显然此</a:t>
            </a:r>
            <a:r>
              <a:rPr lang="en-US" altLang="zh-CN" dirty="0"/>
              <a:t>β</a:t>
            </a:r>
            <a:r>
              <a:rPr lang="zh-CN" altLang="en-US" dirty="0"/>
              <a:t>值可作为</a:t>
            </a:r>
            <a:r>
              <a:rPr lang="en-US" altLang="zh-CN" dirty="0"/>
              <a:t>MAX</a:t>
            </a:r>
            <a:r>
              <a:rPr lang="zh-CN" altLang="en-US" dirty="0"/>
              <a:t>方无法实现着法指标的上界。</a:t>
            </a:r>
          </a:p>
          <a:p>
            <a:r>
              <a:rPr lang="en-US" altLang="zh-CN" dirty="0"/>
              <a:t>•</a:t>
            </a:r>
            <a:r>
              <a:rPr lang="zh-CN" altLang="en-US" dirty="0"/>
              <a:t>在搜索该</a:t>
            </a:r>
            <a:r>
              <a:rPr lang="en-US" altLang="zh-CN" dirty="0"/>
              <a:t>MIN</a:t>
            </a:r>
            <a:r>
              <a:rPr lang="zh-CN" altLang="en-US" dirty="0"/>
              <a:t>节点的其它子节点，即探讨另外着法时，如果发现一个回合之后钳制局面减弱，即孙节点评估值高于上界</a:t>
            </a:r>
            <a:r>
              <a:rPr lang="en-US" altLang="zh-CN" dirty="0"/>
              <a:t>β</a:t>
            </a:r>
            <a:r>
              <a:rPr lang="zh-CN" altLang="en-US" dirty="0"/>
              <a:t>值，则便可以剪掉此枝，即不再考虑此“软着”的延伸。</a:t>
            </a:r>
          </a:p>
          <a:p>
            <a:r>
              <a:rPr lang="zh-CN" altLang="en-US" b="1" dirty="0"/>
              <a:t>此类剪枝称为</a:t>
            </a:r>
            <a:r>
              <a:rPr lang="en-US" altLang="zh-CN" b="1" dirty="0"/>
              <a:t>β</a:t>
            </a:r>
            <a:r>
              <a:rPr lang="zh-CN" altLang="en-US" b="1" dirty="0"/>
              <a:t>剪枝。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A17877-524D-4F81-986A-BBC4325F52CF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5717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在对博弈树采取深度优先的搜索策略时，从左路分枝的叶节点倒推得到某一层</a:t>
            </a:r>
            <a:r>
              <a:rPr lang="en-US" altLang="zh-CN" dirty="0"/>
              <a:t>MAX</a:t>
            </a:r>
            <a:r>
              <a:rPr lang="zh-CN" altLang="en-US" dirty="0"/>
              <a:t>节点的值，可表示到此为止得以“落实”的着法最佳值，记为</a:t>
            </a:r>
            <a:r>
              <a:rPr lang="en-US" altLang="zh-CN" dirty="0"/>
              <a:t>α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显然此值可作为</a:t>
            </a:r>
            <a:r>
              <a:rPr lang="en-US" altLang="zh-CN" dirty="0"/>
              <a:t>MAX</a:t>
            </a:r>
            <a:r>
              <a:rPr lang="zh-CN" altLang="en-US" dirty="0"/>
              <a:t>方着法指标的下界。</a:t>
            </a:r>
          </a:p>
          <a:p>
            <a:r>
              <a:rPr lang="zh-CN" altLang="en-US" dirty="0"/>
              <a:t>在</a:t>
            </a:r>
            <a:r>
              <a:rPr lang="zh-CN" altLang="en-US" b="1" dirty="0"/>
              <a:t>搜索此</a:t>
            </a:r>
            <a:r>
              <a:rPr lang="en-US" altLang="zh-CN" b="1" dirty="0"/>
              <a:t>MAX</a:t>
            </a:r>
            <a:r>
              <a:rPr lang="zh-CN" altLang="en-US" b="1" dirty="0"/>
              <a:t>节点的其它子节点，</a:t>
            </a:r>
            <a:r>
              <a:rPr lang="zh-CN" altLang="en-US" dirty="0"/>
              <a:t>即探讨另一着法时，</a:t>
            </a:r>
            <a:r>
              <a:rPr lang="zh-CN" altLang="en-US" b="1" dirty="0"/>
              <a:t>如果发现一个回合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步棋）之后评估值变差，即孙节点评估值低于下界</a:t>
            </a:r>
            <a:r>
              <a:rPr lang="en-US" altLang="zh-CN" dirty="0"/>
              <a:t>α</a:t>
            </a:r>
            <a:r>
              <a:rPr lang="zh-CN" altLang="en-US" dirty="0"/>
              <a:t>值，则便可以剪掉此枝（以该子节点为根的子树），即不再考虑此“软着”的延伸。</a:t>
            </a:r>
          </a:p>
          <a:p>
            <a:r>
              <a:rPr lang="zh-CN" altLang="en-US" dirty="0"/>
              <a:t>此类剪枝</a:t>
            </a:r>
            <a:r>
              <a:rPr lang="zh-CN" altLang="en-US" b="1" dirty="0"/>
              <a:t>称为</a:t>
            </a:r>
            <a:r>
              <a:rPr lang="en-US" altLang="zh-CN" b="1" dirty="0"/>
              <a:t>α</a:t>
            </a:r>
            <a:r>
              <a:rPr lang="zh-CN" altLang="en-US" b="1" dirty="0"/>
              <a:t>剪枝。</a:t>
            </a:r>
          </a:p>
          <a:p>
            <a:endParaRPr lang="en-US" altLang="zh-CN" dirty="0"/>
          </a:p>
          <a:p>
            <a:r>
              <a:rPr lang="zh-CN" altLang="en-US" b="1" dirty="0"/>
              <a:t>在搜索该</a:t>
            </a:r>
            <a:r>
              <a:rPr lang="en-US" altLang="zh-CN" b="1" dirty="0"/>
              <a:t>MIN</a:t>
            </a:r>
            <a:r>
              <a:rPr lang="zh-CN" altLang="en-US" b="1" dirty="0"/>
              <a:t>节点的其它子节点</a:t>
            </a:r>
            <a:r>
              <a:rPr lang="zh-CN" altLang="en-US" dirty="0"/>
              <a:t>，即探讨另外着法时，</a:t>
            </a:r>
            <a:r>
              <a:rPr lang="zh-CN" altLang="en-US" b="1" dirty="0"/>
              <a:t>如果发现一个回合之后钳制局面减弱</a:t>
            </a:r>
            <a:r>
              <a:rPr lang="zh-CN" altLang="en-US" dirty="0"/>
              <a:t>，即孙节点评估值高于上界</a:t>
            </a:r>
            <a:r>
              <a:rPr lang="en-US" altLang="zh-CN" dirty="0"/>
              <a:t>β</a:t>
            </a:r>
            <a:r>
              <a:rPr lang="zh-CN" altLang="en-US" dirty="0"/>
              <a:t>值，则便可以剪掉此枝（以该子节点为根的子树），即不再考虑此“软着”的延伸。</a:t>
            </a:r>
          </a:p>
          <a:p>
            <a:r>
              <a:rPr lang="zh-CN" altLang="en-US" b="1" dirty="0"/>
              <a:t>此类剪枝称为</a:t>
            </a:r>
            <a:r>
              <a:rPr lang="en-US" altLang="zh-CN" b="1" dirty="0"/>
              <a:t>β</a:t>
            </a:r>
            <a:r>
              <a:rPr lang="zh-CN" altLang="en-US" b="1" dirty="0"/>
              <a:t>剪枝。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04A400-E1F6-4184-89B5-46B3DADE4DA5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090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Comic Sans MS" pitchFamily="66" charset="0"/>
                <a:ea typeface="隶书" pitchFamily="49" charset="-122"/>
              </a:rPr>
              <a:t>“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如果 </a:t>
            </a:r>
            <a:r>
              <a:rPr lang="en-US" altLang="zh-CN" dirty="0">
                <a:latin typeface="Comic Sans MS" pitchFamily="66" charset="0"/>
                <a:ea typeface="隶书" pitchFamily="49" charset="-122"/>
              </a:rPr>
              <a:t>MIN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节点的</a:t>
            </a:r>
            <a:r>
              <a:rPr lang="en-US" altLang="zh-CN" dirty="0">
                <a:solidFill>
                  <a:srgbClr val="FF3300"/>
                </a:solidFill>
                <a:latin typeface="Symbol" pitchFamily="18" charset="2"/>
                <a:ea typeface="隶书" pitchFamily="49" charset="-122"/>
              </a:rPr>
              <a:t>b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值小于或等于（？？？）其</a:t>
            </a:r>
            <a:r>
              <a:rPr lang="en-US" altLang="zh-CN" dirty="0">
                <a:latin typeface="Comic Sans MS" pitchFamily="66" charset="0"/>
                <a:ea typeface="隶书" pitchFamily="49" charset="-122"/>
              </a:rPr>
              <a:t>MAX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祖先节点的</a:t>
            </a:r>
            <a:r>
              <a:rPr lang="en-US" altLang="zh-CN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a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值，那么该处的搜索可以不用进行了</a:t>
            </a:r>
            <a:r>
              <a:rPr lang="en-US" altLang="zh-CN" dirty="0">
                <a:latin typeface="Comic Sans MS" pitchFamily="66" charset="0"/>
                <a:ea typeface="隶书" pitchFamily="49" charset="-122"/>
              </a:rPr>
              <a:t>”</a:t>
            </a:r>
          </a:p>
          <a:p>
            <a:endParaRPr lang="en-US" altLang="zh-CN" dirty="0">
              <a:latin typeface="Comic Sans MS" pitchFamily="66" charset="0"/>
              <a:ea typeface="隶书" pitchFamily="49" charset="-122"/>
            </a:endParaRPr>
          </a:p>
          <a:p>
            <a:r>
              <a:rPr lang="en-US" altLang="zh-CN" dirty="0">
                <a:latin typeface="Comic Sans MS" pitchFamily="66" charset="0"/>
                <a:ea typeface="隶书" pitchFamily="49" charset="-122"/>
              </a:rPr>
              <a:t>“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如果 </a:t>
            </a:r>
            <a:r>
              <a:rPr lang="en-US" altLang="zh-CN" dirty="0">
                <a:latin typeface="Comic Sans MS" pitchFamily="66" charset="0"/>
                <a:ea typeface="隶书" pitchFamily="49" charset="-122"/>
              </a:rPr>
              <a:t>MAX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节点的</a:t>
            </a:r>
            <a:r>
              <a:rPr lang="en-US" altLang="zh-CN" dirty="0">
                <a:solidFill>
                  <a:srgbClr val="FF3300"/>
                </a:solidFill>
                <a:latin typeface="Symbol" pitchFamily="18" charset="2"/>
                <a:ea typeface="隶书" pitchFamily="49" charset="-122"/>
              </a:rPr>
              <a:t>a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值大于或等于（？？？）其</a:t>
            </a:r>
            <a:r>
              <a:rPr lang="en-US" altLang="zh-CN" dirty="0">
                <a:latin typeface="Comic Sans MS" pitchFamily="66" charset="0"/>
                <a:ea typeface="隶书" pitchFamily="49" charset="-122"/>
              </a:rPr>
              <a:t>MIN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祖先节点的</a:t>
            </a:r>
            <a:r>
              <a:rPr lang="en-US" altLang="zh-CN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b</a:t>
            </a:r>
            <a:r>
              <a:rPr lang="zh-CN" altLang="en-US" dirty="0">
                <a:latin typeface="Comic Sans MS" pitchFamily="66" charset="0"/>
                <a:ea typeface="隶书" pitchFamily="49" charset="-122"/>
              </a:rPr>
              <a:t>值，那么该处的搜索可以不用进行了</a:t>
            </a:r>
            <a:r>
              <a:rPr lang="en-US" altLang="zh-CN" dirty="0">
                <a:latin typeface="Comic Sans MS" pitchFamily="66" charset="0"/>
                <a:ea typeface="隶书" pitchFamily="49" charset="-122"/>
              </a:rPr>
              <a:t>”</a:t>
            </a:r>
          </a:p>
          <a:p>
            <a:endParaRPr lang="en-US" altLang="zh-CN" dirty="0">
              <a:latin typeface="Comic Sans MS" pitchFamily="66" charset="0"/>
              <a:ea typeface="隶书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46221C-B602-4D16-BAF8-6C31C65EF4F6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928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34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5113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FB16-436E-4C3A-AC93-D953BF9B5BF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582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同济大学logo矢量图(第1页) - 一起扣扣网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5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17" y="158401"/>
            <a:ext cx="3088014" cy="80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6397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309913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EC672-A802-4CF9-8EDD-265C5EC38688}" type="datetimeFigureOut">
              <a:rPr lang="zh-CN" altLang="en-US" smtClean="0"/>
              <a:t>2026-4-7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7.xml"/><Relationship Id="rId7" Type="http://schemas.openxmlformats.org/officeDocument/2006/relationships/image" Target="../media/image18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7.png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20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84732" y="2688208"/>
            <a:ext cx="10268236" cy="20234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第三章</a:t>
            </a:r>
            <a:r>
              <a:rPr lang="zh-CN" altLang="zh-CN" sz="61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搜索探寻与问题求解</a:t>
            </a:r>
          </a:p>
          <a:p>
            <a:endParaRPr lang="en-US" altLang="zh-CN" sz="37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en-US" altLang="zh-CN" sz="37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altLang="zh-CN" sz="37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---</a:t>
            </a:r>
            <a:r>
              <a:rPr lang="zh-CN" altLang="en-US" sz="37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对抗搜索</a:t>
            </a:r>
            <a:endParaRPr lang="en-US" altLang="zh-CN" sz="37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98235" y="791671"/>
            <a:ext cx="5410200" cy="589165"/>
          </a:xfrm>
        </p:spPr>
        <p:txBody>
          <a:bodyPr>
            <a:normAutofit/>
          </a:bodyPr>
          <a:lstStyle/>
          <a:p>
            <a:pPr algn="l"/>
            <a:r>
              <a:rPr lang="zh-CN" altLang="en-US" sz="3000" dirty="0">
                <a:ea typeface="宋体" panose="02010600030101010101" pitchFamily="2" charset="-122"/>
              </a:rPr>
              <a:t>课程</a:t>
            </a:r>
            <a:r>
              <a:rPr lang="en-US" altLang="zh-CN" sz="3000" dirty="0">
                <a:ea typeface="宋体" panose="02010600030101010101" pitchFamily="2" charset="-122"/>
              </a:rPr>
              <a:t>《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人工智能原理与技术</a:t>
            </a:r>
            <a:r>
              <a:rPr lang="en-US" altLang="zh-CN" sz="3000" i="0" dirty="0">
                <a:ea typeface="宋体" panose="02010600030101010101" pitchFamily="2" charset="-122"/>
              </a:rPr>
              <a:t>》</a:t>
            </a:r>
          </a:p>
        </p:txBody>
      </p:sp>
      <p:pic>
        <p:nvPicPr>
          <p:cNvPr id="10" name="图片 2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27227" y="632552"/>
            <a:ext cx="4944140" cy="497934"/>
            <a:chOff x="4099943" y="2819853"/>
            <a:chExt cx="2570275" cy="49793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人工智能的模型与方法</a:t>
              </a:r>
            </a:p>
          </p:txBody>
        </p:sp>
      </p:grpSp>
      <p:sp>
        <p:nvSpPr>
          <p:cNvPr id="18" name="矩形: 圆角 6">
            <a:extLst>
              <a:ext uri="{FF2B5EF4-FFF2-40B4-BE49-F238E27FC236}">
                <a16:creationId xmlns:a16="http://schemas.microsoft.com/office/drawing/2014/main" id="{B17979E7-611B-467E-81A3-54BF3064D5F2}"/>
              </a:ext>
            </a:extLst>
          </p:cNvPr>
          <p:cNvSpPr/>
          <p:nvPr/>
        </p:nvSpPr>
        <p:spPr>
          <a:xfrm>
            <a:off x="154249" y="1315853"/>
            <a:ext cx="4481283" cy="4802202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8EEDAF-310E-4F94-80D9-36FD24991D71}"/>
              </a:ext>
            </a:extLst>
          </p:cNvPr>
          <p:cNvSpPr txBox="1"/>
          <p:nvPr/>
        </p:nvSpPr>
        <p:spPr>
          <a:xfrm>
            <a:off x="486752" y="1484321"/>
            <a:ext cx="41153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以符号主义为核心的逻辑推理</a:t>
            </a:r>
            <a:endParaRPr lang="en-US" altLang="zh-CN" sz="2000" b="1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A4A1C13-C289-4C29-95EE-3F4BC7CB8DF3}"/>
              </a:ext>
            </a:extLst>
          </p:cNvPr>
          <p:cNvSpPr/>
          <p:nvPr/>
        </p:nvSpPr>
        <p:spPr>
          <a:xfrm>
            <a:off x="486752" y="1593804"/>
            <a:ext cx="3740367" cy="498886"/>
          </a:xfrm>
          <a:prstGeom prst="rect">
            <a:avLst/>
          </a:prstGeom>
          <a:noFill/>
          <a:ln w="19050">
            <a:solidFill>
              <a:srgbClr val="81C7C9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E0D93B-A7AA-4FEF-A27A-25A3C6892ABD}"/>
              </a:ext>
            </a:extLst>
          </p:cNvPr>
          <p:cNvSpPr txBox="1"/>
          <p:nvPr/>
        </p:nvSpPr>
        <p:spPr>
          <a:xfrm>
            <a:off x="448223" y="2394642"/>
            <a:ext cx="41153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以问题求解为核心的探寻搜索</a:t>
            </a:r>
            <a:endParaRPr lang="en-US" altLang="zh-CN" sz="2000" b="1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F478B2-8C84-44D5-89D6-123183BD759B}"/>
              </a:ext>
            </a:extLst>
          </p:cNvPr>
          <p:cNvSpPr/>
          <p:nvPr/>
        </p:nvSpPr>
        <p:spPr>
          <a:xfrm>
            <a:off x="487666" y="2562830"/>
            <a:ext cx="3740367" cy="498886"/>
          </a:xfrm>
          <a:prstGeom prst="rect">
            <a:avLst/>
          </a:prstGeom>
          <a:noFill/>
          <a:ln w="19050">
            <a:solidFill>
              <a:srgbClr val="81C7C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18EA4F3-0AD7-440C-82B7-B3E8620F1FAF}"/>
              </a:ext>
            </a:extLst>
          </p:cNvPr>
          <p:cNvSpPr txBox="1"/>
          <p:nvPr/>
        </p:nvSpPr>
        <p:spPr>
          <a:xfrm>
            <a:off x="486752" y="3473151"/>
            <a:ext cx="41153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以数据驱动为核心的机器学习</a:t>
            </a:r>
            <a:endParaRPr lang="en-US" altLang="zh-CN" sz="2000" b="1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1FC157-7A3F-4C2A-AB95-8AB755E2B908}"/>
              </a:ext>
            </a:extLst>
          </p:cNvPr>
          <p:cNvSpPr/>
          <p:nvPr/>
        </p:nvSpPr>
        <p:spPr>
          <a:xfrm>
            <a:off x="486752" y="3582634"/>
            <a:ext cx="3740367" cy="498886"/>
          </a:xfrm>
          <a:prstGeom prst="rect">
            <a:avLst/>
          </a:prstGeom>
          <a:noFill/>
          <a:ln w="19050">
            <a:solidFill>
              <a:srgbClr val="81C7C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E6CEC3-74AF-48C7-8793-8F7609F15893}"/>
              </a:ext>
            </a:extLst>
          </p:cNvPr>
          <p:cNvSpPr txBox="1"/>
          <p:nvPr/>
        </p:nvSpPr>
        <p:spPr>
          <a:xfrm>
            <a:off x="531709" y="4442177"/>
            <a:ext cx="41153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以行为主义为核心的强化学习</a:t>
            </a:r>
            <a:endParaRPr lang="en-US" altLang="zh-CN" sz="2000" b="1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1B1331A-ABB3-4DAE-A3B7-4A668E412766}"/>
              </a:ext>
            </a:extLst>
          </p:cNvPr>
          <p:cNvSpPr/>
          <p:nvPr/>
        </p:nvSpPr>
        <p:spPr>
          <a:xfrm>
            <a:off x="531709" y="4551660"/>
            <a:ext cx="3740367" cy="498886"/>
          </a:xfrm>
          <a:prstGeom prst="rect">
            <a:avLst/>
          </a:prstGeom>
          <a:noFill/>
          <a:ln w="19050">
            <a:solidFill>
              <a:srgbClr val="81C7C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8D8934E-E6E9-4DEE-89AF-C807EFC35E97}"/>
              </a:ext>
            </a:extLst>
          </p:cNvPr>
          <p:cNvSpPr txBox="1"/>
          <p:nvPr/>
        </p:nvSpPr>
        <p:spPr>
          <a:xfrm>
            <a:off x="486752" y="5295212"/>
            <a:ext cx="40001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以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博弈对抗</a:t>
            </a:r>
            <a:r>
              <a:rPr lang="zh-CN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为核心的决策智能</a:t>
            </a:r>
            <a:endParaRPr lang="en-US" altLang="zh-CN" sz="2000" b="1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4D905CE-8A1F-4FFD-8051-32117BA3A287}"/>
              </a:ext>
            </a:extLst>
          </p:cNvPr>
          <p:cNvSpPr/>
          <p:nvPr/>
        </p:nvSpPr>
        <p:spPr>
          <a:xfrm>
            <a:off x="517707" y="5400020"/>
            <a:ext cx="3754369" cy="522368"/>
          </a:xfrm>
          <a:prstGeom prst="rect">
            <a:avLst/>
          </a:prstGeom>
          <a:noFill/>
          <a:ln w="19050">
            <a:solidFill>
              <a:srgbClr val="81C7C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62AF0C4C-541C-4693-8904-1F2F33301014}"/>
              </a:ext>
            </a:extLst>
          </p:cNvPr>
          <p:cNvSpPr/>
          <p:nvPr/>
        </p:nvSpPr>
        <p:spPr>
          <a:xfrm>
            <a:off x="4590578" y="1843247"/>
            <a:ext cx="305506" cy="3698900"/>
          </a:xfrm>
          <a:prstGeom prst="rightBrace">
            <a:avLst>
              <a:gd name="adj1" fmla="val 8333"/>
              <a:gd name="adj2" fmla="val 52665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1F8D8E2-F964-4C5F-9EDB-4F35FF2E02EE}"/>
              </a:ext>
            </a:extLst>
          </p:cNvPr>
          <p:cNvGrpSpPr/>
          <p:nvPr/>
        </p:nvGrpSpPr>
        <p:grpSpPr>
          <a:xfrm>
            <a:off x="5097643" y="1289217"/>
            <a:ext cx="13492226" cy="5510604"/>
            <a:chOff x="-6492928" y="1181893"/>
            <a:chExt cx="17597021" cy="3974315"/>
          </a:xfrm>
        </p:grpSpPr>
        <p:sp>
          <p:nvSpPr>
            <p:cNvPr id="39" name="立方体 38">
              <a:extLst>
                <a:ext uri="{FF2B5EF4-FFF2-40B4-BE49-F238E27FC236}">
                  <a16:creationId xmlns:a16="http://schemas.microsoft.com/office/drawing/2014/main" id="{542C1C60-3FBE-490E-ABC7-91C81D15DA91}"/>
                </a:ext>
              </a:extLst>
            </p:cNvPr>
            <p:cNvSpPr/>
            <p:nvPr/>
          </p:nvSpPr>
          <p:spPr>
            <a:xfrm>
              <a:off x="-6492928" y="1181893"/>
              <a:ext cx="9044661" cy="3679126"/>
            </a:xfrm>
            <a:prstGeom prst="cube">
              <a:avLst>
                <a:gd name="adj" fmla="val 1445"/>
              </a:avLst>
            </a:prstGeom>
            <a:gradFill>
              <a:gsLst>
                <a:gs pos="0">
                  <a:srgbClr val="016773"/>
                </a:gs>
                <a:gs pos="100000">
                  <a:srgbClr val="00ABA5"/>
                </a:gs>
              </a:gsLst>
              <a:lin ang="4800000" scaled="0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64C8721E-FE7A-4960-8384-2408CB0D53D2}"/>
                </a:ext>
              </a:extLst>
            </p:cNvPr>
            <p:cNvCxnSpPr/>
            <p:nvPr/>
          </p:nvCxnSpPr>
          <p:spPr>
            <a:xfrm rot="5400000" flipH="1">
              <a:off x="9209650" y="3470155"/>
              <a:ext cx="3372106" cy="0"/>
            </a:xfrm>
            <a:prstGeom prst="line">
              <a:avLst/>
            </a:prstGeom>
            <a:ln w="12700"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0093A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BBD8D87-8CF8-43C6-8BD9-59C1C702F84E}"/>
                </a:ext>
              </a:extLst>
            </p:cNvPr>
            <p:cNvGrpSpPr/>
            <p:nvPr/>
          </p:nvGrpSpPr>
          <p:grpSpPr>
            <a:xfrm>
              <a:off x="1099312" y="1742007"/>
              <a:ext cx="3220132" cy="3220133"/>
              <a:chOff x="1099312" y="2369187"/>
              <a:chExt cx="3220132" cy="3220133"/>
            </a:xfrm>
          </p:grpSpPr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8078BA14-B4A2-4658-AEAB-4DE9A2BE35C1}"/>
                  </a:ext>
                </a:extLst>
              </p:cNvPr>
              <p:cNvCxnSpPr/>
              <p:nvPr/>
            </p:nvCxnSpPr>
            <p:spPr>
              <a:xfrm flipH="1">
                <a:off x="1099312" y="5408718"/>
                <a:ext cx="3220132" cy="0"/>
              </a:xfrm>
              <a:prstGeom prst="line">
                <a:avLst/>
              </a:prstGeom>
              <a:ln w="12700"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0093A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ED8EC1B-7654-4755-8B5A-486F05BD470D}"/>
                  </a:ext>
                </a:extLst>
              </p:cNvPr>
              <p:cNvCxnSpPr/>
              <p:nvPr/>
            </p:nvCxnSpPr>
            <p:spPr>
              <a:xfrm rot="16200000" flipH="1">
                <a:off x="-313770" y="3979254"/>
                <a:ext cx="3220133" cy="0"/>
              </a:xfrm>
              <a:prstGeom prst="line">
                <a:avLst/>
              </a:prstGeom>
              <a:ln w="12700"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0093A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19418BA9-EF6D-43A2-BC0E-F6483FCD73BC}"/>
                </a:ext>
              </a:extLst>
            </p:cNvPr>
            <p:cNvCxnSpPr/>
            <p:nvPr/>
          </p:nvCxnSpPr>
          <p:spPr>
            <a:xfrm rot="10800000" flipH="1">
              <a:off x="7731987" y="1979513"/>
              <a:ext cx="3372106" cy="0"/>
            </a:xfrm>
            <a:prstGeom prst="line">
              <a:avLst/>
            </a:prstGeom>
            <a:ln w="12700"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0093A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EABA8736-7A3C-423C-AE5A-BDA9E8807C56}"/>
              </a:ext>
            </a:extLst>
          </p:cNvPr>
          <p:cNvSpPr/>
          <p:nvPr/>
        </p:nvSpPr>
        <p:spPr>
          <a:xfrm>
            <a:off x="5344364" y="1593804"/>
            <a:ext cx="62429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子曰</a:t>
            </a:r>
            <a:r>
              <a:rPr lang="zh-CN" altLang="en-US" sz="1600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：饱食终日，无所用心，难矣哉！不有博弈者乎？为之，犹贤乎已。</a:t>
            </a:r>
            <a:r>
              <a:rPr lang="en-US" altLang="zh-CN" sz="1600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	  ——《</a:t>
            </a:r>
            <a:r>
              <a:rPr lang="zh-CN" altLang="en-US" sz="1600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论语</a:t>
            </a:r>
            <a:r>
              <a:rPr lang="en-US" altLang="zh-CN" sz="1600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•</a:t>
            </a:r>
            <a:r>
              <a:rPr lang="zh-CN" altLang="en-US" sz="1600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阳货</a:t>
            </a:r>
            <a:r>
              <a:rPr lang="en-US" altLang="zh-CN" sz="1600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》</a:t>
            </a: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朱熹</a:t>
            </a:r>
            <a:r>
              <a:rPr lang="zh-CN" altLang="en-US" sz="1600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集注曰：“博，局戏；弈，围棋也。”；颜师古注：“博，六博；弈，围碁也。”</a:t>
            </a:r>
            <a:endParaRPr lang="en-US" altLang="zh-CN" sz="1600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D3A735E4-8CE0-42F0-BAF6-15853712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026" y="3259574"/>
            <a:ext cx="2920967" cy="294138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344364" y="3242524"/>
            <a:ext cx="357888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古语博弈所指下围棋，围棋之道蕴含古人谋划策略的智慧。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略观围棋，法于用兵，怯者无功，贪者先亡。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——《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围棋赋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》</a:t>
            </a: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《</a:t>
            </a:r>
            <a:r>
              <a:rPr lang="zh-CN" altLang="en-US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孙子兵法</a:t>
            </a:r>
            <a:r>
              <a:rPr lang="en-US" altLang="zh-CN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等讲述兵书战法的古代典籍更是凸显了古人对策略的重视。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902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/>
            <p:cNvSpPr/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4" name="Freeform 6"/>
            <p:cNvSpPr/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5" name="Freeform 7"/>
            <p:cNvSpPr/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7" name="Group 44"/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22" name="Freeform 11"/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endParaRPr>
              </a:p>
            </p:txBody>
          </p:sp>
        </p:grpSp>
        <p:grpSp>
          <p:nvGrpSpPr>
            <p:cNvPr id="8" name="Group 48"/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/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19" name="Freeform 13"/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endParaRPr>
              </a:p>
            </p:txBody>
          </p:sp>
        </p:grpSp>
        <p:grpSp>
          <p:nvGrpSpPr>
            <p:cNvPr id="9" name="Group 51"/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/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16" name="Freeform 15"/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17" name="Freeform 16"/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endParaRPr>
              </a:p>
            </p:txBody>
          </p:sp>
        </p:grpSp>
        <p:sp>
          <p:nvSpPr>
            <p:cNvPr id="10" name="Freeform 17"/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1" name="TextBox 56"/>
            <p:cNvSpPr txBox="1"/>
            <p:nvPr/>
          </p:nvSpPr>
          <p:spPr>
            <a:xfrm>
              <a:off x="5264227" y="2496032"/>
              <a:ext cx="58541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  <a:t>01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2" name="TextBox 57"/>
            <p:cNvSpPr txBox="1"/>
            <p:nvPr/>
          </p:nvSpPr>
          <p:spPr>
            <a:xfrm>
              <a:off x="6337491" y="2496032"/>
              <a:ext cx="58541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  <a:t>02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3" name="TextBox 58"/>
            <p:cNvSpPr txBox="1"/>
            <p:nvPr/>
          </p:nvSpPr>
          <p:spPr>
            <a:xfrm>
              <a:off x="5264227" y="4095994"/>
              <a:ext cx="58541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  <a:t>03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4" name="TextBox 59"/>
            <p:cNvSpPr txBox="1"/>
            <p:nvPr/>
          </p:nvSpPr>
          <p:spPr>
            <a:xfrm>
              <a:off x="6337491" y="4095994"/>
              <a:ext cx="58541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  <a:t>04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26" name="PA_组合 25"/>
          <p:cNvGrpSpPr/>
          <p:nvPr>
            <p:custDataLst>
              <p:tags r:id="rId1"/>
            </p:custDataLst>
          </p:nvPr>
        </p:nvGrpSpPr>
        <p:grpSpPr>
          <a:xfrm>
            <a:off x="1394367" y="2038049"/>
            <a:ext cx="2855980" cy="1052720"/>
            <a:chOff x="422953" y="1892526"/>
            <a:chExt cx="2855980" cy="1052720"/>
          </a:xfrm>
        </p:grpSpPr>
        <p:sp>
          <p:nvSpPr>
            <p:cNvPr id="24" name="文本框 23"/>
            <p:cNvSpPr txBox="1"/>
            <p:nvPr/>
          </p:nvSpPr>
          <p:spPr>
            <a:xfrm>
              <a:off x="750437" y="2114249"/>
              <a:ext cx="233910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博弈论相关概念</a:t>
              </a:r>
              <a:endParaRPr lang="en-US" altLang="zh-CN" sz="2400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22953" y="1892526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8502923" y="4920321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SzPct val="90000"/>
              <a:defRPr/>
            </a:pPr>
            <a:r>
              <a:rPr lang="zh-CN" altLang="en-US" sz="2400" b="1" dirty="0">
                <a:solidFill>
                  <a:srgbClr val="24569D"/>
                </a:solidFill>
                <a:latin typeface="+mj-ea"/>
                <a:ea typeface="+mj-ea"/>
              </a:rPr>
              <a:t>不完美的实时决策</a:t>
            </a:r>
            <a:endParaRPr lang="en-US" altLang="zh-CN" sz="2400" b="1" dirty="0">
              <a:solidFill>
                <a:srgbClr val="24569D"/>
              </a:solidFill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5606" y="90262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目录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441833" y="24117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  <a:latin typeface="+mj-ea"/>
                <a:ea typeface="+mj-ea"/>
              </a:rPr>
              <a:t>极小极大化算法</a:t>
            </a:r>
          </a:p>
        </p:txBody>
      </p:sp>
      <p:sp>
        <p:nvSpPr>
          <p:cNvPr id="29" name="矩形 28"/>
          <p:cNvSpPr/>
          <p:nvPr/>
        </p:nvSpPr>
        <p:spPr>
          <a:xfrm>
            <a:off x="1648515" y="4869981"/>
            <a:ext cx="14398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24569D"/>
                </a:solidFill>
                <a:latin typeface="+mj-ea"/>
                <a:ea typeface="+mj-ea"/>
              </a:rPr>
              <a:t>α-β </a:t>
            </a:r>
            <a:r>
              <a:rPr lang="zh-CN" altLang="en-US" sz="2400" b="1" dirty="0">
                <a:solidFill>
                  <a:srgbClr val="24569D"/>
                </a:solidFill>
                <a:latin typeface="+mj-ea"/>
                <a:ea typeface="+mj-ea"/>
              </a:rPr>
              <a:t>剪枝</a:t>
            </a:r>
            <a:endParaRPr lang="en-US" altLang="zh-CN" sz="2400" b="1" dirty="0">
              <a:solidFill>
                <a:srgbClr val="24569D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69A3A-70FC-4F63-B52D-DAAB0BEF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猜拳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20DFA-ECE0-4ED0-A421-38051078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52600"/>
            <a:ext cx="5003800" cy="472916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两人猜拳，规定</a:t>
            </a:r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连续两局不能出的一样</a:t>
            </a:r>
            <a:r>
              <a:rPr lang="zh-CN" altLang="en-US" sz="2800" dirty="0">
                <a:latin typeface="+mj-ea"/>
                <a:ea typeface="+mj-ea"/>
              </a:rPr>
              <a:t>，在</a:t>
            </a:r>
            <a:r>
              <a:rPr lang="zh-CN" altLang="en-US" sz="2800" b="1" dirty="0">
                <a:latin typeface="+mj-ea"/>
                <a:ea typeface="+mj-ea"/>
              </a:rPr>
              <a:t>十分理智</a:t>
            </a:r>
            <a:r>
              <a:rPr lang="zh-CN" altLang="en-US" sz="2800" dirty="0">
                <a:latin typeface="+mj-ea"/>
                <a:ea typeface="+mj-ea"/>
              </a:rPr>
              <a:t>的情况下，</a:t>
            </a:r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第一把是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剪刀</a:t>
            </a:r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平局</a:t>
            </a:r>
            <a:r>
              <a:rPr lang="zh-CN" altLang="en-US" sz="2800" dirty="0">
                <a:latin typeface="+mj-ea"/>
                <a:ea typeface="+mj-ea"/>
              </a:rPr>
              <a:t>，最后会如何？</a:t>
            </a:r>
            <a:endParaRPr lang="en-US" altLang="zh-CN" sz="2800" dirty="0"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+mj-ea"/>
                <a:ea typeface="+mj-ea"/>
              </a:rPr>
              <a:t>假定博弈双方都是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理性</a:t>
            </a:r>
            <a:r>
              <a:rPr lang="zh-CN" altLang="en-US" dirty="0">
                <a:latin typeface="+mj-ea"/>
                <a:ea typeface="+mj-ea"/>
              </a:rPr>
              <a:t>的</a:t>
            </a:r>
            <a:endParaRPr lang="zh-CN" altLang="en-US" sz="2800" dirty="0">
              <a:latin typeface="+mj-ea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DCFE00-95E8-4E4D-AFAA-870F7C1B6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362200"/>
            <a:ext cx="6324600" cy="234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3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179882" y="856277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现代博弈论的诞生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F77A2E9-3941-4386-A0DF-CDEBD25143F3}"/>
              </a:ext>
            </a:extLst>
          </p:cNvPr>
          <p:cNvSpPr/>
          <p:nvPr/>
        </p:nvSpPr>
        <p:spPr>
          <a:xfrm>
            <a:off x="368875" y="20343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一、博弈论相关概念</a:t>
            </a:r>
          </a:p>
        </p:txBody>
      </p:sp>
      <p:sp>
        <p:nvSpPr>
          <p:cNvPr id="10" name="内容占位符 4">
            <a:extLst>
              <a:ext uri="{FF2B5EF4-FFF2-40B4-BE49-F238E27FC236}">
                <a16:creationId xmlns:a16="http://schemas.microsoft.com/office/drawing/2014/main" id="{8B2CF903-E574-461D-90E9-5FD402712BB7}"/>
              </a:ext>
            </a:extLst>
          </p:cNvPr>
          <p:cNvSpPr txBox="1">
            <a:spLocks/>
          </p:cNvSpPr>
          <p:nvPr/>
        </p:nvSpPr>
        <p:spPr>
          <a:xfrm>
            <a:off x="6095963" y="1399007"/>
            <a:ext cx="3886200" cy="4351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zh-CN" altLang="en-US" sz="1600" dirty="0">
              <a:latin typeface="+mj-ea"/>
              <a:ea typeface="+mj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FDF23A-9D81-4503-B177-ACACD13A5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43" y="2171114"/>
            <a:ext cx="2315809" cy="293290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E62508-1099-47A1-ACCF-85E86BB575D0}"/>
              </a:ext>
            </a:extLst>
          </p:cNvPr>
          <p:cNvSpPr txBox="1"/>
          <p:nvPr/>
        </p:nvSpPr>
        <p:spPr>
          <a:xfrm>
            <a:off x="7278762" y="5266110"/>
            <a:ext cx="3722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altLang="zh-CN" sz="1200" b="1" dirty="0">
                <a:latin typeface="+mj-ea"/>
                <a:ea typeface="+mj-ea"/>
                <a:cs typeface="Times New Roman" panose="02020603050405020304" pitchFamily="18" charset="0"/>
              </a:rPr>
              <a:t>John von Neumann(1903-1957), Oskar Morgenstern(1902-1977)</a:t>
            </a:r>
            <a:r>
              <a:rPr lang="en-US" altLang="zh-CN" sz="1200" b="1" dirty="0">
                <a:latin typeface="+mj-ea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zh-CN" sz="1200" b="1" i="1" dirty="0">
                <a:latin typeface="+mj-ea"/>
                <a:ea typeface="+mj-ea"/>
                <a:cs typeface="Times New Roman" panose="02020603050405020304" pitchFamily="18" charset="0"/>
              </a:rPr>
              <a:t>Theory of Games and Economic Behavior</a:t>
            </a:r>
            <a:r>
              <a:rPr lang="en-US" altLang="zh-CN" sz="1200" b="1" dirty="0">
                <a:latin typeface="+mj-ea"/>
                <a:ea typeface="+mj-ea"/>
                <a:cs typeface="Times New Roman" panose="02020603050405020304" pitchFamily="18" charset="0"/>
              </a:rPr>
              <a:t>, Princeton University Press, 1944</a:t>
            </a:r>
            <a:endParaRPr lang="zh-CN" altLang="en-US" sz="12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矩形: 圆角 6">
            <a:extLst>
              <a:ext uri="{FF2B5EF4-FFF2-40B4-BE49-F238E27FC236}">
                <a16:creationId xmlns:a16="http://schemas.microsoft.com/office/drawing/2014/main" id="{F0578761-3906-422A-8891-487347AA0F0B}"/>
              </a:ext>
            </a:extLst>
          </p:cNvPr>
          <p:cNvSpPr/>
          <p:nvPr/>
        </p:nvSpPr>
        <p:spPr>
          <a:xfrm>
            <a:off x="368875" y="1539750"/>
            <a:ext cx="6491470" cy="4734050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B28246-D346-4D06-A6B2-D3DBBE810528}"/>
              </a:ext>
            </a:extLst>
          </p:cNvPr>
          <p:cNvSpPr/>
          <p:nvPr/>
        </p:nvSpPr>
        <p:spPr>
          <a:xfrm>
            <a:off x="368875" y="1787791"/>
            <a:ext cx="624294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博弈论（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game theory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），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又称对策论。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博弈行为：带有相互竞争性质的主体，为了达到各自目标和利益，采取的带有对抗性质的行为。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博弈论主要研究博弈行为中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最优的对抗策略及其稳定局势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，协助人们在一定规则范围内寻求最合理的行为方式。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1944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年冯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·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诺伊曼与奥斯卡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·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摩根斯特恩合著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《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博弈论与经济行为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》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，以数学形式来阐述博弈论及其应用，标志着现代系统博弈理论的初步形成，冯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·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诺伊曼被称为现代博弈论之父。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23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0A9EEB8-F60C-424B-A933-C5FAF4EAB540}"/>
              </a:ext>
            </a:extLst>
          </p:cNvPr>
          <p:cNvSpPr/>
          <p:nvPr/>
        </p:nvSpPr>
        <p:spPr>
          <a:xfrm>
            <a:off x="762000" y="1295278"/>
            <a:ext cx="6096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600" dirty="0">
                <a:solidFill>
                  <a:srgbClr val="FF0000"/>
                </a:solidFill>
                <a:latin typeface="+mj-ea"/>
                <a:ea typeface="+mj-ea"/>
              </a:rPr>
              <a:t>纳什均衡</a:t>
            </a:r>
            <a:r>
              <a:rPr lang="zh-CN" altLang="en-US" sz="2600" dirty="0">
                <a:solidFill>
                  <a:srgbClr val="333333"/>
                </a:solidFill>
                <a:latin typeface="+mj-ea"/>
                <a:ea typeface="+mj-ea"/>
              </a:rPr>
              <a:t>（</a:t>
            </a:r>
            <a:r>
              <a:rPr lang="en-US" altLang="zh-CN" sz="2600" dirty="0">
                <a:solidFill>
                  <a:srgbClr val="333333"/>
                </a:solidFill>
                <a:latin typeface="+mj-ea"/>
                <a:ea typeface="+mj-ea"/>
              </a:rPr>
              <a:t>Nash equilibrium</a:t>
            </a:r>
            <a:r>
              <a:rPr lang="zh-CN" altLang="en-US" sz="2600" dirty="0">
                <a:solidFill>
                  <a:srgbClr val="333333"/>
                </a:solidFill>
                <a:latin typeface="+mj-ea"/>
                <a:ea typeface="+mj-ea"/>
              </a:rPr>
              <a:t>）由美国数学家纳什提出。在多人博弈的时候，如果其他人不改变策略，不论我怎么改变也不能增加收益，所有人都是这样，也就达到了纳什均衡。</a:t>
            </a:r>
            <a:endParaRPr lang="zh-CN" altLang="en-US" sz="2600" dirty="0">
              <a:latin typeface="+mj-ea"/>
              <a:ea typeface="+mj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56C565-E924-4680-8A65-3618E063D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781906"/>
            <a:ext cx="4220308" cy="2286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EEF7890-5B41-4040-BAD1-B549077298AA}"/>
              </a:ext>
            </a:extLst>
          </p:cNvPr>
          <p:cNvSpPr/>
          <p:nvPr/>
        </p:nvSpPr>
        <p:spPr>
          <a:xfrm>
            <a:off x="7398327" y="4419600"/>
            <a:ext cx="457529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约翰纳什（</a:t>
            </a:r>
            <a:r>
              <a:rPr lang="en-US" altLang="zh-CN" dirty="0">
                <a:latin typeface="+mj-ea"/>
                <a:ea typeface="+mj-ea"/>
              </a:rPr>
              <a:t>John Nash</a:t>
            </a:r>
            <a:r>
              <a:rPr lang="zh-CN" altLang="en-US" dirty="0">
                <a:latin typeface="+mj-ea"/>
                <a:ea typeface="+mj-ea"/>
              </a:rPr>
              <a:t>），著名经济学家，</a:t>
            </a: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博弈论创始人</a:t>
            </a:r>
          </a:p>
        </p:txBody>
      </p:sp>
      <p:sp>
        <p:nvSpPr>
          <p:cNvPr id="3" name="矩形 2"/>
          <p:cNvSpPr/>
          <p:nvPr/>
        </p:nvSpPr>
        <p:spPr>
          <a:xfrm>
            <a:off x="762000" y="5094459"/>
            <a:ext cx="1046304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 </a:t>
            </a:r>
            <a:endParaRPr lang="en-US" altLang="zh-CN" sz="2400" dirty="0">
              <a:latin typeface="+mj-ea"/>
              <a:ea typeface="+mj-ea"/>
            </a:endParaRPr>
          </a:p>
          <a:p>
            <a:endParaRPr lang="en-US" altLang="zh-CN" sz="2400" dirty="0">
              <a:latin typeface="+mj-ea"/>
              <a:ea typeface="+mj-ea"/>
            </a:endParaRPr>
          </a:p>
          <a:p>
            <a:r>
              <a:rPr lang="zh-CN" altLang="en-US" sz="2400" b="1" dirty="0">
                <a:latin typeface="+mj-ea"/>
                <a:ea typeface="+mj-ea"/>
              </a:rPr>
              <a:t>纳什均衡可以认为是博弈论实现人工智能的一个基本基石</a:t>
            </a:r>
            <a:r>
              <a:rPr lang="zh-CN" altLang="en-US" sz="2400" dirty="0">
                <a:latin typeface="+mj-ea"/>
                <a:ea typeface="+mj-ea"/>
              </a:rPr>
              <a:t>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135580" y="424447"/>
            <a:ext cx="7464387" cy="497934"/>
            <a:chOff x="4099943" y="2819853"/>
            <a:chExt cx="2570275" cy="497934"/>
          </a:xfrm>
        </p:grpSpPr>
        <p:sp>
          <p:nvSpPr>
            <p:cNvPr id="10" name="平行四边形 9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11" name="平行四边形 10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博弈论：</a:t>
              </a:r>
              <a:r>
                <a:rPr lang="zh-CN" altLang="en-US" sz="2000" b="1" dirty="0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纳什均衡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394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F884C-30F3-4DA7-9EA6-9B495332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博弈论中经典问题：囚徒窘境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B9C667-C7B6-46D5-98FC-BAC22CC8E3CF}"/>
              </a:ext>
            </a:extLst>
          </p:cNvPr>
          <p:cNvSpPr/>
          <p:nvPr/>
        </p:nvSpPr>
        <p:spPr>
          <a:xfrm>
            <a:off x="762000" y="1444122"/>
            <a:ext cx="10439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警察抓了两个嫌疑犯，</a:t>
            </a:r>
            <a:r>
              <a:rPr lang="zh-CN" altLang="en-US" sz="2400" u="sng" dirty="0">
                <a:solidFill>
                  <a:srgbClr val="333333"/>
                </a:solidFill>
                <a:latin typeface="Helvetica Neue"/>
              </a:rPr>
              <a:t>在他们没有事先串口供的情况下，</a:t>
            </a:r>
            <a:r>
              <a:rPr lang="zh-CN" altLang="en-US" sz="2400" b="1" u="sng" dirty="0">
                <a:solidFill>
                  <a:srgbClr val="333333"/>
                </a:solidFill>
                <a:latin typeface="Helvetica Neue"/>
              </a:rPr>
              <a:t>分开审问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。如果两个罪犯都沉默，各判</a:t>
            </a:r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年；互相揭发，各判</a:t>
            </a:r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8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年；如果一个揭发一个沉默，那么揭发的那个释放，沉默的那个判</a:t>
            </a:r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10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年。</a:t>
            </a:r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AB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怎么选择才对自己最有利？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88BEE0E-396B-40F9-B0ED-99933B35D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223316"/>
            <a:ext cx="10759955" cy="143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2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F884C-30F3-4DA7-9EA6-9B495332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囚徒窘境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B9C667-C7B6-46D5-98FC-BAC22CC8E3CF}"/>
              </a:ext>
            </a:extLst>
          </p:cNvPr>
          <p:cNvSpPr/>
          <p:nvPr/>
        </p:nvSpPr>
        <p:spPr>
          <a:xfrm>
            <a:off x="440218" y="3348360"/>
            <a:ext cx="110272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B</a:t>
            </a:r>
            <a:r>
              <a:rPr lang="zh-CN" altLang="en-US" sz="2400" dirty="0"/>
              <a:t>事先没有沟通预谋，在不知道对方怎么选择的情况下， 结果会如何呢？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88BEE0E-396B-40F9-B0ED-99933B35D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32" y="1800046"/>
            <a:ext cx="10759955" cy="143895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A46BE7C-C60C-44BA-9FEB-819B8F13E5A9}"/>
              </a:ext>
            </a:extLst>
          </p:cNvPr>
          <p:cNvSpPr/>
          <p:nvPr/>
        </p:nvSpPr>
        <p:spPr>
          <a:xfrm>
            <a:off x="440218" y="4288715"/>
            <a:ext cx="110272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</a:rPr>
              <a:t>由于</a:t>
            </a:r>
            <a:r>
              <a:rPr lang="zh-CN" altLang="en-US" sz="2400" dirty="0">
                <a:solidFill>
                  <a:srgbClr val="FF0000"/>
                </a:solidFill>
              </a:rPr>
              <a:t>每位参与者都是从自我利益最大化角度出发的</a:t>
            </a:r>
            <a:r>
              <a:rPr lang="zh-CN" altLang="en-US" sz="2400" dirty="0">
                <a:solidFill>
                  <a:srgbClr val="000000"/>
                </a:solidFill>
              </a:rPr>
              <a:t>，此时</a:t>
            </a:r>
            <a:r>
              <a:rPr lang="zh-CN" altLang="en-US" sz="2400" b="1" dirty="0">
                <a:solidFill>
                  <a:srgbClr val="FF0000"/>
                </a:solidFill>
              </a:rPr>
              <a:t>最优方案</a:t>
            </a:r>
            <a:r>
              <a:rPr lang="zh-CN" altLang="en-US" sz="2400" b="1" dirty="0">
                <a:solidFill>
                  <a:srgbClr val="000000"/>
                </a:solidFill>
              </a:rPr>
              <a:t>是互相揭发</a:t>
            </a:r>
            <a:r>
              <a:rPr lang="zh-CN" altLang="en-US" sz="2400" dirty="0">
                <a:solidFill>
                  <a:srgbClr val="000000"/>
                </a:solidFill>
              </a:rPr>
              <a:t>，于是警方判了两个犯人</a:t>
            </a:r>
            <a:r>
              <a:rPr lang="en-US" altLang="zh-CN" sz="2400" dirty="0">
                <a:solidFill>
                  <a:srgbClr val="000000"/>
                </a:solidFill>
              </a:rPr>
              <a:t>8</a:t>
            </a:r>
            <a:r>
              <a:rPr lang="zh-CN" altLang="en-US" sz="2400" dirty="0">
                <a:solidFill>
                  <a:srgbClr val="000000"/>
                </a:solidFill>
              </a:rPr>
              <a:t>年。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0218" y="5657671"/>
            <a:ext cx="105579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000000"/>
                </a:solidFill>
              </a:rPr>
              <a:t>在囚徒困境中，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最优解为两人同时沉默</a:t>
            </a:r>
            <a:r>
              <a:rPr lang="zh-CN" altLang="en-US" sz="2400" dirty="0">
                <a:solidFill>
                  <a:srgbClr val="000000"/>
                </a:solidFill>
              </a:rPr>
              <a:t>，但是两人实际倾向于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选择同时认罪</a:t>
            </a:r>
            <a:r>
              <a:rPr lang="zh-CN" altLang="en-US" sz="2400" dirty="0">
                <a:solidFill>
                  <a:srgbClr val="000000"/>
                </a:solidFill>
              </a:rPr>
              <a:t>（纳什均衡解）</a:t>
            </a:r>
            <a:endParaRPr lang="en-US" altLang="zh-CN" sz="2400" dirty="0">
              <a:solidFill>
                <a:srgbClr val="000000"/>
              </a:solidFill>
            </a:endParaRPr>
          </a:p>
          <a:p>
            <a:endParaRPr lang="zh-CN" alt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13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F884C-30F3-4DA7-9EA6-9B495332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囚徒窘境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023685-2B47-46C6-A549-D2A7977F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B9C667-C7B6-46D5-98FC-BAC22CC8E3CF}"/>
              </a:ext>
            </a:extLst>
          </p:cNvPr>
          <p:cNvSpPr/>
          <p:nvPr/>
        </p:nvSpPr>
        <p:spPr>
          <a:xfrm>
            <a:off x="707532" y="3646806"/>
            <a:ext cx="10439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/>
              <a:t>如果审问并不是分开进行，结果又会如何呢？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88BEE0E-396B-40F9-B0ED-99933B35D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32" y="1800046"/>
            <a:ext cx="10759955" cy="143895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1124ADD-9221-408F-91AA-8E7AD40B95C3}"/>
              </a:ext>
            </a:extLst>
          </p:cNvPr>
          <p:cNvSpPr/>
          <p:nvPr/>
        </p:nvSpPr>
        <p:spPr>
          <a:xfrm>
            <a:off x="735241" y="5025771"/>
            <a:ext cx="10566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稍作思考，</a:t>
            </a:r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A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选择了沉默，</a:t>
            </a:r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B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</a:rPr>
              <a:t>当然也做出同样的分析。</a:t>
            </a:r>
            <a:r>
              <a:rPr lang="zh-CN" altLang="en-US" sz="2400" b="1" dirty="0">
                <a:solidFill>
                  <a:srgbClr val="333333"/>
                </a:solidFill>
                <a:latin typeface="Helvetica Neue"/>
              </a:rPr>
              <a:t>最后两人只被各判</a:t>
            </a:r>
            <a:r>
              <a:rPr lang="en-US" altLang="zh-CN" sz="2400" b="1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sz="2400" b="1" dirty="0">
                <a:solidFill>
                  <a:srgbClr val="333333"/>
                </a:solidFill>
                <a:latin typeface="Helvetica Neue"/>
              </a:rPr>
              <a:t>年。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0476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472278" y="774540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博弈论的相关概念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F77A2E9-3941-4386-A0DF-CDEBD25143F3}"/>
              </a:ext>
            </a:extLst>
          </p:cNvPr>
          <p:cNvSpPr/>
          <p:nvPr/>
        </p:nvSpPr>
        <p:spPr>
          <a:xfrm>
            <a:off x="214519" y="16622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一、博弈论相关概念</a:t>
            </a:r>
          </a:p>
        </p:txBody>
      </p:sp>
      <p:sp>
        <p:nvSpPr>
          <p:cNvPr id="10" name="内容占位符 4">
            <a:extLst>
              <a:ext uri="{FF2B5EF4-FFF2-40B4-BE49-F238E27FC236}">
                <a16:creationId xmlns:a16="http://schemas.microsoft.com/office/drawing/2014/main" id="{8B2CF903-E574-461D-90E9-5FD402712BB7}"/>
              </a:ext>
            </a:extLst>
          </p:cNvPr>
          <p:cNvSpPr txBox="1">
            <a:spLocks/>
          </p:cNvSpPr>
          <p:nvPr/>
        </p:nvSpPr>
        <p:spPr>
          <a:xfrm>
            <a:off x="6095963" y="1399007"/>
            <a:ext cx="3886200" cy="4351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14" name="矩形: 圆角 6">
            <a:extLst>
              <a:ext uri="{FF2B5EF4-FFF2-40B4-BE49-F238E27FC236}">
                <a16:creationId xmlns:a16="http://schemas.microsoft.com/office/drawing/2014/main" id="{F0578761-3906-422A-8891-487347AA0F0B}"/>
              </a:ext>
            </a:extLst>
          </p:cNvPr>
          <p:cNvSpPr/>
          <p:nvPr/>
        </p:nvSpPr>
        <p:spPr>
          <a:xfrm>
            <a:off x="360246" y="1650566"/>
            <a:ext cx="11471434" cy="4099780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B28246-D346-4D06-A6B2-D3DBBE810528}"/>
              </a:ext>
            </a:extLst>
          </p:cNvPr>
          <p:cNvSpPr/>
          <p:nvPr/>
        </p:nvSpPr>
        <p:spPr>
          <a:xfrm>
            <a:off x="351692" y="1786105"/>
            <a:ext cx="1140578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参与者或玩家（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player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：参与博弈的决策主体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策略（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strategy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：参与者可以采取的行动方案，是一整套在采取行动之前就已经准备好的完整方案。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某个参与者可采纳策略的全体组合形成了策略集（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strategy set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）。所有参与者各自采取行动后形成的状态被称为局势（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outcome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）。如果参与者可以通过一定概率分布来选择若干个不同的策略，这样的策略称为混合策略（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mixed strategy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）。 若参与者每次行动都选择某个确定的策略，这样的策略称为纯策略（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pure strategy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收益（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payoff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：各个参与者在不同局势下得到的利益。混合策略意义下的收益应为期望收益（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expected payoff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）。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规则（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rule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）：对参与者行动的先后顺序、参与者获得信息多少等内容的规定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博弈论研究的范式：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建模者对参与者（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player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）规定可采取的策略集</a:t>
            </a:r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(strategy sets)</a:t>
            </a:r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和取得的收益，观察当参与者选择若干策略以最大化其收益时会产生什么结果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7AA7CC-9AEC-4685-85F3-1922C5BE6A4F}"/>
              </a:ext>
            </a:extLst>
          </p:cNvPr>
          <p:cNvSpPr/>
          <p:nvPr/>
        </p:nvSpPr>
        <p:spPr>
          <a:xfrm>
            <a:off x="3934045" y="6009612"/>
            <a:ext cx="4587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+mj-ea"/>
                <a:ea typeface="+mj-ea"/>
                <a:cs typeface="Times New Roman" panose="02020603050405020304" pitchFamily="18" charset="0"/>
              </a:rPr>
              <a:t>两害相权取其轻，两利相权取其重</a:t>
            </a:r>
          </a:p>
        </p:txBody>
      </p:sp>
    </p:spTree>
    <p:extLst>
      <p:ext uri="{BB962C8B-B14F-4D97-AF65-F5344CB8AC3E}">
        <p14:creationId xmlns:p14="http://schemas.microsoft.com/office/powerpoint/2010/main" val="434801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583380" y="726948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博弈的分类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F77A2E9-3941-4386-A0DF-CDEBD25143F3}"/>
              </a:ext>
            </a:extLst>
          </p:cNvPr>
          <p:cNvSpPr/>
          <p:nvPr/>
        </p:nvSpPr>
        <p:spPr>
          <a:xfrm>
            <a:off x="351692" y="160907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一、博弈论相关概念</a:t>
            </a:r>
          </a:p>
        </p:txBody>
      </p:sp>
      <p:sp>
        <p:nvSpPr>
          <p:cNvPr id="10" name="内容占位符 4">
            <a:extLst>
              <a:ext uri="{FF2B5EF4-FFF2-40B4-BE49-F238E27FC236}">
                <a16:creationId xmlns:a16="http://schemas.microsoft.com/office/drawing/2014/main" id="{8B2CF903-E574-461D-90E9-5FD402712BB7}"/>
              </a:ext>
            </a:extLst>
          </p:cNvPr>
          <p:cNvSpPr txBox="1">
            <a:spLocks/>
          </p:cNvSpPr>
          <p:nvPr/>
        </p:nvSpPr>
        <p:spPr>
          <a:xfrm>
            <a:off x="6095963" y="1399007"/>
            <a:ext cx="3886200" cy="4351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600" dirty="0"/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06363" y="1461999"/>
            <a:ext cx="11379200" cy="4698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Game = task environment with &gt; 1 agent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zh-CN" altLang="en-US" dirty="0"/>
              <a:t>任务环境类型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Deterministic</a:t>
            </a:r>
            <a:r>
              <a:rPr lang="en-US" dirty="0"/>
              <a:t> or stochastic?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Perfect information </a:t>
            </a:r>
            <a:r>
              <a:rPr lang="en-US" dirty="0"/>
              <a:t>(fully observable)?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Two</a:t>
            </a:r>
            <a:r>
              <a:rPr lang="en-US" dirty="0"/>
              <a:t>, three, or more players?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ndividuals</a:t>
            </a:r>
            <a:r>
              <a:rPr lang="en-US" dirty="0"/>
              <a:t> </a:t>
            </a:r>
            <a:r>
              <a:rPr lang="en-US" altLang="zh-CN" dirty="0"/>
              <a:t>or teams</a:t>
            </a:r>
            <a:r>
              <a:rPr lang="en-US" dirty="0"/>
              <a:t>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Turn-taking</a:t>
            </a:r>
            <a:r>
              <a:rPr lang="en-US" dirty="0"/>
              <a:t> or simultaneous?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Zero sum</a:t>
            </a:r>
            <a:r>
              <a:rPr lang="en-US" dirty="0"/>
              <a:t>?</a:t>
            </a:r>
          </a:p>
          <a:p>
            <a:pPr lvl="1"/>
            <a:endParaRPr lang="en-US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68533" y="3140847"/>
            <a:ext cx="5148607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089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8197" y="1357400"/>
            <a:ext cx="6583362" cy="267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515" y="1388558"/>
            <a:ext cx="410812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零和博弈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57200" y="4191000"/>
            <a:ext cx="5715000" cy="1706564"/>
          </a:xfrm>
        </p:spPr>
        <p:txBody>
          <a:bodyPr/>
          <a:lstStyle/>
          <a:p>
            <a:r>
              <a:rPr lang="zh-CN" altLang="en-US" sz="2400" dirty="0"/>
              <a:t>零和博弈</a:t>
            </a:r>
            <a:endParaRPr lang="en-US" altLang="zh-CN" sz="2400" dirty="0"/>
          </a:p>
          <a:p>
            <a:pPr lvl="1"/>
            <a:r>
              <a:rPr lang="en-US" altLang="zh-CN" sz="2000" dirty="0"/>
              <a:t>Agent</a:t>
            </a:r>
            <a:r>
              <a:rPr lang="zh-CN" altLang="en-US" sz="2000" dirty="0"/>
              <a:t>具有相反的效用</a:t>
            </a:r>
            <a:endParaRPr lang="en-US" altLang="zh-CN" sz="2000" dirty="0"/>
          </a:p>
          <a:p>
            <a:pPr lvl="1"/>
            <a:r>
              <a:rPr lang="zh-CN" altLang="en-US" sz="2000" dirty="0"/>
              <a:t>一个收益：一个</a:t>
            </a:r>
            <a:r>
              <a:rPr lang="zh-CN" altLang="en-US" sz="2000" dirty="0">
                <a:solidFill>
                  <a:srgbClr val="0066CC"/>
                </a:solidFill>
              </a:rPr>
              <a:t>最大</a:t>
            </a:r>
            <a:r>
              <a:rPr lang="zh-CN" altLang="en-US" sz="2000" dirty="0"/>
              <a:t>，另一个</a:t>
            </a:r>
            <a:r>
              <a:rPr lang="zh-CN" altLang="en-US" sz="2000" dirty="0">
                <a:solidFill>
                  <a:srgbClr val="FF0000"/>
                </a:solidFill>
              </a:rPr>
              <a:t>最小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/>
              <a:t>对抗性的，纯粹的竞争</a:t>
            </a:r>
            <a:endParaRPr lang="en-US" sz="1600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172200" y="4191000"/>
            <a:ext cx="5562600" cy="1706564"/>
          </a:xfrm>
        </p:spPr>
        <p:txBody>
          <a:bodyPr/>
          <a:lstStyle/>
          <a:p>
            <a:r>
              <a:rPr lang="zh-CN" altLang="en-US" sz="2400" dirty="0"/>
              <a:t>一般博弈</a:t>
            </a:r>
            <a:endParaRPr lang="en-US" altLang="zh-CN" sz="2400" dirty="0"/>
          </a:p>
          <a:p>
            <a:pPr lvl="1"/>
            <a:r>
              <a:rPr lang="en-US" altLang="zh-CN" sz="2000" dirty="0"/>
              <a:t>Agent</a:t>
            </a:r>
            <a:r>
              <a:rPr lang="zh-CN" altLang="en-US" sz="2000" dirty="0"/>
              <a:t>具有独立的效用</a:t>
            </a:r>
            <a:endParaRPr lang="en-US" altLang="zh-CN" sz="2000" dirty="0"/>
          </a:p>
          <a:p>
            <a:pPr lvl="1"/>
            <a:r>
              <a:rPr lang="zh-CN" altLang="en-US" sz="2000" dirty="0"/>
              <a:t>合作、冷漠、竞争等都是可能的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697505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517" y="1783464"/>
            <a:ext cx="10262556" cy="428241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双人完备信息博弈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指两位选手对垒，轮流走步，这时每一方不仅都知道对方过去已经走过的棋步，而且还能估计出对方未来可能的走步。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对弈的结果是一方赢（另一方则输），或者双方和局。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这类博弈的实例有：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一字棋、余一棋、西洋跳棋、国际象棋、中国象棋、围棋等。</a:t>
            </a:r>
          </a:p>
          <a:p>
            <a:pPr eaLnBrk="1" hangingPunct="1">
              <a:lnSpc>
                <a:spcPct val="150000"/>
              </a:lnSpc>
            </a:pPr>
            <a:endParaRPr lang="zh-CN" altLang="en-US" sz="2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机遇性博弈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：存在不可预测性的博弈，例如掷币等。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西洋双陆棋。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77A2E9-3941-4386-A0DF-CDEBD25143F3}"/>
              </a:ext>
            </a:extLst>
          </p:cNvPr>
          <p:cNvSpPr/>
          <p:nvPr/>
        </p:nvSpPr>
        <p:spPr>
          <a:xfrm>
            <a:off x="107143" y="184195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一、博弈论相关概念</a:t>
            </a:r>
          </a:p>
        </p:txBody>
      </p:sp>
      <p:sp>
        <p:nvSpPr>
          <p:cNvPr id="7" name="平行四边形 6"/>
          <p:cNvSpPr/>
          <p:nvPr/>
        </p:nvSpPr>
        <p:spPr bwMode="auto">
          <a:xfrm>
            <a:off x="1493542" y="703719"/>
            <a:ext cx="7398783" cy="468000"/>
          </a:xfrm>
          <a:prstGeom prst="parallelogram">
            <a:avLst/>
          </a:prstGeom>
          <a:solidFill>
            <a:srgbClr val="016773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8" name="平行四边形 7"/>
          <p:cNvSpPr/>
          <p:nvPr/>
        </p:nvSpPr>
        <p:spPr bwMode="auto">
          <a:xfrm>
            <a:off x="1580412" y="703719"/>
            <a:ext cx="7398783" cy="468000"/>
          </a:xfrm>
          <a:prstGeom prst="parallelogram">
            <a:avLst/>
          </a:prstGeom>
          <a:solidFill>
            <a:srgbClr val="FAFAFA"/>
          </a:solidFill>
          <a:ln w="19050">
            <a:gradFill>
              <a:gsLst>
                <a:gs pos="65000">
                  <a:srgbClr val="81C7C9"/>
                </a:gs>
                <a:gs pos="100000">
                  <a:srgbClr val="016773"/>
                </a:gs>
              </a:gsLst>
              <a:lin ang="17400000" scaled="0"/>
            </a:gradFill>
          </a:ln>
          <a:effectLst>
            <a:outerShdw blurRad="50800" dist="38100" dir="18900000" algn="b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本章的博弈</a:t>
            </a:r>
          </a:p>
        </p:txBody>
      </p:sp>
    </p:spTree>
    <p:extLst>
      <p:ext uri="{BB962C8B-B14F-4D97-AF65-F5344CB8AC3E}">
        <p14:creationId xmlns:p14="http://schemas.microsoft.com/office/powerpoint/2010/main" val="361092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F77A2E9-3941-4386-A0DF-CDEBD25143F3}"/>
              </a:ext>
            </a:extLst>
          </p:cNvPr>
          <p:cNvSpPr/>
          <p:nvPr/>
        </p:nvSpPr>
        <p:spPr>
          <a:xfrm>
            <a:off x="107143" y="184195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一、博弈论相关概念</a:t>
            </a:r>
          </a:p>
        </p:txBody>
      </p:sp>
      <p:sp>
        <p:nvSpPr>
          <p:cNvPr id="7" name="平行四边形 6"/>
          <p:cNvSpPr/>
          <p:nvPr/>
        </p:nvSpPr>
        <p:spPr bwMode="auto">
          <a:xfrm>
            <a:off x="1493542" y="703719"/>
            <a:ext cx="7398783" cy="468000"/>
          </a:xfrm>
          <a:prstGeom prst="parallelogram">
            <a:avLst/>
          </a:prstGeom>
          <a:solidFill>
            <a:srgbClr val="016773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8" name="平行四边形 7"/>
          <p:cNvSpPr/>
          <p:nvPr/>
        </p:nvSpPr>
        <p:spPr bwMode="auto">
          <a:xfrm>
            <a:off x="1580412" y="703719"/>
            <a:ext cx="7398783" cy="468000"/>
          </a:xfrm>
          <a:prstGeom prst="parallelogram">
            <a:avLst/>
          </a:prstGeom>
          <a:solidFill>
            <a:srgbClr val="FAFAFA"/>
          </a:solidFill>
          <a:ln w="19050">
            <a:gradFill>
              <a:gsLst>
                <a:gs pos="65000">
                  <a:srgbClr val="81C7C9"/>
                </a:gs>
                <a:gs pos="100000">
                  <a:srgbClr val="016773"/>
                </a:gs>
              </a:gsLst>
              <a:lin ang="17400000" scaled="0"/>
            </a:gradFill>
          </a:ln>
          <a:effectLst>
            <a:outerShdw blurRad="50800" dist="38100" dir="18900000" algn="b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双人完备信息博弈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702733" y="1690688"/>
            <a:ext cx="10515600" cy="4919662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问题形式化描述</a:t>
            </a:r>
            <a:r>
              <a:rPr lang="en-US" sz="2800" dirty="0"/>
              <a:t>:</a:t>
            </a:r>
          </a:p>
          <a:p>
            <a:pPr lvl="1"/>
            <a:endParaRPr lang="en-US" sz="2400" u="sng" dirty="0"/>
          </a:p>
          <a:p>
            <a:pPr lvl="1"/>
            <a:r>
              <a:rPr lang="en-US" sz="2400" u="sng" dirty="0"/>
              <a:t>States</a:t>
            </a:r>
            <a:r>
              <a:rPr lang="en-US" sz="2400" dirty="0"/>
              <a:t>: S (start at s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</a:p>
          <a:p>
            <a:pPr lvl="1"/>
            <a:r>
              <a:rPr lang="en-US" sz="2400" u="sng" dirty="0">
                <a:solidFill>
                  <a:srgbClr val="FF0000"/>
                </a:solidFill>
              </a:rPr>
              <a:t>Players</a:t>
            </a:r>
            <a:r>
              <a:rPr lang="en-US" sz="2400" dirty="0"/>
              <a:t>: P={1,2} (usually take turns)</a:t>
            </a:r>
          </a:p>
          <a:p>
            <a:pPr lvl="1"/>
            <a:r>
              <a:rPr lang="en-US" sz="2400" u="sng" dirty="0"/>
              <a:t>Actions</a:t>
            </a:r>
            <a:r>
              <a:rPr lang="en-US" sz="2400" dirty="0"/>
              <a:t>: A (may depend on player / state)</a:t>
            </a:r>
          </a:p>
          <a:p>
            <a:pPr lvl="1"/>
            <a:r>
              <a:rPr lang="en-US" sz="2400" u="sng" dirty="0"/>
              <a:t>Transition </a:t>
            </a:r>
            <a:r>
              <a:rPr lang="en-US" altLang="zh-CN" sz="2400" u="sng" dirty="0"/>
              <a:t>Model</a:t>
            </a:r>
            <a:r>
              <a:rPr lang="en-US" sz="2400" dirty="0"/>
              <a:t>: </a:t>
            </a:r>
            <a:r>
              <a:rPr lang="en-US" altLang="zh-CN" sz="2400" dirty="0"/>
              <a:t>RESULT(</a:t>
            </a:r>
            <a:r>
              <a:rPr lang="en-US" sz="2400" dirty="0"/>
              <a:t>S,A) </a:t>
            </a:r>
            <a:r>
              <a:rPr lang="en-US" sz="2400" dirty="0">
                <a:sym typeface="Symbol" pitchFamily="18" charset="2"/>
              </a:rPr>
              <a:t> S’</a:t>
            </a:r>
          </a:p>
          <a:p>
            <a:pPr lvl="1"/>
            <a:r>
              <a:rPr lang="en-US" sz="2400" u="sng" dirty="0">
                <a:sym typeface="Symbol" pitchFamily="18" charset="2"/>
              </a:rPr>
              <a:t>Terminal Test</a:t>
            </a:r>
            <a:r>
              <a:rPr lang="en-US" sz="2400" dirty="0">
                <a:sym typeface="Symbol" pitchFamily="18" charset="2"/>
              </a:rPr>
              <a:t>: S  {t, f}</a:t>
            </a:r>
          </a:p>
          <a:p>
            <a:pPr lvl="1"/>
            <a:r>
              <a:rPr lang="en-US" sz="2400" u="sng" dirty="0">
                <a:sym typeface="Symbol" pitchFamily="18" charset="2"/>
              </a:rPr>
              <a:t>Utility Function</a:t>
            </a:r>
            <a:r>
              <a:rPr lang="en-US" sz="2400" dirty="0">
                <a:sym typeface="Symbol" pitchFamily="18" charset="2"/>
              </a:rPr>
              <a:t>: Utility(S,P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en-US" sz="2400" dirty="0">
                <a:sym typeface="Symbol" pitchFamily="18" charset="2"/>
              </a:rPr>
              <a:t>  R</a:t>
            </a:r>
          </a:p>
          <a:p>
            <a:endParaRPr lang="en-US" sz="2800" dirty="0">
              <a:sym typeface="Symbol" pitchFamily="18" charset="2"/>
            </a:endParaRPr>
          </a:p>
          <a:p>
            <a:pPr>
              <a:lnSpc>
                <a:spcPct val="160000"/>
              </a:lnSpc>
            </a:pP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Solution for </a:t>
            </a:r>
            <a:r>
              <a:rPr lang="en-US" sz="2800" i="1" u="sng" dirty="0">
                <a:solidFill>
                  <a:srgbClr val="FF0000"/>
                </a:solidFill>
                <a:sym typeface="Symbol" pitchFamily="18" charset="2"/>
              </a:rPr>
              <a:t>a player </a:t>
            </a:r>
            <a:r>
              <a:rPr lang="en-US" sz="2800" dirty="0">
                <a:sym typeface="Symbol" pitchFamily="18" charset="2"/>
              </a:rPr>
              <a:t>is a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policy</a:t>
            </a:r>
            <a:r>
              <a:rPr lang="en-US" sz="2800" dirty="0">
                <a:sym typeface="Symbol" pitchFamily="18" charset="2"/>
              </a:rPr>
              <a:t>: S  A</a:t>
            </a:r>
            <a:r>
              <a:rPr lang="en-US" altLang="zh-CN" sz="2800" dirty="0"/>
              <a:t>(</a:t>
            </a:r>
            <a:r>
              <a:rPr lang="zh-CN" altLang="en-US" sz="2800" dirty="0"/>
              <a:t>为每个可能的状态指定一个动作</a:t>
            </a:r>
            <a:r>
              <a:rPr lang="en-US" altLang="zh-CN" sz="2800" dirty="0"/>
              <a:t>)</a:t>
            </a:r>
          </a:p>
          <a:p>
            <a:endParaRPr lang="en-US" sz="2800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89520" y="2899281"/>
            <a:ext cx="4403698" cy="215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7516339" y="2096851"/>
            <a:ext cx="721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208923" y="2096851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ko-KR" dirty="0"/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2712137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4114" y="1287462"/>
            <a:ext cx="7296150" cy="528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65" y="1066800"/>
            <a:ext cx="1045620" cy="1033462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8066" y="1981884"/>
            <a:ext cx="928884" cy="1032093"/>
          </a:xfrm>
          <a:prstGeom prst="rect">
            <a:avLst/>
          </a:prstGeom>
          <a:noFill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65" y="2895600"/>
            <a:ext cx="1045620" cy="1033462"/>
          </a:xfrm>
          <a:prstGeom prst="rect">
            <a:avLst/>
          </a:prstGeom>
          <a:noFill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8066" y="3810684"/>
            <a:ext cx="928884" cy="1032093"/>
          </a:xfrm>
          <a:prstGeom prst="rect">
            <a:avLst/>
          </a:prstGeom>
          <a:noFill/>
        </p:spPr>
      </p:pic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5100" y="3733970"/>
            <a:ext cx="4419600" cy="216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框 17"/>
          <p:cNvSpPr txBox="1"/>
          <p:nvPr/>
        </p:nvSpPr>
        <p:spPr>
          <a:xfrm>
            <a:off x="6958905" y="1257518"/>
            <a:ext cx="1524000" cy="4616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初始状态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515100" y="6202878"/>
            <a:ext cx="5343525" cy="4616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叶节点：终止状态对于</a:t>
            </a:r>
            <a:r>
              <a:rPr lang="en-US" altLang="zh-CN" sz="2400" dirty="0">
                <a:latin typeface="+mj-ea"/>
                <a:ea typeface="+mj-ea"/>
                <a:cs typeface="Times New Roman" panose="02020603050405020304" pitchFamily="18" charset="0"/>
              </a:rPr>
              <a:t>MAX</a:t>
            </a:r>
            <a:r>
              <a:rPr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效用值</a:t>
            </a:r>
          </a:p>
        </p:txBody>
      </p:sp>
      <p:sp>
        <p:nvSpPr>
          <p:cNvPr id="11" name="Rounded Rectangle 1"/>
          <p:cNvSpPr/>
          <p:nvPr/>
        </p:nvSpPr>
        <p:spPr>
          <a:xfrm>
            <a:off x="2286000" y="5486400"/>
            <a:ext cx="4114800" cy="990600"/>
          </a:xfrm>
          <a:prstGeom prst="roundRect">
            <a:avLst/>
          </a:prstGeom>
          <a:solidFill>
            <a:srgbClr val="C39BE1">
              <a:alpha val="30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ea"/>
              <a:ea typeface="+mj-ea"/>
            </a:endParaRPr>
          </a:p>
        </p:txBody>
      </p:sp>
      <p:sp>
        <p:nvSpPr>
          <p:cNvPr id="14" name="平行四边形 13"/>
          <p:cNvSpPr/>
          <p:nvPr/>
        </p:nvSpPr>
        <p:spPr bwMode="auto">
          <a:xfrm>
            <a:off x="988754" y="373747"/>
            <a:ext cx="7398783" cy="468000"/>
          </a:xfrm>
          <a:prstGeom prst="parallelogram">
            <a:avLst/>
          </a:prstGeom>
          <a:solidFill>
            <a:srgbClr val="FAFAFA"/>
          </a:solidFill>
          <a:ln w="19050">
            <a:gradFill>
              <a:gsLst>
                <a:gs pos="65000">
                  <a:srgbClr val="81C7C9"/>
                </a:gs>
                <a:gs pos="100000">
                  <a:srgbClr val="016773"/>
                </a:gs>
              </a:gsLst>
              <a:lin ang="17400000" scaled="0"/>
            </a:gradFill>
          </a:ln>
          <a:effectLst>
            <a:outerShdw blurRad="50800" dist="38100" dir="18900000" algn="b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博弈树</a:t>
            </a:r>
          </a:p>
        </p:txBody>
      </p:sp>
    </p:spTree>
    <p:extLst>
      <p:ext uri="{BB962C8B-B14F-4D97-AF65-F5344CB8AC3E}">
        <p14:creationId xmlns:p14="http://schemas.microsoft.com/office/powerpoint/2010/main" val="265937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/>
            <p:cNvSpPr/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/>
            <p:cNvSpPr/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/>
            <p:cNvSpPr/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/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/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/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/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/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/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/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/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/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/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/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/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/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/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grpSp>
        <p:nvGrpSpPr>
          <p:cNvPr id="26" name="PA_组合 25"/>
          <p:cNvGrpSpPr/>
          <p:nvPr>
            <p:custDataLst>
              <p:tags r:id="rId1"/>
            </p:custDataLst>
          </p:nvPr>
        </p:nvGrpSpPr>
        <p:grpSpPr>
          <a:xfrm>
            <a:off x="1394367" y="2038049"/>
            <a:ext cx="2855980" cy="950256"/>
            <a:chOff x="422953" y="1892526"/>
            <a:chExt cx="2855980" cy="950256"/>
          </a:xfrm>
        </p:grpSpPr>
        <p:sp>
          <p:nvSpPr>
            <p:cNvPr id="24" name="文本框 23"/>
            <p:cNvSpPr txBox="1"/>
            <p:nvPr/>
          </p:nvSpPr>
          <p:spPr>
            <a:xfrm>
              <a:off x="750437" y="2114249"/>
              <a:ext cx="2339102" cy="728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400" b="1" dirty="0">
                  <a:solidFill>
                    <a:srgbClr val="24569D"/>
                  </a:solidFill>
                </a:rPr>
                <a:t>博弈论相关概念</a:t>
              </a:r>
              <a:endParaRPr lang="en-US" altLang="zh-CN" sz="2400" b="1" dirty="0">
                <a:solidFill>
                  <a:srgbClr val="24569D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22953" y="1892526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8502923" y="4920321"/>
            <a:ext cx="2646878" cy="590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SzPct val="90000"/>
              <a:defRPr/>
            </a:pPr>
            <a:r>
              <a:rPr lang="zh-CN" altLang="en-US" sz="2400" b="1" dirty="0">
                <a:solidFill>
                  <a:srgbClr val="24569D"/>
                </a:solidFill>
              </a:rPr>
              <a:t>不完美的实时决策</a:t>
            </a:r>
            <a:endParaRPr lang="en-US" altLang="zh-CN" sz="2400" b="1" dirty="0">
              <a:solidFill>
                <a:srgbClr val="24569D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5606" y="90262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目录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441833" y="2411796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极小极大化算法</a:t>
            </a:r>
          </a:p>
        </p:txBody>
      </p:sp>
      <p:sp>
        <p:nvSpPr>
          <p:cNvPr id="29" name="矩形 28"/>
          <p:cNvSpPr/>
          <p:nvPr/>
        </p:nvSpPr>
        <p:spPr>
          <a:xfrm>
            <a:off x="1648515" y="4869981"/>
            <a:ext cx="14141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24569D"/>
                </a:solidFill>
              </a:rPr>
              <a:t>α-β </a:t>
            </a:r>
            <a:r>
              <a:rPr lang="zh-CN" altLang="en-US" sz="2400" b="1" dirty="0">
                <a:solidFill>
                  <a:srgbClr val="24569D"/>
                </a:solidFill>
              </a:rPr>
              <a:t>剪枝</a:t>
            </a:r>
            <a:endParaRPr lang="en-US" altLang="zh-CN" sz="2400" b="1" dirty="0">
              <a:solidFill>
                <a:srgbClr val="2456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650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6952" y="454638"/>
            <a:ext cx="8846288" cy="517984"/>
            <a:chOff x="2264849" y="2799803"/>
            <a:chExt cx="4786506" cy="51798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2264849" y="2799803"/>
              <a:ext cx="4786506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591332" y="2826188"/>
              <a:ext cx="413353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Minimax</a:t>
              </a: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搜索：</a:t>
              </a:r>
              <a:r>
                <a:rPr lang="zh-CN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对抗搜索（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adversarial search</a:t>
              </a:r>
              <a:r>
                <a:rPr lang="zh-CN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或</a:t>
              </a:r>
              <a:r>
                <a:rPr lang="zh-CN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博弈搜索（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game search</a:t>
              </a:r>
              <a:r>
                <a:rPr lang="zh-CN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19A62175-8556-4699-9C55-1BFDCD35314E}"/>
              </a:ext>
            </a:extLst>
          </p:cNvPr>
          <p:cNvSpPr/>
          <p:nvPr/>
        </p:nvSpPr>
        <p:spPr>
          <a:xfrm>
            <a:off x="462027" y="1390278"/>
            <a:ext cx="108441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两个智能体同处于一个竞争的环境，智能体之间通过竞争来实现各自相反目标，即一方想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最大化自身的利益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，而另一方则想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最小化对手的利益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。通俗地说，对抗搜索的过程就是两个智能体各自选择对自己有利的策略。</a:t>
            </a: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0773" y="3612244"/>
            <a:ext cx="410812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462027" y="3459796"/>
            <a:ext cx="418576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/>
              <a:t>博弈论中经典问题：分蛋糕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2836F452-3906-4B4F-B385-30DDDD760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04026"/>
              </p:ext>
            </p:extLst>
          </p:nvPr>
        </p:nvGraphicFramePr>
        <p:xfrm>
          <a:off x="557954" y="4134081"/>
          <a:ext cx="5978235" cy="1948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521">
                  <a:extLst>
                    <a:ext uri="{9D8B030D-6E8A-4147-A177-3AD203B41FA5}">
                      <a16:colId xmlns:a16="http://schemas.microsoft.com/office/drawing/2014/main" val="954642861"/>
                    </a:ext>
                  </a:extLst>
                </a:gridCol>
                <a:gridCol w="1504969">
                  <a:extLst>
                    <a:ext uri="{9D8B030D-6E8A-4147-A177-3AD203B41FA5}">
                      <a16:colId xmlns:a16="http://schemas.microsoft.com/office/drawing/2014/main" val="531392970"/>
                    </a:ext>
                  </a:extLst>
                </a:gridCol>
                <a:gridCol w="1992745">
                  <a:extLst>
                    <a:ext uri="{9D8B030D-6E8A-4147-A177-3AD203B41FA5}">
                      <a16:colId xmlns:a16="http://schemas.microsoft.com/office/drawing/2014/main" val="3437981806"/>
                    </a:ext>
                  </a:extLst>
                </a:gridCol>
              </a:tblGrid>
              <a:tr h="552438"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zh-CN" altLang="en-US" sz="2000" dirty="0"/>
                        <a:t>选蛋糕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zh-CN" altLang="en-US" sz="2000" dirty="0"/>
                        <a:t>拿到的蛋糕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764677"/>
                  </a:ext>
                </a:extLst>
              </a:tr>
              <a:tr h="472228">
                <a:tc>
                  <a:txBody>
                    <a:bodyPr/>
                    <a:lstStyle/>
                    <a:p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切成两块一样大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一半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一半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097488"/>
                  </a:ext>
                </a:extLst>
              </a:tr>
              <a:tr h="472228">
                <a:tc rowSpan="2">
                  <a:txBody>
                    <a:bodyPr/>
                    <a:lstStyle/>
                    <a:p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切成两块不一样大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大块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小块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391203"/>
                  </a:ext>
                </a:extLst>
              </a:tr>
              <a:tr h="451419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小块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大块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971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45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4114" y="1287462"/>
            <a:ext cx="7296150" cy="528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65" y="1066800"/>
            <a:ext cx="1045620" cy="1033462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8066" y="1981884"/>
            <a:ext cx="928884" cy="1032093"/>
          </a:xfrm>
          <a:prstGeom prst="rect">
            <a:avLst/>
          </a:prstGeom>
          <a:noFill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65" y="2895600"/>
            <a:ext cx="1045620" cy="1033462"/>
          </a:xfrm>
          <a:prstGeom prst="rect">
            <a:avLst/>
          </a:prstGeom>
          <a:noFill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8066" y="3810684"/>
            <a:ext cx="928884" cy="1032093"/>
          </a:xfrm>
          <a:prstGeom prst="rect">
            <a:avLst/>
          </a:prstGeom>
          <a:noFill/>
        </p:spPr>
      </p:pic>
      <p:sp>
        <p:nvSpPr>
          <p:cNvPr id="14" name="平行四边形 13"/>
          <p:cNvSpPr/>
          <p:nvPr/>
        </p:nvSpPr>
        <p:spPr bwMode="auto">
          <a:xfrm>
            <a:off x="988754" y="373747"/>
            <a:ext cx="7398783" cy="468000"/>
          </a:xfrm>
          <a:prstGeom prst="parallelogram">
            <a:avLst/>
          </a:prstGeom>
          <a:solidFill>
            <a:srgbClr val="FAFAFA"/>
          </a:solidFill>
          <a:ln w="19050">
            <a:gradFill>
              <a:gsLst>
                <a:gs pos="65000">
                  <a:srgbClr val="81C7C9"/>
                </a:gs>
                <a:gs pos="100000">
                  <a:srgbClr val="016773"/>
                </a:gs>
              </a:gsLst>
              <a:lin ang="17400000" scaled="0"/>
            </a:gradFill>
          </a:ln>
          <a:effectLst>
            <a:outerShdw blurRad="50800" dist="38100" dir="18900000" algn="b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博弈树</a:t>
            </a:r>
          </a:p>
        </p:txBody>
      </p:sp>
      <p:sp>
        <p:nvSpPr>
          <p:cNvPr id="15" name="TextBox 112"/>
          <p:cNvSpPr txBox="1"/>
          <p:nvPr/>
        </p:nvSpPr>
        <p:spPr>
          <a:xfrm>
            <a:off x="6977837" y="3478496"/>
            <a:ext cx="6010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Calibri" pitchFamily="34" charset="0"/>
              </a:rPr>
              <a:t>状态值</a:t>
            </a:r>
            <a:r>
              <a:rPr lang="zh-CN" altLang="en-US" sz="2400" dirty="0">
                <a:latin typeface="Calibri" pitchFamily="34" charset="0"/>
              </a:rPr>
              <a:t>（正方的效用值）</a:t>
            </a:r>
            <a:r>
              <a:rPr lang="en-US" altLang="zh-CN" sz="2400" dirty="0">
                <a:latin typeface="Calibri" pitchFamily="34" charset="0"/>
              </a:rPr>
              <a:t>V(s)</a:t>
            </a:r>
            <a:r>
              <a:rPr lang="en-US" sz="2400" dirty="0">
                <a:latin typeface="Calibri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                </a:t>
            </a:r>
            <a:r>
              <a:rPr lang="zh-CN" altLang="en-US" sz="2400" u="sng" dirty="0">
                <a:latin typeface="Calibri" pitchFamily="34" charset="0"/>
              </a:rPr>
              <a:t>正方可以得到的最好的结果</a:t>
            </a:r>
            <a:endParaRPr lang="en-US" sz="2400" u="sng" dirty="0">
              <a:latin typeface="Calibri" pitchFamily="34" charset="0"/>
            </a:endParaRPr>
          </a:p>
        </p:txBody>
      </p:sp>
      <p:sp>
        <p:nvSpPr>
          <p:cNvPr id="16" name="TextBox 100"/>
          <p:cNvSpPr txBox="1"/>
          <p:nvPr/>
        </p:nvSpPr>
        <p:spPr>
          <a:xfrm>
            <a:off x="6977837" y="5040569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Calibri" pitchFamily="34" charset="0"/>
              </a:rPr>
              <a:t>终止状态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:</a:t>
            </a:r>
          </a:p>
        </p:txBody>
      </p:sp>
      <p:sp>
        <p:nvSpPr>
          <p:cNvPr id="20" name="TextBox 33"/>
          <p:cNvSpPr txBox="1"/>
          <p:nvPr/>
        </p:nvSpPr>
        <p:spPr>
          <a:xfrm>
            <a:off x="6977837" y="5863977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Calibri" pitchFamily="34" charset="0"/>
              </a:rPr>
              <a:t>非终止状态</a:t>
            </a:r>
            <a:r>
              <a:rPr lang="en-US" sz="2400" dirty="0">
                <a:latin typeface="Calibri" pitchFamily="34" charset="0"/>
              </a:rPr>
              <a:t>:  </a:t>
            </a:r>
            <a:r>
              <a:rPr lang="zh-CN" altLang="en-US" sz="2400" dirty="0">
                <a:latin typeface="Calibri" pitchFamily="34" charset="0"/>
              </a:rPr>
              <a:t>？？？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22" name="Picture 10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8625662" y="5131956"/>
            <a:ext cx="1574284" cy="278890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279826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/>
          <p:cNvGrpSpPr/>
          <p:nvPr/>
        </p:nvGrpSpPr>
        <p:grpSpPr>
          <a:xfrm>
            <a:off x="2743200" y="3124200"/>
            <a:ext cx="6781800" cy="2230830"/>
            <a:chOff x="1676400" y="1447800"/>
            <a:chExt cx="8763000" cy="2882533"/>
          </a:xfrm>
        </p:grpSpPr>
        <p:sp>
          <p:nvSpPr>
            <p:cNvPr id="6" name="Rectangle 5"/>
            <p:cNvSpPr/>
            <p:nvPr/>
          </p:nvSpPr>
          <p:spPr>
            <a:xfrm>
              <a:off x="5105400" y="14478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6" cstate="print"/>
            <a:srcRect l="38135" t="16438" r="44067" b="58904"/>
            <a:stretch>
              <a:fillRect/>
            </a:stretch>
          </p:blipFill>
          <p:spPr bwMode="auto">
            <a:xfrm flipH="1">
              <a:off x="5410200" y="15240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Oval 7"/>
            <p:cNvSpPr/>
            <p:nvPr/>
          </p:nvSpPr>
          <p:spPr>
            <a:xfrm>
              <a:off x="6127260" y="16002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 rot="10800000" flipV="1">
              <a:off x="3657600" y="1905000"/>
              <a:ext cx="2362200" cy="381000"/>
            </a:xfrm>
            <a:prstGeom prst="line">
              <a:avLst/>
            </a:prstGeom>
            <a:ln w="28575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905000"/>
              <a:ext cx="2286000" cy="381000"/>
            </a:xfrm>
            <a:prstGeom prst="line">
              <a:avLst/>
            </a:prstGeom>
            <a:ln w="28575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 flipV="1">
              <a:off x="7239000" y="2819400"/>
              <a:ext cx="10668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305800" y="2819400"/>
              <a:ext cx="12192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V="1">
              <a:off x="2590801" y="2819400"/>
              <a:ext cx="10668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657601" y="2819400"/>
              <a:ext cx="12192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986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324600" y="15005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Rectangle 49"/>
            <p:cNvSpPr/>
            <p:nvPr/>
          </p:nvSpPr>
          <p:spPr>
            <a:xfrm>
              <a:off x="2743200" y="23622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6" cstate="print"/>
            <a:srcRect l="38135" t="16438" r="44067" b="58904"/>
            <a:stretch>
              <a:fillRect/>
            </a:stretch>
          </p:blipFill>
          <p:spPr bwMode="auto">
            <a:xfrm>
              <a:off x="2774460" y="24227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" name="Oval 51"/>
            <p:cNvSpPr/>
            <p:nvPr/>
          </p:nvSpPr>
          <p:spPr>
            <a:xfrm>
              <a:off x="376506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962400" y="24149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Rectangle 53"/>
            <p:cNvSpPr/>
            <p:nvPr/>
          </p:nvSpPr>
          <p:spPr>
            <a:xfrm>
              <a:off x="7391400" y="23622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5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6" cstate="print"/>
            <a:srcRect l="38135" t="16438" r="44067" b="58904"/>
            <a:stretch>
              <a:fillRect/>
            </a:stretch>
          </p:blipFill>
          <p:spPr bwMode="auto">
            <a:xfrm flipH="1">
              <a:off x="8001000" y="24384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" name="Oval 55"/>
            <p:cNvSpPr/>
            <p:nvPr/>
          </p:nvSpPr>
          <p:spPr>
            <a:xfrm>
              <a:off x="841326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8610600" y="24149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Rectangle 57"/>
            <p:cNvSpPr/>
            <p:nvPr/>
          </p:nvSpPr>
          <p:spPr>
            <a:xfrm>
              <a:off x="16764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9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6" cstate="print"/>
            <a:srcRect l="38135" t="16438" r="44067" b="58904"/>
            <a:stretch>
              <a:fillRect/>
            </a:stretch>
          </p:blipFill>
          <p:spPr bwMode="auto">
            <a:xfrm>
              <a:off x="1707660" y="33371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" name="Oval 59"/>
            <p:cNvSpPr/>
            <p:nvPr/>
          </p:nvSpPr>
          <p:spPr>
            <a:xfrm>
              <a:off x="26982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590800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Rectangle 61"/>
            <p:cNvSpPr/>
            <p:nvPr/>
          </p:nvSpPr>
          <p:spPr>
            <a:xfrm>
              <a:off x="39624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3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6" cstate="print"/>
            <a:srcRect l="38135" t="16438" r="44067" b="58904"/>
            <a:stretch>
              <a:fillRect/>
            </a:stretch>
          </p:blipFill>
          <p:spPr bwMode="auto">
            <a:xfrm>
              <a:off x="3993660" y="33371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" name="Oval 63"/>
            <p:cNvSpPr/>
            <p:nvPr/>
          </p:nvSpPr>
          <p:spPr>
            <a:xfrm>
              <a:off x="49842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5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425373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" name="Rectangle 65"/>
            <p:cNvSpPr/>
            <p:nvPr/>
          </p:nvSpPr>
          <p:spPr>
            <a:xfrm>
              <a:off x="63246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7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6" cstate="print"/>
            <a:srcRect l="38135" t="16438" r="44067" b="58904"/>
            <a:stretch>
              <a:fillRect/>
            </a:stretch>
          </p:blipFill>
          <p:spPr bwMode="auto">
            <a:xfrm flipH="1">
              <a:off x="6934200" y="33528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" name="Oval 67"/>
            <p:cNvSpPr/>
            <p:nvPr/>
          </p:nvSpPr>
          <p:spPr>
            <a:xfrm>
              <a:off x="73464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9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239000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0" name="Rectangle 69"/>
            <p:cNvSpPr/>
            <p:nvPr/>
          </p:nvSpPr>
          <p:spPr>
            <a:xfrm>
              <a:off x="86106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6" cstate="print"/>
            <a:srcRect l="38135" t="16438" r="44067" b="58904"/>
            <a:stretch>
              <a:fillRect/>
            </a:stretch>
          </p:blipFill>
          <p:spPr bwMode="auto">
            <a:xfrm flipH="1">
              <a:off x="9220200" y="33528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" name="Oval 71"/>
            <p:cNvSpPr/>
            <p:nvPr/>
          </p:nvSpPr>
          <p:spPr>
            <a:xfrm>
              <a:off x="96324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3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073573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7" name="TextBox 76"/>
            <p:cNvSpPr txBox="1"/>
            <p:nvPr/>
          </p:nvSpPr>
          <p:spPr>
            <a:xfrm>
              <a:off x="9207357" y="3733800"/>
              <a:ext cx="838200" cy="59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+8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894816" y="3733800"/>
              <a:ext cx="838200" cy="59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alibri" pitchFamily="34" charset="0"/>
                </a:rPr>
                <a:t>+4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630220" y="3733799"/>
              <a:ext cx="838200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-5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267164" y="3733799"/>
              <a:ext cx="838200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-8</a:t>
              </a: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685800" y="1367135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  <a:latin typeface="Calibri" pitchFamily="34" charset="0"/>
              </a:rPr>
              <a:t>正方的状态值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62021" y="5290759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latin typeface="Calibri" pitchFamily="34" charset="0"/>
              </a:rPr>
              <a:t>终止状态</a:t>
            </a:r>
            <a:r>
              <a:rPr lang="en-US" sz="2400" dirty="0">
                <a:solidFill>
                  <a:srgbClr val="7030A0"/>
                </a:solidFill>
                <a:latin typeface="Calibri" pitchFamily="34" charset="0"/>
              </a:rPr>
              <a:t>:</a:t>
            </a:r>
          </a:p>
        </p:txBody>
      </p:sp>
      <p:pic>
        <p:nvPicPr>
          <p:cNvPr id="92" name="Picture 91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024686" y="1955545"/>
            <a:ext cx="2920953" cy="457112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/>
        </p:spPr>
      </p:pic>
      <p:pic>
        <p:nvPicPr>
          <p:cNvPr id="85" name="Picture 8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9835161" y="5391361"/>
            <a:ext cx="1574284" cy="278890"/>
          </a:xfrm>
          <a:prstGeom prst="rect">
            <a:avLst/>
          </a:prstGeom>
          <a:noFill/>
          <a:ln/>
          <a:effectLst/>
        </p:spPr>
      </p:pic>
      <p:sp>
        <p:nvSpPr>
          <p:cNvPr id="86" name="Right Arrow 85"/>
          <p:cNvSpPr/>
          <p:nvPr/>
        </p:nvSpPr>
        <p:spPr>
          <a:xfrm rot="1943663">
            <a:off x="4045804" y="2305478"/>
            <a:ext cx="1706429" cy="304800"/>
          </a:xfrm>
          <a:prstGeom prst="rightArrow">
            <a:avLst/>
          </a:prstGeom>
          <a:solidFill>
            <a:srgbClr val="CCECF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7277100" y="1367135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Calibri" pitchFamily="34" charset="0"/>
              </a:rPr>
              <a:t>反方的状态值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:</a:t>
            </a:r>
          </a:p>
        </p:txBody>
      </p:sp>
      <p:pic>
        <p:nvPicPr>
          <p:cNvPr id="93" name="Picture 92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7921484" y="1967096"/>
            <a:ext cx="2919874" cy="456943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</p:pic>
      <p:sp>
        <p:nvSpPr>
          <p:cNvPr id="90" name="Right Arrow 89"/>
          <p:cNvSpPr/>
          <p:nvPr/>
        </p:nvSpPr>
        <p:spPr>
          <a:xfrm rot="8255959">
            <a:off x="8148387" y="2949051"/>
            <a:ext cx="1406806" cy="304800"/>
          </a:xfrm>
          <a:prstGeom prst="rightArrow">
            <a:avLst/>
          </a:prstGeom>
          <a:solidFill>
            <a:srgbClr val="FF999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/>
          <p:cNvSpPr/>
          <p:nvPr/>
        </p:nvSpPr>
        <p:spPr>
          <a:xfrm>
            <a:off x="1577250" y="299651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Calibri" pitchFamily="34" charset="0"/>
              </a:rPr>
              <a:t>正方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532522" y="451519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Calibri" pitchFamily="34" charset="0"/>
              </a:rPr>
              <a:t>正方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577250" y="372422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Calibri" pitchFamily="34" charset="0"/>
              </a:rPr>
              <a:t>反方</a:t>
            </a:r>
            <a:endParaRPr lang="zh-CN" altLang="en-US" dirty="0"/>
          </a:p>
        </p:txBody>
      </p:sp>
      <p:sp>
        <p:nvSpPr>
          <p:cNvPr id="75" name="TextBox 100"/>
          <p:cNvSpPr txBox="1"/>
          <p:nvPr/>
        </p:nvSpPr>
        <p:spPr>
          <a:xfrm>
            <a:off x="1164056" y="5790842"/>
            <a:ext cx="9409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alibri" pitchFamily="34" charset="0"/>
              </a:rPr>
              <a:t>搜索目标：从初始状态出发，找到到达终止状态的最优解路径</a:t>
            </a:r>
            <a:endParaRPr lang="en-US" altLang="zh-CN" sz="2400" dirty="0">
              <a:latin typeface="Calibri" pitchFamily="34" charset="0"/>
            </a:endParaRPr>
          </a:p>
          <a:p>
            <a:r>
              <a:rPr lang="zh-CN" altLang="en-US" sz="2400" dirty="0">
                <a:latin typeface="Calibri" pitchFamily="34" charset="0"/>
              </a:rPr>
              <a:t>对抗搜索</a:t>
            </a:r>
            <a:r>
              <a:rPr lang="en-US" altLang="zh-CN" sz="3200" dirty="0">
                <a:solidFill>
                  <a:srgbClr val="CC0000"/>
                </a:solidFill>
              </a:rPr>
              <a:t>:  </a:t>
            </a:r>
            <a:r>
              <a:rPr lang="zh-CN" altLang="en-US" sz="2400" dirty="0">
                <a:solidFill>
                  <a:srgbClr val="CC0000"/>
                </a:solidFill>
              </a:rPr>
              <a:t>对抗理性（最优）对手，获取可实现的最佳效用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74" name="平行四边形 73"/>
          <p:cNvSpPr/>
          <p:nvPr/>
        </p:nvSpPr>
        <p:spPr bwMode="auto">
          <a:xfrm>
            <a:off x="988754" y="373747"/>
            <a:ext cx="7398783" cy="468000"/>
          </a:xfrm>
          <a:prstGeom prst="parallelogram">
            <a:avLst/>
          </a:prstGeom>
          <a:solidFill>
            <a:srgbClr val="FAFAFA"/>
          </a:solidFill>
          <a:ln w="19050">
            <a:gradFill>
              <a:gsLst>
                <a:gs pos="65000">
                  <a:srgbClr val="81C7C9"/>
                </a:gs>
                <a:gs pos="100000">
                  <a:srgbClr val="016773"/>
                </a:gs>
              </a:gsLst>
              <a:lin ang="17400000" scaled="0"/>
            </a:gradFill>
          </a:ln>
          <a:effectLst>
            <a:outerShdw blurRad="50800" dist="38100" dir="18900000" algn="b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博弈树</a:t>
            </a:r>
          </a:p>
        </p:txBody>
      </p:sp>
    </p:spTree>
    <p:extLst>
      <p:ext uri="{BB962C8B-B14F-4D97-AF65-F5344CB8AC3E}">
        <p14:creationId xmlns:p14="http://schemas.microsoft.com/office/powerpoint/2010/main" val="175464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86" grpId="0" animBg="1"/>
      <p:bldP spid="87" grpId="0"/>
      <p:bldP spid="90" grpId="0" animBg="1"/>
      <p:bldP spid="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8752" y="2977718"/>
            <a:ext cx="3366984" cy="4924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3526" y="5144338"/>
            <a:ext cx="3367517" cy="492242"/>
          </a:xfrm>
          <a:prstGeom prst="rect">
            <a:avLst/>
          </a:prstGeom>
        </p:spPr>
      </p:pic>
      <p:sp>
        <p:nvSpPr>
          <p:cNvPr id="16" name="TextBox 81"/>
          <p:cNvSpPr txBox="1"/>
          <p:nvPr/>
        </p:nvSpPr>
        <p:spPr>
          <a:xfrm>
            <a:off x="8067675" y="2093299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  <a:latin typeface="Calibri" pitchFamily="34" charset="0"/>
              </a:rPr>
              <a:t>正方的状态值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:</a:t>
            </a:r>
          </a:p>
        </p:txBody>
      </p:sp>
      <p:sp>
        <p:nvSpPr>
          <p:cNvPr id="17" name="TextBox 86"/>
          <p:cNvSpPr txBox="1"/>
          <p:nvPr/>
        </p:nvSpPr>
        <p:spPr>
          <a:xfrm>
            <a:off x="8201025" y="4475281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Calibri" pitchFamily="34" charset="0"/>
              </a:rPr>
              <a:t>反方的状态值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: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58D2326-6447-466B-B869-DD84A8B4D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95" y="89188"/>
            <a:ext cx="7186345" cy="640686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7923526" y="365125"/>
            <a:ext cx="3430273" cy="1325563"/>
          </a:xfrm>
        </p:spPr>
        <p:txBody>
          <a:bodyPr/>
          <a:lstStyle/>
          <a:p>
            <a:r>
              <a:rPr lang="en-US" altLang="zh-CN" dirty="0" err="1"/>
              <a:t>MinMax</a:t>
            </a:r>
            <a:r>
              <a:rPr lang="zh-CN" altLang="en-US" dirty="0"/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4176482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Minimax Example</a:t>
            </a:r>
          </a:p>
        </p:txBody>
      </p:sp>
      <p:sp>
        <p:nvSpPr>
          <p:cNvPr id="14339" name="AutoShape 4"/>
          <p:cNvSpPr>
            <a:spLocks noChangeArrowheads="1"/>
          </p:cNvSpPr>
          <p:nvPr/>
        </p:nvSpPr>
        <p:spPr bwMode="auto">
          <a:xfrm>
            <a:off x="5693833" y="2209800"/>
            <a:ext cx="508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641600" y="3765550"/>
            <a:ext cx="508000" cy="1187450"/>
            <a:chOff x="1981200" y="3765550"/>
            <a:chExt cx="381000" cy="1187450"/>
          </a:xfrm>
        </p:grpSpPr>
        <p:cxnSp>
          <p:nvCxnSpPr>
            <p:cNvPr id="14382" name="AutoShape 13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3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897717" y="3765550"/>
            <a:ext cx="1267883" cy="1187450"/>
            <a:chOff x="2173289" y="3765550"/>
            <a:chExt cx="950911" cy="1187450"/>
          </a:xfrm>
        </p:grpSpPr>
        <p:cxnSp>
          <p:nvCxnSpPr>
            <p:cNvPr id="14380" name="AutoShape 17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9" y="3765550"/>
              <a:ext cx="763586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1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8737600" y="3765550"/>
            <a:ext cx="508000" cy="1187450"/>
            <a:chOff x="6553200" y="3765550"/>
            <a:chExt cx="381000" cy="1187450"/>
          </a:xfrm>
        </p:grpSpPr>
        <p:cxnSp>
          <p:nvCxnSpPr>
            <p:cNvPr id="1437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8993717" y="3765550"/>
            <a:ext cx="1267883" cy="1187450"/>
            <a:chOff x="6745288" y="3765550"/>
            <a:chExt cx="950912" cy="1187450"/>
          </a:xfrm>
        </p:grpSpPr>
        <p:cxnSp>
          <p:nvCxnSpPr>
            <p:cNvPr id="1437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2645833" y="2514600"/>
            <a:ext cx="3302000" cy="1250950"/>
            <a:chOff x="1984375" y="2514600"/>
            <a:chExt cx="2476501" cy="1250950"/>
          </a:xfrm>
        </p:grpSpPr>
        <p:sp>
          <p:nvSpPr>
            <p:cNvPr id="14374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5" name="AutoShape 7"/>
            <p:cNvCxnSpPr>
              <a:cxnSpLocks noChangeShapeType="1"/>
              <a:stCxn id="14339" idx="3"/>
              <a:endCxn id="14374" idx="3"/>
            </p:cNvCxnSpPr>
            <p:nvPr/>
          </p:nvCxnSpPr>
          <p:spPr bwMode="auto">
            <a:xfrm flipH="1">
              <a:off x="2173288" y="2514600"/>
              <a:ext cx="2287588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14374" idx="0"/>
          </p:cNvCxnSpPr>
          <p:nvPr/>
        </p:nvCxnSpPr>
        <p:spPr bwMode="auto">
          <a:xfrm flipH="1">
            <a:off x="1883835" y="3765553"/>
            <a:ext cx="1013884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625600" y="4648200"/>
            <a:ext cx="508000" cy="3048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5790143" y="2665943"/>
            <a:ext cx="304800" cy="211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14339" idx="3"/>
          </p:cNvCxnSpPr>
          <p:nvPr/>
        </p:nvCxnSpPr>
        <p:spPr bwMode="auto">
          <a:xfrm rot="16200000" flipH="1">
            <a:off x="6212417" y="2250019"/>
            <a:ext cx="228600" cy="757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744259" y="3913717"/>
            <a:ext cx="304800" cy="2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14374" idx="0"/>
          </p:cNvCxnSpPr>
          <p:nvPr/>
        </p:nvCxnSpPr>
        <p:spPr bwMode="auto">
          <a:xfrm rot="16200000" flipH="1">
            <a:off x="2926292" y="3739091"/>
            <a:ext cx="196850" cy="249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5693833" y="2514603"/>
            <a:ext cx="508000" cy="1235075"/>
            <a:chOff x="4270375" y="2514600"/>
            <a:chExt cx="381000" cy="1235075"/>
          </a:xfrm>
        </p:grpSpPr>
        <p:sp>
          <p:nvSpPr>
            <p:cNvPr id="14372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3" name="AutoShape 21"/>
            <p:cNvCxnSpPr>
              <a:cxnSpLocks noChangeShapeType="1"/>
              <a:stCxn id="14339" idx="3"/>
              <a:endCxn id="14372" idx="3"/>
            </p:cNvCxnSpPr>
            <p:nvPr/>
          </p:nvCxnSpPr>
          <p:spPr bwMode="auto">
            <a:xfrm flipH="1">
              <a:off x="4459288" y="2514600"/>
              <a:ext cx="1588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673600" y="3762375"/>
            <a:ext cx="1524000" cy="1190625"/>
            <a:chOff x="3505200" y="3762375"/>
            <a:chExt cx="1142999" cy="1190625"/>
          </a:xfrm>
        </p:grpSpPr>
        <p:cxnSp>
          <p:nvCxnSpPr>
            <p:cNvPr id="14368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9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dirty="0"/>
                <a:t>2</a:t>
              </a:r>
            </a:p>
          </p:txBody>
        </p:sp>
        <p:cxnSp>
          <p:nvCxnSpPr>
            <p:cNvPr id="14370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71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5947833" y="2514600"/>
            <a:ext cx="3301998" cy="1250950"/>
            <a:chOff x="4460876" y="2514600"/>
            <a:chExt cx="2476499" cy="1250950"/>
          </a:xfrm>
        </p:grpSpPr>
        <p:sp>
          <p:nvSpPr>
            <p:cNvPr id="14366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67" name="AutoShape 27"/>
            <p:cNvCxnSpPr>
              <a:cxnSpLocks noChangeShapeType="1"/>
              <a:stCxn id="14339" idx="3"/>
              <a:endCxn id="14366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7721600" y="3762375"/>
            <a:ext cx="1524000" cy="1190625"/>
            <a:chOff x="5791200" y="3762375"/>
            <a:chExt cx="1142999" cy="1190625"/>
          </a:xfrm>
        </p:grpSpPr>
        <p:cxnSp>
          <p:nvCxnSpPr>
            <p:cNvPr id="14362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3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14364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65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5689600" y="3765550"/>
            <a:ext cx="508000" cy="1187450"/>
            <a:chOff x="6553200" y="3765550"/>
            <a:chExt cx="381000" cy="1187450"/>
          </a:xfrm>
        </p:grpSpPr>
        <p:cxnSp>
          <p:nvCxnSpPr>
            <p:cNvPr id="14360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1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5945717" y="3765550"/>
            <a:ext cx="1267883" cy="1187450"/>
            <a:chOff x="6745288" y="3765550"/>
            <a:chExt cx="950912" cy="1187450"/>
          </a:xfrm>
        </p:grpSpPr>
        <p:cxnSp>
          <p:nvCxnSpPr>
            <p:cNvPr id="14358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59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9B3A138B-C250-4E93-91BF-0D3533CF8B45}"/>
              </a:ext>
            </a:extLst>
          </p:cNvPr>
          <p:cNvSpPr/>
          <p:nvPr/>
        </p:nvSpPr>
        <p:spPr>
          <a:xfrm>
            <a:off x="2256662" y="336952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92CB3E-BDA6-4558-B181-C12DF47C444D}"/>
              </a:ext>
            </a:extLst>
          </p:cNvPr>
          <p:cNvSpPr/>
          <p:nvPr/>
        </p:nvSpPr>
        <p:spPr>
          <a:xfrm>
            <a:off x="5191330" y="337890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09D583-A137-44DC-9887-1B89FEFFA5AE}"/>
              </a:ext>
            </a:extLst>
          </p:cNvPr>
          <p:cNvSpPr/>
          <p:nvPr/>
        </p:nvSpPr>
        <p:spPr>
          <a:xfrm>
            <a:off x="8397357" y="346599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9A5150-F0CA-432A-B58B-001704145FD0}"/>
              </a:ext>
            </a:extLst>
          </p:cNvPr>
          <p:cNvSpPr/>
          <p:nvPr/>
        </p:nvSpPr>
        <p:spPr>
          <a:xfrm>
            <a:off x="5282323" y="212795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3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542794" y="2127956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542795" y="3357124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C09D583-A137-44DC-9887-1B89FEFFA5AE}"/>
              </a:ext>
            </a:extLst>
          </p:cNvPr>
          <p:cNvSpPr/>
          <p:nvPr/>
        </p:nvSpPr>
        <p:spPr>
          <a:xfrm>
            <a:off x="8290885" y="3449915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14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C09D583-A137-44DC-9887-1B89FEFFA5AE}"/>
              </a:ext>
            </a:extLst>
          </p:cNvPr>
          <p:cNvSpPr/>
          <p:nvPr/>
        </p:nvSpPr>
        <p:spPr>
          <a:xfrm>
            <a:off x="8359102" y="344487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07017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13" grpId="0"/>
      <p:bldP spid="14" grpId="0"/>
      <p:bldP spid="15" grpId="0"/>
      <p:bldP spid="16" grpId="0"/>
      <p:bldP spid="54" grpId="0"/>
      <p:bldP spid="54" grpId="1"/>
      <p:bldP spid="55" grpId="0"/>
      <p:bldP spid="5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Symbol" pitchFamily="18" charset="2"/>
              </a:rPr>
              <a:t>Minimax</a:t>
            </a:r>
            <a:r>
              <a:rPr lang="en-US" dirty="0"/>
              <a:t> </a:t>
            </a:r>
            <a:r>
              <a:rPr lang="zh-CN" altLang="en-US" dirty="0"/>
              <a:t>课堂练习</a:t>
            </a:r>
            <a:endParaRPr lang="en-US" dirty="0"/>
          </a:p>
        </p:txBody>
      </p:sp>
      <p:pic>
        <p:nvPicPr>
          <p:cNvPr id="5" name="Picture 4" descr="alpha-beta-larg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867" y="2133600"/>
            <a:ext cx="7200900" cy="455753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2556162" y="23622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2514600" y="35814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2556162" y="50292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C09CDC-8D02-49B7-9BC7-E4174307EE11}"/>
              </a:ext>
            </a:extLst>
          </p:cNvPr>
          <p:cNvSpPr/>
          <p:nvPr/>
        </p:nvSpPr>
        <p:spPr>
          <a:xfrm>
            <a:off x="825790" y="1255019"/>
            <a:ext cx="104949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按从左到右的顺序搜索，使用极小极大算法，标明各状态的</a:t>
            </a:r>
            <a:r>
              <a:rPr lang="en-US" altLang="zh-CN" dirty="0"/>
              <a:t>Utility</a:t>
            </a:r>
            <a:r>
              <a:rPr lang="zh-CN" altLang="en-US" dirty="0"/>
              <a:t>值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754466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96200" y="1888303"/>
            <a:ext cx="4163013" cy="162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071" y="1536553"/>
            <a:ext cx="3674720" cy="197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Minimax Properties</a:t>
            </a:r>
          </a:p>
        </p:txBody>
      </p:sp>
      <p:sp>
        <p:nvSpPr>
          <p:cNvPr id="935939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5257800"/>
            <a:ext cx="7366000" cy="6858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None/>
            </a:pPr>
            <a:r>
              <a:rPr lang="en-US" sz="2800" dirty="0"/>
              <a:t>Optimal against a perfect player.  Otherwise?</a:t>
            </a:r>
          </a:p>
          <a:p>
            <a:pPr algn="ctr" eaLnBrk="1" hangingPunct="1">
              <a:lnSpc>
                <a:spcPct val="90000"/>
              </a:lnSpc>
            </a:pPr>
            <a:endParaRPr lang="en-US" sz="2800" dirty="0"/>
          </a:p>
        </p:txBody>
      </p:sp>
      <p:sp>
        <p:nvSpPr>
          <p:cNvPr id="16388" name="AutoShape 5"/>
          <p:cNvSpPr>
            <a:spLocks noChangeArrowheads="1"/>
          </p:cNvSpPr>
          <p:nvPr/>
        </p:nvSpPr>
        <p:spPr bwMode="auto">
          <a:xfrm>
            <a:off x="5791200" y="20574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89" name="AutoShape 6"/>
          <p:cNvSpPr>
            <a:spLocks noChangeArrowheads="1"/>
          </p:cNvSpPr>
          <p:nvPr/>
        </p:nvSpPr>
        <p:spPr bwMode="auto">
          <a:xfrm rot="10800000">
            <a:off x="5029200" y="30480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90" name="AutoShape 7"/>
          <p:cNvSpPr>
            <a:spLocks noChangeArrowheads="1"/>
          </p:cNvSpPr>
          <p:nvPr/>
        </p:nvSpPr>
        <p:spPr bwMode="auto">
          <a:xfrm rot="10800000">
            <a:off x="6553200" y="30480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4648200" y="4343400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10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5334000" y="4343400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10</a:t>
            </a: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6172200" y="4343400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9</a:t>
            </a:r>
          </a:p>
        </p:txBody>
      </p:sp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6934200" y="4343400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100</a:t>
            </a:r>
          </a:p>
        </p:txBody>
      </p:sp>
      <p:cxnSp>
        <p:nvCxnSpPr>
          <p:cNvPr id="16395" name="AutoShape 12"/>
          <p:cNvCxnSpPr>
            <a:cxnSpLocks noChangeShapeType="1"/>
            <a:stCxn id="16388" idx="3"/>
            <a:endCxn id="16389" idx="3"/>
          </p:cNvCxnSpPr>
          <p:nvPr/>
        </p:nvCxnSpPr>
        <p:spPr bwMode="auto">
          <a:xfrm flipH="1">
            <a:off x="5219700" y="2362200"/>
            <a:ext cx="7620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6" name="AutoShape 13"/>
          <p:cNvCxnSpPr>
            <a:cxnSpLocks noChangeShapeType="1"/>
            <a:stCxn id="16388" idx="3"/>
            <a:endCxn id="16390" idx="3"/>
          </p:cNvCxnSpPr>
          <p:nvPr/>
        </p:nvCxnSpPr>
        <p:spPr bwMode="auto">
          <a:xfrm>
            <a:off x="5981700" y="2362200"/>
            <a:ext cx="7620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7" name="AutoShape 14"/>
          <p:cNvCxnSpPr>
            <a:cxnSpLocks noChangeShapeType="1"/>
            <a:stCxn id="16389" idx="0"/>
            <a:endCxn id="16391" idx="0"/>
          </p:cNvCxnSpPr>
          <p:nvPr/>
        </p:nvCxnSpPr>
        <p:spPr bwMode="auto">
          <a:xfrm flipH="1">
            <a:off x="4838700" y="3352800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8" name="AutoShape 15"/>
          <p:cNvCxnSpPr>
            <a:cxnSpLocks noChangeShapeType="1"/>
            <a:stCxn id="16389" idx="0"/>
            <a:endCxn id="16392" idx="0"/>
          </p:cNvCxnSpPr>
          <p:nvPr/>
        </p:nvCxnSpPr>
        <p:spPr bwMode="auto">
          <a:xfrm>
            <a:off x="5219700" y="3352800"/>
            <a:ext cx="3048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9" name="AutoShape 16"/>
          <p:cNvCxnSpPr>
            <a:cxnSpLocks noChangeShapeType="1"/>
            <a:stCxn id="16390" idx="0"/>
            <a:endCxn id="16393" idx="0"/>
          </p:cNvCxnSpPr>
          <p:nvPr/>
        </p:nvCxnSpPr>
        <p:spPr bwMode="auto">
          <a:xfrm flipH="1">
            <a:off x="6362700" y="3352800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400" name="AutoShape 17"/>
          <p:cNvCxnSpPr>
            <a:cxnSpLocks noChangeShapeType="1"/>
            <a:stCxn id="16390" idx="0"/>
            <a:endCxn id="16394" idx="0"/>
          </p:cNvCxnSpPr>
          <p:nvPr/>
        </p:nvCxnSpPr>
        <p:spPr bwMode="auto">
          <a:xfrm>
            <a:off x="6743700" y="3352800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401" name="Text Box 18"/>
          <p:cNvSpPr txBox="1">
            <a:spLocks noChangeArrowheads="1"/>
          </p:cNvSpPr>
          <p:nvPr/>
        </p:nvSpPr>
        <p:spPr bwMode="auto">
          <a:xfrm>
            <a:off x="6194425" y="2057400"/>
            <a:ext cx="66357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Calibri" pitchFamily="34" charset="0"/>
              </a:rPr>
              <a:t>max</a:t>
            </a:r>
          </a:p>
        </p:txBody>
      </p:sp>
      <p:sp>
        <p:nvSpPr>
          <p:cNvPr id="16402" name="Text Box 19"/>
          <p:cNvSpPr txBox="1">
            <a:spLocks noChangeArrowheads="1"/>
          </p:cNvSpPr>
          <p:nvPr/>
        </p:nvSpPr>
        <p:spPr bwMode="auto">
          <a:xfrm>
            <a:off x="7010400" y="2971800"/>
            <a:ext cx="66357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Calibri" pitchFamily="34" charset="0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163731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1" y="4246885"/>
            <a:ext cx="3657600" cy="234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minimax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6106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What if the game is not zero-sum, or has multiple players?</a:t>
            </a:r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2400" dirty="0"/>
              <a:t>Generalization of minimax: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Terminals have </a:t>
            </a:r>
            <a:r>
              <a:rPr lang="en-US" sz="2000" b="1" i="1" dirty="0">
                <a:solidFill>
                  <a:srgbClr val="FF0000"/>
                </a:solidFill>
              </a:rPr>
              <a:t>utility </a:t>
            </a:r>
            <a:r>
              <a:rPr lang="en-US" sz="2000" b="1" i="1" dirty="0" err="1">
                <a:solidFill>
                  <a:srgbClr val="FF0000"/>
                </a:solidFill>
              </a:rPr>
              <a:t>tuples</a:t>
            </a:r>
            <a:endParaRPr lang="en-US" sz="2000" b="1" i="1" dirty="0">
              <a:solidFill>
                <a:srgbClr val="FF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2000" dirty="0"/>
              <a:t>Node values are also utility </a:t>
            </a:r>
            <a:r>
              <a:rPr lang="en-US" sz="2000" dirty="0" err="1"/>
              <a:t>tuples</a:t>
            </a: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b="1" i="1" dirty="0">
                <a:solidFill>
                  <a:srgbClr val="0000FF"/>
                </a:solidFill>
              </a:rPr>
              <a:t>Each player maximizes its own component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Can give rise to cooperation and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	competition dynamically…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864443" y="2371375"/>
            <a:ext cx="6934200" cy="3742727"/>
            <a:chOff x="3200400" y="2057400"/>
            <a:chExt cx="5638800" cy="3043536"/>
          </a:xfrm>
        </p:grpSpPr>
        <p:sp>
          <p:nvSpPr>
            <p:cNvPr id="18436" name="Text Box 25"/>
            <p:cNvSpPr txBox="1">
              <a:spLocks noChangeArrowheads="1"/>
            </p:cNvSpPr>
            <p:nvPr/>
          </p:nvSpPr>
          <p:spPr bwMode="auto">
            <a:xfrm>
              <a:off x="32004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1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1,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18437" name="Text Box 26"/>
            <p:cNvSpPr txBox="1">
              <a:spLocks noChangeArrowheads="1"/>
            </p:cNvSpPr>
            <p:nvPr/>
          </p:nvSpPr>
          <p:spPr bwMode="auto">
            <a:xfrm>
              <a:off x="38862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0,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7</a:t>
              </a:r>
            </a:p>
          </p:txBody>
        </p:sp>
        <p:sp>
          <p:nvSpPr>
            <p:cNvPr id="18438" name="Text Box 27"/>
            <p:cNvSpPr txBox="1">
              <a:spLocks noChangeArrowheads="1"/>
            </p:cNvSpPr>
            <p:nvPr/>
          </p:nvSpPr>
          <p:spPr bwMode="auto">
            <a:xfrm>
              <a:off x="46482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9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9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8439" name="Text Box 28"/>
            <p:cNvSpPr txBox="1">
              <a:spLocks noChangeArrowheads="1"/>
            </p:cNvSpPr>
            <p:nvPr/>
          </p:nvSpPr>
          <p:spPr bwMode="auto">
            <a:xfrm>
              <a:off x="53340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8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8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8440" name="Text Box 29"/>
            <p:cNvSpPr txBox="1">
              <a:spLocks noChangeArrowheads="1"/>
            </p:cNvSpPr>
            <p:nvPr/>
          </p:nvSpPr>
          <p:spPr bwMode="auto">
            <a:xfrm>
              <a:off x="60960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9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9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8441" name="Text Box 30"/>
            <p:cNvSpPr txBox="1">
              <a:spLocks noChangeArrowheads="1"/>
            </p:cNvSpPr>
            <p:nvPr/>
          </p:nvSpPr>
          <p:spPr bwMode="auto">
            <a:xfrm>
              <a:off x="67818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7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7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8442" name="Text Box 31"/>
            <p:cNvSpPr txBox="1">
              <a:spLocks noChangeArrowheads="1"/>
            </p:cNvSpPr>
            <p:nvPr/>
          </p:nvSpPr>
          <p:spPr bwMode="auto">
            <a:xfrm>
              <a:off x="75438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8</a:t>
              </a:r>
            </a:p>
          </p:txBody>
        </p:sp>
        <p:sp>
          <p:nvSpPr>
            <p:cNvPr id="18443" name="Text Box 32"/>
            <p:cNvSpPr txBox="1">
              <a:spLocks noChangeArrowheads="1"/>
            </p:cNvSpPr>
            <p:nvPr/>
          </p:nvSpPr>
          <p:spPr bwMode="auto">
            <a:xfrm>
              <a:off x="82296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7</a:t>
              </a:r>
            </a:p>
          </p:txBody>
        </p:sp>
        <p:cxnSp>
          <p:nvCxnSpPr>
            <p:cNvPr id="18445" name="AutoShape 11"/>
            <p:cNvCxnSpPr>
              <a:cxnSpLocks noChangeShapeType="1"/>
            </p:cNvCxnSpPr>
            <p:nvPr/>
          </p:nvCxnSpPr>
          <p:spPr bwMode="auto">
            <a:xfrm flipH="1">
              <a:off x="4686300" y="2362200"/>
              <a:ext cx="1295400" cy="4572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6" name="AutoShape 12"/>
            <p:cNvCxnSpPr>
              <a:cxnSpLocks noChangeShapeType="1"/>
            </p:cNvCxnSpPr>
            <p:nvPr/>
          </p:nvCxnSpPr>
          <p:spPr bwMode="auto">
            <a:xfrm>
              <a:off x="5981700" y="2362200"/>
              <a:ext cx="1447800" cy="4572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7" name="AutoShape 13"/>
            <p:cNvCxnSpPr>
              <a:cxnSpLocks noChangeShapeType="1"/>
            </p:cNvCxnSpPr>
            <p:nvPr/>
          </p:nvCxnSpPr>
          <p:spPr bwMode="auto">
            <a:xfrm flipH="1">
              <a:off x="4000500" y="3124200"/>
              <a:ext cx="6858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8" name="AutoShape 14"/>
            <p:cNvCxnSpPr>
              <a:cxnSpLocks noChangeShapeType="1"/>
            </p:cNvCxnSpPr>
            <p:nvPr/>
          </p:nvCxnSpPr>
          <p:spPr bwMode="auto">
            <a:xfrm>
              <a:off x="46863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9" name="AutoShape 15"/>
            <p:cNvCxnSpPr>
              <a:cxnSpLocks noChangeShapeType="1"/>
            </p:cNvCxnSpPr>
            <p:nvPr/>
          </p:nvCxnSpPr>
          <p:spPr bwMode="auto">
            <a:xfrm flipH="1">
              <a:off x="68199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0" name="AutoShape 16"/>
            <p:cNvCxnSpPr>
              <a:cxnSpLocks noChangeShapeType="1"/>
            </p:cNvCxnSpPr>
            <p:nvPr/>
          </p:nvCxnSpPr>
          <p:spPr bwMode="auto">
            <a:xfrm>
              <a:off x="74295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1" name="AutoShape 17"/>
            <p:cNvCxnSpPr>
              <a:cxnSpLocks noChangeShapeType="1"/>
            </p:cNvCxnSpPr>
            <p:nvPr/>
          </p:nvCxnSpPr>
          <p:spPr bwMode="auto">
            <a:xfrm flipH="1">
              <a:off x="37338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2" name="AutoShape 18"/>
            <p:cNvCxnSpPr>
              <a:cxnSpLocks noChangeShapeType="1"/>
            </p:cNvCxnSpPr>
            <p:nvPr/>
          </p:nvCxnSpPr>
          <p:spPr bwMode="auto">
            <a:xfrm>
              <a:off x="4000500" y="4038600"/>
              <a:ext cx="1905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3" name="AutoShape 19"/>
            <p:cNvCxnSpPr>
              <a:cxnSpLocks noChangeShapeType="1"/>
            </p:cNvCxnSpPr>
            <p:nvPr/>
          </p:nvCxnSpPr>
          <p:spPr bwMode="auto">
            <a:xfrm flipH="1">
              <a:off x="50292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4" name="AutoShape 20"/>
            <p:cNvCxnSpPr>
              <a:cxnSpLocks noChangeShapeType="1"/>
            </p:cNvCxnSpPr>
            <p:nvPr/>
          </p:nvCxnSpPr>
          <p:spPr bwMode="auto">
            <a:xfrm>
              <a:off x="52959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5" name="AutoShape 21"/>
            <p:cNvCxnSpPr>
              <a:cxnSpLocks noChangeShapeType="1"/>
            </p:cNvCxnSpPr>
            <p:nvPr/>
          </p:nvCxnSpPr>
          <p:spPr bwMode="auto">
            <a:xfrm flipH="1">
              <a:off x="65532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6" name="AutoShape 22"/>
            <p:cNvCxnSpPr>
              <a:cxnSpLocks noChangeShapeType="1"/>
            </p:cNvCxnSpPr>
            <p:nvPr/>
          </p:nvCxnSpPr>
          <p:spPr bwMode="auto">
            <a:xfrm>
              <a:off x="6819900" y="4038600"/>
              <a:ext cx="1905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7" name="AutoShape 23"/>
            <p:cNvCxnSpPr>
              <a:cxnSpLocks noChangeShapeType="1"/>
            </p:cNvCxnSpPr>
            <p:nvPr/>
          </p:nvCxnSpPr>
          <p:spPr bwMode="auto">
            <a:xfrm flipH="1">
              <a:off x="77724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8" name="AutoShape 24"/>
            <p:cNvCxnSpPr>
              <a:cxnSpLocks noChangeShapeType="1"/>
            </p:cNvCxnSpPr>
            <p:nvPr/>
          </p:nvCxnSpPr>
          <p:spPr bwMode="auto">
            <a:xfrm>
              <a:off x="80391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8459" name="AutoShape 27"/>
            <p:cNvSpPr>
              <a:spLocks noChangeArrowheads="1"/>
            </p:cNvSpPr>
            <p:nvPr/>
          </p:nvSpPr>
          <p:spPr bwMode="auto">
            <a:xfrm>
              <a:off x="5762625" y="2057400"/>
              <a:ext cx="436563" cy="304800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0" name="AutoShape 27"/>
            <p:cNvSpPr>
              <a:spLocks noChangeArrowheads="1"/>
            </p:cNvSpPr>
            <p:nvPr/>
          </p:nvSpPr>
          <p:spPr bwMode="auto">
            <a:xfrm>
              <a:off x="4481513" y="28194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3333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1" name="AutoShape 27"/>
            <p:cNvSpPr>
              <a:spLocks noChangeArrowheads="1"/>
            </p:cNvSpPr>
            <p:nvPr/>
          </p:nvSpPr>
          <p:spPr bwMode="auto">
            <a:xfrm>
              <a:off x="7799388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2" name="AutoShape 27"/>
            <p:cNvSpPr>
              <a:spLocks noChangeArrowheads="1"/>
            </p:cNvSpPr>
            <p:nvPr/>
          </p:nvSpPr>
          <p:spPr bwMode="auto">
            <a:xfrm>
              <a:off x="7210425" y="2819400"/>
              <a:ext cx="436563" cy="304800"/>
            </a:xfrm>
            <a:prstGeom prst="triangle">
              <a:avLst>
                <a:gd name="adj" fmla="val 50000"/>
              </a:avLst>
            </a:prstGeom>
            <a:solidFill>
              <a:srgbClr val="3333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3" name="AutoShape 27"/>
            <p:cNvSpPr>
              <a:spLocks noChangeArrowheads="1"/>
            </p:cNvSpPr>
            <p:nvPr/>
          </p:nvSpPr>
          <p:spPr bwMode="auto">
            <a:xfrm>
              <a:off x="66024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4" name="AutoShape 27"/>
            <p:cNvSpPr>
              <a:spLocks noChangeArrowheads="1"/>
            </p:cNvSpPr>
            <p:nvPr/>
          </p:nvSpPr>
          <p:spPr bwMode="auto">
            <a:xfrm>
              <a:off x="50911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5" name="AutoShape 27"/>
            <p:cNvSpPr>
              <a:spLocks noChangeArrowheads="1"/>
            </p:cNvSpPr>
            <p:nvPr/>
          </p:nvSpPr>
          <p:spPr bwMode="auto">
            <a:xfrm>
              <a:off x="37957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</p:grpSp>
      <p:sp>
        <p:nvSpPr>
          <p:cNvPr id="36" name="Text Box 26"/>
          <p:cNvSpPr txBox="1">
            <a:spLocks noChangeArrowheads="1"/>
          </p:cNvSpPr>
          <p:nvPr/>
        </p:nvSpPr>
        <p:spPr bwMode="auto">
          <a:xfrm>
            <a:off x="6096000" y="4437702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0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0,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7860442" y="4461321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9601200" y="4437702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7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7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11201400" y="4437702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0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0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8</a:t>
            </a:r>
          </a:p>
        </p:txBody>
      </p:sp>
      <p:pic>
        <p:nvPicPr>
          <p:cNvPr id="40" name="Picture 7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31443" y="2456502"/>
            <a:ext cx="312737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Picture 7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83643" y="3370902"/>
            <a:ext cx="3429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4902543" y="4437702"/>
            <a:ext cx="342900" cy="304800"/>
            <a:chOff x="4610100" y="4038600"/>
            <a:chExt cx="342900" cy="304800"/>
          </a:xfrm>
        </p:grpSpPr>
        <p:sp>
          <p:nvSpPr>
            <p:cNvPr id="2" name="Rectangle 1"/>
            <p:cNvSpPr/>
            <p:nvPr/>
          </p:nvSpPr>
          <p:spPr>
            <a:xfrm>
              <a:off x="4629150" y="4038600"/>
              <a:ext cx="304800" cy="304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74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610100" y="4038600"/>
              <a:ext cx="342900" cy="2968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3"/>
          <p:cNvGrpSpPr/>
          <p:nvPr/>
        </p:nvGrpSpPr>
        <p:grpSpPr>
          <a:xfrm>
            <a:off x="4864443" y="6342702"/>
            <a:ext cx="901700" cy="304800"/>
            <a:chOff x="4572000" y="5943600"/>
            <a:chExt cx="901700" cy="304800"/>
          </a:xfrm>
        </p:grpSpPr>
        <p:pic>
          <p:nvPicPr>
            <p:cNvPr id="43" name="Picture 7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72000" y="5965825"/>
              <a:ext cx="312737" cy="28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4" name="Picture 7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1400" y="5981700"/>
              <a:ext cx="342900" cy="266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8" name="Group 47"/>
            <p:cNvGrpSpPr/>
            <p:nvPr/>
          </p:nvGrpSpPr>
          <p:grpSpPr>
            <a:xfrm>
              <a:off x="5130800" y="5943600"/>
              <a:ext cx="342900" cy="304800"/>
              <a:chOff x="4610100" y="4038600"/>
              <a:chExt cx="342900" cy="304800"/>
            </a:xfrm>
          </p:grpSpPr>
          <p:sp>
            <p:nvSpPr>
              <p:cNvPr id="49" name="Rectangle 48"/>
              <p:cNvSpPr/>
              <p:nvPr/>
            </p:nvSpPr>
            <p:spPr>
              <a:xfrm>
                <a:off x="4629150" y="4038600"/>
                <a:ext cx="304800" cy="304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0" name="Picture 74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4610100" y="4038600"/>
                <a:ext cx="342900" cy="2968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51" name="Text Box 27"/>
          <p:cNvSpPr txBox="1">
            <a:spLocks noChangeArrowheads="1"/>
          </p:cNvSpPr>
          <p:nvPr/>
        </p:nvSpPr>
        <p:spPr bwMode="auto">
          <a:xfrm>
            <a:off x="6921843" y="3294702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2" name="Text Box 29"/>
          <p:cNvSpPr txBox="1">
            <a:spLocks noChangeArrowheads="1"/>
          </p:cNvSpPr>
          <p:nvPr/>
        </p:nvSpPr>
        <p:spPr bwMode="auto">
          <a:xfrm>
            <a:off x="10363200" y="3294702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7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7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8610600" y="2380302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4" name="Right Arrow 53"/>
          <p:cNvSpPr/>
          <p:nvPr/>
        </p:nvSpPr>
        <p:spPr>
          <a:xfrm rot="9723016">
            <a:off x="7014201" y="2834983"/>
            <a:ext cx="1066800" cy="304800"/>
          </a:xfrm>
          <a:prstGeom prst="rightArrow">
            <a:avLst/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2673699">
            <a:off x="6662414" y="3938111"/>
            <a:ext cx="876353" cy="313382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2150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81975" y="2286000"/>
            <a:ext cx="3542823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525963"/>
          </a:xfrm>
        </p:spPr>
        <p:txBody>
          <a:bodyPr anchor="ctr">
            <a:normAutofit fontScale="92500" lnSpcReduction="20000"/>
          </a:bodyPr>
          <a:lstStyle/>
          <a:p>
            <a:pPr marL="566737" indent="-457200">
              <a:lnSpc>
                <a:spcPct val="150000"/>
              </a:lnSpc>
              <a:spcBef>
                <a:spcPts val="1200"/>
              </a:spcBef>
              <a:defRPr/>
            </a:pPr>
            <a:r>
              <a:rPr lang="zh-CN" altLang="en-US" sz="2800" u="sng" dirty="0">
                <a:solidFill>
                  <a:srgbClr val="CC0099"/>
                </a:solidFill>
              </a:rPr>
              <a:t>完备性</a:t>
            </a:r>
            <a:r>
              <a:rPr lang="en-US" altLang="zh-CN" sz="2800" u="sng" dirty="0">
                <a:solidFill>
                  <a:srgbClr val="CC0099"/>
                </a:solidFill>
                <a:ea typeface="等线 Light" panose="02010600030101010101" pitchFamily="2" charset="-122"/>
              </a:rPr>
              <a:t>?</a:t>
            </a:r>
            <a:r>
              <a:rPr lang="en-US" altLang="zh-CN" sz="2800" dirty="0">
                <a:ea typeface="等线 Light" panose="02010600030101010101" pitchFamily="2" charset="-122"/>
              </a:rPr>
              <a:t> Yes (if tree is finite)</a:t>
            </a:r>
          </a:p>
          <a:p>
            <a:pPr marL="566737" indent="-457200">
              <a:lnSpc>
                <a:spcPct val="150000"/>
              </a:lnSpc>
              <a:spcBef>
                <a:spcPts val="1200"/>
              </a:spcBef>
              <a:defRPr/>
            </a:pPr>
            <a:r>
              <a:rPr lang="zh-CN" altLang="en-US" sz="2800" u="sng" dirty="0">
                <a:solidFill>
                  <a:srgbClr val="CC0099"/>
                </a:solidFill>
              </a:rPr>
              <a:t>最优性</a:t>
            </a:r>
            <a:r>
              <a:rPr lang="en-US" altLang="zh-CN" sz="2800" u="sng" dirty="0">
                <a:solidFill>
                  <a:srgbClr val="CC0099"/>
                </a:solidFill>
              </a:rPr>
              <a:t>? </a:t>
            </a:r>
            <a:r>
              <a:rPr lang="en-US" altLang="zh-CN" sz="2800" dirty="0">
                <a:ea typeface="等线 Light" panose="02010600030101010101" pitchFamily="2" charset="-122"/>
              </a:rPr>
              <a:t>Yes (against an optimal opponent)</a:t>
            </a:r>
          </a:p>
          <a:p>
            <a:pPr marL="566737" indent="-457200">
              <a:lnSpc>
                <a:spcPct val="150000"/>
              </a:lnSpc>
              <a:spcBef>
                <a:spcPts val="1200"/>
              </a:spcBef>
              <a:defRPr/>
            </a:pPr>
            <a:r>
              <a:rPr lang="zh-CN" altLang="en-US" sz="2800" u="sng" dirty="0">
                <a:solidFill>
                  <a:srgbClr val="CC0099"/>
                </a:solidFill>
              </a:rPr>
              <a:t>时间复杂度</a:t>
            </a:r>
            <a:r>
              <a:rPr lang="en-US" altLang="zh-CN" sz="2800" u="sng" dirty="0">
                <a:solidFill>
                  <a:srgbClr val="CC0099"/>
                </a:solidFill>
              </a:rPr>
              <a:t>? </a:t>
            </a:r>
            <a:r>
              <a:rPr lang="en-US" altLang="zh-CN" sz="2800" dirty="0">
                <a:ea typeface="等线 Light" panose="02010600030101010101" pitchFamily="2" charset="-122"/>
              </a:rPr>
              <a:t>O(</a:t>
            </a:r>
            <a:r>
              <a:rPr lang="en-US" altLang="zh-CN" sz="2800" dirty="0" err="1">
                <a:ea typeface="等线 Light" panose="02010600030101010101" pitchFamily="2" charset="-122"/>
              </a:rPr>
              <a:t>b</a:t>
            </a:r>
            <a:r>
              <a:rPr lang="en-US" altLang="zh-CN" sz="2800" baseline="30000" dirty="0" err="1">
                <a:ea typeface="等线 Light" panose="02010600030101010101" pitchFamily="2" charset="-122"/>
              </a:rPr>
              <a:t>m</a:t>
            </a:r>
            <a:r>
              <a:rPr lang="en-US" altLang="zh-CN" sz="2800" dirty="0">
                <a:ea typeface="等线 Light" panose="02010600030101010101" pitchFamily="2" charset="-122"/>
              </a:rPr>
              <a:t>)  (b: </a:t>
            </a:r>
            <a:r>
              <a:rPr lang="zh-CN" altLang="en-US" sz="2800" dirty="0">
                <a:ea typeface="等线 Light" panose="02010600030101010101" pitchFamily="2" charset="-122"/>
              </a:rPr>
              <a:t>分支因子</a:t>
            </a:r>
            <a:r>
              <a:rPr lang="en-US" altLang="zh-CN" sz="2800" dirty="0">
                <a:ea typeface="等线 Light" panose="02010600030101010101" pitchFamily="2" charset="-122"/>
              </a:rPr>
              <a:t>; m:</a:t>
            </a:r>
            <a:r>
              <a:rPr lang="zh-CN" altLang="en-US" sz="2800" dirty="0">
                <a:ea typeface="等线 Light" panose="02010600030101010101" pitchFamily="2" charset="-122"/>
              </a:rPr>
              <a:t>最大树的深度</a:t>
            </a:r>
            <a:r>
              <a:rPr lang="en-US" altLang="zh-CN" sz="2800" dirty="0">
                <a:ea typeface="等线 Light" panose="02010600030101010101" pitchFamily="2" charset="-122"/>
              </a:rPr>
              <a:t>)</a:t>
            </a:r>
          </a:p>
          <a:p>
            <a:pPr marL="566737" indent="-457200">
              <a:lnSpc>
                <a:spcPct val="150000"/>
              </a:lnSpc>
              <a:spcBef>
                <a:spcPts val="1200"/>
              </a:spcBef>
              <a:defRPr/>
            </a:pPr>
            <a:r>
              <a:rPr lang="zh-CN" altLang="en-US" sz="2800" u="sng" dirty="0">
                <a:solidFill>
                  <a:srgbClr val="CC0099"/>
                </a:solidFill>
              </a:rPr>
              <a:t>空间复杂度</a:t>
            </a:r>
            <a:r>
              <a:rPr lang="en-US" altLang="zh-CN" sz="2800" u="sng" dirty="0">
                <a:solidFill>
                  <a:srgbClr val="CC0099"/>
                </a:solidFill>
              </a:rPr>
              <a:t>? </a:t>
            </a:r>
            <a:r>
              <a:rPr lang="en-US" altLang="zh-CN" sz="2800" dirty="0">
                <a:ea typeface="等线 Light" panose="02010600030101010101" pitchFamily="2" charset="-122"/>
              </a:rPr>
              <a:t>O(bm) (depth-first exploration)</a:t>
            </a:r>
          </a:p>
          <a:p>
            <a:pPr marL="109537" indent="0">
              <a:spcBef>
                <a:spcPts val="1200"/>
              </a:spcBef>
              <a:buNone/>
              <a:defRPr/>
            </a:pPr>
            <a:r>
              <a:rPr lang="en-US" altLang="zh-CN" sz="2800" dirty="0">
                <a:latin typeface="等线 Light" panose="02010600030101010101" pitchFamily="2" charset="-122"/>
                <a:ea typeface="等线 Light" panose="02010600030101010101" pitchFamily="2" charset="-122"/>
              </a:rPr>
              <a:t>	</a:t>
            </a:r>
          </a:p>
          <a:p>
            <a:pPr lvl="0">
              <a:lnSpc>
                <a:spcPct val="90000"/>
              </a:lnSpc>
              <a:buClr>
                <a:srgbClr val="333399"/>
              </a:buClr>
            </a:pPr>
            <a:r>
              <a:rPr lang="en-US" altLang="zh-CN" sz="2800" dirty="0">
                <a:solidFill>
                  <a:srgbClr val="333399"/>
                </a:solidFill>
              </a:rPr>
              <a:t>Example: </a:t>
            </a:r>
            <a:r>
              <a:rPr lang="zh-CN" altLang="en-US" sz="2800" dirty="0">
                <a:solidFill>
                  <a:srgbClr val="333399"/>
                </a:solidFill>
              </a:rPr>
              <a:t>象棋 </a:t>
            </a:r>
            <a:r>
              <a:rPr lang="en-US" altLang="zh-CN" sz="2800" kern="1200" dirty="0">
                <a:solidFill>
                  <a:srgbClr val="333399"/>
                </a:solidFill>
              </a:rPr>
              <a:t> b </a:t>
            </a:r>
            <a:r>
              <a:rPr lang="en-US" altLang="zh-CN" sz="2800" kern="1200" dirty="0">
                <a:solidFill>
                  <a:srgbClr val="333399"/>
                </a:solidFill>
                <a:sym typeface="Symbol" pitchFamily="18" charset="2"/>
              </a:rPr>
              <a:t> 35, m  100</a:t>
            </a:r>
            <a:endParaRPr lang="en-US" altLang="zh-CN" sz="2800" dirty="0">
              <a:solidFill>
                <a:srgbClr val="333399"/>
              </a:solidFill>
            </a:endParaRPr>
          </a:p>
          <a:p>
            <a:pPr marL="800082" lvl="1" indent="-342882">
              <a:lnSpc>
                <a:spcPct val="150000"/>
              </a:lnSpc>
              <a:buClrTx/>
            </a:pPr>
            <a:r>
              <a:rPr lang="zh-CN" altLang="en-US" sz="2400" dirty="0">
                <a:solidFill>
                  <a:srgbClr val="000000"/>
                </a:solidFill>
              </a:rPr>
              <a:t>不可能精确求解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800082" lvl="1" indent="-342882">
              <a:lnSpc>
                <a:spcPct val="150000"/>
              </a:lnSpc>
              <a:buClrTx/>
            </a:pPr>
            <a:r>
              <a:rPr lang="zh-CN" altLang="en-US" sz="2400" dirty="0">
                <a:solidFill>
                  <a:srgbClr val="000000"/>
                </a:solidFill>
              </a:rPr>
              <a:t>问题：是否有必要探索整棵树？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21749" y="147241"/>
            <a:ext cx="8642350" cy="792162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zh-CN" altLang="en-US" sz="4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极小极大算法性能</a:t>
            </a:r>
            <a:endParaRPr lang="en-US" altLang="zh-CN" sz="40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14909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9400" y="1448322"/>
            <a:ext cx="6723063" cy="441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博弈树剪枝</a:t>
            </a:r>
            <a:r>
              <a:rPr lang="en-US" dirty="0"/>
              <a:t>Pruning</a:t>
            </a:r>
          </a:p>
        </p:txBody>
      </p:sp>
    </p:spTree>
    <p:extLst>
      <p:ext uri="{BB962C8B-B14F-4D97-AF65-F5344CB8AC3E}">
        <p14:creationId xmlns:p14="http://schemas.microsoft.com/office/powerpoint/2010/main" val="3698979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/>
            <p:cNvSpPr/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/>
            <p:cNvSpPr/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/>
            <p:cNvSpPr/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/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/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/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/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/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/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/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/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/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/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/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/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/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/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grpSp>
        <p:nvGrpSpPr>
          <p:cNvPr id="26" name="PA_组合 25"/>
          <p:cNvGrpSpPr/>
          <p:nvPr>
            <p:custDataLst>
              <p:tags r:id="rId1"/>
            </p:custDataLst>
          </p:nvPr>
        </p:nvGrpSpPr>
        <p:grpSpPr>
          <a:xfrm>
            <a:off x="1394367" y="2038049"/>
            <a:ext cx="2855980" cy="950256"/>
            <a:chOff x="422953" y="1892526"/>
            <a:chExt cx="2855980" cy="950256"/>
          </a:xfrm>
        </p:grpSpPr>
        <p:sp>
          <p:nvSpPr>
            <p:cNvPr id="24" name="文本框 23"/>
            <p:cNvSpPr txBox="1"/>
            <p:nvPr/>
          </p:nvSpPr>
          <p:spPr>
            <a:xfrm>
              <a:off x="750437" y="2114249"/>
              <a:ext cx="2339102" cy="728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400" b="1" dirty="0">
                  <a:solidFill>
                    <a:srgbClr val="24569D"/>
                  </a:solidFill>
                </a:rPr>
                <a:t>博弈论相关概念</a:t>
              </a:r>
              <a:endParaRPr lang="en-US" altLang="zh-CN" sz="2400" b="1" dirty="0">
                <a:solidFill>
                  <a:srgbClr val="24569D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22953" y="1892526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8502923" y="4920321"/>
            <a:ext cx="2646878" cy="590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SzPct val="90000"/>
              <a:defRPr/>
            </a:pPr>
            <a:r>
              <a:rPr lang="zh-CN" altLang="en-US" sz="2400" b="1" dirty="0">
                <a:solidFill>
                  <a:srgbClr val="24569D"/>
                </a:solidFill>
              </a:rPr>
              <a:t>不完美的实时决策</a:t>
            </a:r>
            <a:endParaRPr lang="en-US" altLang="zh-CN" sz="2400" b="1" dirty="0">
              <a:solidFill>
                <a:srgbClr val="24569D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5606" y="90262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目录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441833" y="2411796"/>
            <a:ext cx="2339102" cy="728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24569D"/>
                </a:solidFill>
              </a:rPr>
              <a:t>极小极大化算法</a:t>
            </a:r>
          </a:p>
        </p:txBody>
      </p:sp>
      <p:sp>
        <p:nvSpPr>
          <p:cNvPr id="29" name="矩形 28"/>
          <p:cNvSpPr/>
          <p:nvPr/>
        </p:nvSpPr>
        <p:spPr>
          <a:xfrm>
            <a:off x="1648515" y="4869981"/>
            <a:ext cx="14141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α-β </a:t>
            </a:r>
            <a:r>
              <a:rPr lang="zh-CN" altLang="en-US" sz="2400" b="1" dirty="0">
                <a:solidFill>
                  <a:srgbClr val="FF0000"/>
                </a:solidFill>
              </a:rPr>
              <a:t>剪枝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224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 txBox="1">
            <a:spLocks noChangeArrowheads="1"/>
          </p:cNvSpPr>
          <p:nvPr/>
        </p:nvSpPr>
        <p:spPr>
          <a:xfrm>
            <a:off x="1981200" y="-12010"/>
            <a:ext cx="8229600" cy="1143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α-β</a:t>
            </a:r>
            <a:r>
              <a:rPr lang="zh-CN" altLang="en-US" dirty="0"/>
              <a:t>剪枝</a:t>
            </a:r>
            <a:endParaRPr lang="en-US" altLang="zh-CN" dirty="0"/>
          </a:p>
        </p:txBody>
      </p:sp>
      <p:grpSp>
        <p:nvGrpSpPr>
          <p:cNvPr id="29699" name="Group 1027"/>
          <p:cNvGrpSpPr>
            <a:grpSpLocks/>
          </p:cNvGrpSpPr>
          <p:nvPr/>
        </p:nvGrpSpPr>
        <p:grpSpPr bwMode="auto">
          <a:xfrm>
            <a:off x="6248400" y="1524000"/>
            <a:ext cx="1098550" cy="914400"/>
            <a:chOff x="2976" y="960"/>
            <a:chExt cx="692" cy="576"/>
          </a:xfrm>
        </p:grpSpPr>
        <p:grpSp>
          <p:nvGrpSpPr>
            <p:cNvPr id="29712" name="Group 1028"/>
            <p:cNvGrpSpPr>
              <a:grpSpLocks/>
            </p:cNvGrpSpPr>
            <p:nvPr/>
          </p:nvGrpSpPr>
          <p:grpSpPr bwMode="auto">
            <a:xfrm>
              <a:off x="2976" y="960"/>
              <a:ext cx="576" cy="576"/>
              <a:chOff x="2112" y="1152"/>
              <a:chExt cx="576" cy="576"/>
            </a:xfrm>
          </p:grpSpPr>
          <p:sp>
            <p:nvSpPr>
              <p:cNvPr id="29714" name="Rectangle 1029"/>
              <p:cNvSpPr>
                <a:spLocks noChangeArrowheads="1"/>
              </p:cNvSpPr>
              <p:nvPr/>
            </p:nvSpPr>
            <p:spPr bwMode="auto">
              <a:xfrm>
                <a:off x="2112" y="1152"/>
                <a:ext cx="576" cy="576"/>
              </a:xfrm>
              <a:prstGeom prst="rect">
                <a:avLst/>
              </a:prstGeom>
              <a:solidFill>
                <a:srgbClr val="DCFFB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15" name="Line 1030"/>
              <p:cNvSpPr>
                <a:spLocks noChangeShapeType="1"/>
              </p:cNvSpPr>
              <p:nvPr/>
            </p:nvSpPr>
            <p:spPr bwMode="auto">
              <a:xfrm>
                <a:off x="2304" y="1152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16" name="Line 1031"/>
              <p:cNvSpPr>
                <a:spLocks noChangeShapeType="1"/>
              </p:cNvSpPr>
              <p:nvPr/>
            </p:nvSpPr>
            <p:spPr bwMode="auto">
              <a:xfrm>
                <a:off x="2496" y="1152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17" name="Line 1032"/>
              <p:cNvSpPr>
                <a:spLocks noChangeShapeType="1"/>
              </p:cNvSpPr>
              <p:nvPr/>
            </p:nvSpPr>
            <p:spPr bwMode="auto">
              <a:xfrm>
                <a:off x="2112" y="134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18" name="Line 1033"/>
              <p:cNvSpPr>
                <a:spLocks noChangeShapeType="1"/>
              </p:cNvSpPr>
              <p:nvPr/>
            </p:nvSpPr>
            <p:spPr bwMode="auto">
              <a:xfrm>
                <a:off x="2112" y="153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9713" name="Text Box 1034"/>
            <p:cNvSpPr txBox="1">
              <a:spLocks noChangeArrowheads="1"/>
            </p:cNvSpPr>
            <p:nvPr/>
          </p:nvSpPr>
          <p:spPr bwMode="auto">
            <a:xfrm>
              <a:off x="3552" y="1062"/>
              <a:ext cx="11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zh-CN" altLang="en-US" sz="360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</p:grpSp>
      <p:grpSp>
        <p:nvGrpSpPr>
          <p:cNvPr id="5" name="Group 1050"/>
          <p:cNvGrpSpPr>
            <a:grpSpLocks/>
          </p:cNvGrpSpPr>
          <p:nvPr/>
        </p:nvGrpSpPr>
        <p:grpSpPr bwMode="auto">
          <a:xfrm>
            <a:off x="3962400" y="2438400"/>
            <a:ext cx="2743200" cy="1524000"/>
            <a:chOff x="1536" y="1536"/>
            <a:chExt cx="1728" cy="960"/>
          </a:xfrm>
        </p:grpSpPr>
        <p:sp>
          <p:nvSpPr>
            <p:cNvPr id="29701" name="Line 1037"/>
            <p:cNvSpPr>
              <a:spLocks noChangeShapeType="1"/>
            </p:cNvSpPr>
            <p:nvPr/>
          </p:nvSpPr>
          <p:spPr bwMode="auto">
            <a:xfrm flipH="1">
              <a:off x="1824" y="1536"/>
              <a:ext cx="14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9702" name="Group 1049"/>
            <p:cNvGrpSpPr>
              <a:grpSpLocks/>
            </p:cNvGrpSpPr>
            <p:nvPr/>
          </p:nvGrpSpPr>
          <p:grpSpPr bwMode="auto">
            <a:xfrm>
              <a:off x="1536" y="1920"/>
              <a:ext cx="576" cy="576"/>
              <a:chOff x="1536" y="1920"/>
              <a:chExt cx="576" cy="576"/>
            </a:xfrm>
          </p:grpSpPr>
          <p:grpSp>
            <p:nvGrpSpPr>
              <p:cNvPr id="29703" name="Group 1039"/>
              <p:cNvGrpSpPr>
                <a:grpSpLocks/>
              </p:cNvGrpSpPr>
              <p:nvPr/>
            </p:nvGrpSpPr>
            <p:grpSpPr bwMode="auto">
              <a:xfrm>
                <a:off x="1536" y="1920"/>
                <a:ext cx="576" cy="576"/>
                <a:chOff x="2112" y="1152"/>
                <a:chExt cx="576" cy="576"/>
              </a:xfrm>
            </p:grpSpPr>
            <p:sp>
              <p:nvSpPr>
                <p:cNvPr id="29707" name="Rectangle 1040"/>
                <p:cNvSpPr>
                  <a:spLocks noChangeArrowheads="1"/>
                </p:cNvSpPr>
                <p:nvPr/>
              </p:nvSpPr>
              <p:spPr bwMode="auto">
                <a:xfrm>
                  <a:off x="2112" y="1152"/>
                  <a:ext cx="576" cy="576"/>
                </a:xfrm>
                <a:prstGeom prst="rect">
                  <a:avLst/>
                </a:prstGeom>
                <a:solidFill>
                  <a:srgbClr val="F0E09A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08" name="Line 1041"/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9709" name="Line 1042"/>
                <p:cNvSpPr>
                  <a:spLocks noChangeShapeType="1"/>
                </p:cNvSpPr>
                <p:nvPr/>
              </p:nvSpPr>
              <p:spPr bwMode="auto">
                <a:xfrm>
                  <a:off x="2496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9710" name="Line 1043"/>
                <p:cNvSpPr>
                  <a:spLocks noChangeShapeType="1"/>
                </p:cNvSpPr>
                <p:nvPr/>
              </p:nvSpPr>
              <p:spPr bwMode="auto">
                <a:xfrm>
                  <a:off x="2112" y="1344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9711" name="Line 1044"/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04" name="Group 1045"/>
              <p:cNvGrpSpPr>
                <a:grpSpLocks/>
              </p:cNvGrpSpPr>
              <p:nvPr/>
            </p:nvGrpSpPr>
            <p:grpSpPr bwMode="auto">
              <a:xfrm>
                <a:off x="1728" y="2112"/>
                <a:ext cx="192" cy="192"/>
                <a:chOff x="576" y="2112"/>
                <a:chExt cx="192" cy="192"/>
              </a:xfrm>
            </p:grpSpPr>
            <p:sp>
              <p:nvSpPr>
                <p:cNvPr id="29705" name="Line 1046"/>
                <p:cNvSpPr>
                  <a:spLocks noChangeShapeType="1"/>
                </p:cNvSpPr>
                <p:nvPr/>
              </p:nvSpPr>
              <p:spPr bwMode="auto">
                <a:xfrm>
                  <a:off x="576" y="2112"/>
                  <a:ext cx="192" cy="192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9706" name="Line 1047"/>
                <p:cNvSpPr>
                  <a:spLocks noChangeShapeType="1"/>
                </p:cNvSpPr>
                <p:nvPr/>
              </p:nvSpPr>
              <p:spPr bwMode="auto">
                <a:xfrm flipV="1">
                  <a:off x="576" y="2112"/>
                  <a:ext cx="192" cy="192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609600" y="14478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568324" y="29453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4151141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 txBox="1">
            <a:spLocks noChangeArrowheads="1"/>
          </p:cNvSpPr>
          <p:nvPr/>
        </p:nvSpPr>
        <p:spPr>
          <a:xfrm>
            <a:off x="1981200" y="-73508"/>
            <a:ext cx="8229600" cy="1143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α-β</a:t>
            </a:r>
            <a:r>
              <a:rPr lang="zh-CN" altLang="en-US" dirty="0"/>
              <a:t>剪枝</a:t>
            </a:r>
            <a:endParaRPr lang="en-US" altLang="zh-CN" dirty="0"/>
          </a:p>
        </p:txBody>
      </p:sp>
      <p:grpSp>
        <p:nvGrpSpPr>
          <p:cNvPr id="30723" name="Group 1027"/>
          <p:cNvGrpSpPr>
            <a:grpSpLocks/>
          </p:cNvGrpSpPr>
          <p:nvPr/>
        </p:nvGrpSpPr>
        <p:grpSpPr bwMode="auto">
          <a:xfrm>
            <a:off x="6248400" y="1524000"/>
            <a:ext cx="1098550" cy="914400"/>
            <a:chOff x="2976" y="960"/>
            <a:chExt cx="692" cy="576"/>
          </a:xfrm>
        </p:grpSpPr>
        <p:grpSp>
          <p:nvGrpSpPr>
            <p:cNvPr id="30752" name="Group 1028"/>
            <p:cNvGrpSpPr>
              <a:grpSpLocks/>
            </p:cNvGrpSpPr>
            <p:nvPr/>
          </p:nvGrpSpPr>
          <p:grpSpPr bwMode="auto">
            <a:xfrm>
              <a:off x="2976" y="960"/>
              <a:ext cx="576" cy="576"/>
              <a:chOff x="2112" y="1152"/>
              <a:chExt cx="576" cy="576"/>
            </a:xfrm>
          </p:grpSpPr>
          <p:sp>
            <p:nvSpPr>
              <p:cNvPr id="30754" name="Rectangle 1029"/>
              <p:cNvSpPr>
                <a:spLocks noChangeArrowheads="1"/>
              </p:cNvSpPr>
              <p:nvPr/>
            </p:nvSpPr>
            <p:spPr bwMode="auto">
              <a:xfrm>
                <a:off x="2112" y="1152"/>
                <a:ext cx="576" cy="576"/>
              </a:xfrm>
              <a:prstGeom prst="rect">
                <a:avLst/>
              </a:prstGeom>
              <a:solidFill>
                <a:srgbClr val="DCFFB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55" name="Line 1030"/>
              <p:cNvSpPr>
                <a:spLocks noChangeShapeType="1"/>
              </p:cNvSpPr>
              <p:nvPr/>
            </p:nvSpPr>
            <p:spPr bwMode="auto">
              <a:xfrm>
                <a:off x="2304" y="1152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56" name="Line 1031"/>
              <p:cNvSpPr>
                <a:spLocks noChangeShapeType="1"/>
              </p:cNvSpPr>
              <p:nvPr/>
            </p:nvSpPr>
            <p:spPr bwMode="auto">
              <a:xfrm>
                <a:off x="2496" y="1152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57" name="Line 1032"/>
              <p:cNvSpPr>
                <a:spLocks noChangeShapeType="1"/>
              </p:cNvSpPr>
              <p:nvPr/>
            </p:nvSpPr>
            <p:spPr bwMode="auto">
              <a:xfrm>
                <a:off x="2112" y="134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758" name="Line 1033"/>
              <p:cNvSpPr>
                <a:spLocks noChangeShapeType="1"/>
              </p:cNvSpPr>
              <p:nvPr/>
            </p:nvSpPr>
            <p:spPr bwMode="auto">
              <a:xfrm>
                <a:off x="2112" y="153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0753" name="Text Box 1034"/>
            <p:cNvSpPr txBox="1">
              <a:spLocks noChangeArrowheads="1"/>
            </p:cNvSpPr>
            <p:nvPr/>
          </p:nvSpPr>
          <p:spPr bwMode="auto">
            <a:xfrm>
              <a:off x="3552" y="1062"/>
              <a:ext cx="11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zh-CN" altLang="en-US" sz="360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</p:grpSp>
      <p:sp>
        <p:nvSpPr>
          <p:cNvPr id="11" name="Text Box 1047"/>
          <p:cNvSpPr txBox="1">
            <a:spLocks noChangeArrowheads="1"/>
          </p:cNvSpPr>
          <p:nvPr/>
        </p:nvSpPr>
        <p:spPr bwMode="auto">
          <a:xfrm>
            <a:off x="4953001" y="3363913"/>
            <a:ext cx="873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Symbol" pitchFamily="18" charset="2"/>
              </a:rPr>
              <a:t>b</a:t>
            </a:r>
            <a:r>
              <a:rPr lang="en-US" altLang="zh-CN" sz="2400">
                <a:solidFill>
                  <a:srgbClr val="FF3300"/>
                </a:solidFill>
                <a:latin typeface="Comic Sans MS" pitchFamily="66" charset="0"/>
              </a:rPr>
              <a:t> = 2</a:t>
            </a:r>
            <a:endParaRPr lang="en-US" altLang="zh-CN" sz="3600">
              <a:solidFill>
                <a:srgbClr val="FF3300"/>
              </a:solidFill>
              <a:latin typeface="Comic Sans MS" pitchFamily="66" charset="0"/>
              <a:cs typeface="Times New Roman" pitchFamily="18" charset="0"/>
              <a:sym typeface="Symbol" pitchFamily="18" charset="2"/>
            </a:endParaRPr>
          </a:p>
        </p:txBody>
      </p:sp>
      <p:grpSp>
        <p:nvGrpSpPr>
          <p:cNvPr id="5" name="Group 1077"/>
          <p:cNvGrpSpPr>
            <a:grpSpLocks/>
          </p:cNvGrpSpPr>
          <p:nvPr/>
        </p:nvGrpSpPr>
        <p:grpSpPr bwMode="auto">
          <a:xfrm>
            <a:off x="2438400" y="3962400"/>
            <a:ext cx="1981200" cy="1993900"/>
            <a:chOff x="576" y="2496"/>
            <a:chExt cx="1248" cy="1256"/>
          </a:xfrm>
        </p:grpSpPr>
        <p:grpSp>
          <p:nvGrpSpPr>
            <p:cNvPr id="30739" name="Group 1076"/>
            <p:cNvGrpSpPr>
              <a:grpSpLocks/>
            </p:cNvGrpSpPr>
            <p:nvPr/>
          </p:nvGrpSpPr>
          <p:grpSpPr bwMode="auto">
            <a:xfrm>
              <a:off x="576" y="2880"/>
              <a:ext cx="576" cy="576"/>
              <a:chOff x="576" y="2880"/>
              <a:chExt cx="576" cy="576"/>
            </a:xfrm>
          </p:grpSpPr>
          <p:grpSp>
            <p:nvGrpSpPr>
              <p:cNvPr id="30742" name="Group 1051"/>
              <p:cNvGrpSpPr>
                <a:grpSpLocks/>
              </p:cNvGrpSpPr>
              <p:nvPr/>
            </p:nvGrpSpPr>
            <p:grpSpPr bwMode="auto">
              <a:xfrm>
                <a:off x="576" y="2880"/>
                <a:ext cx="576" cy="576"/>
                <a:chOff x="2112" y="1152"/>
                <a:chExt cx="576" cy="576"/>
              </a:xfrm>
            </p:grpSpPr>
            <p:sp>
              <p:nvSpPr>
                <p:cNvPr id="30747" name="Rectangle 1052"/>
                <p:cNvSpPr>
                  <a:spLocks noChangeArrowheads="1"/>
                </p:cNvSpPr>
                <p:nvPr/>
              </p:nvSpPr>
              <p:spPr bwMode="auto">
                <a:xfrm>
                  <a:off x="2112" y="1152"/>
                  <a:ext cx="576" cy="576"/>
                </a:xfrm>
                <a:prstGeom prst="rect">
                  <a:avLst/>
                </a:prstGeom>
                <a:solidFill>
                  <a:srgbClr val="DCFFB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748" name="Line 1053"/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0749" name="Line 1054"/>
                <p:cNvSpPr>
                  <a:spLocks noChangeShapeType="1"/>
                </p:cNvSpPr>
                <p:nvPr/>
              </p:nvSpPr>
              <p:spPr bwMode="auto">
                <a:xfrm>
                  <a:off x="2496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0750" name="Line 1055"/>
                <p:cNvSpPr>
                  <a:spLocks noChangeShapeType="1"/>
                </p:cNvSpPr>
                <p:nvPr/>
              </p:nvSpPr>
              <p:spPr bwMode="auto">
                <a:xfrm>
                  <a:off x="2112" y="1344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0751" name="Line 1056"/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743" name="Group 1057"/>
              <p:cNvGrpSpPr>
                <a:grpSpLocks/>
              </p:cNvGrpSpPr>
              <p:nvPr/>
            </p:nvGrpSpPr>
            <p:grpSpPr bwMode="auto">
              <a:xfrm>
                <a:off x="768" y="3072"/>
                <a:ext cx="192" cy="192"/>
                <a:chOff x="576" y="2112"/>
                <a:chExt cx="192" cy="192"/>
              </a:xfrm>
            </p:grpSpPr>
            <p:sp>
              <p:nvSpPr>
                <p:cNvPr id="30745" name="Line 1058"/>
                <p:cNvSpPr>
                  <a:spLocks noChangeShapeType="1"/>
                </p:cNvSpPr>
                <p:nvPr/>
              </p:nvSpPr>
              <p:spPr bwMode="auto">
                <a:xfrm>
                  <a:off x="576" y="2112"/>
                  <a:ext cx="192" cy="192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0746" name="Line 1059"/>
                <p:cNvSpPr>
                  <a:spLocks noChangeShapeType="1"/>
                </p:cNvSpPr>
                <p:nvPr/>
              </p:nvSpPr>
              <p:spPr bwMode="auto">
                <a:xfrm flipV="1">
                  <a:off x="576" y="2112"/>
                  <a:ext cx="192" cy="192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0744" name="Oval 1060"/>
              <p:cNvSpPr>
                <a:spLocks noChangeArrowheads="1"/>
              </p:cNvSpPr>
              <p:nvPr/>
            </p:nvSpPr>
            <p:spPr bwMode="auto">
              <a:xfrm>
                <a:off x="576" y="3072"/>
                <a:ext cx="192" cy="192"/>
              </a:xfrm>
              <a:prstGeom prst="ellipse">
                <a:avLst/>
              </a:pr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40" name="Line 1061"/>
            <p:cNvSpPr>
              <a:spLocks noChangeShapeType="1"/>
            </p:cNvSpPr>
            <p:nvPr/>
          </p:nvSpPr>
          <p:spPr bwMode="auto">
            <a:xfrm flipH="1">
              <a:off x="864" y="2496"/>
              <a:ext cx="96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1" name="Text Box 1062"/>
            <p:cNvSpPr txBox="1">
              <a:spLocks noChangeArrowheads="1"/>
            </p:cNvSpPr>
            <p:nvPr/>
          </p:nvSpPr>
          <p:spPr bwMode="auto">
            <a:xfrm>
              <a:off x="768" y="346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CC0066"/>
                  </a:solidFill>
                  <a:latin typeface="Comic Sans MS" pitchFamily="66" charset="0"/>
                </a:rPr>
                <a:t>2</a:t>
              </a:r>
            </a:p>
          </p:txBody>
        </p:sp>
      </p:grpSp>
      <p:grpSp>
        <p:nvGrpSpPr>
          <p:cNvPr id="30727" name="Group 1064"/>
          <p:cNvGrpSpPr>
            <a:grpSpLocks/>
          </p:cNvGrpSpPr>
          <p:nvPr/>
        </p:nvGrpSpPr>
        <p:grpSpPr bwMode="auto">
          <a:xfrm>
            <a:off x="3962400" y="2438400"/>
            <a:ext cx="2743200" cy="1524000"/>
            <a:chOff x="1536" y="1536"/>
            <a:chExt cx="1728" cy="960"/>
          </a:xfrm>
        </p:grpSpPr>
        <p:sp>
          <p:nvSpPr>
            <p:cNvPr id="30728" name="Line 1065"/>
            <p:cNvSpPr>
              <a:spLocks noChangeShapeType="1"/>
            </p:cNvSpPr>
            <p:nvPr/>
          </p:nvSpPr>
          <p:spPr bwMode="auto">
            <a:xfrm flipH="1">
              <a:off x="1824" y="1536"/>
              <a:ext cx="14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0729" name="Group 1066"/>
            <p:cNvGrpSpPr>
              <a:grpSpLocks/>
            </p:cNvGrpSpPr>
            <p:nvPr/>
          </p:nvGrpSpPr>
          <p:grpSpPr bwMode="auto">
            <a:xfrm>
              <a:off x="1536" y="1920"/>
              <a:ext cx="576" cy="576"/>
              <a:chOff x="1536" y="1920"/>
              <a:chExt cx="576" cy="576"/>
            </a:xfrm>
          </p:grpSpPr>
          <p:grpSp>
            <p:nvGrpSpPr>
              <p:cNvPr id="30730" name="Group 1067"/>
              <p:cNvGrpSpPr>
                <a:grpSpLocks/>
              </p:cNvGrpSpPr>
              <p:nvPr/>
            </p:nvGrpSpPr>
            <p:grpSpPr bwMode="auto">
              <a:xfrm>
                <a:off x="1536" y="1920"/>
                <a:ext cx="576" cy="576"/>
                <a:chOff x="2112" y="1152"/>
                <a:chExt cx="576" cy="576"/>
              </a:xfrm>
            </p:grpSpPr>
            <p:sp>
              <p:nvSpPr>
                <p:cNvPr id="30734" name="Rectangle 1068"/>
                <p:cNvSpPr>
                  <a:spLocks noChangeArrowheads="1"/>
                </p:cNvSpPr>
                <p:nvPr/>
              </p:nvSpPr>
              <p:spPr bwMode="auto">
                <a:xfrm>
                  <a:off x="2112" y="1152"/>
                  <a:ext cx="576" cy="576"/>
                </a:xfrm>
                <a:prstGeom prst="rect">
                  <a:avLst/>
                </a:prstGeom>
                <a:solidFill>
                  <a:srgbClr val="F0E09A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735" name="Line 1069"/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0736" name="Line 1070"/>
                <p:cNvSpPr>
                  <a:spLocks noChangeShapeType="1"/>
                </p:cNvSpPr>
                <p:nvPr/>
              </p:nvSpPr>
              <p:spPr bwMode="auto">
                <a:xfrm>
                  <a:off x="2496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0737" name="Line 1071"/>
                <p:cNvSpPr>
                  <a:spLocks noChangeShapeType="1"/>
                </p:cNvSpPr>
                <p:nvPr/>
              </p:nvSpPr>
              <p:spPr bwMode="auto">
                <a:xfrm>
                  <a:off x="2112" y="1344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0738" name="Line 1072"/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731" name="Group 1073"/>
              <p:cNvGrpSpPr>
                <a:grpSpLocks/>
              </p:cNvGrpSpPr>
              <p:nvPr/>
            </p:nvGrpSpPr>
            <p:grpSpPr bwMode="auto">
              <a:xfrm>
                <a:off x="1728" y="2112"/>
                <a:ext cx="192" cy="192"/>
                <a:chOff x="576" y="2112"/>
                <a:chExt cx="192" cy="192"/>
              </a:xfrm>
            </p:grpSpPr>
            <p:sp>
              <p:nvSpPr>
                <p:cNvPr id="30732" name="Line 1074"/>
                <p:cNvSpPr>
                  <a:spLocks noChangeShapeType="1"/>
                </p:cNvSpPr>
                <p:nvPr/>
              </p:nvSpPr>
              <p:spPr bwMode="auto">
                <a:xfrm>
                  <a:off x="576" y="2112"/>
                  <a:ext cx="192" cy="192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0733" name="Line 1075"/>
                <p:cNvSpPr>
                  <a:spLocks noChangeShapeType="1"/>
                </p:cNvSpPr>
                <p:nvPr/>
              </p:nvSpPr>
              <p:spPr bwMode="auto">
                <a:xfrm flipV="1">
                  <a:off x="576" y="2112"/>
                  <a:ext cx="192" cy="192"/>
                </a:xfrm>
                <a:prstGeom prst="lin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609600" y="14478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568324" y="29453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587125" y="48122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45" name="Text Box 1063"/>
          <p:cNvSpPr txBox="1">
            <a:spLocks noChangeArrowheads="1"/>
          </p:cNvSpPr>
          <p:nvPr/>
        </p:nvSpPr>
        <p:spPr bwMode="auto">
          <a:xfrm>
            <a:off x="5964621" y="3094062"/>
            <a:ext cx="5048177" cy="461665"/>
          </a:xfrm>
          <a:prstGeom prst="rect">
            <a:avLst/>
          </a:prstGeom>
          <a:solidFill>
            <a:srgbClr val="F6EDC6"/>
          </a:solidFill>
          <a:ln w="9525">
            <a:solidFill>
              <a:srgbClr val="99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Symbol" pitchFamily="18" charset="2"/>
              <a:buChar char="b"/>
            </a:pPr>
            <a:r>
              <a:rPr lang="zh-CN" altLang="en-US" sz="2400" dirty="0">
                <a:solidFill>
                  <a:schemeClr val="accent1">
                    <a:lumMod val="25000"/>
                  </a:schemeClr>
                </a:solidFill>
                <a:latin typeface="Comic Sans MS" pitchFamily="66" charset="0"/>
                <a:ea typeface="隶书" pitchFamily="49" charset="-122"/>
              </a:rPr>
              <a:t> 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值是</a:t>
            </a:r>
            <a:r>
              <a:rPr lang="en-US" altLang="zh-CN" sz="2400" dirty="0">
                <a:solidFill>
                  <a:schemeClr val="accent1">
                    <a:lumMod val="25000"/>
                  </a:schemeClr>
                </a:solidFill>
                <a:latin typeface="Comic Sans MS" pitchFamily="66" charset="0"/>
                <a:ea typeface="隶书" pitchFamily="49" charset="-122"/>
              </a:rPr>
              <a:t>MIN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节点的最佳</a:t>
            </a:r>
            <a:r>
              <a:rPr lang="en-US" altLang="zh-CN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(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极小值</a:t>
            </a:r>
            <a:r>
              <a:rPr lang="en-US" altLang="zh-CN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)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选择</a:t>
            </a:r>
            <a:endParaRPr lang="en-US" altLang="zh-CN" sz="2400" dirty="0">
              <a:solidFill>
                <a:srgbClr val="990000"/>
              </a:solidFill>
              <a:latin typeface="Comic Sans MS" pitchFamily="66" charset="0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6571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45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 txBox="1">
            <a:spLocks noChangeArrowheads="1"/>
          </p:cNvSpPr>
          <p:nvPr/>
        </p:nvSpPr>
        <p:spPr>
          <a:xfrm>
            <a:off x="1981200" y="38100"/>
            <a:ext cx="8229600" cy="1143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α-β</a:t>
            </a:r>
            <a:r>
              <a:rPr lang="zh-CN" altLang="en-US" dirty="0"/>
              <a:t>剪枝</a:t>
            </a:r>
            <a:endParaRPr lang="en-US" altLang="zh-CN" dirty="0"/>
          </a:p>
        </p:txBody>
      </p:sp>
      <p:grpSp>
        <p:nvGrpSpPr>
          <p:cNvPr id="31748" name="Group 1139"/>
          <p:cNvGrpSpPr>
            <a:grpSpLocks/>
          </p:cNvGrpSpPr>
          <p:nvPr/>
        </p:nvGrpSpPr>
        <p:grpSpPr bwMode="auto">
          <a:xfrm>
            <a:off x="2438400" y="1524000"/>
            <a:ext cx="4908550" cy="4432300"/>
            <a:chOff x="576" y="960"/>
            <a:chExt cx="3092" cy="2792"/>
          </a:xfrm>
        </p:grpSpPr>
        <p:grpSp>
          <p:nvGrpSpPr>
            <p:cNvPr id="31749" name="Group 1027"/>
            <p:cNvGrpSpPr>
              <a:grpSpLocks/>
            </p:cNvGrpSpPr>
            <p:nvPr/>
          </p:nvGrpSpPr>
          <p:grpSpPr bwMode="auto">
            <a:xfrm>
              <a:off x="2976" y="960"/>
              <a:ext cx="692" cy="576"/>
              <a:chOff x="2976" y="960"/>
              <a:chExt cx="692" cy="576"/>
            </a:xfrm>
          </p:grpSpPr>
          <p:grpSp>
            <p:nvGrpSpPr>
              <p:cNvPr id="31791" name="Group 1028"/>
              <p:cNvGrpSpPr>
                <a:grpSpLocks/>
              </p:cNvGrpSpPr>
              <p:nvPr/>
            </p:nvGrpSpPr>
            <p:grpSpPr bwMode="auto">
              <a:xfrm>
                <a:off x="2976" y="960"/>
                <a:ext cx="576" cy="576"/>
                <a:chOff x="2112" y="1152"/>
                <a:chExt cx="576" cy="576"/>
              </a:xfrm>
            </p:grpSpPr>
            <p:sp>
              <p:nvSpPr>
                <p:cNvPr id="31793" name="Rectangle 1029"/>
                <p:cNvSpPr>
                  <a:spLocks noChangeArrowheads="1"/>
                </p:cNvSpPr>
                <p:nvPr/>
              </p:nvSpPr>
              <p:spPr bwMode="auto">
                <a:xfrm>
                  <a:off x="2112" y="1152"/>
                  <a:ext cx="576" cy="576"/>
                </a:xfrm>
                <a:prstGeom prst="rect">
                  <a:avLst/>
                </a:prstGeom>
                <a:solidFill>
                  <a:srgbClr val="DCFFB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94" name="Line 1030"/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1795" name="Line 1031"/>
                <p:cNvSpPr>
                  <a:spLocks noChangeShapeType="1"/>
                </p:cNvSpPr>
                <p:nvPr/>
              </p:nvSpPr>
              <p:spPr bwMode="auto">
                <a:xfrm>
                  <a:off x="2496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1796" name="Line 1032"/>
                <p:cNvSpPr>
                  <a:spLocks noChangeShapeType="1"/>
                </p:cNvSpPr>
                <p:nvPr/>
              </p:nvSpPr>
              <p:spPr bwMode="auto">
                <a:xfrm>
                  <a:off x="2112" y="1344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1797" name="Line 1033"/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1792" name="Text Box 1034"/>
              <p:cNvSpPr txBox="1">
                <a:spLocks noChangeArrowheads="1"/>
              </p:cNvSpPr>
              <p:nvPr/>
            </p:nvSpPr>
            <p:spPr bwMode="auto">
              <a:xfrm>
                <a:off x="3552" y="1062"/>
                <a:ext cx="116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en-US" sz="360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</p:txBody>
          </p:sp>
        </p:grpSp>
        <p:grpSp>
          <p:nvGrpSpPr>
            <p:cNvPr id="31750" name="Group 1138"/>
            <p:cNvGrpSpPr>
              <a:grpSpLocks/>
            </p:cNvGrpSpPr>
            <p:nvPr/>
          </p:nvGrpSpPr>
          <p:grpSpPr bwMode="auto">
            <a:xfrm>
              <a:off x="1824" y="2496"/>
              <a:ext cx="1344" cy="1256"/>
              <a:chOff x="1824" y="2496"/>
              <a:chExt cx="1344" cy="1256"/>
            </a:xfrm>
          </p:grpSpPr>
          <p:grpSp>
            <p:nvGrpSpPr>
              <p:cNvPr id="31778" name="Group 1137"/>
              <p:cNvGrpSpPr>
                <a:grpSpLocks/>
              </p:cNvGrpSpPr>
              <p:nvPr/>
            </p:nvGrpSpPr>
            <p:grpSpPr bwMode="auto">
              <a:xfrm>
                <a:off x="2592" y="2880"/>
                <a:ext cx="576" cy="576"/>
                <a:chOff x="2592" y="2880"/>
                <a:chExt cx="576" cy="576"/>
              </a:xfrm>
            </p:grpSpPr>
            <p:grpSp>
              <p:nvGrpSpPr>
                <p:cNvPr id="31781" name="Group 1097"/>
                <p:cNvGrpSpPr>
                  <a:grpSpLocks/>
                </p:cNvGrpSpPr>
                <p:nvPr/>
              </p:nvGrpSpPr>
              <p:grpSpPr bwMode="auto">
                <a:xfrm>
                  <a:off x="2592" y="2880"/>
                  <a:ext cx="576" cy="576"/>
                  <a:chOff x="2112" y="1152"/>
                  <a:chExt cx="576" cy="576"/>
                </a:xfrm>
              </p:grpSpPr>
              <p:sp>
                <p:nvSpPr>
                  <p:cNvPr id="31786" name="Rectangle 1098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DCFFB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7" name="Line 1099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8" name="Line 1100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9" name="Line 1101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90" name="Line 1102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82" name="Group 1103"/>
                <p:cNvGrpSpPr>
                  <a:grpSpLocks/>
                </p:cNvGrpSpPr>
                <p:nvPr/>
              </p:nvGrpSpPr>
              <p:grpSpPr bwMode="auto">
                <a:xfrm>
                  <a:off x="2784" y="3072"/>
                  <a:ext cx="192" cy="192"/>
                  <a:chOff x="576" y="2112"/>
                  <a:chExt cx="192" cy="192"/>
                </a:xfrm>
              </p:grpSpPr>
              <p:sp>
                <p:nvSpPr>
                  <p:cNvPr id="31784" name="Line 1104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5" name="Line 110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783" name="Oval 1106"/>
                <p:cNvSpPr>
                  <a:spLocks noChangeArrowheads="1"/>
                </p:cNvSpPr>
                <p:nvPr/>
              </p:nvSpPr>
              <p:spPr bwMode="auto">
                <a:xfrm>
                  <a:off x="2592" y="2880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779" name="Line 1107"/>
              <p:cNvSpPr>
                <a:spLocks noChangeShapeType="1"/>
              </p:cNvSpPr>
              <p:nvPr/>
            </p:nvSpPr>
            <p:spPr bwMode="auto">
              <a:xfrm>
                <a:off x="1824" y="2496"/>
                <a:ext cx="105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80" name="Text Box 1108"/>
              <p:cNvSpPr txBox="1">
                <a:spLocks noChangeArrowheads="1"/>
              </p:cNvSpPr>
              <p:nvPr/>
            </p:nvSpPr>
            <p:spPr bwMode="auto">
              <a:xfrm>
                <a:off x="2784" y="3464"/>
                <a:ext cx="20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solidFill>
                      <a:srgbClr val="CC0066"/>
                    </a:solidFill>
                    <a:latin typeface="Comic Sans MS" pitchFamily="66" charset="0"/>
                  </a:rPr>
                  <a:t>1</a:t>
                </a:r>
              </a:p>
            </p:txBody>
          </p:sp>
        </p:grpSp>
        <p:sp>
          <p:nvSpPr>
            <p:cNvPr id="31751" name="Text Box 1110"/>
            <p:cNvSpPr txBox="1">
              <a:spLocks noChangeArrowheads="1"/>
            </p:cNvSpPr>
            <p:nvPr/>
          </p:nvSpPr>
          <p:spPr bwMode="auto">
            <a:xfrm>
              <a:off x="2160" y="2119"/>
              <a:ext cx="5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FF3300"/>
                  </a:solidFill>
                  <a:latin typeface="Symbol" pitchFamily="18" charset="2"/>
                </a:rPr>
                <a:t>b</a:t>
              </a:r>
              <a:r>
                <a:rPr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 = 1</a:t>
              </a:r>
              <a:endParaRPr lang="en-US" altLang="zh-CN" sz="3600">
                <a:solidFill>
                  <a:srgbClr val="FF3300"/>
                </a:solidFill>
                <a:latin typeface="Comic Sans MS" pitchFamily="66" charset="0"/>
                <a:cs typeface="Times New Roman" pitchFamily="18" charset="0"/>
                <a:sym typeface="Symbol" pitchFamily="18" charset="2"/>
              </a:endParaRPr>
            </a:p>
          </p:txBody>
        </p:sp>
        <p:grpSp>
          <p:nvGrpSpPr>
            <p:cNvPr id="31752" name="Group 1111"/>
            <p:cNvGrpSpPr>
              <a:grpSpLocks/>
            </p:cNvGrpSpPr>
            <p:nvPr/>
          </p:nvGrpSpPr>
          <p:grpSpPr bwMode="auto">
            <a:xfrm>
              <a:off x="576" y="2496"/>
              <a:ext cx="1248" cy="1256"/>
              <a:chOff x="576" y="2496"/>
              <a:chExt cx="1248" cy="1256"/>
            </a:xfrm>
          </p:grpSpPr>
          <p:grpSp>
            <p:nvGrpSpPr>
              <p:cNvPr id="31765" name="Group 1112"/>
              <p:cNvGrpSpPr>
                <a:grpSpLocks/>
              </p:cNvGrpSpPr>
              <p:nvPr/>
            </p:nvGrpSpPr>
            <p:grpSpPr bwMode="auto">
              <a:xfrm>
                <a:off x="576" y="2880"/>
                <a:ext cx="576" cy="576"/>
                <a:chOff x="576" y="2880"/>
                <a:chExt cx="576" cy="576"/>
              </a:xfrm>
            </p:grpSpPr>
            <p:grpSp>
              <p:nvGrpSpPr>
                <p:cNvPr id="31768" name="Group 1113"/>
                <p:cNvGrpSpPr>
                  <a:grpSpLocks/>
                </p:cNvGrpSpPr>
                <p:nvPr/>
              </p:nvGrpSpPr>
              <p:grpSpPr bwMode="auto">
                <a:xfrm>
                  <a:off x="576" y="2880"/>
                  <a:ext cx="576" cy="576"/>
                  <a:chOff x="2112" y="1152"/>
                  <a:chExt cx="576" cy="576"/>
                </a:xfrm>
              </p:grpSpPr>
              <p:sp>
                <p:nvSpPr>
                  <p:cNvPr id="31773" name="Rectangle 1114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DCFFB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4" name="Line 1115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5" name="Line 1116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6" name="Line 1117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7" name="Line 1118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69" name="Group 1119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192" cy="192"/>
                  <a:chOff x="576" y="2112"/>
                  <a:chExt cx="192" cy="192"/>
                </a:xfrm>
              </p:grpSpPr>
              <p:sp>
                <p:nvSpPr>
                  <p:cNvPr id="31771" name="Line 1120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2" name="Line 11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770" name="Oval 1122"/>
                <p:cNvSpPr>
                  <a:spLocks noChangeArrowheads="1"/>
                </p:cNvSpPr>
                <p:nvPr/>
              </p:nvSpPr>
              <p:spPr bwMode="auto">
                <a:xfrm>
                  <a:off x="576" y="3072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766" name="Line 1123"/>
              <p:cNvSpPr>
                <a:spLocks noChangeShapeType="1"/>
              </p:cNvSpPr>
              <p:nvPr/>
            </p:nvSpPr>
            <p:spPr bwMode="auto">
              <a:xfrm flipH="1">
                <a:off x="864" y="2496"/>
                <a:ext cx="96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7" name="Text Box 1124"/>
              <p:cNvSpPr txBox="1">
                <a:spLocks noChangeArrowheads="1"/>
              </p:cNvSpPr>
              <p:nvPr/>
            </p:nvSpPr>
            <p:spPr bwMode="auto">
              <a:xfrm>
                <a:off x="768" y="3464"/>
                <a:ext cx="2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solidFill>
                      <a:srgbClr val="CC0066"/>
                    </a:solidFill>
                    <a:latin typeface="Comic Sans MS" pitchFamily="66" charset="0"/>
                  </a:rPr>
                  <a:t>2</a:t>
                </a:r>
              </a:p>
            </p:txBody>
          </p:sp>
        </p:grpSp>
        <p:grpSp>
          <p:nvGrpSpPr>
            <p:cNvPr id="31753" name="Group 1125"/>
            <p:cNvGrpSpPr>
              <a:grpSpLocks/>
            </p:cNvGrpSpPr>
            <p:nvPr/>
          </p:nvGrpSpPr>
          <p:grpSpPr bwMode="auto">
            <a:xfrm>
              <a:off x="1536" y="1536"/>
              <a:ext cx="1728" cy="960"/>
              <a:chOff x="1536" y="1536"/>
              <a:chExt cx="1728" cy="960"/>
            </a:xfrm>
          </p:grpSpPr>
          <p:sp>
            <p:nvSpPr>
              <p:cNvPr id="31754" name="Line 1126"/>
              <p:cNvSpPr>
                <a:spLocks noChangeShapeType="1"/>
              </p:cNvSpPr>
              <p:nvPr/>
            </p:nvSpPr>
            <p:spPr bwMode="auto">
              <a:xfrm flipH="1">
                <a:off x="1824" y="1536"/>
                <a:ext cx="144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31755" name="Group 1127"/>
              <p:cNvGrpSpPr>
                <a:grpSpLocks/>
              </p:cNvGrpSpPr>
              <p:nvPr/>
            </p:nvGrpSpPr>
            <p:grpSpPr bwMode="auto">
              <a:xfrm>
                <a:off x="1536" y="1920"/>
                <a:ext cx="576" cy="576"/>
                <a:chOff x="1536" y="1920"/>
                <a:chExt cx="576" cy="576"/>
              </a:xfrm>
            </p:grpSpPr>
            <p:grpSp>
              <p:nvGrpSpPr>
                <p:cNvPr id="31756" name="Group 1128"/>
                <p:cNvGrpSpPr>
                  <a:grpSpLocks/>
                </p:cNvGrpSpPr>
                <p:nvPr/>
              </p:nvGrpSpPr>
              <p:grpSpPr bwMode="auto">
                <a:xfrm>
                  <a:off x="1536" y="1920"/>
                  <a:ext cx="576" cy="576"/>
                  <a:chOff x="2112" y="1152"/>
                  <a:chExt cx="576" cy="576"/>
                </a:xfrm>
              </p:grpSpPr>
              <p:sp>
                <p:nvSpPr>
                  <p:cNvPr id="31760" name="Rectangle 1129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F0E09A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61" name="Line 1130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62" name="Line 1131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63" name="Line 1132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64" name="Line 1133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57" name="Group 1134"/>
                <p:cNvGrpSpPr>
                  <a:grpSpLocks/>
                </p:cNvGrpSpPr>
                <p:nvPr/>
              </p:nvGrpSpPr>
              <p:grpSpPr bwMode="auto">
                <a:xfrm>
                  <a:off x="1728" y="2112"/>
                  <a:ext cx="192" cy="192"/>
                  <a:chOff x="576" y="2112"/>
                  <a:chExt cx="192" cy="192"/>
                </a:xfrm>
              </p:grpSpPr>
              <p:sp>
                <p:nvSpPr>
                  <p:cNvPr id="31758" name="Line 1135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59" name="Line 113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609600" y="14478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568324" y="29453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587125" y="48122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60" name="Text Box 1063"/>
          <p:cNvSpPr txBox="1">
            <a:spLocks noChangeArrowheads="1"/>
          </p:cNvSpPr>
          <p:nvPr/>
        </p:nvSpPr>
        <p:spPr bwMode="auto">
          <a:xfrm>
            <a:off x="6161744" y="3130848"/>
            <a:ext cx="5048177" cy="461665"/>
          </a:xfrm>
          <a:prstGeom prst="rect">
            <a:avLst/>
          </a:prstGeom>
          <a:solidFill>
            <a:srgbClr val="F6EDC6"/>
          </a:solidFill>
          <a:ln w="9525">
            <a:solidFill>
              <a:srgbClr val="99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Symbol" pitchFamily="18" charset="2"/>
              <a:buChar char="b"/>
            </a:pPr>
            <a:r>
              <a:rPr lang="zh-CN" altLang="en-US" sz="2400" dirty="0">
                <a:solidFill>
                  <a:schemeClr val="accent1">
                    <a:lumMod val="25000"/>
                  </a:schemeClr>
                </a:solidFill>
                <a:latin typeface="Comic Sans MS" pitchFamily="66" charset="0"/>
                <a:ea typeface="隶书" pitchFamily="49" charset="-122"/>
              </a:rPr>
              <a:t> 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值是</a:t>
            </a:r>
            <a:r>
              <a:rPr lang="en-US" altLang="zh-CN" sz="2400" dirty="0">
                <a:solidFill>
                  <a:schemeClr val="accent1">
                    <a:lumMod val="25000"/>
                  </a:schemeClr>
                </a:solidFill>
                <a:latin typeface="Comic Sans MS" pitchFamily="66" charset="0"/>
                <a:ea typeface="隶书" pitchFamily="49" charset="-122"/>
              </a:rPr>
              <a:t>MIN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节点的最佳</a:t>
            </a:r>
            <a:r>
              <a:rPr lang="en-US" altLang="zh-CN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(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极小值</a:t>
            </a:r>
            <a:r>
              <a:rPr lang="en-US" altLang="zh-CN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)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选择</a:t>
            </a:r>
            <a:endParaRPr lang="en-US" altLang="zh-CN" sz="2400" dirty="0">
              <a:solidFill>
                <a:srgbClr val="990000"/>
              </a:solidFill>
              <a:latin typeface="Comic Sans MS" pitchFamily="66" charset="0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1860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 txBox="1">
            <a:spLocks noChangeArrowheads="1"/>
          </p:cNvSpPr>
          <p:nvPr/>
        </p:nvSpPr>
        <p:spPr>
          <a:xfrm>
            <a:off x="1989137" y="7868"/>
            <a:ext cx="8229600" cy="1143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α-β</a:t>
            </a:r>
            <a:r>
              <a:rPr lang="zh-CN" altLang="en-US" dirty="0"/>
              <a:t>剪枝</a:t>
            </a:r>
            <a:endParaRPr lang="en-US" altLang="zh-CN" dirty="0"/>
          </a:p>
        </p:txBody>
      </p:sp>
      <p:sp>
        <p:nvSpPr>
          <p:cNvPr id="32771" name="Text Box 1033"/>
          <p:cNvSpPr txBox="1">
            <a:spLocks noChangeArrowheads="1"/>
          </p:cNvSpPr>
          <p:nvPr/>
        </p:nvSpPr>
        <p:spPr bwMode="auto">
          <a:xfrm>
            <a:off x="7162801" y="1839913"/>
            <a:ext cx="849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9900"/>
                </a:solidFill>
                <a:latin typeface="Symbol" pitchFamily="18" charset="2"/>
              </a:rPr>
              <a:t>a</a:t>
            </a:r>
            <a:r>
              <a:rPr lang="en-US" altLang="zh-CN" sz="2400">
                <a:solidFill>
                  <a:srgbClr val="009900"/>
                </a:solidFill>
                <a:latin typeface="Comic Sans MS" pitchFamily="66" charset="0"/>
              </a:rPr>
              <a:t> = 1</a:t>
            </a:r>
            <a:endParaRPr lang="en-US" altLang="zh-CN" sz="2400">
              <a:solidFill>
                <a:srgbClr val="009900"/>
              </a:solidFill>
              <a:latin typeface="Comic Sans MS" pitchFamily="66" charset="0"/>
              <a:cs typeface="Times New Roman" pitchFamily="18" charset="0"/>
              <a:sym typeface="Symbol" pitchFamily="18" charset="2"/>
            </a:endParaRPr>
          </a:p>
        </p:txBody>
      </p:sp>
      <p:grpSp>
        <p:nvGrpSpPr>
          <p:cNvPr id="32773" name="Group 1124"/>
          <p:cNvGrpSpPr>
            <a:grpSpLocks/>
          </p:cNvGrpSpPr>
          <p:nvPr/>
        </p:nvGrpSpPr>
        <p:grpSpPr bwMode="auto">
          <a:xfrm>
            <a:off x="2438400" y="1524000"/>
            <a:ext cx="4908550" cy="4432300"/>
            <a:chOff x="576" y="960"/>
            <a:chExt cx="3092" cy="2792"/>
          </a:xfrm>
        </p:grpSpPr>
        <p:grpSp>
          <p:nvGrpSpPr>
            <p:cNvPr id="32774" name="Group 1125"/>
            <p:cNvGrpSpPr>
              <a:grpSpLocks/>
            </p:cNvGrpSpPr>
            <p:nvPr/>
          </p:nvGrpSpPr>
          <p:grpSpPr bwMode="auto">
            <a:xfrm>
              <a:off x="2976" y="960"/>
              <a:ext cx="692" cy="576"/>
              <a:chOff x="2976" y="960"/>
              <a:chExt cx="692" cy="576"/>
            </a:xfrm>
          </p:grpSpPr>
          <p:grpSp>
            <p:nvGrpSpPr>
              <p:cNvPr id="32816" name="Group 1126"/>
              <p:cNvGrpSpPr>
                <a:grpSpLocks/>
              </p:cNvGrpSpPr>
              <p:nvPr/>
            </p:nvGrpSpPr>
            <p:grpSpPr bwMode="auto">
              <a:xfrm>
                <a:off x="2976" y="960"/>
                <a:ext cx="576" cy="576"/>
                <a:chOff x="2112" y="1152"/>
                <a:chExt cx="576" cy="576"/>
              </a:xfrm>
            </p:grpSpPr>
            <p:sp>
              <p:nvSpPr>
                <p:cNvPr id="32818" name="Rectangle 1127"/>
                <p:cNvSpPr>
                  <a:spLocks noChangeArrowheads="1"/>
                </p:cNvSpPr>
                <p:nvPr/>
              </p:nvSpPr>
              <p:spPr bwMode="auto">
                <a:xfrm>
                  <a:off x="2112" y="1152"/>
                  <a:ext cx="576" cy="576"/>
                </a:xfrm>
                <a:prstGeom prst="rect">
                  <a:avLst/>
                </a:prstGeom>
                <a:solidFill>
                  <a:srgbClr val="DCFFB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819" name="Line 1128"/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20" name="Line 1129"/>
                <p:cNvSpPr>
                  <a:spLocks noChangeShapeType="1"/>
                </p:cNvSpPr>
                <p:nvPr/>
              </p:nvSpPr>
              <p:spPr bwMode="auto">
                <a:xfrm>
                  <a:off x="2496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21" name="Line 1130"/>
                <p:cNvSpPr>
                  <a:spLocks noChangeShapeType="1"/>
                </p:cNvSpPr>
                <p:nvPr/>
              </p:nvSpPr>
              <p:spPr bwMode="auto">
                <a:xfrm>
                  <a:off x="2112" y="1344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22" name="Line 1131"/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2817" name="Text Box 1132"/>
              <p:cNvSpPr txBox="1">
                <a:spLocks noChangeArrowheads="1"/>
              </p:cNvSpPr>
              <p:nvPr/>
            </p:nvSpPr>
            <p:spPr bwMode="auto">
              <a:xfrm>
                <a:off x="3552" y="1062"/>
                <a:ext cx="116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en-US" sz="360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</p:txBody>
          </p:sp>
        </p:grpSp>
        <p:grpSp>
          <p:nvGrpSpPr>
            <p:cNvPr id="32775" name="Group 1133"/>
            <p:cNvGrpSpPr>
              <a:grpSpLocks/>
            </p:cNvGrpSpPr>
            <p:nvPr/>
          </p:nvGrpSpPr>
          <p:grpSpPr bwMode="auto">
            <a:xfrm>
              <a:off x="1824" y="2496"/>
              <a:ext cx="1344" cy="1256"/>
              <a:chOff x="1824" y="2496"/>
              <a:chExt cx="1344" cy="1256"/>
            </a:xfrm>
          </p:grpSpPr>
          <p:grpSp>
            <p:nvGrpSpPr>
              <p:cNvPr id="32803" name="Group 1134"/>
              <p:cNvGrpSpPr>
                <a:grpSpLocks/>
              </p:cNvGrpSpPr>
              <p:nvPr/>
            </p:nvGrpSpPr>
            <p:grpSpPr bwMode="auto">
              <a:xfrm>
                <a:off x="2592" y="2880"/>
                <a:ext cx="576" cy="576"/>
                <a:chOff x="2592" y="2880"/>
                <a:chExt cx="576" cy="576"/>
              </a:xfrm>
            </p:grpSpPr>
            <p:grpSp>
              <p:nvGrpSpPr>
                <p:cNvPr id="32806" name="Group 1135"/>
                <p:cNvGrpSpPr>
                  <a:grpSpLocks/>
                </p:cNvGrpSpPr>
                <p:nvPr/>
              </p:nvGrpSpPr>
              <p:grpSpPr bwMode="auto">
                <a:xfrm>
                  <a:off x="2592" y="2880"/>
                  <a:ext cx="576" cy="576"/>
                  <a:chOff x="2112" y="1152"/>
                  <a:chExt cx="576" cy="576"/>
                </a:xfrm>
              </p:grpSpPr>
              <p:sp>
                <p:nvSpPr>
                  <p:cNvPr id="32811" name="Rectangle 1136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DCFFB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12" name="Line 1137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13" name="Line 1138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14" name="Line 1139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15" name="Line 1140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2807" name="Group 1141"/>
                <p:cNvGrpSpPr>
                  <a:grpSpLocks/>
                </p:cNvGrpSpPr>
                <p:nvPr/>
              </p:nvGrpSpPr>
              <p:grpSpPr bwMode="auto">
                <a:xfrm>
                  <a:off x="2784" y="3072"/>
                  <a:ext cx="192" cy="192"/>
                  <a:chOff x="576" y="2112"/>
                  <a:chExt cx="192" cy="192"/>
                </a:xfrm>
              </p:grpSpPr>
              <p:sp>
                <p:nvSpPr>
                  <p:cNvPr id="32809" name="Line 1142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10" name="Line 114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808" name="Oval 1144"/>
                <p:cNvSpPr>
                  <a:spLocks noChangeArrowheads="1"/>
                </p:cNvSpPr>
                <p:nvPr/>
              </p:nvSpPr>
              <p:spPr bwMode="auto">
                <a:xfrm>
                  <a:off x="2592" y="2880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2804" name="Line 1145"/>
              <p:cNvSpPr>
                <a:spLocks noChangeShapeType="1"/>
              </p:cNvSpPr>
              <p:nvPr/>
            </p:nvSpPr>
            <p:spPr bwMode="auto">
              <a:xfrm>
                <a:off x="1824" y="2496"/>
                <a:ext cx="105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805" name="Text Box 1146"/>
              <p:cNvSpPr txBox="1">
                <a:spLocks noChangeArrowheads="1"/>
              </p:cNvSpPr>
              <p:nvPr/>
            </p:nvSpPr>
            <p:spPr bwMode="auto">
              <a:xfrm>
                <a:off x="2784" y="3464"/>
                <a:ext cx="20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solidFill>
                      <a:srgbClr val="CC0066"/>
                    </a:solidFill>
                    <a:latin typeface="Comic Sans MS" pitchFamily="66" charset="0"/>
                  </a:rPr>
                  <a:t>1</a:t>
                </a:r>
              </a:p>
            </p:txBody>
          </p:sp>
        </p:grpSp>
        <p:sp>
          <p:nvSpPr>
            <p:cNvPr id="32776" name="Text Box 1147"/>
            <p:cNvSpPr txBox="1">
              <a:spLocks noChangeArrowheads="1"/>
            </p:cNvSpPr>
            <p:nvPr/>
          </p:nvSpPr>
          <p:spPr bwMode="auto">
            <a:xfrm>
              <a:off x="2160" y="2119"/>
              <a:ext cx="5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FF3300"/>
                  </a:solidFill>
                  <a:latin typeface="Symbol" pitchFamily="18" charset="2"/>
                </a:rPr>
                <a:t>b</a:t>
              </a:r>
              <a:r>
                <a:rPr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 = 1</a:t>
              </a:r>
              <a:endParaRPr lang="en-US" altLang="zh-CN" sz="3600">
                <a:solidFill>
                  <a:srgbClr val="FF3300"/>
                </a:solidFill>
                <a:latin typeface="Comic Sans MS" pitchFamily="66" charset="0"/>
                <a:cs typeface="Times New Roman" pitchFamily="18" charset="0"/>
                <a:sym typeface="Symbol" pitchFamily="18" charset="2"/>
              </a:endParaRPr>
            </a:p>
          </p:txBody>
        </p:sp>
        <p:grpSp>
          <p:nvGrpSpPr>
            <p:cNvPr id="32777" name="Group 1148"/>
            <p:cNvGrpSpPr>
              <a:grpSpLocks/>
            </p:cNvGrpSpPr>
            <p:nvPr/>
          </p:nvGrpSpPr>
          <p:grpSpPr bwMode="auto">
            <a:xfrm>
              <a:off x="576" y="2496"/>
              <a:ext cx="1248" cy="1256"/>
              <a:chOff x="576" y="2496"/>
              <a:chExt cx="1248" cy="1256"/>
            </a:xfrm>
          </p:grpSpPr>
          <p:grpSp>
            <p:nvGrpSpPr>
              <p:cNvPr id="32790" name="Group 1149"/>
              <p:cNvGrpSpPr>
                <a:grpSpLocks/>
              </p:cNvGrpSpPr>
              <p:nvPr/>
            </p:nvGrpSpPr>
            <p:grpSpPr bwMode="auto">
              <a:xfrm>
                <a:off x="576" y="2880"/>
                <a:ext cx="576" cy="576"/>
                <a:chOff x="576" y="2880"/>
                <a:chExt cx="576" cy="576"/>
              </a:xfrm>
            </p:grpSpPr>
            <p:grpSp>
              <p:nvGrpSpPr>
                <p:cNvPr id="32793" name="Group 1150"/>
                <p:cNvGrpSpPr>
                  <a:grpSpLocks/>
                </p:cNvGrpSpPr>
                <p:nvPr/>
              </p:nvGrpSpPr>
              <p:grpSpPr bwMode="auto">
                <a:xfrm>
                  <a:off x="576" y="2880"/>
                  <a:ext cx="576" cy="576"/>
                  <a:chOff x="2112" y="1152"/>
                  <a:chExt cx="576" cy="576"/>
                </a:xfrm>
              </p:grpSpPr>
              <p:sp>
                <p:nvSpPr>
                  <p:cNvPr id="32798" name="Rectangle 1151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DCFFB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99" name="Line 1152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00" name="Line 1153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01" name="Line 1154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02" name="Line 1155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2794" name="Group 1156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192" cy="192"/>
                  <a:chOff x="576" y="2112"/>
                  <a:chExt cx="192" cy="192"/>
                </a:xfrm>
              </p:grpSpPr>
              <p:sp>
                <p:nvSpPr>
                  <p:cNvPr id="32796" name="Line 1157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97" name="Line 11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795" name="Oval 1159"/>
                <p:cNvSpPr>
                  <a:spLocks noChangeArrowheads="1"/>
                </p:cNvSpPr>
                <p:nvPr/>
              </p:nvSpPr>
              <p:spPr bwMode="auto">
                <a:xfrm>
                  <a:off x="576" y="3072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2791" name="Line 1160"/>
              <p:cNvSpPr>
                <a:spLocks noChangeShapeType="1"/>
              </p:cNvSpPr>
              <p:nvPr/>
            </p:nvSpPr>
            <p:spPr bwMode="auto">
              <a:xfrm flipH="1">
                <a:off x="864" y="2496"/>
                <a:ext cx="96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792" name="Text Box 1161"/>
              <p:cNvSpPr txBox="1">
                <a:spLocks noChangeArrowheads="1"/>
              </p:cNvSpPr>
              <p:nvPr/>
            </p:nvSpPr>
            <p:spPr bwMode="auto">
              <a:xfrm>
                <a:off x="768" y="3464"/>
                <a:ext cx="2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srgbClr val="CC0066"/>
                    </a:solidFill>
                    <a:latin typeface="Comic Sans MS" pitchFamily="66" charset="0"/>
                  </a:rPr>
                  <a:t>2</a:t>
                </a:r>
              </a:p>
            </p:txBody>
          </p:sp>
        </p:grpSp>
        <p:grpSp>
          <p:nvGrpSpPr>
            <p:cNvPr id="32778" name="Group 1162"/>
            <p:cNvGrpSpPr>
              <a:grpSpLocks/>
            </p:cNvGrpSpPr>
            <p:nvPr/>
          </p:nvGrpSpPr>
          <p:grpSpPr bwMode="auto">
            <a:xfrm>
              <a:off x="1536" y="1536"/>
              <a:ext cx="1728" cy="960"/>
              <a:chOff x="1536" y="1536"/>
              <a:chExt cx="1728" cy="960"/>
            </a:xfrm>
          </p:grpSpPr>
          <p:sp>
            <p:nvSpPr>
              <p:cNvPr id="32779" name="Line 1163"/>
              <p:cNvSpPr>
                <a:spLocks noChangeShapeType="1"/>
              </p:cNvSpPr>
              <p:nvPr/>
            </p:nvSpPr>
            <p:spPr bwMode="auto">
              <a:xfrm flipH="1">
                <a:off x="1824" y="1536"/>
                <a:ext cx="144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32780" name="Group 1164"/>
              <p:cNvGrpSpPr>
                <a:grpSpLocks/>
              </p:cNvGrpSpPr>
              <p:nvPr/>
            </p:nvGrpSpPr>
            <p:grpSpPr bwMode="auto">
              <a:xfrm>
                <a:off x="1536" y="1920"/>
                <a:ext cx="576" cy="576"/>
                <a:chOff x="1536" y="1920"/>
                <a:chExt cx="576" cy="576"/>
              </a:xfrm>
            </p:grpSpPr>
            <p:grpSp>
              <p:nvGrpSpPr>
                <p:cNvPr id="32781" name="Group 1165"/>
                <p:cNvGrpSpPr>
                  <a:grpSpLocks/>
                </p:cNvGrpSpPr>
                <p:nvPr/>
              </p:nvGrpSpPr>
              <p:grpSpPr bwMode="auto">
                <a:xfrm>
                  <a:off x="1536" y="1920"/>
                  <a:ext cx="576" cy="576"/>
                  <a:chOff x="2112" y="1152"/>
                  <a:chExt cx="576" cy="576"/>
                </a:xfrm>
              </p:grpSpPr>
              <p:sp>
                <p:nvSpPr>
                  <p:cNvPr id="32785" name="Rectangle 1166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F0E09A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86" name="Line 1167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87" name="Line 1168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88" name="Line 1169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89" name="Line 1170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2782" name="Group 1171"/>
                <p:cNvGrpSpPr>
                  <a:grpSpLocks/>
                </p:cNvGrpSpPr>
                <p:nvPr/>
              </p:nvGrpSpPr>
              <p:grpSpPr bwMode="auto">
                <a:xfrm>
                  <a:off x="1728" y="2112"/>
                  <a:ext cx="192" cy="192"/>
                  <a:chOff x="576" y="2112"/>
                  <a:chExt cx="192" cy="192"/>
                </a:xfrm>
              </p:grpSpPr>
              <p:sp>
                <p:nvSpPr>
                  <p:cNvPr id="32783" name="Line 1172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84" name="Line 117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609600" y="14478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568324" y="29453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587125" y="48122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61" name="Text Box 1123"/>
          <p:cNvSpPr txBox="1">
            <a:spLocks noChangeArrowheads="1"/>
          </p:cNvSpPr>
          <p:nvPr/>
        </p:nvSpPr>
        <p:spPr bwMode="auto">
          <a:xfrm>
            <a:off x="7086600" y="2544117"/>
            <a:ext cx="4996881" cy="461665"/>
          </a:xfrm>
          <a:prstGeom prst="rect">
            <a:avLst/>
          </a:prstGeom>
          <a:solidFill>
            <a:srgbClr val="ECFFD9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Symbol" pitchFamily="18" charset="2"/>
                <a:ea typeface="隶书" pitchFamily="49" charset="-122"/>
              </a:rPr>
              <a:t>a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值是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MAX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节点的最佳</a:t>
            </a:r>
            <a:r>
              <a:rPr lang="en-US" altLang="zh-CN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(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极大值</a:t>
            </a:r>
            <a:r>
              <a:rPr lang="en-US" altLang="zh-CN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)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选择</a:t>
            </a:r>
            <a:endParaRPr lang="en-US" altLang="zh-CN" sz="2400" dirty="0">
              <a:solidFill>
                <a:srgbClr val="009900"/>
              </a:solidFill>
              <a:latin typeface="Symbol" pitchFamily="18" charset="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867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 txBox="1">
            <a:spLocks noChangeArrowheads="1"/>
          </p:cNvSpPr>
          <p:nvPr/>
        </p:nvSpPr>
        <p:spPr>
          <a:xfrm>
            <a:off x="1989137" y="-11491"/>
            <a:ext cx="8229600" cy="1143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α-β</a:t>
            </a:r>
            <a:r>
              <a:rPr lang="zh-CN" altLang="en-US" dirty="0"/>
              <a:t>剪枝</a:t>
            </a:r>
            <a:endParaRPr lang="en-US" altLang="zh-CN" dirty="0"/>
          </a:p>
        </p:txBody>
      </p:sp>
      <p:sp>
        <p:nvSpPr>
          <p:cNvPr id="33795" name="Text Box 1033"/>
          <p:cNvSpPr txBox="1">
            <a:spLocks noChangeArrowheads="1"/>
          </p:cNvSpPr>
          <p:nvPr/>
        </p:nvSpPr>
        <p:spPr bwMode="auto">
          <a:xfrm>
            <a:off x="7162801" y="1839913"/>
            <a:ext cx="849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9900"/>
                </a:solidFill>
                <a:latin typeface="Symbol" pitchFamily="18" charset="2"/>
              </a:rPr>
              <a:t>a</a:t>
            </a:r>
            <a:r>
              <a:rPr lang="en-US" altLang="zh-CN" sz="2400">
                <a:solidFill>
                  <a:srgbClr val="009900"/>
                </a:solidFill>
                <a:latin typeface="Comic Sans MS" pitchFamily="66" charset="0"/>
              </a:rPr>
              <a:t> = </a:t>
            </a:r>
            <a:r>
              <a:rPr lang="en-US" altLang="zh-CN" sz="2400">
                <a:solidFill>
                  <a:srgbClr val="009900"/>
                </a:solidFill>
                <a:latin typeface="Comic Sans MS" pitchFamily="66" charset="0"/>
                <a:cs typeface="Times New Roman" pitchFamily="18" charset="0"/>
                <a:sym typeface="Symbol" pitchFamily="18" charset="2"/>
              </a:rPr>
              <a:t>1</a:t>
            </a:r>
          </a:p>
        </p:txBody>
      </p:sp>
      <p:grpSp>
        <p:nvGrpSpPr>
          <p:cNvPr id="33796" name="Group 1137"/>
          <p:cNvGrpSpPr>
            <a:grpSpLocks/>
          </p:cNvGrpSpPr>
          <p:nvPr/>
        </p:nvGrpSpPr>
        <p:grpSpPr bwMode="auto">
          <a:xfrm>
            <a:off x="2438400" y="1524000"/>
            <a:ext cx="4908550" cy="4432300"/>
            <a:chOff x="576" y="960"/>
            <a:chExt cx="3092" cy="2792"/>
          </a:xfrm>
        </p:grpSpPr>
        <p:grpSp>
          <p:nvGrpSpPr>
            <p:cNvPr id="33829" name="Group 1138"/>
            <p:cNvGrpSpPr>
              <a:grpSpLocks/>
            </p:cNvGrpSpPr>
            <p:nvPr/>
          </p:nvGrpSpPr>
          <p:grpSpPr bwMode="auto">
            <a:xfrm>
              <a:off x="2976" y="960"/>
              <a:ext cx="692" cy="576"/>
              <a:chOff x="2976" y="960"/>
              <a:chExt cx="692" cy="576"/>
            </a:xfrm>
          </p:grpSpPr>
          <p:grpSp>
            <p:nvGrpSpPr>
              <p:cNvPr id="33871" name="Group 1139"/>
              <p:cNvGrpSpPr>
                <a:grpSpLocks/>
              </p:cNvGrpSpPr>
              <p:nvPr/>
            </p:nvGrpSpPr>
            <p:grpSpPr bwMode="auto">
              <a:xfrm>
                <a:off x="2976" y="960"/>
                <a:ext cx="576" cy="576"/>
                <a:chOff x="2112" y="1152"/>
                <a:chExt cx="576" cy="576"/>
              </a:xfrm>
            </p:grpSpPr>
            <p:sp>
              <p:nvSpPr>
                <p:cNvPr id="33873" name="Rectangle 1140"/>
                <p:cNvSpPr>
                  <a:spLocks noChangeArrowheads="1"/>
                </p:cNvSpPr>
                <p:nvPr/>
              </p:nvSpPr>
              <p:spPr bwMode="auto">
                <a:xfrm>
                  <a:off x="2112" y="1152"/>
                  <a:ext cx="576" cy="576"/>
                </a:xfrm>
                <a:prstGeom prst="rect">
                  <a:avLst/>
                </a:prstGeom>
                <a:solidFill>
                  <a:srgbClr val="DCFFB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874" name="Line 1141"/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3875" name="Line 1142"/>
                <p:cNvSpPr>
                  <a:spLocks noChangeShapeType="1"/>
                </p:cNvSpPr>
                <p:nvPr/>
              </p:nvSpPr>
              <p:spPr bwMode="auto">
                <a:xfrm>
                  <a:off x="2496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3876" name="Line 1143"/>
                <p:cNvSpPr>
                  <a:spLocks noChangeShapeType="1"/>
                </p:cNvSpPr>
                <p:nvPr/>
              </p:nvSpPr>
              <p:spPr bwMode="auto">
                <a:xfrm>
                  <a:off x="2112" y="1344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3877" name="Line 1144"/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3872" name="Text Box 1145"/>
              <p:cNvSpPr txBox="1">
                <a:spLocks noChangeArrowheads="1"/>
              </p:cNvSpPr>
              <p:nvPr/>
            </p:nvSpPr>
            <p:spPr bwMode="auto">
              <a:xfrm>
                <a:off x="3552" y="1062"/>
                <a:ext cx="116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en-US" sz="360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</p:txBody>
          </p:sp>
        </p:grpSp>
        <p:grpSp>
          <p:nvGrpSpPr>
            <p:cNvPr id="33830" name="Group 1146"/>
            <p:cNvGrpSpPr>
              <a:grpSpLocks/>
            </p:cNvGrpSpPr>
            <p:nvPr/>
          </p:nvGrpSpPr>
          <p:grpSpPr bwMode="auto">
            <a:xfrm>
              <a:off x="1824" y="2496"/>
              <a:ext cx="1344" cy="1256"/>
              <a:chOff x="1824" y="2496"/>
              <a:chExt cx="1344" cy="1256"/>
            </a:xfrm>
          </p:grpSpPr>
          <p:grpSp>
            <p:nvGrpSpPr>
              <p:cNvPr id="33858" name="Group 1147"/>
              <p:cNvGrpSpPr>
                <a:grpSpLocks/>
              </p:cNvGrpSpPr>
              <p:nvPr/>
            </p:nvGrpSpPr>
            <p:grpSpPr bwMode="auto">
              <a:xfrm>
                <a:off x="2592" y="2880"/>
                <a:ext cx="576" cy="576"/>
                <a:chOff x="2592" y="2880"/>
                <a:chExt cx="576" cy="576"/>
              </a:xfrm>
            </p:grpSpPr>
            <p:grpSp>
              <p:nvGrpSpPr>
                <p:cNvPr id="33861" name="Group 1148"/>
                <p:cNvGrpSpPr>
                  <a:grpSpLocks/>
                </p:cNvGrpSpPr>
                <p:nvPr/>
              </p:nvGrpSpPr>
              <p:grpSpPr bwMode="auto">
                <a:xfrm>
                  <a:off x="2592" y="2880"/>
                  <a:ext cx="576" cy="576"/>
                  <a:chOff x="2112" y="1152"/>
                  <a:chExt cx="576" cy="576"/>
                </a:xfrm>
              </p:grpSpPr>
              <p:sp>
                <p:nvSpPr>
                  <p:cNvPr id="33866" name="Rectangle 1149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DCFFB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67" name="Line 1150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68" name="Line 1151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69" name="Line 1152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70" name="Line 1153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62" name="Group 1154"/>
                <p:cNvGrpSpPr>
                  <a:grpSpLocks/>
                </p:cNvGrpSpPr>
                <p:nvPr/>
              </p:nvGrpSpPr>
              <p:grpSpPr bwMode="auto">
                <a:xfrm>
                  <a:off x="2784" y="3072"/>
                  <a:ext cx="192" cy="192"/>
                  <a:chOff x="576" y="2112"/>
                  <a:chExt cx="192" cy="192"/>
                </a:xfrm>
              </p:grpSpPr>
              <p:sp>
                <p:nvSpPr>
                  <p:cNvPr id="33864" name="Line 1155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65" name="Line 115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863" name="Oval 1157"/>
                <p:cNvSpPr>
                  <a:spLocks noChangeArrowheads="1"/>
                </p:cNvSpPr>
                <p:nvPr/>
              </p:nvSpPr>
              <p:spPr bwMode="auto">
                <a:xfrm>
                  <a:off x="2592" y="2880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3859" name="Line 1158"/>
              <p:cNvSpPr>
                <a:spLocks noChangeShapeType="1"/>
              </p:cNvSpPr>
              <p:nvPr/>
            </p:nvSpPr>
            <p:spPr bwMode="auto">
              <a:xfrm>
                <a:off x="1824" y="2496"/>
                <a:ext cx="105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60" name="Text Box 1159"/>
              <p:cNvSpPr txBox="1">
                <a:spLocks noChangeArrowheads="1"/>
              </p:cNvSpPr>
              <p:nvPr/>
            </p:nvSpPr>
            <p:spPr bwMode="auto">
              <a:xfrm>
                <a:off x="2784" y="3464"/>
                <a:ext cx="20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solidFill>
                      <a:srgbClr val="CC0066"/>
                    </a:solidFill>
                    <a:latin typeface="Comic Sans MS" pitchFamily="66" charset="0"/>
                  </a:rPr>
                  <a:t>1</a:t>
                </a:r>
              </a:p>
            </p:txBody>
          </p:sp>
        </p:grpSp>
        <p:sp>
          <p:nvSpPr>
            <p:cNvPr id="33831" name="Text Box 1160"/>
            <p:cNvSpPr txBox="1">
              <a:spLocks noChangeArrowheads="1"/>
            </p:cNvSpPr>
            <p:nvPr/>
          </p:nvSpPr>
          <p:spPr bwMode="auto">
            <a:xfrm>
              <a:off x="2160" y="2119"/>
              <a:ext cx="5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FF3300"/>
                  </a:solidFill>
                  <a:latin typeface="Symbol" pitchFamily="18" charset="2"/>
                </a:rPr>
                <a:t>b</a:t>
              </a:r>
              <a:r>
                <a:rPr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 = 1</a:t>
              </a:r>
              <a:endParaRPr lang="en-US" altLang="zh-CN" sz="3600">
                <a:solidFill>
                  <a:srgbClr val="FF3300"/>
                </a:solidFill>
                <a:latin typeface="Comic Sans MS" pitchFamily="66" charset="0"/>
                <a:cs typeface="Times New Roman" pitchFamily="18" charset="0"/>
                <a:sym typeface="Symbol" pitchFamily="18" charset="2"/>
              </a:endParaRPr>
            </a:p>
          </p:txBody>
        </p:sp>
        <p:grpSp>
          <p:nvGrpSpPr>
            <p:cNvPr id="33832" name="Group 1161"/>
            <p:cNvGrpSpPr>
              <a:grpSpLocks/>
            </p:cNvGrpSpPr>
            <p:nvPr/>
          </p:nvGrpSpPr>
          <p:grpSpPr bwMode="auto">
            <a:xfrm>
              <a:off x="576" y="2496"/>
              <a:ext cx="1248" cy="1256"/>
              <a:chOff x="576" y="2496"/>
              <a:chExt cx="1248" cy="1256"/>
            </a:xfrm>
          </p:grpSpPr>
          <p:grpSp>
            <p:nvGrpSpPr>
              <p:cNvPr id="33845" name="Group 1162"/>
              <p:cNvGrpSpPr>
                <a:grpSpLocks/>
              </p:cNvGrpSpPr>
              <p:nvPr/>
            </p:nvGrpSpPr>
            <p:grpSpPr bwMode="auto">
              <a:xfrm>
                <a:off x="576" y="2880"/>
                <a:ext cx="576" cy="576"/>
                <a:chOff x="576" y="2880"/>
                <a:chExt cx="576" cy="576"/>
              </a:xfrm>
            </p:grpSpPr>
            <p:grpSp>
              <p:nvGrpSpPr>
                <p:cNvPr id="33848" name="Group 1163"/>
                <p:cNvGrpSpPr>
                  <a:grpSpLocks/>
                </p:cNvGrpSpPr>
                <p:nvPr/>
              </p:nvGrpSpPr>
              <p:grpSpPr bwMode="auto">
                <a:xfrm>
                  <a:off x="576" y="2880"/>
                  <a:ext cx="576" cy="576"/>
                  <a:chOff x="2112" y="1152"/>
                  <a:chExt cx="576" cy="576"/>
                </a:xfrm>
              </p:grpSpPr>
              <p:sp>
                <p:nvSpPr>
                  <p:cNvPr id="33853" name="Rectangle 1164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DCFFB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54" name="Line 1165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55" name="Line 1166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56" name="Line 1167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57" name="Line 1168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49" name="Group 1169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192" cy="192"/>
                  <a:chOff x="576" y="2112"/>
                  <a:chExt cx="192" cy="192"/>
                </a:xfrm>
              </p:grpSpPr>
              <p:sp>
                <p:nvSpPr>
                  <p:cNvPr id="33851" name="Line 1170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52" name="Line 117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850" name="Oval 1172"/>
                <p:cNvSpPr>
                  <a:spLocks noChangeArrowheads="1"/>
                </p:cNvSpPr>
                <p:nvPr/>
              </p:nvSpPr>
              <p:spPr bwMode="auto">
                <a:xfrm>
                  <a:off x="576" y="3072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3846" name="Line 1173"/>
              <p:cNvSpPr>
                <a:spLocks noChangeShapeType="1"/>
              </p:cNvSpPr>
              <p:nvPr/>
            </p:nvSpPr>
            <p:spPr bwMode="auto">
              <a:xfrm flipH="1">
                <a:off x="864" y="2496"/>
                <a:ext cx="96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847" name="Text Box 1174"/>
              <p:cNvSpPr txBox="1">
                <a:spLocks noChangeArrowheads="1"/>
              </p:cNvSpPr>
              <p:nvPr/>
            </p:nvSpPr>
            <p:spPr bwMode="auto">
              <a:xfrm>
                <a:off x="768" y="3464"/>
                <a:ext cx="2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solidFill>
                      <a:srgbClr val="CC0066"/>
                    </a:solidFill>
                    <a:latin typeface="Comic Sans MS" pitchFamily="66" charset="0"/>
                  </a:rPr>
                  <a:t>2</a:t>
                </a:r>
              </a:p>
            </p:txBody>
          </p:sp>
        </p:grpSp>
        <p:grpSp>
          <p:nvGrpSpPr>
            <p:cNvPr id="33833" name="Group 1175"/>
            <p:cNvGrpSpPr>
              <a:grpSpLocks/>
            </p:cNvGrpSpPr>
            <p:nvPr/>
          </p:nvGrpSpPr>
          <p:grpSpPr bwMode="auto">
            <a:xfrm>
              <a:off x="1536" y="1536"/>
              <a:ext cx="1728" cy="960"/>
              <a:chOff x="1536" y="1536"/>
              <a:chExt cx="1728" cy="960"/>
            </a:xfrm>
          </p:grpSpPr>
          <p:sp>
            <p:nvSpPr>
              <p:cNvPr id="33834" name="Line 1176"/>
              <p:cNvSpPr>
                <a:spLocks noChangeShapeType="1"/>
              </p:cNvSpPr>
              <p:nvPr/>
            </p:nvSpPr>
            <p:spPr bwMode="auto">
              <a:xfrm flipH="1">
                <a:off x="1824" y="1536"/>
                <a:ext cx="144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33835" name="Group 1177"/>
              <p:cNvGrpSpPr>
                <a:grpSpLocks/>
              </p:cNvGrpSpPr>
              <p:nvPr/>
            </p:nvGrpSpPr>
            <p:grpSpPr bwMode="auto">
              <a:xfrm>
                <a:off x="1536" y="1920"/>
                <a:ext cx="576" cy="576"/>
                <a:chOff x="1536" y="1920"/>
                <a:chExt cx="576" cy="576"/>
              </a:xfrm>
            </p:grpSpPr>
            <p:grpSp>
              <p:nvGrpSpPr>
                <p:cNvPr id="33836" name="Group 1178"/>
                <p:cNvGrpSpPr>
                  <a:grpSpLocks/>
                </p:cNvGrpSpPr>
                <p:nvPr/>
              </p:nvGrpSpPr>
              <p:grpSpPr bwMode="auto">
                <a:xfrm>
                  <a:off x="1536" y="1920"/>
                  <a:ext cx="576" cy="576"/>
                  <a:chOff x="2112" y="1152"/>
                  <a:chExt cx="576" cy="576"/>
                </a:xfrm>
              </p:grpSpPr>
              <p:sp>
                <p:nvSpPr>
                  <p:cNvPr id="33840" name="Rectangle 1179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F0E09A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41" name="Line 1180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42" name="Line 1181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43" name="Line 1182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44" name="Line 1183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837" name="Group 1184"/>
                <p:cNvGrpSpPr>
                  <a:grpSpLocks/>
                </p:cNvGrpSpPr>
                <p:nvPr/>
              </p:nvGrpSpPr>
              <p:grpSpPr bwMode="auto">
                <a:xfrm>
                  <a:off x="1728" y="2112"/>
                  <a:ext cx="192" cy="192"/>
                  <a:chOff x="576" y="2112"/>
                  <a:chExt cx="192" cy="192"/>
                </a:xfrm>
              </p:grpSpPr>
              <p:sp>
                <p:nvSpPr>
                  <p:cNvPr id="33838" name="Line 1185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39" name="Line 118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33797" name="Group 1204"/>
          <p:cNvGrpSpPr>
            <a:grpSpLocks/>
          </p:cNvGrpSpPr>
          <p:nvPr/>
        </p:nvGrpSpPr>
        <p:grpSpPr bwMode="auto">
          <a:xfrm>
            <a:off x="6705600" y="2438400"/>
            <a:ext cx="3479800" cy="3517900"/>
            <a:chOff x="3264" y="1536"/>
            <a:chExt cx="2192" cy="2216"/>
          </a:xfrm>
        </p:grpSpPr>
        <p:grpSp>
          <p:nvGrpSpPr>
            <p:cNvPr id="33798" name="Group 1203"/>
            <p:cNvGrpSpPr>
              <a:grpSpLocks/>
            </p:cNvGrpSpPr>
            <p:nvPr/>
          </p:nvGrpSpPr>
          <p:grpSpPr bwMode="auto">
            <a:xfrm>
              <a:off x="3264" y="1536"/>
              <a:ext cx="1652" cy="2216"/>
              <a:chOff x="3264" y="1536"/>
              <a:chExt cx="1652" cy="2216"/>
            </a:xfrm>
          </p:grpSpPr>
          <p:grpSp>
            <p:nvGrpSpPr>
              <p:cNvPr id="33800" name="Group 1123"/>
              <p:cNvGrpSpPr>
                <a:grpSpLocks/>
              </p:cNvGrpSpPr>
              <p:nvPr/>
            </p:nvGrpSpPr>
            <p:grpSpPr bwMode="auto">
              <a:xfrm>
                <a:off x="3264" y="1536"/>
                <a:ext cx="1652" cy="960"/>
                <a:chOff x="3264" y="1536"/>
                <a:chExt cx="1652" cy="960"/>
              </a:xfrm>
            </p:grpSpPr>
            <p:grpSp>
              <p:nvGrpSpPr>
                <p:cNvPr id="33816" name="Group 1124"/>
                <p:cNvGrpSpPr>
                  <a:grpSpLocks/>
                </p:cNvGrpSpPr>
                <p:nvPr/>
              </p:nvGrpSpPr>
              <p:grpSpPr bwMode="auto">
                <a:xfrm>
                  <a:off x="3264" y="1536"/>
                  <a:ext cx="1536" cy="960"/>
                  <a:chOff x="3264" y="1536"/>
                  <a:chExt cx="1536" cy="960"/>
                </a:xfrm>
              </p:grpSpPr>
              <p:grpSp>
                <p:nvGrpSpPr>
                  <p:cNvPr id="33818" name="Group 1125"/>
                  <p:cNvGrpSpPr>
                    <a:grpSpLocks/>
                  </p:cNvGrpSpPr>
                  <p:nvPr/>
                </p:nvGrpSpPr>
                <p:grpSpPr bwMode="auto">
                  <a:xfrm>
                    <a:off x="4224" y="1920"/>
                    <a:ext cx="576" cy="576"/>
                    <a:chOff x="4224" y="1920"/>
                    <a:chExt cx="576" cy="576"/>
                  </a:xfrm>
                </p:grpSpPr>
                <p:grpSp>
                  <p:nvGrpSpPr>
                    <p:cNvPr id="33820" name="Group 112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1920"/>
                      <a:ext cx="576" cy="576"/>
                      <a:chOff x="2112" y="1152"/>
                      <a:chExt cx="576" cy="576"/>
                    </a:xfrm>
                  </p:grpSpPr>
                  <p:sp>
                    <p:nvSpPr>
                      <p:cNvPr id="33824" name="Rectangle 112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12" y="1152"/>
                        <a:ext cx="576" cy="576"/>
                      </a:xfrm>
                      <a:prstGeom prst="rect">
                        <a:avLst/>
                      </a:prstGeom>
                      <a:solidFill>
                        <a:srgbClr val="F0E09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25" name="Line 1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15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26" name="Line 112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15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27" name="Line 113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344"/>
                        <a:ext cx="57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28" name="Line 113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57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821" name="Group 1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2112"/>
                      <a:ext cx="192" cy="192"/>
                      <a:chOff x="576" y="2112"/>
                      <a:chExt cx="192" cy="192"/>
                    </a:xfrm>
                  </p:grpSpPr>
                  <p:sp>
                    <p:nvSpPr>
                      <p:cNvPr id="33822" name="Line 113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112"/>
                        <a:ext cx="192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99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23" name="Line 113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76" y="2112"/>
                        <a:ext cx="192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99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3819" name="Line 1135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1536"/>
                    <a:ext cx="1248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817" name="Text Box 1136"/>
                <p:cNvSpPr txBox="1">
                  <a:spLocks noChangeArrowheads="1"/>
                </p:cNvSpPr>
                <p:nvPr/>
              </p:nvSpPr>
              <p:spPr bwMode="auto">
                <a:xfrm>
                  <a:off x="4800" y="2071"/>
                  <a:ext cx="11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 sz="2400">
                    <a:latin typeface="Comic Sans MS" pitchFamily="66" charset="0"/>
                  </a:endParaRPr>
                </a:p>
              </p:txBody>
            </p:sp>
          </p:grpSp>
          <p:grpSp>
            <p:nvGrpSpPr>
              <p:cNvPr id="33801" name="Group 1187"/>
              <p:cNvGrpSpPr>
                <a:grpSpLocks/>
              </p:cNvGrpSpPr>
              <p:nvPr/>
            </p:nvGrpSpPr>
            <p:grpSpPr bwMode="auto">
              <a:xfrm>
                <a:off x="4224" y="2496"/>
                <a:ext cx="576" cy="1256"/>
                <a:chOff x="4224" y="2496"/>
                <a:chExt cx="576" cy="1256"/>
              </a:xfrm>
            </p:grpSpPr>
            <p:grpSp>
              <p:nvGrpSpPr>
                <p:cNvPr id="33802" name="Group 1188"/>
                <p:cNvGrpSpPr>
                  <a:grpSpLocks/>
                </p:cNvGrpSpPr>
                <p:nvPr/>
              </p:nvGrpSpPr>
              <p:grpSpPr bwMode="auto">
                <a:xfrm>
                  <a:off x="4224" y="2496"/>
                  <a:ext cx="576" cy="960"/>
                  <a:chOff x="4224" y="2496"/>
                  <a:chExt cx="576" cy="960"/>
                </a:xfrm>
              </p:grpSpPr>
              <p:grpSp>
                <p:nvGrpSpPr>
                  <p:cNvPr id="33804" name="Group 1189"/>
                  <p:cNvGrpSpPr>
                    <a:grpSpLocks/>
                  </p:cNvGrpSpPr>
                  <p:nvPr/>
                </p:nvGrpSpPr>
                <p:grpSpPr bwMode="auto">
                  <a:xfrm>
                    <a:off x="4224" y="2880"/>
                    <a:ext cx="576" cy="576"/>
                    <a:chOff x="4224" y="2880"/>
                    <a:chExt cx="576" cy="576"/>
                  </a:xfrm>
                </p:grpSpPr>
                <p:grpSp>
                  <p:nvGrpSpPr>
                    <p:cNvPr id="33806" name="Group 119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2880"/>
                      <a:ext cx="576" cy="576"/>
                      <a:chOff x="2112" y="1152"/>
                      <a:chExt cx="576" cy="576"/>
                    </a:xfrm>
                  </p:grpSpPr>
                  <p:sp>
                    <p:nvSpPr>
                      <p:cNvPr id="33811" name="Rectangle 119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12" y="1152"/>
                        <a:ext cx="576" cy="576"/>
                      </a:xfrm>
                      <a:prstGeom prst="rect">
                        <a:avLst/>
                      </a:prstGeom>
                      <a:solidFill>
                        <a:srgbClr val="DCFFB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12" name="Line 119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15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13" name="Line 119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15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14" name="Line 119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344"/>
                        <a:ext cx="57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15" name="Line 119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57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807" name="Group 119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3072"/>
                      <a:ext cx="192" cy="192"/>
                      <a:chOff x="576" y="2112"/>
                      <a:chExt cx="192" cy="192"/>
                    </a:xfrm>
                  </p:grpSpPr>
                  <p:sp>
                    <p:nvSpPr>
                      <p:cNvPr id="33809" name="Line 119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112"/>
                        <a:ext cx="192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99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10" name="Line 1198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76" y="2112"/>
                        <a:ext cx="192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99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3808" name="Oval 11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4" y="2880"/>
                      <a:ext cx="192" cy="19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rgbClr val="99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3805" name="Line 1200"/>
                  <p:cNvSpPr>
                    <a:spLocks noChangeShapeType="1"/>
                  </p:cNvSpPr>
                  <p:nvPr/>
                </p:nvSpPr>
                <p:spPr bwMode="auto">
                  <a:xfrm>
                    <a:off x="4512" y="2496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803" name="Text Box 1201"/>
                <p:cNvSpPr txBox="1">
                  <a:spLocks noChangeArrowheads="1"/>
                </p:cNvSpPr>
                <p:nvPr/>
              </p:nvSpPr>
              <p:spPr bwMode="auto">
                <a:xfrm>
                  <a:off x="4416" y="3464"/>
                  <a:ext cx="28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>
                      <a:solidFill>
                        <a:srgbClr val="CC0066"/>
                      </a:solidFill>
                      <a:latin typeface="Comic Sans MS" pitchFamily="66" charset="0"/>
                    </a:rPr>
                    <a:t>-1</a:t>
                  </a:r>
                </a:p>
              </p:txBody>
            </p:sp>
          </p:grpSp>
        </p:grpSp>
        <p:sp>
          <p:nvSpPr>
            <p:cNvPr id="33799" name="Text Box 1202"/>
            <p:cNvSpPr txBox="1">
              <a:spLocks noChangeArrowheads="1"/>
            </p:cNvSpPr>
            <p:nvPr/>
          </p:nvSpPr>
          <p:spPr bwMode="auto">
            <a:xfrm>
              <a:off x="4800" y="2071"/>
              <a:ext cx="6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FF3300"/>
                  </a:solidFill>
                  <a:latin typeface="Symbol" pitchFamily="18" charset="2"/>
                </a:rPr>
                <a:t>b</a:t>
              </a:r>
              <a:r>
                <a:rPr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 = -1</a:t>
              </a:r>
              <a:r>
                <a:rPr lang="en-US" altLang="zh-CN" sz="2400">
                  <a:latin typeface="Comic Sans MS" pitchFamily="66" charset="0"/>
                </a:rPr>
                <a:t> </a:t>
              </a:r>
            </a:p>
          </p:txBody>
        </p:sp>
      </p:grpSp>
      <p:sp>
        <p:nvSpPr>
          <p:cNvPr id="89" name="矩形 88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609600" y="14478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568324" y="29453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587125" y="48122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1815432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 txBox="1">
            <a:spLocks noChangeArrowheads="1"/>
          </p:cNvSpPr>
          <p:nvPr/>
        </p:nvSpPr>
        <p:spPr>
          <a:xfrm>
            <a:off x="1989137" y="-31888"/>
            <a:ext cx="8229600" cy="1143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α-β</a:t>
            </a:r>
            <a:r>
              <a:rPr lang="zh-CN" altLang="en-US" dirty="0"/>
              <a:t>剪枝</a:t>
            </a:r>
            <a:endParaRPr lang="en-US" altLang="zh-CN" dirty="0"/>
          </a:p>
        </p:txBody>
      </p:sp>
      <p:sp>
        <p:nvSpPr>
          <p:cNvPr id="34819" name="Text Box 1027"/>
          <p:cNvSpPr txBox="1">
            <a:spLocks noChangeArrowheads="1"/>
          </p:cNvSpPr>
          <p:nvPr/>
        </p:nvSpPr>
        <p:spPr bwMode="auto">
          <a:xfrm>
            <a:off x="7162801" y="1839913"/>
            <a:ext cx="849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9900"/>
                </a:solidFill>
                <a:latin typeface="Symbol" pitchFamily="18" charset="2"/>
              </a:rPr>
              <a:t>a</a:t>
            </a:r>
            <a:r>
              <a:rPr lang="en-US" altLang="zh-CN" sz="2400">
                <a:solidFill>
                  <a:srgbClr val="009900"/>
                </a:solidFill>
                <a:latin typeface="Comic Sans MS" pitchFamily="66" charset="0"/>
              </a:rPr>
              <a:t> = </a:t>
            </a:r>
            <a:r>
              <a:rPr lang="en-US" altLang="zh-CN" sz="2400">
                <a:solidFill>
                  <a:srgbClr val="009900"/>
                </a:solidFill>
                <a:latin typeface="Comic Sans MS" pitchFamily="66" charset="0"/>
                <a:cs typeface="Times New Roman" pitchFamily="18" charset="0"/>
                <a:sym typeface="Symbol" pitchFamily="18" charset="2"/>
              </a:rPr>
              <a:t>1</a:t>
            </a:r>
          </a:p>
        </p:txBody>
      </p:sp>
      <p:grpSp>
        <p:nvGrpSpPr>
          <p:cNvPr id="34820" name="Group 1028"/>
          <p:cNvGrpSpPr>
            <a:grpSpLocks/>
          </p:cNvGrpSpPr>
          <p:nvPr/>
        </p:nvGrpSpPr>
        <p:grpSpPr bwMode="auto">
          <a:xfrm>
            <a:off x="2438400" y="1524000"/>
            <a:ext cx="4908550" cy="4432300"/>
            <a:chOff x="576" y="960"/>
            <a:chExt cx="3092" cy="2792"/>
          </a:xfrm>
        </p:grpSpPr>
        <p:grpSp>
          <p:nvGrpSpPr>
            <p:cNvPr id="34856" name="Group 1029"/>
            <p:cNvGrpSpPr>
              <a:grpSpLocks/>
            </p:cNvGrpSpPr>
            <p:nvPr/>
          </p:nvGrpSpPr>
          <p:grpSpPr bwMode="auto">
            <a:xfrm>
              <a:off x="2976" y="960"/>
              <a:ext cx="692" cy="576"/>
              <a:chOff x="2976" y="960"/>
              <a:chExt cx="692" cy="576"/>
            </a:xfrm>
          </p:grpSpPr>
          <p:grpSp>
            <p:nvGrpSpPr>
              <p:cNvPr id="34898" name="Group 1030"/>
              <p:cNvGrpSpPr>
                <a:grpSpLocks/>
              </p:cNvGrpSpPr>
              <p:nvPr/>
            </p:nvGrpSpPr>
            <p:grpSpPr bwMode="auto">
              <a:xfrm>
                <a:off x="2976" y="960"/>
                <a:ext cx="576" cy="576"/>
                <a:chOff x="2112" y="1152"/>
                <a:chExt cx="576" cy="576"/>
              </a:xfrm>
            </p:grpSpPr>
            <p:sp>
              <p:nvSpPr>
                <p:cNvPr id="34900" name="Rectangle 1031"/>
                <p:cNvSpPr>
                  <a:spLocks noChangeArrowheads="1"/>
                </p:cNvSpPr>
                <p:nvPr/>
              </p:nvSpPr>
              <p:spPr bwMode="auto">
                <a:xfrm>
                  <a:off x="2112" y="1152"/>
                  <a:ext cx="576" cy="576"/>
                </a:xfrm>
                <a:prstGeom prst="rect">
                  <a:avLst/>
                </a:prstGeom>
                <a:solidFill>
                  <a:srgbClr val="DCFFB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01" name="Line 1032"/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902" name="Line 1033"/>
                <p:cNvSpPr>
                  <a:spLocks noChangeShapeType="1"/>
                </p:cNvSpPr>
                <p:nvPr/>
              </p:nvSpPr>
              <p:spPr bwMode="auto">
                <a:xfrm>
                  <a:off x="2496" y="1152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903" name="Line 1034"/>
                <p:cNvSpPr>
                  <a:spLocks noChangeShapeType="1"/>
                </p:cNvSpPr>
                <p:nvPr/>
              </p:nvSpPr>
              <p:spPr bwMode="auto">
                <a:xfrm>
                  <a:off x="2112" y="1344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904" name="Line 1035"/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4899" name="Text Box 1036"/>
              <p:cNvSpPr txBox="1">
                <a:spLocks noChangeArrowheads="1"/>
              </p:cNvSpPr>
              <p:nvPr/>
            </p:nvSpPr>
            <p:spPr bwMode="auto">
              <a:xfrm>
                <a:off x="3552" y="1062"/>
                <a:ext cx="116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en-US" sz="360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</p:txBody>
          </p:sp>
        </p:grpSp>
        <p:grpSp>
          <p:nvGrpSpPr>
            <p:cNvPr id="34857" name="Group 1037"/>
            <p:cNvGrpSpPr>
              <a:grpSpLocks/>
            </p:cNvGrpSpPr>
            <p:nvPr/>
          </p:nvGrpSpPr>
          <p:grpSpPr bwMode="auto">
            <a:xfrm>
              <a:off x="1824" y="2496"/>
              <a:ext cx="1344" cy="1256"/>
              <a:chOff x="1824" y="2496"/>
              <a:chExt cx="1344" cy="1256"/>
            </a:xfrm>
          </p:grpSpPr>
          <p:grpSp>
            <p:nvGrpSpPr>
              <p:cNvPr id="34885" name="Group 1038"/>
              <p:cNvGrpSpPr>
                <a:grpSpLocks/>
              </p:cNvGrpSpPr>
              <p:nvPr/>
            </p:nvGrpSpPr>
            <p:grpSpPr bwMode="auto">
              <a:xfrm>
                <a:off x="2592" y="2880"/>
                <a:ext cx="576" cy="576"/>
                <a:chOff x="2592" y="2880"/>
                <a:chExt cx="576" cy="576"/>
              </a:xfrm>
            </p:grpSpPr>
            <p:grpSp>
              <p:nvGrpSpPr>
                <p:cNvPr id="34888" name="Group 1039"/>
                <p:cNvGrpSpPr>
                  <a:grpSpLocks/>
                </p:cNvGrpSpPr>
                <p:nvPr/>
              </p:nvGrpSpPr>
              <p:grpSpPr bwMode="auto">
                <a:xfrm>
                  <a:off x="2592" y="2880"/>
                  <a:ext cx="576" cy="576"/>
                  <a:chOff x="2112" y="1152"/>
                  <a:chExt cx="576" cy="576"/>
                </a:xfrm>
              </p:grpSpPr>
              <p:sp>
                <p:nvSpPr>
                  <p:cNvPr id="34893" name="Rectangle 1040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DCFFB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94" name="Line 1041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95" name="Line 1042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96" name="Line 1043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97" name="Line 1044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889" name="Group 1045"/>
                <p:cNvGrpSpPr>
                  <a:grpSpLocks/>
                </p:cNvGrpSpPr>
                <p:nvPr/>
              </p:nvGrpSpPr>
              <p:grpSpPr bwMode="auto">
                <a:xfrm>
                  <a:off x="2784" y="3072"/>
                  <a:ext cx="192" cy="192"/>
                  <a:chOff x="576" y="2112"/>
                  <a:chExt cx="192" cy="192"/>
                </a:xfrm>
              </p:grpSpPr>
              <p:sp>
                <p:nvSpPr>
                  <p:cNvPr id="34891" name="Line 1046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92" name="Line 104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90" name="Oval 1048"/>
                <p:cNvSpPr>
                  <a:spLocks noChangeArrowheads="1"/>
                </p:cNvSpPr>
                <p:nvPr/>
              </p:nvSpPr>
              <p:spPr bwMode="auto">
                <a:xfrm>
                  <a:off x="2592" y="2880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4886" name="Line 1049"/>
              <p:cNvSpPr>
                <a:spLocks noChangeShapeType="1"/>
              </p:cNvSpPr>
              <p:nvPr/>
            </p:nvSpPr>
            <p:spPr bwMode="auto">
              <a:xfrm>
                <a:off x="1824" y="2496"/>
                <a:ext cx="105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87" name="Text Box 1050"/>
              <p:cNvSpPr txBox="1">
                <a:spLocks noChangeArrowheads="1"/>
              </p:cNvSpPr>
              <p:nvPr/>
            </p:nvSpPr>
            <p:spPr bwMode="auto">
              <a:xfrm>
                <a:off x="2784" y="3464"/>
                <a:ext cx="20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solidFill>
                      <a:srgbClr val="CC0066"/>
                    </a:solidFill>
                    <a:latin typeface="Comic Sans MS" pitchFamily="66" charset="0"/>
                  </a:rPr>
                  <a:t>1</a:t>
                </a:r>
              </a:p>
            </p:txBody>
          </p:sp>
        </p:grpSp>
        <p:sp>
          <p:nvSpPr>
            <p:cNvPr id="34858" name="Text Box 1051"/>
            <p:cNvSpPr txBox="1">
              <a:spLocks noChangeArrowheads="1"/>
            </p:cNvSpPr>
            <p:nvPr/>
          </p:nvSpPr>
          <p:spPr bwMode="auto">
            <a:xfrm>
              <a:off x="2160" y="2119"/>
              <a:ext cx="5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FF3300"/>
                  </a:solidFill>
                  <a:latin typeface="Symbol" pitchFamily="18" charset="2"/>
                </a:rPr>
                <a:t>b</a:t>
              </a:r>
              <a:r>
                <a:rPr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 = 1</a:t>
              </a:r>
              <a:endParaRPr lang="en-US" altLang="zh-CN" sz="3600">
                <a:solidFill>
                  <a:srgbClr val="FF3300"/>
                </a:solidFill>
                <a:latin typeface="Comic Sans MS" pitchFamily="66" charset="0"/>
                <a:cs typeface="Times New Roman" pitchFamily="18" charset="0"/>
                <a:sym typeface="Symbol" pitchFamily="18" charset="2"/>
              </a:endParaRPr>
            </a:p>
          </p:txBody>
        </p:sp>
        <p:grpSp>
          <p:nvGrpSpPr>
            <p:cNvPr id="34859" name="Group 1052"/>
            <p:cNvGrpSpPr>
              <a:grpSpLocks/>
            </p:cNvGrpSpPr>
            <p:nvPr/>
          </p:nvGrpSpPr>
          <p:grpSpPr bwMode="auto">
            <a:xfrm>
              <a:off x="576" y="2496"/>
              <a:ext cx="1248" cy="1256"/>
              <a:chOff x="576" y="2496"/>
              <a:chExt cx="1248" cy="1256"/>
            </a:xfrm>
          </p:grpSpPr>
          <p:grpSp>
            <p:nvGrpSpPr>
              <p:cNvPr id="34872" name="Group 1053"/>
              <p:cNvGrpSpPr>
                <a:grpSpLocks/>
              </p:cNvGrpSpPr>
              <p:nvPr/>
            </p:nvGrpSpPr>
            <p:grpSpPr bwMode="auto">
              <a:xfrm>
                <a:off x="576" y="2880"/>
                <a:ext cx="576" cy="576"/>
                <a:chOff x="576" y="2880"/>
                <a:chExt cx="576" cy="576"/>
              </a:xfrm>
            </p:grpSpPr>
            <p:grpSp>
              <p:nvGrpSpPr>
                <p:cNvPr id="34875" name="Group 1054"/>
                <p:cNvGrpSpPr>
                  <a:grpSpLocks/>
                </p:cNvGrpSpPr>
                <p:nvPr/>
              </p:nvGrpSpPr>
              <p:grpSpPr bwMode="auto">
                <a:xfrm>
                  <a:off x="576" y="2880"/>
                  <a:ext cx="576" cy="576"/>
                  <a:chOff x="2112" y="1152"/>
                  <a:chExt cx="576" cy="576"/>
                </a:xfrm>
              </p:grpSpPr>
              <p:sp>
                <p:nvSpPr>
                  <p:cNvPr id="34880" name="Rectangle 1055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DCFFB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81" name="Line 1056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82" name="Line 1057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83" name="Line 1058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84" name="Line 1059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876" name="Group 1060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192" cy="192"/>
                  <a:chOff x="576" y="2112"/>
                  <a:chExt cx="192" cy="192"/>
                </a:xfrm>
              </p:grpSpPr>
              <p:sp>
                <p:nvSpPr>
                  <p:cNvPr id="34878" name="Line 1061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79" name="Line 106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77" name="Oval 1063"/>
                <p:cNvSpPr>
                  <a:spLocks noChangeArrowheads="1"/>
                </p:cNvSpPr>
                <p:nvPr/>
              </p:nvSpPr>
              <p:spPr bwMode="auto">
                <a:xfrm>
                  <a:off x="576" y="3072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rgbClr val="99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4873" name="Line 1064"/>
              <p:cNvSpPr>
                <a:spLocks noChangeShapeType="1"/>
              </p:cNvSpPr>
              <p:nvPr/>
            </p:nvSpPr>
            <p:spPr bwMode="auto">
              <a:xfrm flipH="1">
                <a:off x="864" y="2496"/>
                <a:ext cx="96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74" name="Text Box 1065"/>
              <p:cNvSpPr txBox="1">
                <a:spLocks noChangeArrowheads="1"/>
              </p:cNvSpPr>
              <p:nvPr/>
            </p:nvSpPr>
            <p:spPr bwMode="auto">
              <a:xfrm>
                <a:off x="768" y="3464"/>
                <a:ext cx="2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solidFill>
                      <a:srgbClr val="CC0066"/>
                    </a:solidFill>
                    <a:latin typeface="Comic Sans MS" pitchFamily="66" charset="0"/>
                  </a:rPr>
                  <a:t>2</a:t>
                </a:r>
              </a:p>
            </p:txBody>
          </p:sp>
        </p:grpSp>
        <p:grpSp>
          <p:nvGrpSpPr>
            <p:cNvPr id="34860" name="Group 1066"/>
            <p:cNvGrpSpPr>
              <a:grpSpLocks/>
            </p:cNvGrpSpPr>
            <p:nvPr/>
          </p:nvGrpSpPr>
          <p:grpSpPr bwMode="auto">
            <a:xfrm>
              <a:off x="1536" y="1536"/>
              <a:ext cx="1728" cy="960"/>
              <a:chOff x="1536" y="1536"/>
              <a:chExt cx="1728" cy="960"/>
            </a:xfrm>
          </p:grpSpPr>
          <p:sp>
            <p:nvSpPr>
              <p:cNvPr id="34861" name="Line 1067"/>
              <p:cNvSpPr>
                <a:spLocks noChangeShapeType="1"/>
              </p:cNvSpPr>
              <p:nvPr/>
            </p:nvSpPr>
            <p:spPr bwMode="auto">
              <a:xfrm flipH="1">
                <a:off x="1824" y="1536"/>
                <a:ext cx="144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34862" name="Group 1068"/>
              <p:cNvGrpSpPr>
                <a:grpSpLocks/>
              </p:cNvGrpSpPr>
              <p:nvPr/>
            </p:nvGrpSpPr>
            <p:grpSpPr bwMode="auto">
              <a:xfrm>
                <a:off x="1536" y="1920"/>
                <a:ext cx="576" cy="576"/>
                <a:chOff x="1536" y="1920"/>
                <a:chExt cx="576" cy="576"/>
              </a:xfrm>
            </p:grpSpPr>
            <p:grpSp>
              <p:nvGrpSpPr>
                <p:cNvPr id="34863" name="Group 1069"/>
                <p:cNvGrpSpPr>
                  <a:grpSpLocks/>
                </p:cNvGrpSpPr>
                <p:nvPr/>
              </p:nvGrpSpPr>
              <p:grpSpPr bwMode="auto">
                <a:xfrm>
                  <a:off x="1536" y="1920"/>
                  <a:ext cx="576" cy="576"/>
                  <a:chOff x="2112" y="1152"/>
                  <a:chExt cx="576" cy="576"/>
                </a:xfrm>
              </p:grpSpPr>
              <p:sp>
                <p:nvSpPr>
                  <p:cNvPr id="34867" name="Rectangle 1070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1152"/>
                    <a:ext cx="576" cy="576"/>
                  </a:xfrm>
                  <a:prstGeom prst="rect">
                    <a:avLst/>
                  </a:prstGeom>
                  <a:solidFill>
                    <a:srgbClr val="F0E09A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68" name="Line 1071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69" name="Line 1072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152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70" name="Line 1073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344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71" name="Line 1074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5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864" name="Group 1075"/>
                <p:cNvGrpSpPr>
                  <a:grpSpLocks/>
                </p:cNvGrpSpPr>
                <p:nvPr/>
              </p:nvGrpSpPr>
              <p:grpSpPr bwMode="auto">
                <a:xfrm>
                  <a:off x="1728" y="2112"/>
                  <a:ext cx="192" cy="192"/>
                  <a:chOff x="576" y="2112"/>
                  <a:chExt cx="192" cy="192"/>
                </a:xfrm>
              </p:grpSpPr>
              <p:sp>
                <p:nvSpPr>
                  <p:cNvPr id="34865" name="Line 1076"/>
                  <p:cNvSpPr>
                    <a:spLocks noChangeShapeType="1"/>
                  </p:cNvSpPr>
                  <p:nvPr/>
                </p:nvSpPr>
                <p:spPr bwMode="auto">
                  <a:xfrm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66" name="Line 107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12"/>
                    <a:ext cx="192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990000"/>
                    </a:solidFill>
                    <a:round/>
                    <a:headEnd/>
                    <a:tailEnd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34821" name="Group 1110"/>
          <p:cNvGrpSpPr>
            <a:grpSpLocks/>
          </p:cNvGrpSpPr>
          <p:nvPr/>
        </p:nvGrpSpPr>
        <p:grpSpPr bwMode="auto">
          <a:xfrm>
            <a:off x="6705600" y="2438400"/>
            <a:ext cx="3479800" cy="3517900"/>
            <a:chOff x="3264" y="1536"/>
            <a:chExt cx="2192" cy="2216"/>
          </a:xfrm>
        </p:grpSpPr>
        <p:grpSp>
          <p:nvGrpSpPr>
            <p:cNvPr id="34825" name="Group 1078"/>
            <p:cNvGrpSpPr>
              <a:grpSpLocks/>
            </p:cNvGrpSpPr>
            <p:nvPr/>
          </p:nvGrpSpPr>
          <p:grpSpPr bwMode="auto">
            <a:xfrm>
              <a:off x="3264" y="1536"/>
              <a:ext cx="1652" cy="2216"/>
              <a:chOff x="3264" y="1536"/>
              <a:chExt cx="1652" cy="2216"/>
            </a:xfrm>
          </p:grpSpPr>
          <p:grpSp>
            <p:nvGrpSpPr>
              <p:cNvPr id="34827" name="Group 1079"/>
              <p:cNvGrpSpPr>
                <a:grpSpLocks/>
              </p:cNvGrpSpPr>
              <p:nvPr/>
            </p:nvGrpSpPr>
            <p:grpSpPr bwMode="auto">
              <a:xfrm>
                <a:off x="3264" y="1536"/>
                <a:ext cx="1652" cy="960"/>
                <a:chOff x="3264" y="1536"/>
                <a:chExt cx="1652" cy="960"/>
              </a:xfrm>
            </p:grpSpPr>
            <p:grpSp>
              <p:nvGrpSpPr>
                <p:cNvPr id="34843" name="Group 1080"/>
                <p:cNvGrpSpPr>
                  <a:grpSpLocks/>
                </p:cNvGrpSpPr>
                <p:nvPr/>
              </p:nvGrpSpPr>
              <p:grpSpPr bwMode="auto">
                <a:xfrm>
                  <a:off x="3264" y="1536"/>
                  <a:ext cx="1536" cy="960"/>
                  <a:chOff x="3264" y="1536"/>
                  <a:chExt cx="1536" cy="960"/>
                </a:xfrm>
              </p:grpSpPr>
              <p:grpSp>
                <p:nvGrpSpPr>
                  <p:cNvPr id="34845" name="Group 1081"/>
                  <p:cNvGrpSpPr>
                    <a:grpSpLocks/>
                  </p:cNvGrpSpPr>
                  <p:nvPr/>
                </p:nvGrpSpPr>
                <p:grpSpPr bwMode="auto">
                  <a:xfrm>
                    <a:off x="4224" y="1920"/>
                    <a:ext cx="576" cy="576"/>
                    <a:chOff x="4224" y="1920"/>
                    <a:chExt cx="576" cy="576"/>
                  </a:xfrm>
                </p:grpSpPr>
                <p:grpSp>
                  <p:nvGrpSpPr>
                    <p:cNvPr id="34847" name="Group 10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1920"/>
                      <a:ext cx="576" cy="576"/>
                      <a:chOff x="2112" y="1152"/>
                      <a:chExt cx="576" cy="576"/>
                    </a:xfrm>
                  </p:grpSpPr>
                  <p:sp>
                    <p:nvSpPr>
                      <p:cNvPr id="34851" name="Rectangle 10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12" y="1152"/>
                        <a:ext cx="576" cy="576"/>
                      </a:xfrm>
                      <a:prstGeom prst="rect">
                        <a:avLst/>
                      </a:prstGeom>
                      <a:solidFill>
                        <a:srgbClr val="F0E09A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52" name="Line 108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15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53" name="Line 108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15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54" name="Line 108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344"/>
                        <a:ext cx="57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55" name="Line 108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57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848" name="Group 108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2112"/>
                      <a:ext cx="192" cy="192"/>
                      <a:chOff x="576" y="2112"/>
                      <a:chExt cx="192" cy="192"/>
                    </a:xfrm>
                  </p:grpSpPr>
                  <p:sp>
                    <p:nvSpPr>
                      <p:cNvPr id="34849" name="Line 108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112"/>
                        <a:ext cx="192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99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50" name="Line 1090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76" y="2112"/>
                        <a:ext cx="192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99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4846" name="Line 109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1536"/>
                    <a:ext cx="1248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44" name="Text Box 1092"/>
                <p:cNvSpPr txBox="1">
                  <a:spLocks noChangeArrowheads="1"/>
                </p:cNvSpPr>
                <p:nvPr/>
              </p:nvSpPr>
              <p:spPr bwMode="auto">
                <a:xfrm>
                  <a:off x="4800" y="2071"/>
                  <a:ext cx="11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 sz="2400">
                    <a:latin typeface="Comic Sans MS" pitchFamily="66" charset="0"/>
                  </a:endParaRPr>
                </a:p>
              </p:txBody>
            </p:sp>
          </p:grpSp>
          <p:grpSp>
            <p:nvGrpSpPr>
              <p:cNvPr id="34828" name="Group 1093"/>
              <p:cNvGrpSpPr>
                <a:grpSpLocks/>
              </p:cNvGrpSpPr>
              <p:nvPr/>
            </p:nvGrpSpPr>
            <p:grpSpPr bwMode="auto">
              <a:xfrm>
                <a:off x="4224" y="2496"/>
                <a:ext cx="576" cy="1256"/>
                <a:chOff x="4224" y="2496"/>
                <a:chExt cx="576" cy="1256"/>
              </a:xfrm>
            </p:grpSpPr>
            <p:grpSp>
              <p:nvGrpSpPr>
                <p:cNvPr id="34829" name="Group 1094"/>
                <p:cNvGrpSpPr>
                  <a:grpSpLocks/>
                </p:cNvGrpSpPr>
                <p:nvPr/>
              </p:nvGrpSpPr>
              <p:grpSpPr bwMode="auto">
                <a:xfrm>
                  <a:off x="4224" y="2496"/>
                  <a:ext cx="576" cy="960"/>
                  <a:chOff x="4224" y="2496"/>
                  <a:chExt cx="576" cy="960"/>
                </a:xfrm>
              </p:grpSpPr>
              <p:grpSp>
                <p:nvGrpSpPr>
                  <p:cNvPr id="34831" name="Group 1095"/>
                  <p:cNvGrpSpPr>
                    <a:grpSpLocks/>
                  </p:cNvGrpSpPr>
                  <p:nvPr/>
                </p:nvGrpSpPr>
                <p:grpSpPr bwMode="auto">
                  <a:xfrm>
                    <a:off x="4224" y="2880"/>
                    <a:ext cx="576" cy="576"/>
                    <a:chOff x="4224" y="2880"/>
                    <a:chExt cx="576" cy="576"/>
                  </a:xfrm>
                </p:grpSpPr>
                <p:grpSp>
                  <p:nvGrpSpPr>
                    <p:cNvPr id="34833" name="Group 109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2880"/>
                      <a:ext cx="576" cy="576"/>
                      <a:chOff x="2112" y="1152"/>
                      <a:chExt cx="576" cy="576"/>
                    </a:xfrm>
                  </p:grpSpPr>
                  <p:sp>
                    <p:nvSpPr>
                      <p:cNvPr id="34838" name="Rectangle 109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12" y="1152"/>
                        <a:ext cx="576" cy="576"/>
                      </a:xfrm>
                      <a:prstGeom prst="rect">
                        <a:avLst/>
                      </a:prstGeom>
                      <a:solidFill>
                        <a:srgbClr val="DCFFB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39" name="Line 109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15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40" name="Line 109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15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41" name="Line 110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344"/>
                        <a:ext cx="57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42" name="Line 110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57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834" name="Group 110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3072"/>
                      <a:ext cx="192" cy="192"/>
                      <a:chOff x="576" y="2112"/>
                      <a:chExt cx="192" cy="192"/>
                    </a:xfrm>
                  </p:grpSpPr>
                  <p:sp>
                    <p:nvSpPr>
                      <p:cNvPr id="34836" name="Line 110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112"/>
                        <a:ext cx="192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99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37" name="Line 110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76" y="2112"/>
                        <a:ext cx="192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99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4835" name="Oval 11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4" y="2880"/>
                      <a:ext cx="192" cy="19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rgbClr val="99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832" name="Line 1106"/>
                  <p:cNvSpPr>
                    <a:spLocks noChangeShapeType="1"/>
                  </p:cNvSpPr>
                  <p:nvPr/>
                </p:nvSpPr>
                <p:spPr bwMode="auto">
                  <a:xfrm>
                    <a:off x="4512" y="2496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30" name="Text Box 1107"/>
                <p:cNvSpPr txBox="1">
                  <a:spLocks noChangeArrowheads="1"/>
                </p:cNvSpPr>
                <p:nvPr/>
              </p:nvSpPr>
              <p:spPr bwMode="auto">
                <a:xfrm>
                  <a:off x="4416" y="3464"/>
                  <a:ext cx="28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>
                      <a:solidFill>
                        <a:srgbClr val="CC0066"/>
                      </a:solidFill>
                      <a:latin typeface="Comic Sans MS" pitchFamily="66" charset="0"/>
                    </a:rPr>
                    <a:t>-1</a:t>
                  </a:r>
                </a:p>
              </p:txBody>
            </p:sp>
          </p:grpSp>
        </p:grpSp>
        <p:sp>
          <p:nvSpPr>
            <p:cNvPr id="34826" name="Text Box 1108"/>
            <p:cNvSpPr txBox="1">
              <a:spLocks noChangeArrowheads="1"/>
            </p:cNvSpPr>
            <p:nvPr/>
          </p:nvSpPr>
          <p:spPr bwMode="auto">
            <a:xfrm>
              <a:off x="4800" y="2071"/>
              <a:ext cx="6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FF3300"/>
                  </a:solidFill>
                  <a:latin typeface="Symbol" pitchFamily="18" charset="2"/>
                </a:rPr>
                <a:t>b</a:t>
              </a:r>
              <a:r>
                <a:rPr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 = -1</a:t>
              </a:r>
              <a:r>
                <a:rPr lang="en-US" altLang="zh-CN" sz="2400">
                  <a:latin typeface="Comic Sans MS" pitchFamily="66" charset="0"/>
                </a:rPr>
                <a:t> </a:t>
              </a:r>
            </a:p>
          </p:txBody>
        </p:sp>
      </p:grpSp>
      <p:grpSp>
        <p:nvGrpSpPr>
          <p:cNvPr id="34822" name="Group 1112"/>
          <p:cNvGrpSpPr>
            <a:grpSpLocks/>
          </p:cNvGrpSpPr>
          <p:nvPr/>
        </p:nvGrpSpPr>
        <p:grpSpPr bwMode="auto">
          <a:xfrm>
            <a:off x="1905000" y="3962400"/>
            <a:ext cx="6705600" cy="1225550"/>
            <a:chOff x="240" y="2496"/>
            <a:chExt cx="4224" cy="772"/>
          </a:xfrm>
        </p:grpSpPr>
        <p:sp>
          <p:nvSpPr>
            <p:cNvPr id="87" name="Text Box 1109"/>
            <p:cNvSpPr txBox="1">
              <a:spLocks noChangeArrowheads="1"/>
            </p:cNvSpPr>
            <p:nvPr/>
          </p:nvSpPr>
          <p:spPr bwMode="auto">
            <a:xfrm>
              <a:off x="240" y="2496"/>
              <a:ext cx="3525" cy="772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6633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如果 </a:t>
              </a:r>
              <a:r>
                <a:rPr lang="en-US" altLang="zh-CN" sz="2400" dirty="0">
                  <a:latin typeface="Comic Sans MS" pitchFamily="66" charset="0"/>
                  <a:ea typeface="隶书" pitchFamily="49" charset="-122"/>
                </a:rPr>
                <a:t>MIN</a:t>
              </a: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节点的</a:t>
              </a:r>
              <a:r>
                <a:rPr lang="en-US" altLang="zh-CN" sz="2400" dirty="0">
                  <a:solidFill>
                    <a:srgbClr val="FF3300"/>
                  </a:solidFill>
                  <a:latin typeface="Symbol" pitchFamily="18" charset="2"/>
                  <a:ea typeface="隶书" pitchFamily="49" charset="-122"/>
                </a:rPr>
                <a:t>b</a:t>
              </a: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值小于或等于其</a:t>
              </a:r>
              <a:r>
                <a:rPr lang="en-US" altLang="zh-CN" sz="2400" dirty="0">
                  <a:latin typeface="Comic Sans MS" pitchFamily="66" charset="0"/>
                  <a:ea typeface="隶书" pitchFamily="49" charset="-122"/>
                </a:rPr>
                <a:t>MAX</a:t>
              </a:r>
            </a:p>
            <a:p>
              <a:pPr>
                <a:defRPr/>
              </a:pPr>
              <a:r>
                <a:rPr lang="zh-CN" altLang="en-US" sz="2400" dirty="0">
                  <a:solidFill>
                    <a:srgbClr val="FF0000"/>
                  </a:solidFill>
                  <a:latin typeface="Comic Sans MS" pitchFamily="66" charset="0"/>
                  <a:ea typeface="隶书" pitchFamily="49" charset="-122"/>
                </a:rPr>
                <a:t>祖先节点</a:t>
              </a: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的</a:t>
              </a:r>
              <a:r>
                <a:rPr lang="en-US" altLang="zh-CN" sz="2400" dirty="0">
                  <a:solidFill>
                    <a:srgbClr val="009900"/>
                  </a:solidFill>
                  <a:latin typeface="Symbol" pitchFamily="18" charset="2"/>
                  <a:ea typeface="隶书" pitchFamily="49" charset="-122"/>
                </a:rPr>
                <a:t>a</a:t>
              </a: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值，那么该处的搜索可以不</a:t>
              </a:r>
            </a:p>
            <a:p>
              <a:pPr>
                <a:defRPr/>
              </a:pP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用进行了</a:t>
              </a:r>
              <a:endParaRPr lang="en-US" altLang="zh-CN" sz="2400" dirty="0">
                <a:latin typeface="Comic Sans MS" pitchFamily="66" charset="0"/>
                <a:ea typeface="隶书" pitchFamily="49" charset="-122"/>
              </a:endParaRPr>
            </a:p>
          </p:txBody>
        </p:sp>
        <p:sp>
          <p:nvSpPr>
            <p:cNvPr id="34824" name="Freeform 1111"/>
            <p:cNvSpPr>
              <a:spLocks/>
            </p:cNvSpPr>
            <p:nvPr/>
          </p:nvSpPr>
          <p:spPr bwMode="auto">
            <a:xfrm>
              <a:off x="3600" y="2544"/>
              <a:ext cx="864" cy="432"/>
            </a:xfrm>
            <a:custGeom>
              <a:avLst/>
              <a:gdLst>
                <a:gd name="T0" fmla="*/ 0 w 864"/>
                <a:gd name="T1" fmla="*/ 432 h 432"/>
                <a:gd name="T2" fmla="*/ 432 w 864"/>
                <a:gd name="T3" fmla="*/ 336 h 432"/>
                <a:gd name="T4" fmla="*/ 864 w 864"/>
                <a:gd name="T5" fmla="*/ 0 h 432"/>
                <a:gd name="T6" fmla="*/ 0 60000 65536"/>
                <a:gd name="T7" fmla="*/ 0 60000 65536"/>
                <a:gd name="T8" fmla="*/ 0 60000 65536"/>
                <a:gd name="T9" fmla="*/ 0 w 864"/>
                <a:gd name="T10" fmla="*/ 0 h 432"/>
                <a:gd name="T11" fmla="*/ 864 w 864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432">
                  <a:moveTo>
                    <a:pt x="0" y="432"/>
                  </a:moveTo>
                  <a:cubicBezTo>
                    <a:pt x="144" y="420"/>
                    <a:pt x="288" y="408"/>
                    <a:pt x="432" y="336"/>
                  </a:cubicBezTo>
                  <a:cubicBezTo>
                    <a:pt x="576" y="264"/>
                    <a:pt x="720" y="132"/>
                    <a:pt x="864" y="0"/>
                  </a:cubicBezTo>
                </a:path>
              </a:pathLst>
            </a:custGeom>
            <a:noFill/>
            <a:ln w="38100">
              <a:solidFill>
                <a:srgbClr val="66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92" name="矩形 91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609600" y="1447800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568324" y="29453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587125" y="4812268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95" name="Line 1106"/>
          <p:cNvSpPr>
            <a:spLocks noChangeShapeType="1"/>
          </p:cNvSpPr>
          <p:nvPr/>
        </p:nvSpPr>
        <p:spPr bwMode="auto">
          <a:xfrm>
            <a:off x="8982074" y="3962400"/>
            <a:ext cx="183832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536531" y="3919835"/>
            <a:ext cx="9781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α</a:t>
            </a:r>
            <a:r>
              <a:rPr lang="zh-CN" altLang="en-US" sz="2400" dirty="0">
                <a:solidFill>
                  <a:srgbClr val="FF0000"/>
                </a:solidFill>
              </a:rPr>
              <a:t>剪枝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9851886" y="3888938"/>
            <a:ext cx="6463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endParaRPr lang="zh-CN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933700" y="6386660"/>
            <a:ext cx="952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极小极大搜索是深度优先的，所以任何时候</a:t>
            </a:r>
            <a:r>
              <a:rPr lang="zh-CN" altLang="en-US" dirty="0">
                <a:solidFill>
                  <a:srgbClr val="FF0000"/>
                </a:solidFill>
              </a:rPr>
              <a:t>只需要考虑树中某条单一路径上的结点</a:t>
            </a:r>
            <a:endParaRPr lang="zh-CN" altLang="en-US" dirty="0"/>
          </a:p>
        </p:txBody>
      </p:sp>
      <p:sp>
        <p:nvSpPr>
          <p:cNvPr id="96" name="Text Box 1063"/>
          <p:cNvSpPr txBox="1">
            <a:spLocks noChangeArrowheads="1"/>
          </p:cNvSpPr>
          <p:nvPr/>
        </p:nvSpPr>
        <p:spPr bwMode="auto">
          <a:xfrm>
            <a:off x="219111" y="2155975"/>
            <a:ext cx="5048177" cy="461665"/>
          </a:xfrm>
          <a:prstGeom prst="rect">
            <a:avLst/>
          </a:prstGeom>
          <a:solidFill>
            <a:srgbClr val="F6EDC6"/>
          </a:solidFill>
          <a:ln w="9525">
            <a:solidFill>
              <a:srgbClr val="99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Symbol" pitchFamily="18" charset="2"/>
              <a:buChar char="b"/>
            </a:pPr>
            <a:r>
              <a:rPr lang="zh-CN" altLang="en-US" sz="2400" dirty="0">
                <a:solidFill>
                  <a:schemeClr val="accent1">
                    <a:lumMod val="25000"/>
                  </a:schemeClr>
                </a:solidFill>
                <a:latin typeface="Comic Sans MS" pitchFamily="66" charset="0"/>
                <a:ea typeface="隶书" pitchFamily="49" charset="-122"/>
              </a:rPr>
              <a:t> 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值是</a:t>
            </a:r>
            <a:r>
              <a:rPr lang="en-US" altLang="zh-CN" sz="2400" dirty="0">
                <a:solidFill>
                  <a:schemeClr val="accent1">
                    <a:lumMod val="25000"/>
                  </a:schemeClr>
                </a:solidFill>
                <a:latin typeface="Comic Sans MS" pitchFamily="66" charset="0"/>
                <a:ea typeface="隶书" pitchFamily="49" charset="-122"/>
              </a:rPr>
              <a:t>MIN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节点的最佳</a:t>
            </a:r>
            <a:r>
              <a:rPr lang="en-US" altLang="zh-CN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(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极小值</a:t>
            </a:r>
            <a:r>
              <a:rPr lang="en-US" altLang="zh-CN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)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选择</a:t>
            </a:r>
            <a:endParaRPr lang="en-US" altLang="zh-CN" sz="2400" dirty="0">
              <a:solidFill>
                <a:srgbClr val="990000"/>
              </a:solidFill>
              <a:latin typeface="Comic Sans MS" pitchFamily="66" charset="0"/>
              <a:ea typeface="隶书" pitchFamily="49" charset="-122"/>
            </a:endParaRPr>
          </a:p>
        </p:txBody>
      </p:sp>
      <p:sp>
        <p:nvSpPr>
          <p:cNvPr id="98" name="Text Box 1123"/>
          <p:cNvSpPr txBox="1">
            <a:spLocks noChangeArrowheads="1"/>
          </p:cNvSpPr>
          <p:nvPr/>
        </p:nvSpPr>
        <p:spPr bwMode="auto">
          <a:xfrm>
            <a:off x="7162800" y="904391"/>
            <a:ext cx="4996881" cy="461665"/>
          </a:xfrm>
          <a:prstGeom prst="rect">
            <a:avLst/>
          </a:prstGeom>
          <a:solidFill>
            <a:srgbClr val="ECFFD9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Symbol" pitchFamily="18" charset="2"/>
                <a:ea typeface="隶书" pitchFamily="49" charset="-122"/>
              </a:rPr>
              <a:t>a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值是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MAX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节点的最佳</a:t>
            </a:r>
            <a:r>
              <a:rPr lang="en-US" altLang="zh-CN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(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极大值</a:t>
            </a:r>
            <a:r>
              <a:rPr lang="en-US" altLang="zh-CN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)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选择</a:t>
            </a:r>
            <a:endParaRPr lang="en-US" altLang="zh-CN" sz="2400" dirty="0">
              <a:solidFill>
                <a:srgbClr val="009900"/>
              </a:solidFill>
              <a:latin typeface="Symbol" pitchFamily="18" charset="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8618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AutoShape 4"/>
          <p:cNvSpPr>
            <a:spLocks noChangeArrowheads="1"/>
          </p:cNvSpPr>
          <p:nvPr/>
        </p:nvSpPr>
        <p:spPr bwMode="auto">
          <a:xfrm>
            <a:off x="6222308" y="1847850"/>
            <a:ext cx="508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3170075" y="3403600"/>
            <a:ext cx="508000" cy="1187450"/>
            <a:chOff x="1981200" y="3765550"/>
            <a:chExt cx="381000" cy="1187450"/>
          </a:xfrm>
        </p:grpSpPr>
        <p:cxnSp>
          <p:nvCxnSpPr>
            <p:cNvPr id="22568" name="AutoShape 13"/>
            <p:cNvCxnSpPr>
              <a:cxnSpLocks noChangeShapeType="1"/>
            </p:cNvCxnSpPr>
            <p:nvPr/>
          </p:nvCxnSpPr>
          <p:spPr bwMode="auto">
            <a:xfrm>
              <a:off x="2173286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9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3435406" y="3403600"/>
            <a:ext cx="1258673" cy="1187450"/>
            <a:chOff x="2180196" y="3765550"/>
            <a:chExt cx="944004" cy="1187450"/>
          </a:xfrm>
        </p:grpSpPr>
        <p:cxnSp>
          <p:nvCxnSpPr>
            <p:cNvPr id="22566" name="AutoShape 17"/>
            <p:cNvCxnSpPr>
              <a:cxnSpLocks noChangeShapeType="1"/>
            </p:cNvCxnSpPr>
            <p:nvPr/>
          </p:nvCxnSpPr>
          <p:spPr bwMode="auto">
            <a:xfrm>
              <a:off x="2180196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7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9266075" y="3403600"/>
            <a:ext cx="508000" cy="1187450"/>
            <a:chOff x="6553200" y="3765550"/>
            <a:chExt cx="381000" cy="1187450"/>
          </a:xfrm>
        </p:grpSpPr>
        <p:cxnSp>
          <p:nvCxnSpPr>
            <p:cNvPr id="22564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5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9522192" y="3403600"/>
            <a:ext cx="1267883" cy="1187450"/>
            <a:chOff x="6745288" y="3765550"/>
            <a:chExt cx="950912" cy="1187450"/>
          </a:xfrm>
        </p:grpSpPr>
        <p:cxnSp>
          <p:nvCxnSpPr>
            <p:cNvPr id="22562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3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3174308" y="2152650"/>
            <a:ext cx="3311236" cy="1250950"/>
            <a:chOff x="1984375" y="2514600"/>
            <a:chExt cx="2483428" cy="1250950"/>
          </a:xfrm>
        </p:grpSpPr>
        <p:sp>
          <p:nvSpPr>
            <p:cNvPr id="22560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61" name="AutoShape 7"/>
            <p:cNvCxnSpPr>
              <a:cxnSpLocks noChangeShapeType="1"/>
              <a:stCxn id="22531" idx="3"/>
              <a:endCxn id="22560" idx="3"/>
            </p:cNvCxnSpPr>
            <p:nvPr/>
          </p:nvCxnSpPr>
          <p:spPr bwMode="auto">
            <a:xfrm flipH="1">
              <a:off x="2174875" y="2514600"/>
              <a:ext cx="2292928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22560" idx="0"/>
          </p:cNvCxnSpPr>
          <p:nvPr/>
        </p:nvCxnSpPr>
        <p:spPr bwMode="auto">
          <a:xfrm flipH="1">
            <a:off x="2412309" y="3403601"/>
            <a:ext cx="1013884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2154075" y="4286250"/>
            <a:ext cx="508000" cy="3048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6318618" y="2303992"/>
            <a:ext cx="304800" cy="211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22531" idx="3"/>
          </p:cNvCxnSpPr>
          <p:nvPr/>
        </p:nvCxnSpPr>
        <p:spPr bwMode="auto">
          <a:xfrm rot="16200000" flipH="1">
            <a:off x="6740892" y="1888067"/>
            <a:ext cx="228600" cy="757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3272734" y="3551767"/>
            <a:ext cx="304800" cy="2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22560" idx="0"/>
          </p:cNvCxnSpPr>
          <p:nvPr/>
        </p:nvCxnSpPr>
        <p:spPr bwMode="auto">
          <a:xfrm rot="16200000" flipH="1">
            <a:off x="3454767" y="3377141"/>
            <a:ext cx="196850" cy="249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6222308" y="2152650"/>
            <a:ext cx="508000" cy="1235076"/>
            <a:chOff x="4270375" y="2514599"/>
            <a:chExt cx="381000" cy="1235076"/>
          </a:xfrm>
        </p:grpSpPr>
        <p:sp>
          <p:nvSpPr>
            <p:cNvPr id="22558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59" name="AutoShape 21"/>
            <p:cNvCxnSpPr>
              <a:cxnSpLocks noChangeShapeType="1"/>
              <a:stCxn id="22531" idx="3"/>
              <a:endCxn id="22558" idx="3"/>
            </p:cNvCxnSpPr>
            <p:nvPr/>
          </p:nvCxnSpPr>
          <p:spPr bwMode="auto">
            <a:xfrm flipH="1">
              <a:off x="4460875" y="2514599"/>
              <a:ext cx="6927" cy="9302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5202075" y="3400426"/>
            <a:ext cx="1524000" cy="1190625"/>
            <a:chOff x="3505200" y="3762375"/>
            <a:chExt cx="1142999" cy="1190625"/>
          </a:xfrm>
        </p:grpSpPr>
        <p:cxnSp>
          <p:nvCxnSpPr>
            <p:cNvPr id="22554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55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22556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557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6485544" y="2152650"/>
            <a:ext cx="3292764" cy="1250950"/>
            <a:chOff x="4467802" y="2514600"/>
            <a:chExt cx="2469573" cy="1250950"/>
          </a:xfrm>
        </p:grpSpPr>
        <p:sp>
          <p:nvSpPr>
            <p:cNvPr id="22552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53" name="AutoShape 27"/>
            <p:cNvCxnSpPr>
              <a:cxnSpLocks noChangeShapeType="1"/>
              <a:stCxn id="22531" idx="3"/>
              <a:endCxn id="22552" idx="3"/>
            </p:cNvCxnSpPr>
            <p:nvPr/>
          </p:nvCxnSpPr>
          <p:spPr bwMode="auto">
            <a:xfrm>
              <a:off x="4467802" y="2514600"/>
              <a:ext cx="227907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8250075" y="3400426"/>
            <a:ext cx="1524000" cy="1190625"/>
            <a:chOff x="5791200" y="3762375"/>
            <a:chExt cx="1142999" cy="1190625"/>
          </a:xfrm>
        </p:grpSpPr>
        <p:cxnSp>
          <p:nvCxnSpPr>
            <p:cNvPr id="22548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49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22550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551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9B3A138B-C250-4E93-91BF-0D3533CF8B45}"/>
              </a:ext>
            </a:extLst>
          </p:cNvPr>
          <p:cNvSpPr/>
          <p:nvPr/>
        </p:nvSpPr>
        <p:spPr>
          <a:xfrm>
            <a:off x="2785137" y="300757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3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792CB3E-BDA6-4558-B181-C12DF47C444D}"/>
              </a:ext>
            </a:extLst>
          </p:cNvPr>
          <p:cNvSpPr/>
          <p:nvPr/>
        </p:nvSpPr>
        <p:spPr>
          <a:xfrm>
            <a:off x="5719805" y="301695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C09D583-A137-44DC-9887-1B89FEFFA5AE}"/>
              </a:ext>
            </a:extLst>
          </p:cNvPr>
          <p:cNvSpPr/>
          <p:nvPr/>
        </p:nvSpPr>
        <p:spPr>
          <a:xfrm>
            <a:off x="8925832" y="310404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59A5150-F0CA-432A-B58B-001704145FD0}"/>
              </a:ext>
            </a:extLst>
          </p:cNvPr>
          <p:cNvSpPr/>
          <p:nvPr/>
        </p:nvSpPr>
        <p:spPr>
          <a:xfrm>
            <a:off x="5810798" y="176600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8EC1226-8DF9-40B0-9444-0A15292D64EC}"/>
              </a:ext>
            </a:extLst>
          </p:cNvPr>
          <p:cNvSpPr/>
          <p:nvPr/>
        </p:nvSpPr>
        <p:spPr>
          <a:xfrm>
            <a:off x="609469" y="1766006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Max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276A4D8-83FE-493C-B7B2-66D1FE3E7959}"/>
              </a:ext>
            </a:extLst>
          </p:cNvPr>
          <p:cNvSpPr/>
          <p:nvPr/>
        </p:nvSpPr>
        <p:spPr>
          <a:xfrm>
            <a:off x="609470" y="2995174"/>
            <a:ext cx="650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Min</a:t>
            </a:r>
          </a:p>
        </p:txBody>
      </p:sp>
      <p:sp>
        <p:nvSpPr>
          <p:cNvPr id="47" name="Text Box 1063"/>
          <p:cNvSpPr txBox="1">
            <a:spLocks noChangeArrowheads="1"/>
          </p:cNvSpPr>
          <p:nvPr/>
        </p:nvSpPr>
        <p:spPr bwMode="auto">
          <a:xfrm>
            <a:off x="94324" y="3400425"/>
            <a:ext cx="1962695" cy="1200329"/>
          </a:xfrm>
          <a:prstGeom prst="rect">
            <a:avLst/>
          </a:prstGeom>
          <a:solidFill>
            <a:srgbClr val="F6EDC6"/>
          </a:solidFill>
          <a:ln w="9525">
            <a:solidFill>
              <a:srgbClr val="99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Symbol" pitchFamily="18" charset="2"/>
              <a:buChar char="b"/>
            </a:pPr>
            <a:r>
              <a:rPr lang="zh-CN" altLang="en-US" sz="2400" dirty="0">
                <a:solidFill>
                  <a:schemeClr val="accent1">
                    <a:lumMod val="25000"/>
                  </a:schemeClr>
                </a:solidFill>
                <a:latin typeface="Comic Sans MS" pitchFamily="66" charset="0"/>
                <a:ea typeface="隶书" pitchFamily="49" charset="-122"/>
              </a:rPr>
              <a:t> 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值是</a:t>
            </a:r>
            <a:r>
              <a:rPr lang="en-US" altLang="zh-CN" sz="2400" dirty="0">
                <a:solidFill>
                  <a:schemeClr val="accent1">
                    <a:lumMod val="25000"/>
                  </a:schemeClr>
                </a:solidFill>
                <a:latin typeface="Comic Sans MS" pitchFamily="66" charset="0"/>
                <a:ea typeface="隶书" pitchFamily="49" charset="-122"/>
              </a:rPr>
              <a:t>MIN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节点的最佳</a:t>
            </a:r>
            <a:r>
              <a:rPr lang="en-US" altLang="zh-CN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(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极小值</a:t>
            </a:r>
            <a:r>
              <a:rPr lang="en-US" altLang="zh-CN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)</a:t>
            </a:r>
            <a:r>
              <a:rPr lang="zh-CN" altLang="en-US" sz="2400" dirty="0">
                <a:solidFill>
                  <a:srgbClr val="990000"/>
                </a:solidFill>
                <a:latin typeface="Comic Sans MS" pitchFamily="66" charset="0"/>
                <a:ea typeface="隶书" pitchFamily="49" charset="-122"/>
              </a:rPr>
              <a:t>选择</a:t>
            </a:r>
            <a:endParaRPr lang="en-US" altLang="zh-CN" sz="2400" dirty="0">
              <a:solidFill>
                <a:srgbClr val="990000"/>
              </a:solidFill>
              <a:latin typeface="Comic Sans MS" pitchFamily="66" charset="0"/>
              <a:ea typeface="隶书" pitchFamily="49" charset="-122"/>
            </a:endParaRPr>
          </a:p>
        </p:txBody>
      </p:sp>
      <p:sp>
        <p:nvSpPr>
          <p:cNvPr id="48" name="Text Box 1123"/>
          <p:cNvSpPr txBox="1">
            <a:spLocks noChangeArrowheads="1"/>
          </p:cNvSpPr>
          <p:nvPr/>
        </p:nvSpPr>
        <p:spPr bwMode="auto">
          <a:xfrm>
            <a:off x="1457546" y="1273039"/>
            <a:ext cx="2843647" cy="830997"/>
          </a:xfrm>
          <a:prstGeom prst="rect">
            <a:avLst/>
          </a:prstGeom>
          <a:solidFill>
            <a:srgbClr val="ECFFD9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Symbol" pitchFamily="18" charset="2"/>
                <a:ea typeface="隶书" pitchFamily="49" charset="-122"/>
              </a:rPr>
              <a:t>a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值是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MAX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节点的最佳</a:t>
            </a:r>
            <a:r>
              <a:rPr lang="en-US" altLang="zh-CN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(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极大值</a:t>
            </a:r>
            <a:r>
              <a:rPr lang="en-US" altLang="zh-CN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)</a:t>
            </a:r>
            <a:r>
              <a:rPr lang="zh-CN" altLang="en-US" sz="2400" dirty="0">
                <a:solidFill>
                  <a:srgbClr val="009900"/>
                </a:solidFill>
                <a:latin typeface="Symbol" pitchFamily="18" charset="2"/>
                <a:ea typeface="隶书" pitchFamily="49" charset="-122"/>
              </a:rPr>
              <a:t>选择</a:t>
            </a:r>
            <a:endParaRPr lang="en-US" altLang="zh-CN" sz="2400" dirty="0">
              <a:solidFill>
                <a:srgbClr val="009900"/>
              </a:solidFill>
              <a:latin typeface="Symbol" pitchFamily="18" charset="2"/>
              <a:ea typeface="隶书" pitchFamily="49" charset="-122"/>
            </a:endParaRPr>
          </a:p>
        </p:txBody>
      </p:sp>
      <p:sp>
        <p:nvSpPr>
          <p:cNvPr id="50" name="Rectangle 1026"/>
          <p:cNvSpPr txBox="1">
            <a:spLocks noChangeArrowheads="1"/>
          </p:cNvSpPr>
          <p:nvPr/>
        </p:nvSpPr>
        <p:spPr>
          <a:xfrm>
            <a:off x="1989137" y="-31888"/>
            <a:ext cx="8229600" cy="1143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α-β</a:t>
            </a:r>
            <a:r>
              <a:rPr lang="zh-CN" altLang="en-US" dirty="0"/>
              <a:t>剪枝</a:t>
            </a:r>
            <a:endParaRPr lang="en-US" altLang="zh-CN" dirty="0"/>
          </a:p>
        </p:txBody>
      </p:sp>
      <p:sp>
        <p:nvSpPr>
          <p:cNvPr id="12" name="矩形 11"/>
          <p:cNvSpPr/>
          <p:nvPr/>
        </p:nvSpPr>
        <p:spPr>
          <a:xfrm>
            <a:off x="660400" y="5736664"/>
            <a:ext cx="108870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α-β</a:t>
            </a:r>
            <a:r>
              <a:rPr lang="zh-CN" altLang="en-US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搜索过程的基本思想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：把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博弈树生成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倒推估值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结合起来进行，再根据一定的条件判定，有</a:t>
            </a: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可能尽早修剪掉一些无用的分枝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2" name="Group 1112"/>
          <p:cNvGrpSpPr>
            <a:grpSpLocks/>
          </p:cNvGrpSpPr>
          <p:nvPr/>
        </p:nvGrpSpPr>
        <p:grpSpPr bwMode="auto">
          <a:xfrm>
            <a:off x="5931795" y="4070796"/>
            <a:ext cx="6164264" cy="1970088"/>
            <a:chOff x="-118" y="2027"/>
            <a:chExt cx="3883" cy="1241"/>
          </a:xfrm>
        </p:grpSpPr>
        <p:sp>
          <p:nvSpPr>
            <p:cNvPr id="53" name="Text Box 1109"/>
            <p:cNvSpPr txBox="1">
              <a:spLocks noChangeArrowheads="1"/>
            </p:cNvSpPr>
            <p:nvPr/>
          </p:nvSpPr>
          <p:spPr bwMode="auto">
            <a:xfrm>
              <a:off x="240" y="2496"/>
              <a:ext cx="3525" cy="772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6633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如果 </a:t>
              </a:r>
              <a:r>
                <a:rPr lang="en-US" altLang="zh-CN" sz="2400" dirty="0">
                  <a:latin typeface="Comic Sans MS" pitchFamily="66" charset="0"/>
                  <a:ea typeface="隶书" pitchFamily="49" charset="-122"/>
                </a:rPr>
                <a:t>MIN</a:t>
              </a: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节点的</a:t>
              </a:r>
              <a:r>
                <a:rPr lang="en-US" altLang="zh-CN" sz="2400" dirty="0">
                  <a:solidFill>
                    <a:srgbClr val="FF3300"/>
                  </a:solidFill>
                  <a:latin typeface="Symbol" pitchFamily="18" charset="2"/>
                  <a:ea typeface="隶书" pitchFamily="49" charset="-122"/>
                </a:rPr>
                <a:t>b</a:t>
              </a: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值小于或等于其</a:t>
              </a:r>
              <a:r>
                <a:rPr lang="en-US" altLang="zh-CN" sz="2400" dirty="0">
                  <a:latin typeface="Comic Sans MS" pitchFamily="66" charset="0"/>
                  <a:ea typeface="隶书" pitchFamily="49" charset="-122"/>
                </a:rPr>
                <a:t>MAX</a:t>
              </a:r>
            </a:p>
            <a:p>
              <a:pPr>
                <a:defRPr/>
              </a:pPr>
              <a:r>
                <a:rPr lang="zh-CN" altLang="en-US" sz="2400" dirty="0">
                  <a:solidFill>
                    <a:srgbClr val="FF0000"/>
                  </a:solidFill>
                  <a:latin typeface="Comic Sans MS" pitchFamily="66" charset="0"/>
                  <a:ea typeface="隶书" pitchFamily="49" charset="-122"/>
                </a:rPr>
                <a:t>祖先节点</a:t>
              </a: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的</a:t>
              </a:r>
              <a:r>
                <a:rPr lang="en-US" altLang="zh-CN" sz="2400" dirty="0">
                  <a:solidFill>
                    <a:srgbClr val="009900"/>
                  </a:solidFill>
                  <a:latin typeface="Symbol" pitchFamily="18" charset="2"/>
                  <a:ea typeface="隶书" pitchFamily="49" charset="-122"/>
                </a:rPr>
                <a:t>a</a:t>
              </a: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值，那么该处的搜索可以不</a:t>
              </a:r>
            </a:p>
            <a:p>
              <a:pPr>
                <a:defRPr/>
              </a:pPr>
              <a:r>
                <a:rPr lang="zh-CN" altLang="en-US" sz="2400" dirty="0">
                  <a:latin typeface="Comic Sans MS" pitchFamily="66" charset="0"/>
                  <a:ea typeface="隶书" pitchFamily="49" charset="-122"/>
                </a:rPr>
                <a:t>用进行了</a:t>
              </a:r>
              <a:endParaRPr lang="en-US" altLang="zh-CN" sz="2400" dirty="0">
                <a:latin typeface="Comic Sans MS" pitchFamily="66" charset="0"/>
                <a:ea typeface="隶书" pitchFamily="49" charset="-122"/>
              </a:endParaRPr>
            </a:p>
          </p:txBody>
        </p:sp>
        <p:sp>
          <p:nvSpPr>
            <p:cNvPr id="54" name="Freeform 1111"/>
            <p:cNvSpPr>
              <a:spLocks/>
            </p:cNvSpPr>
            <p:nvPr/>
          </p:nvSpPr>
          <p:spPr bwMode="auto">
            <a:xfrm rot="13500638" flipV="1">
              <a:off x="-80" y="1989"/>
              <a:ext cx="693" cy="769"/>
            </a:xfrm>
            <a:custGeom>
              <a:avLst/>
              <a:gdLst>
                <a:gd name="T0" fmla="*/ 0 w 864"/>
                <a:gd name="T1" fmla="*/ 432 h 432"/>
                <a:gd name="T2" fmla="*/ 432 w 864"/>
                <a:gd name="T3" fmla="*/ 336 h 432"/>
                <a:gd name="T4" fmla="*/ 864 w 864"/>
                <a:gd name="T5" fmla="*/ 0 h 432"/>
                <a:gd name="T6" fmla="*/ 0 60000 65536"/>
                <a:gd name="T7" fmla="*/ 0 60000 65536"/>
                <a:gd name="T8" fmla="*/ 0 60000 65536"/>
                <a:gd name="T9" fmla="*/ 0 w 864"/>
                <a:gd name="T10" fmla="*/ 0 h 432"/>
                <a:gd name="T11" fmla="*/ 864 w 864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432">
                  <a:moveTo>
                    <a:pt x="0" y="432"/>
                  </a:moveTo>
                  <a:cubicBezTo>
                    <a:pt x="144" y="420"/>
                    <a:pt x="288" y="408"/>
                    <a:pt x="432" y="336"/>
                  </a:cubicBezTo>
                  <a:cubicBezTo>
                    <a:pt x="576" y="264"/>
                    <a:pt x="720" y="132"/>
                    <a:pt x="864" y="0"/>
                  </a:cubicBezTo>
                </a:path>
              </a:pathLst>
            </a:custGeom>
            <a:noFill/>
            <a:ln w="38100">
              <a:solidFill>
                <a:srgbClr val="66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33063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1" grpId="0"/>
      <p:bldP spid="42" grpId="0"/>
      <p:bldP spid="43" grpId="0"/>
      <p:bldP spid="4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11900" y="3035300"/>
            <a:ext cx="5880100" cy="3149600"/>
            <a:chOff x="6311900" y="3035300"/>
            <a:chExt cx="5435600" cy="3149600"/>
          </a:xfrm>
        </p:grpSpPr>
        <p:sp>
          <p:nvSpPr>
            <p:cNvPr id="3" name="object 3"/>
            <p:cNvSpPr/>
            <p:nvPr/>
          </p:nvSpPr>
          <p:spPr>
            <a:xfrm>
              <a:off x="6324600" y="3048000"/>
              <a:ext cx="5410200" cy="3124200"/>
            </a:xfrm>
            <a:custGeom>
              <a:avLst/>
              <a:gdLst/>
              <a:ahLst/>
              <a:cxnLst/>
              <a:rect l="l" t="t" r="r" b="b"/>
              <a:pathLst>
                <a:path w="5410200" h="3124200">
                  <a:moveTo>
                    <a:pt x="4889491" y="0"/>
                  </a:moveTo>
                  <a:lnTo>
                    <a:pt x="520707" y="0"/>
                  </a:lnTo>
                  <a:lnTo>
                    <a:pt x="473312" y="2127"/>
                  </a:lnTo>
                  <a:lnTo>
                    <a:pt x="427109" y="8389"/>
                  </a:lnTo>
                  <a:lnTo>
                    <a:pt x="382282" y="18600"/>
                  </a:lnTo>
                  <a:lnTo>
                    <a:pt x="339015" y="32576"/>
                  </a:lnTo>
                  <a:lnTo>
                    <a:pt x="297492" y="50135"/>
                  </a:lnTo>
                  <a:lnTo>
                    <a:pt x="257896" y="71091"/>
                  </a:lnTo>
                  <a:lnTo>
                    <a:pt x="220411" y="95262"/>
                  </a:lnTo>
                  <a:lnTo>
                    <a:pt x="185222" y="122464"/>
                  </a:lnTo>
                  <a:lnTo>
                    <a:pt x="152511" y="152511"/>
                  </a:lnTo>
                  <a:lnTo>
                    <a:pt x="122463" y="185222"/>
                  </a:lnTo>
                  <a:lnTo>
                    <a:pt x="95262" y="220412"/>
                  </a:lnTo>
                  <a:lnTo>
                    <a:pt x="71091" y="257896"/>
                  </a:lnTo>
                  <a:lnTo>
                    <a:pt x="50135" y="297492"/>
                  </a:lnTo>
                  <a:lnTo>
                    <a:pt x="32576" y="339016"/>
                  </a:lnTo>
                  <a:lnTo>
                    <a:pt x="18600" y="382283"/>
                  </a:lnTo>
                  <a:lnTo>
                    <a:pt x="8389" y="427110"/>
                  </a:lnTo>
                  <a:lnTo>
                    <a:pt x="2127" y="473313"/>
                  </a:lnTo>
                  <a:lnTo>
                    <a:pt x="0" y="520708"/>
                  </a:lnTo>
                  <a:lnTo>
                    <a:pt x="0" y="2603490"/>
                  </a:lnTo>
                  <a:lnTo>
                    <a:pt x="2127" y="2650886"/>
                  </a:lnTo>
                  <a:lnTo>
                    <a:pt x="8389" y="2697089"/>
                  </a:lnTo>
                  <a:lnTo>
                    <a:pt x="18600" y="2741916"/>
                  </a:lnTo>
                  <a:lnTo>
                    <a:pt x="32576" y="2785183"/>
                  </a:lnTo>
                  <a:lnTo>
                    <a:pt x="50135" y="2826706"/>
                  </a:lnTo>
                  <a:lnTo>
                    <a:pt x="71091" y="2866302"/>
                  </a:lnTo>
                  <a:lnTo>
                    <a:pt x="95262" y="2903787"/>
                  </a:lnTo>
                  <a:lnTo>
                    <a:pt x="122463" y="2938977"/>
                  </a:lnTo>
                  <a:lnTo>
                    <a:pt x="152511" y="2971687"/>
                  </a:lnTo>
                  <a:lnTo>
                    <a:pt x="185222" y="3001735"/>
                  </a:lnTo>
                  <a:lnTo>
                    <a:pt x="220411" y="3028936"/>
                  </a:lnTo>
                  <a:lnTo>
                    <a:pt x="257896" y="3053107"/>
                  </a:lnTo>
                  <a:lnTo>
                    <a:pt x="297492" y="3074064"/>
                  </a:lnTo>
                  <a:lnTo>
                    <a:pt x="339015" y="3091622"/>
                  </a:lnTo>
                  <a:lnTo>
                    <a:pt x="382282" y="3105599"/>
                  </a:lnTo>
                  <a:lnTo>
                    <a:pt x="427109" y="3115810"/>
                  </a:lnTo>
                  <a:lnTo>
                    <a:pt x="473312" y="3122071"/>
                  </a:lnTo>
                  <a:lnTo>
                    <a:pt x="520707" y="3124199"/>
                  </a:lnTo>
                  <a:lnTo>
                    <a:pt x="4889491" y="3124199"/>
                  </a:lnTo>
                  <a:lnTo>
                    <a:pt x="4936886" y="3122071"/>
                  </a:lnTo>
                  <a:lnTo>
                    <a:pt x="4983089" y="3115810"/>
                  </a:lnTo>
                  <a:lnTo>
                    <a:pt x="5027916" y="3105599"/>
                  </a:lnTo>
                  <a:lnTo>
                    <a:pt x="5071183" y="3091622"/>
                  </a:lnTo>
                  <a:lnTo>
                    <a:pt x="5112707" y="3074064"/>
                  </a:lnTo>
                  <a:lnTo>
                    <a:pt x="5152303" y="3053107"/>
                  </a:lnTo>
                  <a:lnTo>
                    <a:pt x="5189787" y="3028936"/>
                  </a:lnTo>
                  <a:lnTo>
                    <a:pt x="5224977" y="3001735"/>
                  </a:lnTo>
                  <a:lnTo>
                    <a:pt x="5257688" y="2971687"/>
                  </a:lnTo>
                  <a:lnTo>
                    <a:pt x="5287735" y="2938977"/>
                  </a:lnTo>
                  <a:lnTo>
                    <a:pt x="5314937" y="2903787"/>
                  </a:lnTo>
                  <a:lnTo>
                    <a:pt x="5339108" y="2866302"/>
                  </a:lnTo>
                  <a:lnTo>
                    <a:pt x="5360064" y="2826706"/>
                  </a:lnTo>
                  <a:lnTo>
                    <a:pt x="5377623" y="2785183"/>
                  </a:lnTo>
                  <a:lnTo>
                    <a:pt x="5391599" y="2741916"/>
                  </a:lnTo>
                  <a:lnTo>
                    <a:pt x="5401810" y="2697089"/>
                  </a:lnTo>
                  <a:lnTo>
                    <a:pt x="5408072" y="2650886"/>
                  </a:lnTo>
                  <a:lnTo>
                    <a:pt x="5410200" y="2603490"/>
                  </a:lnTo>
                  <a:lnTo>
                    <a:pt x="5410200" y="520708"/>
                  </a:lnTo>
                  <a:lnTo>
                    <a:pt x="5408072" y="473313"/>
                  </a:lnTo>
                  <a:lnTo>
                    <a:pt x="5401810" y="427110"/>
                  </a:lnTo>
                  <a:lnTo>
                    <a:pt x="5391599" y="382283"/>
                  </a:lnTo>
                  <a:lnTo>
                    <a:pt x="5377623" y="339016"/>
                  </a:lnTo>
                  <a:lnTo>
                    <a:pt x="5360064" y="297492"/>
                  </a:lnTo>
                  <a:lnTo>
                    <a:pt x="5339108" y="257896"/>
                  </a:lnTo>
                  <a:lnTo>
                    <a:pt x="5314937" y="220412"/>
                  </a:lnTo>
                  <a:lnTo>
                    <a:pt x="5287735" y="185222"/>
                  </a:lnTo>
                  <a:lnTo>
                    <a:pt x="5257688" y="152511"/>
                  </a:lnTo>
                  <a:lnTo>
                    <a:pt x="5224977" y="122464"/>
                  </a:lnTo>
                  <a:lnTo>
                    <a:pt x="5189787" y="95262"/>
                  </a:lnTo>
                  <a:lnTo>
                    <a:pt x="5152303" y="71091"/>
                  </a:lnTo>
                  <a:lnTo>
                    <a:pt x="5112707" y="50135"/>
                  </a:lnTo>
                  <a:lnTo>
                    <a:pt x="5071183" y="32576"/>
                  </a:lnTo>
                  <a:lnTo>
                    <a:pt x="5027916" y="18600"/>
                  </a:lnTo>
                  <a:lnTo>
                    <a:pt x="4983089" y="8389"/>
                  </a:lnTo>
                  <a:lnTo>
                    <a:pt x="4936886" y="2127"/>
                  </a:lnTo>
                  <a:lnTo>
                    <a:pt x="4889491" y="0"/>
                  </a:lnTo>
                  <a:close/>
                </a:path>
              </a:pathLst>
            </a:custGeom>
            <a:solidFill>
              <a:srgbClr val="C00000">
                <a:alpha val="160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24600" y="3048000"/>
              <a:ext cx="5410200" cy="3124200"/>
            </a:xfrm>
            <a:custGeom>
              <a:avLst/>
              <a:gdLst/>
              <a:ahLst/>
              <a:cxnLst/>
              <a:rect l="l" t="t" r="r" b="b"/>
              <a:pathLst>
                <a:path w="5410200" h="3124200">
                  <a:moveTo>
                    <a:pt x="0" y="520708"/>
                  </a:moveTo>
                  <a:lnTo>
                    <a:pt x="2127" y="473313"/>
                  </a:lnTo>
                  <a:lnTo>
                    <a:pt x="8389" y="427110"/>
                  </a:lnTo>
                  <a:lnTo>
                    <a:pt x="18600" y="382283"/>
                  </a:lnTo>
                  <a:lnTo>
                    <a:pt x="32576" y="339016"/>
                  </a:lnTo>
                  <a:lnTo>
                    <a:pt x="50135" y="297493"/>
                  </a:lnTo>
                  <a:lnTo>
                    <a:pt x="71091" y="257897"/>
                  </a:lnTo>
                  <a:lnTo>
                    <a:pt x="95262" y="220412"/>
                  </a:lnTo>
                  <a:lnTo>
                    <a:pt x="122463" y="185222"/>
                  </a:lnTo>
                  <a:lnTo>
                    <a:pt x="152511" y="152512"/>
                  </a:lnTo>
                  <a:lnTo>
                    <a:pt x="185222" y="122464"/>
                  </a:lnTo>
                  <a:lnTo>
                    <a:pt x="220412" y="95262"/>
                  </a:lnTo>
                  <a:lnTo>
                    <a:pt x="257896" y="71092"/>
                  </a:lnTo>
                  <a:lnTo>
                    <a:pt x="297492" y="50135"/>
                  </a:lnTo>
                  <a:lnTo>
                    <a:pt x="339016" y="32576"/>
                  </a:lnTo>
                  <a:lnTo>
                    <a:pt x="382283" y="18600"/>
                  </a:lnTo>
                  <a:lnTo>
                    <a:pt x="427110" y="8389"/>
                  </a:lnTo>
                  <a:lnTo>
                    <a:pt x="473313" y="2127"/>
                  </a:lnTo>
                  <a:lnTo>
                    <a:pt x="520708" y="0"/>
                  </a:lnTo>
                  <a:lnTo>
                    <a:pt x="4889492" y="0"/>
                  </a:lnTo>
                  <a:lnTo>
                    <a:pt x="4936887" y="2127"/>
                  </a:lnTo>
                  <a:lnTo>
                    <a:pt x="4983089" y="8389"/>
                  </a:lnTo>
                  <a:lnTo>
                    <a:pt x="5027916" y="18600"/>
                  </a:lnTo>
                  <a:lnTo>
                    <a:pt x="5071183" y="32576"/>
                  </a:lnTo>
                  <a:lnTo>
                    <a:pt x="5112707" y="50135"/>
                  </a:lnTo>
                  <a:lnTo>
                    <a:pt x="5152303" y="71092"/>
                  </a:lnTo>
                  <a:lnTo>
                    <a:pt x="5189788" y="95262"/>
                  </a:lnTo>
                  <a:lnTo>
                    <a:pt x="5224977" y="122464"/>
                  </a:lnTo>
                  <a:lnTo>
                    <a:pt x="5257688" y="152512"/>
                  </a:lnTo>
                  <a:lnTo>
                    <a:pt x="5287736" y="185222"/>
                  </a:lnTo>
                  <a:lnTo>
                    <a:pt x="5314937" y="220412"/>
                  </a:lnTo>
                  <a:lnTo>
                    <a:pt x="5339108" y="257897"/>
                  </a:lnTo>
                  <a:lnTo>
                    <a:pt x="5360064" y="297493"/>
                  </a:lnTo>
                  <a:lnTo>
                    <a:pt x="5377623" y="339016"/>
                  </a:lnTo>
                  <a:lnTo>
                    <a:pt x="5391599" y="382283"/>
                  </a:lnTo>
                  <a:lnTo>
                    <a:pt x="5401810" y="427110"/>
                  </a:lnTo>
                  <a:lnTo>
                    <a:pt x="5408072" y="473313"/>
                  </a:lnTo>
                  <a:lnTo>
                    <a:pt x="5410200" y="520708"/>
                  </a:lnTo>
                  <a:lnTo>
                    <a:pt x="5410200" y="2603491"/>
                  </a:lnTo>
                  <a:lnTo>
                    <a:pt x="5408072" y="2650886"/>
                  </a:lnTo>
                  <a:lnTo>
                    <a:pt x="5401810" y="2697089"/>
                  </a:lnTo>
                  <a:lnTo>
                    <a:pt x="5391599" y="2741916"/>
                  </a:lnTo>
                  <a:lnTo>
                    <a:pt x="5377623" y="2785183"/>
                  </a:lnTo>
                  <a:lnTo>
                    <a:pt x="5360064" y="2826706"/>
                  </a:lnTo>
                  <a:lnTo>
                    <a:pt x="5339108" y="2866303"/>
                  </a:lnTo>
                  <a:lnTo>
                    <a:pt x="5314937" y="2903787"/>
                  </a:lnTo>
                  <a:lnTo>
                    <a:pt x="5287736" y="2938977"/>
                  </a:lnTo>
                  <a:lnTo>
                    <a:pt x="5257688" y="2971688"/>
                  </a:lnTo>
                  <a:lnTo>
                    <a:pt x="5224977" y="3001735"/>
                  </a:lnTo>
                  <a:lnTo>
                    <a:pt x="5189788" y="3028937"/>
                  </a:lnTo>
                  <a:lnTo>
                    <a:pt x="5152303" y="3053108"/>
                  </a:lnTo>
                  <a:lnTo>
                    <a:pt x="5112707" y="3074064"/>
                  </a:lnTo>
                  <a:lnTo>
                    <a:pt x="5071183" y="3091623"/>
                  </a:lnTo>
                  <a:lnTo>
                    <a:pt x="5027916" y="3105599"/>
                  </a:lnTo>
                  <a:lnTo>
                    <a:pt x="4983089" y="3115810"/>
                  </a:lnTo>
                  <a:lnTo>
                    <a:pt x="4936887" y="3122072"/>
                  </a:lnTo>
                  <a:lnTo>
                    <a:pt x="4889492" y="3124200"/>
                  </a:lnTo>
                  <a:lnTo>
                    <a:pt x="520708" y="3124200"/>
                  </a:lnTo>
                  <a:lnTo>
                    <a:pt x="473313" y="3122072"/>
                  </a:lnTo>
                  <a:lnTo>
                    <a:pt x="427110" y="3115810"/>
                  </a:lnTo>
                  <a:lnTo>
                    <a:pt x="382283" y="3105599"/>
                  </a:lnTo>
                  <a:lnTo>
                    <a:pt x="339016" y="3091623"/>
                  </a:lnTo>
                  <a:lnTo>
                    <a:pt x="297492" y="3074064"/>
                  </a:lnTo>
                  <a:lnTo>
                    <a:pt x="257896" y="3053108"/>
                  </a:lnTo>
                  <a:lnTo>
                    <a:pt x="220412" y="3028937"/>
                  </a:lnTo>
                  <a:lnTo>
                    <a:pt x="185222" y="3001735"/>
                  </a:lnTo>
                  <a:lnTo>
                    <a:pt x="152511" y="2971688"/>
                  </a:lnTo>
                  <a:lnTo>
                    <a:pt x="122463" y="2938977"/>
                  </a:lnTo>
                  <a:lnTo>
                    <a:pt x="95262" y="2903787"/>
                  </a:lnTo>
                  <a:lnTo>
                    <a:pt x="71091" y="2866303"/>
                  </a:lnTo>
                  <a:lnTo>
                    <a:pt x="50135" y="2826706"/>
                  </a:lnTo>
                  <a:lnTo>
                    <a:pt x="32576" y="2785183"/>
                  </a:lnTo>
                  <a:lnTo>
                    <a:pt x="18600" y="2741916"/>
                  </a:lnTo>
                  <a:lnTo>
                    <a:pt x="8389" y="2697089"/>
                  </a:lnTo>
                  <a:lnTo>
                    <a:pt x="2127" y="2650886"/>
                  </a:lnTo>
                  <a:lnTo>
                    <a:pt x="0" y="2603491"/>
                  </a:lnTo>
                  <a:lnTo>
                    <a:pt x="0" y="520708"/>
                  </a:lnTo>
                  <a:close/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44499" y="3035300"/>
            <a:ext cx="5676895" cy="3149600"/>
            <a:chOff x="444500" y="3035300"/>
            <a:chExt cx="5435600" cy="3149600"/>
          </a:xfrm>
        </p:grpSpPr>
        <p:sp>
          <p:nvSpPr>
            <p:cNvPr id="6" name="object 6"/>
            <p:cNvSpPr/>
            <p:nvPr/>
          </p:nvSpPr>
          <p:spPr>
            <a:xfrm>
              <a:off x="457200" y="3048000"/>
              <a:ext cx="5410200" cy="3124200"/>
            </a:xfrm>
            <a:custGeom>
              <a:avLst/>
              <a:gdLst/>
              <a:ahLst/>
              <a:cxnLst/>
              <a:rect l="l" t="t" r="r" b="b"/>
              <a:pathLst>
                <a:path w="5410200" h="3124200">
                  <a:moveTo>
                    <a:pt x="4889491" y="0"/>
                  </a:moveTo>
                  <a:lnTo>
                    <a:pt x="520708" y="0"/>
                  </a:lnTo>
                  <a:lnTo>
                    <a:pt x="473312" y="2127"/>
                  </a:lnTo>
                  <a:lnTo>
                    <a:pt x="427110" y="8389"/>
                  </a:lnTo>
                  <a:lnTo>
                    <a:pt x="382283" y="18600"/>
                  </a:lnTo>
                  <a:lnTo>
                    <a:pt x="339016" y="32576"/>
                  </a:lnTo>
                  <a:lnTo>
                    <a:pt x="297492" y="50135"/>
                  </a:lnTo>
                  <a:lnTo>
                    <a:pt x="257896" y="71091"/>
                  </a:lnTo>
                  <a:lnTo>
                    <a:pt x="220412" y="95262"/>
                  </a:lnTo>
                  <a:lnTo>
                    <a:pt x="185222" y="122464"/>
                  </a:lnTo>
                  <a:lnTo>
                    <a:pt x="152511" y="152511"/>
                  </a:lnTo>
                  <a:lnTo>
                    <a:pt x="122464" y="185222"/>
                  </a:lnTo>
                  <a:lnTo>
                    <a:pt x="95262" y="220412"/>
                  </a:lnTo>
                  <a:lnTo>
                    <a:pt x="71091" y="257896"/>
                  </a:lnTo>
                  <a:lnTo>
                    <a:pt x="50135" y="297492"/>
                  </a:lnTo>
                  <a:lnTo>
                    <a:pt x="32576" y="339016"/>
                  </a:lnTo>
                  <a:lnTo>
                    <a:pt x="18600" y="382283"/>
                  </a:lnTo>
                  <a:lnTo>
                    <a:pt x="8389" y="427110"/>
                  </a:lnTo>
                  <a:lnTo>
                    <a:pt x="2127" y="473313"/>
                  </a:lnTo>
                  <a:lnTo>
                    <a:pt x="0" y="520708"/>
                  </a:lnTo>
                  <a:lnTo>
                    <a:pt x="0" y="2603490"/>
                  </a:lnTo>
                  <a:lnTo>
                    <a:pt x="2127" y="2650886"/>
                  </a:lnTo>
                  <a:lnTo>
                    <a:pt x="8389" y="2697089"/>
                  </a:lnTo>
                  <a:lnTo>
                    <a:pt x="18600" y="2741916"/>
                  </a:lnTo>
                  <a:lnTo>
                    <a:pt x="32576" y="2785183"/>
                  </a:lnTo>
                  <a:lnTo>
                    <a:pt x="50135" y="2826706"/>
                  </a:lnTo>
                  <a:lnTo>
                    <a:pt x="71091" y="2866302"/>
                  </a:lnTo>
                  <a:lnTo>
                    <a:pt x="95262" y="2903787"/>
                  </a:lnTo>
                  <a:lnTo>
                    <a:pt x="122464" y="2938977"/>
                  </a:lnTo>
                  <a:lnTo>
                    <a:pt x="152511" y="2971687"/>
                  </a:lnTo>
                  <a:lnTo>
                    <a:pt x="185222" y="3001735"/>
                  </a:lnTo>
                  <a:lnTo>
                    <a:pt x="220412" y="3028936"/>
                  </a:lnTo>
                  <a:lnTo>
                    <a:pt x="257896" y="3053107"/>
                  </a:lnTo>
                  <a:lnTo>
                    <a:pt x="297492" y="3074064"/>
                  </a:lnTo>
                  <a:lnTo>
                    <a:pt x="339016" y="3091622"/>
                  </a:lnTo>
                  <a:lnTo>
                    <a:pt x="382283" y="3105599"/>
                  </a:lnTo>
                  <a:lnTo>
                    <a:pt x="427110" y="3115810"/>
                  </a:lnTo>
                  <a:lnTo>
                    <a:pt x="473312" y="3122071"/>
                  </a:lnTo>
                  <a:lnTo>
                    <a:pt x="520708" y="3124199"/>
                  </a:lnTo>
                  <a:lnTo>
                    <a:pt x="4889491" y="3124199"/>
                  </a:lnTo>
                  <a:lnTo>
                    <a:pt x="4936886" y="3122071"/>
                  </a:lnTo>
                  <a:lnTo>
                    <a:pt x="4983089" y="3115810"/>
                  </a:lnTo>
                  <a:lnTo>
                    <a:pt x="5027916" y="3105599"/>
                  </a:lnTo>
                  <a:lnTo>
                    <a:pt x="5071183" y="3091622"/>
                  </a:lnTo>
                  <a:lnTo>
                    <a:pt x="5112707" y="3074064"/>
                  </a:lnTo>
                  <a:lnTo>
                    <a:pt x="5152303" y="3053107"/>
                  </a:lnTo>
                  <a:lnTo>
                    <a:pt x="5189787" y="3028936"/>
                  </a:lnTo>
                  <a:lnTo>
                    <a:pt x="5224977" y="3001735"/>
                  </a:lnTo>
                  <a:lnTo>
                    <a:pt x="5257688" y="2971687"/>
                  </a:lnTo>
                  <a:lnTo>
                    <a:pt x="5287735" y="2938977"/>
                  </a:lnTo>
                  <a:lnTo>
                    <a:pt x="5314937" y="2903787"/>
                  </a:lnTo>
                  <a:lnTo>
                    <a:pt x="5339108" y="2866302"/>
                  </a:lnTo>
                  <a:lnTo>
                    <a:pt x="5360064" y="2826706"/>
                  </a:lnTo>
                  <a:lnTo>
                    <a:pt x="5377623" y="2785183"/>
                  </a:lnTo>
                  <a:lnTo>
                    <a:pt x="5391599" y="2741916"/>
                  </a:lnTo>
                  <a:lnTo>
                    <a:pt x="5401810" y="2697089"/>
                  </a:lnTo>
                  <a:lnTo>
                    <a:pt x="5408072" y="2650886"/>
                  </a:lnTo>
                  <a:lnTo>
                    <a:pt x="5410200" y="2603490"/>
                  </a:lnTo>
                  <a:lnTo>
                    <a:pt x="5410200" y="520708"/>
                  </a:lnTo>
                  <a:lnTo>
                    <a:pt x="5408072" y="473313"/>
                  </a:lnTo>
                  <a:lnTo>
                    <a:pt x="5401810" y="427110"/>
                  </a:lnTo>
                  <a:lnTo>
                    <a:pt x="5391599" y="382283"/>
                  </a:lnTo>
                  <a:lnTo>
                    <a:pt x="5377623" y="339016"/>
                  </a:lnTo>
                  <a:lnTo>
                    <a:pt x="5360064" y="297492"/>
                  </a:lnTo>
                  <a:lnTo>
                    <a:pt x="5339108" y="257896"/>
                  </a:lnTo>
                  <a:lnTo>
                    <a:pt x="5314937" y="220412"/>
                  </a:lnTo>
                  <a:lnTo>
                    <a:pt x="5287735" y="185222"/>
                  </a:lnTo>
                  <a:lnTo>
                    <a:pt x="5257688" y="152511"/>
                  </a:lnTo>
                  <a:lnTo>
                    <a:pt x="5224977" y="122464"/>
                  </a:lnTo>
                  <a:lnTo>
                    <a:pt x="5189787" y="95262"/>
                  </a:lnTo>
                  <a:lnTo>
                    <a:pt x="5152303" y="71091"/>
                  </a:lnTo>
                  <a:lnTo>
                    <a:pt x="5112707" y="50135"/>
                  </a:lnTo>
                  <a:lnTo>
                    <a:pt x="5071183" y="32576"/>
                  </a:lnTo>
                  <a:lnTo>
                    <a:pt x="5027916" y="18600"/>
                  </a:lnTo>
                  <a:lnTo>
                    <a:pt x="4983089" y="8389"/>
                  </a:lnTo>
                  <a:lnTo>
                    <a:pt x="4936886" y="2127"/>
                  </a:lnTo>
                  <a:lnTo>
                    <a:pt x="4889491" y="0"/>
                  </a:lnTo>
                  <a:close/>
                </a:path>
              </a:pathLst>
            </a:custGeom>
            <a:solidFill>
              <a:srgbClr val="0066CC">
                <a:alpha val="160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048000"/>
              <a:ext cx="5410200" cy="3124200"/>
            </a:xfrm>
            <a:custGeom>
              <a:avLst/>
              <a:gdLst/>
              <a:ahLst/>
              <a:cxnLst/>
              <a:rect l="l" t="t" r="r" b="b"/>
              <a:pathLst>
                <a:path w="5410200" h="3124200">
                  <a:moveTo>
                    <a:pt x="0" y="520708"/>
                  </a:moveTo>
                  <a:lnTo>
                    <a:pt x="2127" y="473313"/>
                  </a:lnTo>
                  <a:lnTo>
                    <a:pt x="8389" y="427110"/>
                  </a:lnTo>
                  <a:lnTo>
                    <a:pt x="18600" y="382283"/>
                  </a:lnTo>
                  <a:lnTo>
                    <a:pt x="32576" y="339016"/>
                  </a:lnTo>
                  <a:lnTo>
                    <a:pt x="50135" y="297493"/>
                  </a:lnTo>
                  <a:lnTo>
                    <a:pt x="71091" y="257897"/>
                  </a:lnTo>
                  <a:lnTo>
                    <a:pt x="95262" y="220412"/>
                  </a:lnTo>
                  <a:lnTo>
                    <a:pt x="122463" y="185222"/>
                  </a:lnTo>
                  <a:lnTo>
                    <a:pt x="152511" y="152512"/>
                  </a:lnTo>
                  <a:lnTo>
                    <a:pt x="185222" y="122464"/>
                  </a:lnTo>
                  <a:lnTo>
                    <a:pt x="220412" y="95262"/>
                  </a:lnTo>
                  <a:lnTo>
                    <a:pt x="257896" y="71092"/>
                  </a:lnTo>
                  <a:lnTo>
                    <a:pt x="297492" y="50135"/>
                  </a:lnTo>
                  <a:lnTo>
                    <a:pt x="339016" y="32576"/>
                  </a:lnTo>
                  <a:lnTo>
                    <a:pt x="382283" y="18600"/>
                  </a:lnTo>
                  <a:lnTo>
                    <a:pt x="427110" y="8389"/>
                  </a:lnTo>
                  <a:lnTo>
                    <a:pt x="473313" y="2127"/>
                  </a:lnTo>
                  <a:lnTo>
                    <a:pt x="520708" y="0"/>
                  </a:lnTo>
                  <a:lnTo>
                    <a:pt x="4889492" y="0"/>
                  </a:lnTo>
                  <a:lnTo>
                    <a:pt x="4936887" y="2127"/>
                  </a:lnTo>
                  <a:lnTo>
                    <a:pt x="4983089" y="8389"/>
                  </a:lnTo>
                  <a:lnTo>
                    <a:pt x="5027916" y="18600"/>
                  </a:lnTo>
                  <a:lnTo>
                    <a:pt x="5071183" y="32576"/>
                  </a:lnTo>
                  <a:lnTo>
                    <a:pt x="5112707" y="50135"/>
                  </a:lnTo>
                  <a:lnTo>
                    <a:pt x="5152303" y="71092"/>
                  </a:lnTo>
                  <a:lnTo>
                    <a:pt x="5189788" y="95262"/>
                  </a:lnTo>
                  <a:lnTo>
                    <a:pt x="5224977" y="122464"/>
                  </a:lnTo>
                  <a:lnTo>
                    <a:pt x="5257688" y="152512"/>
                  </a:lnTo>
                  <a:lnTo>
                    <a:pt x="5287736" y="185222"/>
                  </a:lnTo>
                  <a:lnTo>
                    <a:pt x="5314937" y="220412"/>
                  </a:lnTo>
                  <a:lnTo>
                    <a:pt x="5339108" y="257897"/>
                  </a:lnTo>
                  <a:lnTo>
                    <a:pt x="5360064" y="297493"/>
                  </a:lnTo>
                  <a:lnTo>
                    <a:pt x="5377623" y="339016"/>
                  </a:lnTo>
                  <a:lnTo>
                    <a:pt x="5391599" y="382283"/>
                  </a:lnTo>
                  <a:lnTo>
                    <a:pt x="5401810" y="427110"/>
                  </a:lnTo>
                  <a:lnTo>
                    <a:pt x="5408072" y="473313"/>
                  </a:lnTo>
                  <a:lnTo>
                    <a:pt x="5410200" y="520708"/>
                  </a:lnTo>
                  <a:lnTo>
                    <a:pt x="5410200" y="2603491"/>
                  </a:lnTo>
                  <a:lnTo>
                    <a:pt x="5408072" y="2650886"/>
                  </a:lnTo>
                  <a:lnTo>
                    <a:pt x="5401810" y="2697089"/>
                  </a:lnTo>
                  <a:lnTo>
                    <a:pt x="5391599" y="2741916"/>
                  </a:lnTo>
                  <a:lnTo>
                    <a:pt x="5377623" y="2785183"/>
                  </a:lnTo>
                  <a:lnTo>
                    <a:pt x="5360064" y="2826706"/>
                  </a:lnTo>
                  <a:lnTo>
                    <a:pt x="5339108" y="2866303"/>
                  </a:lnTo>
                  <a:lnTo>
                    <a:pt x="5314937" y="2903787"/>
                  </a:lnTo>
                  <a:lnTo>
                    <a:pt x="5287736" y="2938977"/>
                  </a:lnTo>
                  <a:lnTo>
                    <a:pt x="5257688" y="2971688"/>
                  </a:lnTo>
                  <a:lnTo>
                    <a:pt x="5224977" y="3001735"/>
                  </a:lnTo>
                  <a:lnTo>
                    <a:pt x="5189788" y="3028937"/>
                  </a:lnTo>
                  <a:lnTo>
                    <a:pt x="5152303" y="3053108"/>
                  </a:lnTo>
                  <a:lnTo>
                    <a:pt x="5112707" y="3074064"/>
                  </a:lnTo>
                  <a:lnTo>
                    <a:pt x="5071183" y="3091623"/>
                  </a:lnTo>
                  <a:lnTo>
                    <a:pt x="5027916" y="3105599"/>
                  </a:lnTo>
                  <a:lnTo>
                    <a:pt x="4983089" y="3115810"/>
                  </a:lnTo>
                  <a:lnTo>
                    <a:pt x="4936887" y="3122072"/>
                  </a:lnTo>
                  <a:lnTo>
                    <a:pt x="4889492" y="3124200"/>
                  </a:lnTo>
                  <a:lnTo>
                    <a:pt x="520708" y="3124200"/>
                  </a:lnTo>
                  <a:lnTo>
                    <a:pt x="473313" y="3122072"/>
                  </a:lnTo>
                  <a:lnTo>
                    <a:pt x="427110" y="3115810"/>
                  </a:lnTo>
                  <a:lnTo>
                    <a:pt x="382283" y="3105599"/>
                  </a:lnTo>
                  <a:lnTo>
                    <a:pt x="339016" y="3091623"/>
                  </a:lnTo>
                  <a:lnTo>
                    <a:pt x="297492" y="3074064"/>
                  </a:lnTo>
                  <a:lnTo>
                    <a:pt x="257896" y="3053108"/>
                  </a:lnTo>
                  <a:lnTo>
                    <a:pt x="220412" y="3028937"/>
                  </a:lnTo>
                  <a:lnTo>
                    <a:pt x="185222" y="3001735"/>
                  </a:lnTo>
                  <a:lnTo>
                    <a:pt x="152511" y="2971688"/>
                  </a:lnTo>
                  <a:lnTo>
                    <a:pt x="122463" y="2938977"/>
                  </a:lnTo>
                  <a:lnTo>
                    <a:pt x="95262" y="2903787"/>
                  </a:lnTo>
                  <a:lnTo>
                    <a:pt x="71091" y="2866303"/>
                  </a:lnTo>
                  <a:lnTo>
                    <a:pt x="50135" y="2826706"/>
                  </a:lnTo>
                  <a:lnTo>
                    <a:pt x="32576" y="2785183"/>
                  </a:lnTo>
                  <a:lnTo>
                    <a:pt x="18600" y="2741916"/>
                  </a:lnTo>
                  <a:lnTo>
                    <a:pt x="8389" y="2697089"/>
                  </a:lnTo>
                  <a:lnTo>
                    <a:pt x="2127" y="2650886"/>
                  </a:lnTo>
                  <a:lnTo>
                    <a:pt x="0" y="2603491"/>
                  </a:lnTo>
                  <a:lnTo>
                    <a:pt x="0" y="520708"/>
                  </a:lnTo>
                  <a:close/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-2263775" y="398932"/>
            <a:ext cx="115157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1445">
              <a:lnSpc>
                <a:spcPct val="100000"/>
              </a:lnSpc>
              <a:spcBef>
                <a:spcPts val="100"/>
              </a:spcBef>
            </a:pPr>
            <a:r>
              <a:rPr dirty="0"/>
              <a:t>Alpha-Beta</a:t>
            </a:r>
            <a:r>
              <a:rPr spc="-10" dirty="0"/>
              <a:t> Implementation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55736" y="3297428"/>
            <a:ext cx="5636264" cy="2588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69900" marR="1668145" indent="-45720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def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min-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value(state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, α, 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β)</a:t>
            </a:r>
            <a:r>
              <a:rPr lang="en-US"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initialize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+∞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state:</a:t>
            </a:r>
            <a:endParaRPr sz="2400" dirty="0">
              <a:latin typeface="Calibri"/>
              <a:cs typeface="Calibri"/>
            </a:endParaRPr>
          </a:p>
          <a:p>
            <a:pPr marL="927100" marR="5080">
              <a:lnSpc>
                <a:spcPts val="2810"/>
              </a:lnSpc>
              <a:spcBef>
                <a:spcPts val="175"/>
              </a:spcBef>
            </a:pPr>
            <a:r>
              <a:rPr sz="2400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min(v,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7030A0"/>
                </a:solidFill>
                <a:latin typeface="Calibri"/>
                <a:cs typeface="Calibri"/>
              </a:rPr>
              <a:t>max-</a:t>
            </a:r>
            <a:r>
              <a:rPr sz="2400" dirty="0">
                <a:solidFill>
                  <a:srgbClr val="7030A0"/>
                </a:solidFill>
                <a:latin typeface="Calibri"/>
                <a:cs typeface="Calibri"/>
              </a:rPr>
              <a:t>value(successor,</a:t>
            </a:r>
            <a:r>
              <a:rPr sz="2400" spc="-1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030A0"/>
                </a:solidFill>
                <a:latin typeface="Calibri"/>
                <a:cs typeface="Calibri"/>
              </a:rPr>
              <a:t>α,</a:t>
            </a:r>
            <a:r>
              <a:rPr sz="2400" spc="-1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7030A0"/>
                </a:solidFill>
                <a:latin typeface="Calibri"/>
                <a:cs typeface="Calibri"/>
              </a:rPr>
              <a:t>β)</a:t>
            </a:r>
            <a:r>
              <a:rPr sz="2400" spc="-25" dirty="0">
                <a:latin typeface="Calibri"/>
                <a:cs typeface="Calibri"/>
              </a:rPr>
              <a:t>)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if v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≤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α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return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469900" marR="2487295" indent="457200">
              <a:lnSpc>
                <a:spcPts val="2900"/>
              </a:lnSpc>
              <a:spcBef>
                <a:spcPts val="20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β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min(β,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v)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v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430" y="3228340"/>
            <a:ext cx="567296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736725" indent="-457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6CC"/>
                </a:solidFill>
                <a:latin typeface="Calibri"/>
                <a:cs typeface="Calibri"/>
              </a:rPr>
              <a:t>def </a:t>
            </a:r>
            <a:r>
              <a:rPr sz="2400" spc="-10" dirty="0">
                <a:solidFill>
                  <a:srgbClr val="0066CC"/>
                </a:solidFill>
                <a:latin typeface="Calibri"/>
                <a:cs typeface="Calibri"/>
              </a:rPr>
              <a:t>max-</a:t>
            </a:r>
            <a:r>
              <a:rPr sz="2400" dirty="0">
                <a:solidFill>
                  <a:srgbClr val="0066CC"/>
                </a:solidFill>
                <a:latin typeface="Calibri"/>
                <a:cs typeface="Calibri"/>
              </a:rPr>
              <a:t>value(state, α,</a:t>
            </a:r>
            <a:r>
              <a:rPr sz="2400" spc="5" dirty="0">
                <a:solidFill>
                  <a:srgbClr val="0066C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66CC"/>
                </a:solidFill>
                <a:latin typeface="Calibri"/>
                <a:cs typeface="Calibri"/>
              </a:rPr>
              <a:t>β)</a:t>
            </a:r>
            <a:r>
              <a:rPr lang="en-US" sz="2400" spc="-25" dirty="0">
                <a:solidFill>
                  <a:srgbClr val="0066CC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66CC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initialize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∞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ts val="2810"/>
              </a:lnSpc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state:</a:t>
            </a:r>
            <a:endParaRPr sz="2400" dirty="0">
              <a:latin typeface="Calibri"/>
              <a:cs typeface="Calibri"/>
            </a:endParaRPr>
          </a:p>
          <a:p>
            <a:pPr marL="927100" marR="5080">
              <a:lnSpc>
                <a:spcPct val="100800"/>
              </a:lnSpc>
            </a:pPr>
            <a:r>
              <a:rPr sz="2400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max(v,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Calibri"/>
                <a:cs typeface="Calibri"/>
              </a:rPr>
              <a:t>min-</a:t>
            </a:r>
            <a:r>
              <a:rPr sz="2400" dirty="0">
                <a:solidFill>
                  <a:srgbClr val="7030A0"/>
                </a:solidFill>
                <a:latin typeface="Calibri"/>
                <a:cs typeface="Calibri"/>
              </a:rPr>
              <a:t>value(successor,</a:t>
            </a:r>
            <a:r>
              <a:rPr sz="2400" spc="-1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030A0"/>
                </a:solidFill>
                <a:latin typeface="Calibri"/>
                <a:cs typeface="Calibri"/>
              </a:rPr>
              <a:t>α,</a:t>
            </a:r>
            <a:r>
              <a:rPr sz="2400" spc="-1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7030A0"/>
                </a:solidFill>
                <a:latin typeface="Calibri"/>
                <a:cs typeface="Calibri"/>
              </a:rPr>
              <a:t>β)</a:t>
            </a:r>
            <a:r>
              <a:rPr sz="2400" spc="-25" dirty="0">
                <a:latin typeface="Calibri"/>
                <a:cs typeface="Calibri"/>
              </a:rPr>
              <a:t>)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≥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β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return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469900" marR="2466340" indent="4572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α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max(α,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v)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v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92500" y="1511300"/>
            <a:ext cx="5130800" cy="1092200"/>
            <a:chOff x="3492500" y="1511300"/>
            <a:chExt cx="5130800" cy="1092200"/>
          </a:xfrm>
        </p:grpSpPr>
        <p:sp>
          <p:nvSpPr>
            <p:cNvPr id="12" name="object 12"/>
            <p:cNvSpPr/>
            <p:nvPr/>
          </p:nvSpPr>
          <p:spPr>
            <a:xfrm>
              <a:off x="3505200" y="1524000"/>
              <a:ext cx="5105400" cy="1066800"/>
            </a:xfrm>
            <a:custGeom>
              <a:avLst/>
              <a:gdLst/>
              <a:ahLst/>
              <a:cxnLst/>
              <a:rect l="l" t="t" r="r" b="b"/>
              <a:pathLst>
                <a:path w="5105400" h="1066800">
                  <a:moveTo>
                    <a:pt x="4927598" y="0"/>
                  </a:moveTo>
                  <a:lnTo>
                    <a:pt x="177801" y="0"/>
                  </a:lnTo>
                  <a:lnTo>
                    <a:pt x="130534" y="6351"/>
                  </a:lnTo>
                  <a:lnTo>
                    <a:pt x="88061" y="24275"/>
                  </a:lnTo>
                  <a:lnTo>
                    <a:pt x="52076" y="52076"/>
                  </a:lnTo>
                  <a:lnTo>
                    <a:pt x="24275" y="88061"/>
                  </a:lnTo>
                  <a:lnTo>
                    <a:pt x="6351" y="130534"/>
                  </a:lnTo>
                  <a:lnTo>
                    <a:pt x="0" y="177801"/>
                  </a:lnTo>
                  <a:lnTo>
                    <a:pt x="0" y="888997"/>
                  </a:lnTo>
                  <a:lnTo>
                    <a:pt x="6351" y="936264"/>
                  </a:lnTo>
                  <a:lnTo>
                    <a:pt x="24275" y="978737"/>
                  </a:lnTo>
                  <a:lnTo>
                    <a:pt x="52076" y="1014722"/>
                  </a:lnTo>
                  <a:lnTo>
                    <a:pt x="88061" y="1042524"/>
                  </a:lnTo>
                  <a:lnTo>
                    <a:pt x="130534" y="1060448"/>
                  </a:lnTo>
                  <a:lnTo>
                    <a:pt x="177801" y="1066800"/>
                  </a:lnTo>
                  <a:lnTo>
                    <a:pt x="4927598" y="1066800"/>
                  </a:lnTo>
                  <a:lnTo>
                    <a:pt x="4974865" y="1060448"/>
                  </a:lnTo>
                  <a:lnTo>
                    <a:pt x="5017338" y="1042524"/>
                  </a:lnTo>
                  <a:lnTo>
                    <a:pt x="5053323" y="1014722"/>
                  </a:lnTo>
                  <a:lnTo>
                    <a:pt x="5081124" y="978737"/>
                  </a:lnTo>
                  <a:lnTo>
                    <a:pt x="5099048" y="936264"/>
                  </a:lnTo>
                  <a:lnTo>
                    <a:pt x="5105400" y="888997"/>
                  </a:lnTo>
                  <a:lnTo>
                    <a:pt x="5105400" y="177801"/>
                  </a:lnTo>
                  <a:lnTo>
                    <a:pt x="5099048" y="130534"/>
                  </a:lnTo>
                  <a:lnTo>
                    <a:pt x="5081124" y="88061"/>
                  </a:lnTo>
                  <a:lnTo>
                    <a:pt x="5053323" y="52076"/>
                  </a:lnTo>
                  <a:lnTo>
                    <a:pt x="5017338" y="24275"/>
                  </a:lnTo>
                  <a:lnTo>
                    <a:pt x="4974865" y="6351"/>
                  </a:lnTo>
                  <a:lnTo>
                    <a:pt x="4927598" y="0"/>
                  </a:lnTo>
                  <a:close/>
                </a:path>
              </a:pathLst>
            </a:custGeom>
            <a:solidFill>
              <a:srgbClr val="7030A0">
                <a:alpha val="160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05200" y="1524000"/>
              <a:ext cx="5105400" cy="1066800"/>
            </a:xfrm>
            <a:custGeom>
              <a:avLst/>
              <a:gdLst/>
              <a:ahLst/>
              <a:cxnLst/>
              <a:rect l="l" t="t" r="r" b="b"/>
              <a:pathLst>
                <a:path w="5105400" h="1066800">
                  <a:moveTo>
                    <a:pt x="0" y="177801"/>
                  </a:moveTo>
                  <a:lnTo>
                    <a:pt x="6351" y="130535"/>
                  </a:lnTo>
                  <a:lnTo>
                    <a:pt x="24275" y="88061"/>
                  </a:lnTo>
                  <a:lnTo>
                    <a:pt x="52076" y="52076"/>
                  </a:lnTo>
                  <a:lnTo>
                    <a:pt x="88061" y="24275"/>
                  </a:lnTo>
                  <a:lnTo>
                    <a:pt x="130534" y="6351"/>
                  </a:lnTo>
                  <a:lnTo>
                    <a:pt x="177801" y="0"/>
                  </a:lnTo>
                  <a:lnTo>
                    <a:pt x="4927599" y="0"/>
                  </a:lnTo>
                  <a:lnTo>
                    <a:pt x="4974865" y="6351"/>
                  </a:lnTo>
                  <a:lnTo>
                    <a:pt x="5017338" y="24275"/>
                  </a:lnTo>
                  <a:lnTo>
                    <a:pt x="5053323" y="52076"/>
                  </a:lnTo>
                  <a:lnTo>
                    <a:pt x="5081125" y="88061"/>
                  </a:lnTo>
                  <a:lnTo>
                    <a:pt x="5099048" y="130535"/>
                  </a:lnTo>
                  <a:lnTo>
                    <a:pt x="5105400" y="177801"/>
                  </a:lnTo>
                  <a:lnTo>
                    <a:pt x="5105400" y="888998"/>
                  </a:lnTo>
                  <a:lnTo>
                    <a:pt x="5099048" y="936264"/>
                  </a:lnTo>
                  <a:lnTo>
                    <a:pt x="5081125" y="978738"/>
                  </a:lnTo>
                  <a:lnTo>
                    <a:pt x="5053323" y="1014723"/>
                  </a:lnTo>
                  <a:lnTo>
                    <a:pt x="5017338" y="1042524"/>
                  </a:lnTo>
                  <a:lnTo>
                    <a:pt x="4974865" y="1060448"/>
                  </a:lnTo>
                  <a:lnTo>
                    <a:pt x="4927599" y="1066800"/>
                  </a:lnTo>
                  <a:lnTo>
                    <a:pt x="177801" y="1066800"/>
                  </a:lnTo>
                  <a:lnTo>
                    <a:pt x="130534" y="1060448"/>
                  </a:lnTo>
                  <a:lnTo>
                    <a:pt x="88061" y="1042524"/>
                  </a:lnTo>
                  <a:lnTo>
                    <a:pt x="52076" y="1014723"/>
                  </a:lnTo>
                  <a:lnTo>
                    <a:pt x="24275" y="978738"/>
                  </a:lnTo>
                  <a:lnTo>
                    <a:pt x="6351" y="936264"/>
                  </a:lnTo>
                  <a:lnTo>
                    <a:pt x="0" y="888998"/>
                  </a:lnTo>
                  <a:lnTo>
                    <a:pt x="0" y="177801"/>
                  </a:lnTo>
                  <a:close/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09206" y="1621028"/>
            <a:ext cx="457454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8895" marR="5080" indent="-3683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solidFill>
                  <a:srgbClr val="0066CC"/>
                </a:solidFill>
                <a:latin typeface="Calibri"/>
                <a:cs typeface="Calibri"/>
              </a:rPr>
              <a:t>α:</a:t>
            </a:r>
            <a:r>
              <a:rPr sz="2400" spc="-30" dirty="0">
                <a:solidFill>
                  <a:srgbClr val="0066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MAX’s</a:t>
            </a:r>
            <a:r>
              <a:rPr sz="2400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best</a:t>
            </a:r>
            <a:r>
              <a:rPr sz="2400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option</a:t>
            </a:r>
            <a:r>
              <a:rPr sz="2400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on</a:t>
            </a:r>
            <a:r>
              <a:rPr sz="24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path</a:t>
            </a:r>
            <a:r>
              <a:rPr sz="24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to</a:t>
            </a:r>
            <a:r>
              <a:rPr sz="2400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70C0"/>
                </a:solidFill>
                <a:latin typeface="Calibri"/>
                <a:cs typeface="Calibri"/>
              </a:rPr>
              <a:t>root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β: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MIN’s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best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option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path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root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906000" y="5336764"/>
            <a:ext cx="978153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α</a:t>
            </a:r>
            <a:r>
              <a:rPr lang="zh-CN" altLang="en-US" sz="2400" dirty="0">
                <a:solidFill>
                  <a:srgbClr val="FF0000"/>
                </a:solidFill>
              </a:rPr>
              <a:t>剪枝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3480391" y="5646520"/>
            <a:ext cx="976549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β</a:t>
            </a:r>
            <a:r>
              <a:rPr lang="zh-CN" altLang="en-US" sz="2400" dirty="0">
                <a:solidFill>
                  <a:srgbClr val="FF0000"/>
                </a:solidFill>
              </a:rPr>
              <a:t>剪枝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86565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4049050" y="2390634"/>
            <a:ext cx="7615126" cy="2219691"/>
          </a:xfrm>
        </p:spPr>
        <p:txBody>
          <a:bodyPr/>
          <a:lstStyle/>
          <a:p>
            <a:r>
              <a:rPr lang="en-US" altLang="zh-CN" dirty="0"/>
              <a:t>Thanks</a:t>
            </a:r>
            <a:r>
              <a:rPr lang="zh-CN" altLang="en-US" dirty="0"/>
              <a:t>！ 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Question?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11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MzNTE1NmViZGY2MDg3ZTQ2NTk3NjgxNGIzZDAxZD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V(s) = \mathrm{known}&#10;\]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62"/>
  <p:tag name="PICTUREFILESIZE" val="417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V(s) = \max_{s' \in \mathrm{successors}(s)} V(s')&#10;\]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15"/>
  <p:tag name="PICTUREFILESIZE" val="984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V(s) = \mathrm{known}&#10;\]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62"/>
  <p:tag name="PICTUREFILESIZE" val="417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V(s') = \min_{s \in \mathrm{successors}(s')} V(s)&#10;\]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15"/>
  <p:tag name="PICTUREFILESIZE" val="921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9525">
          <a:solidFill>
            <a:schemeClr val="tx1"/>
          </a:solidFill>
          <a:round/>
        </a:ln>
      </a:spPr>
      <a:bodyPr wrap="none" anchor="ctr"/>
      <a:lstStyle>
        <a:defPPr algn="l">
          <a:defRPr dirty="0" smtClean="0">
            <a:solidFill>
              <a:srgbClr val="FF33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3054</Words>
  <Application>Microsoft Office PowerPoint</Application>
  <PresentationFormat>宽屏</PresentationFormat>
  <Paragraphs>390</Paragraphs>
  <Slides>36</Slides>
  <Notes>25</Notes>
  <HiddenSlides>6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굴림</vt:lpstr>
      <vt:lpstr>Helvetica Neue</vt:lpstr>
      <vt:lpstr>等线</vt:lpstr>
      <vt:lpstr>等线 Light</vt:lpstr>
      <vt:lpstr>黑体</vt:lpstr>
      <vt:lpstr>隶书</vt:lpstr>
      <vt:lpstr>宋体</vt:lpstr>
      <vt:lpstr>微软雅黑</vt:lpstr>
      <vt:lpstr>Arial</vt:lpstr>
      <vt:lpstr>Arial Black</vt:lpstr>
      <vt:lpstr>Calibri</vt:lpstr>
      <vt:lpstr>Comic Sans MS</vt:lpstr>
      <vt:lpstr>Symbol</vt:lpstr>
      <vt:lpstr>Times New Roman</vt:lpstr>
      <vt:lpstr>Wingdings</vt:lpstr>
      <vt:lpstr>Wingdings 2</vt:lpstr>
      <vt:lpstr>Office 主题​​</vt:lpstr>
      <vt:lpstr>课程《人工智能原理与技术》</vt:lpstr>
      <vt:lpstr>PowerPoint 演示文稿</vt:lpstr>
      <vt:lpstr>PowerPoint 演示文稿</vt:lpstr>
      <vt:lpstr>猜拳</vt:lpstr>
      <vt:lpstr>PowerPoint 演示文稿</vt:lpstr>
      <vt:lpstr>PowerPoint 演示文稿</vt:lpstr>
      <vt:lpstr>博弈论中经典问题：囚徒窘境</vt:lpstr>
      <vt:lpstr>囚徒窘境</vt:lpstr>
      <vt:lpstr>囚徒窘境</vt:lpstr>
      <vt:lpstr>PowerPoint 演示文稿</vt:lpstr>
      <vt:lpstr>PowerPoint 演示文稿</vt:lpstr>
      <vt:lpstr>零和博弈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MinMax算法</vt:lpstr>
      <vt:lpstr>Minimax Example</vt:lpstr>
      <vt:lpstr>Minimax 课堂练习</vt:lpstr>
      <vt:lpstr>Minimax Properties</vt:lpstr>
      <vt:lpstr>Generalized minimax</vt:lpstr>
      <vt:lpstr>PowerPoint 演示文稿</vt:lpstr>
      <vt:lpstr>博弈树剪枝Pruning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Alpha-Beta Implementation</vt:lpstr>
      <vt:lpstr>Thanks！  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WJL</dc:creator>
  <cp:lastModifiedBy>WJL</cp:lastModifiedBy>
  <cp:revision>215</cp:revision>
  <dcterms:created xsi:type="dcterms:W3CDTF">2025-03-07T08:38:00Z</dcterms:created>
  <dcterms:modified xsi:type="dcterms:W3CDTF">2026-04-07T14:43:29Z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32C2DC4AA9374ADBBB72F10C47D3FC6A_12</vt:lpwstr>
  </property>
  <property fmtid="{D5CDD505-2E9C-101B-9397-08002B2CF9AE}" pid="3" name="KSOProductBuildVer">
    <vt:lpwstr>2052-12.1.0.15374</vt:lpwstr>
  </property>
</Properties>
</file>