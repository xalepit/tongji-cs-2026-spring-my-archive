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68"/>
  </p:notesMasterIdLst>
  <p:sldIdLst>
    <p:sldId id="291" r:id="rId3"/>
    <p:sldId id="12541675" r:id="rId4"/>
    <p:sldId id="452" r:id="rId5"/>
    <p:sldId id="12541554" r:id="rId6"/>
    <p:sldId id="12541605" r:id="rId7"/>
    <p:sldId id="12541604" r:id="rId8"/>
    <p:sldId id="12541606" r:id="rId9"/>
    <p:sldId id="12541607" r:id="rId10"/>
    <p:sldId id="12541608" r:id="rId11"/>
    <p:sldId id="12541609" r:id="rId12"/>
    <p:sldId id="12541610" r:id="rId13"/>
    <p:sldId id="12541611" r:id="rId14"/>
    <p:sldId id="12541650" r:id="rId15"/>
    <p:sldId id="12541651" r:id="rId16"/>
    <p:sldId id="12541612" r:id="rId17"/>
    <p:sldId id="12541652" r:id="rId18"/>
    <p:sldId id="12541615" r:id="rId19"/>
    <p:sldId id="12541613" r:id="rId20"/>
    <p:sldId id="12541616" r:id="rId21"/>
    <p:sldId id="12541512" r:id="rId22"/>
    <p:sldId id="12541617" r:id="rId23"/>
    <p:sldId id="12541621" r:id="rId24"/>
    <p:sldId id="12541618" r:id="rId25"/>
    <p:sldId id="12541520" r:id="rId26"/>
    <p:sldId id="12541622" r:id="rId27"/>
    <p:sldId id="12541623" r:id="rId28"/>
    <p:sldId id="12541641" r:id="rId29"/>
    <p:sldId id="12541639" r:id="rId30"/>
    <p:sldId id="12541640" r:id="rId31"/>
    <p:sldId id="12541624" r:id="rId32"/>
    <p:sldId id="12541625" r:id="rId33"/>
    <p:sldId id="12541626" r:id="rId34"/>
    <p:sldId id="12541627" r:id="rId35"/>
    <p:sldId id="12541628" r:id="rId36"/>
    <p:sldId id="12541629" r:id="rId37"/>
    <p:sldId id="12541630" r:id="rId38"/>
    <p:sldId id="12541631" r:id="rId39"/>
    <p:sldId id="12541642" r:id="rId40"/>
    <p:sldId id="12541653" r:id="rId41"/>
    <p:sldId id="12541643" r:id="rId42"/>
    <p:sldId id="12541644" r:id="rId43"/>
    <p:sldId id="12541645" r:id="rId44"/>
    <p:sldId id="12541519" r:id="rId45"/>
    <p:sldId id="12541658" r:id="rId46"/>
    <p:sldId id="12541659" r:id="rId47"/>
    <p:sldId id="12541660" r:id="rId48"/>
    <p:sldId id="12541661" r:id="rId49"/>
    <p:sldId id="12541662" r:id="rId50"/>
    <p:sldId id="12541663" r:id="rId51"/>
    <p:sldId id="12541664" r:id="rId52"/>
    <p:sldId id="12541665" r:id="rId53"/>
    <p:sldId id="12541666" r:id="rId54"/>
    <p:sldId id="12541667" r:id="rId55"/>
    <p:sldId id="12541668" r:id="rId56"/>
    <p:sldId id="12541669" r:id="rId57"/>
    <p:sldId id="12541670" r:id="rId58"/>
    <p:sldId id="12541671" r:id="rId59"/>
    <p:sldId id="12541672" r:id="rId60"/>
    <p:sldId id="12541673" r:id="rId61"/>
    <p:sldId id="12541674" r:id="rId62"/>
    <p:sldId id="387" r:id="rId63"/>
    <p:sldId id="12541654" r:id="rId64"/>
    <p:sldId id="12541655" r:id="rId65"/>
    <p:sldId id="12541656" r:id="rId66"/>
    <p:sldId id="12541657" r:id="rId67"/>
  </p:sldIdLst>
  <p:sldSz cx="12192000" cy="6858000"/>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6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2" autoAdjust="0"/>
    <p:restoredTop sz="94715" autoAdjust="0"/>
  </p:normalViewPr>
  <p:slideViewPr>
    <p:cSldViewPr snapToGrid="0">
      <p:cViewPr varScale="1">
        <p:scale>
          <a:sx n="101" d="100"/>
          <a:sy n="101" d="100"/>
        </p:scale>
        <p:origin x="72"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168AE3-B0F5-4C80-8F83-2DB06710D5A2}" type="datetimeFigureOut">
              <a:rPr lang="zh-CN" altLang="en-US" smtClean="0"/>
              <a:t>2026-4-28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60A75-D360-4824-A020-85793697A30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extLst>
      <p:ext uri="{BB962C8B-B14F-4D97-AF65-F5344CB8AC3E}">
        <p14:creationId xmlns:p14="http://schemas.microsoft.com/office/powerpoint/2010/main" val="2473946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656C15A-65A9-4188-BE47-91B53ACA740E}" type="slidenum">
              <a:rPr lang="en-US" smtClean="0"/>
              <a:pPr>
                <a:defRPr/>
              </a:pPr>
              <a:t>39</a:t>
            </a:fld>
            <a:endParaRPr lang="en-US"/>
          </a:p>
        </p:txBody>
      </p:sp>
    </p:spTree>
    <p:extLst>
      <p:ext uri="{BB962C8B-B14F-4D97-AF65-F5344CB8AC3E}">
        <p14:creationId xmlns:p14="http://schemas.microsoft.com/office/powerpoint/2010/main" val="19153653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997094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456360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287672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8791385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61C9D13-1015-4291-8D2E-5B16E647CA25}" type="slidenum">
              <a:rPr lang="zh-CN" altLang="en-US" smtClean="0"/>
              <a:pPr/>
              <a:t>52</a:t>
            </a:fld>
            <a:endParaRPr lang="zh-CN" altLang="en-US"/>
          </a:p>
        </p:txBody>
      </p:sp>
    </p:spTree>
    <p:extLst>
      <p:ext uri="{BB962C8B-B14F-4D97-AF65-F5344CB8AC3E}">
        <p14:creationId xmlns:p14="http://schemas.microsoft.com/office/powerpoint/2010/main" val="7070762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889013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688640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0527740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9787004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6373368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414152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61</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63</a:t>
            </a:fld>
            <a:endParaRPr lang="zh-CN" altLang="en-US"/>
          </a:p>
        </p:txBody>
      </p:sp>
    </p:spTree>
    <p:extLst>
      <p:ext uri="{BB962C8B-B14F-4D97-AF65-F5344CB8AC3E}">
        <p14:creationId xmlns:p14="http://schemas.microsoft.com/office/powerpoint/2010/main" val="29640859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64</a:t>
            </a:fld>
            <a:endParaRPr lang="zh-CN" altLang="en-US"/>
          </a:p>
        </p:txBody>
      </p:sp>
    </p:spTree>
    <p:extLst>
      <p:ext uri="{BB962C8B-B14F-4D97-AF65-F5344CB8AC3E}">
        <p14:creationId xmlns:p14="http://schemas.microsoft.com/office/powerpoint/2010/main" val="3765755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65</a:t>
            </a:fld>
            <a:endParaRPr lang="zh-CN" altLang="en-US"/>
          </a:p>
        </p:txBody>
      </p:sp>
    </p:spTree>
    <p:extLst>
      <p:ext uri="{BB962C8B-B14F-4D97-AF65-F5344CB8AC3E}">
        <p14:creationId xmlns:p14="http://schemas.microsoft.com/office/powerpoint/2010/main" val="3430662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pic>
        <p:nvPicPr>
          <p:cNvPr id="2"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A143F6-88AD-4D51-9312-33142D4A94F7}"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pic>
        <p:nvPicPr>
          <p:cNvPr id="2"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8991617" y="158401"/>
            <a:ext cx="3088014" cy="803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A143F6-88AD-4D51-9312-33142D4A94F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9AE4D3-C916-4415-A239-F3CB206B3795}" type="datetimeFigureOut">
              <a:rPr lang="zh-CN" altLang="en-US" smtClean="0"/>
              <a:t>2026-4-28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A143F6-88AD-4D51-9312-33142D4A94F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slideLayout" Target="../slideLayouts/slideLayout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notesSlide" Target="../notesSlides/notesSlide3.xml"/><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10" Type="http://schemas.openxmlformats.org/officeDocument/2006/relationships/image" Target="../media/image9.jpeg"/><Relationship Id="rId4" Type="http://schemas.openxmlformats.org/officeDocument/2006/relationships/oleObject" Target="../embeddings/oleObject1.bin"/><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7.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2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7.xml"/><Relationship Id="rId5" Type="http://schemas.openxmlformats.org/officeDocument/2006/relationships/image" Target="../media/image20.jpe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7.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7.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21" Type="http://schemas.openxmlformats.org/officeDocument/2006/relationships/tags" Target="../tags/tag45.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slideLayout" Target="../slideLayouts/slideLayout12.xml"/><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tags" Target="../tags/tag47.xml"/><Relationship Id="rId10" Type="http://schemas.openxmlformats.org/officeDocument/2006/relationships/tags" Target="../tags/tag34.xml"/><Relationship Id="rId19" Type="http://schemas.openxmlformats.org/officeDocument/2006/relationships/tags" Target="../tags/tag43.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jpe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slideLayout" Target="../slideLayouts/slideLayout12.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10" Type="http://schemas.openxmlformats.org/officeDocument/2006/relationships/tags" Target="../tags/tag57.xml"/><Relationship Id="rId19" Type="http://schemas.openxmlformats.org/officeDocument/2006/relationships/tags" Target="../tags/tag66.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8.jpe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6.xml"/><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2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2.xml"/><Relationship Id="rId1" Type="http://schemas.openxmlformats.org/officeDocument/2006/relationships/slideLayout" Target="../slideLayouts/slideLayout26.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26.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notesSlide" Target="../notesSlides/notesSlide27.xml"/><Relationship Id="rId1" Type="http://schemas.openxmlformats.org/officeDocument/2006/relationships/slideLayout" Target="../slideLayouts/slideLayout26.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26.xml"/><Relationship Id="rId5" Type="http://schemas.openxmlformats.org/officeDocument/2006/relationships/image" Target="../media/image64.png"/><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6.xml"/><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32.xml"/><Relationship Id="rId1" Type="http://schemas.openxmlformats.org/officeDocument/2006/relationships/slideLayout" Target="../slideLayouts/slideLayout26.xml"/><Relationship Id="rId5" Type="http://schemas.openxmlformats.org/officeDocument/2006/relationships/image" Target="../media/image67.png"/><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33.xml"/><Relationship Id="rId1" Type="http://schemas.openxmlformats.org/officeDocument/2006/relationships/slideLayout" Target="../slideLayouts/slideLayout16.xml"/><Relationship Id="rId5" Type="http://schemas.openxmlformats.org/officeDocument/2006/relationships/image" Target="../media/image68.png"/><Relationship Id="rId4" Type="http://schemas.openxmlformats.org/officeDocument/2006/relationships/image" Target="../media/image620.png"/></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5.xml"/><Relationship Id="rId1" Type="http://schemas.openxmlformats.org/officeDocument/2006/relationships/slideLayout" Target="../slideLayouts/slideLayout26.xml"/><Relationship Id="rId5" Type="http://schemas.openxmlformats.org/officeDocument/2006/relationships/image" Target="../media/image70.emf"/><Relationship Id="rId4" Type="http://schemas.openxmlformats.org/officeDocument/2006/relationships/image" Target="../media/image71.png"/></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6.xml"/><Relationship Id="rId1" Type="http://schemas.openxmlformats.org/officeDocument/2006/relationships/slideLayout" Target="../slideLayouts/slideLayout26.xml"/><Relationship Id="rId5" Type="http://schemas.openxmlformats.org/officeDocument/2006/relationships/image" Target="../media/image74.png"/><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tags" Target="../tags/tag88.xml"/><Relationship Id="rId3" Type="http://schemas.openxmlformats.org/officeDocument/2006/relationships/tags" Target="../tags/tag73.xml"/><Relationship Id="rId21" Type="http://schemas.openxmlformats.org/officeDocument/2006/relationships/tags" Target="../tags/tag91.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 Type="http://schemas.openxmlformats.org/officeDocument/2006/relationships/tags" Target="../tags/tag72.xml"/><Relationship Id="rId16" Type="http://schemas.openxmlformats.org/officeDocument/2006/relationships/tags" Target="../tags/tag86.xml"/><Relationship Id="rId20" Type="http://schemas.openxmlformats.org/officeDocument/2006/relationships/tags" Target="../tags/tag90.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24" Type="http://schemas.openxmlformats.org/officeDocument/2006/relationships/slideLayout" Target="../slideLayouts/slideLayout12.xml"/><Relationship Id="rId5" Type="http://schemas.openxmlformats.org/officeDocument/2006/relationships/tags" Target="../tags/tag75.xml"/><Relationship Id="rId15" Type="http://schemas.openxmlformats.org/officeDocument/2006/relationships/tags" Target="../tags/tag85.xml"/><Relationship Id="rId23" Type="http://schemas.openxmlformats.org/officeDocument/2006/relationships/tags" Target="../tags/tag93.xml"/><Relationship Id="rId10" Type="http://schemas.openxmlformats.org/officeDocument/2006/relationships/tags" Target="../tags/tag80.xml"/><Relationship Id="rId19" Type="http://schemas.openxmlformats.org/officeDocument/2006/relationships/tags" Target="../tags/tag89.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tags" Target="../tags/tag92.xml"/></Relationships>
</file>

<file path=ppt/slides/_rels/slide4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4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wmf"/><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820.png"/></Relationships>
</file>

<file path=ppt/slides/_rels/slide58.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59.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notesSlide" Target="../notesSlides/notesSlide46.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6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93.png"/></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95.png"/></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212351" y="2403835"/>
            <a:ext cx="9425169" cy="1282576"/>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a:ln w="22225">
                  <a:solidFill>
                    <a:schemeClr val="accent2"/>
                  </a:solidFill>
                  <a:prstDash val="solid"/>
                </a:ln>
                <a:solidFill>
                  <a:schemeClr val="accent2">
                    <a:lumMod val="40000"/>
                    <a:lumOff val="60000"/>
                  </a:schemeClr>
                </a:solidFill>
              </a:rPr>
              <a:t>第七周 机器学习与有监督学习</a:t>
            </a:r>
            <a:endParaRPr lang="zh-CN" altLang="en-US" sz="5300" b="1" dirty="0">
              <a:ln w="22225">
                <a:solidFill>
                  <a:schemeClr val="accent2"/>
                </a:solidFill>
                <a:prstDash val="solid"/>
              </a:ln>
              <a:solidFill>
                <a:schemeClr val="accent2">
                  <a:lumMod val="40000"/>
                  <a:lumOff val="60000"/>
                </a:schemeClr>
              </a:solidFill>
            </a:endParaRPr>
          </a:p>
        </p:txBody>
      </p:sp>
      <p:sp>
        <p:nvSpPr>
          <p:cNvPr id="8" name="Rectangle 4"/>
          <p:cNvSpPr>
            <a:spLocks noGrp="1" noChangeArrowheads="1"/>
          </p:cNvSpPr>
          <p:nvPr>
            <p:ph type="ctrTitle"/>
          </p:nvPr>
        </p:nvSpPr>
        <p:spPr>
          <a:xfrm>
            <a:off x="498235" y="791671"/>
            <a:ext cx="5410200" cy="589165"/>
          </a:xfrm>
        </p:spPr>
        <p:txBody>
          <a:bodyPr>
            <a:normAutofit/>
          </a:bodyPr>
          <a:lstStyle/>
          <a:p>
            <a:pPr algn="l"/>
            <a:r>
              <a:rPr lang="zh-CN" altLang="en-US" sz="3000" dirty="0">
                <a:ea typeface="宋体" panose="02010600030101010101" pitchFamily="2" charset="-122"/>
              </a:rPr>
              <a:t>课程</a:t>
            </a:r>
            <a:r>
              <a:rPr lang="en-US" altLang="zh-CN" sz="3000" dirty="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人工智能原理与技术</a:t>
            </a:r>
            <a:r>
              <a:rPr lang="en-US" altLang="zh-CN" sz="3000" i="0" dirty="0">
                <a:ea typeface="宋体" panose="02010600030101010101" pitchFamily="2" charset="-122"/>
              </a:rPr>
              <a:t>》</a:t>
            </a:r>
          </a:p>
        </p:txBody>
      </p:sp>
      <p:pic>
        <p:nvPicPr>
          <p:cNvPr id="10" name="图片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10837" y="1312"/>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427227" y="632552"/>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4" name="平行四边形 3"/>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5" name="矩形 4"/>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rPr>
                <a:t>人工智能的模型与方法</a:t>
              </a:r>
            </a:p>
          </p:txBody>
        </p:sp>
      </p:grpSp>
      <p:sp>
        <p:nvSpPr>
          <p:cNvPr id="18" name="矩形: 圆角 6">
            <a:extLst>
              <a:ext uri="{FF2B5EF4-FFF2-40B4-BE49-F238E27FC236}">
                <a16:creationId xmlns:a16="http://schemas.microsoft.com/office/drawing/2014/main" id="{B17979E7-611B-467E-81A3-54BF3064D5F2}"/>
              </a:ext>
            </a:extLst>
          </p:cNvPr>
          <p:cNvSpPr/>
          <p:nvPr/>
        </p:nvSpPr>
        <p:spPr>
          <a:xfrm>
            <a:off x="154249" y="1315853"/>
            <a:ext cx="4481283" cy="480220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bg1"/>
              </a:solidFill>
              <a:effectLst>
                <a:outerShdw blurRad="38100" dist="38100" dir="2700000" algn="tl">
                  <a:srgbClr val="000000">
                    <a:alpha val="43137"/>
                  </a:srgbClr>
                </a:outerShdw>
              </a:effectLst>
              <a:latin typeface="+mj-ea"/>
              <a:ea typeface="+mj-ea"/>
            </a:endParaRPr>
          </a:p>
        </p:txBody>
      </p:sp>
      <p:sp>
        <p:nvSpPr>
          <p:cNvPr id="22" name="文本框 21">
            <a:extLst>
              <a:ext uri="{FF2B5EF4-FFF2-40B4-BE49-F238E27FC236}">
                <a16:creationId xmlns:a16="http://schemas.microsoft.com/office/drawing/2014/main" id="{8C8EEDAF-310E-4F94-80D9-36FD24991D71}"/>
              </a:ext>
            </a:extLst>
          </p:cNvPr>
          <p:cNvSpPr txBox="1"/>
          <p:nvPr/>
        </p:nvSpPr>
        <p:spPr>
          <a:xfrm>
            <a:off x="486752" y="1484321"/>
            <a:ext cx="4115358" cy="707886"/>
          </a:xfrm>
          <a:prstGeom prst="rect">
            <a:avLst/>
          </a:prstGeom>
          <a:noFill/>
          <a:ln>
            <a:noFill/>
          </a:ln>
        </p:spPr>
        <p:txBody>
          <a:bodyPr wrap="square" rtlCol="0">
            <a:spAutoFit/>
          </a:bodyPr>
          <a:lstStyle/>
          <a:p>
            <a:pPr marL="285750" indent="-285750" algn="just">
              <a:lnSpc>
                <a:spcPct val="200000"/>
              </a:lnSpc>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rPr>
              <a:t>以符号主义为核心的逻辑推理</a:t>
            </a:r>
            <a:endParaRPr lang="en-US"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23" name="矩形 22">
            <a:extLst>
              <a:ext uri="{FF2B5EF4-FFF2-40B4-BE49-F238E27FC236}">
                <a16:creationId xmlns:a16="http://schemas.microsoft.com/office/drawing/2014/main" id="{FA4A1C13-C289-4C29-95EE-3F4BC7CB8DF3}"/>
              </a:ext>
            </a:extLst>
          </p:cNvPr>
          <p:cNvSpPr/>
          <p:nvPr/>
        </p:nvSpPr>
        <p:spPr>
          <a:xfrm>
            <a:off x="486752" y="1593804"/>
            <a:ext cx="3740367" cy="498886"/>
          </a:xfrm>
          <a:prstGeom prst="rect">
            <a:avLst/>
          </a:prstGeom>
          <a:noFill/>
          <a:ln w="19050">
            <a:solidFill>
              <a:srgbClr val="81C7C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j-ea"/>
              <a:ea typeface="+mj-ea"/>
            </a:endParaRPr>
          </a:p>
        </p:txBody>
      </p:sp>
      <p:sp>
        <p:nvSpPr>
          <p:cNvPr id="29" name="文本框 28">
            <a:extLst>
              <a:ext uri="{FF2B5EF4-FFF2-40B4-BE49-F238E27FC236}">
                <a16:creationId xmlns:a16="http://schemas.microsoft.com/office/drawing/2014/main" id="{0CE0D93B-A7AA-4FEF-A27A-25A3C6892ABD}"/>
              </a:ext>
            </a:extLst>
          </p:cNvPr>
          <p:cNvSpPr txBox="1"/>
          <p:nvPr/>
        </p:nvSpPr>
        <p:spPr>
          <a:xfrm>
            <a:off x="448223" y="2394642"/>
            <a:ext cx="4115358" cy="707886"/>
          </a:xfrm>
          <a:prstGeom prst="rect">
            <a:avLst/>
          </a:prstGeom>
          <a:noFill/>
          <a:ln>
            <a:noFill/>
          </a:ln>
        </p:spPr>
        <p:txBody>
          <a:bodyPr wrap="square" rtlCol="0">
            <a:spAutoFit/>
          </a:bodyPr>
          <a:lstStyle/>
          <a:p>
            <a:pPr marL="285750" indent="-285750" algn="just">
              <a:lnSpc>
                <a:spcPct val="200000"/>
              </a:lnSpc>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rPr>
              <a:t>以问题求解为核心的探寻搜索</a:t>
            </a:r>
            <a:endParaRPr lang="en-US"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30" name="矩形 29">
            <a:extLst>
              <a:ext uri="{FF2B5EF4-FFF2-40B4-BE49-F238E27FC236}">
                <a16:creationId xmlns:a16="http://schemas.microsoft.com/office/drawing/2014/main" id="{D4F478B2-8C84-44D5-89D6-123183BD759B}"/>
              </a:ext>
            </a:extLst>
          </p:cNvPr>
          <p:cNvSpPr/>
          <p:nvPr/>
        </p:nvSpPr>
        <p:spPr>
          <a:xfrm>
            <a:off x="487666" y="2562830"/>
            <a:ext cx="3740367" cy="498886"/>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j-ea"/>
              <a:ea typeface="+mj-ea"/>
            </a:endParaRPr>
          </a:p>
        </p:txBody>
      </p:sp>
      <p:sp>
        <p:nvSpPr>
          <p:cNvPr id="31" name="文本框 30">
            <a:extLst>
              <a:ext uri="{FF2B5EF4-FFF2-40B4-BE49-F238E27FC236}">
                <a16:creationId xmlns:a16="http://schemas.microsoft.com/office/drawing/2014/main" id="{718EA4F3-0AD7-440C-82B7-B3E8620F1FAF}"/>
              </a:ext>
            </a:extLst>
          </p:cNvPr>
          <p:cNvSpPr txBox="1"/>
          <p:nvPr/>
        </p:nvSpPr>
        <p:spPr>
          <a:xfrm>
            <a:off x="486752" y="3473151"/>
            <a:ext cx="4115358" cy="622543"/>
          </a:xfrm>
          <a:prstGeom prst="rect">
            <a:avLst/>
          </a:prstGeom>
          <a:noFill/>
          <a:ln>
            <a:noFill/>
          </a:ln>
        </p:spPr>
        <p:txBody>
          <a:bodyPr wrap="square" rtlCol="0">
            <a:spAutoFit/>
          </a:bodyPr>
          <a:lstStyle/>
          <a:p>
            <a:pPr marL="285750" indent="-285750" algn="just">
              <a:lnSpc>
                <a:spcPct val="200000"/>
              </a:lnSpc>
              <a:buFont typeface="Wingdings" panose="05000000000000000000" pitchFamily="2" charset="2"/>
              <a:buChar char="u"/>
            </a:pPr>
            <a:r>
              <a:rPr lang="zh-CN" altLang="zh-CN" sz="2000" b="1" dirty="0">
                <a:solidFill>
                  <a:srgbClr val="FF0000"/>
                </a:solidFill>
                <a:effectLst>
                  <a:outerShdw blurRad="38100" dist="38100" dir="2700000" algn="tl">
                    <a:srgbClr val="000000">
                      <a:alpha val="43137"/>
                    </a:srgbClr>
                  </a:outerShdw>
                </a:effectLst>
                <a:latin typeface="+mj-ea"/>
                <a:ea typeface="+mj-ea"/>
                <a:cs typeface="Times New Roman" panose="02020603050405020304" pitchFamily="18" charset="0"/>
              </a:rPr>
              <a:t>以数据驱动为核心的机器学习</a:t>
            </a:r>
            <a:endParaRPr lang="en-US" altLang="zh-CN" sz="2000" b="1" dirty="0">
              <a:solidFill>
                <a:srgbClr val="FF0000"/>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32" name="矩形 31">
            <a:extLst>
              <a:ext uri="{FF2B5EF4-FFF2-40B4-BE49-F238E27FC236}">
                <a16:creationId xmlns:a16="http://schemas.microsoft.com/office/drawing/2014/main" id="{D71FC157-7A3F-4C2A-AB95-8AB755E2B908}"/>
              </a:ext>
            </a:extLst>
          </p:cNvPr>
          <p:cNvSpPr/>
          <p:nvPr/>
        </p:nvSpPr>
        <p:spPr>
          <a:xfrm>
            <a:off x="486752" y="3582634"/>
            <a:ext cx="3740367" cy="498886"/>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j-ea"/>
              <a:ea typeface="+mj-ea"/>
            </a:endParaRPr>
          </a:p>
        </p:txBody>
      </p:sp>
      <p:sp>
        <p:nvSpPr>
          <p:cNvPr id="33" name="文本框 32">
            <a:extLst>
              <a:ext uri="{FF2B5EF4-FFF2-40B4-BE49-F238E27FC236}">
                <a16:creationId xmlns:a16="http://schemas.microsoft.com/office/drawing/2014/main" id="{BCE6CEC3-74AF-48C7-8793-8F7609F15893}"/>
              </a:ext>
            </a:extLst>
          </p:cNvPr>
          <p:cNvSpPr txBox="1"/>
          <p:nvPr/>
        </p:nvSpPr>
        <p:spPr>
          <a:xfrm>
            <a:off x="531709" y="4442177"/>
            <a:ext cx="4115358" cy="707886"/>
          </a:xfrm>
          <a:prstGeom prst="rect">
            <a:avLst/>
          </a:prstGeom>
          <a:noFill/>
          <a:ln>
            <a:noFill/>
          </a:ln>
        </p:spPr>
        <p:txBody>
          <a:bodyPr wrap="square" rtlCol="0">
            <a:spAutoFit/>
          </a:bodyPr>
          <a:lstStyle/>
          <a:p>
            <a:pPr marL="285750" indent="-285750" algn="just">
              <a:lnSpc>
                <a:spcPct val="200000"/>
              </a:lnSpc>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rPr>
              <a:t>以行为主义为核心的强化学习</a:t>
            </a:r>
            <a:endParaRPr lang="en-US"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34" name="矩形 33">
            <a:extLst>
              <a:ext uri="{FF2B5EF4-FFF2-40B4-BE49-F238E27FC236}">
                <a16:creationId xmlns:a16="http://schemas.microsoft.com/office/drawing/2014/main" id="{B1B1331A-ABB3-4DAE-A3B7-4A668E412766}"/>
              </a:ext>
            </a:extLst>
          </p:cNvPr>
          <p:cNvSpPr/>
          <p:nvPr/>
        </p:nvSpPr>
        <p:spPr>
          <a:xfrm>
            <a:off x="531709" y="4551660"/>
            <a:ext cx="3740367" cy="498886"/>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j-ea"/>
              <a:ea typeface="+mj-ea"/>
            </a:endParaRPr>
          </a:p>
        </p:txBody>
      </p:sp>
      <p:sp>
        <p:nvSpPr>
          <p:cNvPr id="35" name="文本框 34">
            <a:extLst>
              <a:ext uri="{FF2B5EF4-FFF2-40B4-BE49-F238E27FC236}">
                <a16:creationId xmlns:a16="http://schemas.microsoft.com/office/drawing/2014/main" id="{58D8934E-E6E9-4DEE-89AF-C807EFC35E97}"/>
              </a:ext>
            </a:extLst>
          </p:cNvPr>
          <p:cNvSpPr txBox="1"/>
          <p:nvPr/>
        </p:nvSpPr>
        <p:spPr>
          <a:xfrm>
            <a:off x="486752" y="5295212"/>
            <a:ext cx="4000172" cy="707886"/>
          </a:xfrm>
          <a:prstGeom prst="rect">
            <a:avLst/>
          </a:prstGeom>
          <a:noFill/>
          <a:ln>
            <a:noFill/>
          </a:ln>
        </p:spPr>
        <p:txBody>
          <a:bodyPr wrap="square" rtlCol="0">
            <a:spAutoFit/>
          </a:bodyPr>
          <a:lstStyle/>
          <a:p>
            <a:pPr marL="285750" indent="-285750" algn="just">
              <a:lnSpc>
                <a:spcPct val="200000"/>
              </a:lnSpc>
              <a:buFont typeface="Wingdings" panose="05000000000000000000" pitchFamily="2" charset="2"/>
              <a:buChar char="u"/>
            </a:pPr>
            <a:r>
              <a:rPr lang="zh-CN"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rPr>
              <a:t>以博弈对抗为核心的决策智能</a:t>
            </a:r>
            <a:endParaRPr lang="en-US" altLang="zh-CN" sz="2000" b="1" dirty="0">
              <a:solidFill>
                <a:srgbClr val="FFFFCC"/>
              </a:solidFill>
              <a:effectLst>
                <a:outerShdw blurRad="38100" dist="38100" dir="2700000" algn="tl">
                  <a:srgbClr val="000000">
                    <a:alpha val="43137"/>
                  </a:srgbClr>
                </a:outerShdw>
              </a:effectLst>
              <a:latin typeface="+mj-ea"/>
              <a:ea typeface="+mj-ea"/>
              <a:cs typeface="Times New Roman" panose="02020603050405020304" pitchFamily="18" charset="0"/>
            </a:endParaRPr>
          </a:p>
        </p:txBody>
      </p:sp>
      <p:sp>
        <p:nvSpPr>
          <p:cNvPr id="37" name="矩形 36">
            <a:extLst>
              <a:ext uri="{FF2B5EF4-FFF2-40B4-BE49-F238E27FC236}">
                <a16:creationId xmlns:a16="http://schemas.microsoft.com/office/drawing/2014/main" id="{54D905CE-8A1F-4FFD-8051-32117BA3A287}"/>
              </a:ext>
            </a:extLst>
          </p:cNvPr>
          <p:cNvSpPr/>
          <p:nvPr/>
        </p:nvSpPr>
        <p:spPr>
          <a:xfrm>
            <a:off x="517707" y="5400020"/>
            <a:ext cx="3754369" cy="522368"/>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j-ea"/>
              <a:ea typeface="+mj-ea"/>
            </a:endParaRPr>
          </a:p>
        </p:txBody>
      </p:sp>
      <p:sp>
        <p:nvSpPr>
          <p:cNvPr id="7" name="右大括号 6">
            <a:extLst>
              <a:ext uri="{FF2B5EF4-FFF2-40B4-BE49-F238E27FC236}">
                <a16:creationId xmlns:a16="http://schemas.microsoft.com/office/drawing/2014/main" id="{62AF0C4C-541C-4693-8904-1F2F33301014}"/>
              </a:ext>
            </a:extLst>
          </p:cNvPr>
          <p:cNvSpPr/>
          <p:nvPr/>
        </p:nvSpPr>
        <p:spPr>
          <a:xfrm>
            <a:off x="4590578" y="1843247"/>
            <a:ext cx="305506" cy="3698900"/>
          </a:xfrm>
          <a:prstGeom prst="rightBrace">
            <a:avLst>
              <a:gd name="adj1" fmla="val 8333"/>
              <a:gd name="adj2" fmla="val 52665"/>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pic>
        <p:nvPicPr>
          <p:cNvPr id="24" name="图片 23"/>
          <p:cNvPicPr>
            <a:picLocks noChangeAspect="1"/>
          </p:cNvPicPr>
          <p:nvPr/>
        </p:nvPicPr>
        <p:blipFill>
          <a:blip r:embed="rId3"/>
          <a:stretch>
            <a:fillRect/>
          </a:stretch>
        </p:blipFill>
        <p:spPr>
          <a:xfrm>
            <a:off x="5216075" y="1847176"/>
            <a:ext cx="6820617" cy="4038600"/>
          </a:xfrm>
          <a:prstGeom prst="rect">
            <a:avLst/>
          </a:prstGeom>
        </p:spPr>
      </p:pic>
    </p:spTree>
    <p:extLst>
      <p:ext uri="{BB962C8B-B14F-4D97-AF65-F5344CB8AC3E}">
        <p14:creationId xmlns:p14="http://schemas.microsoft.com/office/powerpoint/2010/main" val="1591026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3869989" y="1594509"/>
            <a:ext cx="4452022" cy="4487848"/>
            <a:chOff x="3872379" y="1383943"/>
            <a:chExt cx="4452022" cy="4487848"/>
          </a:xfrm>
          <a:solidFill>
            <a:srgbClr val="24569D"/>
          </a:solidFill>
        </p:grpSpPr>
        <p:sp>
          <p:nvSpPr>
            <p:cNvPr id="3" name="Freeform 5"/>
            <p:cNvSpPr/>
            <p:nvPr>
              <p:custDataLst>
                <p:tags r:id="rId7"/>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custDataLst>
                <p:tags r:id="rId8"/>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custDataLst>
                <p:tags r:id="rId9"/>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custDataLst>
                <p:tags r:id="rId10"/>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a:grpFill/>
          </p:grpSpPr>
          <p:sp>
            <p:nvSpPr>
              <p:cNvPr id="20" name="Freeform 9"/>
              <p:cNvSpPr>
                <a:spLocks noEditPoints="1"/>
              </p:cNvSpPr>
              <p:nvPr>
                <p:custDataLst>
                  <p:tags r:id="rId21"/>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custDataLst>
                  <p:tags r:id="rId22"/>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custDataLst>
                  <p:tags r:id="rId23"/>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a:grpFill/>
          </p:grpSpPr>
          <p:sp>
            <p:nvSpPr>
              <p:cNvPr id="18" name="Freeform 12"/>
              <p:cNvSpPr>
                <a:spLocks noEditPoints="1"/>
              </p:cNvSpPr>
              <p:nvPr>
                <p:custDataLst>
                  <p:tags r:id="rId19"/>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custDataLst>
                  <p:tags r:id="rId20"/>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a:grpFill/>
          </p:grpSpPr>
          <p:sp>
            <p:nvSpPr>
              <p:cNvPr id="15" name="Freeform 14"/>
              <p:cNvSpPr>
                <a:spLocks noEditPoints="1"/>
              </p:cNvSpPr>
              <p:nvPr>
                <p:custDataLst>
                  <p:tags r:id="rId16"/>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custDataLst>
                  <p:tags r:id="rId17"/>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custDataLst>
                  <p:tags r:id="rId18"/>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custDataLst>
                <p:tags r:id="rId11"/>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grp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custDataLst>
                <p:tags r:id="rId12"/>
              </p:custDataLst>
            </p:nvPr>
          </p:nvSpPr>
          <p:spPr>
            <a:xfrm>
              <a:off x="5281860" y="2496032"/>
              <a:ext cx="550151" cy="707886"/>
            </a:xfrm>
            <a:prstGeom prst="rect">
              <a:avLst/>
            </a:prstGeom>
            <a:grp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custDataLst>
                <p:tags r:id="rId13"/>
              </p:custDataLst>
            </p:nvPr>
          </p:nvSpPr>
          <p:spPr>
            <a:xfrm>
              <a:off x="6355124" y="2496032"/>
              <a:ext cx="550151" cy="707886"/>
            </a:xfrm>
            <a:prstGeom prst="rect">
              <a:avLst/>
            </a:prstGeom>
            <a:grp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custDataLst>
                <p:tags r:id="rId14"/>
              </p:custDataLst>
            </p:nvPr>
          </p:nvSpPr>
          <p:spPr>
            <a:xfrm>
              <a:off x="5281860" y="4095994"/>
              <a:ext cx="550151" cy="707886"/>
            </a:xfrm>
            <a:prstGeom prst="rect">
              <a:avLst/>
            </a:prstGeom>
            <a:grp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custDataLst>
                <p:tags r:id="rId15"/>
              </p:custDataLst>
            </p:nvPr>
          </p:nvSpPr>
          <p:spPr>
            <a:xfrm>
              <a:off x="6355124" y="4095994"/>
              <a:ext cx="550151" cy="707886"/>
            </a:xfrm>
            <a:prstGeom prst="rect">
              <a:avLst/>
            </a:prstGeom>
            <a:grp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2"/>
            </p:custDataLst>
          </p:nvPr>
        </p:nvGrpSpPr>
        <p:grpSpPr>
          <a:xfrm>
            <a:off x="1445407" y="2526644"/>
            <a:ext cx="2892852" cy="823738"/>
            <a:chOff x="656868" y="2381121"/>
            <a:chExt cx="2892852" cy="823738"/>
          </a:xfrm>
        </p:grpSpPr>
        <p:sp>
          <p:nvSpPr>
            <p:cNvPr id="24" name="文本框 23"/>
            <p:cNvSpPr txBox="1"/>
            <p:nvPr>
              <p:custDataLst>
                <p:tags r:id="rId6"/>
              </p:custDataLst>
            </p:nvPr>
          </p:nvSpPr>
          <p:spPr>
            <a:xfrm>
              <a:off x="928440" y="2381121"/>
              <a:ext cx="2621280" cy="460375"/>
            </a:xfrm>
            <a:prstGeom prst="rect">
              <a:avLst/>
            </a:prstGeom>
            <a:noFill/>
          </p:spPr>
          <p:txBody>
            <a:bodyPr wrap="none" rtlCol="0">
              <a:spAutoFit/>
            </a:bodyPr>
            <a:lstStyle/>
            <a:p>
              <a:r>
                <a:rPr lang="zh-CN" altLang="en-US" sz="2400" b="1" dirty="0">
                  <a:solidFill>
                    <a:srgbClr val="FF0000"/>
                  </a:solidFill>
                </a:rPr>
                <a:t>机器学习基本概念</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p:cNvSpPr txBox="1"/>
          <p:nvPr>
            <p:custDataLst>
              <p:tags r:id="rId3"/>
            </p:custDataLst>
          </p:nvPr>
        </p:nvSpPr>
        <p:spPr>
          <a:xfrm>
            <a:off x="8551048" y="4920321"/>
            <a:ext cx="1097280" cy="460375"/>
          </a:xfrm>
          <a:prstGeom prst="rect">
            <a:avLst/>
          </a:prstGeom>
          <a:noFill/>
        </p:spPr>
        <p:txBody>
          <a:bodyPr wrap="none" rtlCol="0">
            <a:spAutoFit/>
          </a:bodyPr>
          <a:lstStyle/>
          <a:p>
            <a:r>
              <a:rPr lang="zh-CN" altLang="en-US" sz="2400" b="1" dirty="0">
                <a:solidFill>
                  <a:srgbClr val="24569D"/>
                </a:solidFill>
              </a:rPr>
              <a:t>决策树</a:t>
            </a:r>
          </a:p>
        </p:txBody>
      </p:sp>
      <p:sp>
        <p:nvSpPr>
          <p:cNvPr id="31" name="文本框 30"/>
          <p:cNvSpPr txBox="1"/>
          <p:nvPr>
            <p:custDataLst>
              <p:tags r:id="rId4"/>
            </p:custDataLst>
          </p:nvPr>
        </p:nvSpPr>
        <p:spPr>
          <a:xfrm>
            <a:off x="1743730" y="4865798"/>
            <a:ext cx="1402080" cy="460375"/>
          </a:xfrm>
          <a:prstGeom prst="rect">
            <a:avLst/>
          </a:prstGeom>
          <a:noFill/>
        </p:spPr>
        <p:txBody>
          <a:bodyPr wrap="none" rtlCol="0">
            <a:spAutoFit/>
          </a:bodyPr>
          <a:lstStyle/>
          <a:p>
            <a:r>
              <a:rPr lang="zh-CN" altLang="en-US" sz="2400" b="1" dirty="0">
                <a:solidFill>
                  <a:srgbClr val="24569D"/>
                </a:solidFill>
              </a:rPr>
              <a:t>回归分析</a:t>
            </a:r>
          </a:p>
        </p:txBody>
      </p:sp>
      <p:sp>
        <p:nvSpPr>
          <p:cNvPr id="34" name="文本框 33"/>
          <p:cNvSpPr txBox="1"/>
          <p:nvPr>
            <p:custDataLst>
              <p:tags r:id="rId5"/>
            </p:custDataLst>
          </p:nvPr>
        </p:nvSpPr>
        <p:spPr>
          <a:xfrm>
            <a:off x="8551048" y="2586871"/>
            <a:ext cx="1706880" cy="460375"/>
          </a:xfrm>
          <a:prstGeom prst="rect">
            <a:avLst/>
          </a:prstGeom>
          <a:noFill/>
        </p:spPr>
        <p:txBody>
          <a:bodyPr wrap="none" rtlCol="0">
            <a:spAutoFit/>
          </a:bodyPr>
          <a:lstStyle/>
          <a:p>
            <a:r>
              <a:rPr lang="zh-CN" altLang="en-US" sz="2400" b="1" dirty="0">
                <a:solidFill>
                  <a:srgbClr val="24569D"/>
                </a:solidFill>
              </a:rPr>
              <a:t>有监督学习</a:t>
            </a: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894370"/>
            <a:chOff x="4099943" y="2819853"/>
            <a:chExt cx="2570275" cy="894370"/>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860425"/>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机器学习 </a:t>
              </a:r>
              <a:r>
                <a:rPr lang="en-US" altLang="zh-TW" sz="20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构建一个映射函数</a:t>
              </a:r>
              <a:endParaRPr lang="zh-CN" altLang="en-US" sz="2000" dirty="0"/>
            </a:p>
            <a:p>
              <a:pPr algn="ctr">
                <a:spcBef>
                  <a:spcPct val="50000"/>
                </a:spcBef>
              </a:pP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6" name="内容占位符 5"/>
          <p:cNvSpPr>
            <a:spLocks noGrp="1"/>
          </p:cNvSpPr>
          <p:nvPr>
            <p:ph sz="quarter" idx="1"/>
          </p:nvPr>
        </p:nvSpPr>
        <p:spPr/>
        <p:txBody>
          <a:bodyPr/>
          <a:lstStyle/>
          <a:p>
            <a:endParaRPr lang="zh-CN" altLang="en-US" dirty="0"/>
          </a:p>
        </p:txBody>
      </p:sp>
      <p:graphicFrame>
        <p:nvGraphicFramePr>
          <p:cNvPr id="9" name="Object 12"/>
          <p:cNvGraphicFramePr>
            <a:graphicFrameLocks noChangeAspect="1"/>
          </p:cNvGraphicFramePr>
          <p:nvPr/>
        </p:nvGraphicFramePr>
        <p:xfrm>
          <a:off x="3461931" y="1894004"/>
          <a:ext cx="3822700" cy="460375"/>
        </p:xfrm>
        <a:graphic>
          <a:graphicData uri="http://schemas.openxmlformats.org/presentationml/2006/ole">
            <mc:AlternateContent xmlns:mc="http://schemas.openxmlformats.org/markup-compatibility/2006">
              <mc:Choice xmlns:v="urn:schemas-microsoft-com:vml" Requires="v">
                <p:oleObj spid="_x0000_s1066" name="方程式" r:id="rId4" imgW="42976800" imgH="5181600" progId="Equation.3">
                  <p:embed/>
                </p:oleObj>
              </mc:Choice>
              <mc:Fallback>
                <p:oleObj name="方程式" r:id="rId4" imgW="42976800" imgH="5181600" progId="Equation.3">
                  <p:embed/>
                  <p:pic>
                    <p:nvPicPr>
                      <p:cNvPr id="0" name="Object 12"/>
                      <p:cNvPicPr>
                        <a:picLocks noChangeAspect="1" noChangeArrowheads="1"/>
                      </p:cNvPicPr>
                      <p:nvPr/>
                    </p:nvPicPr>
                    <p:blipFill>
                      <a:blip r:embed="rId5"/>
                      <a:srcRect/>
                      <a:stretch>
                        <a:fillRect/>
                      </a:stretch>
                    </p:blipFill>
                    <p:spPr bwMode="auto">
                      <a:xfrm>
                        <a:off x="3461931" y="1894004"/>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2"/>
          <p:cNvGraphicFramePr>
            <a:graphicFrameLocks noChangeAspect="1"/>
          </p:cNvGraphicFramePr>
          <p:nvPr/>
        </p:nvGraphicFramePr>
        <p:xfrm>
          <a:off x="3461931" y="2887917"/>
          <a:ext cx="3822700" cy="460375"/>
        </p:xfrm>
        <a:graphic>
          <a:graphicData uri="http://schemas.openxmlformats.org/presentationml/2006/ole">
            <mc:AlternateContent xmlns:mc="http://schemas.openxmlformats.org/markup-compatibility/2006">
              <mc:Choice xmlns:v="urn:schemas-microsoft-com:vml" Requires="v">
                <p:oleObj spid="_x0000_s1067" name="方程式" r:id="rId4" imgW="42976800" imgH="5181600" progId="Equation.3">
                  <p:embed/>
                </p:oleObj>
              </mc:Choice>
              <mc:Fallback>
                <p:oleObj name="方程式" r:id="rId4" imgW="42976800" imgH="5181600" progId="Equation.3">
                  <p:embed/>
                  <p:pic>
                    <p:nvPicPr>
                      <p:cNvPr id="0" name="Object 12"/>
                      <p:cNvPicPr>
                        <a:picLocks noChangeAspect="1" noChangeArrowheads="1"/>
                      </p:cNvPicPr>
                      <p:nvPr/>
                    </p:nvPicPr>
                    <p:blipFill>
                      <a:blip r:embed="rId5"/>
                      <a:srcRect/>
                      <a:stretch>
                        <a:fillRect/>
                      </a:stretch>
                    </p:blipFill>
                    <p:spPr bwMode="auto">
                      <a:xfrm>
                        <a:off x="3461931" y="2887917"/>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2"/>
          <p:cNvGraphicFramePr>
            <a:graphicFrameLocks noChangeAspect="1"/>
          </p:cNvGraphicFramePr>
          <p:nvPr/>
        </p:nvGraphicFramePr>
        <p:xfrm>
          <a:off x="3464809" y="3902091"/>
          <a:ext cx="3822700" cy="460375"/>
        </p:xfrm>
        <a:graphic>
          <a:graphicData uri="http://schemas.openxmlformats.org/presentationml/2006/ole">
            <mc:AlternateContent xmlns:mc="http://schemas.openxmlformats.org/markup-compatibility/2006">
              <mc:Choice xmlns:v="urn:schemas-microsoft-com:vml" Requires="v">
                <p:oleObj spid="_x0000_s1068" name="方程式" r:id="rId4" imgW="42976800" imgH="5181600" progId="Equation.3">
                  <p:embed/>
                </p:oleObj>
              </mc:Choice>
              <mc:Fallback>
                <p:oleObj name="方程式" r:id="rId4" imgW="42976800" imgH="5181600" progId="Equation.3">
                  <p:embed/>
                  <p:pic>
                    <p:nvPicPr>
                      <p:cNvPr id="0" name="Object 12"/>
                      <p:cNvPicPr>
                        <a:picLocks noChangeAspect="1" noChangeArrowheads="1"/>
                      </p:cNvPicPr>
                      <p:nvPr/>
                    </p:nvPicPr>
                    <p:blipFill>
                      <a:blip r:embed="rId5"/>
                      <a:srcRect/>
                      <a:stretch>
                        <a:fillRect/>
                      </a:stretch>
                    </p:blipFill>
                    <p:spPr bwMode="auto">
                      <a:xfrm>
                        <a:off x="3464809" y="3902091"/>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12"/>
          <p:cNvGraphicFramePr>
            <a:graphicFrameLocks noChangeAspect="1"/>
          </p:cNvGraphicFramePr>
          <p:nvPr/>
        </p:nvGraphicFramePr>
        <p:xfrm>
          <a:off x="3381483" y="4925872"/>
          <a:ext cx="3578225" cy="460375"/>
        </p:xfrm>
        <a:graphic>
          <a:graphicData uri="http://schemas.openxmlformats.org/presentationml/2006/ole">
            <mc:AlternateContent xmlns:mc="http://schemas.openxmlformats.org/markup-compatibility/2006">
              <mc:Choice xmlns:v="urn:schemas-microsoft-com:vml" Requires="v">
                <p:oleObj spid="_x0000_s1069" name="方程式" r:id="rId6" imgW="40233600" imgH="5181600" progId="Equation.3">
                  <p:embed/>
                </p:oleObj>
              </mc:Choice>
              <mc:Fallback>
                <p:oleObj name="方程式" r:id="rId6" imgW="40233600" imgH="5181600" progId="Equation.3">
                  <p:embed/>
                  <p:pic>
                    <p:nvPicPr>
                      <p:cNvPr id="0" name="Object 12"/>
                      <p:cNvPicPr>
                        <a:picLocks noChangeAspect="1" noChangeArrowheads="1"/>
                      </p:cNvPicPr>
                      <p:nvPr/>
                    </p:nvPicPr>
                    <p:blipFill>
                      <a:blip r:embed="rId7"/>
                      <a:srcRect/>
                      <a:stretch>
                        <a:fillRect/>
                      </a:stretch>
                    </p:blipFill>
                    <p:spPr bwMode="auto">
                      <a:xfrm>
                        <a:off x="3381483" y="4925872"/>
                        <a:ext cx="357822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文字方塊 7"/>
          <p:cNvSpPr txBox="1"/>
          <p:nvPr/>
        </p:nvSpPr>
        <p:spPr>
          <a:xfrm>
            <a:off x="7284631" y="2856493"/>
            <a:ext cx="947054" cy="523220"/>
          </a:xfrm>
          <a:prstGeom prst="rect">
            <a:avLst/>
          </a:prstGeom>
          <a:noFill/>
        </p:spPr>
        <p:txBody>
          <a:bodyPr wrap="square" rtlCol="0">
            <a:spAutoFit/>
          </a:bodyPr>
          <a:lstStyle/>
          <a:p>
            <a:r>
              <a:rPr lang="en-US" altLang="zh-TW"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猫</a:t>
            </a:r>
            <a:r>
              <a:rPr lang="en-US" altLang="zh-TW" sz="2800" dirty="0">
                <a:latin typeface="华文楷体" panose="02010600040101010101" pitchFamily="2" charset="-122"/>
                <a:ea typeface="华文楷体" panose="02010600040101010101" pitchFamily="2" charset="-122"/>
              </a:rPr>
              <a:t>”</a:t>
            </a:r>
            <a:endParaRPr lang="zh-TW" altLang="en-US" sz="2800" dirty="0">
              <a:latin typeface="华文楷体" panose="02010600040101010101" pitchFamily="2" charset="-122"/>
              <a:ea typeface="华文楷体" panose="02010600040101010101" pitchFamily="2" charset="-122"/>
            </a:endParaRPr>
          </a:p>
        </p:txBody>
      </p:sp>
      <p:sp>
        <p:nvSpPr>
          <p:cNvPr id="37" name="文字方塊 8"/>
          <p:cNvSpPr txBox="1"/>
          <p:nvPr/>
        </p:nvSpPr>
        <p:spPr>
          <a:xfrm>
            <a:off x="7284631" y="1862820"/>
            <a:ext cx="2898395" cy="523220"/>
          </a:xfrm>
          <a:prstGeom prst="rect">
            <a:avLst/>
          </a:prstGeom>
          <a:noFill/>
        </p:spPr>
        <p:txBody>
          <a:bodyPr wrap="square" rtlCol="0">
            <a:spAutoFit/>
          </a:bodyPr>
          <a:lstStyle/>
          <a:p>
            <a:r>
              <a:rPr lang="en-US" altLang="zh-TW"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你好</a:t>
            </a:r>
            <a:r>
              <a:rPr lang="en-US" altLang="zh-TW" sz="2800" dirty="0">
                <a:latin typeface="华文楷体" panose="02010600040101010101" pitchFamily="2" charset="-122"/>
                <a:ea typeface="华文楷体" panose="02010600040101010101" pitchFamily="2" charset="-122"/>
              </a:rPr>
              <a:t>”</a:t>
            </a:r>
            <a:endParaRPr lang="zh-TW" altLang="en-US" sz="2800" dirty="0">
              <a:latin typeface="华文楷体" panose="02010600040101010101" pitchFamily="2" charset="-122"/>
              <a:ea typeface="华文楷体" panose="02010600040101010101" pitchFamily="2" charset="-122"/>
            </a:endParaRPr>
          </a:p>
        </p:txBody>
      </p:sp>
      <p:sp>
        <p:nvSpPr>
          <p:cNvPr id="38" name="文字方塊 9"/>
          <p:cNvSpPr txBox="1"/>
          <p:nvPr/>
        </p:nvSpPr>
        <p:spPr>
          <a:xfrm>
            <a:off x="7287510" y="3844401"/>
            <a:ext cx="1239914" cy="523220"/>
          </a:xfrm>
          <a:prstGeom prst="rect">
            <a:avLst/>
          </a:prstGeom>
          <a:noFill/>
        </p:spPr>
        <p:txBody>
          <a:bodyPr wrap="square" rtlCol="0">
            <a:spAutoFit/>
          </a:bodyPr>
          <a:lstStyle/>
          <a:p>
            <a:r>
              <a:rPr lang="en-US" altLang="zh-TW" sz="2800" dirty="0">
                <a:latin typeface="华文楷体" panose="02010600040101010101" pitchFamily="2" charset="-122"/>
                <a:ea typeface="华文楷体" panose="02010600040101010101" pitchFamily="2" charset="-122"/>
              </a:rPr>
              <a:t>“5-5”</a:t>
            </a:r>
            <a:endParaRPr lang="zh-TW" altLang="en-US" sz="2800" dirty="0">
              <a:latin typeface="华文楷体" panose="02010600040101010101" pitchFamily="2" charset="-122"/>
              <a:ea typeface="华文楷体" panose="02010600040101010101" pitchFamily="2" charset="-122"/>
            </a:endParaRPr>
          </a:p>
        </p:txBody>
      </p:sp>
      <p:sp>
        <p:nvSpPr>
          <p:cNvPr id="39" name="文字方塊 10"/>
          <p:cNvSpPr txBox="1"/>
          <p:nvPr/>
        </p:nvSpPr>
        <p:spPr>
          <a:xfrm>
            <a:off x="7329161" y="4944721"/>
            <a:ext cx="3031893" cy="523220"/>
          </a:xfrm>
          <a:prstGeom prst="rect">
            <a:avLst/>
          </a:prstGeom>
          <a:noFill/>
        </p:spPr>
        <p:txBody>
          <a:bodyPr wrap="square" rtlCol="0">
            <a:spAutoFit/>
          </a:bodyPr>
          <a:lstStyle/>
          <a:p>
            <a:r>
              <a:rPr lang="en-US" altLang="zh-TW"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今天天气真不错</a:t>
            </a:r>
            <a:r>
              <a:rPr lang="en-US" altLang="zh-TW" sz="2800" dirty="0">
                <a:latin typeface="华文楷体" panose="02010600040101010101" pitchFamily="2" charset="-122"/>
                <a:ea typeface="华文楷体" panose="02010600040101010101" pitchFamily="2" charset="-122"/>
              </a:rPr>
              <a:t>”</a:t>
            </a:r>
            <a:endParaRPr lang="zh-TW" altLang="en-US" sz="2800" dirty="0">
              <a:latin typeface="华文楷体" panose="02010600040101010101" pitchFamily="2" charset="-122"/>
              <a:ea typeface="华文楷体" panose="02010600040101010101" pitchFamily="2" charset="-122"/>
            </a:endParaRPr>
          </a:p>
        </p:txBody>
      </p:sp>
      <p:pic>
        <p:nvPicPr>
          <p:cNvPr id="40" name="圖片 1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55617" y="1837534"/>
            <a:ext cx="2921108" cy="516844"/>
          </a:xfrm>
          <a:prstGeom prst="rect">
            <a:avLst/>
          </a:prstGeom>
        </p:spPr>
      </p:pic>
      <p:sp>
        <p:nvSpPr>
          <p:cNvPr id="41" name="矩形 40"/>
          <p:cNvSpPr/>
          <p:nvPr/>
        </p:nvSpPr>
        <p:spPr>
          <a:xfrm>
            <a:off x="3820594" y="4879070"/>
            <a:ext cx="2659840" cy="523220"/>
          </a:xfrm>
          <a:prstGeom prst="rect">
            <a:avLst/>
          </a:prstGeom>
        </p:spPr>
        <p:txBody>
          <a:bodyPr wrap="square">
            <a:spAutoFit/>
          </a:bodyPr>
          <a:lstStyle/>
          <a:p>
            <a:pPr algn="ctr"/>
            <a:r>
              <a:rPr lang="en-US" altLang="zh-TW"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你好</a:t>
            </a:r>
            <a:r>
              <a:rPr lang="en-US" altLang="zh-TW" sz="2800" dirty="0">
                <a:latin typeface="华文楷体" panose="02010600040101010101" pitchFamily="2" charset="-122"/>
                <a:ea typeface="华文楷体" panose="02010600040101010101" pitchFamily="2" charset="-122"/>
              </a:rPr>
              <a:t>”</a:t>
            </a:r>
            <a:endParaRPr lang="zh-TW" altLang="en-US" sz="2800" dirty="0">
              <a:latin typeface="华文楷体" panose="02010600040101010101" pitchFamily="2" charset="-122"/>
              <a:ea typeface="华文楷体" panose="02010600040101010101" pitchFamily="2" charset="-122"/>
            </a:endParaRPr>
          </a:p>
        </p:txBody>
      </p:sp>
      <p:pic>
        <p:nvPicPr>
          <p:cNvPr id="42" name="Picture 2" descr="http://y2.ifengimg.com/a/2016_11/2c7ef418c729099.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792308" y="3727554"/>
            <a:ext cx="1144109" cy="858082"/>
          </a:xfrm>
          <a:prstGeom prst="rect">
            <a:avLst/>
          </a:prstGeom>
          <a:noFill/>
          <a:extLst>
            <a:ext uri="{909E8E84-426E-40DD-AFC4-6F175D3DCCD1}">
              <a14:hiddenFill xmlns:a14="http://schemas.microsoft.com/office/drawing/2010/main">
                <a:solidFill>
                  <a:srgbClr val="FFFFFF"/>
                </a:solidFill>
              </a14:hiddenFill>
            </a:ext>
          </a:extLst>
        </p:spPr>
      </p:pic>
      <p:sp>
        <p:nvSpPr>
          <p:cNvPr id="43" name="文字方塊 15"/>
          <p:cNvSpPr txBox="1"/>
          <p:nvPr/>
        </p:nvSpPr>
        <p:spPr>
          <a:xfrm>
            <a:off x="3896949" y="5896326"/>
            <a:ext cx="2773299" cy="461665"/>
          </a:xfrm>
          <a:prstGeom prst="rect">
            <a:avLst/>
          </a:prstGeom>
          <a:noFill/>
        </p:spPr>
        <p:txBody>
          <a:bodyPr wrap="square" rtlCol="0">
            <a:spAutoFit/>
          </a:bodyPr>
          <a:lstStyle/>
          <a:p>
            <a:pPr algn="ctr"/>
            <a:r>
              <a:rPr lang="zh-CN" altLang="en-US" sz="2400" dirty="0">
                <a:solidFill>
                  <a:schemeClr val="accent2">
                    <a:lumMod val="60000"/>
                    <a:lumOff val="40000"/>
                  </a:schemeClr>
                </a:solidFill>
                <a:latin typeface="华文楷体" panose="02010600040101010101" pitchFamily="2" charset="-122"/>
                <a:ea typeface="华文楷体" panose="02010600040101010101" pitchFamily="2" charset="-122"/>
              </a:rPr>
              <a:t>用户输入</a:t>
            </a:r>
            <a:endParaRPr lang="zh-TW" altLang="en-US" sz="2400" dirty="0">
              <a:solidFill>
                <a:schemeClr val="accent2">
                  <a:lumMod val="60000"/>
                  <a:lumOff val="40000"/>
                </a:schemeClr>
              </a:solidFill>
              <a:latin typeface="华文楷体" panose="02010600040101010101" pitchFamily="2" charset="-122"/>
              <a:ea typeface="华文楷体" panose="02010600040101010101" pitchFamily="2" charset="-122"/>
            </a:endParaRPr>
          </a:p>
        </p:txBody>
      </p:sp>
      <p:sp>
        <p:nvSpPr>
          <p:cNvPr id="44" name="文字方塊 18"/>
          <p:cNvSpPr txBox="1"/>
          <p:nvPr/>
        </p:nvSpPr>
        <p:spPr>
          <a:xfrm>
            <a:off x="6713175" y="5896325"/>
            <a:ext cx="2773299" cy="461665"/>
          </a:xfrm>
          <a:prstGeom prst="rect">
            <a:avLst/>
          </a:prstGeom>
          <a:noFill/>
        </p:spPr>
        <p:txBody>
          <a:bodyPr wrap="square" rtlCol="0">
            <a:spAutoFit/>
          </a:bodyPr>
          <a:lstStyle/>
          <a:p>
            <a:pPr algn="ctr"/>
            <a:r>
              <a:rPr lang="zh-CN" altLang="en-US" sz="2400" dirty="0">
                <a:solidFill>
                  <a:schemeClr val="accent2">
                    <a:lumMod val="60000"/>
                    <a:lumOff val="40000"/>
                  </a:schemeClr>
                </a:solidFill>
                <a:latin typeface="华文楷体" panose="02010600040101010101" pitchFamily="2" charset="-122"/>
                <a:ea typeface="华文楷体" panose="02010600040101010101" pitchFamily="2" charset="-122"/>
              </a:rPr>
              <a:t>机器</a:t>
            </a:r>
            <a:endParaRPr lang="zh-TW" altLang="en-US" sz="2400" dirty="0">
              <a:solidFill>
                <a:schemeClr val="accent2">
                  <a:lumMod val="60000"/>
                  <a:lumOff val="40000"/>
                </a:schemeClr>
              </a:solidFill>
              <a:latin typeface="华文楷体" panose="02010600040101010101" pitchFamily="2" charset="-122"/>
              <a:ea typeface="华文楷体" panose="02010600040101010101" pitchFamily="2" charset="-122"/>
            </a:endParaRPr>
          </a:p>
        </p:txBody>
      </p:sp>
      <p:pic>
        <p:nvPicPr>
          <p:cNvPr id="45" name="Picture 12" descr="https://encrypted-tbn1.gstatic.com/images?q=tbn:ANd9GcRcwlRKAlSIaCI4W5PRYVbuBQQXifF-56bFqAjh9DMe-_3Lh8_YKw"/>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30374" y="2742960"/>
            <a:ext cx="1106043" cy="839637"/>
          </a:xfrm>
          <a:prstGeom prst="rect">
            <a:avLst/>
          </a:prstGeom>
          <a:noFill/>
          <a:extLst>
            <a:ext uri="{909E8E84-426E-40DD-AFC4-6F175D3DCCD1}">
              <a14:hiddenFill xmlns:a14="http://schemas.microsoft.com/office/drawing/2010/main">
                <a:solidFill>
                  <a:srgbClr val="FFFFFF"/>
                </a:solidFill>
              </a14:hiddenFill>
            </a:ext>
          </a:extLst>
        </p:spPr>
      </p:pic>
      <p:sp>
        <p:nvSpPr>
          <p:cNvPr id="46" name="文字方塊 17"/>
          <p:cNvSpPr txBox="1"/>
          <p:nvPr/>
        </p:nvSpPr>
        <p:spPr>
          <a:xfrm>
            <a:off x="8084457" y="3875179"/>
            <a:ext cx="2543153" cy="461665"/>
          </a:xfrm>
          <a:prstGeom prst="rect">
            <a:avLst/>
          </a:prstGeom>
          <a:noFill/>
        </p:spPr>
        <p:txBody>
          <a:bodyPr wrap="square" rtlCol="0">
            <a:spAutoFit/>
          </a:bodyPr>
          <a:lstStyle/>
          <a:p>
            <a:pPr algn="ctr"/>
            <a:r>
              <a:rPr lang="en-US" altLang="zh-TW"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落子位置</a:t>
            </a:r>
            <a:r>
              <a:rPr lang="en-US" altLang="zh-TW" sz="2400" dirty="0">
                <a:latin typeface="华文楷体" panose="02010600040101010101" pitchFamily="2" charset="-122"/>
                <a:ea typeface="华文楷体" panose="02010600040101010101" pitchFamily="2" charset="-122"/>
              </a:rPr>
              <a:t>)</a:t>
            </a:r>
            <a:endParaRPr lang="zh-TW" altLang="en-US" sz="2400" dirty="0">
              <a:latin typeface="华文楷体" panose="02010600040101010101" pitchFamily="2" charset="-122"/>
              <a:ea typeface="华文楷体" panose="02010600040101010101" pitchFamily="2" charset="-122"/>
            </a:endParaRPr>
          </a:p>
        </p:txBody>
      </p:sp>
      <p:sp>
        <p:nvSpPr>
          <p:cNvPr id="7" name="矩形 6"/>
          <p:cNvSpPr/>
          <p:nvPr/>
        </p:nvSpPr>
        <p:spPr>
          <a:xfrm>
            <a:off x="1188631" y="1749101"/>
            <a:ext cx="6096000" cy="3785652"/>
          </a:xfrm>
          <a:prstGeom prst="rect">
            <a:avLst/>
          </a:prstGeom>
        </p:spPr>
        <p:txBody>
          <a:bodyPr>
            <a:spAutoFit/>
          </a:bodyPr>
          <a:lstStyle/>
          <a:p>
            <a:r>
              <a:rPr lang="zh-CN" altLang="en-US" sz="2400"/>
              <a:t>语音识别</a:t>
            </a:r>
            <a:endParaRPr lang="en-US" altLang="zh-CN" sz="2400"/>
          </a:p>
          <a:p>
            <a:endParaRPr lang="en-US" altLang="zh-CN" sz="2400"/>
          </a:p>
          <a:p>
            <a:endParaRPr lang="en-US" altLang="zh-CN" sz="2400"/>
          </a:p>
          <a:p>
            <a:r>
              <a:rPr lang="zh-CN" altLang="en-US" sz="2400"/>
              <a:t>图像识别</a:t>
            </a:r>
            <a:endParaRPr lang="en-US" altLang="zh-CN" sz="2400"/>
          </a:p>
          <a:p>
            <a:endParaRPr lang="en-US" altLang="zh-CN" sz="2400"/>
          </a:p>
          <a:p>
            <a:endParaRPr lang="en-US" altLang="zh-CN" sz="2400"/>
          </a:p>
          <a:p>
            <a:r>
              <a:rPr lang="zh-CN" altLang="en-US" sz="2400"/>
              <a:t>围棋</a:t>
            </a:r>
            <a:endParaRPr lang="en-US" altLang="zh-CN" sz="2400"/>
          </a:p>
          <a:p>
            <a:endParaRPr lang="en-US" altLang="zh-CN" sz="2400"/>
          </a:p>
          <a:p>
            <a:endParaRPr lang="en-US" altLang="zh-CN" sz="2400"/>
          </a:p>
          <a:p>
            <a:r>
              <a:rPr lang="zh-CN" altLang="en-US" sz="2400"/>
              <a:t>对话系统</a:t>
            </a:r>
            <a:endParaRPr lang="zh-CN"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为什么要“机器学习”？</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内容占位符 6"/>
          <p:cNvSpPr>
            <a:spLocks noGrp="1"/>
          </p:cNvSpPr>
          <p:nvPr>
            <p:ph sz="quarter" idx="1"/>
          </p:nvPr>
        </p:nvSpPr>
        <p:spPr>
          <a:xfrm>
            <a:off x="997688" y="1845545"/>
            <a:ext cx="10515600" cy="4351338"/>
          </a:xfrm>
        </p:spPr>
        <p:txBody>
          <a:bodyPr/>
          <a:lstStyle/>
          <a:p>
            <a:r>
              <a:rPr lang="zh-CN" altLang="en-US" sz="2000" dirty="0">
                <a:latin typeface="华文楷体" panose="02010600040101010101" pitchFamily="2" charset="-122"/>
                <a:ea typeface="华文楷体" panose="02010600040101010101" pitchFamily="2" charset="-122"/>
              </a:rPr>
              <a:t>现实世界的问题都比较复杂</a:t>
            </a:r>
            <a:endParaRPr lang="en-US" altLang="zh-CN" sz="2000" dirty="0">
              <a:latin typeface="华文楷体" panose="02010600040101010101" pitchFamily="2" charset="-122"/>
              <a:ea typeface="华文楷体" panose="02010600040101010101" pitchFamily="2" charset="-122"/>
            </a:endParaRPr>
          </a:p>
          <a:p>
            <a:pPr lvl="1"/>
            <a:r>
              <a:rPr lang="zh-CN" altLang="en-US" sz="2000" dirty="0">
                <a:latin typeface="华文楷体" panose="02010600040101010101" pitchFamily="2" charset="-122"/>
                <a:ea typeface="华文楷体" panose="02010600040101010101" pitchFamily="2" charset="-122"/>
              </a:rPr>
              <a:t>很难通过规则来手工实现</a:t>
            </a:r>
            <a:endParaRPr lang="en-US" altLang="zh-CN" sz="2000" dirty="0">
              <a:latin typeface="华文楷体" panose="02010600040101010101" pitchFamily="2" charset="-122"/>
              <a:ea typeface="华文楷体" panose="02010600040101010101" pitchFamily="2" charset="-122"/>
            </a:endParaRPr>
          </a:p>
          <a:p>
            <a:pPr lvl="1"/>
            <a:endParaRPr lang="en-US" altLang="zh-CN" dirty="0"/>
          </a:p>
          <a:p>
            <a:endParaRPr kumimoji="1" lang="zh-CN" altLang="en-US" dirty="0"/>
          </a:p>
        </p:txBody>
      </p:sp>
      <p:pic>
        <p:nvPicPr>
          <p:cNvPr id="8" name="图片 7" descr="屏幕剪辑"/>
          <p:cNvPicPr>
            <a:picLocks noChangeAspect="1"/>
          </p:cNvPicPr>
          <p:nvPr/>
        </p:nvPicPr>
        <p:blipFill>
          <a:blip r:embed="rId3"/>
          <a:stretch>
            <a:fillRect/>
          </a:stretch>
        </p:blipFill>
        <p:spPr>
          <a:xfrm>
            <a:off x="5717555" y="1694513"/>
            <a:ext cx="4153009" cy="1534926"/>
          </a:xfrm>
          <a:prstGeom prst="rect">
            <a:avLst/>
          </a:prstGeom>
        </p:spPr>
      </p:pic>
      <p:pic>
        <p:nvPicPr>
          <p:cNvPr id="10" name="Picture 2" descr="âPattern Recognition handwrite numberâçå¾çæç´¢ç»æ"/>
          <p:cNvPicPr>
            <a:picLocks noChangeAspect="1" noChangeArrowheads="1"/>
          </p:cNvPicPr>
          <p:nvPr/>
        </p:nvPicPr>
        <p:blipFill>
          <a:blip r:embed="rId4"/>
          <a:srcRect/>
          <a:stretch>
            <a:fillRect/>
          </a:stretch>
        </p:blipFill>
        <p:spPr bwMode="auto">
          <a:xfrm>
            <a:off x="1667838" y="3599563"/>
            <a:ext cx="3670974" cy="216416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3267212" y="6163249"/>
            <a:ext cx="1693092" cy="369332"/>
          </a:xfrm>
          <a:prstGeom prst="rect">
            <a:avLst/>
          </a:prstGeom>
        </p:spPr>
        <p:txBody>
          <a:bodyPr wrap="none">
            <a:spAutoFit/>
          </a:bodyPr>
          <a:lstStyle/>
          <a:p>
            <a:r>
              <a:rPr lang="en-US" altLang="zh-CN">
                <a:solidFill>
                  <a:srgbClr val="060A26"/>
                </a:solidFill>
                <a:latin typeface="Microsoft YaHei" panose="020B0503020204020204" pitchFamily="34" charset="-122"/>
                <a:ea typeface="Microsoft YaHei" panose="020B0503020204020204" pitchFamily="34" charset="-122"/>
              </a:rPr>
              <a:t>MNIST </a:t>
            </a:r>
            <a:r>
              <a:rPr lang="zh-CN" altLang="en-US">
                <a:solidFill>
                  <a:srgbClr val="060A26"/>
                </a:solidFill>
                <a:latin typeface="Microsoft YaHei" panose="020B0503020204020204" pitchFamily="34" charset="-122"/>
                <a:ea typeface="Microsoft YaHei" panose="020B0503020204020204" pitchFamily="34" charset="-122"/>
              </a:rPr>
              <a:t>数据集</a:t>
            </a:r>
            <a:endParaRPr lang="zh-CN" altLang="en-US"/>
          </a:p>
        </p:txBody>
      </p:sp>
      <p:sp>
        <p:nvSpPr>
          <p:cNvPr id="11" name="矩形 10"/>
          <p:cNvSpPr/>
          <p:nvPr/>
        </p:nvSpPr>
        <p:spPr>
          <a:xfrm>
            <a:off x="7255704" y="4474634"/>
            <a:ext cx="2879314" cy="477054"/>
          </a:xfrm>
          <a:prstGeom prst="rect">
            <a:avLst/>
          </a:prstGeom>
        </p:spPr>
        <p:txBody>
          <a:bodyPr wrap="none">
            <a:spAutoFit/>
          </a:bodyPr>
          <a:lstStyle/>
          <a:p>
            <a:pPr algn="ctr">
              <a:spcBef>
                <a:spcPct val="50000"/>
              </a:spcBef>
            </a:pPr>
            <a:r>
              <a:rPr lang="zh-CN" altLang="en-US" sz="2500" b="1">
                <a:latin typeface="微软雅黑" panose="020B0503020204020204" pitchFamily="34" charset="-122"/>
                <a:ea typeface="微软雅黑" panose="020B0503020204020204" pitchFamily="34" charset="-122"/>
                <a:cs typeface="微软雅黑" panose="020B0503020204020204" pitchFamily="34" charset="-122"/>
                <a:sym typeface="+mn-ea"/>
              </a:rPr>
              <a:t>构建一个映射函数</a:t>
            </a:r>
            <a:r>
              <a:rPr lang="en-US" altLang="zh-CN" sz="2500" b="1" i="1">
                <a:latin typeface="微软雅黑" panose="020B0503020204020204" pitchFamily="34" charset="-122"/>
                <a:ea typeface="微软雅黑" panose="020B0503020204020204" pitchFamily="34" charset="-122"/>
                <a:cs typeface="微软雅黑" panose="020B0503020204020204" pitchFamily="34" charset="-122"/>
                <a:sym typeface="+mn-ea"/>
              </a:rPr>
              <a:t>f</a:t>
            </a:r>
            <a:endParaRPr lang="zh-CN" altLang="en-US" sz="2500"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机器学习概念</a:t>
              </a:r>
            </a:p>
          </p:txBody>
        </p:sp>
      </p:grpSp>
      <p:sp>
        <p:nvSpPr>
          <p:cNvPr id="11" name="矩形: 圆角 6"/>
          <p:cNvSpPr/>
          <p:nvPr/>
        </p:nvSpPr>
        <p:spPr>
          <a:xfrm>
            <a:off x="867410" y="1882775"/>
            <a:ext cx="10702925" cy="4512310"/>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p:cNvSpPr/>
          <p:nvPr/>
        </p:nvSpPr>
        <p:spPr>
          <a:xfrm>
            <a:off x="867410" y="1791970"/>
            <a:ext cx="10469880" cy="4308475"/>
          </a:xfrm>
          <a:prstGeom prst="rect">
            <a:avLst/>
          </a:prstGeom>
        </p:spPr>
        <p:txBody>
          <a:bodyPr wrap="square">
            <a:noAutofit/>
          </a:bodyPr>
          <a:lstStyle/>
          <a:p>
            <a:pPr marL="285750" indent="-285750" algn="just">
              <a:lnSpc>
                <a:spcPct val="250000"/>
              </a:lnSpc>
              <a:buFont typeface="Wingdings" panose="05000000000000000000" pitchFamily="2" charset="2"/>
              <a:buChar char="l"/>
            </a:pP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机器学习通过对</a:t>
            </a:r>
            <a:r>
              <a:rPr lang="zh-CN" altLang="en-US"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数据</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的优化学习，</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建立能够刻画数据中所蕴含语义概念或分布结构等信息的模型</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。在模型学习过程中，采用合适手段来利用有标签数据或无标签数据， 对模型参数不断进行优化，从而提升模型性能。</a:t>
            </a:r>
          </a:p>
          <a:p>
            <a:pPr marL="285750" indent="-285750" algn="just">
              <a:lnSpc>
                <a:spcPct val="250000"/>
              </a:lnSpc>
              <a:buFont typeface="Wingdings" panose="05000000000000000000" pitchFamily="2" charset="2"/>
              <a:buChar char="l"/>
            </a:pPr>
            <a:r>
              <a:rPr lang="en-GB"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IBM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公司的工程师阿瑟</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塞缪尔第一次使用了“机器学习</a:t>
            </a:r>
            <a:r>
              <a:rPr lang="zh-CN" altLang="en-GB"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GB"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1959</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月）</a:t>
            </a:r>
          </a:p>
          <a:p>
            <a:pPr marL="457200" lvl="1" indent="0" algn="just">
              <a:lnSpc>
                <a:spcPct val="250000"/>
              </a:lnSpc>
              <a:buFont typeface="Wingdings" panose="05000000000000000000" pitchFamily="2" charset="2"/>
              <a:buNone/>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让机器自行学习，而不需要明确编程</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编程：只能按部就班完成预设任务</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像人一样具有自我学习能力</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250000"/>
              </a:lnSpc>
              <a:buFont typeface="Wingdings" panose="05000000000000000000" pitchFamily="2" charset="2"/>
              <a:buChar char="l"/>
            </a:pPr>
            <a:endPar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机器学习类型</a:t>
              </a:r>
            </a:p>
          </p:txBody>
        </p:sp>
      </p:grpSp>
      <p:sp>
        <p:nvSpPr>
          <p:cNvPr id="11" name="矩形: 圆角 6"/>
          <p:cNvSpPr/>
          <p:nvPr/>
        </p:nvSpPr>
        <p:spPr>
          <a:xfrm>
            <a:off x="867411" y="1882775"/>
            <a:ext cx="7984928" cy="4175760"/>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p:cNvSpPr/>
          <p:nvPr/>
        </p:nvSpPr>
        <p:spPr>
          <a:xfrm>
            <a:off x="867410" y="1791970"/>
            <a:ext cx="10469880" cy="4308475"/>
          </a:xfrm>
          <a:prstGeom prst="rect">
            <a:avLst/>
          </a:prstGeom>
        </p:spPr>
        <p:txBody>
          <a:bodyPr wrap="square">
            <a:noAutofit/>
          </a:bodyPr>
          <a:lstStyle/>
          <a:p>
            <a:pPr marL="285750" indent="-285750" algn="just">
              <a:lnSpc>
                <a:spcPct val="250000"/>
              </a:lnSpc>
              <a:buFont typeface="Wingdings" panose="05000000000000000000" pitchFamily="2" charset="2"/>
              <a:buChar char="l"/>
            </a:pPr>
            <a:r>
              <a:rPr kumimoji="1" lang="zh-CN" altLang="en-US" sz="2000" b="1" dirty="0">
                <a:solidFill>
                  <a:schemeClr val="bg1"/>
                </a:solidFill>
                <a:latin typeface="华文楷体" panose="02010600040101010101" pitchFamily="2" charset="-122"/>
                <a:ea typeface="华文楷体" panose="02010600040101010101" pitchFamily="2" charset="-122"/>
                <a:sym typeface="+mn-ea"/>
              </a:rPr>
              <a:t>有监督学习</a:t>
            </a:r>
            <a:endParaRPr kumimoji="1" lang="en-US" altLang="zh-CN" sz="2000" b="1" dirty="0">
              <a:solidFill>
                <a:schemeClr val="bg1"/>
              </a:solidFill>
              <a:latin typeface="华文楷体" panose="02010600040101010101" pitchFamily="2" charset="-122"/>
              <a:ea typeface="华文楷体" panose="02010600040101010101" pitchFamily="2" charset="-122"/>
            </a:endParaRPr>
          </a:p>
          <a:p>
            <a:pPr lvl="1"/>
            <a:r>
              <a:rPr kumimoji="1" lang="zh-CN" altLang="en-US" dirty="0">
                <a:solidFill>
                  <a:schemeClr val="bg1"/>
                </a:solidFill>
                <a:latin typeface="华文楷体" panose="02010600040101010101" pitchFamily="2" charset="-122"/>
                <a:ea typeface="华文楷体" panose="02010600040101010101" pitchFamily="2" charset="-122"/>
                <a:sym typeface="+mn-ea"/>
              </a:rPr>
              <a:t>数据集中包含标签</a:t>
            </a:r>
            <a:endParaRPr kumimoji="1" lang="en-US" altLang="zh-CN" dirty="0">
              <a:solidFill>
                <a:schemeClr val="bg1"/>
              </a:solidFill>
              <a:latin typeface="华文楷体" panose="02010600040101010101" pitchFamily="2" charset="-122"/>
              <a:ea typeface="华文楷体" panose="02010600040101010101" pitchFamily="2" charset="-122"/>
            </a:endParaRPr>
          </a:p>
          <a:p>
            <a:pPr marL="285750" indent="-285750" algn="just">
              <a:lnSpc>
                <a:spcPct val="250000"/>
              </a:lnSpc>
              <a:buFont typeface="Wingdings" panose="05000000000000000000" pitchFamily="2" charset="2"/>
              <a:buChar char="l"/>
            </a:pPr>
            <a:r>
              <a:rPr kumimoji="1" lang="zh-CN" altLang="en-US" sz="2000" b="1" dirty="0">
                <a:solidFill>
                  <a:schemeClr val="bg1"/>
                </a:solidFill>
                <a:latin typeface="华文楷体" panose="02010600040101010101" pitchFamily="2" charset="-122"/>
                <a:ea typeface="华文楷体" panose="02010600040101010101" pitchFamily="2" charset="-122"/>
                <a:sym typeface="+mn-ea"/>
              </a:rPr>
              <a:t>无监督学习</a:t>
            </a:r>
            <a:endParaRPr kumimoji="1" lang="en-US" altLang="zh-CN" sz="2000" b="1" dirty="0">
              <a:solidFill>
                <a:schemeClr val="bg1"/>
              </a:solidFill>
              <a:latin typeface="华文楷体" panose="02010600040101010101" pitchFamily="2" charset="-122"/>
              <a:ea typeface="华文楷体" panose="02010600040101010101" pitchFamily="2" charset="-122"/>
            </a:endParaRPr>
          </a:p>
          <a:p>
            <a:pPr lvl="1"/>
            <a:r>
              <a:rPr kumimoji="1" lang="zh-CN" altLang="en-US" dirty="0">
                <a:solidFill>
                  <a:schemeClr val="bg1"/>
                </a:solidFill>
                <a:latin typeface="华文楷体" panose="02010600040101010101" pitchFamily="2" charset="-122"/>
                <a:ea typeface="华文楷体" panose="02010600040101010101" pitchFamily="2" charset="-122"/>
                <a:sym typeface="+mn-ea"/>
              </a:rPr>
              <a:t>从无标签数据出发学习映射函数</a:t>
            </a:r>
            <a:endParaRPr kumimoji="1" lang="en-US" altLang="zh-CN" dirty="0">
              <a:solidFill>
                <a:schemeClr val="bg1"/>
              </a:solidFill>
              <a:latin typeface="华文楷体" panose="02010600040101010101" pitchFamily="2" charset="-122"/>
              <a:ea typeface="华文楷体" panose="02010600040101010101" pitchFamily="2" charset="-122"/>
            </a:endParaRPr>
          </a:p>
          <a:p>
            <a:pPr marL="285750" indent="-285750" algn="just">
              <a:lnSpc>
                <a:spcPct val="250000"/>
              </a:lnSpc>
              <a:buFont typeface="Wingdings" panose="05000000000000000000" pitchFamily="2" charset="2"/>
              <a:buChar char="l"/>
            </a:pPr>
            <a:r>
              <a:rPr kumimoji="1" lang="zh-CN" altLang="en-US" sz="2000" b="1" dirty="0">
                <a:solidFill>
                  <a:schemeClr val="bg1"/>
                </a:solidFill>
                <a:latin typeface="华文楷体" panose="02010600040101010101" pitchFamily="2" charset="-122"/>
                <a:ea typeface="华文楷体" panose="02010600040101010101" pitchFamily="2" charset="-122"/>
                <a:sym typeface="+mn-ea"/>
              </a:rPr>
              <a:t>半监督学习</a:t>
            </a:r>
            <a:endParaRPr kumimoji="1" lang="en-US" altLang="zh-CN" sz="2000" b="1" dirty="0">
              <a:solidFill>
                <a:schemeClr val="bg1"/>
              </a:solidFill>
              <a:latin typeface="华文楷体" panose="02010600040101010101" pitchFamily="2" charset="-122"/>
              <a:ea typeface="华文楷体" panose="02010600040101010101" pitchFamily="2" charset="-122"/>
            </a:endParaRPr>
          </a:p>
          <a:p>
            <a:pPr lvl="1"/>
            <a:r>
              <a:rPr kumimoji="1" lang="zh-CN" altLang="en-US" dirty="0">
                <a:solidFill>
                  <a:schemeClr val="bg1"/>
                </a:solidFill>
                <a:latin typeface="华文楷体" panose="02010600040101010101" pitchFamily="2" charset="-122"/>
                <a:ea typeface="华文楷体" panose="02010600040101010101" pitchFamily="2" charset="-122"/>
                <a:sym typeface="+mn-ea"/>
              </a:rPr>
              <a:t>学习映射函数过程中使用的一部分数据有标签、一部分数据没有标签</a:t>
            </a:r>
            <a:endParaRPr kumimoji="1" lang="en-US" altLang="zh-CN" dirty="0">
              <a:solidFill>
                <a:schemeClr val="bg1"/>
              </a:solidFill>
              <a:latin typeface="华文楷体" panose="02010600040101010101" pitchFamily="2" charset="-122"/>
              <a:ea typeface="华文楷体" panose="02010600040101010101" pitchFamily="2" charset="-122"/>
            </a:endParaRPr>
          </a:p>
          <a:p>
            <a:pPr marL="285750" indent="-285750" algn="just">
              <a:lnSpc>
                <a:spcPct val="250000"/>
              </a:lnSpc>
              <a:buFont typeface="Wingdings" panose="05000000000000000000" pitchFamily="2" charset="2"/>
              <a:buChar char="l"/>
            </a:pPr>
            <a:r>
              <a:rPr kumimoji="1" lang="zh-CN" altLang="en-US" sz="2000" b="1" dirty="0">
                <a:solidFill>
                  <a:schemeClr val="bg1"/>
                </a:solidFill>
                <a:latin typeface="华文楷体" panose="02010600040101010101" pitchFamily="2" charset="-122"/>
                <a:ea typeface="华文楷体" panose="02010600040101010101" pitchFamily="2" charset="-122"/>
                <a:sym typeface="+mn-ea"/>
              </a:rPr>
              <a:t>强化学习</a:t>
            </a:r>
            <a:endParaRPr kumimoji="1" lang="zh-CN" altLang="en-US" sz="2000" b="1" dirty="0">
              <a:solidFill>
                <a:schemeClr val="bg1"/>
              </a:solidFill>
              <a:latin typeface="华文楷体" panose="02010600040101010101" pitchFamily="2" charset="-122"/>
              <a:ea typeface="华文楷体" panose="02010600040101010101" pitchFamily="2" charset="-122"/>
            </a:endParaRPr>
          </a:p>
          <a:p>
            <a:pPr marL="285750" indent="-285750" algn="just">
              <a:lnSpc>
                <a:spcPct val="250000"/>
              </a:lnSpc>
              <a:buFont typeface="Wingdings" panose="05000000000000000000" pitchFamily="2" charset="2"/>
              <a:buChar char="l"/>
            </a:pPr>
            <a:endPar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没有免费的午餐</a:t>
              </a:r>
            </a:p>
          </p:txBody>
        </p:sp>
      </p:grpSp>
      <p:sp>
        <p:nvSpPr>
          <p:cNvPr id="9" name="矩形 8"/>
          <p:cNvSpPr/>
          <p:nvPr/>
        </p:nvSpPr>
        <p:spPr>
          <a:xfrm>
            <a:off x="440138" y="1370661"/>
            <a:ext cx="11184134" cy="5078313"/>
          </a:xfrm>
          <a:prstGeom prst="rect">
            <a:avLst/>
          </a:prstGeom>
        </p:spPr>
        <p:txBody>
          <a:bodyPr wrap="square">
            <a:spAutoFit/>
          </a:bodyPr>
          <a:lstStyle/>
          <a:p>
            <a:pPr marL="285750" indent="-285750">
              <a:lnSpc>
                <a:spcPct val="200000"/>
              </a:lnSpc>
              <a:buFont typeface="Wingdings" panose="05000000000000000000" pitchFamily="2" charset="2"/>
              <a:buChar char="l"/>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为了在训练优化</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针对不同的任务，往往需要采用不同机器学习模型，</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1995</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David Wolpert</a:t>
            </a:r>
            <a:r>
              <a:rPr lang="zh-CN" altLang="zh-CN">
                <a:latin typeface="Times New Roman" panose="02020603050405020304" pitchFamily="18" charset="0"/>
                <a:ea typeface="华文楷体" panose="02010600040101010101" pitchFamily="2" charset="-122"/>
                <a:cs typeface="Times New Roman" panose="02020603050405020304" pitchFamily="18" charset="0"/>
              </a:rPr>
              <a:t>等学者提出</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了</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没有免费午餐定理</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(No Free Lunch Theorem)”</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指出：</a:t>
            </a:r>
            <a:r>
              <a:rPr lang="zh-CN"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任何一个机器学习模型如果在一些训练集以外的样本误差小（</a:t>
            </a:r>
            <a:r>
              <a:rPr lang="en-US"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off-training set error</a:t>
            </a:r>
            <a:r>
              <a:rPr lang="zh-CN" altLang="zh-CN" b="1" dirty="0">
                <a:solidFill>
                  <a:srgbClr val="C00000"/>
                </a:solidFill>
                <a:latin typeface="Times New Roman" panose="02020603050405020304" pitchFamily="18" charset="0"/>
                <a:ea typeface="华文楷体" panose="02010600040101010101" pitchFamily="2" charset="-122"/>
                <a:cs typeface="Times New Roman" panose="02020603050405020304" pitchFamily="18" charset="0"/>
              </a:rPr>
              <a:t>），那么必然在另外一些训练集以外的样本上表现欠佳，任何模型在平均意义上而言其性能都是一样的，即没有放之四海而皆准的最好算法</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nSpc>
                <a:spcPct val="200000"/>
              </a:lnSpc>
              <a:buFont typeface="Wingdings" panose="05000000000000000000" pitchFamily="2" charset="2"/>
              <a:buChar char="l"/>
            </a:pP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似乎这一定理给机器学习带来了一个令人沮丧的事实（即针对某一域的所有问题，所有算法的期望性能是相同的），但是这一定理也告诉我们，离开具体场景和问题去讨论采用哪种机器学习算法是毫无意义的，应该</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在机器学习中合理引入已有先验假设对模型进行约束</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，以提升模型效果，如在自然语言理解中引入句子中单词和单词之间的上下文关联（诸如</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n-gram</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文法）、在视觉图像分析引入像素点之间的空间依赖（诸如卷积算子）等。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894370"/>
            <a:chOff x="4099943" y="2819853"/>
            <a:chExt cx="2570275" cy="894370"/>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860425"/>
            </a:xfrm>
            <a:prstGeom prst="rect">
              <a:avLst/>
            </a:prstGeom>
            <a:ln>
              <a:noFill/>
            </a:ln>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模型评估与参数估计</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手段：损失函数</a:t>
              </a:r>
              <a:endPar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ct val="50000"/>
                </a:spcBef>
              </a:pP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8" name="矩形 7"/>
              <p:cNvSpPr/>
              <p:nvPr/>
            </p:nvSpPr>
            <p:spPr>
              <a:xfrm>
                <a:off x="950595" y="4605020"/>
                <a:ext cx="9848850" cy="134036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将映射函数记为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个训练数据记为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以及</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的预测结果记为</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，可定义损失函数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𝐿𝑜𝑠𝑠</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来估量预测值</a:t>
                </a:r>
                <a14:m>
                  <m:oMath xmlns:m="http://schemas.openxmlformats.org/officeDocument/2006/math">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acc>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和真实值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之间差异。很显然，在训练过程中希望映射函数在训练集上累加差异最小，即</a:t>
                </a:r>
                <a14:m>
                  <m:oMath xmlns:m="http://schemas.openxmlformats.org/officeDocument/2006/math">
                    <m:r>
                      <m:rPr>
                        <m:sty m:val="p"/>
                      </m:rPr>
                      <a:rPr lang="en-US" altLang="zh-CN" smtClean="0">
                        <a:solidFill>
                          <a:srgbClr val="C00000"/>
                        </a:solidFill>
                        <a:latin typeface="Cambria Math" panose="02040503050406030204" pitchFamily="18" charset="0"/>
                        <a:ea typeface="楷体_GB2312"/>
                        <a:cs typeface="Times New Roman" panose="02020603050405020304" pitchFamily="18" charset="0"/>
                      </a:rPr>
                      <m:t>min</m:t>
                    </m:r>
                    <m:nary>
                      <m:nary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C00000"/>
                            </a:solidFill>
                            <a:latin typeface="Cambria Math" panose="02040503050406030204" pitchFamily="18" charset="0"/>
                            <a:ea typeface="楷体_GB2312"/>
                            <a:cs typeface="Times New Roman" panose="02020603050405020304" pitchFamily="18" charset="0"/>
                          </a:rPr>
                          <m:t>𝑖</m:t>
                        </m:r>
                        <m:r>
                          <a:rPr lang="en-US" altLang="zh-CN" i="1">
                            <a:solidFill>
                              <a:srgbClr val="C00000"/>
                            </a:solidFill>
                            <a:latin typeface="Cambria Math" panose="02040503050406030204" pitchFamily="18" charset="0"/>
                            <a:ea typeface="楷体_GB2312"/>
                            <a:cs typeface="Times New Roman" panose="02020603050405020304" pitchFamily="18" charset="0"/>
                          </a:rPr>
                          <m:t>=1</m:t>
                        </m:r>
                      </m:sub>
                      <m:sup>
                        <m:r>
                          <a:rPr lang="en-US" altLang="zh-CN" i="1">
                            <a:solidFill>
                              <a:srgbClr val="C00000"/>
                            </a:solidFill>
                            <a:latin typeface="Cambria Math" panose="02040503050406030204" pitchFamily="18" charset="0"/>
                            <a:ea typeface="楷体_GB2312"/>
                            <a:cs typeface="Times New Roman" panose="02020603050405020304" pitchFamily="18" charset="0"/>
                          </a:rPr>
                          <m:t>𝑛</m:t>
                        </m:r>
                      </m:sup>
                      <m:e>
                        <m:r>
                          <a:rPr lang="en-US" altLang="zh-CN" i="1">
                            <a:solidFill>
                              <a:srgbClr val="C00000"/>
                            </a:solidFill>
                            <a:latin typeface="Cambria Math" panose="02040503050406030204" pitchFamily="18" charset="0"/>
                            <a:ea typeface="楷体_GB2312"/>
                            <a:cs typeface="Times New Roman" panose="02020603050405020304" pitchFamily="18" charset="0"/>
                          </a:rPr>
                          <m:t>𝐿𝑜𝑠𝑠</m:t>
                        </m:r>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𝑥</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C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8" name="矩形 7"/>
              <p:cNvSpPr>
                <a:spLocks noRot="1" noChangeAspect="1" noMove="1" noResize="1" noEditPoints="1" noAdjustHandles="1" noChangeArrowheads="1" noChangeShapeType="1" noTextEdit="1"/>
              </p:cNvSpPr>
              <p:nvPr/>
            </p:nvSpPr>
            <p:spPr>
              <a:xfrm>
                <a:off x="950595" y="4605020"/>
                <a:ext cx="9848850" cy="1340367"/>
              </a:xfrm>
              <a:prstGeom prst="rect">
                <a:avLst/>
              </a:prstGeom>
              <a:blipFill>
                <a:blip r:embed="rId3"/>
                <a:stretch>
                  <a:fillRect l="-557" r="-433" b="-47273"/>
                </a:stretch>
              </a:blipFill>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2459429" y="1207467"/>
            <a:ext cx="7480212" cy="32284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经验风险与期望风险</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2" name="矩形: 圆角 6"/>
          <p:cNvSpPr/>
          <p:nvPr/>
        </p:nvSpPr>
        <p:spPr>
          <a:xfrm>
            <a:off x="594543" y="2308836"/>
            <a:ext cx="4880341" cy="3317413"/>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p:cNvSpPr/>
              <p:nvPr/>
            </p:nvSpPr>
            <p:spPr>
              <a:xfrm>
                <a:off x="734530" y="2245432"/>
                <a:ext cx="4740354" cy="3521029"/>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经验风险</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pPr algn="just"/>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映射函数</a:t>
                </a:r>
                <a14:m>
                  <m:oMath xmlns:m="http://schemas.openxmlformats.org/officeDocument/2006/math">
                    <m:r>
                      <a:rPr lang="en-US" altLang="zh-CN" i="1">
                        <a:solidFill>
                          <a:schemeClr val="bg1"/>
                        </a:solidFill>
                        <a:latin typeface="Cambria Math" panose="02040503050406030204" pitchFamily="18" charset="0"/>
                      </a:rPr>
                      <m:t>𝑓</m:t>
                    </m:r>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在训练集上所产生损失一般被称为</a:t>
                </a:r>
                <a:r>
                  <a:rPr lang="zh-CN" altLang="zh-CN" b="1"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经验风险</a:t>
                </a:r>
                <a14:m>
                  <m:oMath xmlns:m="http://schemas.openxmlformats.org/officeDocument/2006/math">
                    <m:sSub>
                      <m:sSubPr>
                        <m:ctrlPr>
                          <a:rPr lang="zh-CN" altLang="zh-CN" i="1">
                            <a:solidFill>
                              <a:schemeClr val="bg1"/>
                            </a:solidFill>
                            <a:latin typeface="Cambria Math" panose="02040503050406030204" pitchFamily="18" charset="0"/>
                          </a:rPr>
                        </m:ctrlPr>
                      </m:sSubPr>
                      <m:e>
                        <m:r>
                          <a:rPr lang="en-US" altLang="zh-CN" i="1">
                            <a:solidFill>
                              <a:schemeClr val="bg1"/>
                            </a:solidFill>
                            <a:latin typeface="Cambria Math" panose="02040503050406030204" pitchFamily="18" charset="0"/>
                          </a:rPr>
                          <m:t>ℜ</m:t>
                        </m:r>
                      </m:e>
                      <m:sub>
                        <m:r>
                          <a:rPr lang="en-US" altLang="zh-CN" i="1">
                            <a:solidFill>
                              <a:schemeClr val="bg1"/>
                            </a:solidFill>
                            <a:latin typeface="Cambria Math" panose="02040503050406030204" pitchFamily="18" charset="0"/>
                          </a:rPr>
                          <m:t>𝑒𝑚𝑝</m:t>
                        </m:r>
                      </m:sub>
                    </m:sSub>
                  </m:oMath>
                </a14:m>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 (empirical risk)</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。经验风险越小说明模型对训练集数据拟合程度越好。经验风险被定义为：</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den>
                      </m:f>
                      <m:nary>
                        <m:naryPr>
                          <m:chr m:val="∑"/>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up>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p>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𝐿𝑜𝑠𝑠</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𝑓</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e>
                      </m:nary>
                    </m:oMath>
                  </m:oMathPara>
                </a14:m>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734530" y="2245432"/>
                <a:ext cx="4740354" cy="3521029"/>
              </a:xfrm>
              <a:prstGeom prst="rect">
                <a:avLst/>
              </a:prstGeom>
              <a:blipFill rotWithShape="1">
                <a:blip r:embed="rId3"/>
                <a:stretch>
                  <a:fillRect l="-10" t="-2" r="12" b="-685"/>
                </a:stretch>
              </a:blipFill>
            </p:spPr>
            <p:txBody>
              <a:bodyPr/>
              <a:lstStyle/>
              <a:p>
                <a:r>
                  <a:rPr lang="zh-CN" altLang="en-US">
                    <a:noFill/>
                  </a:rPr>
                  <a:t> </a:t>
                </a:r>
              </a:p>
            </p:txBody>
          </p:sp>
        </mc:Fallback>
      </mc:AlternateContent>
      <p:sp>
        <p:nvSpPr>
          <p:cNvPr id="17" name="矩形: 圆角 6"/>
          <p:cNvSpPr/>
          <p:nvPr/>
        </p:nvSpPr>
        <p:spPr>
          <a:xfrm>
            <a:off x="6658645" y="2245432"/>
            <a:ext cx="4880341" cy="3317413"/>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矩形 17"/>
              <p:cNvSpPr/>
              <p:nvPr/>
            </p:nvSpPr>
            <p:spPr>
              <a:xfrm>
                <a:off x="6798631" y="2182028"/>
                <a:ext cx="4798825" cy="3702617"/>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期望风险</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如果知道某一任务包含的所有数据，则可以从所有数据中计算模型产生的损失，这一误差损失被称为期望风险</a:t>
                </a:r>
                <a14:m>
                  <m:oMath xmlns:m="http://schemas.openxmlformats.org/officeDocument/2006/math">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ℜ</m:t>
                    </m:r>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expected risk</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），即真实风险或真实误差。记该任务中所有数据的联合分布为</a:t>
                </a:r>
                <a14:m>
                  <m:oMath xmlns:m="http://schemas.openxmlformats.org/officeDocument/2006/math">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𝑃</m:t>
                    </m:r>
                    <m:d>
                      <m:dPr>
                        <m:ctrlPr>
                          <a:rPr lang="zh-CN" altLang="zh-CN" i="1">
                            <a:solidFill>
                              <a:schemeClr val="bg1"/>
                            </a:solidFill>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𝑥</m:t>
                        </m:r>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m:t>
                        </m:r>
                        <m:r>
                          <a:rPr lang="en-US" altLang="zh-CN">
                            <a:solidFill>
                              <a:schemeClr val="bg1"/>
                            </a:solidFill>
                            <a:latin typeface="Cambria Math" panose="02040503050406030204" pitchFamily="18" charset="0"/>
                            <a:ea typeface="华文楷体" panose="02010600040101010101" pitchFamily="2" charset="-122"/>
                            <a:cs typeface="Times New Roman" panose="02020603050405020304" pitchFamily="18" charset="0"/>
                          </a:rPr>
                          <m:t>𝑦</m:t>
                        </m:r>
                      </m:e>
                    </m:d>
                  </m:oMath>
                </a14:m>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，期望风险被定义为：</a:t>
                </a:r>
              </a:p>
              <a:p>
                <a:pPr/>
                <a14:m>
                  <m:oMathPara xmlns:m="http://schemas.openxmlformats.org/officeDocument/2006/math">
                    <m:oMathParaPr>
                      <m:jc m:val="centerGroup"/>
                    </m:oMathParaPr>
                    <m:oMath xmlns:m="http://schemas.openxmlformats.org/officeDocument/2006/math">
                      <m:nary>
                        <m:nary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sub>
                        <m:sup/>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𝐿𝑜𝑠𝑠</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𝑓</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d>
                            <m:d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d>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𝑑𝑥𝑑𝑦</m:t>
                          </m:r>
                        </m:e>
                      </m:nary>
                    </m:oMath>
                  </m:oMathPara>
                </a14:m>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6798631" y="2182028"/>
                <a:ext cx="4798825" cy="3702617"/>
              </a:xfrm>
              <a:prstGeom prst="rect">
                <a:avLst/>
              </a:prstGeom>
              <a:blipFill rotWithShape="1">
                <a:blip r:embed="rId4"/>
                <a:stretch>
                  <a:fillRect l="-7" t="-5" r="9" b="-821"/>
                </a:stretch>
              </a:blipFill>
            </p:spPr>
            <p:txBody>
              <a:bodyPr/>
              <a:lstStyle/>
              <a:p>
                <a:r>
                  <a:rPr lang="zh-CN" altLang="en-US">
                    <a:noFill/>
                  </a:rPr>
                  <a:t> </a:t>
                </a:r>
              </a:p>
            </p:txBody>
          </p:sp>
        </mc:Fallback>
      </mc:AlternateContent>
      <p:sp>
        <p:nvSpPr>
          <p:cNvPr id="9" name="不等号 8"/>
          <p:cNvSpPr/>
          <p:nvPr/>
        </p:nvSpPr>
        <p:spPr>
          <a:xfrm>
            <a:off x="5627277" y="3508660"/>
            <a:ext cx="893135" cy="468000"/>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11" name="矩形 10"/>
              <p:cNvSpPr/>
              <p:nvPr/>
            </p:nvSpPr>
            <p:spPr>
              <a:xfrm>
                <a:off x="3034713" y="5778451"/>
                <a:ext cx="6096000" cy="1161793"/>
              </a:xfrm>
              <a:prstGeom prst="rect">
                <a:avLst/>
              </a:prstGeom>
            </p:spPr>
            <p:txBody>
              <a:bodyPr>
                <a:spAutoFit/>
              </a:bodyPr>
              <a:lstStyle/>
              <a:p>
                <a:pPr indent="266700">
                  <a:lnSpc>
                    <a:spcPct val="150000"/>
                  </a:lnSpc>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ea typeface="等线" panose="02010600030101010101" charset="-122"/>
                          <a:cs typeface="Times New Roman" panose="02020603050405020304" pitchFamily="18" charset="0"/>
                        </a:rPr>
                        <m:t>ℜ</m:t>
                      </m:r>
                      <m:r>
                        <a:rPr lang="en-US" altLang="zh-CN" sz="28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charset="-122"/>
                              <a:cs typeface="Times New Roman" panose="02020603050405020304" pitchFamily="18" charset="0"/>
                            </a:rPr>
                            <m:t>ℜ</m:t>
                          </m:r>
                        </m:e>
                        <m:sub>
                          <m:r>
                            <a:rPr lang="en-US" altLang="zh-CN" sz="2800" i="1" kern="100">
                              <a:latin typeface="Cambria Math" panose="02040503050406030204" pitchFamily="18" charset="0"/>
                              <a:ea typeface="等线" panose="02010600030101010101" charset="-122"/>
                              <a:cs typeface="Times New Roman" panose="02020603050405020304" pitchFamily="18" charset="0"/>
                            </a:rPr>
                            <m:t>𝑒𝑚𝑝</m:t>
                          </m:r>
                        </m:sub>
                      </m:sSub>
                      <m:r>
                        <a:rPr lang="en-US" altLang="zh-CN" sz="2800" i="1" kern="100">
                          <a:latin typeface="Cambria Math" panose="02040503050406030204" pitchFamily="18" charset="0"/>
                          <a:ea typeface="等线" panose="02010600030101010101" charset="-122"/>
                          <a:cs typeface="Times New Roman" panose="02020603050405020304" pitchFamily="18" charset="0"/>
                        </a:rPr>
                        <m:t>+</m:t>
                      </m:r>
                      <m:r>
                        <a:rPr lang="en-US" altLang="zh-CN" sz="2800" i="1" kern="100">
                          <a:latin typeface="Cambria Math" panose="02040503050406030204" pitchFamily="18" charset="0"/>
                          <a:ea typeface="等线" panose="02010600030101010101" charset="-122"/>
                          <a:cs typeface="Times New Roman" panose="02020603050405020304" pitchFamily="18" charset="0"/>
                        </a:rPr>
                        <m:t>𝑒𝑟𝑟</m:t>
                      </m:r>
                    </m:oMath>
                  </m:oMathPara>
                </a14:m>
                <a:endParaRPr lang="en-US" altLang="zh-CN" sz="2800" kern="100" dirty="0">
                  <a:latin typeface="等线" panose="02010600030101010101" charset="-122"/>
                  <a:ea typeface="等线" panose="02010600030101010101" charset="-122"/>
                  <a:cs typeface="Times New Roman" panose="02020603050405020304" pitchFamily="18" charset="0"/>
                </a:endParaRPr>
              </a:p>
              <a:p>
                <a:pPr indent="266700">
                  <a:lnSpc>
                    <a:spcPct val="15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3034713" y="5778451"/>
                <a:ext cx="6096000" cy="1161793"/>
              </a:xfrm>
              <a:prstGeom prst="rect">
                <a:avLst/>
              </a:prstGeom>
              <a:blipFill>
                <a:blip r:embed="rId5"/>
                <a:stretch>
                  <a:fillRect/>
                </a:stretch>
              </a:blipFill>
            </p:spPr>
            <p:txBody>
              <a:bodyPr/>
              <a:lstStyle/>
              <a:p>
                <a:r>
                  <a:rPr lang="zh-CN" altLang="en-US">
                    <a:noFill/>
                  </a:rPr>
                  <a:t> </a:t>
                </a:r>
              </a:p>
            </p:txBody>
          </p:sp>
        </mc:Fallback>
      </mc:AlternateContent>
      <p:sp>
        <p:nvSpPr>
          <p:cNvPr id="13" name="矩形 12"/>
          <p:cNvSpPr/>
          <p:nvPr/>
        </p:nvSpPr>
        <p:spPr>
          <a:xfrm>
            <a:off x="4300957" y="6482484"/>
            <a:ext cx="1005403" cy="338554"/>
          </a:xfrm>
          <a:prstGeom prst="rect">
            <a:avLst/>
          </a:prstGeom>
        </p:spPr>
        <p:txBody>
          <a:bodyPr wrap="none">
            <a:spAutoFit/>
          </a:bodyPr>
          <a:lstStyle/>
          <a:p>
            <a:r>
              <a:rPr lang="zh-CN" altLang="zh-CN" sz="1600" dirty="0">
                <a:solidFill>
                  <a:srgbClr val="000000"/>
                </a:solidFill>
                <a:latin typeface="Times New Roman" panose="02020603050405020304" pitchFamily="18" charset="0"/>
                <a:ea typeface="楷体_GB2312"/>
                <a:cs typeface="Times New Roman" panose="02020603050405020304" pitchFamily="18" charset="0"/>
              </a:rPr>
              <a:t>期望风险</a:t>
            </a:r>
            <a:endParaRPr lang="zh-CN" altLang="en-US" sz="1600" dirty="0"/>
          </a:p>
        </p:txBody>
      </p:sp>
      <p:sp>
        <p:nvSpPr>
          <p:cNvPr id="15" name="矩形 14"/>
          <p:cNvSpPr/>
          <p:nvPr/>
        </p:nvSpPr>
        <p:spPr>
          <a:xfrm>
            <a:off x="5306360" y="6473877"/>
            <a:ext cx="100540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cs typeface="Times New Roman" panose="02020603050405020304" pitchFamily="18" charset="0"/>
              </a:rPr>
              <a:t>经验</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风险</a:t>
            </a:r>
            <a:endParaRPr lang="zh-CN" alt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经验风险最小化</a:t>
              </a:r>
            </a:p>
          </p:txBody>
        </p:sp>
      </p:grpSp>
      <p:sp>
        <p:nvSpPr>
          <p:cNvPr id="12" name="矩形: 圆角 6"/>
          <p:cNvSpPr/>
          <p:nvPr/>
        </p:nvSpPr>
        <p:spPr>
          <a:xfrm>
            <a:off x="546115" y="2561433"/>
            <a:ext cx="4880341" cy="2811344"/>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矩形 13"/>
          <p:cNvSpPr/>
          <p:nvPr/>
        </p:nvSpPr>
        <p:spPr>
          <a:xfrm>
            <a:off x="604675" y="2894710"/>
            <a:ext cx="4740354" cy="2308324"/>
          </a:xfrm>
          <a:prstGeom prst="rect">
            <a:avLst/>
          </a:prstGeom>
        </p:spPr>
        <p:txBody>
          <a:bodyPr wrap="square">
            <a:spAutoFit/>
          </a:bodyPr>
          <a:lstStyle/>
          <a:p>
            <a:pPr algn="just"/>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当然，由于无法事先就得到任何任务所对应的所有数据分布（如无法采取世界中所有人脸图像来笃信完成人脸识别），使得计算期望风险这一目标可望不可及。因此，机器学习中模型优化目标一般为</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经验风险最小化（</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empirical risk minimization</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虽然机器学习的目标是追求期望风险最小化，即不断提升模型泛化能力</a:t>
            </a:r>
          </a:p>
        </p:txBody>
      </p:sp>
      <mc:AlternateContent xmlns:mc="http://schemas.openxmlformats.org/markup-compatibility/2006" xmlns:a14="http://schemas.microsoft.com/office/drawing/2010/main">
        <mc:Choice Requires="a14">
          <p:sp>
            <p:nvSpPr>
              <p:cNvPr id="6" name="矩形 5"/>
              <p:cNvSpPr/>
              <p:nvPr/>
            </p:nvSpPr>
            <p:spPr>
              <a:xfrm>
                <a:off x="5927651" y="1912154"/>
                <a:ext cx="6096000" cy="904094"/>
              </a:xfrm>
              <a:prstGeom prst="rect">
                <a:avLst/>
              </a:prstGeom>
            </p:spPr>
            <p:txBody>
              <a:bodyPr>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期望风险</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ℜ</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与经验风险</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ℜ</m:t>
                        </m:r>
                      </m:e>
                      <m:sub>
                        <m:r>
                          <a:rPr lang="en-US" altLang="zh-CN" i="1">
                            <a:solidFill>
                              <a:srgbClr val="000000"/>
                            </a:solidFill>
                            <a:latin typeface="Cambria Math" panose="02040503050406030204" pitchFamily="18" charset="0"/>
                            <a:ea typeface="楷体_GB2312"/>
                            <a:cs typeface="Times New Roman" panose="02020603050405020304" pitchFamily="18" charset="0"/>
                          </a:rPr>
                          <m:t>𝑒𝑚𝑝</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之间存在如下关系：</a:t>
                </a:r>
              </a:p>
              <a:p>
                <a:pPr indent="266700">
                  <a:lnSpc>
                    <a:spcPct val="150000"/>
                  </a:lnSpc>
                </a:pPr>
                <a:endParaRPr lang="en-US" altLang="zh-CN" i="1" kern="100" dirty="0">
                  <a:latin typeface="Cambria Math" panose="02040503050406030204" pitchFamily="18" charset="0"/>
                  <a:ea typeface="等线" panose="02010600030101010101"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5927651" y="1912154"/>
                <a:ext cx="6096000" cy="904094"/>
              </a:xfrm>
              <a:prstGeom prst="rect">
                <a:avLst/>
              </a:prstGeom>
              <a:blipFill rotWithShape="1">
                <a:blip r:embed="rId3"/>
                <a:stretch>
                  <a:fillRect l="-9" t="-19" r="9"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704629" y="2816248"/>
                <a:ext cx="6096000" cy="1161793"/>
              </a:xfrm>
              <a:prstGeom prst="rect">
                <a:avLst/>
              </a:prstGeom>
            </p:spPr>
            <p:txBody>
              <a:bodyPr>
                <a:spAutoFit/>
              </a:bodyPr>
              <a:lstStyle/>
              <a:p>
                <a:pPr indent="266700">
                  <a:lnSpc>
                    <a:spcPct val="150000"/>
                  </a:lnSpc>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ea typeface="等线" panose="02010600030101010101" charset="-122"/>
                          <a:cs typeface="Times New Roman" panose="02020603050405020304" pitchFamily="18" charset="0"/>
                        </a:rPr>
                        <m:t>ℜ</m:t>
                      </m:r>
                      <m:r>
                        <a:rPr lang="en-US" altLang="zh-CN" sz="28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charset="-122"/>
                              <a:cs typeface="Times New Roman" panose="02020603050405020304" pitchFamily="18" charset="0"/>
                            </a:rPr>
                            <m:t>ℜ</m:t>
                          </m:r>
                        </m:e>
                        <m:sub>
                          <m:r>
                            <a:rPr lang="en-US" altLang="zh-CN" sz="2800" i="1" kern="100">
                              <a:latin typeface="Cambria Math" panose="02040503050406030204" pitchFamily="18" charset="0"/>
                              <a:ea typeface="等线" panose="02010600030101010101" charset="-122"/>
                              <a:cs typeface="Times New Roman" panose="02020603050405020304" pitchFamily="18" charset="0"/>
                            </a:rPr>
                            <m:t>𝑒𝑚𝑝</m:t>
                          </m:r>
                        </m:sub>
                      </m:sSub>
                      <m:r>
                        <a:rPr lang="en-US" altLang="zh-CN" sz="2800" i="1" kern="100">
                          <a:latin typeface="Cambria Math" panose="02040503050406030204" pitchFamily="18" charset="0"/>
                          <a:ea typeface="等线" panose="02010600030101010101" charset="-122"/>
                          <a:cs typeface="Times New Roman" panose="02020603050405020304" pitchFamily="18" charset="0"/>
                        </a:rPr>
                        <m:t>+</m:t>
                      </m:r>
                      <m:r>
                        <a:rPr lang="en-US" altLang="zh-CN" sz="2800" i="1" kern="100">
                          <a:latin typeface="Cambria Math" panose="02040503050406030204" pitchFamily="18" charset="0"/>
                          <a:ea typeface="等线" panose="02010600030101010101" charset="-122"/>
                          <a:cs typeface="Times New Roman" panose="02020603050405020304" pitchFamily="18" charset="0"/>
                        </a:rPr>
                        <m:t>𝑒𝑟𝑟</m:t>
                      </m:r>
                    </m:oMath>
                  </m:oMathPara>
                </a14:m>
                <a:endParaRPr lang="en-US" altLang="zh-CN" sz="2800" kern="100" dirty="0">
                  <a:latin typeface="等线" panose="02010600030101010101" charset="-122"/>
                  <a:ea typeface="等线" panose="02010600030101010101" charset="-122"/>
                  <a:cs typeface="Times New Roman" panose="02020603050405020304" pitchFamily="18" charset="0"/>
                </a:endParaRPr>
              </a:p>
              <a:p>
                <a:pPr indent="266700">
                  <a:lnSpc>
                    <a:spcPct val="15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5704629" y="2816248"/>
                <a:ext cx="6096000" cy="1161793"/>
              </a:xfrm>
              <a:prstGeom prst="rect">
                <a:avLst/>
              </a:prstGeom>
              <a:blipFill rotWithShape="1">
                <a:blip r:embed="rId4"/>
                <a:stretch>
                  <a:fillRect l="-7" t="-2" r="7" b="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791200" y="4048872"/>
                <a:ext cx="6096000" cy="2201949"/>
              </a:xfrm>
              <a:prstGeom prst="rect">
                <a:avLst/>
              </a:prstGeom>
            </p:spPr>
            <p:txBody>
              <a:bodyPr>
                <a:spAutoFit/>
              </a:bodyPr>
              <a:lstStyle/>
              <a:p>
                <a:pPr>
                  <a:lnSpc>
                    <a:spcPct val="150000"/>
                  </a:lnSpc>
                </a:pPr>
                <a:r>
                  <a:rPr lang="zh-CN" altLang="zh-CN" dirty="0">
                    <a:latin typeface="Times New Roman" panose="02020603050405020304" pitchFamily="18" charset="0"/>
                    <a:ea typeface="等线" panose="02010600030101010101" charset="-122"/>
                    <a:cs typeface="Times New Roman" panose="02020603050405020304" pitchFamily="18" charset="0"/>
                  </a:rPr>
                  <a:t>其中</a:t>
                </a:r>
                <a14:m>
                  <m:oMath xmlns:m="http://schemas.openxmlformats.org/officeDocument/2006/math">
                    <m:r>
                      <a:rPr lang="en-US" altLang="zh-CN" i="1">
                        <a:latin typeface="Cambria Math" panose="02040503050406030204" pitchFamily="18" charset="0"/>
                        <a:ea typeface="等线" panose="02010600030101010101" charset="-122"/>
                        <a:cs typeface="Times New Roman" panose="02020603050405020304" pitchFamily="18" charset="0"/>
                      </a:rPr>
                      <m:t>𝑒𝑟𝑟</m:t>
                    </m:r>
                  </m:oMath>
                </a14:m>
                <a:r>
                  <a:rPr lang="zh-CN" altLang="zh-CN" dirty="0">
                    <a:latin typeface="Times New Roman" panose="02020603050405020304" pitchFamily="18" charset="0"/>
                    <a:ea typeface="等线" panose="02010600030101010101" charset="-122"/>
                    <a:cs typeface="Times New Roman" panose="02020603050405020304" pitchFamily="18" charset="0"/>
                  </a:rPr>
                  <a:t>取值与机器学习模型的复杂程度和训练集样本数目有关。在模型训练过程中，如果使用同一批训练数据反复训练，模型会变得越复杂，虽然经</a:t>
                </a:r>
                <a:r>
                  <a:rPr lang="zh-CN" altLang="zh-CN" dirty="0">
                    <a:solidFill>
                      <a:srgbClr val="000000"/>
                    </a:solidFill>
                    <a:latin typeface="Times New Roman" panose="02020603050405020304" pitchFamily="18" charset="0"/>
                    <a:ea typeface="等线" panose="02010600030101010101" charset="-122"/>
                    <a:cs typeface="Times New Roman" panose="02020603050405020304" pitchFamily="18" charset="0"/>
                  </a:rPr>
                  <a:t>验风险</a:t>
                </a:r>
                <a14:m>
                  <m:oMath xmlns:m="http://schemas.openxmlformats.org/officeDocument/2006/math">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charset="-122"/>
                            <a:cs typeface="Times New Roman" panose="02020603050405020304" pitchFamily="18" charset="0"/>
                          </a:rPr>
                          <m:t>ℜ</m:t>
                        </m:r>
                      </m:e>
                      <m:sub>
                        <m:r>
                          <a:rPr lang="en-US" altLang="zh-CN" i="1">
                            <a:latin typeface="Cambria Math" panose="02040503050406030204" pitchFamily="18" charset="0"/>
                            <a:ea typeface="等线" panose="02010600030101010101" charset="-122"/>
                            <a:cs typeface="Times New Roman" panose="02020603050405020304" pitchFamily="18" charset="0"/>
                          </a:rPr>
                          <m:t>𝑒𝑚𝑝</m:t>
                        </m:r>
                      </m:sub>
                    </m:sSub>
                  </m:oMath>
                </a14:m>
                <a:r>
                  <a:rPr lang="zh-CN" altLang="zh-CN" dirty="0">
                    <a:latin typeface="Times New Roman" panose="02020603050405020304" pitchFamily="18" charset="0"/>
                    <a:ea typeface="等线" panose="02010600030101010101" charset="-122"/>
                    <a:cs typeface="Times New Roman" panose="02020603050405020304" pitchFamily="18" charset="0"/>
                  </a:rPr>
                  <a:t>会降低，但是</a:t>
                </a:r>
                <a14:m>
                  <m:oMath xmlns:m="http://schemas.openxmlformats.org/officeDocument/2006/math">
                    <m:r>
                      <a:rPr lang="en-US" altLang="zh-CN" i="1">
                        <a:latin typeface="Cambria Math" panose="02040503050406030204" pitchFamily="18" charset="0"/>
                        <a:ea typeface="等线" panose="02010600030101010101" charset="-122"/>
                        <a:cs typeface="Times New Roman" panose="02020603050405020304" pitchFamily="18" charset="0"/>
                      </a:rPr>
                      <m:t>𝑒𝑟𝑟</m:t>
                    </m:r>
                  </m:oMath>
                </a14:m>
                <a:r>
                  <a:rPr lang="zh-CN" altLang="zh-CN" dirty="0">
                    <a:latin typeface="Times New Roman" panose="02020603050405020304" pitchFamily="18" charset="0"/>
                    <a:ea typeface="等线" panose="02010600030101010101" charset="-122"/>
                    <a:cs typeface="Times New Roman" panose="02020603050405020304" pitchFamily="18" charset="0"/>
                  </a:rPr>
                  <a:t>取值会越大，导致</a:t>
                </a:r>
                <a:r>
                  <a:rPr lang="zh-CN" altLang="zh-CN" dirty="0">
                    <a:solidFill>
                      <a:srgbClr val="000000"/>
                    </a:solidFill>
                    <a:latin typeface="Times New Roman" panose="02020603050405020304" pitchFamily="18" charset="0"/>
                    <a:ea typeface="等线" panose="02010600030101010101" charset="-122"/>
                    <a:cs typeface="Times New Roman" panose="02020603050405020304" pitchFamily="18" charset="0"/>
                  </a:rPr>
                  <a:t>期望风险</a:t>
                </a:r>
                <a14:m>
                  <m:oMath xmlns:m="http://schemas.openxmlformats.org/officeDocument/2006/math">
                    <m:r>
                      <a:rPr lang="en-US" altLang="zh-CN" i="1">
                        <a:latin typeface="Cambria Math" panose="02040503050406030204" pitchFamily="18" charset="0"/>
                        <a:ea typeface="等线" panose="02010600030101010101" charset="-122"/>
                        <a:cs typeface="Times New Roman" panose="02020603050405020304" pitchFamily="18" charset="0"/>
                      </a:rPr>
                      <m:t>ℜ</m:t>
                    </m:r>
                  </m:oMath>
                </a14:m>
                <a:r>
                  <a:rPr lang="zh-CN" altLang="zh-CN" dirty="0">
                    <a:latin typeface="Times New Roman" panose="02020603050405020304" pitchFamily="18" charset="0"/>
                    <a:ea typeface="等线" panose="02010600030101010101" charset="-122"/>
                    <a:cs typeface="Times New Roman" panose="02020603050405020304" pitchFamily="18" charset="0"/>
                  </a:rPr>
                  <a:t>增加，这一现象被称为</a:t>
                </a:r>
                <a:r>
                  <a:rPr lang="zh-CN" altLang="zh-CN" dirty="0">
                    <a:solidFill>
                      <a:srgbClr val="FF0000"/>
                    </a:solidFill>
                    <a:latin typeface="Times New Roman" panose="02020603050405020304" pitchFamily="18" charset="0"/>
                    <a:ea typeface="等线" panose="02010600030101010101" charset="-122"/>
                    <a:cs typeface="Times New Roman" panose="02020603050405020304" pitchFamily="18" charset="0"/>
                  </a:rPr>
                  <a:t>过学习（</a:t>
                </a:r>
                <a:r>
                  <a:rPr lang="en-US" altLang="zh-CN" dirty="0">
                    <a:solidFill>
                      <a:srgbClr val="FF0000"/>
                    </a:solidFill>
                    <a:latin typeface="Times New Roman" panose="02020603050405020304" pitchFamily="18" charset="0"/>
                    <a:ea typeface="等线" panose="02010600030101010101" charset="-122"/>
                    <a:cs typeface="Times New Roman" panose="02020603050405020304" pitchFamily="18" charset="0"/>
                  </a:rPr>
                  <a:t>overfitting</a:t>
                </a:r>
                <a:r>
                  <a:rPr lang="zh-CN" altLang="zh-CN" dirty="0">
                    <a:solidFill>
                      <a:srgbClr val="FF0000"/>
                    </a:solidFill>
                    <a:latin typeface="Times New Roman" panose="02020603050405020304" pitchFamily="18" charset="0"/>
                    <a:ea typeface="等线" panose="02010600030101010101" charset="-122"/>
                    <a:cs typeface="Times New Roman" panose="02020603050405020304" pitchFamily="18" charset="0"/>
                  </a:rPr>
                  <a:t>）</a:t>
                </a:r>
                <a:r>
                  <a:rPr lang="zh-CN" altLang="zh-CN" dirty="0">
                    <a:latin typeface="Times New Roman" panose="02020603050405020304" pitchFamily="18" charset="0"/>
                    <a:ea typeface="等线" panose="02010600030101010101" charset="-122"/>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5791200" y="4048872"/>
                <a:ext cx="6096000" cy="2201949"/>
              </a:xfrm>
              <a:prstGeom prst="rect">
                <a:avLst/>
              </a:prstGeom>
              <a:blipFill>
                <a:blip r:embed="rId5"/>
                <a:stretch>
                  <a:fillRect l="-800" b="-1662"/>
                </a:stretch>
              </a:blipFill>
            </p:spPr>
            <p:txBody>
              <a:bodyPr/>
              <a:lstStyle/>
              <a:p>
                <a:r>
                  <a:rPr lang="zh-CN" altLang="en-US">
                    <a:noFill/>
                  </a:rPr>
                  <a:t> </a:t>
                </a:r>
              </a:p>
            </p:txBody>
          </p:sp>
        </mc:Fallback>
      </mc:AlternateContent>
      <p:sp>
        <p:nvSpPr>
          <p:cNvPr id="10" name="矩形 9"/>
          <p:cNvSpPr/>
          <p:nvPr/>
        </p:nvSpPr>
        <p:spPr>
          <a:xfrm>
            <a:off x="7067805" y="3656702"/>
            <a:ext cx="1005403" cy="338554"/>
          </a:xfrm>
          <a:prstGeom prst="rect">
            <a:avLst/>
          </a:prstGeom>
        </p:spPr>
        <p:txBody>
          <a:bodyPr wrap="none">
            <a:spAutoFit/>
          </a:bodyPr>
          <a:lstStyle/>
          <a:p>
            <a:r>
              <a:rPr lang="zh-CN" altLang="zh-CN" sz="1600" dirty="0">
                <a:solidFill>
                  <a:srgbClr val="000000"/>
                </a:solidFill>
                <a:latin typeface="Times New Roman" panose="02020603050405020304" pitchFamily="18" charset="0"/>
                <a:ea typeface="楷体_GB2312"/>
                <a:cs typeface="Times New Roman" panose="02020603050405020304" pitchFamily="18" charset="0"/>
              </a:rPr>
              <a:t>期望风险</a:t>
            </a:r>
            <a:endParaRPr lang="zh-CN" altLang="en-US" sz="1600" dirty="0"/>
          </a:p>
        </p:txBody>
      </p:sp>
      <p:sp>
        <p:nvSpPr>
          <p:cNvPr id="16" name="矩形 15"/>
          <p:cNvSpPr/>
          <p:nvPr/>
        </p:nvSpPr>
        <p:spPr>
          <a:xfrm>
            <a:off x="8073208" y="3648095"/>
            <a:ext cx="100540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cs typeface="Times New Roman" panose="02020603050405020304" pitchFamily="18" charset="0"/>
              </a:rPr>
              <a:t>经验</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风险</a:t>
            </a:r>
            <a:endParaRPr lang="zh-CN" altLang="en-US" sz="1600" dirty="0"/>
          </a:p>
        </p:txBody>
      </p:sp>
      <p:cxnSp>
        <p:nvCxnSpPr>
          <p:cNvPr id="20" name="直接连接符 19"/>
          <p:cNvCxnSpPr/>
          <p:nvPr/>
        </p:nvCxnSpPr>
        <p:spPr>
          <a:xfrm>
            <a:off x="7261093" y="3538906"/>
            <a:ext cx="541066"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298134" y="3583508"/>
            <a:ext cx="541066" cy="0"/>
          </a:xfrm>
          <a:prstGeom prst="line">
            <a:avLst/>
          </a:prstGeom>
          <a:ln w="412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30" y="600075"/>
            <a:ext cx="5816600" cy="740687"/>
            <a:chOff x="4099943" y="2819853"/>
            <a:chExt cx="2570275" cy="740977"/>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707032"/>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模型泛化能力与</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经验风险</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和期望风险之间关系</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6" name="内容占位符 5"/>
          <p:cNvPicPr>
            <a:picLocks noGrp="1" noChangeAspect="1"/>
          </p:cNvPicPr>
          <p:nvPr>
            <p:ph sz="quarter" idx="1"/>
          </p:nvPr>
        </p:nvPicPr>
        <p:blipFill rotWithShape="1">
          <a:blip r:embed="rId3"/>
          <a:srcRect t="12169"/>
          <a:stretch>
            <a:fillRect/>
          </a:stretch>
        </p:blipFill>
        <p:spPr>
          <a:xfrm>
            <a:off x="1394775" y="2738933"/>
            <a:ext cx="8856873" cy="3441150"/>
          </a:xfrm>
          <a:prstGeom prst="rect">
            <a:avLst/>
          </a:prstGeom>
        </p:spPr>
      </p:pic>
      <p:sp>
        <p:nvSpPr>
          <p:cNvPr id="7" name="内容占位符 2"/>
          <p:cNvSpPr txBox="1"/>
          <p:nvPr/>
        </p:nvSpPr>
        <p:spPr bwMode="auto">
          <a:xfrm>
            <a:off x="685165" y="1382395"/>
            <a:ext cx="10972800" cy="1042035"/>
          </a:xfrm>
          <a:prstGeom prst="rect">
            <a:avLst/>
          </a:prstGeom>
          <a:noFill/>
          <a:ln>
            <a:noFill/>
          </a:ln>
        </p:spPr>
        <p:txBody>
          <a:bodyPr vert="horz" wrap="square" lIns="91440" tIns="45720" rIns="91440" bIns="45720" numCol="1" anchor="t" anchorCtr="0" compatLnSpc="1"/>
          <a:lstStyle>
            <a:lvl1pPr marL="204470" indent="-204470" algn="l" rtl="0" eaLnBrk="1" fontAlgn="base" hangingPunct="1">
              <a:spcBef>
                <a:spcPts val="450"/>
              </a:spcBef>
              <a:spcAft>
                <a:spcPts val="600"/>
              </a:spcAft>
              <a:buClr>
                <a:schemeClr val="accent1"/>
              </a:buClr>
              <a:buSzPct val="76000"/>
              <a:buFont typeface="Wingdings 3" panose="05040102010807070707" pitchFamily="18" charset="2"/>
              <a:buChar char=""/>
              <a:defRPr sz="2400" kern="1200" baseline="0">
                <a:solidFill>
                  <a:srgbClr val="000000"/>
                </a:solidFill>
                <a:latin typeface="+mn-lt"/>
                <a:ea typeface="华文楷体" panose="02010600040101010101" pitchFamily="2" charset="-122"/>
                <a:cs typeface="+mn-cs"/>
              </a:defRPr>
            </a:lvl1pPr>
            <a:lvl2pPr marL="410845" indent="-204470" algn="l" rtl="0" eaLnBrk="1" fontAlgn="base" hangingPunct="1">
              <a:spcBef>
                <a:spcPts val="375"/>
              </a:spcBef>
              <a:spcAft>
                <a:spcPts val="600"/>
              </a:spcAft>
              <a:buClr>
                <a:schemeClr val="accent2"/>
              </a:buClr>
              <a:buSzPct val="76000"/>
              <a:buFont typeface="Wingdings 3" panose="05040102010807070707" pitchFamily="18" charset="2"/>
              <a:buChar char=""/>
              <a:defRPr sz="2135" kern="1200" baseline="0">
                <a:solidFill>
                  <a:srgbClr val="000000"/>
                </a:solidFill>
                <a:latin typeface="+mn-lt"/>
                <a:ea typeface="华文楷体" panose="02010600040101010101" pitchFamily="2" charset="-122"/>
                <a:cs typeface="+mn-cs"/>
              </a:defRPr>
            </a:lvl2pPr>
            <a:lvl3pPr marL="616585" indent="-171450" algn="l" rtl="0" eaLnBrk="1" fontAlgn="base" hangingPunct="1">
              <a:spcBef>
                <a:spcPts val="375"/>
              </a:spcBef>
              <a:spcAft>
                <a:spcPct val="0"/>
              </a:spcAft>
              <a:buClr>
                <a:srgbClr val="BCBCBC"/>
              </a:buClr>
              <a:buSzPct val="76000"/>
              <a:buFont typeface="Wingdings 3" panose="05040102010807070707" pitchFamily="18" charset="2"/>
              <a:buChar char=""/>
              <a:defRPr sz="1600" kern="1200" baseline="0">
                <a:solidFill>
                  <a:srgbClr val="000000"/>
                </a:solidFill>
                <a:latin typeface="+mn-lt"/>
                <a:ea typeface="华文楷体" panose="02010600040101010101" pitchFamily="2" charset="-122"/>
                <a:cs typeface="+mn-cs"/>
              </a:defRPr>
            </a:lvl3pPr>
            <a:lvl4pPr marL="822960" indent="-171450" algn="l" rtl="0" eaLnBrk="1" fontAlgn="base" hangingPunct="1">
              <a:spcBef>
                <a:spcPts val="300"/>
              </a:spcBef>
              <a:spcAft>
                <a:spcPct val="0"/>
              </a:spcAft>
              <a:buClr>
                <a:srgbClr val="CF5716"/>
              </a:buClr>
              <a:buSzPct val="70000"/>
              <a:buFont typeface="Wingdings" panose="05000000000000000000" pitchFamily="2" charset="2"/>
              <a:buChar char=""/>
              <a:defRPr sz="1200" kern="1200" baseline="0">
                <a:solidFill>
                  <a:schemeClr val="tx1"/>
                </a:solidFill>
                <a:latin typeface="+mn-lt"/>
                <a:ea typeface="华文楷体" panose="02010600040101010101" pitchFamily="2" charset="-122"/>
                <a:cs typeface="+mn-cs"/>
              </a:defRPr>
            </a:lvl4pPr>
            <a:lvl5pPr marL="1028700" indent="-171450" algn="l" rtl="0" eaLnBrk="1" fontAlgn="base" hangingPunct="1">
              <a:spcBef>
                <a:spcPts val="225"/>
              </a:spcBef>
              <a:spcAft>
                <a:spcPct val="0"/>
              </a:spcAft>
              <a:buClr>
                <a:schemeClr val="accent2"/>
              </a:buClr>
              <a:buSzPct val="70000"/>
              <a:buFont typeface="Wingdings" panose="05000000000000000000" pitchFamily="2" charset="2"/>
              <a:buChar char=""/>
              <a:defRPr sz="1400" kern="1200" baseline="0">
                <a:solidFill>
                  <a:schemeClr val="tx1"/>
                </a:solidFill>
                <a:latin typeface="+mn-lt"/>
                <a:ea typeface="华文楷体" panose="02010600040101010101" pitchFamily="2" charset="-122"/>
                <a:cs typeface="+mn-cs"/>
              </a:defRPr>
            </a:lvl5pPr>
            <a:lvl6pPr marL="1234440" indent="-137160" algn="l" rtl="0" eaLnBrk="1" latinLnBrk="0" hangingPunct="1">
              <a:spcBef>
                <a:spcPts val="225"/>
              </a:spcBef>
              <a:buClr>
                <a:srgbClr val="9FB8CD">
                  <a:shade val="75000"/>
                </a:srgbClr>
              </a:buClr>
              <a:buSzPct val="75000"/>
              <a:buFont typeface="Wingdings 3" panose="05040102010807070707"/>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panose="05040102010807070707"/>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panose="05040102010807070707"/>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panose="05040102010807070707"/>
              <a:buChar char=""/>
              <a:defRPr kumimoji="0" lang="en-US" sz="900" kern="1200" smtClean="0">
                <a:solidFill>
                  <a:schemeClr val="tx1"/>
                </a:solidFill>
                <a:latin typeface="+mn-lt"/>
                <a:ea typeface="+mn-ea"/>
                <a:cs typeface="+mn-cs"/>
              </a:defRPr>
            </a:lvl9pPr>
          </a:lstStyle>
          <a:p>
            <a:r>
              <a:rPr kumimoji="1" lang="zh-CN" altLang="en-US" dirty="0"/>
              <a:t>泛化能力</a:t>
            </a:r>
            <a:endParaRPr kumimoji="1" lang="en-US" altLang="zh-CN" dirty="0"/>
          </a:p>
          <a:p>
            <a:pPr lvl="1"/>
            <a:r>
              <a:rPr kumimoji="1" lang="zh-CN" altLang="en-US" dirty="0"/>
              <a:t>模型在训练集上所取得性能与在测试集上所取得性能保持一致</a:t>
            </a:r>
            <a:endParaRPr kumimoji="1" lang="zh-CN"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30" y="600075"/>
            <a:ext cx="5816600" cy="740687"/>
            <a:chOff x="4099943" y="2819853"/>
            <a:chExt cx="2570275" cy="740977"/>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707032"/>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模型泛化能力与</a:t>
              </a:r>
              <a:r>
                <a:rPr lang="zh-CN"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经验风险</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和期望风险之间关系</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11" name="矩形 10"/>
              <p:cNvSpPr/>
              <p:nvPr/>
            </p:nvSpPr>
            <p:spPr>
              <a:xfrm>
                <a:off x="5823626" y="4404114"/>
                <a:ext cx="5869285" cy="2056717"/>
              </a:xfrm>
              <a:prstGeom prst="rect">
                <a:avLst/>
              </a:prstGeom>
            </p:spPr>
            <p:txBody>
              <a:bodyPr wrap="square">
                <a:spAutoFit/>
              </a:bodyPr>
              <a:lstStyle/>
              <a:p>
                <a:pPr indent="266700" algn="just">
                  <a:lnSpc>
                    <a:spcPts val="2200"/>
                  </a:lnSpc>
                  <a:spcAft>
                    <a:spcPts val="0"/>
                  </a:spcAft>
                </a:pPr>
                <a:r>
                  <a:rPr lang="zh-CN" altLang="zh-CN"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 </m:t>
                    </m:r>
                    <m:r>
                      <a:rPr lang="en-US" altLang="zh-CN" i="1" kern="0">
                        <a:solidFill>
                          <a:srgbClr val="000000"/>
                        </a:solidFill>
                        <a:latin typeface="Cambria Math" panose="02040503050406030204" pitchFamily="18" charset="0"/>
                        <a:ea typeface="楷体_GB2312"/>
                        <a:cs typeface="Times New Roman" panose="02020603050405020304" pitchFamily="18" charset="0"/>
                      </a:rPr>
                      <m:t>𝐽</m:t>
                    </m:r>
                    <m:r>
                      <a:rPr lang="en-US" altLang="zh-CN" i="1" kern="0">
                        <a:solidFill>
                          <a:srgbClr val="000000"/>
                        </a:solidFill>
                        <a:latin typeface="Cambria Math" panose="02040503050406030204" pitchFamily="18" charset="0"/>
                        <a:ea typeface="楷体_GB2312"/>
                        <a:cs typeface="Times New Roman" panose="02020603050405020304" pitchFamily="18" charset="0"/>
                      </a:rPr>
                      <m:t>(</m:t>
                    </m:r>
                    <m:r>
                      <a:rPr lang="en-US" altLang="zh-CN" i="1" kern="0">
                        <a:solidFill>
                          <a:srgbClr val="000000"/>
                        </a:solidFill>
                        <a:latin typeface="Cambria Math" panose="02040503050406030204" pitchFamily="18" charset="0"/>
                        <a:ea typeface="楷体_GB2312"/>
                        <a:cs typeface="Times New Roman" panose="02020603050405020304" pitchFamily="18" charset="0"/>
                      </a:rPr>
                      <m:t>𝑓</m:t>
                    </m:r>
                    <m:r>
                      <a:rPr lang="en-US" altLang="zh-CN" i="1" kern="0">
                        <a:solidFill>
                          <a:srgbClr val="000000"/>
                        </a:solidFill>
                        <a:latin typeface="Cambria Math" panose="02040503050406030204" pitchFamily="18" charset="0"/>
                        <a:ea typeface="楷体_GB2312"/>
                        <a:cs typeface="Times New Roman" panose="02020603050405020304" pitchFamily="18" charset="0"/>
                      </a:rPr>
                      <m:t>)</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是正则化因子或惩罚项因子，</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𝜆</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是用来调整惩罚强度的系数。哲学领域的</a:t>
                </a:r>
                <a:r>
                  <a:rPr lang="zh-CN" altLang="zh-CN" kern="0" dirty="0">
                    <a:solidFill>
                      <a:srgbClr val="FF0000"/>
                    </a:solidFill>
                    <a:latin typeface="Times New Roman" panose="02020603050405020304" pitchFamily="18" charset="0"/>
                    <a:ea typeface="楷体_GB2312"/>
                    <a:cs typeface="Times New Roman" panose="02020603050405020304" pitchFamily="18" charset="0"/>
                  </a:rPr>
                  <a:t>奥卡姆剃刀定律</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Occam's Razor, Ockham's Razor</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）阐明了</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如无必要，勿增实体</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的意义，即</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简单有效原理</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。老子《道德经》曾写道，</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万物之始，大道至简，衍化至繁</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。在模型中加入约束（如约束模型系数稀疏等），使得从数据到模型的建模过程中，能够</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化繁为简、大巧不工</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a:t>
                </a:r>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5823626" y="4404114"/>
                <a:ext cx="5869285" cy="2056717"/>
              </a:xfrm>
              <a:prstGeom prst="rect">
                <a:avLst/>
              </a:prstGeom>
              <a:blipFill>
                <a:blip r:embed="rId3"/>
                <a:stretch>
                  <a:fillRect l="-831" t="-2959" r="-935" b="-3550"/>
                </a:stretch>
              </a:blipFill>
            </p:spPr>
            <p:txBody>
              <a:bodyPr/>
              <a:lstStyle/>
              <a:p>
                <a:r>
                  <a:rPr lang="zh-CN" altLang="en-US">
                    <a:noFill/>
                  </a:rPr>
                  <a:t> </a:t>
                </a:r>
              </a:p>
            </p:txBody>
          </p:sp>
        </mc:Fallback>
      </mc:AlternateContent>
      <p:sp>
        <p:nvSpPr>
          <p:cNvPr id="15" name="矩形 14"/>
          <p:cNvSpPr/>
          <p:nvPr/>
        </p:nvSpPr>
        <p:spPr>
          <a:xfrm>
            <a:off x="5823626" y="1706148"/>
            <a:ext cx="6011694" cy="1502976"/>
          </a:xfrm>
          <a:prstGeom prst="rect">
            <a:avLst/>
          </a:prstGeom>
        </p:spPr>
        <p:txBody>
          <a:bodyPr wrap="square">
            <a:spAutoFit/>
          </a:bodyPr>
          <a:lstStyle/>
          <a:p>
            <a:pPr indent="266700" algn="just">
              <a:lnSpc>
                <a:spcPts val="2200"/>
              </a:lnSpc>
              <a:spcBef>
                <a:spcPts val="600"/>
              </a:spcBef>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如前</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没有免费午餐定理</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所指出，在模型优化中引入恰当先验约束可提升模型性能。为了防止过学习，结构风险最小化</a:t>
            </a:r>
            <a:r>
              <a:rPr lang="en-US" altLang="zh-CN" dirty="0">
                <a:solidFill>
                  <a:srgbClr val="000000"/>
                </a:solidFill>
                <a:latin typeface="Times New Roman" panose="02020603050405020304" pitchFamily="18" charset="0"/>
                <a:ea typeface="楷体_GB2312"/>
                <a:cs typeface="Times New Roman" panose="02020603050405020304" pitchFamily="18" charset="0"/>
              </a:rPr>
              <a:t>(structural risk minimization)</a:t>
            </a:r>
            <a:r>
              <a:rPr lang="zh-CN" altLang="zh-CN" dirty="0">
                <a:solidFill>
                  <a:srgbClr val="000000"/>
                </a:solidFill>
                <a:latin typeface="Times New Roman" panose="02020603050405020304" pitchFamily="18" charset="0"/>
                <a:ea typeface="楷体_GB2312"/>
                <a:cs typeface="Times New Roman" panose="02020603050405020304" pitchFamily="18" charset="0"/>
              </a:rPr>
              <a:t>引入</a:t>
            </a:r>
            <a:r>
              <a:rPr lang="zh-CN" altLang="zh-CN" dirty="0">
                <a:solidFill>
                  <a:srgbClr val="FF0000"/>
                </a:solidFill>
                <a:latin typeface="Times New Roman" panose="02020603050405020304" pitchFamily="18" charset="0"/>
                <a:ea typeface="楷体_GB2312"/>
                <a:cs typeface="Times New Roman" panose="02020603050405020304" pitchFamily="18" charset="0"/>
              </a:rPr>
              <a:t>正则化</a:t>
            </a:r>
            <a:r>
              <a:rPr lang="en-US" altLang="zh-CN" dirty="0">
                <a:solidFill>
                  <a:srgbClr val="FF0000"/>
                </a:solidFill>
                <a:latin typeface="Times New Roman" panose="02020603050405020304" pitchFamily="18" charset="0"/>
                <a:ea typeface="楷体_GB2312"/>
                <a:cs typeface="Times New Roman" panose="02020603050405020304" pitchFamily="18" charset="0"/>
              </a:rPr>
              <a:t> (</a:t>
            </a:r>
            <a:r>
              <a:rPr lang="en-US" altLang="zh-CN" dirty="0" err="1">
                <a:solidFill>
                  <a:srgbClr val="FF0000"/>
                </a:solidFill>
                <a:latin typeface="Times New Roman" panose="02020603050405020304" pitchFamily="18" charset="0"/>
                <a:ea typeface="楷体_GB2312"/>
                <a:cs typeface="Times New Roman" panose="02020603050405020304" pitchFamily="18" charset="0"/>
              </a:rPr>
              <a:t>regularizer</a:t>
            </a:r>
            <a:r>
              <a:rPr lang="en-US" altLang="zh-CN" dirty="0">
                <a:solidFill>
                  <a:srgbClr val="FF0000"/>
                </a:solidFill>
                <a:latin typeface="Times New Roman" panose="02020603050405020304" pitchFamily="18" charset="0"/>
                <a:ea typeface="楷体_GB2312"/>
                <a:cs typeface="Times New Roman" panose="02020603050405020304" pitchFamily="18" charset="0"/>
              </a:rPr>
              <a:t>)</a:t>
            </a:r>
            <a:r>
              <a:rPr lang="zh-CN" altLang="zh-CN" dirty="0">
                <a:solidFill>
                  <a:srgbClr val="FF0000"/>
                </a:solidFill>
                <a:latin typeface="Times New Roman" panose="02020603050405020304" pitchFamily="18" charset="0"/>
                <a:ea typeface="楷体_GB2312"/>
                <a:cs typeface="Times New Roman" panose="02020603050405020304" pitchFamily="18" charset="0"/>
              </a:rPr>
              <a:t>或惩罚项</a:t>
            </a:r>
            <a:r>
              <a:rPr lang="en-US" altLang="zh-CN" dirty="0">
                <a:solidFill>
                  <a:srgbClr val="FF0000"/>
                </a:solidFill>
                <a:latin typeface="Times New Roman" panose="02020603050405020304" pitchFamily="18" charset="0"/>
                <a:ea typeface="楷体_GB2312"/>
                <a:cs typeface="Times New Roman" panose="02020603050405020304" pitchFamily="18" charset="0"/>
              </a:rPr>
              <a:t>(penalty term)</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来降低模型模型复杂度，既最小化经验风险、又力求降低模型复杂度，在两者之间寻找平衡：</a:t>
            </a:r>
          </a:p>
        </p:txBody>
      </p:sp>
      <mc:AlternateContent xmlns:mc="http://schemas.openxmlformats.org/markup-compatibility/2006" xmlns:a14="http://schemas.microsoft.com/office/drawing/2010/main">
        <mc:Choice Requires="a14">
          <p:sp>
            <p:nvSpPr>
              <p:cNvPr id="17" name="矩形 16"/>
              <p:cNvSpPr/>
              <p:nvPr/>
            </p:nvSpPr>
            <p:spPr>
              <a:xfrm>
                <a:off x="7146652" y="3322487"/>
                <a:ext cx="3151632" cy="848566"/>
              </a:xfrm>
              <a:prstGeom prst="rect">
                <a:avLst/>
              </a:prstGeom>
            </p:spPr>
            <p:txBody>
              <a:bodyPr wrap="none">
                <a:spAutoFit/>
              </a:bodyPr>
              <a:lstStyle/>
              <a:p>
                <a:pPr algn="just">
                  <a:spcAft>
                    <a:spcPts val="0"/>
                  </a:spcAft>
                </a:pPr>
                <a14:m>
                  <m:oMathPara xmlns:m="http://schemas.openxmlformats.org/officeDocument/2006/math">
                    <m:oMathParaPr>
                      <m:jc m:val="centerGroup"/>
                    </m:oMathParaPr>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den>
                      </m:f>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𝐿𝑜𝑠𝑠</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𝑓</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𝜆</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𝐽</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𝑓</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e>
                      </m:nary>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7146652" y="3322487"/>
                <a:ext cx="3151632" cy="848566"/>
              </a:xfrm>
              <a:prstGeom prst="rect">
                <a:avLst/>
              </a:prstGeom>
              <a:blipFill rotWithShape="1">
                <a:blip r:embed="rId4"/>
                <a:stretch>
                  <a:fillRect l="-11" t="-20" r="16" b="44"/>
                </a:stretch>
              </a:blipFill>
            </p:spPr>
            <p:txBody>
              <a:bodyPr/>
              <a:lstStyle/>
              <a:p>
                <a:r>
                  <a:rPr lang="zh-CN" altLang="en-US">
                    <a:noFill/>
                  </a:rPr>
                  <a:t> </a:t>
                </a:r>
              </a:p>
            </p:txBody>
          </p:sp>
        </mc:Fallback>
      </mc:AlternateContent>
      <p:pic>
        <p:nvPicPr>
          <p:cNvPr id="3078" name="Picture 6" descr="âchoose between two optionsâçå¾çæç´¢ç»æ"/>
          <p:cNvPicPr>
            <a:picLocks noChangeAspect="1" noChangeArrowheads="1"/>
          </p:cNvPicPr>
          <p:nvPr/>
        </p:nvPicPr>
        <p:blipFill>
          <a:blip r:embed="rId5"/>
          <a:srcRect/>
          <a:stretch>
            <a:fillRect/>
          </a:stretch>
        </p:blipFill>
        <p:spPr bwMode="auto">
          <a:xfrm flipH="1">
            <a:off x="1037590" y="2958465"/>
            <a:ext cx="4300220" cy="215011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3429635" y="2000251"/>
            <a:ext cx="944880" cy="398780"/>
          </a:xfrm>
          <a:prstGeom prst="rect">
            <a:avLst/>
          </a:prstGeom>
        </p:spPr>
        <p:txBody>
          <a:bodyPr wrap="none">
            <a:spAutoFit/>
          </a:bodyPr>
          <a:lstStyle/>
          <a:p>
            <a:r>
              <a:rPr lang="zh-CN" altLang="en-US" sz="2000" dirty="0">
                <a:latin typeface="华文楷体" panose="02010600040101010101" pitchFamily="2" charset="-122"/>
                <a:ea typeface="华文楷体" panose="02010600040101010101" pitchFamily="2" charset="-122"/>
              </a:rPr>
              <a:t>正则化</a:t>
            </a:r>
          </a:p>
        </p:txBody>
      </p:sp>
      <p:sp>
        <p:nvSpPr>
          <p:cNvPr id="7" name="矩形 6"/>
          <p:cNvSpPr/>
          <p:nvPr/>
        </p:nvSpPr>
        <p:spPr>
          <a:xfrm>
            <a:off x="2114550" y="2000250"/>
            <a:ext cx="690880" cy="398780"/>
          </a:xfrm>
          <a:prstGeom prst="rect">
            <a:avLst/>
          </a:prstGeom>
        </p:spPr>
        <p:txBody>
          <a:bodyPr wrap="none">
            <a:spAutoFit/>
          </a:bodyPr>
          <a:lstStyle/>
          <a:p>
            <a:r>
              <a:rPr lang="zh-CN" altLang="en-US" sz="2000" dirty="0">
                <a:latin typeface="华文楷体" panose="02010600040101010101" pitchFamily="2" charset="-122"/>
                <a:ea typeface="华文楷体" panose="02010600040101010101" pitchFamily="2" charset="-122"/>
              </a:rPr>
              <a:t>优化</a:t>
            </a:r>
          </a:p>
        </p:txBody>
      </p:sp>
      <p:sp>
        <p:nvSpPr>
          <p:cNvPr id="8" name="矩形 7"/>
          <p:cNvSpPr/>
          <p:nvPr/>
        </p:nvSpPr>
        <p:spPr>
          <a:xfrm>
            <a:off x="3271564" y="2401223"/>
            <a:ext cx="1783080" cy="368300"/>
          </a:xfrm>
          <a:prstGeom prst="rect">
            <a:avLst/>
          </a:prstGeom>
        </p:spPr>
        <p:txBody>
          <a:bodyPr wrap="none">
            <a:spAutoFit/>
          </a:bodyPr>
          <a:lstStyle/>
          <a:p>
            <a:r>
              <a:rPr lang="zh-CN" altLang="en-US" dirty="0">
                <a:latin typeface="华文楷体" panose="02010600040101010101" pitchFamily="2" charset="-122"/>
                <a:ea typeface="华文楷体" panose="02010600040101010101" pitchFamily="2" charset="-122"/>
              </a:rPr>
              <a:t>降低模型复杂度</a:t>
            </a:r>
            <a:endParaRPr lang="en-US" altLang="zh-CN" dirty="0">
              <a:latin typeface="华文楷体" panose="02010600040101010101" pitchFamily="2" charset="-122"/>
              <a:ea typeface="华文楷体" panose="02010600040101010101" pitchFamily="2" charset="-122"/>
            </a:endParaRPr>
          </a:p>
        </p:txBody>
      </p:sp>
      <p:sp>
        <p:nvSpPr>
          <p:cNvPr id="10" name="矩形 9"/>
          <p:cNvSpPr/>
          <p:nvPr/>
        </p:nvSpPr>
        <p:spPr>
          <a:xfrm>
            <a:off x="1622914" y="2401223"/>
            <a:ext cx="1554480" cy="368300"/>
          </a:xfrm>
          <a:prstGeom prst="rect">
            <a:avLst/>
          </a:prstGeom>
        </p:spPr>
        <p:txBody>
          <a:bodyPr wrap="none">
            <a:spAutoFit/>
          </a:bodyPr>
          <a:lstStyle/>
          <a:p>
            <a:r>
              <a:rPr lang="zh-CN" altLang="en-US" dirty="0">
                <a:latin typeface="华文楷体" panose="02010600040101010101" pitchFamily="2" charset="-122"/>
                <a:ea typeface="华文楷体" panose="02010600040101010101" pitchFamily="2" charset="-122"/>
              </a:rPr>
              <a:t>经验风险最小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正则化</a:t>
              </a:r>
            </a:p>
          </p:txBody>
        </p:sp>
      </p:grpSp>
      <p:pic>
        <p:nvPicPr>
          <p:cNvPr id="2050" name="Picture 2" descr="âl2 regularizationâçå¾çæç´¢ç»æ"/>
          <p:cNvPicPr>
            <a:picLocks noChangeAspect="1" noChangeArrowheads="1"/>
          </p:cNvPicPr>
          <p:nvPr/>
        </p:nvPicPr>
        <p:blipFill>
          <a:blip r:embed="rId3"/>
          <a:srcRect/>
          <a:stretch>
            <a:fillRect/>
          </a:stretch>
        </p:blipFill>
        <p:spPr bwMode="auto">
          <a:xfrm>
            <a:off x="2355850" y="3869690"/>
            <a:ext cx="3051175" cy="2334895"/>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5880" y="3934460"/>
            <a:ext cx="2964180" cy="2292350"/>
          </a:xfrm>
          <a:prstGeom prst="rect">
            <a:avLst/>
          </a:prstGeom>
        </p:spPr>
      </p:pic>
      <p:pic>
        <p:nvPicPr>
          <p:cNvPr id="7" name="图片 6"/>
          <p:cNvPicPr>
            <a:picLocks noChangeAspect="1"/>
          </p:cNvPicPr>
          <p:nvPr/>
        </p:nvPicPr>
        <p:blipFill>
          <a:blip r:embed="rId5"/>
          <a:stretch>
            <a:fillRect/>
          </a:stretch>
        </p:blipFill>
        <p:spPr>
          <a:xfrm>
            <a:off x="2759710" y="1508125"/>
            <a:ext cx="6269990" cy="1951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模型度量方法</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7" name="矩形 6"/>
              <p:cNvSpPr/>
              <p:nvPr/>
            </p:nvSpPr>
            <p:spPr>
              <a:xfrm>
                <a:off x="773733" y="1290771"/>
                <a:ext cx="10473447" cy="5077460"/>
              </a:xfrm>
              <a:prstGeom prst="rect">
                <a:avLst/>
              </a:prstGeom>
            </p:spPr>
            <p:txBody>
              <a:bodyPr wrap="square">
                <a:spAutoFit/>
              </a:bodyPr>
              <a:lstStyle/>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机器学习模型需要若干性能度量指标来判断其性能优劣。</a:t>
                </a:r>
              </a:p>
              <a:p>
                <a:pPr indent="266700" algn="just" fontAlgn="auto">
                  <a:lnSpc>
                    <a:spcPct val="150000"/>
                  </a:lnSpc>
                  <a:spcAft>
                    <a:spcPts val="0"/>
                  </a:spcAft>
                </a:pPr>
                <a:endPar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下面以二分类问题（正类、负类）为例，介绍几种主要度量方法。</a:t>
                </a:r>
              </a:p>
              <a:p>
                <a:pPr indent="266700" algn="just" fontAlgn="auto">
                  <a:lnSpc>
                    <a:spcPct val="150000"/>
                  </a:lnSpc>
                  <a:spcAft>
                    <a:spcPts val="0"/>
                  </a:spcAft>
                </a:pP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𝑛</m:t>
                    </m:r>
                  </m:oMath>
                </a14:m>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为训练样例的总数，正例总数和负例总数分别是</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𝑃</m:t>
                    </m:r>
                  </m:oMath>
                </a14:m>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(positive)</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和</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𝑁</m:t>
                    </m:r>
                  </m:oMath>
                </a14:m>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(negative)</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p>
              <a:p>
                <a:pPr indent="266700" algn="just" fontAlgn="auto">
                  <a:lnSpc>
                    <a:spcPct val="150000"/>
                  </a:lnSpc>
                  <a:spcAft>
                    <a:spcPts val="0"/>
                  </a:spcAft>
                </a:pPr>
                <a:endPar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机器模型预测类别可分为如下四类：</a:t>
                </a: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真正例（</a:t>
                </a:r>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True Positive, TP</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假正例（</a:t>
                </a:r>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False Positive, FP</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真反例（</a:t>
                </a:r>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True Negative, TN</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假反例（</a:t>
                </a:r>
                <a:r>
                  <a:rPr lang="en-US"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False Negative, FN</a:t>
                </a: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p>
              <a:p>
                <a:pPr indent="266700" algn="just" fontAlgn="auto">
                  <a:lnSpc>
                    <a:spcPct val="150000"/>
                  </a:lnSpc>
                  <a:spcAft>
                    <a:spcPts val="0"/>
                  </a:spcAft>
                </a:pPr>
                <a:endPar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indent="266700" algn="just" fontAlgn="auto">
                  <a:lnSpc>
                    <a:spcPct val="150000"/>
                  </a:lnSpc>
                  <a:spcAft>
                    <a:spcPts val="0"/>
                  </a:spcAft>
                </a:pPr>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令</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𝑇𝑃</m:t>
                    </m:r>
                  </m:oMath>
                </a14:m>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𝐹𝑃</m:t>
                    </m:r>
                  </m:oMath>
                </a14:m>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𝑇𝑁</m:t>
                    </m:r>
                  </m:oMath>
                </a14:m>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14:m>
                  <m:oMath xmlns:m="http://schemas.openxmlformats.org/officeDocument/2006/math">
                    <m:r>
                      <a:rPr lang="en-US" altLang="zh-CN" i="1">
                        <a:solidFill>
                          <a:srgbClr val="000000"/>
                        </a:solidFill>
                        <a:latin typeface="Cambria Math" panose="02040503050406030204" pitchFamily="18" charset="0"/>
                        <a:ea typeface="华文楷体" panose="02010600040101010101" pitchFamily="2" charset="-122"/>
                        <a:cs typeface="Cambria Math" panose="02040503050406030204" pitchFamily="18" charset="0"/>
                      </a:rPr>
                      <m:t>𝐹𝑁</m:t>
                    </m:r>
                  </m:oMath>
                </a14:m>
                <a:r>
                  <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分别表示其对应的样例数</a:t>
                </a:r>
                <a:r>
                  <a:rPr lang="zh-CN" altLang="en-US"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endParaRPr lang="zh-CN" altLang="zh-CN"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773733" y="1290771"/>
                <a:ext cx="10473447" cy="5077460"/>
              </a:xfrm>
              <a:prstGeom prst="rect">
                <a:avLst/>
              </a:prstGeom>
              <a:blipFill rotWithShape="1">
                <a:blip r:embed="rId3"/>
                <a:stretch>
                  <a:fillRect l="-3" t="-9" r="1" b="9"/>
                </a:stretch>
              </a:blipFill>
            </p:spPr>
            <p:txBody>
              <a:bodyPr/>
              <a:lstStyle/>
              <a:p>
                <a:r>
                  <a:rPr lang="zh-CN" altLang="en-US">
                    <a:noFill/>
                  </a:rPr>
                  <a:t> </a:t>
                </a:r>
              </a:p>
            </p:txBody>
          </p:sp>
        </mc:Fallback>
      </mc:AlternateContent>
      <p:sp>
        <p:nvSpPr>
          <p:cNvPr id="6" name="文本框 5"/>
          <p:cNvSpPr txBox="1"/>
          <p:nvPr/>
        </p:nvSpPr>
        <p:spPr>
          <a:xfrm>
            <a:off x="3048000" y="3242310"/>
            <a:ext cx="6096000" cy="373380"/>
          </a:xfrm>
          <a:prstGeom prst="rect">
            <a:avLst/>
          </a:prstGeom>
          <a:noFill/>
        </p:spPr>
        <p:txBody>
          <a:bodyPr wrap="square" rtlCol="0">
            <a:spAutoFit/>
          </a:bodyPr>
          <a:lstStyle/>
          <a:p>
            <a:pPr indent="266700" algn="just">
              <a:lnSpc>
                <a:spcPts val="2200"/>
              </a:lnSpc>
              <a:spcAft>
                <a:spcPts val="0"/>
              </a:spcAft>
            </a:pPr>
            <a:endParaRPr lang="zh-CN" alt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6931" y="3615442"/>
            <a:ext cx="5071354" cy="1952602"/>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模型度量方法</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13" name="矩形: 圆角 6"/>
          <p:cNvSpPr/>
          <p:nvPr/>
        </p:nvSpPr>
        <p:spPr>
          <a:xfrm>
            <a:off x="997585" y="1731010"/>
            <a:ext cx="9878060" cy="4695825"/>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p:cNvSpPr/>
              <p:nvPr/>
            </p:nvSpPr>
            <p:spPr>
              <a:xfrm>
                <a:off x="1389380" y="1816735"/>
                <a:ext cx="9325610" cy="4300220"/>
              </a:xfrm>
              <a:prstGeom prst="rect">
                <a:avLst/>
              </a:prstGeom>
            </p:spPr>
            <p:txBody>
              <a:bodyPr wrap="square">
                <a:noAutofit/>
              </a:bodyPr>
              <a:lstStyle/>
              <a:p>
                <a:pPr marL="342900" indent="-342900" fontAlgn="auto">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准确率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(accuracy)</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smtClean="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r>
                      <a:rPr lang="en-US" altLang="zh-CN" b="1" smtClean="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𝑇𝑁</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𝑁</m:t>
                        </m:r>
                      </m:den>
                    </m:f>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。很显然，如果正负样本比例不平衡，</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不是一个度量模型好的方法。比如，某一种恶性疾病很罕见（如</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万个疑似患者中仅有</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人罹患该疾病），机器学习模型可将所有患者均识别为负类，从而保证</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取值极高，但这就忽略了这一模型应该关注的问题。</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fontAlgn="auto">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错误率（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error rate</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𝑒𝑟𝑟𝑜𝑟𝑅𝑎𝑡𝑒</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𝐹𝑁</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𝑁</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，显然有</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𝑒𝑟𝑟𝑜𝑟𝑅𝑎𝑡𝑒</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𝐴𝐶𝐶</m:t>
                    </m:r>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fontAlgn="auto">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精确率（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precision</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𝑝𝑟𝑒𝑐𝑖𝑠𝑖𝑜𝑛</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𝐹𝑃</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，也叫查准率，表示被模型预测为正例的样本中实际为正例的比例。</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fontAlgn="auto">
                  <a:lnSpc>
                    <a:spcPct val="1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召回率（</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Recall</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𝑟𝑒𝑐𝑎𝑙𝑙</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𝑇𝑃</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𝐹𝑁</m:t>
                        </m:r>
                      </m:den>
                    </m:f>
                  </m:oMath>
                </a14:m>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，也叫查全率，表示所有正例样本中被模型预测为正例的比例。</a:t>
                </a:r>
              </a:p>
            </p:txBody>
          </p:sp>
        </mc:Choice>
        <mc:Fallback xmlns="">
          <p:sp>
            <p:nvSpPr>
              <p:cNvPr id="14" name="矩形 13"/>
              <p:cNvSpPr>
                <a:spLocks noRot="1" noChangeAspect="1" noMove="1" noResize="1" noEditPoints="1" noAdjustHandles="1" noChangeArrowheads="1" noChangeShapeType="1" noTextEdit="1"/>
              </p:cNvSpPr>
              <p:nvPr/>
            </p:nvSpPr>
            <p:spPr>
              <a:xfrm>
                <a:off x="1389380" y="1816735"/>
                <a:ext cx="9325610" cy="4300220"/>
              </a:xfrm>
              <a:prstGeom prst="rect">
                <a:avLst/>
              </a:prstGeom>
              <a:blipFill rotWithShape="1">
                <a:blip r:embed="rId3"/>
                <a:stretch>
                  <a:fillRect b="-3721"/>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模型度量方法</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9" name="内容占位符 8"/>
              <p:cNvSpPr>
                <a:spLocks noGrp="1"/>
              </p:cNvSpPr>
              <p:nvPr>
                <p:ph sz="quarter" idx="1"/>
              </p:nvPr>
            </p:nvSpPr>
            <p:spPr>
              <a:xfrm>
                <a:off x="838200" y="1610360"/>
                <a:ext cx="10515600" cy="4351338"/>
              </a:xfrm>
            </p:spPr>
            <p:txBody>
              <a:bodyPr>
                <a:normAutofit fontScale="92500" lnSpcReduction="20000"/>
              </a:bodyPr>
              <a:lstStyle/>
              <a:p>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在实际应用中，精确率和召回率之间是相互矛盾的</a:t>
                </a:r>
                <a:endParaRPr kumimoji="1" lang="en-US" altLang="zh-CN" dirty="0">
                  <a:latin typeface="华文楷体" panose="02010600040101010101" pitchFamily="2" charset="-122"/>
                  <a:ea typeface="华文楷体" panose="02010600040101010101" pitchFamily="2" charset="-122"/>
                  <a:cs typeface="华文楷体" panose="02010600040101010101" pitchFamily="2" charset="-122"/>
                </a:endParaRPr>
              </a:p>
              <a:p>
                <a:endParaRPr kumimoji="1" lang="en-US" altLang="zh-CN" dirty="0">
                  <a:latin typeface="华文楷体" panose="02010600040101010101" pitchFamily="2" charset="-122"/>
                  <a:ea typeface="华文楷体" panose="02010600040101010101" pitchFamily="2" charset="-122"/>
                  <a:cs typeface="华文楷体" panose="02010600040101010101" pitchFamily="2" charset="-122"/>
                </a:endParaRPr>
              </a:p>
              <a:p>
                <a:pPr lvl="1"/>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例：将所有样本分类为正例</a:t>
                </a:r>
                <a:endParaRPr kumimoji="1" lang="en-US" altLang="zh-CN" dirty="0">
                  <a:latin typeface="华文楷体" panose="02010600040101010101" pitchFamily="2" charset="-122"/>
                  <a:ea typeface="华文楷体" panose="02010600040101010101" pitchFamily="2" charset="-122"/>
                  <a:cs typeface="华文楷体" panose="02010600040101010101" pitchFamily="2" charset="-122"/>
                </a:endParaRPr>
              </a:p>
              <a:p>
                <a:pPr lvl="2"/>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召回率：</a:t>
                </a:r>
                <a:r>
                  <a:rPr kumimoji="1" lang="en-US" altLang="zh-CN" dirty="0">
                    <a:latin typeface="华文楷体" panose="02010600040101010101" pitchFamily="2" charset="-122"/>
                    <a:ea typeface="华文楷体" panose="02010600040101010101" pitchFamily="2" charset="-122"/>
                    <a:cs typeface="华文楷体" panose="02010600040101010101" pitchFamily="2" charset="-122"/>
                  </a:rPr>
                  <a:t>100%</a:t>
                </a:r>
              </a:p>
              <a:p>
                <a:pPr lvl="2"/>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精确率：极低</a:t>
                </a:r>
                <a:endParaRPr kumimoji="1" lang="en-US" altLang="zh-CN" dirty="0">
                  <a:latin typeface="华文楷体" panose="02010600040101010101" pitchFamily="2" charset="-122"/>
                  <a:ea typeface="华文楷体" panose="02010600040101010101" pitchFamily="2" charset="-122"/>
                  <a:cs typeface="华文楷体" panose="02010600040101010101" pitchFamily="2" charset="-122"/>
                </a:endParaRPr>
              </a:p>
              <a:p>
                <a:pPr lvl="1"/>
                <a:endParaRPr kumimoji="1" lang="en-US" altLang="zh-CN" dirty="0">
                  <a:latin typeface="华文楷体" panose="02010600040101010101" pitchFamily="2" charset="-122"/>
                  <a:ea typeface="华文楷体" panose="02010600040101010101" pitchFamily="2" charset="-122"/>
                  <a:cs typeface="华文楷体" panose="02010600040101010101" pitchFamily="2" charset="-122"/>
                </a:endParaRPr>
              </a:p>
              <a:p>
                <a:pPr lvl="1"/>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为了综合考虑精确率和召回率，可采用</a:t>
                </a:r>
                <a:r>
                  <a:rPr kumimoji="1" lang="en-GB" altLang="zh-CN" dirty="0">
                    <a:latin typeface="华文楷体" panose="02010600040101010101" pitchFamily="2" charset="-122"/>
                    <a:ea typeface="华文楷体" panose="02010600040101010101" pitchFamily="2" charset="-122"/>
                    <a:cs typeface="华文楷体" panose="02010600040101010101" pitchFamily="2" charset="-122"/>
                  </a:rPr>
                  <a:t>F1-score</a:t>
                </a:r>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这一综合分类率：</a:t>
                </a:r>
              </a:p>
              <a:p>
                <a:endParaRPr kumimoji="1" lang="zh-CN" altLang="en-US" dirty="0">
                  <a:latin typeface="华文楷体" panose="02010600040101010101" pitchFamily="2" charset="-122"/>
                  <a:ea typeface="华文楷体" panose="02010600040101010101" pitchFamily="2" charset="-122"/>
                  <a:cs typeface="华文楷体" panose="02010600040101010101" pitchFamily="2" charset="-122"/>
                </a:endParaRPr>
              </a:p>
              <a:p>
                <a:pPr marL="0" indent="0">
                  <a:buNone/>
                </a:pPr>
                <a14:m>
                  <m:oMathPara xmlns:m="http://schemas.openxmlformats.org/officeDocument/2006/math">
                    <m:oMathParaPr>
                      <m:jc m:val="centerGroup"/>
                    </m:oMathParaPr>
                    <m:oMath xmlns:m="http://schemas.openxmlformats.org/officeDocument/2006/math">
                      <m:r>
                        <m:rPr>
                          <m:sty m:val="p"/>
                        </m:rPr>
                        <a:rPr kumimoji="1" lang="en-US" altLang="zh-CN" sz="2000" b="0" i="0" dirty="0" smtClean="0">
                          <a:latin typeface="Cambria Math" panose="02040503050406030204" pitchFamily="18" charset="0"/>
                          <a:ea typeface="华文楷体" panose="02010600040101010101" pitchFamily="2" charset="-122"/>
                          <a:cs typeface="Cambria Math" panose="02040503050406030204" pitchFamily="18" charset="0"/>
                        </a:rPr>
                        <m:t>F</m:t>
                      </m:r>
                      <m:r>
                        <a:rPr kumimoji="1" lang="en-US" altLang="zh-CN" sz="2000" b="0" i="1" dirty="0" smtClean="0">
                          <a:latin typeface="Cambria Math" panose="02040503050406030204" pitchFamily="18" charset="0"/>
                          <a:ea typeface="MS Mincho" charset="0"/>
                          <a:cs typeface="Cambria Math" panose="02040503050406030204" pitchFamily="18" charset="0"/>
                        </a:rPr>
                        <m:t>1</m:t>
                      </m:r>
                      <m:r>
                        <m:rPr>
                          <m:lit/>
                        </m:rPr>
                        <a:rPr kumimoji="1" lang="en-US" altLang="zh-CN" sz="2000" b="0" i="1" dirty="0" smtClean="0">
                          <a:latin typeface="Cambria Math" panose="02040503050406030204" pitchFamily="18" charset="0"/>
                          <a:ea typeface="MS Mincho" charset="0"/>
                          <a:cs typeface="Cambria Math" panose="02040503050406030204" pitchFamily="18" charset="0"/>
                        </a:rPr>
                        <m:t>−</m:t>
                      </m:r>
                      <m:r>
                        <a:rPr kumimoji="1" lang="en-US" altLang="zh-CN" sz="2000" b="0" i="1" dirty="0" smtClean="0">
                          <a:latin typeface="Cambria Math" panose="02040503050406030204" pitchFamily="18" charset="0"/>
                          <a:ea typeface="华文楷体" panose="02010600040101010101" pitchFamily="2" charset="-122"/>
                          <a:cs typeface="Cambria Math" panose="02040503050406030204" pitchFamily="18" charset="0"/>
                        </a:rPr>
                        <m:t>𝑠𝑐𝑜𝑟𝑒</m:t>
                      </m:r>
                      <m:r>
                        <a:rPr kumimoji="1" lang="en-US" altLang="zh-CN" sz="2000" b="0" i="1" dirty="0" smtClean="0">
                          <a:latin typeface="Cambria Math" panose="02040503050406030204" pitchFamily="18" charset="0"/>
                          <a:ea typeface="MS Mincho" charset="0"/>
                          <a:cs typeface="Cambria Math" panose="02040503050406030204" pitchFamily="18" charset="0"/>
                        </a:rPr>
                        <m:t>=</m:t>
                      </m:r>
                      <m:f>
                        <m:fPr>
                          <m:ctrlP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ctrlPr>
                        </m:fPr>
                        <m:num>
                          <m:r>
                            <a:rPr kumimoji="1" lang="en-GB" altLang="zh-CN" sz="2000" i="1" dirty="0" smtClean="0">
                              <a:latin typeface="Cambria Math" panose="02040503050406030204" pitchFamily="18" charset="0"/>
                              <a:ea typeface="MS Mincho" charset="0"/>
                              <a:cs typeface="Cambria Math" panose="02040503050406030204" pitchFamily="18" charset="0"/>
                            </a:rPr>
                            <m:t>2</m:t>
                          </m:r>
                        </m:num>
                        <m:den>
                          <m:f>
                            <m:fPr>
                              <m:ctrlP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ctrlPr>
                            </m:fPr>
                            <m:num>
                              <m:r>
                                <a:rPr kumimoji="1" lang="en-GB" altLang="zh-CN" sz="2000" i="1" dirty="0" smtClean="0">
                                  <a:latin typeface="Cambria Math" panose="02040503050406030204" pitchFamily="18" charset="0"/>
                                  <a:ea typeface="MS Mincho" charset="0"/>
                                  <a:cs typeface="Cambria Math" panose="02040503050406030204" pitchFamily="18" charset="0"/>
                                </a:rPr>
                                <m:t>1</m:t>
                              </m:r>
                            </m:num>
                            <m:den>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𝑃𝑟𝑒𝑐𝑖𝑠𝑖𝑜𝑛</m:t>
                              </m:r>
                            </m:den>
                          </m:f>
                          <m:r>
                            <a:rPr kumimoji="1" lang="en-GB" altLang="zh-CN" sz="2000" i="1" dirty="0" smtClean="0">
                              <a:latin typeface="Cambria Math" panose="02040503050406030204" pitchFamily="18" charset="0"/>
                              <a:ea typeface="MS Mincho" charset="0"/>
                              <a:cs typeface="Cambria Math" panose="02040503050406030204" pitchFamily="18" charset="0"/>
                            </a:rPr>
                            <m:t>+</m:t>
                          </m:r>
                          <m:f>
                            <m:fPr>
                              <m:ctrlP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ctrlPr>
                            </m:fPr>
                            <m:num>
                              <m:r>
                                <a:rPr kumimoji="1" lang="en-GB" altLang="zh-CN" sz="2000" i="1" dirty="0" smtClean="0">
                                  <a:latin typeface="Cambria Math" panose="02040503050406030204" pitchFamily="18" charset="0"/>
                                  <a:ea typeface="MS Mincho" charset="0"/>
                                  <a:cs typeface="Cambria Math" panose="02040503050406030204" pitchFamily="18" charset="0"/>
                                </a:rPr>
                                <m:t>1</m:t>
                              </m:r>
                            </m:num>
                            <m:den>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𝑅𝑒𝑐𝑎𝑙𝑙</m:t>
                              </m:r>
                            </m:den>
                          </m:f>
                        </m:den>
                      </m:f>
                      <m:r>
                        <a:rPr kumimoji="1" lang="en-GB" altLang="zh-CN" sz="2000" i="1" dirty="0" smtClean="0">
                          <a:latin typeface="Cambria Math" panose="02040503050406030204" pitchFamily="18" charset="0"/>
                          <a:ea typeface="MS Mincho" charset="0"/>
                          <a:cs typeface="Cambria Math" panose="02040503050406030204" pitchFamily="18" charset="0"/>
                        </a:rPr>
                        <m:t>=2×</m:t>
                      </m:r>
                      <m:f>
                        <m:fPr>
                          <m:ctrlP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ctrlPr>
                        </m:fPr>
                        <m:num>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𝑃𝑟𝑒𝑐𝑖𝑠𝑖𝑜𝑛</m:t>
                          </m:r>
                          <m:r>
                            <a:rPr kumimoji="1" lang="en-GB" altLang="zh-CN" sz="2000" i="1" dirty="0" smtClean="0">
                              <a:latin typeface="Cambria Math" panose="02040503050406030204" pitchFamily="18" charset="0"/>
                              <a:ea typeface="MS Mincho" charset="0"/>
                              <a:cs typeface="Cambria Math" panose="02040503050406030204" pitchFamily="18" charset="0"/>
                            </a:rPr>
                            <m:t>×</m:t>
                          </m:r>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𝑅𝑒𝑐𝑎𝑙𝑙</m:t>
                          </m:r>
                        </m:num>
                        <m:den>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𝑃𝑟𝑒𝑐𝑖𝑠𝑖𝑜𝑛</m:t>
                          </m:r>
                          <m:r>
                            <a:rPr kumimoji="1" lang="en-GB" altLang="zh-CN" sz="2000" i="1" dirty="0" smtClean="0">
                              <a:latin typeface="Cambria Math" panose="02040503050406030204" pitchFamily="18" charset="0"/>
                              <a:ea typeface="MS Mincho" charset="0"/>
                              <a:cs typeface="Cambria Math" panose="02040503050406030204" pitchFamily="18" charset="0"/>
                            </a:rPr>
                            <m:t>+</m:t>
                          </m:r>
                          <m:r>
                            <a:rPr kumimoji="1" lang="en-GB" altLang="zh-CN" sz="2000" i="1" dirty="0" smtClean="0">
                              <a:latin typeface="Cambria Math" panose="02040503050406030204" pitchFamily="18" charset="0"/>
                              <a:ea typeface="华文楷体" panose="02010600040101010101" pitchFamily="2" charset="-122"/>
                              <a:cs typeface="Cambria Math" panose="02040503050406030204" pitchFamily="18" charset="0"/>
                            </a:rPr>
                            <m:t>𝑅𝑒𝑐𝑎𝑙𝑙</m:t>
                          </m:r>
                        </m:den>
                      </m:f>
                    </m:oMath>
                  </m:oMathPara>
                </a14:m>
                <a:endParaRPr kumimoji="1" lang="en-GB" altLang="zh-CN" dirty="0">
                  <a:latin typeface="华文楷体" panose="02010600040101010101" pitchFamily="2" charset="-122"/>
                  <a:ea typeface="华文楷体" panose="02010600040101010101" pitchFamily="2" charset="-122"/>
                  <a:cs typeface="华文楷体" panose="02010600040101010101" pitchFamily="2" charset="-122"/>
                </a:endParaRPr>
              </a:p>
              <a:p>
                <a:endParaRPr kumimoji="1" lang="en-GB" altLang="zh-CN" dirty="0">
                  <a:latin typeface="华文楷体" panose="02010600040101010101" pitchFamily="2" charset="-122"/>
                  <a:ea typeface="华文楷体" panose="02010600040101010101" pitchFamily="2" charset="-122"/>
                  <a:cs typeface="华文楷体" panose="02010600040101010101" pitchFamily="2" charset="-122"/>
                </a:endParaRPr>
              </a:p>
              <a:p>
                <a:r>
                  <a:rPr kumimoji="1" lang="en-GB" altLang="zh-CN" dirty="0">
                    <a:latin typeface="华文楷体" panose="02010600040101010101" pitchFamily="2" charset="-122"/>
                    <a:ea typeface="华文楷体" panose="02010600040101010101" pitchFamily="2" charset="-122"/>
                    <a:cs typeface="华文楷体" panose="02010600040101010101" pitchFamily="2" charset="-122"/>
                  </a:rPr>
                  <a:t>F1-score</a:t>
                </a:r>
                <a:r>
                  <a:rPr kumimoji="1" lang="zh-CN" altLang="en-US" dirty="0">
                    <a:latin typeface="华文楷体" panose="02010600040101010101" pitchFamily="2" charset="-122"/>
                    <a:ea typeface="华文楷体" panose="02010600040101010101" pitchFamily="2" charset="-122"/>
                    <a:cs typeface="华文楷体" panose="02010600040101010101" pitchFamily="2" charset="-122"/>
                  </a:rPr>
                  <a:t>是精确率和召回率的调和平均数</a:t>
                </a:r>
              </a:p>
              <a:p>
                <a:endParaRPr kumimoji="1" lang="zh-CN" altLang="en-US" dirty="0">
                  <a:latin typeface="华文楷体" panose="02010600040101010101" pitchFamily="2" charset="-122"/>
                  <a:ea typeface="华文楷体" panose="02010600040101010101" pitchFamily="2" charset="-122"/>
                  <a:cs typeface="华文楷体" panose="02010600040101010101" pitchFamily="2" charset="-122"/>
                </a:endParaRPr>
              </a:p>
            </p:txBody>
          </p:sp>
        </mc:Choice>
        <mc:Fallback xmlns="">
          <p:sp>
            <p:nvSpPr>
              <p:cNvPr id="9" name="内容占位符 8"/>
              <p:cNvSpPr>
                <a:spLocks noGrp="1" noRot="1" noChangeAspect="1" noMove="1" noResize="1" noEditPoints="1" noAdjustHandles="1" noChangeArrowheads="1" noChangeShapeType="1" noTextEdit="1"/>
              </p:cNvSpPr>
              <p:nvPr>
                <p:ph sz="quarter" idx="1"/>
              </p:nvPr>
            </p:nvSpPr>
            <p:spPr>
              <a:xfrm>
                <a:off x="838200" y="1610360"/>
                <a:ext cx="10515600" cy="4351338"/>
              </a:xfr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参数优化：频率学派与贝叶斯学派</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9" name="矩形: 圆角 6"/>
          <p:cNvSpPr/>
          <p:nvPr/>
        </p:nvSpPr>
        <p:spPr>
          <a:xfrm>
            <a:off x="594543" y="2075156"/>
            <a:ext cx="4880341" cy="3853425"/>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矩形 9"/>
          <p:cNvSpPr/>
          <p:nvPr/>
        </p:nvSpPr>
        <p:spPr>
          <a:xfrm>
            <a:off x="734530" y="2011752"/>
            <a:ext cx="4740354" cy="4129144"/>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频率学派</a:t>
            </a: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频率学派中，频率是概率的经验基础，概率表示的是事件发生频率的极限值。当重复试验的次数趋近于无穷大时，事件发生的频率会收敛到真实概率，即“频率依概率收敛于概率”。从频率学派角度而言，对模型参数优化学习的结果就是得到使观测数据发生概率最大的模型参数，又称为</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最大似然估计（</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maximum likelihood estimation</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MLE</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。这里的最大似然可理解为通过调整模型参数使得模型能够最大化样本情况出现的概率。</a:t>
            </a:r>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圆角 6"/>
          <p:cNvSpPr/>
          <p:nvPr/>
        </p:nvSpPr>
        <p:spPr>
          <a:xfrm>
            <a:off x="6658645" y="2011752"/>
            <a:ext cx="4880341" cy="3980439"/>
          </a:xfrm>
          <a:prstGeom prst="roundRect">
            <a:avLst>
              <a:gd name="adj" fmla="val 0"/>
            </a:avLst>
          </a:prstGeom>
          <a:solidFill>
            <a:srgbClr val="24569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矩形 12"/>
          <p:cNvSpPr/>
          <p:nvPr/>
        </p:nvSpPr>
        <p:spPr>
          <a:xfrm>
            <a:off x="6798631" y="1948348"/>
            <a:ext cx="4798825" cy="4406143"/>
          </a:xfrm>
          <a:prstGeom prst="rect">
            <a:avLst/>
          </a:prstGeom>
        </p:spPr>
        <p:txBody>
          <a:bodyPr wrap="square">
            <a:spAutoFit/>
          </a:bodyPr>
          <a:lstStyle/>
          <a:p>
            <a:pPr algn="ct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贝叶斯学派</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pPr algn="just"/>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在贝叶斯学派中，事件发生的频率既与当前观测数据有关，又与对该事件已获得的历史先验知识有关。从贝叶斯学派角度而言，对模型参数优化学习的结果就是</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似然概率（模型参数产生数据的概率）与先验概率（没有任何实验数据时对模型参数的经验判断）乘积最大</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，又称为</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最大后验估计（</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maximum a posteriori estimation, MAP</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。这里的最大后验估计可理解为最大化在给定数据样本的情况下模型参数的后验概率。</a:t>
            </a:r>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lnSpc>
                <a:spcPct val="250000"/>
              </a:lnSpc>
              <a:buClr>
                <a:schemeClr val="bg1"/>
              </a:buClr>
              <a:buSzPct val="80000"/>
            </a:pPr>
            <a:endPar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参数优化：频率学派与贝叶斯学派</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6" name="图片 5"/>
          <p:cNvPicPr>
            <a:picLocks noChangeAspect="1"/>
          </p:cNvPicPr>
          <p:nvPr/>
        </p:nvPicPr>
        <p:blipFill>
          <a:blip r:embed="rId3"/>
          <a:stretch>
            <a:fillRect/>
          </a:stretch>
        </p:blipFill>
        <p:spPr>
          <a:xfrm>
            <a:off x="997585" y="1370330"/>
            <a:ext cx="5339080" cy="4805680"/>
          </a:xfrm>
          <a:prstGeom prst="rect">
            <a:avLst/>
          </a:prstGeom>
        </p:spPr>
      </p:pic>
      <p:pic>
        <p:nvPicPr>
          <p:cNvPr id="7" name="图片 6"/>
          <p:cNvPicPr>
            <a:picLocks noChangeAspect="1"/>
          </p:cNvPicPr>
          <p:nvPr/>
        </p:nvPicPr>
        <p:blipFill>
          <a:blip r:embed="rId4"/>
          <a:stretch>
            <a:fillRect/>
          </a:stretch>
        </p:blipFill>
        <p:spPr>
          <a:xfrm>
            <a:off x="6388100" y="2297430"/>
            <a:ext cx="5143500" cy="34105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3869989" y="1594509"/>
            <a:ext cx="4452022" cy="4487848"/>
            <a:chOff x="3872379" y="1383943"/>
            <a:chExt cx="4452022" cy="4487848"/>
          </a:xfrm>
        </p:grpSpPr>
        <p:sp>
          <p:nvSpPr>
            <p:cNvPr id="3" name="Freeform 5"/>
            <p:cNvSpPr/>
            <p:nvPr>
              <p:custDataLst>
                <p:tags r:id="rId7"/>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custDataLst>
                <p:tags r:id="rId8"/>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custDataLst>
                <p:tags r:id="rId9"/>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custDataLst>
                <p:tags r:id="rId10"/>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custDataLst>
                  <p:tags r:id="rId21"/>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custDataLst>
                  <p:tags r:id="rId22"/>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custDataLst>
                  <p:tags r:id="rId23"/>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custDataLst>
                  <p:tags r:id="rId19"/>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custDataLst>
                  <p:tags r:id="rId20"/>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custDataLst>
                  <p:tags r:id="rId16"/>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custDataLst>
                  <p:tags r:id="rId17"/>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custDataLst>
                  <p:tags r:id="rId18"/>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custDataLst>
                <p:tags r:id="rId11"/>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custDataLst>
                <p:tags r:id="rId12"/>
              </p:custDataLst>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custDataLst>
                <p:tags r:id="rId13"/>
              </p:custDataLst>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custDataLst>
                <p:tags r:id="rId14"/>
              </p:custDataLst>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custDataLst>
                <p:tags r:id="rId15"/>
              </p:custDataLst>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2"/>
            </p:custDataLst>
          </p:nvPr>
        </p:nvGrpSpPr>
        <p:grpSpPr>
          <a:xfrm>
            <a:off x="1445407" y="2526644"/>
            <a:ext cx="2892852" cy="823738"/>
            <a:chOff x="656868" y="2381121"/>
            <a:chExt cx="2892852" cy="823738"/>
          </a:xfrm>
        </p:grpSpPr>
        <p:sp>
          <p:nvSpPr>
            <p:cNvPr id="24" name="文本框 23"/>
            <p:cNvSpPr txBox="1"/>
            <p:nvPr>
              <p:custDataLst>
                <p:tags r:id="rId6"/>
              </p:custDataLst>
            </p:nvPr>
          </p:nvSpPr>
          <p:spPr>
            <a:xfrm>
              <a:off x="928440" y="2381121"/>
              <a:ext cx="2621280" cy="460375"/>
            </a:xfrm>
            <a:prstGeom prst="rect">
              <a:avLst/>
            </a:prstGeom>
            <a:noFill/>
          </p:spPr>
          <p:txBody>
            <a:bodyPr wrap="none" rtlCol="0">
              <a:spAutoFit/>
            </a:bodyPr>
            <a:lstStyle/>
            <a:p>
              <a:r>
                <a:rPr lang="zh-CN" altLang="en-US" sz="2400" b="1" dirty="0">
                  <a:solidFill>
                    <a:srgbClr val="24569D"/>
                  </a:solidFill>
                </a:rPr>
                <a:t>机器学习基本概念</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p:cNvSpPr txBox="1"/>
          <p:nvPr>
            <p:custDataLst>
              <p:tags r:id="rId3"/>
            </p:custDataLst>
          </p:nvPr>
        </p:nvSpPr>
        <p:spPr>
          <a:xfrm>
            <a:off x="8551048" y="4920321"/>
            <a:ext cx="1097280" cy="460375"/>
          </a:xfrm>
          <a:prstGeom prst="rect">
            <a:avLst/>
          </a:prstGeom>
          <a:noFill/>
        </p:spPr>
        <p:txBody>
          <a:bodyPr wrap="none" rtlCol="0">
            <a:spAutoFit/>
          </a:bodyPr>
          <a:lstStyle/>
          <a:p>
            <a:r>
              <a:rPr lang="zh-CN" altLang="en-US" sz="2400" b="1" dirty="0">
                <a:solidFill>
                  <a:srgbClr val="24569D"/>
                </a:solidFill>
              </a:rPr>
              <a:t>决策树</a:t>
            </a:r>
          </a:p>
        </p:txBody>
      </p:sp>
      <p:sp>
        <p:nvSpPr>
          <p:cNvPr id="31" name="文本框 30"/>
          <p:cNvSpPr txBox="1"/>
          <p:nvPr>
            <p:custDataLst>
              <p:tags r:id="rId4"/>
            </p:custDataLst>
          </p:nvPr>
        </p:nvSpPr>
        <p:spPr>
          <a:xfrm>
            <a:off x="1743730" y="4865798"/>
            <a:ext cx="1402080" cy="460375"/>
          </a:xfrm>
          <a:prstGeom prst="rect">
            <a:avLst/>
          </a:prstGeom>
          <a:noFill/>
        </p:spPr>
        <p:txBody>
          <a:bodyPr wrap="none" rtlCol="0">
            <a:spAutoFit/>
          </a:bodyPr>
          <a:lstStyle/>
          <a:p>
            <a:r>
              <a:rPr lang="zh-CN" altLang="en-US" sz="2400" b="1" dirty="0">
                <a:solidFill>
                  <a:srgbClr val="24569D"/>
                </a:solidFill>
              </a:rPr>
              <a:t>回归分析</a:t>
            </a:r>
          </a:p>
        </p:txBody>
      </p:sp>
      <p:sp>
        <p:nvSpPr>
          <p:cNvPr id="34" name="文本框 33"/>
          <p:cNvSpPr txBox="1"/>
          <p:nvPr>
            <p:custDataLst>
              <p:tags r:id="rId5"/>
            </p:custDataLst>
          </p:nvPr>
        </p:nvSpPr>
        <p:spPr>
          <a:xfrm>
            <a:off x="8551048" y="2586871"/>
            <a:ext cx="1706880" cy="460375"/>
          </a:xfrm>
          <a:prstGeom prst="rect">
            <a:avLst/>
          </a:prstGeom>
          <a:noFill/>
        </p:spPr>
        <p:txBody>
          <a:bodyPr wrap="none" rtlCol="0">
            <a:spAutoFit/>
          </a:bodyPr>
          <a:lstStyle/>
          <a:p>
            <a:r>
              <a:rPr lang="zh-CN" altLang="en-US" sz="2400" b="1" dirty="0">
                <a:solidFill>
                  <a:srgbClr val="FF0000"/>
                </a:solidFill>
              </a:rPr>
              <a:t>有监督学习</a:t>
            </a: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5166430" y="1280535"/>
            <a:ext cx="7647690" cy="5017876"/>
            <a:chOff x="320634" y="1047733"/>
            <a:chExt cx="8110848" cy="3763405"/>
          </a:xfrm>
        </p:grpSpPr>
        <p:sp>
          <p:nvSpPr>
            <p:cNvPr id="16" name="圆角矩形 20"/>
            <p:cNvSpPr/>
            <p:nvPr/>
          </p:nvSpPr>
          <p:spPr bwMode="auto">
            <a:xfrm>
              <a:off x="1199410" y="2529819"/>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图像数据</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7" name="图片 17" descr="semantic g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8892" y="1242215"/>
              <a:ext cx="1875133" cy="986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减号 17"/>
            <p:cNvSpPr/>
            <p:nvPr/>
          </p:nvSpPr>
          <p:spPr bwMode="auto">
            <a:xfrm>
              <a:off x="320634" y="2854107"/>
              <a:ext cx="8110848" cy="321013"/>
            </a:xfrm>
            <a:prstGeom prst="mathMinu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30000"/>
                </a:spcBef>
                <a:spcAft>
                  <a:spcPct val="0"/>
                </a:spcAft>
                <a:buClrTx/>
                <a:buSzTx/>
                <a:buFontTx/>
                <a:buNone/>
              </a:pPr>
              <a:endParaRPr kumimoji="0" lang="zh-CN" altLang="en-US" sz="12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圆角矩形 24"/>
            <p:cNvSpPr/>
            <p:nvPr/>
          </p:nvSpPr>
          <p:spPr bwMode="auto">
            <a:xfrm>
              <a:off x="1204071" y="4570773"/>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文本数据</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892" y="3306808"/>
              <a:ext cx="1875134" cy="1132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右箭头 1"/>
            <p:cNvSpPr/>
            <p:nvPr/>
          </p:nvSpPr>
          <p:spPr>
            <a:xfrm>
              <a:off x="2897579" y="1735707"/>
              <a:ext cx="2707574" cy="318724"/>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2" name="圆角矩形 2"/>
            <p:cNvSpPr/>
            <p:nvPr/>
          </p:nvSpPr>
          <p:spPr>
            <a:xfrm>
              <a:off x="5783282" y="1099037"/>
              <a:ext cx="1330037" cy="134841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Person</a:t>
              </a: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Dog</a:t>
              </a: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2657" y="1066057"/>
              <a:ext cx="106680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9" name="矩形 28"/>
                <p:cNvSpPr/>
                <p:nvPr/>
              </p:nvSpPr>
              <p:spPr>
                <a:xfrm>
                  <a:off x="3012046" y="3462794"/>
                  <a:ext cx="2728023" cy="384962"/>
                </a:xfrm>
                <a:prstGeom prst="rect">
                  <a:avLst/>
                </a:prstGeom>
              </p:spPr>
              <p:txBody>
                <a:bodyPr wrap="none">
                  <a:spAutoFit/>
                </a:bodyPr>
                <a:lstStyle/>
                <a:p>
                  <a14:m>
                    <m:oMath xmlns:m="http://schemas.openxmlformats.org/officeDocument/2006/math">
                      <m:r>
                        <a:rPr lang="en-US" altLang="zh-CN" sz="2800" b="0" i="1" smtClean="0">
                          <a:latin typeface="Cambria Math" panose="02040503050406030204"/>
                          <a:cs typeface="Times New Roman" panose="02020603050405020304" pitchFamily="18" charset="0"/>
                        </a:rPr>
                        <m:t>𝑓</m:t>
                      </m:r>
                      <m:r>
                        <a:rPr lang="en-US" altLang="zh-CN" sz="2800" i="1" smtClean="0">
                          <a:latin typeface="Cambria Math" panose="02040503050406030204"/>
                          <a:cs typeface="Times New Roman" panose="02020603050405020304" pitchFamily="18" charset="0"/>
                        </a:rPr>
                        <m:t> </m:t>
                      </m:r>
                    </m:oMath>
                  </a14:m>
                  <a:r>
                    <a:rPr lang="en-US" altLang="zh-CN" dirty="0">
                      <a:latin typeface="Times New Roman" panose="02020603050405020304" pitchFamily="18" charset="0"/>
                      <a:ea typeface="楷体" panose="02010609060101010101" pitchFamily="49" charset="-122"/>
                      <a:cs typeface="Times New Roman" panose="02020603050405020304" pitchFamily="18" charset="0"/>
                    </a:rPr>
                    <a:t>{car, money, drive,…}</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29" name="矩形 28"/>
                <p:cNvSpPr>
                  <a:spLocks noRot="1" noChangeAspect="1" noMove="1" noResize="1" noEditPoints="1" noAdjustHandles="1" noChangeArrowheads="1" noChangeShapeType="1" noTextEdit="1"/>
                </p:cNvSpPr>
                <p:nvPr/>
              </p:nvSpPr>
              <p:spPr>
                <a:xfrm>
                  <a:off x="3012046" y="3462794"/>
                  <a:ext cx="2728023" cy="384962"/>
                </a:xfrm>
                <a:prstGeom prst="rect">
                  <a:avLst/>
                </a:prstGeom>
                <a:blipFill>
                  <a:blip r:embed="rId5"/>
                  <a:stretch>
                    <a:fillRect r="-1422" b="-13095"/>
                  </a:stretch>
                </a:blipFill>
              </p:spPr>
              <p:txBody>
                <a:bodyPr/>
                <a:lstStyle/>
                <a:p>
                  <a:r>
                    <a:rPr lang="zh-CN" altLang="en-US">
                      <a:noFill/>
                    </a:rPr>
                    <a:t> </a:t>
                  </a:r>
                </a:p>
              </p:txBody>
            </p:sp>
          </mc:Fallback>
        </mc:AlternateContent>
        <p:sp>
          <p:nvSpPr>
            <p:cNvPr id="30" name="右箭头 26"/>
            <p:cNvSpPr/>
            <p:nvPr/>
          </p:nvSpPr>
          <p:spPr>
            <a:xfrm>
              <a:off x="3029203" y="3841583"/>
              <a:ext cx="2872833" cy="318724"/>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 name="圆角矩形 27"/>
            <p:cNvSpPr/>
            <p:nvPr/>
          </p:nvSpPr>
          <p:spPr>
            <a:xfrm>
              <a:off x="5945578" y="3245521"/>
              <a:ext cx="1330037" cy="1117118"/>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喜悦</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愤怒</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l"/>
              </a:pP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圆角矩形 28"/>
            <p:cNvSpPr/>
            <p:nvPr/>
          </p:nvSpPr>
          <p:spPr bwMode="auto">
            <a:xfrm>
              <a:off x="5856875" y="2578577"/>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类别分类</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3" name="圆角矩形 29"/>
            <p:cNvSpPr/>
            <p:nvPr/>
          </p:nvSpPr>
          <p:spPr bwMode="auto">
            <a:xfrm>
              <a:off x="6054796" y="4439084"/>
              <a:ext cx="1111599" cy="24036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a:defRPr/>
              </a:pPr>
              <a:r>
                <a:rPr lang="zh-CN" altLang="en-US" sz="12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情感分类</a:t>
              </a:r>
              <a:endParaRPr lang="en-US" altLang="zh-CN" sz="12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矩形 33"/>
                <p:cNvSpPr/>
                <p:nvPr/>
              </p:nvSpPr>
              <p:spPr>
                <a:xfrm>
                  <a:off x="3184212" y="1047733"/>
                  <a:ext cx="821480" cy="484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3600" i="1">
                            <a:latin typeface="Cambria Math" panose="02040503050406030204"/>
                            <a:cs typeface="Times New Roman" panose="02020603050405020304" pitchFamily="18" charset="0"/>
                          </a:rPr>
                          <m:t>𝑓</m:t>
                        </m:r>
                        <m:r>
                          <m:rPr>
                            <m:nor/>
                          </m:rPr>
                          <a:rPr lang="en-US" altLang="zh-CN" sz="3600" dirty="0">
                            <a:latin typeface="Times New Roman" panose="02020603050405020304" pitchFamily="18" charset="0"/>
                            <a:ea typeface="楷体" panose="02010609060101010101" pitchFamily="49" charset="-122"/>
                            <a:cs typeface="Times New Roman" panose="02020603050405020304" pitchFamily="18" charset="0"/>
                          </a:rPr>
                          <m:t>{</m:t>
                        </m:r>
                      </m:oMath>
                    </m:oMathPara>
                  </a14:m>
                  <a:endParaRPr lang="zh-CN" altLang="en-US" sz="3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4" name="矩形 33"/>
                <p:cNvSpPr>
                  <a:spLocks noRot="1" noChangeAspect="1" noMove="1" noResize="1" noEditPoints="1" noAdjustHandles="1" noChangeArrowheads="1" noChangeShapeType="1" noTextEdit="1"/>
                </p:cNvSpPr>
                <p:nvPr/>
              </p:nvSpPr>
              <p:spPr>
                <a:xfrm>
                  <a:off x="3184212" y="1047733"/>
                  <a:ext cx="821480" cy="484748"/>
                </a:xfrm>
                <a:prstGeom prst="rect">
                  <a:avLst/>
                </a:prstGeom>
                <a:blipFill>
                  <a:blip r:embed="rId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 name="矩形 7"/>
              <p:cNvSpPr/>
              <p:nvPr/>
            </p:nvSpPr>
            <p:spPr>
              <a:xfrm>
                <a:off x="147773" y="1348940"/>
                <a:ext cx="5190995" cy="5220660"/>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监督学习是一种在实践中运用最为广泛的一种机器学习方法，其</a:t>
                </a:r>
                <a:r>
                  <a:rPr lang="zh-CN" altLang="zh-CN" sz="1600" b="1" dirty="0">
                    <a:solidFill>
                      <a:srgbClr val="FF0000"/>
                    </a:solidFill>
                    <a:latin typeface="Times New Roman" panose="02020603050405020304" pitchFamily="18" charset="0"/>
                    <a:ea typeface="楷体_GB2312"/>
                    <a:cs typeface="Times New Roman" panose="02020603050405020304" pitchFamily="18" charset="0"/>
                  </a:rPr>
                  <a:t>目标是给定带有标签信息数据的训练集</a:t>
                </a:r>
                <a14:m>
                  <m:oMath xmlns:m="http://schemas.openxmlformats.org/officeDocument/2006/math">
                    <m:r>
                      <a:rPr lang="en-US" altLang="zh-CN" sz="1600" b="1" i="1">
                        <a:solidFill>
                          <a:srgbClr val="FF0000"/>
                        </a:solidFill>
                        <a:latin typeface="Cambria Math" panose="02040503050406030204" pitchFamily="18" charset="0"/>
                        <a:ea typeface="楷体_GB2312"/>
                        <a:cs typeface="Times New Roman" panose="02020603050405020304" pitchFamily="18" charset="0"/>
                      </a:rPr>
                      <m:t>𝓓</m:t>
                    </m:r>
                    <m:r>
                      <a:rPr lang="en-US" altLang="zh-CN" sz="1600" b="1">
                        <a:solidFill>
                          <a:srgbClr val="FF0000"/>
                        </a:solidFill>
                        <a:latin typeface="Cambria Math" panose="02040503050406030204" pitchFamily="18" charset="0"/>
                        <a:ea typeface="楷体_GB2312"/>
                        <a:cs typeface="Times New Roman" panose="02020603050405020304" pitchFamily="18" charset="0"/>
                      </a:rPr>
                      <m:t>=</m:t>
                    </m:r>
                    <m:sSubSup>
                      <m:sSubSup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FF0000"/>
                                        </a:solidFill>
                                        <a:latin typeface="Cambria Math" panose="02040503050406030204" pitchFamily="18" charset="0"/>
                                        <a:ea typeface="楷体_GB2312"/>
                                        <a:cs typeface="Times New Roman" panose="02020603050405020304" pitchFamily="18" charset="0"/>
                                      </a:rPr>
                                      <m:t>𝒙</m:t>
                                    </m:r>
                                  </m:e>
                                  <m:sub>
                                    <m:r>
                                      <a:rPr lang="en-US" altLang="zh-CN" sz="1600" b="1" i="1">
                                        <a:solidFill>
                                          <a:srgbClr val="FF0000"/>
                                        </a:solidFill>
                                        <a:latin typeface="Cambria Math" panose="02040503050406030204" pitchFamily="18" charset="0"/>
                                        <a:ea typeface="楷体_GB2312"/>
                                        <a:cs typeface="Times New Roman" panose="02020603050405020304" pitchFamily="18" charset="0"/>
                                      </a:rPr>
                                      <m:t>𝒊</m:t>
                                    </m:r>
                                  </m:sub>
                                </m:sSub>
                                <m:r>
                                  <a:rPr lang="en-US" altLang="zh-CN" sz="1600" b="1" i="1">
                                    <a:solidFill>
                                      <a:srgbClr val="FF0000"/>
                                    </a:solidFill>
                                    <a:latin typeface="Cambria Math" panose="02040503050406030204" pitchFamily="18" charset="0"/>
                                    <a:ea typeface="楷体_GB2312"/>
                                    <a:cs typeface="Times New Roman" panose="02020603050405020304" pitchFamily="18" charset="0"/>
                                  </a:rPr>
                                  <m:t>,</m:t>
                                </m:r>
                                <m:sSub>
                                  <m:sSub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FF0000"/>
                                        </a:solidFill>
                                        <a:latin typeface="Cambria Math" panose="02040503050406030204" pitchFamily="18" charset="0"/>
                                        <a:ea typeface="楷体_GB2312"/>
                                        <a:cs typeface="Times New Roman" panose="02020603050405020304" pitchFamily="18" charset="0"/>
                                      </a:rPr>
                                      <m:t>𝒚</m:t>
                                    </m:r>
                                  </m:e>
                                  <m:sub>
                                    <m:r>
                                      <a:rPr lang="en-US" altLang="zh-CN" sz="1600" b="1" i="1">
                                        <a:solidFill>
                                          <a:srgbClr val="FF0000"/>
                                        </a:solidFill>
                                        <a:latin typeface="Cambria Math" panose="02040503050406030204" pitchFamily="18" charset="0"/>
                                        <a:ea typeface="楷体_GB2312"/>
                                        <a:cs typeface="Times New Roman" panose="02020603050405020304" pitchFamily="18" charset="0"/>
                                      </a:rPr>
                                      <m:t>𝒊</m:t>
                                    </m:r>
                                  </m:sub>
                                </m:sSub>
                              </m:e>
                            </m:d>
                          </m:e>
                        </m:d>
                      </m:e>
                      <m:sub>
                        <m:r>
                          <a:rPr lang="en-US" altLang="zh-CN" sz="1600" b="1" i="1">
                            <a:solidFill>
                              <a:srgbClr val="FF0000"/>
                            </a:solidFill>
                            <a:latin typeface="Cambria Math" panose="02040503050406030204" pitchFamily="18" charset="0"/>
                            <a:ea typeface="楷体_GB2312"/>
                            <a:cs typeface="Times New Roman" panose="02020603050405020304" pitchFamily="18" charset="0"/>
                          </a:rPr>
                          <m:t>𝒊</m:t>
                        </m:r>
                        <m:r>
                          <a:rPr lang="en-US" altLang="zh-CN" sz="1600" b="1" i="1">
                            <a:solidFill>
                              <a:srgbClr val="FF0000"/>
                            </a:solidFill>
                            <a:latin typeface="Cambria Math" panose="02040503050406030204" pitchFamily="18" charset="0"/>
                            <a:ea typeface="楷体_GB2312"/>
                            <a:cs typeface="Times New Roman" panose="02020603050405020304" pitchFamily="18" charset="0"/>
                          </a:rPr>
                          <m:t>=</m:t>
                        </m:r>
                        <m:r>
                          <a:rPr lang="en-US" altLang="zh-CN" sz="1600" b="1" i="1">
                            <a:solidFill>
                              <a:srgbClr val="FF0000"/>
                            </a:solidFill>
                            <a:latin typeface="Cambria Math" panose="02040503050406030204" pitchFamily="18" charset="0"/>
                            <a:ea typeface="楷体_GB2312"/>
                            <a:cs typeface="Times New Roman" panose="02020603050405020304" pitchFamily="18" charset="0"/>
                          </a:rPr>
                          <m:t>𝟏</m:t>
                        </m:r>
                      </m:sub>
                      <m:sup>
                        <m:r>
                          <a:rPr lang="en-US" altLang="zh-CN" sz="1600" b="1" i="1">
                            <a:solidFill>
                              <a:srgbClr val="FF0000"/>
                            </a:solidFill>
                            <a:latin typeface="Cambria Math" panose="02040503050406030204" pitchFamily="18" charset="0"/>
                            <a:ea typeface="楷体_GB2312"/>
                            <a:cs typeface="Times New Roman" panose="02020603050405020304" pitchFamily="18" charset="0"/>
                          </a:rPr>
                          <m:t>𝒏</m:t>
                        </m:r>
                      </m:sup>
                    </m:sSubSup>
                  </m:oMath>
                </a14:m>
                <a:r>
                  <a:rPr lang="zh-CN" altLang="zh-CN" sz="1600" b="1" dirty="0">
                    <a:solidFill>
                      <a:srgbClr val="FF0000"/>
                    </a:solidFill>
                    <a:latin typeface="Times New Roman" panose="02020603050405020304" pitchFamily="18" charset="0"/>
                    <a:ea typeface="楷体_GB2312"/>
                    <a:cs typeface="Times New Roman" panose="02020603050405020304" pitchFamily="18" charset="0"/>
                  </a:rPr>
                  <a:t>，学习一个从输入</a:t>
                </a:r>
                <a14:m>
                  <m:oMath xmlns:m="http://schemas.openxmlformats.org/officeDocument/2006/math">
                    <m:sSub>
                      <m:sSub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FF0000"/>
                            </a:solidFill>
                            <a:latin typeface="Cambria Math" panose="02040503050406030204" pitchFamily="18" charset="0"/>
                            <a:ea typeface="楷体_GB2312"/>
                            <a:cs typeface="Times New Roman" panose="02020603050405020304" pitchFamily="18" charset="0"/>
                          </a:rPr>
                          <m:t>𝒙</m:t>
                        </m:r>
                      </m:e>
                      <m:sub>
                        <m:r>
                          <a:rPr lang="en-US" altLang="zh-CN" sz="1600" b="1" i="1">
                            <a:solidFill>
                              <a:srgbClr val="FF0000"/>
                            </a:solidFill>
                            <a:latin typeface="Cambria Math" panose="02040503050406030204" pitchFamily="18" charset="0"/>
                            <a:ea typeface="楷体_GB2312"/>
                            <a:cs typeface="Times New Roman" panose="02020603050405020304" pitchFamily="18" charset="0"/>
                          </a:rPr>
                          <m:t>𝒊</m:t>
                        </m:r>
                      </m:sub>
                    </m:sSub>
                  </m:oMath>
                </a14:m>
                <a:r>
                  <a:rPr lang="zh-CN" altLang="zh-CN" sz="1600" b="1" dirty="0">
                    <a:solidFill>
                      <a:srgbClr val="FF0000"/>
                    </a:solidFill>
                    <a:latin typeface="Times New Roman" panose="02020603050405020304" pitchFamily="18" charset="0"/>
                    <a:ea typeface="楷体_GB2312"/>
                    <a:cs typeface="Times New Roman" panose="02020603050405020304" pitchFamily="18" charset="0"/>
                  </a:rPr>
                  <a:t>到输出</a:t>
                </a:r>
                <a14:m>
                  <m:oMath xmlns:m="http://schemas.openxmlformats.org/officeDocument/2006/math">
                    <m:sSub>
                      <m:sSubPr>
                        <m:ctrlPr>
                          <a:rPr lang="zh-CN" altLang="zh-CN" sz="16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FF0000"/>
                            </a:solidFill>
                            <a:latin typeface="Cambria Math" panose="02040503050406030204" pitchFamily="18" charset="0"/>
                            <a:ea typeface="楷体_GB2312"/>
                            <a:cs typeface="Times New Roman" panose="02020603050405020304" pitchFamily="18" charset="0"/>
                          </a:rPr>
                          <m:t>𝒚</m:t>
                        </m:r>
                      </m:e>
                      <m:sub>
                        <m:r>
                          <a:rPr lang="en-US" altLang="zh-CN" sz="1600" b="1" i="1">
                            <a:solidFill>
                              <a:srgbClr val="FF0000"/>
                            </a:solidFill>
                            <a:latin typeface="Cambria Math" panose="02040503050406030204" pitchFamily="18" charset="0"/>
                            <a:ea typeface="楷体_GB2312"/>
                            <a:cs typeface="Times New Roman" panose="02020603050405020304" pitchFamily="18" charset="0"/>
                          </a:rPr>
                          <m:t>𝒊</m:t>
                        </m:r>
                      </m:sub>
                    </m:sSub>
                  </m:oMath>
                </a14:m>
                <a:r>
                  <a:rPr lang="zh-CN" altLang="zh-CN" sz="1600" b="1" dirty="0">
                    <a:solidFill>
                      <a:srgbClr val="FF0000"/>
                    </a:solidFill>
                    <a:latin typeface="Times New Roman" panose="02020603050405020304" pitchFamily="18" charset="0"/>
                    <a:ea typeface="楷体_GB2312"/>
                    <a:cs typeface="Times New Roman" panose="02020603050405020304" pitchFamily="18" charset="0"/>
                  </a:rPr>
                  <a:t>的映射</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可是文档、图像、音频或蛋白质基因等数据或者数据的特征表达，</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为所对应的论文类别、人脸对象、歌曲语音或生命功能等语义内容，其中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𝒟</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被称为训练集，</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是训练样例的数量。</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监督学习算法从假设空间（</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hypothesis space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）学习得到一个</a:t>
                </a: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最优映射函数</a:t>
                </a:r>
                <a14:m>
                  <m:oMath xmlns:m="http://schemas.openxmlformats.org/officeDocument/2006/math">
                    <m:r>
                      <a:rPr lang="en-US" altLang="zh-CN" sz="1600" b="1" i="1">
                        <a:solidFill>
                          <a:srgbClr val="C00000"/>
                        </a:solidFill>
                        <a:latin typeface="Cambria Math" panose="02040503050406030204" pitchFamily="18" charset="0"/>
                        <a:ea typeface="楷体_GB2312"/>
                        <a:cs typeface="Times New Roman" panose="02020603050405020304" pitchFamily="18" charset="0"/>
                      </a:rPr>
                      <m:t>𝒇</m:t>
                    </m:r>
                  </m:oMath>
                </a14:m>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（又称决策函数）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，映射函数</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将输入数据映射到语义标注空间，实现数据的分类和识别。无监督学习则是直接从无标签数据</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出发学习映射函数，而半监督学习在学习映射函数过程中使用的一部分数据有标签、一部分数据没有标签。</a:t>
                </a:r>
              </a:p>
            </p:txBody>
          </p:sp>
        </mc:Choice>
        <mc:Fallback xmlns="">
          <p:sp>
            <p:nvSpPr>
              <p:cNvPr id="8" name="矩形 7"/>
              <p:cNvSpPr>
                <a:spLocks noRot="1" noChangeAspect="1" noMove="1" noResize="1" noEditPoints="1" noAdjustHandles="1" noChangeArrowheads="1" noChangeShapeType="1" noTextEdit="1"/>
              </p:cNvSpPr>
              <p:nvPr/>
            </p:nvSpPr>
            <p:spPr>
              <a:xfrm>
                <a:off x="147773" y="1348940"/>
                <a:ext cx="5190995" cy="5220660"/>
              </a:xfrm>
              <a:prstGeom prst="rect">
                <a:avLst/>
              </a:prstGeom>
              <a:blipFill>
                <a:blip r:embed="rId7"/>
                <a:stretch>
                  <a:fillRect l="-469" r="-4343" b="-233"/>
                </a:stretch>
              </a:blipFill>
            </p:spPr>
            <p:txBody>
              <a:bodyPr/>
              <a:lstStyle/>
              <a:p>
                <a:r>
                  <a:rPr lang="zh-CN" altLang="en-US">
                    <a:noFill/>
                  </a:rPr>
                  <a:t> </a:t>
                </a:r>
              </a:p>
            </p:txBody>
          </p:sp>
        </mc:Fallback>
      </mc:AlternateContent>
      <p:grpSp>
        <p:nvGrpSpPr>
          <p:cNvPr id="2" name="组合 1"/>
          <p:cNvGrpSpPr/>
          <p:nvPr/>
        </p:nvGrpSpPr>
        <p:grpSpPr>
          <a:xfrm>
            <a:off x="773415" y="600277"/>
            <a:ext cx="4944140"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有监督学习</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4944140" cy="497934"/>
            <a:chOff x="4099943" y="2819853"/>
            <a:chExt cx="2570275" cy="497934"/>
          </a:xfrm>
        </p:grpSpPr>
        <p:sp>
          <p:nvSpPr>
            <p:cNvPr id="7" name="平行四边形 6"/>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有监督学习</a:t>
              </a:r>
            </a:p>
          </p:txBody>
        </p:sp>
      </p:grpSp>
      <p:sp>
        <p:nvSpPr>
          <p:cNvPr id="5" name="内容占位符 4"/>
          <p:cNvSpPr>
            <a:spLocks noGrp="1"/>
          </p:cNvSpPr>
          <p:nvPr>
            <p:ph sz="quarter" idx="1"/>
          </p:nvPr>
        </p:nvSpPr>
        <p:spPr>
          <a:xfrm>
            <a:off x="838200" y="1454785"/>
            <a:ext cx="10515600" cy="4351338"/>
          </a:xfrm>
        </p:spPr>
        <p:txBody>
          <a:bodyPr/>
          <a:lstStyle/>
          <a:p>
            <a:r>
              <a:rPr kumimoji="1" lang="zh-CN" altLang="en-US" sz="2000" dirty="0">
                <a:latin typeface="华文楷体" panose="02010600040101010101" pitchFamily="2" charset="-122"/>
                <a:ea typeface="华文楷体" panose="02010600040101010101" pitchFamily="2" charset="-122"/>
              </a:rPr>
              <a:t>学习输入和输出之间的映射</a:t>
            </a:r>
            <a:endParaRPr kumimoji="1" lang="en-US" altLang="zh-CN" sz="2000" dirty="0">
              <a:latin typeface="华文楷体" panose="02010600040101010101" pitchFamily="2" charset="-122"/>
              <a:ea typeface="华文楷体" panose="02010600040101010101" pitchFamily="2" charset="-122"/>
            </a:endParaRPr>
          </a:p>
          <a:p>
            <a:r>
              <a:rPr kumimoji="1" lang="zh-CN" altLang="en-US" sz="2000" dirty="0">
                <a:latin typeface="华文楷体" panose="02010600040101010101" pitchFamily="2" charset="-122"/>
                <a:ea typeface="华文楷体" panose="02010600040101010101" pitchFamily="2" charset="-122"/>
              </a:rPr>
              <a:t>典型任务</a:t>
            </a:r>
          </a:p>
          <a:p>
            <a:pPr lvl="1"/>
            <a:r>
              <a:rPr kumimoji="1" lang="zh-CN" altLang="en-US" sz="2000" dirty="0">
                <a:latin typeface="华文楷体" panose="02010600040101010101" pitchFamily="2" charset="-122"/>
                <a:ea typeface="华文楷体" panose="02010600040101010101" pitchFamily="2" charset="-122"/>
              </a:rPr>
              <a:t>分类</a:t>
            </a:r>
          </a:p>
          <a:p>
            <a:pPr lvl="1"/>
            <a:r>
              <a:rPr kumimoji="1" lang="zh-CN" altLang="en-US" sz="2000" dirty="0">
                <a:latin typeface="华文楷体" panose="02010600040101010101" pitchFamily="2" charset="-122"/>
                <a:ea typeface="华文楷体" panose="02010600040101010101" pitchFamily="2" charset="-122"/>
              </a:rPr>
              <a:t>回归</a:t>
            </a:r>
          </a:p>
        </p:txBody>
      </p:sp>
      <p:graphicFrame>
        <p:nvGraphicFramePr>
          <p:cNvPr id="6" name="Table 5"/>
          <p:cNvGraphicFramePr>
            <a:graphicFrameLocks noGrp="1"/>
          </p:cNvGraphicFramePr>
          <p:nvPr/>
        </p:nvGraphicFramePr>
        <p:xfrm>
          <a:off x="1781476" y="3647440"/>
          <a:ext cx="4064000" cy="2219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135312">
                <a:tc>
                  <a:txBody>
                    <a:bodyPr/>
                    <a:lstStyle/>
                    <a:p>
                      <a:pPr algn="ctr"/>
                      <a:r>
                        <a:rPr lang="en-US" dirty="0" err="1">
                          <a:solidFill>
                            <a:schemeClr val="bg1"/>
                          </a:solidFill>
                          <a:latin typeface="华文楷体" panose="02010600040101010101" pitchFamily="2" charset="-122"/>
                          <a:ea typeface="华文楷体" panose="02010600040101010101" pitchFamily="2" charset="-122"/>
                        </a:rPr>
                        <a:t>输入</a:t>
                      </a:r>
                      <a:r>
                        <a:rPr lang="en-US" altLang="zh-CN" dirty="0" err="1">
                          <a:solidFill>
                            <a:schemeClr val="bg1"/>
                          </a:solidFill>
                          <a:latin typeface="华文楷体" panose="02010600040101010101" pitchFamily="2" charset="-122"/>
                          <a:ea typeface="华文楷体" panose="02010600040101010101" pitchFamily="2" charset="-122"/>
                        </a:rPr>
                        <a:t>-</a:t>
                      </a:r>
                      <a:r>
                        <a:rPr lang="en-US" dirty="0" err="1">
                          <a:solidFill>
                            <a:schemeClr val="bg1"/>
                          </a:solidFill>
                          <a:latin typeface="华文楷体" panose="02010600040101010101" pitchFamily="2" charset="-122"/>
                          <a:ea typeface="华文楷体" panose="02010600040101010101" pitchFamily="2" charset="-122"/>
                        </a:rPr>
                        <a:t>城市</a:t>
                      </a:r>
                      <a:endParaRPr lang="en-US" dirty="0">
                        <a:solidFill>
                          <a:schemeClr val="bg1"/>
                        </a:solidFill>
                        <a:latin typeface="华文楷体" panose="02010600040101010101" pitchFamily="2" charset="-122"/>
                        <a:ea typeface="华文楷体" panose="02010600040101010101" pitchFamily="2" charset="-122"/>
                      </a:endParaRPr>
                    </a:p>
                  </a:txBody>
                  <a:tcPr/>
                </a:tc>
                <a:tc>
                  <a:txBody>
                    <a:bodyPr/>
                    <a:lstStyle/>
                    <a:p>
                      <a:pPr algn="ctr"/>
                      <a:r>
                        <a:rPr lang="en-US" dirty="0" err="1">
                          <a:solidFill>
                            <a:schemeClr val="bg1"/>
                          </a:solidFill>
                          <a:latin typeface="华文楷体" panose="02010600040101010101" pitchFamily="2" charset="-122"/>
                          <a:ea typeface="华文楷体" panose="02010600040101010101" pitchFamily="2" charset="-122"/>
                        </a:rPr>
                        <a:t>输出</a:t>
                      </a:r>
                      <a:r>
                        <a:rPr lang="en-US" altLang="zh-CN" dirty="0" err="1">
                          <a:solidFill>
                            <a:schemeClr val="bg1"/>
                          </a:solidFill>
                          <a:latin typeface="华文楷体" panose="02010600040101010101" pitchFamily="2" charset="-122"/>
                          <a:ea typeface="华文楷体" panose="02010600040101010101" pitchFamily="2" charset="-122"/>
                        </a:rPr>
                        <a:t>-</a:t>
                      </a:r>
                      <a:r>
                        <a:rPr lang="en-US" dirty="0" err="1">
                          <a:solidFill>
                            <a:schemeClr val="bg1"/>
                          </a:solidFill>
                          <a:latin typeface="华文楷体" panose="02010600040101010101" pitchFamily="2" charset="-122"/>
                          <a:ea typeface="华文楷体" panose="02010600040101010101" pitchFamily="2" charset="-122"/>
                        </a:rPr>
                        <a:t>国家</a:t>
                      </a:r>
                      <a:endParaRPr lang="en-US" dirty="0">
                        <a:solidFill>
                          <a:schemeClr val="bg1"/>
                        </a:solidFill>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0"/>
                  </a:ext>
                </a:extLst>
              </a:tr>
              <a:tr h="370840">
                <a:tc>
                  <a:txBody>
                    <a:bodyPr/>
                    <a:lstStyle/>
                    <a:p>
                      <a:pPr algn="ctr"/>
                      <a:r>
                        <a:rPr lang="en-US" dirty="0" err="1">
                          <a:latin typeface="华文楷体" panose="02010600040101010101" pitchFamily="2" charset="-122"/>
                          <a:ea typeface="华文楷体" panose="02010600040101010101" pitchFamily="2" charset="-122"/>
                        </a:rPr>
                        <a:t>东京</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dirty="0" err="1">
                          <a:latin typeface="华文楷体" panose="02010600040101010101" pitchFamily="2" charset="-122"/>
                          <a:ea typeface="华文楷体" panose="02010600040101010101" pitchFamily="2" charset="-122"/>
                        </a:rPr>
                        <a:t>日本</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1"/>
                  </a:ext>
                </a:extLst>
              </a:tr>
              <a:tr h="370840">
                <a:tc>
                  <a:txBody>
                    <a:bodyPr/>
                    <a:lstStyle/>
                    <a:p>
                      <a:pPr algn="ctr"/>
                      <a:r>
                        <a:rPr lang="en-US" dirty="0" err="1">
                          <a:latin typeface="华文楷体" panose="02010600040101010101" pitchFamily="2" charset="-122"/>
                          <a:ea typeface="华文楷体" panose="02010600040101010101" pitchFamily="2" charset="-122"/>
                        </a:rPr>
                        <a:t>上海</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dirty="0" err="1">
                          <a:latin typeface="华文楷体" panose="02010600040101010101" pitchFamily="2" charset="-122"/>
                          <a:ea typeface="华文楷体" panose="02010600040101010101" pitchFamily="2" charset="-122"/>
                        </a:rPr>
                        <a:t>中国</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2"/>
                  </a:ext>
                </a:extLst>
              </a:tr>
              <a:tr h="370840">
                <a:tc>
                  <a:txBody>
                    <a:bodyPr/>
                    <a:lstStyle/>
                    <a:p>
                      <a:pPr algn="ctr"/>
                      <a:r>
                        <a:rPr lang="en-US" dirty="0" err="1">
                          <a:latin typeface="华文楷体" panose="02010600040101010101" pitchFamily="2" charset="-122"/>
                          <a:ea typeface="华文楷体" panose="02010600040101010101" pitchFamily="2" charset="-122"/>
                        </a:rPr>
                        <a:t>巴黎</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dirty="0" err="1">
                          <a:latin typeface="华文楷体" panose="02010600040101010101" pitchFamily="2" charset="-122"/>
                          <a:ea typeface="华文楷体" panose="02010600040101010101" pitchFamily="2" charset="-122"/>
                        </a:rPr>
                        <a:t>法国</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3"/>
                  </a:ext>
                </a:extLst>
              </a:tr>
              <a:tr h="370840">
                <a:tc>
                  <a:txBody>
                    <a:bodyPr/>
                    <a:lstStyle/>
                    <a:p>
                      <a:pPr algn="ctr"/>
                      <a:r>
                        <a:rPr lang="en-US" dirty="0" err="1">
                          <a:latin typeface="华文楷体" panose="02010600040101010101" pitchFamily="2" charset="-122"/>
                          <a:ea typeface="华文楷体" panose="02010600040101010101" pitchFamily="2" charset="-122"/>
                        </a:rPr>
                        <a:t>阿姆斯特丹</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dirty="0" err="1">
                          <a:latin typeface="华文楷体" panose="02010600040101010101" pitchFamily="2" charset="-122"/>
                          <a:ea typeface="华文楷体" panose="02010600040101010101" pitchFamily="2" charset="-122"/>
                        </a:rPr>
                        <a:t>荷兰</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4"/>
                  </a:ext>
                </a:extLst>
              </a:tr>
              <a:tr h="370840">
                <a:tc>
                  <a:txBody>
                    <a:bodyPr/>
                    <a:lstStyle/>
                    <a:p>
                      <a:pPr algn="ctr"/>
                      <a:r>
                        <a:rPr lang="en-US" dirty="0">
                          <a:latin typeface="华文楷体" panose="02010600040101010101" pitchFamily="2" charset="-122"/>
                          <a:ea typeface="华文楷体" panose="02010600040101010101" pitchFamily="2" charset="-122"/>
                        </a:rPr>
                        <a:t>…</a:t>
                      </a:r>
                    </a:p>
                  </a:txBody>
                  <a:tcPr/>
                </a:tc>
                <a:tc>
                  <a:txBody>
                    <a:bodyPr/>
                    <a:lstStyle/>
                    <a:p>
                      <a:pPr algn="ctr"/>
                      <a:r>
                        <a:rPr lang="en-US" dirty="0">
                          <a:latin typeface="华文楷体" panose="02010600040101010101" pitchFamily="2" charset="-122"/>
                          <a:ea typeface="华文楷体" panose="02010600040101010101" pitchFamily="2" charset="-122"/>
                        </a:rPr>
                        <a:t>…</a:t>
                      </a:r>
                    </a:p>
                  </a:txBody>
                  <a:tcPr/>
                </a:tc>
                <a:extLst>
                  <a:ext uri="{0D108BD9-81ED-4DB2-BD59-A6C34878D82A}">
                    <a16:rowId xmlns:a16="http://schemas.microsoft.com/office/drawing/2014/main" val="10005"/>
                  </a:ext>
                </a:extLst>
              </a:tr>
            </a:tbl>
          </a:graphicData>
        </a:graphic>
      </p:graphicFrame>
      <p:sp>
        <p:nvSpPr>
          <p:cNvPr id="11" name="Content Placeholder 2"/>
          <p:cNvSpPr txBox="1"/>
          <p:nvPr/>
        </p:nvSpPr>
        <p:spPr bwMode="auto">
          <a:xfrm>
            <a:off x="2784776" y="3241474"/>
            <a:ext cx="2057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8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None/>
            </a:pPr>
            <a:r>
              <a:rPr lang="en-US" sz="2400" kern="0" dirty="0" err="1">
                <a:latin typeface="华文楷体" panose="02010600040101010101" pitchFamily="2" charset="-122"/>
                <a:ea typeface="华文楷体" panose="02010600040101010101" pitchFamily="2" charset="-122"/>
              </a:rPr>
              <a:t>分类</a:t>
            </a:r>
            <a:endParaRPr lang="en-US" sz="2400" kern="0" dirty="0">
              <a:latin typeface="华文楷体" panose="02010600040101010101" pitchFamily="2" charset="-122"/>
              <a:ea typeface="华文楷体" panose="02010600040101010101" pitchFamily="2" charset="-122"/>
            </a:endParaRPr>
          </a:p>
        </p:txBody>
      </p:sp>
      <p:graphicFrame>
        <p:nvGraphicFramePr>
          <p:cNvPr id="12" name="Table 5"/>
          <p:cNvGraphicFramePr>
            <a:graphicFrameLocks noGrp="1"/>
          </p:cNvGraphicFramePr>
          <p:nvPr/>
        </p:nvGraphicFramePr>
        <p:xfrm>
          <a:off x="6451600" y="3647440"/>
          <a:ext cx="4064000" cy="2219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135312">
                <a:tc>
                  <a:txBody>
                    <a:bodyPr/>
                    <a:lstStyle/>
                    <a:p>
                      <a:pPr algn="ctr"/>
                      <a:r>
                        <a:rPr lang="en-US" dirty="0" err="1">
                          <a:solidFill>
                            <a:schemeClr val="bg1"/>
                          </a:solidFill>
                          <a:latin typeface="华文楷体" panose="02010600040101010101" pitchFamily="2" charset="-122"/>
                          <a:ea typeface="华文楷体" panose="02010600040101010101" pitchFamily="2" charset="-122"/>
                        </a:rPr>
                        <a:t>输入</a:t>
                      </a:r>
                      <a:r>
                        <a:rPr lang="en-US" altLang="zh-CN" dirty="0">
                          <a:solidFill>
                            <a:schemeClr val="bg1"/>
                          </a:solidFill>
                          <a:latin typeface="华文楷体" panose="02010600040101010101" pitchFamily="2" charset="-122"/>
                          <a:ea typeface="华文楷体" panose="02010600040101010101" pitchFamily="2" charset="-122"/>
                        </a:rPr>
                        <a:t>-</a:t>
                      </a:r>
                      <a:r>
                        <a:rPr lang="zh-CN" altLang="en-US" dirty="0">
                          <a:solidFill>
                            <a:schemeClr val="bg1"/>
                          </a:solidFill>
                          <a:latin typeface="华文楷体" panose="02010600040101010101" pitchFamily="2" charset="-122"/>
                          <a:ea typeface="华文楷体" panose="02010600040101010101" pitchFamily="2" charset="-122"/>
                        </a:rPr>
                        <a:t>房屋面积</a:t>
                      </a:r>
                      <a:endParaRPr lang="en-US" dirty="0">
                        <a:solidFill>
                          <a:schemeClr val="bg1"/>
                        </a:solidFill>
                        <a:latin typeface="华文楷体" panose="02010600040101010101" pitchFamily="2" charset="-122"/>
                        <a:ea typeface="华文楷体" panose="02010600040101010101" pitchFamily="2" charset="-122"/>
                      </a:endParaRPr>
                    </a:p>
                  </a:txBody>
                  <a:tcPr/>
                </a:tc>
                <a:tc>
                  <a:txBody>
                    <a:bodyPr/>
                    <a:lstStyle/>
                    <a:p>
                      <a:pPr algn="ctr"/>
                      <a:r>
                        <a:rPr lang="en-US" dirty="0" err="1">
                          <a:solidFill>
                            <a:schemeClr val="bg1"/>
                          </a:solidFill>
                          <a:latin typeface="华文楷体" panose="02010600040101010101" pitchFamily="2" charset="-122"/>
                          <a:ea typeface="华文楷体" panose="02010600040101010101" pitchFamily="2" charset="-122"/>
                        </a:rPr>
                        <a:t>输出</a:t>
                      </a:r>
                      <a:r>
                        <a:rPr lang="en-US" altLang="zh-CN" dirty="0">
                          <a:solidFill>
                            <a:schemeClr val="bg1"/>
                          </a:solidFill>
                          <a:latin typeface="华文楷体" panose="02010600040101010101" pitchFamily="2" charset="-122"/>
                          <a:ea typeface="华文楷体" panose="02010600040101010101" pitchFamily="2" charset="-122"/>
                        </a:rPr>
                        <a:t>-</a:t>
                      </a:r>
                      <a:r>
                        <a:rPr lang="zh-CN" altLang="en-US" dirty="0">
                          <a:solidFill>
                            <a:schemeClr val="bg1"/>
                          </a:solidFill>
                          <a:latin typeface="华文楷体" panose="02010600040101010101" pitchFamily="2" charset="-122"/>
                          <a:ea typeface="华文楷体" panose="02010600040101010101" pitchFamily="2" charset="-122"/>
                        </a:rPr>
                        <a:t>价格</a:t>
                      </a:r>
                      <a:endParaRPr lang="en-US" dirty="0">
                        <a:solidFill>
                          <a:schemeClr val="bg1"/>
                        </a:solidFill>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0"/>
                  </a:ext>
                </a:extLst>
              </a:tr>
              <a:tr h="370840">
                <a:tc>
                  <a:txBody>
                    <a:bodyPr/>
                    <a:lstStyle/>
                    <a:p>
                      <a:pPr algn="ctr"/>
                      <a:r>
                        <a:rPr lang="en-US" altLang="zh-CN" dirty="0">
                          <a:latin typeface="华文楷体" panose="02010600040101010101" pitchFamily="2" charset="-122"/>
                          <a:ea typeface="华文楷体" panose="02010600040101010101" pitchFamily="2" charset="-122"/>
                        </a:rPr>
                        <a:t>85</a:t>
                      </a:r>
                      <a:r>
                        <a:rPr lang="zh-CN" altLang="en-US" dirty="0">
                          <a:latin typeface="华文楷体" panose="02010600040101010101" pitchFamily="2" charset="-122"/>
                          <a:ea typeface="华文楷体" panose="02010600040101010101" pitchFamily="2" charset="-122"/>
                        </a:rPr>
                        <a:t>平米</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altLang="zh-CN" dirty="0">
                          <a:latin typeface="华文楷体" panose="02010600040101010101" pitchFamily="2" charset="-122"/>
                          <a:ea typeface="华文楷体" panose="02010600040101010101" pitchFamily="2" charset="-122"/>
                        </a:rPr>
                        <a:t>7</a:t>
                      </a:r>
                      <a:r>
                        <a:rPr lang="en-US" dirty="0">
                          <a:latin typeface="华文楷体" panose="02010600040101010101" pitchFamily="2" charset="-122"/>
                          <a:ea typeface="华文楷体" panose="02010600040101010101" pitchFamily="2" charset="-122"/>
                        </a:rPr>
                        <a:t>1万元</a:t>
                      </a:r>
                    </a:p>
                  </a:txBody>
                  <a:tcPr/>
                </a:tc>
                <a:extLst>
                  <a:ext uri="{0D108BD9-81ED-4DB2-BD59-A6C34878D82A}">
                    <a16:rowId xmlns:a16="http://schemas.microsoft.com/office/drawing/2014/main" val="10001"/>
                  </a:ext>
                </a:extLst>
              </a:tr>
              <a:tr h="370840">
                <a:tc>
                  <a:txBody>
                    <a:bodyPr/>
                    <a:lstStyle/>
                    <a:p>
                      <a:pPr algn="ctr"/>
                      <a:r>
                        <a:rPr lang="en-US" altLang="zh-CN" dirty="0">
                          <a:latin typeface="华文楷体" panose="02010600040101010101" pitchFamily="2" charset="-122"/>
                          <a:ea typeface="华文楷体" panose="02010600040101010101" pitchFamily="2" charset="-122"/>
                        </a:rPr>
                        <a:t>120</a:t>
                      </a:r>
                      <a:r>
                        <a:rPr lang="zh-CN" altLang="en-US" dirty="0">
                          <a:latin typeface="华文楷体" panose="02010600040101010101" pitchFamily="2" charset="-122"/>
                          <a:ea typeface="华文楷体" panose="02010600040101010101" pitchFamily="2" charset="-122"/>
                        </a:rPr>
                        <a:t>平米</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altLang="zh-CN" dirty="0">
                          <a:latin typeface="华文楷体" panose="02010600040101010101" pitchFamily="2" charset="-122"/>
                          <a:ea typeface="华文楷体" panose="02010600040101010101" pitchFamily="2" charset="-122"/>
                        </a:rPr>
                        <a:t>140</a:t>
                      </a:r>
                      <a:r>
                        <a:rPr lang="zh-CN" altLang="en-US" dirty="0">
                          <a:latin typeface="华文楷体" panose="02010600040101010101" pitchFamily="2" charset="-122"/>
                          <a:ea typeface="华文楷体" panose="02010600040101010101" pitchFamily="2" charset="-122"/>
                        </a:rPr>
                        <a:t>万元</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2"/>
                  </a:ext>
                </a:extLst>
              </a:tr>
              <a:tr h="370840">
                <a:tc>
                  <a:txBody>
                    <a:bodyPr/>
                    <a:lstStyle/>
                    <a:p>
                      <a:pPr algn="ctr"/>
                      <a:r>
                        <a:rPr lang="en-US" altLang="zh-CN" dirty="0">
                          <a:latin typeface="华文楷体" panose="02010600040101010101" pitchFamily="2" charset="-122"/>
                          <a:ea typeface="华文楷体" panose="02010600040101010101" pitchFamily="2" charset="-122"/>
                        </a:rPr>
                        <a:t>60</a:t>
                      </a:r>
                      <a:r>
                        <a:rPr lang="zh-CN" altLang="en-US" dirty="0">
                          <a:latin typeface="华文楷体" panose="02010600040101010101" pitchFamily="2" charset="-122"/>
                          <a:ea typeface="华文楷体" panose="02010600040101010101" pitchFamily="2" charset="-122"/>
                        </a:rPr>
                        <a:t>平米</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altLang="zh-CN" dirty="0">
                          <a:latin typeface="华文楷体" panose="02010600040101010101" pitchFamily="2" charset="-122"/>
                          <a:ea typeface="华文楷体" panose="02010600040101010101" pitchFamily="2" charset="-122"/>
                        </a:rPr>
                        <a:t>63</a:t>
                      </a:r>
                      <a:r>
                        <a:rPr lang="zh-CN" altLang="en-US" dirty="0">
                          <a:latin typeface="华文楷体" panose="02010600040101010101" pitchFamily="2" charset="-122"/>
                          <a:ea typeface="华文楷体" panose="02010600040101010101" pitchFamily="2" charset="-122"/>
                        </a:rPr>
                        <a:t>万元</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3"/>
                  </a:ext>
                </a:extLst>
              </a:tr>
              <a:tr h="370840">
                <a:tc>
                  <a:txBody>
                    <a:bodyPr/>
                    <a:lstStyle/>
                    <a:p>
                      <a:pPr algn="ctr"/>
                      <a:r>
                        <a:rPr lang="en-US" altLang="zh-CN" dirty="0">
                          <a:latin typeface="华文楷体" panose="02010600040101010101" pitchFamily="2" charset="-122"/>
                          <a:ea typeface="华文楷体" panose="02010600040101010101" pitchFamily="2" charset="-122"/>
                        </a:rPr>
                        <a:t>150</a:t>
                      </a:r>
                      <a:r>
                        <a:rPr lang="zh-CN" altLang="en-US" dirty="0">
                          <a:latin typeface="华文楷体" panose="02010600040101010101" pitchFamily="2" charset="-122"/>
                          <a:ea typeface="华文楷体" panose="02010600040101010101" pitchFamily="2" charset="-122"/>
                        </a:rPr>
                        <a:t>平米</a:t>
                      </a:r>
                      <a:endParaRPr lang="en-US" dirty="0">
                        <a:latin typeface="华文楷体" panose="02010600040101010101" pitchFamily="2" charset="-122"/>
                        <a:ea typeface="华文楷体" panose="02010600040101010101" pitchFamily="2" charset="-122"/>
                      </a:endParaRPr>
                    </a:p>
                  </a:txBody>
                  <a:tcPr/>
                </a:tc>
                <a:tc>
                  <a:txBody>
                    <a:bodyPr/>
                    <a:lstStyle/>
                    <a:p>
                      <a:pPr algn="ctr"/>
                      <a:r>
                        <a:rPr lang="en-US" altLang="zh-CN" dirty="0">
                          <a:latin typeface="华文楷体" panose="02010600040101010101" pitchFamily="2" charset="-122"/>
                          <a:ea typeface="华文楷体" panose="02010600040101010101" pitchFamily="2" charset="-122"/>
                        </a:rPr>
                        <a:t>112.5</a:t>
                      </a:r>
                      <a:r>
                        <a:rPr lang="zh-CN" altLang="en-US" dirty="0">
                          <a:latin typeface="华文楷体" panose="02010600040101010101" pitchFamily="2" charset="-122"/>
                          <a:ea typeface="华文楷体" panose="02010600040101010101" pitchFamily="2" charset="-122"/>
                        </a:rPr>
                        <a:t>万元</a:t>
                      </a:r>
                      <a:endParaRPr lang="en-US" dirty="0">
                        <a:latin typeface="华文楷体" panose="02010600040101010101" pitchFamily="2" charset="-122"/>
                        <a:ea typeface="华文楷体" panose="02010600040101010101" pitchFamily="2" charset="-122"/>
                      </a:endParaRPr>
                    </a:p>
                  </a:txBody>
                  <a:tcPr/>
                </a:tc>
                <a:extLst>
                  <a:ext uri="{0D108BD9-81ED-4DB2-BD59-A6C34878D82A}">
                    <a16:rowId xmlns:a16="http://schemas.microsoft.com/office/drawing/2014/main" val="10004"/>
                  </a:ext>
                </a:extLst>
              </a:tr>
              <a:tr h="370840">
                <a:tc>
                  <a:txBody>
                    <a:bodyPr/>
                    <a:lstStyle/>
                    <a:p>
                      <a:pPr algn="ctr"/>
                      <a:r>
                        <a:rPr lang="en-US" dirty="0">
                          <a:latin typeface="华文楷体" panose="02010600040101010101" pitchFamily="2" charset="-122"/>
                          <a:ea typeface="华文楷体" panose="02010600040101010101" pitchFamily="2" charset="-122"/>
                        </a:rPr>
                        <a:t>…</a:t>
                      </a:r>
                    </a:p>
                  </a:txBody>
                  <a:tcPr/>
                </a:tc>
                <a:tc>
                  <a:txBody>
                    <a:bodyPr/>
                    <a:lstStyle/>
                    <a:p>
                      <a:pPr algn="ctr"/>
                      <a:r>
                        <a:rPr lang="en-US" dirty="0">
                          <a:latin typeface="华文楷体" panose="02010600040101010101" pitchFamily="2" charset="-122"/>
                          <a:ea typeface="华文楷体" panose="02010600040101010101" pitchFamily="2" charset="-122"/>
                        </a:rPr>
                        <a:t>…</a:t>
                      </a:r>
                    </a:p>
                  </a:txBody>
                  <a:tcPr/>
                </a:tc>
                <a:extLst>
                  <a:ext uri="{0D108BD9-81ED-4DB2-BD59-A6C34878D82A}">
                    <a16:rowId xmlns:a16="http://schemas.microsoft.com/office/drawing/2014/main" val="10005"/>
                  </a:ext>
                </a:extLst>
              </a:tr>
            </a:tbl>
          </a:graphicData>
        </a:graphic>
      </p:graphicFrame>
      <p:sp>
        <p:nvSpPr>
          <p:cNvPr id="13" name="Content Placeholder 2"/>
          <p:cNvSpPr txBox="1"/>
          <p:nvPr/>
        </p:nvSpPr>
        <p:spPr bwMode="auto">
          <a:xfrm>
            <a:off x="7559978" y="3240800"/>
            <a:ext cx="18068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sp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8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None/>
            </a:pPr>
            <a:r>
              <a:rPr lang="en-US" sz="2400" kern="0" dirty="0" err="1">
                <a:latin typeface="华文楷体" panose="02010600040101010101" pitchFamily="2" charset="-122"/>
                <a:ea typeface="华文楷体" panose="02010600040101010101" pitchFamily="2" charset="-122"/>
              </a:rPr>
              <a:t>回归</a:t>
            </a:r>
            <a:endParaRPr lang="en-US" sz="2400" kern="0" dirty="0">
              <a:latin typeface="华文楷体" panose="02010600040101010101" pitchFamily="2" charset="-122"/>
              <a:ea typeface="华文楷体" panose="0201060004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3415" y="600277"/>
            <a:ext cx="5123181" cy="497934"/>
            <a:chOff x="4099943" y="2819853"/>
            <a:chExt cx="2663352" cy="497934"/>
          </a:xfrm>
        </p:grpSpPr>
        <p:sp>
          <p:nvSpPr>
            <p:cNvPr id="7" name="平行四边形 6"/>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391" y="2819853"/>
              <a:ext cx="2640904" cy="467995"/>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有监督学习：训练集、验证集、测试集</a:t>
              </a:r>
              <a:endParaRPr lang="zh-CN" altLang="en-US" dirty="0"/>
            </a:p>
          </p:txBody>
        </p:sp>
        <p:sp>
          <p:nvSpPr>
            <p:cNvPr id="10" name="矩形 9"/>
            <p:cNvSpPr/>
            <p:nvPr/>
          </p:nvSpPr>
          <p:spPr>
            <a:xfrm>
              <a:off x="4216534" y="2853798"/>
              <a:ext cx="2359684" cy="398780"/>
            </a:xfrm>
            <a:prstGeom prst="rect">
              <a:avLst/>
            </a:prstGeom>
            <a:ln>
              <a:noFill/>
            </a:ln>
          </p:spPr>
          <p:txBody>
            <a:bodyPr wrap="square">
              <a:spAutoFit/>
            </a:bodyPr>
            <a:lstStyle/>
            <a:p>
              <a:pPr algn="ct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p:pic>
        <p:nvPicPr>
          <p:cNvPr id="3" name="图片 2"/>
          <p:cNvPicPr>
            <a:picLocks noChangeAspect="1"/>
          </p:cNvPicPr>
          <p:nvPr/>
        </p:nvPicPr>
        <p:blipFill>
          <a:blip r:embed="rId2"/>
          <a:stretch>
            <a:fillRect/>
          </a:stretch>
        </p:blipFill>
        <p:spPr>
          <a:xfrm>
            <a:off x="6437206" y="1859339"/>
            <a:ext cx="5461082" cy="3471812"/>
          </a:xfrm>
          <a:prstGeom prst="rect">
            <a:avLst/>
          </a:prstGeom>
        </p:spPr>
      </p:pic>
      <p:sp>
        <p:nvSpPr>
          <p:cNvPr id="4" name="矩形 3"/>
          <p:cNvSpPr/>
          <p:nvPr/>
        </p:nvSpPr>
        <p:spPr>
          <a:xfrm>
            <a:off x="293712" y="1338344"/>
            <a:ext cx="5723123" cy="5038752"/>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dirty="0">
                <a:latin typeface="楷体_GB2312"/>
                <a:ea typeface="华文楷体" panose="02010600040101010101" pitchFamily="2" charset="-122"/>
                <a:cs typeface="Times New Roman" panose="02020603050405020304" pitchFamily="18" charset="0"/>
              </a:rPr>
              <a:t>一旦在</a:t>
            </a:r>
            <a:r>
              <a:rPr lang="zh-CN" altLang="en-US" b="1" dirty="0">
                <a:solidFill>
                  <a:srgbClr val="C00000"/>
                </a:solidFill>
                <a:latin typeface="楷体_GB2312"/>
                <a:ea typeface="华文楷体" panose="02010600040101010101" pitchFamily="2" charset="-122"/>
                <a:cs typeface="Times New Roman" panose="02020603050405020304" pitchFamily="18" charset="0"/>
              </a:rPr>
              <a:t>训练集</a:t>
            </a:r>
            <a:r>
              <a:rPr lang="zh-CN" altLang="en-US" dirty="0">
                <a:latin typeface="楷体_GB2312"/>
                <a:ea typeface="华文楷体" panose="02010600040101010101" pitchFamily="2" charset="-122"/>
                <a:cs typeface="Times New Roman" panose="02020603050405020304" pitchFamily="18" charset="0"/>
              </a:rPr>
              <a:t>上完成了模型参数优化后，需要在测试数据集上对模型性能进行测试。为了在训练优化过程中挑选更好的模型参数，一般可将训练集中一部分数据作为</a:t>
            </a:r>
            <a:r>
              <a:rPr lang="zh-CN" altLang="en-US" b="1" dirty="0">
                <a:solidFill>
                  <a:srgbClr val="C00000"/>
                </a:solidFill>
                <a:latin typeface="楷体_GB2312"/>
                <a:ea typeface="华文楷体" panose="02010600040101010101" pitchFamily="2" charset="-122"/>
                <a:cs typeface="Times New Roman" panose="02020603050405020304" pitchFamily="18" charset="0"/>
              </a:rPr>
              <a:t>验证集（validation set）</a:t>
            </a:r>
            <a:r>
              <a:rPr lang="zh-CN" altLang="en-US" dirty="0">
                <a:latin typeface="楷体_GB2312"/>
                <a:ea typeface="华文楷体" panose="02010600040101010101" pitchFamily="2" charset="-122"/>
                <a:cs typeface="Times New Roman" panose="02020603050405020304" pitchFamily="18" charset="0"/>
              </a:rPr>
              <a:t>。在</a:t>
            </a:r>
            <a:r>
              <a:rPr lang="zh-CN" altLang="en-US" b="1" dirty="0">
                <a:solidFill>
                  <a:srgbClr val="C00000"/>
                </a:solidFill>
                <a:latin typeface="楷体_GB2312"/>
                <a:ea typeface="华文楷体" panose="02010600040101010101" pitchFamily="2" charset="-122"/>
                <a:cs typeface="Times New Roman" panose="02020603050405020304" pitchFamily="18" charset="0"/>
              </a:rPr>
              <a:t>训练集</a:t>
            </a:r>
            <a:r>
              <a:rPr lang="zh-CN" altLang="en-US" dirty="0">
                <a:latin typeface="楷体_GB2312"/>
                <a:ea typeface="华文楷体" panose="02010600040101010101" pitchFamily="2" charset="-122"/>
                <a:cs typeface="Times New Roman" panose="02020603050405020304" pitchFamily="18" charset="0"/>
              </a:rPr>
              <a:t>上训练模型的同时会在</a:t>
            </a:r>
            <a:r>
              <a:rPr lang="zh-CN" altLang="en-US" b="1" dirty="0">
                <a:solidFill>
                  <a:srgbClr val="C00000"/>
                </a:solidFill>
                <a:latin typeface="楷体_GB2312"/>
                <a:ea typeface="华文楷体" panose="02010600040101010101" pitchFamily="2" charset="-122"/>
                <a:cs typeface="Times New Roman" panose="02020603050405020304" pitchFamily="18" charset="0"/>
              </a:rPr>
              <a:t>验证集</a:t>
            </a:r>
            <a:r>
              <a:rPr lang="zh-CN" altLang="en-US" dirty="0">
                <a:latin typeface="楷体_GB2312"/>
                <a:ea typeface="华文楷体" panose="02010600040101010101" pitchFamily="2" charset="-122"/>
                <a:cs typeface="Times New Roman" panose="02020603050405020304" pitchFamily="18" charset="0"/>
              </a:rPr>
              <a:t>上对模型进行评估，以便得到最佳参数，最后在</a:t>
            </a:r>
            <a:r>
              <a:rPr lang="zh-CN" altLang="en-US" b="1" dirty="0">
                <a:solidFill>
                  <a:srgbClr val="C00000"/>
                </a:solidFill>
                <a:latin typeface="楷体_GB2312"/>
                <a:ea typeface="华文楷体" panose="02010600040101010101" pitchFamily="2" charset="-122"/>
                <a:cs typeface="Times New Roman" panose="02020603050405020304" pitchFamily="18" charset="0"/>
              </a:rPr>
              <a:t>测试集</a:t>
            </a:r>
            <a:r>
              <a:rPr lang="zh-CN" altLang="en-US" dirty="0">
                <a:latin typeface="楷体_GB2312"/>
                <a:ea typeface="华文楷体" panose="02010600040101010101" pitchFamily="2" charset="-122"/>
                <a:cs typeface="Times New Roman" panose="02020603050405020304" pitchFamily="18" charset="0"/>
              </a:rPr>
              <a:t>上进行测试，将测试结果作为模型性能最终结果。</a:t>
            </a:r>
          </a:p>
          <a:p>
            <a:pPr marL="285750" indent="-285750" algn="just">
              <a:lnSpc>
                <a:spcPct val="150000"/>
              </a:lnSpc>
              <a:buFont typeface="Wingdings" panose="05000000000000000000" pitchFamily="2" charset="2"/>
              <a:buChar char="l"/>
            </a:pPr>
            <a:r>
              <a:rPr lang="zh-CN" altLang="en-US" dirty="0">
                <a:latin typeface="楷体_GB2312"/>
                <a:ea typeface="华文楷体" panose="02010600040101010101" pitchFamily="2" charset="-122"/>
                <a:cs typeface="Times New Roman" panose="02020603050405020304" pitchFamily="18" charset="0"/>
              </a:rPr>
              <a:t>要注意的是，训练集、验证集和测试集所包含数据之间没有任何交叉。可以</a:t>
            </a:r>
            <a:r>
              <a:rPr lang="zh-CN" altLang="en-US">
                <a:latin typeface="楷体_GB2312"/>
                <a:ea typeface="华文楷体" panose="02010600040101010101" pitchFamily="2" charset="-122"/>
                <a:cs typeface="Times New Roman" panose="02020603050405020304" pitchFamily="18" charset="0"/>
              </a:rPr>
              <a:t>说，训练集</a:t>
            </a:r>
            <a:r>
              <a:rPr lang="zh-CN" altLang="en-US" dirty="0">
                <a:latin typeface="楷体_GB2312"/>
                <a:ea typeface="华文楷体" panose="02010600040101010101" pitchFamily="2" charset="-122"/>
                <a:cs typeface="Times New Roman" panose="02020603050405020304" pitchFamily="18" charset="0"/>
              </a:rPr>
              <a:t>用于模型训练（好比学生的练习册）、验证集用于评估模型以调整相应参数（好比学生的模拟考卷或小测验）、测试集用于得到模型的优劣水平（好比真正考试）。</a:t>
            </a:r>
          </a:p>
        </p:txBody>
      </p:sp>
      <p:sp>
        <p:nvSpPr>
          <p:cNvPr id="5" name="矩形 4"/>
          <p:cNvSpPr/>
          <p:nvPr/>
        </p:nvSpPr>
        <p:spPr>
          <a:xfrm>
            <a:off x="6504409" y="5607651"/>
            <a:ext cx="5032147" cy="369332"/>
          </a:xfrm>
          <a:prstGeom prst="rect">
            <a:avLst/>
          </a:prstGeom>
        </p:spPr>
        <p:txBody>
          <a:bodyPr wrap="none">
            <a:spAutoFit/>
          </a:bodyPr>
          <a:lstStyle/>
          <a:p>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训练集、验证集和测试集三种数据集中数据比例</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3869989" y="1594509"/>
            <a:ext cx="4452022" cy="4487848"/>
            <a:chOff x="3872379" y="1383943"/>
            <a:chExt cx="4452022" cy="4487848"/>
          </a:xfrm>
        </p:grpSpPr>
        <p:sp>
          <p:nvSpPr>
            <p:cNvPr id="3" name="Freeform 5"/>
            <p:cNvSpPr/>
            <p:nvPr>
              <p:custDataLst>
                <p:tags r:id="rId7"/>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custDataLst>
                <p:tags r:id="rId8"/>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custDataLst>
                <p:tags r:id="rId9"/>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custDataLst>
                <p:tags r:id="rId10"/>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custDataLst>
                  <p:tags r:id="rId21"/>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custDataLst>
                  <p:tags r:id="rId22"/>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custDataLst>
                  <p:tags r:id="rId23"/>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custDataLst>
                  <p:tags r:id="rId19"/>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custDataLst>
                  <p:tags r:id="rId20"/>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custDataLst>
                  <p:tags r:id="rId16"/>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custDataLst>
                  <p:tags r:id="rId17"/>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custDataLst>
                  <p:tags r:id="rId18"/>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custDataLst>
                <p:tags r:id="rId11"/>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custDataLst>
                <p:tags r:id="rId12"/>
              </p:custDataLst>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custDataLst>
                <p:tags r:id="rId13"/>
              </p:custDataLst>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custDataLst>
                <p:tags r:id="rId14"/>
              </p:custDataLst>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custDataLst>
                <p:tags r:id="rId15"/>
              </p:custDataLst>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2"/>
            </p:custDataLst>
          </p:nvPr>
        </p:nvGrpSpPr>
        <p:grpSpPr>
          <a:xfrm>
            <a:off x="1445407" y="2526644"/>
            <a:ext cx="2892852" cy="823738"/>
            <a:chOff x="656868" y="2381121"/>
            <a:chExt cx="2892852" cy="823738"/>
          </a:xfrm>
        </p:grpSpPr>
        <p:sp>
          <p:nvSpPr>
            <p:cNvPr id="24" name="文本框 23"/>
            <p:cNvSpPr txBox="1"/>
            <p:nvPr>
              <p:custDataLst>
                <p:tags r:id="rId6"/>
              </p:custDataLst>
            </p:nvPr>
          </p:nvSpPr>
          <p:spPr>
            <a:xfrm>
              <a:off x="928440" y="2381121"/>
              <a:ext cx="2621280" cy="460375"/>
            </a:xfrm>
            <a:prstGeom prst="rect">
              <a:avLst/>
            </a:prstGeom>
            <a:noFill/>
          </p:spPr>
          <p:txBody>
            <a:bodyPr wrap="none" rtlCol="0">
              <a:spAutoFit/>
            </a:bodyPr>
            <a:lstStyle/>
            <a:p>
              <a:r>
                <a:rPr lang="zh-CN" altLang="en-US" sz="2400" b="1" dirty="0">
                  <a:solidFill>
                    <a:srgbClr val="24569D"/>
                  </a:solidFill>
                </a:rPr>
                <a:t>机器学习基本概念</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p:cNvSpPr txBox="1"/>
          <p:nvPr>
            <p:custDataLst>
              <p:tags r:id="rId3"/>
            </p:custDataLst>
          </p:nvPr>
        </p:nvSpPr>
        <p:spPr>
          <a:xfrm>
            <a:off x="8551048" y="4920321"/>
            <a:ext cx="1097280" cy="460375"/>
          </a:xfrm>
          <a:prstGeom prst="rect">
            <a:avLst/>
          </a:prstGeom>
          <a:noFill/>
        </p:spPr>
        <p:txBody>
          <a:bodyPr wrap="none" rtlCol="0">
            <a:spAutoFit/>
          </a:bodyPr>
          <a:lstStyle/>
          <a:p>
            <a:r>
              <a:rPr lang="zh-CN" altLang="en-US" sz="2400" b="1" dirty="0">
                <a:solidFill>
                  <a:srgbClr val="24569D"/>
                </a:solidFill>
              </a:rPr>
              <a:t>决策树</a:t>
            </a:r>
          </a:p>
        </p:txBody>
      </p:sp>
      <p:sp>
        <p:nvSpPr>
          <p:cNvPr id="31" name="文本框 30"/>
          <p:cNvSpPr txBox="1"/>
          <p:nvPr>
            <p:custDataLst>
              <p:tags r:id="rId4"/>
            </p:custDataLst>
          </p:nvPr>
        </p:nvSpPr>
        <p:spPr>
          <a:xfrm>
            <a:off x="1743730" y="4865798"/>
            <a:ext cx="1402080" cy="460375"/>
          </a:xfrm>
          <a:prstGeom prst="rect">
            <a:avLst/>
          </a:prstGeom>
          <a:noFill/>
        </p:spPr>
        <p:txBody>
          <a:bodyPr wrap="none" rtlCol="0">
            <a:spAutoFit/>
          </a:bodyPr>
          <a:lstStyle/>
          <a:p>
            <a:r>
              <a:rPr lang="zh-CN" altLang="en-US" sz="2400" b="1" dirty="0">
                <a:solidFill>
                  <a:srgbClr val="FF0000"/>
                </a:solidFill>
              </a:rPr>
              <a:t>回归分析</a:t>
            </a:r>
          </a:p>
        </p:txBody>
      </p:sp>
      <p:sp>
        <p:nvSpPr>
          <p:cNvPr id="34" name="文本框 33"/>
          <p:cNvSpPr txBox="1"/>
          <p:nvPr>
            <p:custDataLst>
              <p:tags r:id="rId5"/>
            </p:custDataLst>
          </p:nvPr>
        </p:nvSpPr>
        <p:spPr>
          <a:xfrm>
            <a:off x="8551048" y="2586871"/>
            <a:ext cx="1706880" cy="460375"/>
          </a:xfrm>
          <a:prstGeom prst="rect">
            <a:avLst/>
          </a:prstGeom>
          <a:noFill/>
        </p:spPr>
        <p:txBody>
          <a:bodyPr wrap="none" rtlCol="0">
            <a:spAutoFit/>
          </a:bodyPr>
          <a:lstStyle/>
          <a:p>
            <a:r>
              <a:rPr lang="zh-CN" altLang="en-US" sz="2400" b="1" dirty="0">
                <a:solidFill>
                  <a:srgbClr val="24569D"/>
                </a:solidFill>
              </a:rPr>
              <a:t>有监督学习</a:t>
            </a: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387715" y="1156618"/>
            <a:ext cx="9079872" cy="1354217"/>
          </a:xfrm>
          <a:prstGeom prst="rect">
            <a:avLst/>
          </a:prstGeom>
        </p:spPr>
        <p:txBody>
          <a:bodyPr wrap="square">
            <a:spAutoFit/>
          </a:bodyPr>
          <a:lstStyle/>
          <a:p>
            <a:endParaRPr lang="zh-CN" altLang="en-US" sz="2800" dirty="0">
              <a:solidFill>
                <a:srgbClr val="000000"/>
              </a:solidFill>
              <a:latin typeface="汉仪玄宋±."/>
            </a:endParaRPr>
          </a:p>
          <a:p>
            <a:pPr algn="just"/>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在现实生活中，往往需要分析若干变量之间的关系，如碳排放量与气候变暖之间的关系，某一商品广告投入量与该商品销售量之间的关系等，这种分析不同变量之间存在关系的研究叫作回归分析，刻画不同变量之间关系的模型称为回归模型。</a:t>
            </a:r>
          </a:p>
        </p:txBody>
      </p:sp>
      <mc:AlternateContent xmlns:mc="http://schemas.openxmlformats.org/markup-compatibility/2006" xmlns:a14="http://schemas.microsoft.com/office/drawing/2010/main">
        <mc:Choice Requires="a14">
          <p:sp>
            <p:nvSpPr>
              <p:cNvPr id="8" name="矩形 7"/>
              <p:cNvSpPr/>
              <p:nvPr/>
            </p:nvSpPr>
            <p:spPr>
              <a:xfrm>
                <a:off x="852473" y="4658724"/>
                <a:ext cx="6297998" cy="1477328"/>
              </a:xfrm>
              <a:prstGeom prst="rect">
                <a:avLst/>
              </a:prstGeom>
            </p:spPr>
            <p:txBody>
              <a:bodyPr wrap="square">
                <a:spAutoFit/>
              </a:bodyPr>
              <a:lstStyle/>
              <a:p>
                <a:pPr marL="285750" indent="-285750" algn="just">
                  <a:buFont typeface="Wingdings" panose="05000000000000000000" pitchFamily="2" charset="2"/>
                  <a:buChar char="l"/>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父母平均身高每增加一个单位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其成年子女平均身高只增加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0.516</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个单位，它反映了这种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衰退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(regression)”</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效应（</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回归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到正常人平均身高）。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zh-CN" b="1" dirty="0">
                    <a:latin typeface="Times New Roman" panose="02020603050405020304" pitchFamily="18" charset="0"/>
                    <a:ea typeface="楷体" panose="02010609060101010101" pitchFamily="49" charset="-122"/>
                    <a:cs typeface="Times New Roman" panose="02020603050405020304" pitchFamily="18" charset="0"/>
                  </a:rPr>
                  <a:t>虽然</a:t>
                </a:r>
                <a14:m>
                  <m:oMath xmlns:m="http://schemas.openxmlformats.org/officeDocument/2006/math">
                    <m:r>
                      <a:rPr lang="en-US" altLang="zh-CN" b="1" i="1">
                        <a:latin typeface="Cambria Math" panose="02040503050406030204"/>
                      </a:rPr>
                      <m:t>𝒙</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b="1" i="1">
                        <a:latin typeface="Cambria Math" panose="02040503050406030204"/>
                      </a:rPr>
                      <m:t>𝐲</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之间并不总是具有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衰退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（回归）关系，但是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线性回归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这一名称就保留了下来了。 </a:t>
                </a:r>
              </a:p>
            </p:txBody>
          </p:sp>
        </mc:Choice>
        <mc:Fallback xmlns="">
          <p:sp>
            <p:nvSpPr>
              <p:cNvPr id="8" name="矩形 7"/>
              <p:cNvSpPr>
                <a:spLocks noRot="1" noChangeAspect="1" noMove="1" noResize="1" noEditPoints="1" noAdjustHandles="1" noChangeArrowheads="1" noChangeShapeType="1" noTextEdit="1"/>
              </p:cNvSpPr>
              <p:nvPr/>
            </p:nvSpPr>
            <p:spPr>
              <a:xfrm>
                <a:off x="852473" y="4658724"/>
                <a:ext cx="6297998" cy="1477328"/>
              </a:xfrm>
              <a:prstGeom prst="rect">
                <a:avLst/>
              </a:prstGeom>
              <a:blipFill rotWithShape="1">
                <a:blip r:embed="rId3"/>
                <a:stretch>
                  <a:fillRect l="-5" t="-25" r="6" b="3"/>
                </a:stretch>
              </a:blipFill>
            </p:spPr>
            <p:txBody>
              <a:bodyPr/>
              <a:lstStyle/>
              <a:p>
                <a:r>
                  <a:rPr lang="zh-CN" altLang="en-US">
                    <a:noFill/>
                  </a:rPr>
                  <a:t> </a:t>
                </a:r>
              </a:p>
            </p:txBody>
          </p:sp>
        </mc:Fallback>
      </mc:AlternateContent>
      <p:pic>
        <p:nvPicPr>
          <p:cNvPr id="9" name="Picture 2" descr="Francis Galton 1850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5523" y="3075812"/>
            <a:ext cx="1248365" cy="158291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7272278" y="4833619"/>
            <a:ext cx="2398815" cy="1200329"/>
          </a:xfrm>
          <a:prstGeom prst="rect">
            <a:avLst/>
          </a:prstGeom>
        </p:spPr>
        <p:txBody>
          <a:bodyPr wrap="square">
            <a:spAutoFit/>
          </a:bodyPr>
          <a:lstStyle/>
          <a:p>
            <a:pPr algn="ctr"/>
            <a:r>
              <a:rPr lang="zh-CN" altLang="zh-CN" b="1" dirty="0">
                <a:latin typeface="Times New Roman" panose="02020603050405020304" pitchFamily="18" charset="0"/>
                <a:ea typeface="楷体" panose="02010609060101010101" pitchFamily="49" charset="-122"/>
                <a:cs typeface="Times New Roman" panose="02020603050405020304" pitchFamily="18" charset="0"/>
              </a:rPr>
              <a:t>英国著名生物学家兼统计学家高尔顿</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b="1" dirty="0">
                <a:latin typeface="Times New Roman" panose="02020603050405020304" pitchFamily="18" charset="0"/>
                <a:ea typeface="楷体" panose="02010609060101010101" pitchFamily="49" charset="-122"/>
                <a:cs typeface="Times New Roman" panose="02020603050405020304" pitchFamily="18" charset="0"/>
              </a:rPr>
              <a:t>Sir Francis Galton (1822-1911)</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1" name="组合 10"/>
          <p:cNvGrpSpPr/>
          <p:nvPr/>
        </p:nvGrpSpPr>
        <p:grpSpPr>
          <a:xfrm>
            <a:off x="1504507" y="2866235"/>
            <a:ext cx="5003135" cy="1582913"/>
            <a:chOff x="380010" y="1246909"/>
            <a:chExt cx="5003135" cy="1840675"/>
          </a:xfrm>
        </p:grpSpPr>
        <p:sp>
          <p:nvSpPr>
            <p:cNvPr id="12" name="圆角矩形 12"/>
            <p:cNvSpPr/>
            <p:nvPr/>
          </p:nvSpPr>
          <p:spPr>
            <a:xfrm>
              <a:off x="380010" y="1246909"/>
              <a:ext cx="5003135" cy="1840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矩形 12"/>
                <p:cNvSpPr/>
                <p:nvPr/>
              </p:nvSpPr>
              <p:spPr>
                <a:xfrm>
                  <a:off x="1072279" y="1433071"/>
                  <a:ext cx="3930884" cy="346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a:rPr>
                          <m:t>𝐲</m:t>
                        </m:r>
                        <m:r>
                          <a:rPr lang="en-US" altLang="zh-CN" sz="2400" b="1" smtClean="0">
                            <a:latin typeface="Cambria Math" panose="02040503050406030204"/>
                          </a:rPr>
                          <m:t>=</m:t>
                        </m:r>
                        <m:r>
                          <a:rPr lang="en-US" altLang="zh-CN" sz="2400" b="1" i="1" smtClean="0">
                            <a:latin typeface="Cambria Math" panose="02040503050406030204"/>
                          </a:rPr>
                          <m:t>𝟑</m:t>
                        </m:r>
                        <m:r>
                          <a:rPr lang="en-US" altLang="zh-CN" sz="2400" b="1" i="1">
                            <a:latin typeface="Cambria Math" panose="02040503050406030204"/>
                          </a:rPr>
                          <m:t>𝟑</m:t>
                        </m:r>
                        <m:r>
                          <a:rPr lang="en-US" altLang="zh-CN" sz="2400" b="1">
                            <a:latin typeface="Cambria Math" panose="02040503050406030204"/>
                          </a:rPr>
                          <m:t>.</m:t>
                        </m:r>
                        <m:r>
                          <a:rPr lang="en-US" altLang="zh-CN" sz="2400" b="1" i="1">
                            <a:latin typeface="Cambria Math" panose="02040503050406030204"/>
                          </a:rPr>
                          <m:t>𝟕</m:t>
                        </m:r>
                        <m:r>
                          <a:rPr lang="en-US" altLang="zh-CN" sz="2400" b="1" i="1" smtClean="0">
                            <a:latin typeface="Cambria Math" panose="02040503050406030204"/>
                          </a:rPr>
                          <m:t>𝟑</m:t>
                        </m:r>
                        <m:r>
                          <a:rPr lang="en-US" altLang="zh-CN" sz="2400" b="1" i="1" smtClean="0">
                            <a:latin typeface="Cambria Math" panose="02040503050406030204"/>
                          </a:rPr>
                          <m:t>(</m:t>
                        </m:r>
                        <m:r>
                          <a:rPr lang="zh-CN" altLang="en-US" sz="2400" b="1" i="1">
                            <a:latin typeface="Cambria Math" panose="02040503050406030204"/>
                          </a:rPr>
                          <m:t>英寸</m:t>
                        </m:r>
                        <m:r>
                          <a:rPr lang="en-US" altLang="zh-CN" sz="2400" b="1" i="1" smtClean="0">
                            <a:latin typeface="Cambria Math" panose="02040503050406030204"/>
                          </a:rPr>
                          <m:t>)</m:t>
                        </m:r>
                        <m:r>
                          <a:rPr lang="en-US" altLang="zh-CN" sz="2400" b="1">
                            <a:latin typeface="Cambria Math" panose="02040503050406030204"/>
                          </a:rPr>
                          <m:t>+</m:t>
                        </m:r>
                        <m:r>
                          <a:rPr lang="en-US" altLang="zh-CN" sz="2400" b="1" i="1">
                            <a:latin typeface="Cambria Math" panose="02040503050406030204"/>
                          </a:rPr>
                          <m:t>𝟎</m:t>
                        </m:r>
                        <m:r>
                          <a:rPr lang="en-US" altLang="zh-CN" sz="2400" b="1">
                            <a:latin typeface="Cambria Math" panose="02040503050406030204"/>
                          </a:rPr>
                          <m:t>.</m:t>
                        </m:r>
                        <m:r>
                          <a:rPr lang="en-US" altLang="zh-CN" sz="2400" b="1" i="1">
                            <a:latin typeface="Cambria Math" panose="02040503050406030204"/>
                          </a:rPr>
                          <m:t>𝟓𝟏𝟔𝐱</m:t>
                        </m:r>
                      </m:oMath>
                    </m:oMathPara>
                  </a14:m>
                  <a:endParaRPr lang="zh-CN" altLang="en-US" sz="2400" b="1" dirty="0">
                    <a:ea typeface="楷体" panose="02010609060101010101" pitchFamily="49" charset="-122"/>
                    <a:cs typeface="Times New Roman" panose="02020603050405020304" pitchFamily="18"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1072279" y="1433071"/>
                  <a:ext cx="3930884" cy="346249"/>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723573" y="2350142"/>
                  <a:ext cx="1851789" cy="276999"/>
                </a:xfrm>
                <a:prstGeom prst="rect">
                  <a:avLst/>
                </a:prstGeom>
                <a:solidFill>
                  <a:srgbClr val="FFFF00"/>
                </a:solidFill>
              </p:spPr>
              <p:txBody>
                <a:bodyPr wrap="none">
                  <a:spAutoFit/>
                </a:bodyPr>
                <a:lstStyle/>
                <a:p>
                  <a14:m>
                    <m:oMath xmlns:m="http://schemas.openxmlformats.org/officeDocument/2006/math">
                      <m:r>
                        <a:rPr lang="en-US" altLang="zh-CN" b="1" i="1" smtClean="0">
                          <a:latin typeface="Cambria Math" panose="02040503050406030204"/>
                          <a:ea typeface="黑体" panose="02010609060101010101" pitchFamily="49" charset="-122"/>
                          <a:cs typeface="Times New Roman" panose="02020603050405020304" pitchFamily="18" charset="0"/>
                        </a:rPr>
                        <m:t>𝒚</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子女平均身高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723573" y="2350142"/>
                  <a:ext cx="1851789" cy="276999"/>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064863" y="2350142"/>
                  <a:ext cx="1815895" cy="276999"/>
                </a:xfrm>
                <a:prstGeom prst="rect">
                  <a:avLst/>
                </a:prstGeom>
                <a:solidFill>
                  <a:srgbClr val="FFFF00"/>
                </a:solidFill>
              </p:spPr>
              <p:txBody>
                <a:bodyPr wrap="square">
                  <a:spAutoFit/>
                </a:bodyPr>
                <a:lstStyle/>
                <a:p>
                  <a14:m>
                    <m:oMath xmlns:m="http://schemas.openxmlformats.org/officeDocument/2006/math">
                      <m:r>
                        <a:rPr lang="en-US" altLang="zh-CN" b="1" i="1">
                          <a:latin typeface="Cambria Math" panose="02040503050406030204"/>
                        </a:rPr>
                        <m:t>𝒙</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5" name="矩形 14"/>
                <p:cNvSpPr>
                  <a:spLocks noRot="1" noChangeAspect="1" noMove="1" noResize="1" noEditPoints="1" noAdjustHandles="1" noChangeArrowheads="1" noChangeShapeType="1" noTextEdit="1"/>
                </p:cNvSpPr>
                <p:nvPr/>
              </p:nvSpPr>
              <p:spPr>
                <a:xfrm>
                  <a:off x="3064863" y="2350142"/>
                  <a:ext cx="1815895" cy="276999"/>
                </a:xfrm>
                <a:prstGeom prst="rect">
                  <a:avLst/>
                </a:prstGeom>
                <a:blipFill rotWithShape="1">
                  <a:blip r:embed="rId7"/>
                </a:blipFill>
              </p:spPr>
              <p:txBody>
                <a:bodyPr/>
                <a:lstStyle/>
                <a:p>
                  <a:r>
                    <a:rPr lang="zh-CN" altLang="en-US">
                      <a:noFill/>
                    </a:rPr>
                    <a:t> </a:t>
                  </a:r>
                </a:p>
              </p:txBody>
            </p:sp>
          </mc:Fallback>
        </mc:AlternateContent>
        <p:cxnSp>
          <p:nvCxnSpPr>
            <p:cNvPr id="16" name="直接箭头连接符 15"/>
            <p:cNvCxnSpPr>
              <a:stCxn id="14" idx="0"/>
            </p:cNvCxnSpPr>
            <p:nvPr/>
          </p:nvCxnSpPr>
          <p:spPr>
            <a:xfrm flipH="1" flipV="1">
              <a:off x="1358721" y="1843187"/>
              <a:ext cx="290747" cy="506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3866809" y="1779320"/>
              <a:ext cx="640796" cy="5192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a:t>
              </a:r>
            </a:p>
          </p:txBody>
        </p:sp>
      </p:grpSp>
      <p:sp>
        <p:nvSpPr>
          <p:cNvPr id="18" name="矩形 17"/>
          <p:cNvSpPr/>
          <p:nvPr/>
        </p:nvSpPr>
        <p:spPr>
          <a:xfrm>
            <a:off x="1725788" y="5519318"/>
            <a:ext cx="9001496" cy="923330"/>
          </a:xfrm>
          <a:prstGeom prst="rect">
            <a:avLst/>
          </a:prstGeom>
        </p:spPr>
        <p:txBody>
          <a:bodyPr wrap="square">
            <a:spAutoFit/>
          </a:bodyPr>
          <a:lstStyle/>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给出任意一对父母平均身高，则可根据上述方程，计算得到其子女平均身高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从父母平均身高来预测其子女平均身高</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如何求取上述线性方程（预测方程）的参数？</a:t>
            </a:r>
            <a:endParaRPr lang="zh-CN" altLang="zh-CN"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9" name="组合 18"/>
          <p:cNvGrpSpPr/>
          <p:nvPr/>
        </p:nvGrpSpPr>
        <p:grpSpPr>
          <a:xfrm>
            <a:off x="2240552" y="3175091"/>
            <a:ext cx="5003135" cy="1935869"/>
            <a:chOff x="380010" y="1246909"/>
            <a:chExt cx="5003135" cy="1840675"/>
          </a:xfrm>
        </p:grpSpPr>
        <p:sp>
          <p:nvSpPr>
            <p:cNvPr id="20" name="圆角矩形 15"/>
            <p:cNvSpPr/>
            <p:nvPr/>
          </p:nvSpPr>
          <p:spPr>
            <a:xfrm>
              <a:off x="380010" y="1246909"/>
              <a:ext cx="5003135" cy="1840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p:cNvSpPr/>
                <p:nvPr/>
              </p:nvSpPr>
              <p:spPr>
                <a:xfrm>
                  <a:off x="723573" y="2350142"/>
                  <a:ext cx="1851789" cy="351171"/>
                </a:xfrm>
                <a:prstGeom prst="rect">
                  <a:avLst/>
                </a:prstGeom>
                <a:solidFill>
                  <a:srgbClr val="FFFF00"/>
                </a:solidFill>
              </p:spPr>
              <p:txBody>
                <a:bodyPr wrap="none">
                  <a:spAutoFit/>
                </a:bodyPr>
                <a:lstStyle/>
                <a:p>
                  <a14:m>
                    <m:oMath xmlns:m="http://schemas.openxmlformats.org/officeDocument/2006/math">
                      <m:r>
                        <a:rPr lang="en-US" altLang="zh-CN" b="1" i="1" smtClean="0">
                          <a:latin typeface="Cambria Math" panose="02040503050406030204"/>
                          <a:ea typeface="黑体" panose="02010609060101010101" pitchFamily="49" charset="-122"/>
                          <a:cs typeface="Times New Roman" panose="02020603050405020304" pitchFamily="18" charset="0"/>
                        </a:rPr>
                        <m:t>𝒚</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子女平均身高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723573" y="2350142"/>
                  <a:ext cx="1851789" cy="35117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064863" y="2350142"/>
                  <a:ext cx="1815895" cy="351171"/>
                </a:xfrm>
                <a:prstGeom prst="rect">
                  <a:avLst/>
                </a:prstGeom>
                <a:solidFill>
                  <a:srgbClr val="FFFF00"/>
                </a:solidFill>
              </p:spPr>
              <p:txBody>
                <a:bodyPr wrap="square">
                  <a:spAutoFit/>
                </a:bodyPr>
                <a:lstStyle/>
                <a:p>
                  <a14:m>
                    <m:oMath xmlns:m="http://schemas.openxmlformats.org/officeDocument/2006/math">
                      <m:r>
                        <a:rPr lang="en-US" altLang="zh-CN" b="1" i="1">
                          <a:latin typeface="Cambria Math" panose="02040503050406030204"/>
                        </a:rPr>
                        <m:t>𝒙</m:t>
                      </m:r>
                    </m:oMath>
                  </a14:m>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父母平均身高</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064863" y="2350142"/>
                  <a:ext cx="1815895" cy="351171"/>
                </a:xfrm>
                <a:prstGeom prst="rect">
                  <a:avLst/>
                </a:prstGeom>
                <a:blipFill rotWithShape="1">
                  <a:blip r:embed="rId4"/>
                </a:blipFill>
              </p:spPr>
              <p:txBody>
                <a:bodyPr/>
                <a:lstStyle/>
                <a:p>
                  <a:r>
                    <a:rPr lang="zh-CN" altLang="en-US">
                      <a:noFill/>
                    </a:rPr>
                    <a:t> </a:t>
                  </a:r>
                </a:p>
              </p:txBody>
            </p:sp>
          </mc:Fallback>
        </mc:AlternateContent>
        <p:cxnSp>
          <p:nvCxnSpPr>
            <p:cNvPr id="4" name="直接箭头连接符 3"/>
            <p:cNvCxnSpPr>
              <a:stCxn id="2" idx="0"/>
            </p:cNvCxnSpPr>
            <p:nvPr/>
          </p:nvCxnSpPr>
          <p:spPr>
            <a:xfrm flipH="1" flipV="1">
              <a:off x="1302161" y="2070888"/>
              <a:ext cx="347307" cy="2792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3866810" y="2070887"/>
              <a:ext cx="499184" cy="2277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6" name="流程图: 资料带 25"/>
          <p:cNvSpPr/>
          <p:nvPr/>
        </p:nvSpPr>
        <p:spPr>
          <a:xfrm>
            <a:off x="3732717" y="1832242"/>
            <a:ext cx="2921330" cy="1072896"/>
          </a:xfrm>
          <a:prstGeom prst="flowChartPunchedTape">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base">
              <a:spcBef>
                <a:spcPct val="0"/>
              </a:spcBef>
              <a:spcAft>
                <a:spcPct val="0"/>
              </a:spcAft>
              <a:defRPr/>
            </a:pPr>
            <a:r>
              <a:rPr lang="zh-CN" altLang="en-US" sz="2000" b="1" kern="0"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该回归模型中两个参数</a:t>
            </a:r>
          </a:p>
        </p:txBody>
      </p:sp>
      <p:cxnSp>
        <p:nvCxnSpPr>
          <p:cNvPr id="27" name="直接箭头连接符 26"/>
          <p:cNvCxnSpPr/>
          <p:nvPr/>
        </p:nvCxnSpPr>
        <p:spPr>
          <a:xfrm flipH="1">
            <a:off x="4136478" y="2905138"/>
            <a:ext cx="463138" cy="61443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4961029" y="2949558"/>
            <a:ext cx="700424" cy="619961"/>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6741300" y="2368690"/>
            <a:ext cx="50238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7243687" y="1835334"/>
            <a:ext cx="1797301" cy="923330"/>
          </a:xfrm>
          <a:prstGeom prst="rect">
            <a:avLst/>
          </a:prstGeom>
        </p:spPr>
        <p:txBody>
          <a:bodyPr wrap="square">
            <a:spAutoFit/>
          </a:bodyPr>
          <a:lstStyle/>
          <a:p>
            <a:pPr algn="ctr"/>
            <a:r>
              <a:rPr lang="zh-CN" altLang="en-US" b="1" dirty="0">
                <a:latin typeface="Times New Roman" panose="02020603050405020304" pitchFamily="18" charset="0"/>
                <a:ea typeface="楷体" panose="02010609060101010101" pitchFamily="49" charset="-122"/>
                <a:cs typeface="Times New Roman" panose="02020603050405020304" pitchFamily="18" charset="0"/>
              </a:rPr>
              <a:t>需要从标注数据中学习得到</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监督学习</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矩形 30"/>
              <p:cNvSpPr/>
              <p:nvPr/>
            </p:nvSpPr>
            <p:spPr>
              <a:xfrm>
                <a:off x="2778951" y="3537852"/>
                <a:ext cx="39308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a:rPr>
                        <m:t>𝐲</m:t>
                      </m:r>
                      <m:r>
                        <a:rPr lang="en-US" altLang="zh-CN" sz="2400" b="1" smtClean="0">
                          <a:latin typeface="Cambria Math" panose="02040503050406030204"/>
                        </a:rPr>
                        <m:t>=</m:t>
                      </m:r>
                      <m:r>
                        <a:rPr lang="en-US" altLang="zh-CN" sz="2400" b="1" i="1" smtClean="0">
                          <a:latin typeface="Cambria Math" panose="02040503050406030204"/>
                        </a:rPr>
                        <m:t>𝟑</m:t>
                      </m:r>
                      <m:r>
                        <a:rPr lang="en-US" altLang="zh-CN" sz="2400" b="1" i="1">
                          <a:latin typeface="Cambria Math" panose="02040503050406030204"/>
                        </a:rPr>
                        <m:t>𝟑</m:t>
                      </m:r>
                      <m:r>
                        <a:rPr lang="en-US" altLang="zh-CN" sz="2400" b="1">
                          <a:latin typeface="Cambria Math" panose="02040503050406030204"/>
                        </a:rPr>
                        <m:t>.</m:t>
                      </m:r>
                      <m:r>
                        <a:rPr lang="en-US" altLang="zh-CN" sz="2400" b="1" i="1">
                          <a:latin typeface="Cambria Math" panose="02040503050406030204"/>
                        </a:rPr>
                        <m:t>𝟕</m:t>
                      </m:r>
                      <m:r>
                        <a:rPr lang="en-US" altLang="zh-CN" sz="2400" b="1" i="1" smtClean="0">
                          <a:latin typeface="Cambria Math" panose="02040503050406030204"/>
                        </a:rPr>
                        <m:t>𝟑</m:t>
                      </m:r>
                      <m:r>
                        <a:rPr lang="en-US" altLang="zh-CN" sz="2400" b="1" i="1" smtClean="0">
                          <a:latin typeface="Cambria Math" panose="02040503050406030204"/>
                        </a:rPr>
                        <m:t>(</m:t>
                      </m:r>
                      <m:r>
                        <a:rPr lang="zh-CN" altLang="en-US" sz="2400" b="1" i="1">
                          <a:latin typeface="Cambria Math" panose="02040503050406030204"/>
                        </a:rPr>
                        <m:t>英寸</m:t>
                      </m:r>
                      <m:r>
                        <a:rPr lang="en-US" altLang="zh-CN" sz="2400" b="1" i="1" smtClean="0">
                          <a:latin typeface="Cambria Math" panose="02040503050406030204"/>
                        </a:rPr>
                        <m:t>)</m:t>
                      </m:r>
                      <m:r>
                        <a:rPr lang="en-US" altLang="zh-CN" sz="2400" b="1">
                          <a:latin typeface="Cambria Math" panose="02040503050406030204"/>
                        </a:rPr>
                        <m:t>+</m:t>
                      </m:r>
                      <m:r>
                        <a:rPr lang="en-US" altLang="zh-CN" sz="2400" b="1" i="1">
                          <a:latin typeface="Cambria Math" panose="02040503050406030204"/>
                        </a:rPr>
                        <m:t>𝟎</m:t>
                      </m:r>
                      <m:r>
                        <a:rPr lang="en-US" altLang="zh-CN" sz="2400" b="1">
                          <a:latin typeface="Cambria Math" panose="02040503050406030204"/>
                        </a:rPr>
                        <m:t>.</m:t>
                      </m:r>
                      <m:r>
                        <a:rPr lang="en-US" altLang="zh-CN" sz="2400" b="1" i="1">
                          <a:latin typeface="Cambria Math" panose="02040503050406030204"/>
                        </a:rPr>
                        <m:t>𝟓𝟏𝟔𝐱</m:t>
                      </m:r>
                    </m:oMath>
                  </m:oMathPara>
                </a14:m>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31" name="矩形 30"/>
              <p:cNvSpPr>
                <a:spLocks noRot="1" noChangeAspect="1" noMove="1" noResize="1" noEditPoints="1" noAdjustHandles="1" noChangeArrowheads="1" noChangeShapeType="1" noTextEdit="1"/>
              </p:cNvSpPr>
              <p:nvPr/>
            </p:nvSpPr>
            <p:spPr>
              <a:xfrm>
                <a:off x="2778951" y="3537852"/>
                <a:ext cx="3930884" cy="461665"/>
              </a:xfrm>
              <a:prstGeom prst="rect">
                <a:avLst/>
              </a:prstGeom>
              <a:blipFill rotWithShape="1">
                <a:blip r:embed="rId5"/>
                <a:stretch>
                  <a:fillRect l="-5" t="-58" r="11" b="62"/>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回归的分类</a:t>
              </a:r>
            </a:p>
          </p:txBody>
        </p:sp>
      </p:grpSp>
      <p:sp>
        <p:nvSpPr>
          <p:cNvPr id="6" name="AutoShape 6"/>
          <p:cNvSpPr/>
          <p:nvPr/>
        </p:nvSpPr>
        <p:spPr>
          <a:xfrm>
            <a:off x="837302" y="4110952"/>
            <a:ext cx="3541658" cy="1528373"/>
          </a:xfrm>
          <a:prstGeom prst="rect">
            <a:avLst/>
          </a:prstGeom>
          <a:noFill/>
        </p:spPr>
        <p:txBody>
          <a:bodyPr vert="horz" wrap="square" lIns="91440" tIns="45720" rIns="91440" bIns="45720" rtlCol="0" anchor="t" anchorCtr="0">
            <a:noAutofit/>
          </a:bodyPr>
          <a:lstStyle/>
          <a:p>
            <a:pPr algn="l">
              <a:lnSpc>
                <a:spcPct val="150000"/>
              </a:lnSpc>
              <a:spcBef>
                <a:spcPts val="270"/>
              </a:spcBef>
              <a:defRPr/>
            </a:pPr>
            <a:r>
              <a:rPr lang="en-US" sz="140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通过拟合一个线性函数来描述输入变量与输出变量之间的线性关系，并预测新的输出值。</a:t>
            </a:r>
            <a:endParaRPr lang="en-US" sz="1400" dirty="0"/>
          </a:p>
        </p:txBody>
      </p:sp>
      <p:sp>
        <p:nvSpPr>
          <p:cNvPr id="7" name="AutoShape 7"/>
          <p:cNvSpPr/>
          <p:nvPr/>
        </p:nvSpPr>
        <p:spPr>
          <a:xfrm>
            <a:off x="837302" y="3787869"/>
            <a:ext cx="2796943" cy="323083"/>
          </a:xfrm>
          <a:prstGeom prst="rect">
            <a:avLst/>
          </a:prstGeom>
          <a:noFill/>
        </p:spPr>
        <p:txBody>
          <a:bodyPr vert="horz" wrap="square" lIns="91440" tIns="45720" rIns="91440" bIns="45720" rtlCol="0" anchor="t" anchorCtr="0">
            <a:noAutofit/>
          </a:bodyPr>
          <a:lstStyle/>
          <a:p>
            <a:pPr algn="just">
              <a:defRPr/>
            </a:pPr>
            <a:r>
              <a:rPr lang="en-US" sz="1500" b="1"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目标</a:t>
            </a:r>
            <a:endParaRPr lang="en-US" sz="1100" dirty="0"/>
          </a:p>
        </p:txBody>
      </p:sp>
      <p:sp>
        <p:nvSpPr>
          <p:cNvPr id="5" name="内容占位符 5"/>
          <p:cNvSpPr txBox="1"/>
          <p:nvPr/>
        </p:nvSpPr>
        <p:spPr>
          <a:xfrm>
            <a:off x="600798" y="1164873"/>
            <a:ext cx="11161658" cy="569312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Tx/>
              <a:buNone/>
              <a:defRPr/>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按照涉及的变量多少，分为</a:t>
            </a:r>
            <a:endParaRPr lang="en-US" altLang="zh-CN" sz="2400" b="1" dirty="0">
              <a:latin typeface="微软雅黑" panose="020B0503020204020204" pitchFamily="34" charset="-122"/>
              <a:ea typeface="微软雅黑" panose="020B0503020204020204" pitchFamily="34" charset="-122"/>
            </a:endParaRPr>
          </a:p>
          <a:p>
            <a:pPr marL="0" indent="0">
              <a:buFontTx/>
              <a:buNone/>
              <a:defRPr/>
            </a:pPr>
            <a:r>
              <a:rPr lang="en-US" altLang="zh-CN" sz="1800" b="1" dirty="0">
                <a:latin typeface="微软雅黑" panose="020B0503020204020204" pitchFamily="34" charset="-122"/>
                <a:ea typeface="微软雅黑" panose="020B0503020204020204" pitchFamily="34" charset="-122"/>
              </a:rPr>
              <a:t>                                  </a:t>
            </a:r>
            <a:r>
              <a:rPr lang="zh-CN" altLang="zh-CN" sz="2400" b="1" dirty="0">
                <a:solidFill>
                  <a:srgbClr val="0070C0"/>
                </a:solidFill>
                <a:latin typeface="微软雅黑" panose="020B0503020204020204" pitchFamily="34" charset="-122"/>
                <a:ea typeface="微软雅黑" panose="020B0503020204020204" pitchFamily="34" charset="-122"/>
              </a:rPr>
              <a:t>一元回归</a:t>
            </a:r>
            <a:r>
              <a:rPr lang="en-US" altLang="zh-CN" sz="2400" b="1" dirty="0">
                <a:latin typeface="微软雅黑" panose="020B0503020204020204" pitchFamily="34" charset="-122"/>
                <a:ea typeface="微软雅黑" panose="020B0503020204020204" pitchFamily="34" charset="-122"/>
              </a:rPr>
              <a:t>                                   </a:t>
            </a:r>
            <a:r>
              <a:rPr lang="zh-CN" altLang="zh-CN" sz="2400" b="1" dirty="0">
                <a:solidFill>
                  <a:srgbClr val="FFC000"/>
                </a:solidFill>
                <a:latin typeface="微软雅黑" panose="020B0503020204020204" pitchFamily="34" charset="-122"/>
                <a:ea typeface="微软雅黑" panose="020B0503020204020204" pitchFamily="34" charset="-122"/>
              </a:rPr>
              <a:t>多元回归</a:t>
            </a:r>
            <a:endParaRPr lang="en-US" altLang="zh-CN" sz="2400" b="1" dirty="0">
              <a:solidFill>
                <a:srgbClr val="FFC000"/>
              </a:solidFill>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24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18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18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18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18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按照自变量和因变量之间的关系类型，可分为</a:t>
            </a:r>
            <a:endParaRPr lang="en-US" altLang="zh-CN" sz="2400" b="1" dirty="0">
              <a:latin typeface="微软雅黑" panose="020B0503020204020204" pitchFamily="34" charset="-122"/>
              <a:ea typeface="微软雅黑" panose="020B0503020204020204" pitchFamily="34" charset="-122"/>
            </a:endParaRPr>
          </a:p>
          <a:p>
            <a:pPr marL="0" indent="0" algn="just">
              <a:lnSpc>
                <a:spcPct val="150000"/>
              </a:lnSpc>
              <a:buFontTx/>
              <a:buNone/>
              <a:defRPr/>
            </a:pPr>
            <a:r>
              <a:rPr lang="en-US" altLang="zh-CN" sz="1800" b="1" dirty="0">
                <a:latin typeface="微软雅黑" panose="020B0503020204020204" pitchFamily="34" charset="-122"/>
                <a:ea typeface="微软雅黑" panose="020B0503020204020204" pitchFamily="34" charset="-122"/>
              </a:rPr>
              <a:t>                                  </a:t>
            </a:r>
            <a:r>
              <a:rPr lang="zh-CN" altLang="zh-CN" sz="2400" b="1" dirty="0">
                <a:solidFill>
                  <a:srgbClr val="92D050"/>
                </a:solidFill>
                <a:latin typeface="微软雅黑" panose="020B0503020204020204" pitchFamily="34" charset="-122"/>
                <a:ea typeface="微软雅黑" panose="020B0503020204020204" pitchFamily="34" charset="-122"/>
              </a:rPr>
              <a:t>线性回归</a:t>
            </a:r>
            <a:r>
              <a:rPr lang="en-US" altLang="zh-CN" sz="1800" b="1" dirty="0">
                <a:latin typeface="微软雅黑" panose="020B0503020204020204" pitchFamily="34" charset="-122"/>
                <a:ea typeface="微软雅黑" panose="020B0503020204020204" pitchFamily="34" charset="-122"/>
              </a:rPr>
              <a:t>                                            </a:t>
            </a:r>
            <a:r>
              <a:rPr lang="zh-CN" altLang="zh-CN" sz="2400" b="1" dirty="0">
                <a:solidFill>
                  <a:srgbClr val="002060"/>
                </a:solidFill>
                <a:latin typeface="微软雅黑" panose="020B0503020204020204" pitchFamily="34" charset="-122"/>
                <a:ea typeface="微软雅黑" panose="020B0503020204020204" pitchFamily="34" charset="-122"/>
              </a:rPr>
              <a:t>非线性回归</a:t>
            </a:r>
            <a:endParaRPr lang="en-US" altLang="zh-CN" sz="1800" b="1" dirty="0">
              <a:solidFill>
                <a:srgbClr val="002060"/>
              </a:solidFill>
              <a:latin typeface="微软雅黑" panose="020B0503020204020204" pitchFamily="34" charset="-122"/>
              <a:ea typeface="微软雅黑" panose="020B0503020204020204" pitchFamily="34" charset="-122"/>
            </a:endParaRPr>
          </a:p>
          <a:p>
            <a:pPr marL="0" indent="0" algn="just">
              <a:lnSpc>
                <a:spcPct val="150000"/>
              </a:lnSpc>
              <a:buFontTx/>
              <a:buNone/>
              <a:defRPr/>
            </a:pPr>
            <a:endParaRPr lang="en-US" altLang="zh-CN" sz="1800" dirty="0">
              <a:solidFill>
                <a:schemeClr val="bg1"/>
              </a:solidFill>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rotWithShape="1">
          <a:blip r:embed="rId3" cstate="screen"/>
          <a:srcRect/>
          <a:stretch>
            <a:fillRect/>
          </a:stretch>
        </p:blipFill>
        <p:spPr bwMode="auto">
          <a:xfrm>
            <a:off x="7045960" y="2191323"/>
            <a:ext cx="2103095" cy="1870592"/>
          </a:xfrm>
          <a:prstGeom prst="rect">
            <a:avLst/>
          </a:prstGeom>
          <a:noFill/>
          <a:ln w="9525">
            <a:noFill/>
            <a:miter lim="800000"/>
            <a:headEnd/>
            <a:tailEnd/>
          </a:ln>
          <a:effectLst/>
        </p:spPr>
      </p:pic>
      <p:pic>
        <p:nvPicPr>
          <p:cNvPr id="9"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833" t="13437" b="6241"/>
          <a:stretch>
            <a:fillRect/>
          </a:stretch>
        </p:blipFill>
        <p:spPr bwMode="auto">
          <a:xfrm>
            <a:off x="2489106" y="2132402"/>
            <a:ext cx="2290278" cy="19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图片 9"/>
          <p:cNvPicPr>
            <a:picLocks noChangeAspect="1"/>
          </p:cNvPicPr>
          <p:nvPr/>
        </p:nvPicPr>
        <p:blipFill>
          <a:blip r:embed="rId5"/>
          <a:stretch>
            <a:fillRect/>
          </a:stretch>
        </p:blipFill>
        <p:spPr>
          <a:xfrm>
            <a:off x="1330960" y="5851980"/>
            <a:ext cx="4191032" cy="396682"/>
          </a:xfrm>
          <a:prstGeom prst="rect">
            <a:avLst/>
          </a:prstGeom>
        </p:spPr>
      </p:pic>
      <p:pic>
        <p:nvPicPr>
          <p:cNvPr id="11" name="图片 10"/>
          <p:cNvPicPr>
            <a:picLocks noChangeAspect="1"/>
          </p:cNvPicPr>
          <p:nvPr/>
        </p:nvPicPr>
        <p:blipFill>
          <a:blip r:embed="rId6"/>
          <a:stretch>
            <a:fillRect/>
          </a:stretch>
        </p:blipFill>
        <p:spPr>
          <a:xfrm>
            <a:off x="6636965" y="5802944"/>
            <a:ext cx="2921084" cy="450906"/>
          </a:xfrm>
          <a:prstGeom prst="rect">
            <a:avLst/>
          </a:prstGeom>
        </p:spPr>
      </p:pic>
      <p:sp>
        <p:nvSpPr>
          <p:cNvPr id="12" name="矩形 11"/>
          <p:cNvSpPr/>
          <p:nvPr/>
        </p:nvSpPr>
        <p:spPr>
          <a:xfrm>
            <a:off x="2666278" y="5171368"/>
            <a:ext cx="1836704" cy="6315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线性回归作用</a:t>
              </a:r>
            </a:p>
          </p:txBody>
        </p:sp>
      </p:grpSp>
      <p:sp>
        <p:nvSpPr>
          <p:cNvPr id="5" name="AutoShape 3"/>
          <p:cNvSpPr/>
          <p:nvPr/>
        </p:nvSpPr>
        <p:spPr>
          <a:xfrm>
            <a:off x="727547" y="1550916"/>
            <a:ext cx="219567" cy="219567"/>
          </a:xfrm>
          <a:prstGeom prst="ellipse">
            <a:avLst/>
          </a:prstGeom>
          <a:solidFill>
            <a:schemeClr val="accent1">
              <a:alpha val="100000"/>
            </a:schemeClr>
          </a:solidFill>
        </p:spPr>
      </p:sp>
      <p:sp>
        <p:nvSpPr>
          <p:cNvPr id="6" name="TextBox 4"/>
          <p:cNvSpPr txBox="1"/>
          <p:nvPr/>
        </p:nvSpPr>
        <p:spPr>
          <a:xfrm>
            <a:off x="947114" y="1932201"/>
            <a:ext cx="4186126" cy="867235"/>
          </a:xfrm>
          <a:prstGeom prst="rect">
            <a:avLst/>
          </a:prstGeom>
        </p:spPr>
        <p:txBody>
          <a:bodyPr vert="horz" wrap="square" lIns="114300" tIns="57150" rIns="114300" bIns="57150" rtlCol="0" anchor="t" anchorCtr="0">
            <a:noAutofit/>
          </a:bodyPr>
          <a:lstStyle/>
          <a:p>
            <a:pPr algn="just">
              <a:lnSpc>
                <a:spcPct val="120000"/>
              </a:lnSpc>
            </a:pPr>
            <a:r>
              <a:rPr lang="en-US" sz="200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根据输入变量预测输出变量的值。</a:t>
            </a:r>
          </a:p>
          <a:p>
            <a:pPr algn="just">
              <a:lnSpc>
                <a:spcPct val="120000"/>
              </a:lnSpc>
            </a:pPr>
            <a:endParaRPr lang="en-US" sz="2000" dirty="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TextBox 5"/>
          <p:cNvSpPr txBox="1"/>
          <p:nvPr/>
        </p:nvSpPr>
        <p:spPr>
          <a:xfrm>
            <a:off x="947114" y="1437786"/>
            <a:ext cx="3955637" cy="471773"/>
          </a:xfrm>
          <a:prstGeom prst="rect">
            <a:avLst/>
          </a:prstGeom>
        </p:spPr>
        <p:txBody>
          <a:bodyPr vert="horz" wrap="square" lIns="114300" tIns="57150" rIns="114300" bIns="57150" rtlCol="0" anchor="t" anchorCtr="0">
            <a:normAutofit/>
          </a:bodyPr>
          <a:lstStyle/>
          <a:p>
            <a:pPr>
              <a:lnSpc>
                <a:spcPct val="96000"/>
              </a:lnSpc>
            </a:pPr>
            <a:r>
              <a:rPr lang="en-US" sz="2175"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预测</a:t>
            </a:r>
          </a:p>
        </p:txBody>
      </p:sp>
      <p:sp>
        <p:nvSpPr>
          <p:cNvPr id="8" name="TextBox 7"/>
          <p:cNvSpPr txBox="1"/>
          <p:nvPr/>
        </p:nvSpPr>
        <p:spPr>
          <a:xfrm>
            <a:off x="947114" y="3465101"/>
            <a:ext cx="4186126" cy="1012539"/>
          </a:xfrm>
          <a:prstGeom prst="rect">
            <a:avLst/>
          </a:prstGeom>
        </p:spPr>
        <p:txBody>
          <a:bodyPr vert="horz" wrap="square" lIns="114300" tIns="57150" rIns="114300" bIns="57150" rtlCol="0" anchor="t" anchorCtr="0">
            <a:normAutofit/>
          </a:bodyPr>
          <a:lstStyle>
            <a:defPPr>
              <a:defRPr lang="en-US"/>
            </a:defPPr>
            <a:lvl1pPr algn="just">
              <a:lnSpc>
                <a:spcPct val="120000"/>
              </a:lnSpc>
              <a:defRPr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en-US" dirty="0"/>
              <a:t>通过模型参数，解释输入变量与输出变量之间的关系。</a:t>
            </a:r>
          </a:p>
        </p:txBody>
      </p:sp>
      <p:sp>
        <p:nvSpPr>
          <p:cNvPr id="9" name="TextBox 8"/>
          <p:cNvSpPr txBox="1"/>
          <p:nvPr/>
        </p:nvSpPr>
        <p:spPr>
          <a:xfrm>
            <a:off x="947114" y="2970686"/>
            <a:ext cx="3955637" cy="471773"/>
          </a:xfrm>
          <a:prstGeom prst="rect">
            <a:avLst/>
          </a:prstGeom>
        </p:spPr>
        <p:txBody>
          <a:bodyPr vert="horz" wrap="square" lIns="114300" tIns="57150" rIns="114300" bIns="57150" rtlCol="0" anchor="t" anchorCtr="0">
            <a:noAutofit/>
          </a:bodyPr>
          <a:lstStyle/>
          <a:p>
            <a:pPr>
              <a:lnSpc>
                <a:spcPct val="96000"/>
              </a:lnSpc>
            </a:pPr>
            <a:r>
              <a:rPr lang="en-US" sz="2175"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解释关系</a:t>
            </a:r>
          </a:p>
        </p:txBody>
      </p:sp>
      <p:sp>
        <p:nvSpPr>
          <p:cNvPr id="10" name="TextBox 9"/>
          <p:cNvSpPr txBox="1"/>
          <p:nvPr/>
        </p:nvSpPr>
        <p:spPr>
          <a:xfrm>
            <a:off x="947113" y="5329725"/>
            <a:ext cx="4186126" cy="1177421"/>
          </a:xfrm>
          <a:prstGeom prst="rect">
            <a:avLst/>
          </a:prstGeom>
        </p:spPr>
        <p:txBody>
          <a:bodyPr vert="horz" wrap="square" lIns="114300" tIns="57150" rIns="114300" bIns="57150" rtlCol="0" anchor="t" anchorCtr="0">
            <a:normAutofit/>
          </a:bodyPr>
          <a:lstStyle>
            <a:defPPr>
              <a:defRPr lang="en-US"/>
            </a:defPPr>
            <a:lvl1pPr algn="just">
              <a:lnSpc>
                <a:spcPct val="120000"/>
              </a:lnSpc>
              <a:defRPr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en-US" dirty="0"/>
              <a:t>将实际数据拟合到线性模型中，以便更好地理解和分析数据。</a:t>
            </a:r>
          </a:p>
        </p:txBody>
      </p:sp>
      <p:sp>
        <p:nvSpPr>
          <p:cNvPr id="11" name="TextBox 10"/>
          <p:cNvSpPr txBox="1"/>
          <p:nvPr/>
        </p:nvSpPr>
        <p:spPr>
          <a:xfrm>
            <a:off x="947113" y="4835311"/>
            <a:ext cx="3955637" cy="471773"/>
          </a:xfrm>
          <a:prstGeom prst="rect">
            <a:avLst/>
          </a:prstGeom>
        </p:spPr>
        <p:txBody>
          <a:bodyPr vert="horz" wrap="square" lIns="114300" tIns="57150" rIns="114300" bIns="57150" rtlCol="0" anchor="t" anchorCtr="0">
            <a:normAutofit/>
          </a:bodyPr>
          <a:lstStyle/>
          <a:p>
            <a:pPr>
              <a:lnSpc>
                <a:spcPct val="96000"/>
              </a:lnSpc>
            </a:pPr>
            <a:r>
              <a:rPr lang="en-US" sz="2175" b="1" dirty="0">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rPr>
              <a:t>数据建模</a:t>
            </a:r>
          </a:p>
        </p:txBody>
      </p:sp>
      <p:sp>
        <p:nvSpPr>
          <p:cNvPr id="12" name="AutoShape 11"/>
          <p:cNvSpPr/>
          <p:nvPr/>
        </p:nvSpPr>
        <p:spPr>
          <a:xfrm>
            <a:off x="727547" y="3083816"/>
            <a:ext cx="219567" cy="219567"/>
          </a:xfrm>
          <a:prstGeom prst="ellipse">
            <a:avLst/>
          </a:prstGeom>
          <a:solidFill>
            <a:schemeClr val="accent1">
              <a:alpha val="100000"/>
            </a:schemeClr>
          </a:solidFill>
        </p:spPr>
      </p:sp>
      <p:sp>
        <p:nvSpPr>
          <p:cNvPr id="13" name="AutoShape 12"/>
          <p:cNvSpPr/>
          <p:nvPr/>
        </p:nvSpPr>
        <p:spPr>
          <a:xfrm>
            <a:off x="727546" y="4948440"/>
            <a:ext cx="219567" cy="219567"/>
          </a:xfrm>
          <a:prstGeom prst="ellipse">
            <a:avLst/>
          </a:prstGeom>
          <a:solidFill>
            <a:schemeClr val="accent1">
              <a:alpha val="100000"/>
            </a:schemeClr>
          </a:solidFill>
        </p:spPr>
      </p:sp>
      <p:pic>
        <p:nvPicPr>
          <p:cNvPr id="15" name="图片 14"/>
          <p:cNvPicPr>
            <a:picLocks noChangeAspect="1"/>
          </p:cNvPicPr>
          <p:nvPr/>
        </p:nvPicPr>
        <p:blipFill>
          <a:blip r:embed="rId3">
            <a:extLst>
              <a:ext uri="{28A0092B-C50C-407E-A947-70E740481C1C}">
                <a14:useLocalDpi xmlns:a14="http://schemas.microsoft.com/office/drawing/2010/main" val="0"/>
              </a:ext>
            </a:extLst>
          </a:blip>
          <a:srcRect l="6398" t="8442" r="7406" b="6015"/>
          <a:stretch>
            <a:fillRect/>
          </a:stretch>
        </p:blipFill>
        <p:spPr>
          <a:xfrm>
            <a:off x="6765323" y="3082216"/>
            <a:ext cx="4186126" cy="3133348"/>
          </a:xfrm>
          <a:prstGeom prst="rect">
            <a:avLst/>
          </a:prstGeom>
        </p:spPr>
      </p:pic>
      <p:grpSp>
        <p:nvGrpSpPr>
          <p:cNvPr id="17" name="组合 16"/>
          <p:cNvGrpSpPr/>
          <p:nvPr/>
        </p:nvGrpSpPr>
        <p:grpSpPr>
          <a:xfrm>
            <a:off x="6858000" y="1673672"/>
            <a:ext cx="3810563" cy="867235"/>
            <a:chOff x="5334753" y="2558443"/>
            <a:chExt cx="5003135" cy="1582913"/>
          </a:xfrm>
        </p:grpSpPr>
        <p:grpSp>
          <p:nvGrpSpPr>
            <p:cNvPr id="14" name="组合 13"/>
            <p:cNvGrpSpPr/>
            <p:nvPr/>
          </p:nvGrpSpPr>
          <p:grpSpPr>
            <a:xfrm>
              <a:off x="5334753" y="2558443"/>
              <a:ext cx="5003135" cy="1582913"/>
              <a:chOff x="380010" y="1246909"/>
              <a:chExt cx="5003135" cy="1840675"/>
            </a:xfrm>
          </p:grpSpPr>
          <p:sp>
            <p:nvSpPr>
              <p:cNvPr id="16" name="圆角矩形 12"/>
              <p:cNvSpPr/>
              <p:nvPr/>
            </p:nvSpPr>
            <p:spPr>
              <a:xfrm>
                <a:off x="380010" y="1246909"/>
                <a:ext cx="5003135" cy="18406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400" b="1" dirty="0">
                  <a:latin typeface="Times New Roman" panose="02020603050405020304" pitchFamily="18" charset="0"/>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矩形 31"/>
                  <p:cNvSpPr/>
                  <p:nvPr/>
                </p:nvSpPr>
                <p:spPr>
                  <a:xfrm>
                    <a:off x="642462" y="1287019"/>
                    <a:ext cx="4336833" cy="8492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a:rPr>
                            <m:t>𝐲</m:t>
                          </m:r>
                          <m:r>
                            <a:rPr lang="en-US" altLang="zh-CN" sz="2000" b="1" smtClean="0">
                              <a:latin typeface="Cambria Math" panose="02040503050406030204"/>
                            </a:rPr>
                            <m:t>=</m:t>
                          </m:r>
                          <m:r>
                            <a:rPr lang="en-US" altLang="zh-CN" sz="2000" b="1" i="1" smtClean="0">
                              <a:latin typeface="Cambria Math" panose="02040503050406030204"/>
                            </a:rPr>
                            <m:t>𝟑</m:t>
                          </m:r>
                          <m:r>
                            <a:rPr lang="en-US" altLang="zh-CN" sz="2000" b="1" i="1">
                              <a:latin typeface="Cambria Math" panose="02040503050406030204"/>
                            </a:rPr>
                            <m:t>𝟑</m:t>
                          </m:r>
                          <m:r>
                            <a:rPr lang="en-US" altLang="zh-CN" sz="2000" b="1">
                              <a:latin typeface="Cambria Math" panose="02040503050406030204"/>
                            </a:rPr>
                            <m:t>.</m:t>
                          </m:r>
                          <m:r>
                            <a:rPr lang="en-US" altLang="zh-CN" sz="2000" b="1" i="1">
                              <a:latin typeface="Cambria Math" panose="02040503050406030204"/>
                            </a:rPr>
                            <m:t>𝟕</m:t>
                          </m:r>
                          <m:r>
                            <a:rPr lang="en-US" altLang="zh-CN" sz="2000" b="1" i="1" smtClean="0">
                              <a:latin typeface="Cambria Math" panose="02040503050406030204"/>
                            </a:rPr>
                            <m:t>𝟑</m:t>
                          </m:r>
                          <m:r>
                            <a:rPr lang="en-US" altLang="zh-CN" sz="2000" b="1" i="1" smtClean="0">
                              <a:latin typeface="Cambria Math" panose="02040503050406030204"/>
                            </a:rPr>
                            <m:t>(</m:t>
                          </m:r>
                          <m:r>
                            <a:rPr lang="zh-CN" altLang="en-US" sz="2000" b="1" i="1">
                              <a:latin typeface="Cambria Math" panose="02040503050406030204"/>
                            </a:rPr>
                            <m:t>英寸</m:t>
                          </m:r>
                          <m:r>
                            <a:rPr lang="en-US" altLang="zh-CN" sz="2000" b="1" i="1" smtClean="0">
                              <a:latin typeface="Cambria Math" panose="02040503050406030204"/>
                            </a:rPr>
                            <m:t>)</m:t>
                          </m:r>
                          <m:r>
                            <a:rPr lang="en-US" altLang="zh-CN" sz="2000" b="1">
                              <a:latin typeface="Cambria Math" panose="02040503050406030204"/>
                            </a:rPr>
                            <m:t>+</m:t>
                          </m:r>
                          <m:r>
                            <a:rPr lang="en-US" altLang="zh-CN" sz="2000" b="1" i="1">
                              <a:latin typeface="Cambria Math" panose="02040503050406030204"/>
                            </a:rPr>
                            <m:t>𝟎</m:t>
                          </m:r>
                          <m:r>
                            <a:rPr lang="en-US" altLang="zh-CN" sz="2000" b="1">
                              <a:latin typeface="Cambria Math" panose="02040503050406030204"/>
                            </a:rPr>
                            <m:t>.</m:t>
                          </m:r>
                          <m:r>
                            <a:rPr lang="en-US" altLang="zh-CN" sz="2000" b="1" i="1">
                              <a:latin typeface="Cambria Math" panose="02040503050406030204"/>
                            </a:rPr>
                            <m:t>𝟓𝟏𝟔𝐱</m:t>
                          </m:r>
                        </m:oMath>
                      </m:oMathPara>
                    </a14:m>
                    <a:endParaRPr lang="zh-CN" altLang="en-US" sz="2000" b="1" dirty="0">
                      <a:ea typeface="楷体" panose="02010609060101010101" pitchFamily="49" charset="-122"/>
                      <a:cs typeface="Times New Roman" panose="02020603050405020304" pitchFamily="18" charset="0"/>
                    </a:endParaRPr>
                  </a:p>
                </p:txBody>
              </p:sp>
            </mc:Choice>
            <mc:Fallback xmlns="">
              <p:sp>
                <p:nvSpPr>
                  <p:cNvPr id="32" name="矩形 31"/>
                  <p:cNvSpPr>
                    <a:spLocks noRot="1" noChangeAspect="1" noMove="1" noResize="1" noEditPoints="1" noAdjustHandles="1" noChangeArrowheads="1" noChangeShapeType="1" noTextEdit="1"/>
                  </p:cNvSpPr>
                  <p:nvPr/>
                </p:nvSpPr>
                <p:spPr>
                  <a:xfrm>
                    <a:off x="642462" y="1287019"/>
                    <a:ext cx="4336833" cy="849219"/>
                  </a:xfrm>
                  <a:prstGeom prst="rect">
                    <a:avLst/>
                  </a:prstGeom>
                  <a:blipFill rotWithShape="1">
                    <a:blip r:embed="rId4"/>
                  </a:blipFill>
                </p:spPr>
                <p:txBody>
                  <a:bodyPr/>
                  <a:lstStyle/>
                  <a:p>
                    <a:r>
                      <a:rPr lang="zh-CN" altLang="en-US">
                        <a:noFill/>
                      </a:rPr>
                      <a:t> </a:t>
                    </a:r>
                  </a:p>
                </p:txBody>
              </p:sp>
            </mc:Fallback>
          </mc:AlternateContent>
          <p:cxnSp>
            <p:nvCxnSpPr>
              <p:cNvPr id="33" name="直接箭头连接符 32"/>
              <p:cNvCxnSpPr/>
              <p:nvPr/>
            </p:nvCxnSpPr>
            <p:spPr>
              <a:xfrm flipV="1">
                <a:off x="912657" y="1987943"/>
                <a:ext cx="0" cy="35860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flipV="1">
                <a:off x="4682070" y="1987944"/>
                <a:ext cx="0" cy="35860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sp>
          <p:nvSpPr>
            <p:cNvPr id="35" name="文本框 34"/>
            <p:cNvSpPr txBox="1"/>
            <p:nvPr/>
          </p:nvSpPr>
          <p:spPr>
            <a:xfrm>
              <a:off x="5638800" y="3517211"/>
              <a:ext cx="1878419" cy="561767"/>
            </a:xfrm>
            <a:prstGeom prst="rect">
              <a:avLst/>
            </a:prstGeom>
            <a:noFill/>
          </p:spPr>
          <p:txBody>
            <a:bodyPr wrap="square" rtlCol="0">
              <a:spAutoFit/>
            </a:bodyPr>
            <a:lstStyle/>
            <a:p>
              <a:r>
                <a:rPr lang="zh-CN" altLang="en-US" sz="1400" b="1" dirty="0">
                  <a:latin typeface="Times New Roman" panose="02020603050405020304" pitchFamily="18" charset="0"/>
                  <a:cs typeface="Times New Roman" panose="02020603050405020304" pitchFamily="18" charset="0"/>
                </a:rPr>
                <a:t>子女平均身高</a:t>
              </a:r>
            </a:p>
          </p:txBody>
        </p:sp>
        <p:sp>
          <p:nvSpPr>
            <p:cNvPr id="36" name="文本框 35"/>
            <p:cNvSpPr txBox="1"/>
            <p:nvPr/>
          </p:nvSpPr>
          <p:spPr>
            <a:xfrm>
              <a:off x="8459469" y="3540892"/>
              <a:ext cx="1878419" cy="561767"/>
            </a:xfrm>
            <a:prstGeom prst="rect">
              <a:avLst/>
            </a:prstGeom>
            <a:noFill/>
          </p:spPr>
          <p:txBody>
            <a:bodyPr wrap="square" rtlCol="0">
              <a:spAutoFit/>
            </a:bodyPr>
            <a:lstStyle/>
            <a:p>
              <a:r>
                <a:rPr lang="zh-CN" altLang="en-US" sz="1400" b="1" dirty="0">
                  <a:latin typeface="Times New Roman" panose="02020603050405020304" pitchFamily="18" charset="0"/>
                  <a:cs typeface="Times New Roman" panose="02020603050405020304" pitchFamily="18" charset="0"/>
                </a:rPr>
                <a:t>父母平均身高</a:t>
              </a:r>
            </a:p>
          </p:txBody>
        </p:sp>
      </p:grpSp>
      <p:sp>
        <p:nvSpPr>
          <p:cNvPr id="37" name="箭头: 上下 28"/>
          <p:cNvSpPr/>
          <p:nvPr/>
        </p:nvSpPr>
        <p:spPr>
          <a:xfrm>
            <a:off x="8595135" y="2628861"/>
            <a:ext cx="228600" cy="503947"/>
          </a:xfrm>
          <a:prstGeom prst="up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左 30"/>
          <p:cNvSpPr/>
          <p:nvPr/>
        </p:nvSpPr>
        <p:spPr>
          <a:xfrm>
            <a:off x="4941794" y="2008166"/>
            <a:ext cx="1614919" cy="322197"/>
          </a:xfrm>
          <a:prstGeom prst="lef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4902750" y="1663178"/>
            <a:ext cx="1724761"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预测子女身高</a:t>
            </a:r>
          </a:p>
        </p:txBody>
      </p:sp>
      <p:sp>
        <p:nvSpPr>
          <p:cNvPr id="40" name="箭头: 左 32"/>
          <p:cNvSpPr/>
          <p:nvPr/>
        </p:nvSpPr>
        <p:spPr>
          <a:xfrm>
            <a:off x="4941794" y="3643327"/>
            <a:ext cx="1614919" cy="322197"/>
          </a:xfrm>
          <a:prstGeom prst="lef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4902750" y="3298339"/>
            <a:ext cx="1724761"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亲子身高关系</a:t>
            </a:r>
          </a:p>
        </p:txBody>
      </p:sp>
      <p:sp>
        <p:nvSpPr>
          <p:cNvPr id="42" name="箭头: 左 34"/>
          <p:cNvSpPr/>
          <p:nvPr/>
        </p:nvSpPr>
        <p:spPr>
          <a:xfrm>
            <a:off x="4941794" y="5497023"/>
            <a:ext cx="1614919" cy="322197"/>
          </a:xfrm>
          <a:prstGeom prst="lef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902750" y="5152035"/>
            <a:ext cx="1724761"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代际分布特征</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线性回归应用领域</a:t>
              </a:r>
            </a:p>
          </p:txBody>
        </p:sp>
      </p:grpSp>
      <p:pic>
        <p:nvPicPr>
          <p:cNvPr id="3" name="Picture 3"/>
          <p:cNvPicPr>
            <a:picLocks noChangeAspect="1"/>
          </p:cNvPicPr>
          <p:nvPr/>
        </p:nvPicPr>
        <p:blipFill>
          <a:blip r:embed="rId3"/>
          <a:srcRect l="16667" r="16667"/>
          <a:stretch>
            <a:fillRect/>
          </a:stretch>
        </p:blipFill>
        <p:spPr>
          <a:xfrm>
            <a:off x="433352" y="1494982"/>
            <a:ext cx="4018834" cy="4018834"/>
          </a:xfrm>
          <a:prstGeom prst="ellipse">
            <a:avLst/>
          </a:prstGeom>
        </p:spPr>
      </p:pic>
      <p:grpSp>
        <p:nvGrpSpPr>
          <p:cNvPr id="4" name="Group 4"/>
          <p:cNvGrpSpPr/>
          <p:nvPr/>
        </p:nvGrpSpPr>
        <p:grpSpPr>
          <a:xfrm>
            <a:off x="4917884" y="1233328"/>
            <a:ext cx="5967300" cy="1398447"/>
            <a:chOff x="4917884" y="1233328"/>
            <a:chExt cx="5967300" cy="1398447"/>
          </a:xfrm>
          <a:solidFill>
            <a:srgbClr val="24569D"/>
          </a:solidFill>
        </p:grpSpPr>
        <p:sp>
          <p:nvSpPr>
            <p:cNvPr id="2" name="AutoShape 5"/>
            <p:cNvSpPr/>
            <p:nvPr/>
          </p:nvSpPr>
          <p:spPr>
            <a:xfrm>
              <a:off x="5075677" y="1233328"/>
              <a:ext cx="5809507" cy="1398447"/>
            </a:xfrm>
            <a:prstGeom prst="rect">
              <a:avLst/>
            </a:prstGeom>
            <a:grpFill/>
          </p:spPr>
        </p:sp>
        <p:sp>
          <p:nvSpPr>
            <p:cNvPr id="18" name="TextBox 6"/>
            <p:cNvSpPr txBox="1"/>
            <p:nvPr/>
          </p:nvSpPr>
          <p:spPr>
            <a:xfrm>
              <a:off x="5181599" y="1358906"/>
              <a:ext cx="2910118" cy="379596"/>
            </a:xfrm>
            <a:prstGeom prst="rect">
              <a:avLst/>
            </a:prstGeom>
            <a:grpFill/>
          </p:spPr>
          <p:txBody>
            <a:bodyPr vert="horz" wrap="square" lIns="114300" tIns="57150" rIns="114300" bIns="57150" rtlCol="0" anchor="t" anchorCtr="0">
              <a:normAutofit/>
            </a:bodyPr>
            <a:lstStyle/>
            <a:p>
              <a:pPr>
                <a:lnSpc>
                  <a:spcPct val="77000"/>
                </a:lnSpc>
                <a:spcBef>
                  <a:spcPts val="450"/>
                </a:spcBef>
              </a:pPr>
              <a:r>
                <a:rPr lang="en-US" sz="1800" b="1"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社会科学</a:t>
              </a:r>
            </a:p>
          </p:txBody>
        </p:sp>
        <p:sp>
          <p:nvSpPr>
            <p:cNvPr id="19" name="TextBox 7"/>
            <p:cNvSpPr txBox="1"/>
            <p:nvPr/>
          </p:nvSpPr>
          <p:spPr>
            <a:xfrm>
              <a:off x="5181600" y="1715232"/>
              <a:ext cx="5303583" cy="668829"/>
            </a:xfrm>
            <a:prstGeom prst="rect">
              <a:avLst/>
            </a:prstGeom>
            <a:grpFill/>
          </p:spPr>
          <p:txBody>
            <a:bodyPr vert="horz" wrap="square" lIns="114300" tIns="57150" rIns="114300" bIns="57150" rtlCol="0" anchor="t" anchorCtr="0">
              <a:noAutofit/>
            </a:bodyPr>
            <a:lstStyle/>
            <a:p>
              <a:pPr>
                <a:lnSpc>
                  <a:spcPct val="120000"/>
                </a:lnSpc>
              </a:pPr>
              <a:r>
                <a:rPr lang="en-US"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线性回归模型用于研究社会现象，如教育水平、收入、健康状况等之间的关系。</a:t>
              </a:r>
            </a:p>
          </p:txBody>
        </p:sp>
        <p:sp>
          <p:nvSpPr>
            <p:cNvPr id="20" name="AutoShape 8"/>
            <p:cNvSpPr/>
            <p:nvPr/>
          </p:nvSpPr>
          <p:spPr>
            <a:xfrm>
              <a:off x="4917884" y="1233328"/>
              <a:ext cx="157794" cy="1398447"/>
            </a:xfrm>
            <a:prstGeom prst="rect">
              <a:avLst/>
            </a:prstGeom>
            <a:grpFill/>
          </p:spPr>
        </p:sp>
      </p:grpSp>
      <p:grpSp>
        <p:nvGrpSpPr>
          <p:cNvPr id="25" name="Group 9"/>
          <p:cNvGrpSpPr/>
          <p:nvPr/>
        </p:nvGrpSpPr>
        <p:grpSpPr>
          <a:xfrm>
            <a:off x="4917884" y="2805176"/>
            <a:ext cx="5967300" cy="1398447"/>
            <a:chOff x="4917884" y="2805176"/>
            <a:chExt cx="5967300" cy="1398447"/>
          </a:xfrm>
          <a:solidFill>
            <a:srgbClr val="24569D"/>
          </a:solidFill>
        </p:grpSpPr>
        <p:sp>
          <p:nvSpPr>
            <p:cNvPr id="26" name="AutoShape 10"/>
            <p:cNvSpPr/>
            <p:nvPr/>
          </p:nvSpPr>
          <p:spPr>
            <a:xfrm>
              <a:off x="5075677" y="2805176"/>
              <a:ext cx="5809507" cy="1398447"/>
            </a:xfrm>
            <a:prstGeom prst="rect">
              <a:avLst/>
            </a:prstGeom>
            <a:grpFill/>
          </p:spPr>
        </p:sp>
        <p:sp>
          <p:nvSpPr>
            <p:cNvPr id="27" name="TextBox 11"/>
            <p:cNvSpPr txBox="1"/>
            <p:nvPr/>
          </p:nvSpPr>
          <p:spPr>
            <a:xfrm>
              <a:off x="5219699" y="2928551"/>
              <a:ext cx="2910118" cy="379596"/>
            </a:xfrm>
            <a:prstGeom prst="rect">
              <a:avLst/>
            </a:prstGeom>
            <a:grpFill/>
          </p:spPr>
          <p:txBody>
            <a:bodyPr vert="horz" wrap="square" lIns="114300" tIns="57150" rIns="114300" bIns="57150" rtlCol="0" anchor="t" anchorCtr="0">
              <a:normAutofit/>
            </a:bodyPr>
            <a:lstStyle/>
            <a:p>
              <a:pPr>
                <a:lnSpc>
                  <a:spcPct val="77000"/>
                </a:lnSpc>
                <a:spcBef>
                  <a:spcPts val="450"/>
                </a:spcBef>
              </a:pPr>
              <a:r>
                <a:rPr lang="en-US" sz="1800" b="1"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医学</a:t>
              </a:r>
            </a:p>
          </p:txBody>
        </p:sp>
        <p:sp>
          <p:nvSpPr>
            <p:cNvPr id="28" name="TextBox 12"/>
            <p:cNvSpPr txBox="1"/>
            <p:nvPr/>
          </p:nvSpPr>
          <p:spPr>
            <a:xfrm>
              <a:off x="5219698" y="3292250"/>
              <a:ext cx="5449232" cy="668829"/>
            </a:xfrm>
            <a:prstGeom prst="rect">
              <a:avLst/>
            </a:prstGeom>
            <a:grpFill/>
          </p:spPr>
          <p:txBody>
            <a:bodyPr vert="horz" wrap="square" lIns="114300" tIns="57150" rIns="114300" bIns="57150" rtlCol="0" anchor="t" anchorCtr="0">
              <a:noAutofit/>
            </a:bodyPr>
            <a:lstStyle/>
            <a:p>
              <a:pPr>
                <a:lnSpc>
                  <a:spcPct val="120000"/>
                </a:lnSpc>
              </a:pPr>
              <a:r>
                <a:rPr lang="en-US"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在医学研究中，线性回归模型可用于探索疾病与风险因素之间的关系。</a:t>
              </a:r>
            </a:p>
          </p:txBody>
        </p:sp>
        <p:sp>
          <p:nvSpPr>
            <p:cNvPr id="29" name="AutoShape 13"/>
            <p:cNvSpPr/>
            <p:nvPr/>
          </p:nvSpPr>
          <p:spPr>
            <a:xfrm>
              <a:off x="4917884" y="2805176"/>
              <a:ext cx="157794" cy="1398447"/>
            </a:xfrm>
            <a:prstGeom prst="rect">
              <a:avLst/>
            </a:prstGeom>
            <a:grpFill/>
          </p:spPr>
        </p:sp>
      </p:grpSp>
      <p:grpSp>
        <p:nvGrpSpPr>
          <p:cNvPr id="30" name="Group 14"/>
          <p:cNvGrpSpPr/>
          <p:nvPr/>
        </p:nvGrpSpPr>
        <p:grpSpPr>
          <a:xfrm>
            <a:off x="4917884" y="4377023"/>
            <a:ext cx="5967300" cy="1398447"/>
            <a:chOff x="4917884" y="4377023"/>
            <a:chExt cx="5967300" cy="1398447"/>
          </a:xfrm>
          <a:solidFill>
            <a:srgbClr val="24569D"/>
          </a:solidFill>
        </p:grpSpPr>
        <p:sp>
          <p:nvSpPr>
            <p:cNvPr id="31" name="AutoShape 15"/>
            <p:cNvSpPr/>
            <p:nvPr/>
          </p:nvSpPr>
          <p:spPr>
            <a:xfrm>
              <a:off x="5075677" y="4377023"/>
              <a:ext cx="5809507" cy="1398447"/>
            </a:xfrm>
            <a:prstGeom prst="rect">
              <a:avLst/>
            </a:prstGeom>
            <a:grpFill/>
          </p:spPr>
        </p:sp>
        <p:sp>
          <p:nvSpPr>
            <p:cNvPr id="44" name="TextBox 16"/>
            <p:cNvSpPr txBox="1"/>
            <p:nvPr/>
          </p:nvSpPr>
          <p:spPr>
            <a:xfrm>
              <a:off x="5219699" y="4515195"/>
              <a:ext cx="2910118" cy="379596"/>
            </a:xfrm>
            <a:prstGeom prst="rect">
              <a:avLst/>
            </a:prstGeom>
            <a:grpFill/>
          </p:spPr>
          <p:txBody>
            <a:bodyPr vert="horz" wrap="square" lIns="114300" tIns="57150" rIns="114300" bIns="57150" rtlCol="0" anchor="t" anchorCtr="0">
              <a:normAutofit/>
            </a:bodyPr>
            <a:lstStyle/>
            <a:p>
              <a:pPr>
                <a:lnSpc>
                  <a:spcPct val="77000"/>
                </a:lnSpc>
                <a:spcBef>
                  <a:spcPts val="450"/>
                </a:spcBef>
              </a:pPr>
              <a:r>
                <a:rPr lang="en-US" sz="1800" b="1"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经济学</a:t>
              </a:r>
            </a:p>
          </p:txBody>
        </p:sp>
        <p:sp>
          <p:nvSpPr>
            <p:cNvPr id="45" name="TextBox 17"/>
            <p:cNvSpPr txBox="1"/>
            <p:nvPr/>
          </p:nvSpPr>
          <p:spPr>
            <a:xfrm>
              <a:off x="5219698" y="4894791"/>
              <a:ext cx="5303583" cy="668829"/>
            </a:xfrm>
            <a:prstGeom prst="rect">
              <a:avLst/>
            </a:prstGeom>
            <a:grpFill/>
          </p:spPr>
          <p:txBody>
            <a:bodyPr vert="horz" wrap="square" lIns="114300" tIns="57150" rIns="114300" bIns="57150" rtlCol="0" anchor="t" anchorCtr="0">
              <a:noAutofit/>
            </a:bodyPr>
            <a:lstStyle/>
            <a:p>
              <a:pPr>
                <a:lnSpc>
                  <a:spcPct val="120000"/>
                </a:lnSpc>
              </a:pPr>
              <a:r>
                <a:rPr lang="en-US"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经济学家使用线性回归模型分析经济指标之间的关系，如GDP、失业率、通货膨胀等。</a:t>
              </a:r>
            </a:p>
          </p:txBody>
        </p:sp>
        <p:sp>
          <p:nvSpPr>
            <p:cNvPr id="46" name="AutoShape 18"/>
            <p:cNvSpPr/>
            <p:nvPr/>
          </p:nvSpPr>
          <p:spPr>
            <a:xfrm>
              <a:off x="4917884" y="4377023"/>
              <a:ext cx="157794" cy="1398447"/>
            </a:xfrm>
            <a:prstGeom prst="rect">
              <a:avLst/>
            </a:prstGeom>
            <a:grpFill/>
          </p:spPr>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回归分析：一元线性回归模型</a:t>
              </a:r>
            </a:p>
          </p:txBody>
        </p:sp>
      </p:grpSp>
      <mc:AlternateContent xmlns:mc="http://schemas.openxmlformats.org/markup-compatibility/2006" xmlns:a14="http://schemas.microsoft.com/office/drawing/2010/main">
        <mc:Choice Requires="a14">
          <p:sp>
            <p:nvSpPr>
              <p:cNvPr id="33" name="矩形 32"/>
              <p:cNvSpPr/>
              <p:nvPr/>
            </p:nvSpPr>
            <p:spPr>
              <a:xfrm>
                <a:off x="1438336" y="1693666"/>
                <a:ext cx="9111537" cy="646331"/>
              </a:xfrm>
              <a:prstGeom prst="rect">
                <a:avLst/>
              </a:prstGeom>
            </p:spPr>
            <p:txBody>
              <a:bodyPr wrap="square">
                <a:spAutoFit/>
              </a:bodyPr>
              <a:lstStyle/>
              <a:p>
                <a:r>
                  <a:rPr lang="zh-CN" altLang="zh-CN" b="1" dirty="0">
                    <a:latin typeface="Times New Roman" panose="02020603050405020304" pitchFamily="18" charset="0"/>
                    <a:ea typeface="楷体" panose="02010609060101010101" pitchFamily="49" charset="-122"/>
                    <a:cs typeface="Times New Roman" panose="02020603050405020304" pitchFamily="18" charset="0"/>
                  </a:rPr>
                  <a:t>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4.3 </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给出了芒提兹尼欧（</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Montesinho</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）地区发生森林火灾的部分历史数据</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表中列举了每次发生森林火灾时的气温温度取值</a:t>
                </a:r>
                <a14:m>
                  <m:oMath xmlns:m="http://schemas.openxmlformats.org/officeDocument/2006/math">
                    <m:r>
                      <a:rPr lang="en-US" altLang="zh-CN" b="1" i="1">
                        <a:latin typeface="Cambria Math" panose="02040503050406030204"/>
                      </a:rPr>
                      <m:t>𝐱</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和受到火灾影响的森林面积</a:t>
                </a:r>
                <a14:m>
                  <m:oMath xmlns:m="http://schemas.openxmlformats.org/officeDocument/2006/math">
                    <m:r>
                      <a:rPr lang="en-US" altLang="zh-CN" b="1" i="1">
                        <a:latin typeface="Cambria Math" panose="02040503050406030204"/>
                      </a:rPr>
                      <m:t>𝐲</m:t>
                    </m:r>
                  </m:oMath>
                </a14:m>
                <a:r>
                  <a:rPr lang="zh-CN"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33" name="矩形 32"/>
              <p:cNvSpPr>
                <a:spLocks noRot="1" noChangeAspect="1" noMove="1" noResize="1" noEditPoints="1" noAdjustHandles="1" noChangeArrowheads="1" noChangeShapeType="1" noTextEdit="1"/>
              </p:cNvSpPr>
              <p:nvPr/>
            </p:nvSpPr>
            <p:spPr>
              <a:xfrm>
                <a:off x="1438336" y="1693666"/>
                <a:ext cx="9111537" cy="646331"/>
              </a:xfrm>
              <a:prstGeom prst="rect">
                <a:avLst/>
              </a:prstGeom>
              <a:blipFill rotWithShape="1">
                <a:blip r:embed="rId3"/>
                <a:stretch>
                  <a:fillRect l="-1" t="-19" r="7" b="3"/>
                </a:stretch>
              </a:blipFill>
            </p:spPr>
            <p:txBody>
              <a:bodyPr/>
              <a:lstStyle/>
              <a:p>
                <a:r>
                  <a:rPr lang="zh-CN" altLang="en-US">
                    <a:noFill/>
                  </a:rPr>
                  <a:t> </a:t>
                </a:r>
              </a:p>
            </p:txBody>
          </p:sp>
        </mc:Fallback>
      </mc:AlternateContent>
      <p:pic>
        <p:nvPicPr>
          <p:cNvPr id="6" name="图片 5"/>
          <p:cNvPicPr>
            <a:picLocks noChangeAspect="1"/>
          </p:cNvPicPr>
          <p:nvPr/>
        </p:nvPicPr>
        <p:blipFill>
          <a:blip r:embed="rId4"/>
          <a:stretch>
            <a:fillRect/>
          </a:stretch>
        </p:blipFill>
        <p:spPr>
          <a:xfrm>
            <a:off x="431514" y="3401151"/>
            <a:ext cx="5409840" cy="1486685"/>
          </a:xfrm>
          <a:prstGeom prst="rect">
            <a:avLst/>
          </a:prstGeom>
        </p:spPr>
      </p:pic>
      <p:pic>
        <p:nvPicPr>
          <p:cNvPr id="7" name="图片 6"/>
          <p:cNvPicPr>
            <a:picLocks noChangeAspect="1"/>
          </p:cNvPicPr>
          <p:nvPr/>
        </p:nvPicPr>
        <p:blipFill>
          <a:blip r:embed="rId5"/>
          <a:stretch>
            <a:fillRect/>
          </a:stretch>
        </p:blipFill>
        <p:spPr>
          <a:xfrm>
            <a:off x="6158142" y="2627379"/>
            <a:ext cx="5102334" cy="3402976"/>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1179251" y="5856072"/>
                <a:ext cx="8714975" cy="923330"/>
              </a:xfrm>
              <a:prstGeom prst="rect">
                <a:avLst/>
              </a:prstGeom>
            </p:spPr>
            <p:txBody>
              <a:bodyPr wrap="square">
                <a:spAutoFit/>
              </a:bodyPr>
              <a:lstStyle/>
              <a:p>
                <a:pPr indent="266700" algn="just">
                  <a:lnSpc>
                    <a:spcPct val="150000"/>
                  </a:lnSpc>
                  <a:spcAft>
                    <a:spcPts val="0"/>
                  </a:spcAft>
                </a:pPr>
                <a:r>
                  <a:rPr lang="zh-CN" altLang="zh-CN" kern="100" dirty="0">
                    <a:latin typeface="Times New Roman" panose="02020603050405020304" pitchFamily="18" charset="0"/>
                    <a:ea typeface="楷体_GB2312"/>
                    <a:cs typeface="Times New Roman" panose="02020603050405020304" pitchFamily="18" charset="0"/>
                  </a:rPr>
                  <a:t>一元线性回归实际上就是</a:t>
                </a:r>
                <a:r>
                  <a:rPr lang="zh-CN" altLang="zh-CN" kern="100" dirty="0">
                    <a:solidFill>
                      <a:srgbClr val="C00000"/>
                    </a:solidFill>
                    <a:latin typeface="Times New Roman" panose="02020603050405020304" pitchFamily="18" charset="0"/>
                    <a:ea typeface="楷体_GB2312"/>
                    <a:cs typeface="Times New Roman" panose="02020603050405020304" pitchFamily="18" charset="0"/>
                  </a:rPr>
                  <a:t>寻找</a:t>
                </a:r>
                <a:r>
                  <a:rPr lang="zh-CN" altLang="zh-CN" kern="100" dirty="0">
                    <a:latin typeface="Times New Roman" panose="02020603050405020304" pitchFamily="18" charset="0"/>
                    <a:ea typeface="楷体_GB2312"/>
                    <a:cs typeface="Times New Roman" panose="02020603050405020304" pitchFamily="18" charset="0"/>
                  </a:rPr>
                  <a:t>一条用</a:t>
                </a:r>
                <a14:m>
                  <m:oMath xmlns:m="http://schemas.openxmlformats.org/officeDocument/2006/math">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smtClean="0">
                        <a:solidFill>
                          <a:srgbClr val="C00000"/>
                        </a:solidFill>
                        <a:latin typeface="Cambria Math" panose="02040503050406030204" pitchFamily="18" charset="0"/>
                        <a:ea typeface="楷体_GB2312"/>
                        <a:cs typeface="Times New Roman" panose="02020603050405020304" pitchFamily="18" charset="0"/>
                      </a:rPr>
                      <m:t>𝑎</m:t>
                    </m:r>
                    <m:r>
                      <a:rPr lang="en-US" altLang="zh-CN" i="1" kern="100">
                        <a:latin typeface="Cambria Math" panose="02040503050406030204" pitchFamily="18" charset="0"/>
                        <a:ea typeface="楷体_GB2312"/>
                        <a:cs typeface="Times New Roman" panose="02020603050405020304" pitchFamily="18" charset="0"/>
                      </a:rPr>
                      <m:t>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smtClean="0">
                        <a:solidFill>
                          <a:srgbClr val="C00000"/>
                        </a:solidFill>
                        <a:latin typeface="Cambria Math" panose="02040503050406030204" pitchFamily="18" charset="0"/>
                        <a:ea typeface="楷体_GB2312"/>
                        <a:cs typeface="Times New Roman" panose="02020603050405020304" pitchFamily="18" charset="0"/>
                      </a:rPr>
                      <m:t>𝑏</m:t>
                    </m:r>
                  </m:oMath>
                </a14:m>
                <a:r>
                  <a:rPr lang="zh-CN" altLang="zh-CN" kern="100" dirty="0">
                    <a:latin typeface="Times New Roman" panose="02020603050405020304" pitchFamily="18" charset="0"/>
                    <a:ea typeface="楷体_GB2312"/>
                    <a:cs typeface="Times New Roman" panose="02020603050405020304" pitchFamily="18" charset="0"/>
                  </a:rPr>
                  <a:t>表达的直线，使得这条直线尽可能靠近或穿过这</a:t>
                </a:r>
                <a:r>
                  <a:rPr lang="en-US" altLang="zh-CN" kern="100" dirty="0">
                    <a:latin typeface="Times New Roman" panose="02020603050405020304" pitchFamily="18" charset="0"/>
                    <a:ea typeface="楷体_GB2312"/>
                    <a:cs typeface="Times New Roman" panose="02020603050405020304" pitchFamily="18" charset="0"/>
                  </a:rPr>
                  <a:t>8</a:t>
                </a:r>
                <a:r>
                  <a:rPr lang="zh-CN" altLang="zh-CN" kern="100" dirty="0">
                    <a:latin typeface="Times New Roman" panose="02020603050405020304" pitchFamily="18" charset="0"/>
                    <a:ea typeface="楷体_GB2312"/>
                    <a:cs typeface="Times New Roman" panose="02020603050405020304" pitchFamily="18" charset="0"/>
                  </a:rPr>
                  <a:t>组</a:t>
                </a:r>
                <a14:m>
                  <m:oMath xmlns:m="http://schemas.openxmlformats.org/officeDocument/2006/math">
                    <m:r>
                      <a:rPr lang="en-US" altLang="zh-CN"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oMath>
                </a14:m>
                <a:r>
                  <a:rPr lang="zh-CN" altLang="zh-CN" kern="100" dirty="0">
                    <a:latin typeface="Times New Roman" panose="02020603050405020304" pitchFamily="18" charset="0"/>
                    <a:ea typeface="楷体_GB2312"/>
                    <a:cs typeface="Times New Roman" panose="02020603050405020304" pitchFamily="18" charset="0"/>
                  </a:rPr>
                  <a:t>数据，即能够以最小误差来拟合这</a:t>
                </a:r>
                <a:r>
                  <a:rPr lang="en-US" altLang="zh-CN" kern="100" dirty="0">
                    <a:latin typeface="Times New Roman" panose="02020603050405020304" pitchFamily="18" charset="0"/>
                    <a:ea typeface="楷体_GB2312"/>
                    <a:cs typeface="Times New Roman" panose="02020603050405020304" pitchFamily="18" charset="0"/>
                  </a:rPr>
                  <a:t>8</a:t>
                </a:r>
                <a:r>
                  <a:rPr lang="zh-CN" altLang="zh-CN" kern="100" dirty="0">
                    <a:latin typeface="Times New Roman" panose="02020603050405020304" pitchFamily="18" charset="0"/>
                    <a:ea typeface="楷体_GB2312"/>
                    <a:cs typeface="Times New Roman" panose="02020603050405020304" pitchFamily="18" charset="0"/>
                  </a:rPr>
                  <a:t>组</a:t>
                </a:r>
                <a14:m>
                  <m:oMath xmlns:m="http://schemas.openxmlformats.org/officeDocument/2006/math">
                    <m:r>
                      <a:rPr lang="en-US" altLang="zh-CN"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𝑥</m:t>
                    </m:r>
                    <m:r>
                      <a:rPr lang="en-US" altLang="zh-CN" i="1" kern="100">
                        <a:latin typeface="Cambria Math" panose="02040503050406030204" pitchFamily="18" charset="0"/>
                        <a:ea typeface="楷体_GB2312"/>
                        <a:cs typeface="Times New Roman" panose="02020603050405020304" pitchFamily="18" charset="0"/>
                      </a:rPr>
                      <m:t>,</m:t>
                    </m:r>
                    <m:r>
                      <a:rPr lang="en-US" altLang="zh-CN" i="1" kern="100">
                        <a:latin typeface="Cambria Math" panose="02040503050406030204" pitchFamily="18" charset="0"/>
                        <a:ea typeface="楷体_GB2312"/>
                        <a:cs typeface="Times New Roman" panose="02020603050405020304" pitchFamily="18" charset="0"/>
                      </a:rPr>
                      <m:t>𝑦</m:t>
                    </m:r>
                    <m:r>
                      <a:rPr lang="en-US" altLang="zh-CN" i="1" kern="100">
                        <a:latin typeface="Cambria Math" panose="02040503050406030204" pitchFamily="18" charset="0"/>
                        <a:ea typeface="楷体_GB2312"/>
                        <a:cs typeface="Times New Roman" panose="02020603050405020304" pitchFamily="18" charset="0"/>
                      </a:rPr>
                      <m:t>)</m:t>
                    </m:r>
                  </m:oMath>
                </a14:m>
                <a:r>
                  <a:rPr lang="zh-CN" altLang="zh-CN" kern="100" dirty="0">
                    <a:latin typeface="Times New Roman" panose="02020603050405020304" pitchFamily="18" charset="0"/>
                    <a:ea typeface="楷体_GB2312"/>
                    <a:cs typeface="Times New Roman" panose="02020603050405020304" pitchFamily="18" charset="0"/>
                  </a:rPr>
                  <a:t>数据。</a:t>
                </a:r>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1179251" y="5856072"/>
                <a:ext cx="8714975" cy="923330"/>
              </a:xfrm>
              <a:prstGeom prst="rect">
                <a:avLst/>
              </a:prstGeom>
              <a:blipFill>
                <a:blip r:embed="rId6"/>
                <a:stretch>
                  <a:fillRect l="-559" r="-559" b="-4636"/>
                </a:stretch>
              </a:blipFill>
            </p:spPr>
            <p:txBody>
              <a:bodyPr/>
              <a:lstStyle/>
              <a:p>
                <a:r>
                  <a:rPr lang="zh-CN" altLang="en-US">
                    <a:noFill/>
                  </a:rPr>
                  <a:t> </a:t>
                </a:r>
              </a:p>
            </p:txBody>
          </p:sp>
        </mc:Fallback>
      </mc:AlternateContent>
      <p:grpSp>
        <p:nvGrpSpPr>
          <p:cNvPr id="11" name="组合 10"/>
          <p:cNvGrpSpPr/>
          <p:nvPr/>
        </p:nvGrpSpPr>
        <p:grpSpPr>
          <a:xfrm>
            <a:off x="8547911" y="2276580"/>
            <a:ext cx="3502823" cy="864436"/>
            <a:chOff x="4216534" y="2849787"/>
            <a:chExt cx="1820988" cy="864436"/>
          </a:xfrm>
        </p:grpSpPr>
        <p:sp>
          <p:nvSpPr>
            <p:cNvPr id="12" name="平行四边形 11"/>
            <p:cNvSpPr/>
            <p:nvPr/>
          </p:nvSpPr>
          <p:spPr bwMode="auto">
            <a:xfrm>
              <a:off x="4216534" y="2849787"/>
              <a:ext cx="1820988" cy="468000"/>
            </a:xfrm>
            <a:prstGeom prst="parallelogram">
              <a:avLst/>
            </a:prstGeom>
            <a:solidFill>
              <a:srgbClr val="FFFF00"/>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3" name="矩形 12"/>
            <p:cNvSpPr/>
            <p:nvPr/>
          </p:nvSpPr>
          <p:spPr>
            <a:xfrm>
              <a:off x="4216534" y="2853798"/>
              <a:ext cx="1820988" cy="860425"/>
            </a:xfrm>
            <a:prstGeom prst="rect">
              <a:avLst/>
            </a:prstGeom>
            <a:ln>
              <a:noFill/>
            </a:ln>
          </p:spPr>
          <p:txBody>
            <a:bodyPr wrap="square">
              <a:spAutoFit/>
            </a:bodyPr>
            <a:lstStyle/>
            <a:p>
              <a:pPr algn="ctr">
                <a:spcBef>
                  <a:spcPct val="50000"/>
                </a:spcBef>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机器学习 </a:t>
              </a:r>
              <a:r>
                <a:rPr lang="en-US" altLang="zh-TW" sz="2000"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学习映射函数</a:t>
              </a:r>
              <a:endParaRPr lang="zh-CN" altLang="en-US" sz="2000" dirty="0"/>
            </a:p>
            <a:p>
              <a:pPr algn="ctr">
                <a:spcBef>
                  <a:spcPct val="50000"/>
                </a:spcBef>
              </a:pP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回归分析：一元线性回归模型</a:t>
              </a:r>
            </a:p>
          </p:txBody>
        </p:sp>
      </p:grpSp>
      <p:pic>
        <p:nvPicPr>
          <p:cNvPr id="2" name="图片 1"/>
          <p:cNvPicPr>
            <a:picLocks noChangeAspect="1"/>
          </p:cNvPicPr>
          <p:nvPr/>
        </p:nvPicPr>
        <p:blipFill>
          <a:blip r:embed="rId3"/>
          <a:stretch>
            <a:fillRect/>
          </a:stretch>
        </p:blipFill>
        <p:spPr>
          <a:xfrm>
            <a:off x="7166265" y="3186107"/>
            <a:ext cx="4708767" cy="1294022"/>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895313" y="1529731"/>
                <a:ext cx="6096000" cy="4843827"/>
              </a:xfrm>
              <a:prstGeom prst="rect">
                <a:avLst/>
              </a:prstGeom>
            </p:spPr>
            <p:txBody>
              <a:bodyPr>
                <a:spAutoFit/>
              </a:bodyPr>
              <a:lstStyle/>
              <a:p>
                <a:pPr indent="266700" algn="just">
                  <a:lnSpc>
                    <a:spcPct val="150000"/>
                  </a:lnSpc>
                  <a:spcAft>
                    <a:spcPts val="0"/>
                  </a:spcAft>
                </a:pPr>
                <a:r>
                  <a:rPr lang="zh-CN" altLang="zh-CN" dirty="0">
                    <a:solidFill>
                      <a:srgbClr val="C00000"/>
                    </a:solidFill>
                    <a:latin typeface="Times New Roman" panose="02020603050405020304" pitchFamily="18" charset="0"/>
                    <a:ea typeface="楷体_GB2312"/>
                    <a:cs typeface="Times New Roman" panose="02020603050405020304" pitchFamily="18" charset="0"/>
                  </a:rPr>
                  <a:t>最佳回归模型将使得残差平方和的平均值</a:t>
                </a:r>
                <a14:m>
                  <m:oMath xmlns:m="http://schemas.openxmlformats.org/officeDocument/2006/math">
                    <m:f>
                      <m:f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solidFill>
                              <a:srgbClr val="C00000"/>
                            </a:solidFill>
                            <a:latin typeface="Cambria Math" panose="02040503050406030204" pitchFamily="18" charset="0"/>
                            <a:ea typeface="楷体_GB2312"/>
                            <a:cs typeface="Times New Roman" panose="02020603050405020304" pitchFamily="18" charset="0"/>
                          </a:rPr>
                          <m:t>1</m:t>
                        </m:r>
                      </m:num>
                      <m:den>
                        <m:r>
                          <a:rPr lang="en-US" altLang="zh-CN" i="1">
                            <a:solidFill>
                              <a:srgbClr val="C00000"/>
                            </a:solidFill>
                            <a:latin typeface="Cambria Math" panose="02040503050406030204" pitchFamily="18" charset="0"/>
                            <a:ea typeface="楷体_GB2312"/>
                            <a:cs typeface="Times New Roman" panose="02020603050405020304" pitchFamily="18" charset="0"/>
                          </a:rPr>
                          <m:t>𝑁</m:t>
                        </m:r>
                      </m:den>
                    </m:f>
                    <m:nary>
                      <m:naryPr>
                        <m:chr m:val="∑"/>
                        <m:limLoc m:val="undOvr"/>
                        <m:subHide m:val="on"/>
                        <m:supHide m:val="on"/>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𝑦</m:t>
                            </m:r>
                            <m:r>
                              <a:rPr lang="en-US" altLang="zh-CN" i="1">
                                <a:solidFill>
                                  <a:srgbClr val="C00000"/>
                                </a:solidFill>
                                <a:latin typeface="Cambria Math" panose="02040503050406030204" pitchFamily="18" charset="0"/>
                                <a:ea typeface="楷体_GB2312"/>
                                <a:cs typeface="Times New Roman" panose="02020603050405020304" pitchFamily="18" charset="0"/>
                              </a:rPr>
                              <m:t>−</m:t>
                            </m:r>
                            <m:acc>
                              <m:acc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acc>
                            <m:r>
                              <a:rPr lang="en-US" altLang="zh-CN">
                                <a:solidFill>
                                  <a:srgbClr val="C00000"/>
                                </a:solidFill>
                                <a:latin typeface="Cambria Math" panose="02040503050406030204" pitchFamily="18" charset="0"/>
                                <a:ea typeface="楷体_GB2312"/>
                                <a:cs typeface="Times New Roman" panose="02020603050405020304" pitchFamily="18" charset="0"/>
                              </a:rPr>
                              <m:t>)</m:t>
                            </m:r>
                          </m:e>
                          <m:sup>
                            <m:r>
                              <a:rPr lang="en-US" altLang="zh-CN" i="1">
                                <a:solidFill>
                                  <a:srgbClr val="C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最小，残差即预测值和真实值之间的差值</a:t>
                </a:r>
                <a:r>
                  <a:rPr lang="zh-CN" altLang="zh-CN" dirty="0">
                    <a:solidFill>
                      <a:srgbClr val="000000"/>
                    </a:solidFill>
                    <a:latin typeface="Times New Roman" panose="02020603050405020304" pitchFamily="18" charset="0"/>
                    <a:ea typeface="楷体_GB2312"/>
                    <a:cs typeface="Times New Roman" panose="02020603050405020304" pitchFamily="18" charset="0"/>
                  </a:rPr>
                  <a:t>。残差平方和的平均值最小只与参数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有关，最优解即是使得残差最小所对应的</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𝑎</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𝑏</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的值。</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C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C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a:solidFill>
                          <a:srgbClr val="C00000"/>
                        </a:solidFill>
                        <a:latin typeface="Cambria Math" panose="02040503050406030204" pitchFamily="18" charset="0"/>
                        <a:ea typeface="楷体_GB2312"/>
                        <a:cs typeface="Times New Roman" panose="02020603050405020304" pitchFamily="18" charset="0"/>
                      </a:rPr>
                      <m:t>𝐿</m:t>
                    </m:r>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𝑎</m:t>
                    </m:r>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𝑏</m:t>
                    </m:r>
                    <m:r>
                      <a:rPr lang="en-US" altLang="zh-CN" i="1">
                        <a:solidFill>
                          <a:srgbClr val="C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C00000"/>
                            </a:solidFill>
                            <a:latin typeface="Cambria Math" panose="02040503050406030204" pitchFamily="18" charset="0"/>
                            <a:ea typeface="楷体_GB2312"/>
                            <a:cs typeface="Times New Roman" panose="02020603050405020304" pitchFamily="18" charset="0"/>
                          </a:rPr>
                          <m:t>𝑖</m:t>
                        </m:r>
                        <m:r>
                          <a:rPr lang="en-US" altLang="zh-CN" i="1">
                            <a:solidFill>
                              <a:srgbClr val="C00000"/>
                            </a:solidFill>
                            <a:latin typeface="Cambria Math" panose="02040503050406030204" pitchFamily="18" charset="0"/>
                            <a:ea typeface="楷体_GB2312"/>
                            <a:cs typeface="Times New Roman" panose="02020603050405020304" pitchFamily="18" charset="0"/>
                          </a:rPr>
                          <m:t>=1</m:t>
                        </m:r>
                      </m:sub>
                      <m:sup>
                        <m:r>
                          <a:rPr lang="en-US" altLang="zh-CN" i="1">
                            <a:solidFill>
                              <a:srgbClr val="C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C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𝑥</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𝑏</m:t>
                            </m:r>
                            <m:r>
                              <a:rPr lang="en-US" altLang="zh-CN" i="1">
                                <a:solidFill>
                                  <a:srgbClr val="C00000"/>
                                </a:solidFill>
                                <a:latin typeface="Cambria Math" panose="02040503050406030204" pitchFamily="18" charset="0"/>
                                <a:ea typeface="楷体_GB2312"/>
                                <a:cs typeface="Times New Roman" panose="02020603050405020304" pitchFamily="18" charset="0"/>
                              </a:rPr>
                              <m:t> )</m:t>
                            </m:r>
                          </m:e>
                          <m:sup>
                            <m:r>
                              <a:rPr lang="en-US" altLang="zh-CN" i="1">
                                <a:solidFill>
                                  <a:srgbClr val="C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，使用</a:t>
                </a:r>
                <a:r>
                  <a:rPr lang="zh-CN" altLang="zh-CN" b="1" dirty="0">
                    <a:solidFill>
                      <a:srgbClr val="C00000"/>
                    </a:solidFill>
                    <a:latin typeface="Times New Roman" panose="02020603050405020304" pitchFamily="18" charset="0"/>
                    <a:ea typeface="楷体_GB2312"/>
                    <a:cs typeface="Times New Roman" panose="02020603050405020304" pitchFamily="18" charset="0"/>
                  </a:rPr>
                  <a:t>最小二乘法</a:t>
                </a:r>
                <a:r>
                  <a:rPr lang="zh-CN" altLang="zh-CN" dirty="0">
                    <a:solidFill>
                      <a:srgbClr val="C00000"/>
                    </a:solidFill>
                    <a:latin typeface="Times New Roman" panose="02020603050405020304" pitchFamily="18" charset="0"/>
                    <a:ea typeface="楷体_GB2312"/>
                    <a:cs typeface="Times New Roman" panose="02020603050405020304" pitchFamily="18" charset="0"/>
                  </a:rPr>
                  <a:t>找到误差总和最小</a:t>
                </a:r>
                <a:r>
                  <a:rPr lang="zh-CN" altLang="zh-CN" dirty="0">
                    <a:solidFill>
                      <a:srgbClr val="000000"/>
                    </a:solidFill>
                    <a:latin typeface="Times New Roman" panose="02020603050405020304" pitchFamily="18" charset="0"/>
                    <a:ea typeface="楷体_GB2312"/>
                    <a:cs typeface="Times New Roman" panose="02020603050405020304" pitchFamily="18" charset="0"/>
                  </a:rPr>
                  <a:t>，要使函数具有最小值，可对</a:t>
                </a:r>
                <a:r>
                  <a:rPr lang="en-US" altLang="zh-CN" dirty="0">
                    <a:solidFill>
                      <a:srgbClr val="000000"/>
                    </a:solidFill>
                    <a:latin typeface="Cambria Math" panose="02040503050406030204" pitchFamily="18" charset="0"/>
                    <a:ea typeface="楷体_GB2312"/>
                    <a:cs typeface="Cambria Math" panose="02040503050406030204" pitchFamily="18" charset="0"/>
                  </a:rPr>
                  <a:t>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的取值。</a:t>
                </a:r>
              </a:p>
            </p:txBody>
          </p:sp>
        </mc:Choice>
        <mc:Fallback xmlns="">
          <p:sp>
            <p:nvSpPr>
              <p:cNvPr id="9" name="矩形 8"/>
              <p:cNvSpPr>
                <a:spLocks noRot="1" noChangeAspect="1" noMove="1" noResize="1" noEditPoints="1" noAdjustHandles="1" noChangeArrowheads="1" noChangeShapeType="1" noTextEdit="1"/>
              </p:cNvSpPr>
              <p:nvPr/>
            </p:nvSpPr>
            <p:spPr>
              <a:xfrm>
                <a:off x="895313" y="1529731"/>
                <a:ext cx="6096000" cy="4843827"/>
              </a:xfrm>
              <a:prstGeom prst="rect">
                <a:avLst/>
              </a:prstGeom>
              <a:blipFill>
                <a:blip r:embed="rId4"/>
                <a:stretch>
                  <a:fillRect l="-5600" t="-4906" r="-80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5210458" y="1645647"/>
            <a:ext cx="5740700" cy="47281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回归分析：一元线性回归模型参数求解</a:t>
              </a:r>
            </a:p>
          </p:txBody>
        </p:sp>
      </p:grpSp>
      <mc:AlternateContent xmlns:mc="http://schemas.openxmlformats.org/markup-compatibility/2006" xmlns:a14="http://schemas.microsoft.com/office/drawing/2010/main">
        <mc:Choice Requires="a14">
          <p:sp>
            <p:nvSpPr>
              <p:cNvPr id="7" name="矩形 6"/>
              <p:cNvSpPr/>
              <p:nvPr/>
            </p:nvSpPr>
            <p:spPr>
              <a:xfrm>
                <a:off x="418425" y="2100404"/>
                <a:ext cx="4792033" cy="3841629"/>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C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𝑥</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C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e>
                      <m:sup>
                        <m:r>
                          <a:rPr lang="en-US" altLang="zh-CN" i="1">
                            <a:solidFill>
                              <a:srgbClr val="C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smtClean="0">
                        <a:solidFill>
                          <a:srgbClr val="C00000"/>
                        </a:solidFill>
                        <a:latin typeface="Cambria Math" panose="02040503050406030204" pitchFamily="18" charset="0"/>
                        <a:ea typeface="楷体_GB2312"/>
                        <a:cs typeface="Times New Roman" panose="02020603050405020304" pitchFamily="18" charset="0"/>
                      </a:rPr>
                      <m:t>𝐿</m:t>
                    </m:r>
                    <m:r>
                      <a:rPr lang="en-US" altLang="zh-CN" i="1" smtClean="0">
                        <a:solidFill>
                          <a:srgbClr val="C00000"/>
                        </a:solidFill>
                        <a:latin typeface="Cambria Math" panose="02040503050406030204" pitchFamily="18" charset="0"/>
                        <a:ea typeface="楷体_GB2312"/>
                        <a:cs typeface="Times New Roman" panose="02020603050405020304" pitchFamily="18" charset="0"/>
                      </a:rPr>
                      <m:t>(</m:t>
                    </m:r>
                    <m:r>
                      <a:rPr lang="en-US" altLang="zh-CN" i="1" smtClean="0">
                        <a:solidFill>
                          <a:srgbClr val="C00000"/>
                        </a:solidFill>
                        <a:latin typeface="Cambria Math" panose="02040503050406030204" pitchFamily="18" charset="0"/>
                        <a:ea typeface="楷体_GB2312"/>
                        <a:cs typeface="Times New Roman" panose="02020603050405020304" pitchFamily="18" charset="0"/>
                      </a:rPr>
                      <m:t>𝑎</m:t>
                    </m:r>
                    <m:r>
                      <a:rPr lang="en-US" altLang="zh-CN" i="1" smtClean="0">
                        <a:solidFill>
                          <a:srgbClr val="C00000"/>
                        </a:solidFill>
                        <a:latin typeface="Cambria Math" panose="02040503050406030204" pitchFamily="18" charset="0"/>
                        <a:ea typeface="楷体_GB2312"/>
                        <a:cs typeface="Times New Roman" panose="02020603050405020304" pitchFamily="18" charset="0"/>
                      </a:rPr>
                      <m:t>,</m:t>
                    </m:r>
                    <m:r>
                      <a:rPr lang="en-US" altLang="zh-CN" i="1" smtClean="0">
                        <a:solidFill>
                          <a:srgbClr val="C00000"/>
                        </a:solidFill>
                        <a:latin typeface="Cambria Math" panose="02040503050406030204" pitchFamily="18" charset="0"/>
                        <a:ea typeface="楷体_GB2312"/>
                        <a:cs typeface="Times New Roman" panose="02020603050405020304" pitchFamily="18" charset="0"/>
                      </a:rPr>
                      <m:t>𝑏</m:t>
                    </m:r>
                    <m:r>
                      <a:rPr lang="en-US" altLang="zh-CN" i="1" smtClean="0">
                        <a:solidFill>
                          <a:srgbClr val="C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C00000"/>
                            </a:solidFill>
                            <a:latin typeface="Cambria Math" panose="02040503050406030204" pitchFamily="18" charset="0"/>
                            <a:ea typeface="楷体_GB2312"/>
                            <a:cs typeface="Times New Roman" panose="02020603050405020304" pitchFamily="18" charset="0"/>
                          </a:rPr>
                          <m:t>𝑖</m:t>
                        </m:r>
                        <m:r>
                          <a:rPr lang="en-US" altLang="zh-CN" i="1">
                            <a:solidFill>
                              <a:srgbClr val="C00000"/>
                            </a:solidFill>
                            <a:latin typeface="Cambria Math" panose="02040503050406030204" pitchFamily="18" charset="0"/>
                            <a:ea typeface="楷体_GB2312"/>
                            <a:cs typeface="Times New Roman" panose="02020603050405020304" pitchFamily="18" charset="0"/>
                          </a:rPr>
                          <m:t>=1</m:t>
                        </m:r>
                      </m:sub>
                      <m:sup>
                        <m:r>
                          <a:rPr lang="en-US" altLang="zh-CN" i="1">
                            <a:solidFill>
                              <a:srgbClr val="C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C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𝑦</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C00000"/>
                                    </a:solidFill>
                                    <a:latin typeface="Cambria Math" panose="02040503050406030204" pitchFamily="18" charset="0"/>
                                    <a:ea typeface="楷体_GB2312"/>
                                    <a:cs typeface="Times New Roman" panose="02020603050405020304" pitchFamily="18" charset="0"/>
                                  </a:rPr>
                                  <m:t>𝑥</m:t>
                                </m:r>
                              </m:e>
                              <m:sub>
                                <m:r>
                                  <a:rPr lang="en-US" altLang="zh-CN" i="1">
                                    <a:solidFill>
                                      <a:srgbClr val="C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𝑏</m:t>
                            </m:r>
                            <m:r>
                              <a:rPr lang="en-US" altLang="zh-CN" i="1">
                                <a:solidFill>
                                  <a:srgbClr val="C00000"/>
                                </a:solidFill>
                                <a:latin typeface="Cambria Math" panose="02040503050406030204" pitchFamily="18" charset="0"/>
                                <a:ea typeface="楷体_GB2312"/>
                                <a:cs typeface="Times New Roman" panose="02020603050405020304" pitchFamily="18" charset="0"/>
                              </a:rPr>
                              <m:t> )</m:t>
                            </m:r>
                          </m:e>
                          <m:sup>
                            <m:r>
                              <a:rPr lang="en-US" altLang="zh-CN" i="1">
                                <a:solidFill>
                                  <a:srgbClr val="C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，使用最小二乘法找到误差总和最小，要使函数具有最小值，可</a:t>
                </a:r>
                <a:r>
                  <a:rPr lang="zh-CN" altLang="zh-CN" dirty="0">
                    <a:solidFill>
                      <a:srgbClr val="C00000"/>
                    </a:solidFill>
                    <a:latin typeface="Times New Roman" panose="02020603050405020304" pitchFamily="18" charset="0"/>
                    <a:ea typeface="楷体_GB2312"/>
                    <a:cs typeface="Times New Roman" panose="02020603050405020304" pitchFamily="18" charset="0"/>
                  </a:rPr>
                  <a:t>对</a:t>
                </a:r>
                <a:r>
                  <a:rPr lang="en-US" altLang="zh-CN" dirty="0">
                    <a:solidFill>
                      <a:srgbClr val="C00000"/>
                    </a:solidFill>
                    <a:latin typeface="Cambria Math" panose="02040503050406030204" pitchFamily="18" charset="0"/>
                    <a:ea typeface="楷体_GB2312"/>
                    <a:cs typeface="Cambria Math" panose="02040503050406030204" pitchFamily="18" charset="0"/>
                  </a:rPr>
                  <a:t>𝐿</a:t>
                </a:r>
                <a:r>
                  <a:rPr lang="en-US" altLang="zh-CN" dirty="0">
                    <a:solidFill>
                      <a:srgbClr val="C00000"/>
                    </a:solidFill>
                    <a:latin typeface="Times New Roman" panose="02020603050405020304" pitchFamily="18" charset="0"/>
                    <a:ea typeface="楷体_GB2312"/>
                    <a:cs typeface="Times New Roman" panose="02020603050405020304" pitchFamily="18" charset="0"/>
                  </a:rPr>
                  <a:t>(</a:t>
                </a:r>
                <a:r>
                  <a:rPr lang="en-US" altLang="zh-CN" dirty="0">
                    <a:solidFill>
                      <a:srgbClr val="C00000"/>
                    </a:solidFill>
                    <a:latin typeface="Cambria Math" panose="02040503050406030204" pitchFamily="18" charset="0"/>
                    <a:ea typeface="楷体_GB2312"/>
                    <a:cs typeface="Cambria Math" panose="02040503050406030204" pitchFamily="18" charset="0"/>
                  </a:rPr>
                  <a:t>𝑎</a:t>
                </a:r>
                <a:r>
                  <a:rPr lang="en-US" altLang="zh-CN" dirty="0">
                    <a:solidFill>
                      <a:srgbClr val="C00000"/>
                    </a:solidFill>
                    <a:latin typeface="Times New Roman" panose="02020603050405020304" pitchFamily="18" charset="0"/>
                    <a:ea typeface="楷体_GB2312"/>
                    <a:cs typeface="Times New Roman" panose="02020603050405020304" pitchFamily="18" charset="0"/>
                  </a:rPr>
                  <a:t>,</a:t>
                </a:r>
                <a:r>
                  <a:rPr lang="en-US" altLang="zh-CN" dirty="0">
                    <a:solidFill>
                      <a:srgbClr val="C00000"/>
                    </a:solidFill>
                    <a:latin typeface="Cambria Math" panose="02040503050406030204" pitchFamily="18" charset="0"/>
                    <a:ea typeface="楷体_GB2312"/>
                    <a:cs typeface="Cambria Math" panose="02040503050406030204" pitchFamily="18" charset="0"/>
                  </a:rPr>
                  <a:t>𝑏</a:t>
                </a:r>
                <a:r>
                  <a:rPr lang="en-US" altLang="zh-CN" dirty="0">
                    <a:solidFill>
                      <a:srgbClr val="C00000"/>
                    </a:solidFill>
                    <a:latin typeface="Times New Roman" panose="02020603050405020304" pitchFamily="18" charset="0"/>
                    <a:ea typeface="楷体_GB2312"/>
                    <a:cs typeface="Times New Roman" panose="02020603050405020304" pitchFamily="18" charset="0"/>
                  </a:rPr>
                  <a:t>) </a:t>
                </a:r>
                <a:r>
                  <a:rPr lang="zh-CN" altLang="zh-CN" dirty="0">
                    <a:solidFill>
                      <a:srgbClr val="C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C00000"/>
                    </a:solidFill>
                    <a:latin typeface="Cambria Math" panose="02040503050406030204" pitchFamily="18" charset="0"/>
                    <a:ea typeface="楷体_GB2312"/>
                    <a:cs typeface="Cambria Math" panose="02040503050406030204" pitchFamily="18" charset="0"/>
                  </a:rPr>
                  <a:t>𝑎</a:t>
                </a:r>
                <a:r>
                  <a:rPr lang="zh-CN" altLang="zh-CN" dirty="0">
                    <a:solidFill>
                      <a:srgbClr val="C00000"/>
                    </a:solidFill>
                    <a:latin typeface="Times New Roman" panose="02020603050405020304" pitchFamily="18" charset="0"/>
                    <a:ea typeface="楷体_GB2312"/>
                    <a:cs typeface="Times New Roman" panose="02020603050405020304" pitchFamily="18" charset="0"/>
                  </a:rPr>
                  <a:t>和</a:t>
                </a:r>
                <a:r>
                  <a:rPr lang="en-US" altLang="zh-CN" dirty="0">
                    <a:solidFill>
                      <a:srgbClr val="C00000"/>
                    </a:solidFill>
                    <a:latin typeface="Cambria Math" panose="02040503050406030204" pitchFamily="18" charset="0"/>
                    <a:ea typeface="楷体_GB2312"/>
                    <a:cs typeface="Cambria Math" panose="02040503050406030204" pitchFamily="18" charset="0"/>
                  </a:rPr>
                  <a:t>𝑏</a:t>
                </a:r>
                <a:r>
                  <a:rPr lang="zh-CN" altLang="zh-CN" dirty="0">
                    <a:solidFill>
                      <a:srgbClr val="C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C00000"/>
                    </a:solidFill>
                    <a:latin typeface="Cambria Math" panose="02040503050406030204" pitchFamily="18" charset="0"/>
                    <a:ea typeface="楷体_GB2312"/>
                    <a:cs typeface="Cambria Math" panose="02040503050406030204" pitchFamily="18" charset="0"/>
                  </a:rPr>
                  <a:t>𝑎</a:t>
                </a:r>
                <a:r>
                  <a:rPr lang="zh-CN" altLang="zh-CN" dirty="0">
                    <a:solidFill>
                      <a:srgbClr val="C00000"/>
                    </a:solidFill>
                    <a:latin typeface="Times New Roman" panose="02020603050405020304" pitchFamily="18" charset="0"/>
                    <a:ea typeface="楷体_GB2312"/>
                    <a:cs typeface="Times New Roman" panose="02020603050405020304" pitchFamily="18" charset="0"/>
                  </a:rPr>
                  <a:t>和</a:t>
                </a:r>
                <a:r>
                  <a:rPr lang="en-US" altLang="zh-CN" dirty="0">
                    <a:solidFill>
                      <a:srgbClr val="C00000"/>
                    </a:solidFill>
                    <a:latin typeface="Cambria Math" panose="02040503050406030204" pitchFamily="18" charset="0"/>
                    <a:ea typeface="楷体_GB2312"/>
                    <a:cs typeface="Cambria Math" panose="02040503050406030204" pitchFamily="18" charset="0"/>
                  </a:rPr>
                  <a:t>𝑏</a:t>
                </a:r>
                <a:r>
                  <a:rPr lang="zh-CN" altLang="zh-CN" dirty="0">
                    <a:solidFill>
                      <a:srgbClr val="C00000"/>
                    </a:solidFill>
                    <a:latin typeface="Times New Roman" panose="02020603050405020304" pitchFamily="18" charset="0"/>
                    <a:ea typeface="楷体_GB2312"/>
                    <a:cs typeface="Times New Roman" panose="02020603050405020304" pitchFamily="18" charset="0"/>
                  </a:rPr>
                  <a:t>的取值</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7" name="矩形 6"/>
              <p:cNvSpPr>
                <a:spLocks noRot="1" noChangeAspect="1" noMove="1" noResize="1" noEditPoints="1" noAdjustHandles="1" noChangeArrowheads="1" noChangeShapeType="1" noTextEdit="1"/>
              </p:cNvSpPr>
              <p:nvPr/>
            </p:nvSpPr>
            <p:spPr>
              <a:xfrm>
                <a:off x="418425" y="2100404"/>
                <a:ext cx="4792033" cy="3841629"/>
              </a:xfrm>
              <a:prstGeom prst="rect">
                <a:avLst/>
              </a:prstGeom>
              <a:blipFill>
                <a:blip r:embed="rId3"/>
                <a:stretch>
                  <a:fillRect l="-1145" r="-5725" b="-1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672166" y="1645647"/>
                <a:ext cx="6096000" cy="4789516"/>
              </a:xfrm>
              <a:prstGeom prst="rect">
                <a:avLst/>
              </a:prstGeom>
            </p:spPr>
            <p:txBody>
              <a:bodyPr>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优化目标：</a:t>
                </a:r>
              </a:p>
              <a:p>
                <a:pPr/>
                <a14:m>
                  <m:oMathPara xmlns:m="http://schemas.openxmlformats.org/officeDocument/2006/math">
                    <m:oMathParaPr>
                      <m:jc m:val="centerGroup"/>
                    </m:oMathParaPr>
                    <m:oMath xmlns:m="http://schemas.openxmlformats.org/officeDocument/2006/math">
                      <m:func>
                        <m:funcPr>
                          <m:ctrlPr>
                            <a:rPr lang="zh-CN" altLang="zh-CN" i="1" kern="10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kern="100">
                                  <a:solidFill>
                                    <a:srgbClr val="C00000"/>
                                  </a:solidFill>
                                  <a:latin typeface="Cambria Math" panose="02040503050406030204" pitchFamily="18" charset="0"/>
                                  <a:ea typeface="等线" panose="02010600030101010101" charset="-122"/>
                                  <a:cs typeface="Times New Roman" panose="02020603050405020304" pitchFamily="18" charset="0"/>
                                </a:rPr>
                                <m:t>min</m:t>
                              </m:r>
                            </m:e>
                            <m:lim>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lim>
                          </m:limLow>
                        </m:fName>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𝐿</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𝑛</m:t>
                              </m:r>
                            </m:sup>
                            <m:e>
                              <m:sSup>
                                <m:sSup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 )</m:t>
                                  </m:r>
                                </m:e>
                                <m:sup>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2</m:t>
                                  </m:r>
                                </m:sup>
                              </m:sSup>
                            </m:e>
                          </m:nary>
                        </m:e>
                      </m:func>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损失函数对</a:t>
                </a:r>
                <a:r>
                  <a:rPr lang="en-US" altLang="zh-CN" dirty="0">
                    <a:solidFill>
                      <a:srgbClr val="000000"/>
                    </a:solidFill>
                    <a:latin typeface="Times New Roman" panose="02020603050405020304" pitchFamily="18" charset="0"/>
                    <a:ea typeface="楷体_GB2312"/>
                    <a:cs typeface="Times New Roman" panose="02020603050405020304" pitchFamily="18" charset="0"/>
                  </a:rPr>
                  <a:t>b</a:t>
                </a:r>
                <a:r>
                  <a:rPr lang="zh-CN" altLang="zh-CN" dirty="0">
                    <a:solidFill>
                      <a:srgbClr val="000000"/>
                    </a:solidFill>
                    <a:latin typeface="Times New Roman" panose="02020603050405020304" pitchFamily="18" charset="0"/>
                    <a:ea typeface="楷体_GB2312"/>
                    <a:cs typeface="Times New Roman" panose="02020603050405020304" pitchFamily="18" charset="0"/>
                  </a:rPr>
                  <a:t>求偏导：</a:t>
                </a:r>
              </a:p>
              <a:p>
                <a:pPr/>
                <a14:m>
                  <m:oMathPara xmlns:m="http://schemas.openxmlformats.org/officeDocument/2006/math">
                    <m:oMathParaPr>
                      <m:jc m:val="centerGroup"/>
                    </m:oMathParaPr>
                    <m:oMath xmlns:m="http://schemas.openxmlformats.org/officeDocument/2006/math">
                      <m:f>
                        <m:fPr>
                          <m:ctrlPr>
                            <a:rPr lang="zh-CN" altLang="zh-CN" i="1" kern="10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𝐿</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num>
                        <m:den>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den>
                      </m:f>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(−1)=0</m:t>
                          </m:r>
                        </m:e>
                      </m:nary>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e>
                              </m:nary>
                            </m:e>
                          </m:nary>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𝑛𝑎</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𝑛𝑏</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   </m:t>
                      </m:r>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acc>
                        <m:accPr>
                          <m:chr m:val="̅"/>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indent="266700"/>
                <a:r>
                  <a:rPr lang="en-US"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 </a:t>
                </a:r>
                <a:endParaRPr lang="zh-CN" altLang="zh-CN" kern="100" dirty="0">
                  <a:latin typeface="等线" panose="02010600030101010101" charset="-122"/>
                  <a:ea typeface="等线" panose="02010600030101010101" charset="-122"/>
                  <a:cs typeface="Times New Roman" panose="02020603050405020304" pitchFamily="18" charset="0"/>
                </a:endParaRPr>
              </a:p>
              <a:p>
                <a:r>
                  <a:rPr lang="zh-CN" altLang="zh-CN" dirty="0">
                    <a:ea typeface="等线" panose="02010600030101010101" charset="-122"/>
                    <a:cs typeface="Times New Roman" panose="02020603050405020304" pitchFamily="18" charset="0"/>
                  </a:rPr>
                  <a:t>这样就得到了参数</a:t>
                </a:r>
                <a:r>
                  <a:rPr lang="en-US" altLang="zh-CN" dirty="0">
                    <a:ea typeface="等线" panose="02010600030101010101" charset="-122"/>
                    <a:cs typeface="Times New Roman" panose="02020603050405020304" pitchFamily="18" charset="0"/>
                  </a:rPr>
                  <a:t>b</a:t>
                </a:r>
                <a:r>
                  <a:rPr lang="zh-CN" altLang="zh-CN" dirty="0">
                    <a:ea typeface="等线" panose="02010600030101010101" charset="-122"/>
                    <a:cs typeface="Times New Roman" panose="02020603050405020304" pitchFamily="18" charset="0"/>
                  </a:rPr>
                  <a:t>的计算公式</a:t>
                </a:r>
                <a:r>
                  <a:rPr lang="zh-CN" altLang="en-US" dirty="0">
                    <a:ea typeface="等线" panose="02010600030101010101" charset="-122"/>
                    <a:cs typeface="Times New Roman" panose="02020603050405020304" pitchFamily="18" charset="0"/>
                  </a:rPr>
                  <a:t>。</a:t>
                </a:r>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5672166" y="1645647"/>
                <a:ext cx="6096000" cy="4789516"/>
              </a:xfrm>
              <a:prstGeom prst="rect">
                <a:avLst/>
              </a:prstGeom>
              <a:blipFill>
                <a:blip r:embed="rId4"/>
                <a:stretch>
                  <a:fillRect l="-800" t="-1399" b="-101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9"/>
          <p:cNvSpPr/>
          <p:nvPr/>
        </p:nvSpPr>
        <p:spPr>
          <a:xfrm>
            <a:off x="5210458" y="1645647"/>
            <a:ext cx="5740700" cy="47281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回归分析：一元线性回归模型参数求解</a:t>
              </a:r>
            </a:p>
          </p:txBody>
        </p:sp>
      </p:grpSp>
      <mc:AlternateContent xmlns:mc="http://schemas.openxmlformats.org/markup-compatibility/2006" xmlns:a14="http://schemas.microsoft.com/office/drawing/2010/main">
        <mc:Choice Requires="a14">
          <p:sp>
            <p:nvSpPr>
              <p:cNvPr id="2" name="矩形 1"/>
              <p:cNvSpPr/>
              <p:nvPr/>
            </p:nvSpPr>
            <p:spPr>
              <a:xfrm>
                <a:off x="342674" y="2100404"/>
                <a:ext cx="4792033" cy="379225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一般而言，回归模型</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(1≤</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的参数求解过程为：记在当前参数下第</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个训练样本</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的标注值（实际值）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与预测值</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之差的平方</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，计算训练集中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个样本所产生误差总和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𝐿</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m:t>
                    </m:r>
                    <m:nary>
                      <m:nary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𝑎</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𝑏</m:t>
                            </m:r>
                            <m:r>
                              <a:rPr lang="en-US" altLang="zh-CN" i="1">
                                <a:solidFill>
                                  <a:srgbClr val="000000"/>
                                </a:solidFill>
                                <a:latin typeface="Cambria Math" panose="02040503050406030204" pitchFamily="18" charset="0"/>
                                <a:ea typeface="楷体_GB2312"/>
                                <a:cs typeface="Times New Roman" panose="02020603050405020304" pitchFamily="18" charset="0"/>
                              </a:rPr>
                              <m:t> )</m:t>
                            </m:r>
                          </m:e>
                          <m:sup>
                            <m:r>
                              <a:rPr lang="en-US" altLang="zh-CN" i="1">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，使用最小二乘法找到误差总和最小，要使函数具有最小值，可对</a:t>
                </a:r>
                <a:r>
                  <a:rPr lang="en-US" altLang="zh-CN" dirty="0">
                    <a:solidFill>
                      <a:srgbClr val="000000"/>
                    </a:solidFill>
                    <a:latin typeface="Cambria Math" panose="02040503050406030204" pitchFamily="18" charset="0"/>
                    <a:ea typeface="楷体_GB2312"/>
                    <a:cs typeface="Cambria Math" panose="02040503050406030204" pitchFamily="18" charset="0"/>
                  </a:rPr>
                  <a:t>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分别求导，令其导数值为零，再求取参数</a:t>
                </a:r>
                <a:r>
                  <a:rPr lang="en-US" altLang="zh-CN" dirty="0">
                    <a:solidFill>
                      <a:srgbClr val="000000"/>
                    </a:solidFill>
                    <a:latin typeface="Cambria Math" panose="02040503050406030204" pitchFamily="18" charset="0"/>
                    <a:ea typeface="楷体_GB2312"/>
                    <a:cs typeface="Cambria Math" panose="02040503050406030204" pitchFamily="18" charset="0"/>
                  </a:rPr>
                  <a:t>𝑎</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Cambria Math" panose="02040503050406030204" pitchFamily="18" charset="0"/>
                    <a:ea typeface="楷体_GB2312"/>
                    <a:cs typeface="Cambria Math" panose="02040503050406030204" pitchFamily="18" charset="0"/>
                  </a:rPr>
                  <a:t>𝑏</a:t>
                </a:r>
                <a:r>
                  <a:rPr lang="zh-CN" altLang="zh-CN" dirty="0">
                    <a:solidFill>
                      <a:srgbClr val="000000"/>
                    </a:solidFill>
                    <a:latin typeface="Times New Roman" panose="02020603050405020304" pitchFamily="18" charset="0"/>
                    <a:ea typeface="楷体_GB2312"/>
                    <a:cs typeface="Times New Roman" panose="02020603050405020304" pitchFamily="18" charset="0"/>
                  </a:rPr>
                  <a:t>的取值。</a:t>
                </a:r>
              </a:p>
            </p:txBody>
          </p:sp>
        </mc:Choice>
        <mc:Fallback xmlns="">
          <p:sp>
            <p:nvSpPr>
              <p:cNvPr id="2" name="矩形 1"/>
              <p:cNvSpPr>
                <a:spLocks noRot="1" noChangeAspect="1" noMove="1" noResize="1" noEditPoints="1" noAdjustHandles="1" noChangeArrowheads="1" noChangeShapeType="1" noTextEdit="1"/>
              </p:cNvSpPr>
              <p:nvPr/>
            </p:nvSpPr>
            <p:spPr>
              <a:xfrm>
                <a:off x="342674" y="2100404"/>
                <a:ext cx="4792033" cy="3792257"/>
              </a:xfrm>
              <a:prstGeom prst="rect">
                <a:avLst/>
              </a:prstGeom>
              <a:blipFill rotWithShape="1">
                <a:blip r:embed="rId3"/>
                <a:stretch>
                  <a:fillRect l="-9" t="-12" r="-1482" b="-1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5591006" y="1716212"/>
                <a:ext cx="6096000" cy="4663905"/>
              </a:xfrm>
              <a:prstGeom prst="rect">
                <a:avLst/>
              </a:prstGeom>
            </p:spPr>
            <p:txBody>
              <a:bodyPr>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损失函数对</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求偏导：</a:t>
                </a:r>
              </a:p>
              <a:p>
                <a:pPr/>
                <a14:m>
                  <m:oMathPara xmlns:m="http://schemas.openxmlformats.org/officeDocument/2006/math">
                    <m:oMathParaPr>
                      <m:jc m:val="centerGroup"/>
                    </m:oMathParaPr>
                    <m:oMath xmlns:m="http://schemas.openxmlformats.org/officeDocument/2006/math">
                      <m:f>
                        <m:fPr>
                          <m:ctrlPr>
                            <a:rPr lang="zh-CN" altLang="zh-CN" sz="1600" i="1" kern="100" smtClean="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𝐿</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num>
                        <m:den>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𝑎</m:t>
                          </m:r>
                        </m:den>
                      </m:f>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e>
                          </m:d>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a:p>
                <a:pPr indent="266700"/>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将</a:t>
                </a:r>
                <a14:m>
                  <m:oMath xmlns:m="http://schemas.openxmlformats.org/officeDocument/2006/math">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oMath>
                </a14:m>
                <a:r>
                  <a:rPr lang="en-US" altLang="zh-CN" sz="1600"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 (</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nary>
                      </m:num>
                      <m:den>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den>
                    </m:f>
                  </m:oMath>
                </a14:m>
                <a:r>
                  <a:rPr lang="en-US" altLang="zh-CN" sz="1600"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 </a:t>
                </a:r>
                <a14:m>
                  <m:oMath xmlns:m="http://schemas.openxmlformats.org/officeDocument/2006/math">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nary>
                      </m:num>
                      <m:den>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den>
                    </m:f>
                  </m:oMath>
                </a14:m>
                <a:r>
                  <a:rPr lang="en-US" altLang="zh-CN" sz="1600"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a:t>
                </a:r>
                <a:r>
                  <a:rPr lang="zh-CN" altLang="zh-CN" sz="1600" kern="0" dirty="0">
                    <a:solidFill>
                      <a:srgbClr val="000000"/>
                    </a:solidFill>
                    <a:latin typeface="Times New Roman" panose="02020603050405020304" pitchFamily="18" charset="0"/>
                    <a:ea typeface="楷体_GB2312"/>
                    <a:cs typeface="Times New Roman" panose="02020603050405020304" pitchFamily="18" charset="0"/>
                  </a:rPr>
                  <a:t>代入上式</a:t>
                </a:r>
                <a:endParaRPr lang="zh-CN" altLang="zh-CN" sz="16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aln/>
                        </m:rP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e>
                          </m:d>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aln/>
                        </m:rP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e>
                          </m:d>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e>
                          </m:nary>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𝑛</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e>
                                <m:sup>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p>
                            </m:e>
                          </m:nary>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e>
                      </m:nary>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𝑎</m:t>
                      </m:r>
                      <m:r>
                        <a:rPr lang="en-US" altLang="zh-CN" sz="1600"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𝑛</m:t>
                              </m:r>
                              <m:acc>
                                <m:accPr>
                                  <m:chr m:val="̅"/>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acc>
                            </m:e>
                          </m:nary>
                          <m:acc>
                            <m:accPr>
                              <m:chr m:val="̅"/>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𝑦</m:t>
                              </m:r>
                            </m:e>
                          </m:acc>
                        </m:num>
                        <m:den>
                          <m:nary>
                            <m:naryPr>
                              <m:chr m:val="∑"/>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𝑛</m:t>
                              </m:r>
                            </m:sup>
                            <m:e>
                              <m:sSub>
                                <m:sSub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𝑛</m:t>
                              </m:r>
                              <m:sSup>
                                <m:sSupPr>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sz="1600"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𝑥</m:t>
                                      </m:r>
                                    </m:e>
                                  </m:acc>
                                </m:e>
                                <m:sup>
                                  <m:r>
                                    <a:rPr lang="en-US" altLang="zh-CN" sz="1600" i="1" kern="100">
                                      <a:solidFill>
                                        <a:srgbClr val="C00000"/>
                                      </a:solidFill>
                                      <a:latin typeface="Cambria Math" panose="02040503050406030204" pitchFamily="18" charset="0"/>
                                      <a:ea typeface="等线" panose="02010600030101010101" charset="-122"/>
                                      <a:cs typeface="Times New Roman" panose="02020603050405020304" pitchFamily="18" charset="0"/>
                                    </a:rPr>
                                    <m:t>2</m:t>
                                  </m:r>
                                </m:sup>
                              </m:sSup>
                            </m:e>
                          </m:nary>
                        </m:den>
                      </m:f>
                      <m:r>
                        <a:rPr lang="en-US" altLang="zh-CN" sz="1600"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oMath>
                  </m:oMathPara>
                </a14:m>
                <a:endParaRPr lang="zh-CN" altLang="zh-CN" sz="16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5591006" y="1716212"/>
                <a:ext cx="6096000" cy="4663905"/>
              </a:xfrm>
              <a:prstGeom prst="rect">
                <a:avLst/>
              </a:prstGeom>
              <a:blipFill>
                <a:blip r:embed="rId4"/>
                <a:stretch>
                  <a:fillRect t="-39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rPr>
                <a:t>回归分析：一元线性回归模型参数求解</a:t>
              </a:r>
            </a:p>
          </p:txBody>
        </p:sp>
      </p:grpSp>
      <mc:AlternateContent xmlns:mc="http://schemas.openxmlformats.org/markup-compatibility/2006" xmlns:a14="http://schemas.microsoft.com/office/drawing/2010/main">
        <mc:Choice Requires="a14">
          <p:sp>
            <p:nvSpPr>
              <p:cNvPr id="8" name="矩形 7"/>
              <p:cNvSpPr/>
              <p:nvPr/>
            </p:nvSpPr>
            <p:spPr>
              <a:xfrm>
                <a:off x="2117844" y="1581239"/>
                <a:ext cx="7559786" cy="4299639"/>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可以看出只要给出了训练样本</a:t>
                </a:r>
                <a14:m>
                  <m:oMath xmlns:m="http://schemas.openxmlformats.org/officeDocument/2006/math">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i="1">
                        <a:solidFill>
                          <a:srgbClr val="000000"/>
                        </a:solidFill>
                        <a:latin typeface="Cambria Math" panose="02040503050406030204" pitchFamily="18" charset="0"/>
                        <a:ea typeface="楷体_GB2312"/>
                        <a:cs typeface="Times New Roman" panose="02020603050405020304" pitchFamily="18" charset="0"/>
                      </a:rPr>
                      <m:t>=1,…,</m:t>
                    </m:r>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en-US" altLang="zh-CN" b="1" dirty="0">
                    <a:solidFill>
                      <a:srgbClr val="000000"/>
                    </a:solidFill>
                    <a:latin typeface="Times New Roman" panose="02020603050405020304" pitchFamily="18" charset="0"/>
                    <a:ea typeface="楷体_GB2312"/>
                    <a:cs typeface="Times New Roman" panose="02020603050405020304" pitchFamily="18" charset="0"/>
                  </a:rPr>
                  <a:t> </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b="1"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我们就可以从训练样本出发，建立一个线性回归方程，使得对训练样本数据而言，该线性回归方程预测的结果与样本标注结果之间的差值和最小。</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这样，对于上面的案例，可以求得参数</a:t>
                </a:r>
                <a:r>
                  <a:rPr lang="en-US" altLang="zh-CN" dirty="0">
                    <a:solidFill>
                      <a:srgbClr val="000000"/>
                    </a:solidFill>
                    <a:latin typeface="Times New Roman" panose="02020603050405020304" pitchFamily="18" charset="0"/>
                    <a:ea typeface="楷体_GB2312"/>
                    <a:cs typeface="Times New Roman" panose="02020603050405020304" pitchFamily="18" charset="0"/>
                  </a:rPr>
                  <a:t>a</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b</a:t>
                </a:r>
                <a:r>
                  <a:rPr lang="zh-CN" altLang="zh-CN" dirty="0">
                    <a:solidFill>
                      <a:srgbClr val="000000"/>
                    </a:solidFill>
                    <a:latin typeface="Times New Roman" panose="02020603050405020304" pitchFamily="18" charset="0"/>
                    <a:ea typeface="楷体_GB2312"/>
                    <a:cs typeface="Times New Roman" panose="02020603050405020304" pitchFamily="18" charset="0"/>
                  </a:rPr>
                  <a:t>分别为：</a:t>
                </a: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8</m:t>
                              </m:r>
                            </m:sub>
                          </m:sSub>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8</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−8</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num>
                        <m:den>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8</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b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−8</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p>
                        </m:den>
                      </m:f>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=1.428</m:t>
                      </m:r>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acc>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acc>
                        <m:accPr>
                          <m: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=−7.09</m:t>
                      </m:r>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即预测芒提兹尼欧地区火灾所影响森林面积与气温温度之间的</a:t>
                </a:r>
                <a:r>
                  <a:rPr lang="zh-CN" altLang="zh-CN" dirty="0">
                    <a:solidFill>
                      <a:srgbClr val="C00000"/>
                    </a:solidFill>
                    <a:latin typeface="Times New Roman" panose="02020603050405020304" pitchFamily="18" charset="0"/>
                    <a:ea typeface="楷体_GB2312"/>
                    <a:cs typeface="Times New Roman" panose="02020603050405020304" pitchFamily="18" charset="0"/>
                  </a:rPr>
                  <a:t>一元线性回归模型</a:t>
                </a:r>
                <a:r>
                  <a:rPr lang="zh-CN" altLang="zh-CN" dirty="0">
                    <a:solidFill>
                      <a:srgbClr val="000000"/>
                    </a:solidFill>
                    <a:latin typeface="Times New Roman" panose="02020603050405020304" pitchFamily="18" charset="0"/>
                    <a:ea typeface="楷体_GB2312"/>
                    <a:cs typeface="Times New Roman" panose="02020603050405020304" pitchFamily="18" charset="0"/>
                  </a:rPr>
                  <a:t>为</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zh-CN" altLang="zh-CN">
                        <a:solidFill>
                          <a:srgbClr val="000000"/>
                        </a:solidFill>
                        <a:latin typeface="Cambria Math" panose="02040503050406030204" pitchFamily="18" charset="0"/>
                        <a:ea typeface="楷体_GB2312"/>
                        <a:cs typeface="Times New Roman" panose="02020603050405020304" pitchFamily="18" charset="0"/>
                      </a:rPr>
                      <m:t>火灾所影响的森林面积</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1.428</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zh-CN" altLang="zh-CN">
                        <a:solidFill>
                          <a:srgbClr val="000000"/>
                        </a:solidFill>
                        <a:latin typeface="Cambria Math" panose="02040503050406030204" pitchFamily="18" charset="0"/>
                        <a:ea typeface="楷体_GB2312"/>
                        <a:cs typeface="Times New Roman" panose="02020603050405020304" pitchFamily="18" charset="0"/>
                      </a:rPr>
                      <m:t>气温温度</m:t>
                    </m:r>
                    <m:r>
                      <a:rPr lang="en-US" altLang="zh-CN" i="1">
                        <a:solidFill>
                          <a:srgbClr val="000000"/>
                        </a:solidFill>
                        <a:latin typeface="Cambria Math" panose="02040503050406030204" pitchFamily="18" charset="0"/>
                        <a:ea typeface="楷体_GB2312"/>
                        <a:cs typeface="Times New Roman" panose="02020603050405020304" pitchFamily="18" charset="0"/>
                      </a:rPr>
                      <m:t>−7.09”</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a:t>
                </a:r>
                <a14:m>
                  <m:oMath xmlns:m="http://schemas.openxmlformats.org/officeDocument/2006/math">
                    <m:r>
                      <a:rPr lang="en-US" altLang="zh-CN" i="1" smtClean="0">
                        <a:solidFill>
                          <a:srgbClr val="C00000"/>
                        </a:solidFill>
                        <a:latin typeface="Cambria Math" panose="02040503050406030204" pitchFamily="18" charset="0"/>
                        <a:ea typeface="楷体_GB2312"/>
                        <a:cs typeface="Times New Roman" panose="02020603050405020304" pitchFamily="18" charset="0"/>
                      </a:rPr>
                      <m:t>𝑦</m:t>
                    </m:r>
                    <m:r>
                      <a:rPr lang="en-US" altLang="zh-CN">
                        <a:solidFill>
                          <a:srgbClr val="C00000"/>
                        </a:solidFill>
                        <a:latin typeface="Cambria Math" panose="02040503050406030204" pitchFamily="18" charset="0"/>
                        <a:ea typeface="楷体_GB2312"/>
                        <a:cs typeface="Times New Roman" panose="02020603050405020304" pitchFamily="18" charset="0"/>
                      </a:rPr>
                      <m:t>=</m:t>
                    </m:r>
                    <m:r>
                      <a:rPr lang="en-US" altLang="zh-CN" i="1">
                        <a:solidFill>
                          <a:srgbClr val="C00000"/>
                        </a:solidFill>
                        <a:latin typeface="Cambria Math" panose="02040503050406030204" pitchFamily="18" charset="0"/>
                        <a:ea typeface="楷体_GB2312"/>
                        <a:cs typeface="Times New Roman" panose="02020603050405020304" pitchFamily="18" charset="0"/>
                      </a:rPr>
                      <m:t>1.428</m:t>
                    </m:r>
                    <m:r>
                      <a:rPr lang="en-US" altLang="zh-CN" i="1">
                        <a:solidFill>
                          <a:srgbClr val="C00000"/>
                        </a:solidFill>
                        <a:latin typeface="Cambria Math" panose="02040503050406030204" pitchFamily="18" charset="0"/>
                        <a:ea typeface="楷体_GB2312"/>
                        <a:cs typeface="Times New Roman" panose="02020603050405020304" pitchFamily="18" charset="0"/>
                      </a:rPr>
                      <m:t>𝑥</m:t>
                    </m:r>
                    <m:r>
                      <a:rPr lang="en-US" altLang="zh-CN" i="1">
                        <a:solidFill>
                          <a:srgbClr val="C00000"/>
                        </a:solidFill>
                        <a:latin typeface="Cambria Math" panose="02040503050406030204" pitchFamily="18" charset="0"/>
                        <a:ea typeface="楷体_GB2312"/>
                        <a:cs typeface="Times New Roman" panose="02020603050405020304" pitchFamily="18" charset="0"/>
                      </a:rPr>
                      <m:t>−7.09</m:t>
                    </m:r>
                  </m:oMath>
                </a14:m>
                <a:endParaRPr lang="zh-CN" altLang="zh-CN" dirty="0">
                  <a:solidFill>
                    <a:srgbClr val="C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2117844" y="1581239"/>
                <a:ext cx="7559786" cy="4299639"/>
              </a:xfrm>
              <a:prstGeom prst="rect">
                <a:avLst/>
              </a:prstGeom>
              <a:blipFill>
                <a:blip r:embed="rId3"/>
                <a:stretch>
                  <a:fillRect l="-645" r="-64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73F97531-9091-4917-AB3D-DBDC0A5084D1}"/>
              </a:ext>
            </a:extLst>
          </p:cNvPr>
          <p:cNvSpPr txBox="1"/>
          <p:nvPr/>
        </p:nvSpPr>
        <p:spPr>
          <a:xfrm>
            <a:off x="360576" y="3731058"/>
            <a:ext cx="6094428" cy="369332"/>
          </a:xfrm>
          <a:prstGeom prst="rect">
            <a:avLst/>
          </a:prstGeom>
          <a:noFill/>
        </p:spPr>
        <p:txBody>
          <a:bodyPr wrap="square">
            <a:spAutoFit/>
          </a:bodyPr>
          <a:lstStyle/>
          <a:p>
            <a:r>
              <a:rPr lang="zh-CN" altLang="zh-CN" b="1" dirty="0">
                <a:solidFill>
                  <a:srgbClr val="C00000"/>
                </a:solidFill>
                <a:latin typeface="Times New Roman" panose="02020603050405020304" pitchFamily="18" charset="0"/>
                <a:ea typeface="楷体_GB2312"/>
                <a:cs typeface="Times New Roman" panose="02020603050405020304" pitchFamily="18" charset="0"/>
              </a:rPr>
              <a:t>最小二乘法</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30" y="600075"/>
            <a:ext cx="5492750" cy="740662"/>
            <a:chOff x="4099943" y="2819853"/>
            <a:chExt cx="2570275" cy="741493"/>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707548"/>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回归分析：从一元线性回归到多元线性回归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p:sp>
        <p:nvSpPr>
          <p:cNvPr id="6" name="矩形 5"/>
          <p:cNvSpPr/>
          <p:nvPr/>
        </p:nvSpPr>
        <p:spPr>
          <a:xfrm>
            <a:off x="188207" y="1716718"/>
            <a:ext cx="6228359" cy="656590"/>
          </a:xfrm>
          <a:prstGeom prst="rect">
            <a:avLst/>
          </a:prstGeom>
        </p:spPr>
        <p:txBody>
          <a:bodyPr wrap="square">
            <a:spAutoFit/>
          </a:bodyPr>
          <a:lstStyle/>
          <a:p>
            <a:pPr indent="266700" algn="ctr">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接下来扩展到数据特征的维度是</a:t>
            </a:r>
            <a:r>
              <a:rPr lang="zh-CN" altLang="zh-CN" dirty="0">
                <a:solidFill>
                  <a:srgbClr val="C00000"/>
                </a:solidFill>
                <a:latin typeface="Times New Roman" panose="02020603050405020304" pitchFamily="18" charset="0"/>
                <a:ea typeface="楷体_GB2312"/>
                <a:cs typeface="Times New Roman" panose="02020603050405020304" pitchFamily="18" charset="0"/>
              </a:rPr>
              <a:t>多维</a:t>
            </a:r>
            <a:r>
              <a:rPr lang="zh-CN" altLang="zh-CN" dirty="0">
                <a:solidFill>
                  <a:srgbClr val="000000"/>
                </a:solidFill>
                <a:latin typeface="Times New Roman" panose="02020603050405020304" pitchFamily="18" charset="0"/>
                <a:ea typeface="楷体_GB2312"/>
                <a:cs typeface="Times New Roman" panose="02020603050405020304" pitchFamily="18" charset="0"/>
              </a:rPr>
              <a:t>的情况，在上述数据中增加一个影响火灾影响面积的潜在因素</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风力。</a:t>
            </a:r>
          </a:p>
        </p:txBody>
      </p:sp>
      <p:pic>
        <p:nvPicPr>
          <p:cNvPr id="7" name="图片 6"/>
          <p:cNvPicPr>
            <a:picLocks noChangeAspect="1"/>
          </p:cNvPicPr>
          <p:nvPr/>
        </p:nvPicPr>
        <p:blipFill>
          <a:blip r:embed="rId3"/>
          <a:stretch>
            <a:fillRect/>
          </a:stretch>
        </p:blipFill>
        <p:spPr>
          <a:xfrm>
            <a:off x="6694204" y="1464349"/>
            <a:ext cx="4642089" cy="1817917"/>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313114" y="2717799"/>
                <a:ext cx="5330757" cy="3351559"/>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多维数据特征中线性回归的问题定义如下：假设总共有</a:t>
                </a:r>
                <a14:m>
                  <m:oMath xmlns:m="http://schemas.openxmlformats.org/officeDocument/2006/math">
                    <m:r>
                      <a:rPr lang="en-US" altLang="zh-CN" i="1" smtClean="0">
                        <a:solidFill>
                          <a:srgbClr val="FF0000"/>
                        </a:solidFill>
                        <a:latin typeface="Cambria Math" panose="02040503050406030204" pitchFamily="18" charset="0"/>
                        <a:ea typeface="楷体_GB2312"/>
                        <a:cs typeface="Times New Roman" panose="02020603050405020304" pitchFamily="18" charset="0"/>
                      </a:rPr>
                      <m:t>𝑚</m:t>
                    </m:r>
                  </m:oMath>
                </a14:m>
                <a:r>
                  <a:rPr lang="zh-CN" altLang="zh-CN" dirty="0">
                    <a:solidFill>
                      <a:srgbClr val="FF0000"/>
                    </a:solidFill>
                    <a:latin typeface="Times New Roman" panose="02020603050405020304" pitchFamily="18" charset="0"/>
                    <a:ea typeface="楷体_GB2312"/>
                    <a:cs typeface="Times New Roman" panose="02020603050405020304" pitchFamily="18" charset="0"/>
                  </a:rPr>
                  <a:t>个训练数据</a:t>
                </a:r>
                <a14:m>
                  <m:oMath xmlns:m="http://schemas.openxmlformats.org/officeDocument/2006/math">
                    <m:sSubSup>
                      <m:sSub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𝒊</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e>
                            </m:d>
                          </m:e>
                        </m:d>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=1</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𝑚</m:t>
                        </m:r>
                      </m:sup>
                    </m:sSub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sub>
                        <m:r>
                          <a:rPr lang="en-US" altLang="zh-CN" b="1" i="1">
                            <a:solidFill>
                              <a:srgbClr val="000000"/>
                            </a:solidFill>
                            <a:latin typeface="Cambria Math" panose="02040503050406030204" pitchFamily="18" charset="0"/>
                            <a:ea typeface="楷体_GB2312"/>
                            <a:cs typeface="Times New Roman" panose="02020603050405020304" pitchFamily="18" charset="0"/>
                          </a:rPr>
                          <m:t>𝒊</m:t>
                        </m:r>
                      </m:sub>
                    </m:sSub>
                    <m:r>
                      <a:rPr lang="en-US" altLang="zh-CN" b="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𝐷</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ℝ</m:t>
                        </m:r>
                      </m:e>
                      <m:sup>
                        <m:r>
                          <a:rPr lang="en-US" altLang="zh-CN" i="1">
                            <a:solidFill>
                              <a:srgbClr val="000000"/>
                            </a:solidFill>
                            <a:latin typeface="Cambria Math" panose="02040503050406030204" pitchFamily="18" charset="0"/>
                            <a:ea typeface="楷体_GB2312"/>
                            <a:cs typeface="Times New Roman" panose="02020603050405020304" pitchFamily="18" charset="0"/>
                          </a:rPr>
                          <m:t>𝐷</m:t>
                        </m:r>
                      </m:sup>
                    </m:sSup>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smtClean="0">
                        <a:solidFill>
                          <a:srgbClr val="C00000"/>
                        </a:solidFill>
                        <a:latin typeface="Cambria Math" panose="02040503050406030204" pitchFamily="18" charset="0"/>
                        <a:ea typeface="楷体_GB2312"/>
                        <a:cs typeface="Times New Roman" panose="02020603050405020304" pitchFamily="18" charset="0"/>
                      </a:rPr>
                      <m:t>𝐷</m:t>
                    </m:r>
                  </m:oMath>
                </a14:m>
                <a:r>
                  <a:rPr lang="zh-CN" altLang="zh-CN" dirty="0">
                    <a:solidFill>
                      <a:srgbClr val="C00000"/>
                    </a:solidFill>
                    <a:latin typeface="Times New Roman" panose="02020603050405020304" pitchFamily="18" charset="0"/>
                    <a:ea typeface="楷体_GB2312"/>
                    <a:cs typeface="Times New Roman" panose="02020603050405020304" pitchFamily="18" charset="0"/>
                  </a:rPr>
                  <a:t>为数据特征的维度</a:t>
                </a:r>
                <a:r>
                  <a:rPr lang="zh-CN" altLang="zh-CN" dirty="0">
                    <a:solidFill>
                      <a:srgbClr val="000000"/>
                    </a:solidFill>
                    <a:latin typeface="Times New Roman" panose="02020603050405020304" pitchFamily="18" charset="0"/>
                    <a:ea typeface="楷体_GB2312"/>
                    <a:cs typeface="Times New Roman" panose="02020603050405020304" pitchFamily="18" charset="0"/>
                  </a:rPr>
                  <a:t>，线性回归就是要找到一组参数</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𝒂</m:t>
                    </m:r>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a:solidFill>
                              <a:srgbClr val="000000"/>
                            </a:solidFill>
                            <a:latin typeface="Cambria Math" panose="02040503050406030204" pitchFamily="18" charset="0"/>
                            <a:ea typeface="楷体_GB2312"/>
                            <a:cs typeface="Times New Roman" panose="02020603050405020304" pitchFamily="18" charset="0"/>
                          </a:rPr>
                          <m:t>0</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𝐷</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，使得线性函数：</a:t>
                </a: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𝑓</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𝒊</m:t>
                              </m:r>
                            </m:sub>
                          </m:sSub>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nary>
                        <m:naryPr>
                          <m:chr m:val="∑"/>
                          <m:limLoc m:val="undOv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𝑗</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𝐷</m:t>
                          </m:r>
                        </m:sup>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𝑗</m:t>
                              </m:r>
                            </m:sub>
                          </m:sSub>
                        </m:e>
                      </m:nary>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𝑗</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𝑎</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e>
                        <m:sup>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𝑻</m:t>
                          </m:r>
                        </m:sup>
                      </m:sSup>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𝒊</m:t>
                          </m:r>
                        </m:sub>
                      </m:sSub>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最小化均方误差函数：</a:t>
                </a:r>
              </a:p>
              <a:p>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𝐽</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den>
                      </m:f>
                      <m:nary>
                        <m:naryPr>
                          <m:chr m:val="∑"/>
                          <m:limLoc m:val="undOv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sup>
                        <m:e>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𝑖</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𝑓</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b="1"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𝒙</m:t>
                                          </m:r>
                                        </m:e>
                                        <m:sub>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𝒊</m:t>
                                          </m:r>
                                        </m:sub>
                                      </m:sSub>
                                    </m:e>
                                  </m:d>
                                </m:e>
                              </m:d>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2</m:t>
                              </m:r>
                            </m:sup>
                          </m:sSup>
                        </m:e>
                      </m:nary>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313114" y="2717799"/>
                <a:ext cx="5330757" cy="3351559"/>
              </a:xfrm>
              <a:prstGeom prst="rect">
                <a:avLst/>
              </a:prstGeom>
              <a:blipFill>
                <a:blip r:embed="rId4"/>
                <a:stretch>
                  <a:fillRect l="-914" t="-2000" r="-9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5838497" y="3730256"/>
                <a:ext cx="6096000" cy="2051844"/>
              </a:xfrm>
              <a:prstGeom prst="rect">
                <a:avLst/>
              </a:prstGeom>
            </p:spPr>
            <p:txBody>
              <a:bodyPr>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为了方便，我们使用矩阵来表示所有的训练数据和数据标签。</a:t>
                </a:r>
              </a:p>
              <a:p>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𝑋</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d>
                        <m:dPr>
                          <m:begChr m:val="["/>
                          <m:end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sub>
                          </m:sSub>
                        </m:e>
                      </m:d>
                      <m:r>
                        <a:rPr lang="en-US" altLang="zh-CN"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𝒚</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sub>
                      </m:s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oMath>
                  </m:oMathPara>
                </a14:m>
                <a:endParaRPr lang="en-US" altLang="zh-CN" kern="100" dirty="0">
                  <a:latin typeface="等线" panose="02010600030101010101" charset="-122"/>
                  <a:ea typeface="等线" panose="02010600030101010101" charset="-122"/>
                  <a:cs typeface="Times New Roman" panose="02020603050405020304" pitchFamily="18" charset="0"/>
                </a:endParaRPr>
              </a:p>
              <a:p>
                <a:endParaRPr lang="zh-CN" altLang="zh-CN" kern="100" dirty="0">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其中每一个数据</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会扩展一个维度，其值为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，对应参数</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。均方误差函数可以表示为：</a:t>
                </a:r>
              </a:p>
              <a:p>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𝐽</m:t>
                          </m:r>
                        </m:e>
                        <m:sub>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𝑚</m:t>
                          </m:r>
                        </m:sub>
                      </m:sSub>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𝒚</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𝑋</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e>
                          </m:d>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𝒚</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𝑋</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oMath>
                  </m:oMathPara>
                </a14:m>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5838497" y="3730256"/>
                <a:ext cx="6096000" cy="2051844"/>
              </a:xfrm>
              <a:prstGeom prst="rect">
                <a:avLst/>
              </a:prstGeom>
              <a:blipFill>
                <a:blip r:embed="rId5"/>
                <a:stretch>
                  <a:fillRect l="-900" t="-3264" r="-800" b="-148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30" y="600075"/>
            <a:ext cx="5492750" cy="740662"/>
            <a:chOff x="4099943" y="2819853"/>
            <a:chExt cx="2570275" cy="741493"/>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707548"/>
            </a:xfrm>
            <a:prstGeom prst="rect">
              <a:avLst/>
            </a:prstGeom>
            <a:ln>
              <a:noFill/>
            </a:ln>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回归分析：从一元线性回归到多元线性回归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8" name="矩形 7"/>
              <p:cNvSpPr/>
              <p:nvPr/>
            </p:nvSpPr>
            <p:spPr>
              <a:xfrm>
                <a:off x="821705" y="1450903"/>
                <a:ext cx="10147730" cy="5073568"/>
              </a:xfrm>
              <a:prstGeom prst="rect">
                <a:avLst/>
              </a:prstGeom>
            </p:spPr>
            <p:txBody>
              <a:bodyPr wrap="square">
                <a:spAutoFit/>
              </a:bodyPr>
              <a:lstStyle/>
              <a:p>
                <a:pPr indent="266700" algn="just">
                  <a:lnSpc>
                    <a:spcPts val="2200"/>
                  </a:lnSpc>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特征维度一维的时候线性回归有闭式解（</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closed form solution</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），多维情况下同样存在。</a:t>
                </a:r>
              </a:p>
              <a:p>
                <a:pPr indent="266700" algn="just">
                  <a:lnSpc>
                    <a:spcPts val="2200"/>
                  </a:lnSpc>
                  <a:spcAft>
                    <a:spcPts val="0"/>
                  </a:spcAft>
                </a:pPr>
                <a:r>
                  <a:rPr lang="zh-CN" altLang="zh-CN" sz="2000" dirty="0">
                    <a:solidFill>
                      <a:srgbClr val="FF0000"/>
                    </a:solidFill>
                    <a:latin typeface="Times New Roman" panose="02020603050405020304" pitchFamily="18" charset="0"/>
                    <a:ea typeface="楷体_GB2312"/>
                    <a:cs typeface="Times New Roman" panose="02020603050405020304" pitchFamily="18" charset="0"/>
                  </a:rPr>
                  <a:t>均方误差函数</a:t>
                </a:r>
                <a14:m>
                  <m:oMath xmlns:m="http://schemas.openxmlformats.org/officeDocument/2006/math">
                    <m:sSub>
                      <m:sSubPr>
                        <m:ctrlPr>
                          <a:rPr lang="zh-CN" altLang="zh-CN"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FF0000"/>
                            </a:solidFill>
                            <a:latin typeface="Cambria Math" panose="02040503050406030204" pitchFamily="18" charset="0"/>
                            <a:ea typeface="楷体_GB2312"/>
                            <a:cs typeface="Times New Roman" panose="02020603050405020304" pitchFamily="18" charset="0"/>
                          </a:rPr>
                          <m:t>𝐽</m:t>
                        </m:r>
                      </m:e>
                      <m:sub>
                        <m:r>
                          <a:rPr lang="en-US" altLang="zh-CN" sz="2000" i="1">
                            <a:solidFill>
                              <a:srgbClr val="FF0000"/>
                            </a:solidFill>
                            <a:latin typeface="Cambria Math" panose="02040503050406030204" pitchFamily="18" charset="0"/>
                            <a:ea typeface="楷体_GB2312"/>
                            <a:cs typeface="Times New Roman" panose="02020603050405020304" pitchFamily="18" charset="0"/>
                          </a:rPr>
                          <m:t>𝑚</m:t>
                        </m:r>
                      </m:sub>
                    </m:sSub>
                    <m:d>
                      <m:dPr>
                        <m:ctrlPr>
                          <a:rPr lang="zh-CN" altLang="zh-CN"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b="1" i="1">
                            <a:solidFill>
                              <a:srgbClr val="FF0000"/>
                            </a:solidFill>
                            <a:latin typeface="Cambria Math" panose="02040503050406030204" pitchFamily="18" charset="0"/>
                            <a:ea typeface="楷体_GB2312"/>
                            <a:cs typeface="Times New Roman" panose="02020603050405020304" pitchFamily="18" charset="0"/>
                          </a:rPr>
                          <m:t>𝒂</m:t>
                        </m:r>
                      </m:e>
                    </m:d>
                  </m:oMath>
                </a14:m>
                <a:r>
                  <a:rPr lang="zh-CN" altLang="zh-CN" sz="2000" dirty="0">
                    <a:solidFill>
                      <a:srgbClr val="FF0000"/>
                    </a:solidFill>
                    <a:latin typeface="Times New Roman" panose="02020603050405020304" pitchFamily="18" charset="0"/>
                    <a:ea typeface="楷体_GB2312"/>
                    <a:cs typeface="Times New Roman" panose="02020603050405020304" pitchFamily="18" charset="0"/>
                  </a:rPr>
                  <a:t>对所有参数</a:t>
                </a:r>
                <a14:m>
                  <m:oMath xmlns:m="http://schemas.openxmlformats.org/officeDocument/2006/math">
                    <m:r>
                      <a:rPr lang="en-US" altLang="zh-CN" sz="2000" b="1" i="1">
                        <a:solidFill>
                          <a:srgbClr val="FF0000"/>
                        </a:solidFill>
                        <a:latin typeface="Cambria Math" panose="02040503050406030204" pitchFamily="18" charset="0"/>
                        <a:ea typeface="楷体_GB2312"/>
                        <a:cs typeface="Times New Roman" panose="02020603050405020304" pitchFamily="18" charset="0"/>
                      </a:rPr>
                      <m:t>𝒂</m:t>
                    </m:r>
                  </m:oMath>
                </a14:m>
                <a:r>
                  <a:rPr lang="zh-CN" altLang="zh-CN" sz="2000" dirty="0">
                    <a:solidFill>
                      <a:srgbClr val="FF0000"/>
                    </a:solidFill>
                    <a:latin typeface="Times New Roman" panose="02020603050405020304" pitchFamily="18" charset="0"/>
                    <a:ea typeface="楷体_GB2312"/>
                    <a:cs typeface="Times New Roman" panose="02020603050405020304" pitchFamily="18" charset="0"/>
                  </a:rPr>
                  <a:t>求导</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可得：</a:t>
                </a:r>
              </a:p>
              <a:p>
                <a:pPr/>
                <a14:m>
                  <m:oMathPara xmlns:m="http://schemas.openxmlformats.org/officeDocument/2006/math">
                    <m:oMathParaPr>
                      <m:jc m:val="centerGroup"/>
                    </m:oMathParaPr>
                    <m:oMath xmlns:m="http://schemas.openxmlformats.org/officeDocument/2006/math">
                      <m:r>
                        <a:rPr lang="en-US" altLang="zh-CN" sz="2000" i="1" kern="100" smtClean="0">
                          <a:solidFill>
                            <a:srgbClr val="FF0000"/>
                          </a:solidFill>
                          <a:latin typeface="Cambria Math" panose="02040503050406030204" pitchFamily="18" charset="0"/>
                          <a:ea typeface="等线" panose="02010600030101010101" charset="-122"/>
                          <a:cs typeface="Times New Roman" panose="02020603050405020304" pitchFamily="18" charset="0"/>
                        </a:rPr>
                        <m:t>𝛻</m:t>
                      </m:r>
                      <m:r>
                        <a:rPr lang="en-US" altLang="zh-CN" sz="2000" i="1" kern="100" smtClean="0">
                          <a:solidFill>
                            <a:srgbClr val="FF0000"/>
                          </a:solidFill>
                          <a:latin typeface="Cambria Math" panose="02040503050406030204" pitchFamily="18" charset="0"/>
                          <a:ea typeface="等线" panose="02010600030101010101" charset="-122"/>
                          <a:cs typeface="Times New Roman" panose="02020603050405020304" pitchFamily="18" charset="0"/>
                        </a:rPr>
                        <m:t>𝐽</m:t>
                      </m:r>
                      <m:d>
                        <m:d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b="1" i="1" kern="100">
                              <a:solidFill>
                                <a:srgbClr val="FF0000"/>
                              </a:solidFill>
                              <a:latin typeface="Cambria Math" panose="02040503050406030204" pitchFamily="18" charset="0"/>
                              <a:ea typeface="等线" panose="02010600030101010101" charset="-122"/>
                              <a:cs typeface="Times New Roman" panose="02020603050405020304" pitchFamily="18" charset="0"/>
                            </a:rPr>
                            <m:t>𝒂</m:t>
                          </m:r>
                        </m:e>
                      </m:d>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=−2</m:t>
                      </m:r>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𝑋</m:t>
                      </m:r>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𝑦</m:t>
                      </m:r>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𝑋</m:t>
                          </m:r>
                        </m:e>
                        <m:sup>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sz="2000" b="1" i="1" kern="100">
                          <a:solidFill>
                            <a:srgbClr val="FF0000"/>
                          </a:solidFill>
                          <a:latin typeface="Cambria Math" panose="02040503050406030204" pitchFamily="18" charset="0"/>
                          <a:ea typeface="等线" panose="02010600030101010101" charset="-122"/>
                          <a:cs typeface="Times New Roman" panose="02020603050405020304" pitchFamily="18" charset="0"/>
                        </a:rPr>
                        <m:t>𝒂</m:t>
                      </m:r>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oMath>
                  </m:oMathPara>
                </a14:m>
                <a:endParaRPr lang="zh-CN" altLang="zh-CN" sz="2000" kern="100" dirty="0">
                  <a:solidFill>
                    <a:srgbClr val="FF0000"/>
                  </a:solidFill>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因为均方误差函数</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𝐽</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𝑚</m:t>
                        </m:r>
                      </m:sub>
                    </m:sSub>
                    <m:d>
                      <m:d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b="1" i="1">
                            <a:solidFill>
                              <a:srgbClr val="000000"/>
                            </a:solidFill>
                            <a:latin typeface="Cambria Math" panose="02040503050406030204" pitchFamily="18" charset="0"/>
                            <a:ea typeface="楷体_GB2312"/>
                            <a:cs typeface="Times New Roman" panose="02020603050405020304" pitchFamily="18" charset="0"/>
                          </a:rPr>
                          <m:t>𝒂</m:t>
                        </m:r>
                      </m:e>
                    </m:d>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是一个二次的凸函数，所以函数只存在一个极小值点，也同样是最小值点，所以令</a:t>
                </a:r>
                <a14:m>
                  <m:oMath xmlns:m="http://schemas.openxmlformats.org/officeDocument/2006/math">
                    <m:r>
                      <a:rPr lang="en-US" altLang="zh-CN" sz="2000" i="1">
                        <a:solidFill>
                          <a:srgbClr val="000000"/>
                        </a:solidFill>
                        <a:latin typeface="Cambria Math" panose="02040503050406030204" pitchFamily="18" charset="0"/>
                        <a:ea typeface="楷体_GB2312"/>
                        <a:cs typeface="Times New Roman" panose="02020603050405020304" pitchFamily="18" charset="0"/>
                      </a:rPr>
                      <m:t>𝛻</m:t>
                    </m:r>
                    <m:r>
                      <a:rPr lang="en-US" altLang="zh-CN" sz="2000" i="1">
                        <a:solidFill>
                          <a:srgbClr val="000000"/>
                        </a:solidFill>
                        <a:latin typeface="Cambria Math" panose="02040503050406030204" pitchFamily="18" charset="0"/>
                        <a:ea typeface="楷体_GB2312"/>
                        <a:cs typeface="Times New Roman" panose="02020603050405020304" pitchFamily="18" charset="0"/>
                      </a:rPr>
                      <m:t>𝐽</m:t>
                    </m:r>
                    <m:d>
                      <m:d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b="1" i="1">
                            <a:solidFill>
                              <a:srgbClr val="000000"/>
                            </a:solidFill>
                            <a:latin typeface="Cambria Math" panose="02040503050406030204" pitchFamily="18" charset="0"/>
                            <a:ea typeface="楷体_GB2312"/>
                            <a:cs typeface="Times New Roman" panose="02020603050405020304" pitchFamily="18" charset="0"/>
                          </a:rPr>
                          <m:t>𝒂</m:t>
                        </m:r>
                      </m:e>
                    </m:d>
                    <m:r>
                      <a:rPr lang="en-US" altLang="zh-CN" sz="20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可得</a:t>
                </a:r>
              </a:p>
              <a:p>
                <a:pPr/>
                <a14:m>
                  <m:oMathPara xmlns:m="http://schemas.openxmlformats.org/officeDocument/2006/math">
                    <m:oMathParaPr>
                      <m:jc m:val="centerGroup"/>
                    </m:oMathParaPr>
                    <m:oMath xmlns:m="http://schemas.openxmlformats.org/officeDocument/2006/math">
                      <m:sSup>
                        <m:sSup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𝑋𝑋</m:t>
                          </m:r>
                        </m:e>
                        <m:sup>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sz="2000"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𝑋</m:t>
                      </m:r>
                      <m:r>
                        <a:rPr lang="en-US" altLang="zh-CN" sz="2000" b="1" i="1" kern="100">
                          <a:solidFill>
                            <a:srgbClr val="000000"/>
                          </a:solidFill>
                          <a:latin typeface="Cambria Math" panose="02040503050406030204" pitchFamily="18" charset="0"/>
                          <a:ea typeface="等线" panose="02010600030101010101" charset="-122"/>
                          <a:cs typeface="Times New Roman" panose="02020603050405020304" pitchFamily="18" charset="0"/>
                        </a:rPr>
                        <m:t>𝒚</m:t>
                      </m:r>
                    </m:oMath>
                  </m:oMathPara>
                </a14:m>
                <a:endParaRPr lang="zh-CN" altLang="zh-CN" sz="2000" kern="100" dirty="0">
                  <a:latin typeface="等线" panose="02010600030101010101" charset="-122"/>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000" b="1" i="1" kern="100" smtClean="0">
                          <a:solidFill>
                            <a:srgbClr val="FF0000"/>
                          </a:solidFill>
                          <a:latin typeface="Cambria Math" panose="02040503050406030204" pitchFamily="18" charset="0"/>
                          <a:ea typeface="等线" panose="02010600030101010101" charset="-122"/>
                          <a:cs typeface="Times New Roman" panose="02020603050405020304" pitchFamily="18" charset="0"/>
                        </a:rPr>
                        <m:t>𝒂</m:t>
                      </m:r>
                      <m:r>
                        <a:rPr lang="en-US" altLang="zh-CN" sz="2000" b="1" kern="100">
                          <a:solidFill>
                            <a:srgbClr val="FF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𝑋</m:t>
                              </m:r>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𝑋</m:t>
                                  </m:r>
                                </m:e>
                                <m:sup>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𝑇</m:t>
                                  </m:r>
                                </m:sup>
                              </m:sSup>
                            </m:e>
                          </m:d>
                        </m:e>
                        <m:sup>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−1</m:t>
                          </m:r>
                        </m:sup>
                      </m:sSup>
                      <m:r>
                        <a:rPr lang="en-US" altLang="zh-CN" sz="2000" i="1" kern="100">
                          <a:solidFill>
                            <a:srgbClr val="FF0000"/>
                          </a:solidFill>
                          <a:latin typeface="Cambria Math" panose="02040503050406030204" pitchFamily="18" charset="0"/>
                          <a:ea typeface="等线" panose="02010600030101010101" charset="-122"/>
                          <a:cs typeface="Times New Roman" panose="02020603050405020304" pitchFamily="18" charset="0"/>
                        </a:rPr>
                        <m:t>𝑋</m:t>
                      </m:r>
                      <m:r>
                        <a:rPr lang="en-US" altLang="zh-CN" sz="2000" b="1" i="1" kern="100">
                          <a:solidFill>
                            <a:srgbClr val="FF0000"/>
                          </a:solidFill>
                          <a:latin typeface="Cambria Math" panose="02040503050406030204" pitchFamily="18" charset="0"/>
                          <a:ea typeface="等线" panose="02010600030101010101" charset="-122"/>
                          <a:cs typeface="Times New Roman" panose="02020603050405020304" pitchFamily="18" charset="0"/>
                        </a:rPr>
                        <m:t>𝒚</m:t>
                      </m:r>
                    </m:oMath>
                  </m:oMathPara>
                </a14:m>
                <a:endParaRPr lang="zh-CN" altLang="zh-CN" sz="2000" kern="100" dirty="0">
                  <a:solidFill>
                    <a:srgbClr val="FF0000"/>
                  </a:solidFill>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例子</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2000" i="1" kern="100" dirty="0">
                  <a:solidFill>
                    <a:srgbClr val="000000"/>
                  </a:solidFill>
                  <a:latin typeface="Cambria Math" panose="02040503050406030204" pitchFamily="18" charset="0"/>
                  <a:ea typeface="等线" panose="02010600030101010101" charset="-122"/>
                  <a:cs typeface="Times New Roman" panose="02020603050405020304" pitchFamily="18" charset="0"/>
                </a:endParaRPr>
              </a:p>
              <a:p>
                <a:pPr indent="266700" algn="just">
                  <a:lnSpc>
                    <a:spcPts val="2200"/>
                  </a:lnSpc>
                  <a:spcAft>
                    <a:spcPts val="0"/>
                  </a:spcAft>
                </a:pPr>
                <a:endParaRPr lang="en-US" altLang="zh-CN" sz="2000" i="1" kern="100" dirty="0">
                  <a:solidFill>
                    <a:srgbClr val="000000"/>
                  </a:solidFill>
                  <a:latin typeface="Cambria Math" panose="02040503050406030204" pitchFamily="18" charset="0"/>
                  <a:ea typeface="等线" panose="02010600030101010101" charset="-122"/>
                  <a:cs typeface="Times New Roman" panose="02020603050405020304" pitchFamily="18" charset="0"/>
                </a:endParaRPr>
              </a:p>
              <a:p>
                <a:pPr indent="2667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𝑋</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d>
                        <m:dPr>
                          <m:begChr m:val="["/>
                          <m:endChr m:val="]"/>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8"/>
                                    <m:mcJc m:val="center"/>
                                  </m:mcPr>
                                </m:mc>
                              </m:mcs>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5.1</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8.2</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11.5</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13.9</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16.2</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19.6</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23.3</m:t>
                                </m:r>
                              </m:e>
                            </m:mr>
                            <m:mr>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4.5</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5.8</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4.</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6.3</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4.</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7.2</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6.3</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8.5</m:t>
                                </m:r>
                              </m:e>
                            </m:mr>
                            <m:mr>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e>
                            </m:mr>
                          </m:m>
                        </m:e>
                      </m:d>
                    </m:oMath>
                  </m:oMathPara>
                </a14:m>
                <a:endParaRPr lang="zh-CN" altLang="zh-CN" sz="2000" kern="100" dirty="0">
                  <a:latin typeface="等线" panose="02010600030101010101" charset="-122"/>
                  <a:ea typeface="等线" panose="02010600030101010101" charset="-122"/>
                  <a:cs typeface="Times New Roman" panose="02020603050405020304" pitchFamily="18" charset="0"/>
                </a:endParaRPr>
              </a:p>
              <a:p>
                <a:endParaRPr lang="en-US" altLang="zh-CN" sz="2000" b="1" i="1" kern="100" dirty="0">
                  <a:solidFill>
                    <a:srgbClr val="000000"/>
                  </a:solidFill>
                  <a:latin typeface="Cambria Math" panose="02040503050406030204" pitchFamily="18" charset="0"/>
                  <a:ea typeface="等线" panose="02010600030101010101"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2000" b="1" i="1" kern="100">
                          <a:solidFill>
                            <a:srgbClr val="000000"/>
                          </a:solidFill>
                          <a:latin typeface="Cambria Math" panose="02040503050406030204" pitchFamily="18" charset="0"/>
                          <a:ea typeface="等线" panose="02010600030101010101" charset="-122"/>
                          <a:cs typeface="Times New Roman" panose="02020603050405020304" pitchFamily="18" charset="0"/>
                        </a:rPr>
                        <m:t>𝐲</m:t>
                      </m:r>
                      <m:r>
                        <a:rPr lang="en-US" altLang="zh-CN" sz="2000" b="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8"/>
                                        <m:mcJc m:val="center"/>
                                      </m:mcPr>
                                    </m:mc>
                                  </m:mcs>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2.14</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4.62</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8.24</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11.24</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13.99</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16.33</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19.23</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28.74</m:t>
                                    </m:r>
                                  </m:e>
                                </m:mr>
                              </m:m>
                            </m:e>
                          </m:d>
                        </m:e>
                        <m:sup>
                          <m:r>
                            <m:rPr>
                              <m:sty m:val="p"/>
                            </m:rPr>
                            <a:rPr lang="en-US" altLang="zh-CN" sz="2000" kern="100">
                              <a:solidFill>
                                <a:srgbClr val="000000"/>
                              </a:solidFill>
                              <a:latin typeface="Cambria Math" panose="02040503050406030204" pitchFamily="18" charset="0"/>
                              <a:ea typeface="等线" panose="02010600030101010101" charset="-122"/>
                              <a:cs typeface="Times New Roman" panose="02020603050405020304" pitchFamily="18" charset="0"/>
                            </a:rPr>
                            <m:t>T</m:t>
                          </m:r>
                        </m:sup>
                      </m:sSup>
                    </m:oMath>
                  </m:oMathPara>
                </a14:m>
                <a:endParaRPr lang="zh-CN" altLang="zh-CN" sz="2000" kern="100" dirty="0">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其中矩阵</a:t>
                </a:r>
                <a14:m>
                  <m:oMath xmlns:m="http://schemas.openxmlformats.org/officeDocument/2006/math">
                    <m:r>
                      <a:rPr lang="en-US" altLang="zh-CN" sz="20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多出一行全</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，是因为常数项</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𝑎</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0</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，可以看作是数值为全</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的特征的对应系数。计算可得</a:t>
                </a:r>
              </a:p>
              <a:p>
                <a:pPr/>
                <a14:m>
                  <m:oMathPara xmlns:m="http://schemas.openxmlformats.org/officeDocument/2006/math">
                    <m:oMathParaPr>
                      <m:jc m:val="centerGroup"/>
                    </m:oMathParaPr>
                    <m:oMath xmlns:m="http://schemas.openxmlformats.org/officeDocument/2006/math">
                      <m:r>
                        <a:rPr lang="en-US" altLang="zh-CN" sz="2000" b="1" i="1" kern="100">
                          <a:solidFill>
                            <a:srgbClr val="000000"/>
                          </a:solidFill>
                          <a:latin typeface="Cambria Math" panose="02040503050406030204" pitchFamily="18" charset="0"/>
                          <a:ea typeface="等线" panose="02010600030101010101" charset="-122"/>
                          <a:cs typeface="Times New Roman" panose="02020603050405020304" pitchFamily="18" charset="0"/>
                        </a:rPr>
                        <m:t>𝒂</m:t>
                      </m:r>
                      <m:r>
                        <a:rPr lang="en-US" altLang="zh-CN" sz="2000" b="1" kern="100">
                          <a:solidFill>
                            <a:srgbClr val="000000"/>
                          </a:solidFill>
                          <a:latin typeface="Cambria Math" panose="02040503050406030204" pitchFamily="18" charset="0"/>
                          <a:ea typeface="等线" panose="02010600030101010101" charset="-122"/>
                          <a:cs typeface="Times New Roman" panose="02020603050405020304" pitchFamily="18" charset="0"/>
                        </a:rPr>
                        <m:t>=</m:t>
                      </m:r>
                      <m:d>
                        <m:dPr>
                          <m:begChr m:val="["/>
                          <m:endChr m:val="]"/>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3"/>
                                    <m:mcJc m:val="center"/>
                                  </m:mcPr>
                                </m:mc>
                              </m:mcs>
                              <m:ctrlPr>
                                <a:rPr lang="zh-CN"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1.312</m:t>
                                </m:r>
                              </m:e>
                              <m:e>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0.626</m:t>
                                </m:r>
                              </m:e>
                              <m:e>
                                <m:r>
                                  <a:rPr lang="en-US" altLang="zh-CN" sz="20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−9.103</m:t>
                                </m:r>
                              </m:e>
                            </m:mr>
                          </m:m>
                        </m:e>
                      </m:d>
                    </m:oMath>
                  </m:oMathPara>
                </a14:m>
                <a:endParaRPr lang="zh-CN" altLang="zh-CN" sz="2000" kern="100" dirty="0">
                  <a:latin typeface="等线" panose="02010600030101010101" charset="-122"/>
                  <a:ea typeface="等线" panose="02010600030101010101" charset="-122"/>
                  <a:cs typeface="Times New Roman" panose="02020603050405020304" pitchFamily="18" charset="0"/>
                </a:endParaRPr>
              </a:p>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所以对应的线性函数为：</a:t>
                </a:r>
              </a:p>
              <a:p>
                <a:pPr/>
                <a14:m>
                  <m:oMathPara xmlns:m="http://schemas.openxmlformats.org/officeDocument/2006/math">
                    <m:oMathParaPr>
                      <m:jc m:val="centerGroup"/>
                    </m:oMathParaPr>
                    <m:oMath xmlns:m="http://schemas.openxmlformats.org/officeDocument/2006/math">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=−9.103+1.312</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𝑥</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+0.626</m:t>
                      </m:r>
                      <m:r>
                        <a:rPr lang="en-US" altLang="zh-CN" sz="2000" i="1" kern="100">
                          <a:solidFill>
                            <a:srgbClr val="000000"/>
                          </a:solidFill>
                          <a:latin typeface="Cambria Math" panose="02040503050406030204" pitchFamily="18" charset="0"/>
                          <a:ea typeface="等线" panose="02010600030101010101" charset="-122"/>
                          <a:cs typeface="Times New Roman" panose="02020603050405020304" pitchFamily="18" charset="0"/>
                        </a:rPr>
                        <m:t>𝑧</m:t>
                      </m:r>
                    </m:oMath>
                  </m:oMathPara>
                </a14:m>
                <a:endParaRPr lang="zh-CN" altLang="zh-CN" sz="20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821705" y="1450903"/>
                <a:ext cx="10147730" cy="5073568"/>
              </a:xfrm>
              <a:prstGeom prst="rect">
                <a:avLst/>
              </a:prstGeom>
              <a:blipFill>
                <a:blip r:embed="rId3"/>
                <a:stretch>
                  <a:fillRect l="-661" t="-1322" r="-312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回归分析：从线性回归到非线性回归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p:sp>
        <p:nvSpPr>
          <p:cNvPr id="6" name="矩形 5"/>
          <p:cNvSpPr/>
          <p:nvPr/>
        </p:nvSpPr>
        <p:spPr>
          <a:xfrm>
            <a:off x="852473" y="1494745"/>
            <a:ext cx="10502948" cy="1753235"/>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线性回归一个明显的问题是对离群点（和大多数数据点距离较远的数据点，</a:t>
            </a:r>
            <a:r>
              <a:rPr lang="en-US" altLang="zh-CN" dirty="0">
                <a:solidFill>
                  <a:srgbClr val="000000"/>
                </a:solidFill>
                <a:latin typeface="Times New Roman" panose="02020603050405020304" pitchFamily="18" charset="0"/>
                <a:ea typeface="楷体_GB2312"/>
                <a:cs typeface="Times New Roman" panose="02020603050405020304" pitchFamily="18" charset="0"/>
              </a:rPr>
              <a:t>outlier</a:t>
            </a:r>
            <a:r>
              <a:rPr lang="zh-CN" altLang="zh-CN" dirty="0">
                <a:solidFill>
                  <a:srgbClr val="000000"/>
                </a:solidFill>
                <a:latin typeface="Times New Roman" panose="02020603050405020304" pitchFamily="18" charset="0"/>
                <a:ea typeface="楷体_GB2312"/>
                <a:cs typeface="Times New Roman" panose="02020603050405020304" pitchFamily="18" charset="0"/>
              </a:rPr>
              <a:t>）非常敏感，导致模型建模不稳定，使结果有偏，为了缓解这个问题（特别是在二分类场景中）带来的影响，可考虑逻辑斯蒂回归</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 regression)[Cox 1958]</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Aft>
                <a:spcPts val="0"/>
              </a:spcAft>
            </a:pPr>
            <a:endParaRPr lang="zh-CN" altLang="zh-CN" kern="100" dirty="0">
              <a:latin typeface="等线" panose="02010600030101010101" charset="-122"/>
              <a:ea typeface="等线" panose="02010600030101010101" charset="-122"/>
              <a:cs typeface="Times New Roman" panose="02020603050405020304" pitchFamily="18" charset="0"/>
            </a:endParaRPr>
          </a:p>
        </p:txBody>
      </p:sp>
      <p:cxnSp>
        <p:nvCxnSpPr>
          <p:cNvPr id="15" name="直接连接符 14"/>
          <p:cNvCxnSpPr/>
          <p:nvPr/>
        </p:nvCxnSpPr>
        <p:spPr>
          <a:xfrm flipV="1">
            <a:off x="3784334" y="3872883"/>
            <a:ext cx="3383677" cy="20241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3883974" y="4251699"/>
            <a:ext cx="3437618" cy="1494627"/>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2" name="直接箭头连接符 1"/>
          <p:cNvCxnSpPr/>
          <p:nvPr/>
        </p:nvCxnSpPr>
        <p:spPr>
          <a:xfrm>
            <a:off x="3664429" y="6075419"/>
            <a:ext cx="370824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4101577" y="3814081"/>
            <a:ext cx="0" cy="255708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椭圆 9"/>
          <p:cNvSpPr>
            <a:spLocks noChangeAspect="1"/>
          </p:cNvSpPr>
          <p:nvPr/>
        </p:nvSpPr>
        <p:spPr>
          <a:xfrm>
            <a:off x="4349123" y="5465484"/>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a:spLocks noChangeAspect="1"/>
          </p:cNvSpPr>
          <p:nvPr/>
        </p:nvSpPr>
        <p:spPr>
          <a:xfrm>
            <a:off x="5035685" y="5251900"/>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a:spLocks noChangeAspect="1"/>
          </p:cNvSpPr>
          <p:nvPr/>
        </p:nvSpPr>
        <p:spPr>
          <a:xfrm>
            <a:off x="5518549" y="4915016"/>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a:spLocks noChangeAspect="1"/>
          </p:cNvSpPr>
          <p:nvPr/>
        </p:nvSpPr>
        <p:spPr>
          <a:xfrm>
            <a:off x="6927245" y="3212456"/>
            <a:ext cx="153640" cy="144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a:spLocks noChangeAspect="1"/>
          </p:cNvSpPr>
          <p:nvPr/>
        </p:nvSpPr>
        <p:spPr>
          <a:xfrm>
            <a:off x="6702970" y="4475360"/>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p:cNvSpPr txBox="1"/>
              <p:nvPr/>
            </p:nvSpPr>
            <p:spPr>
              <a:xfrm>
                <a:off x="7080885" y="5740893"/>
                <a:ext cx="500605" cy="3122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𝒙</m:t>
                      </m:r>
                    </m:oMath>
                  </m:oMathPara>
                </a14:m>
                <a:endParaRPr lang="zh-CN" altLang="en-US" sz="2000" b="1" dirty="0"/>
              </a:p>
            </p:txBody>
          </p:sp>
        </mc:Choice>
        <mc:Fallback xmlns="">
          <p:sp>
            <p:nvSpPr>
              <p:cNvPr id="17" name="文本框 16"/>
              <p:cNvSpPr txBox="1">
                <a:spLocks noRot="1" noChangeAspect="1" noMove="1" noResize="1" noEditPoints="1" noAdjustHandles="1" noChangeArrowheads="1" noChangeShapeType="1" noTextEdit="1"/>
              </p:cNvSpPr>
              <p:nvPr/>
            </p:nvSpPr>
            <p:spPr>
              <a:xfrm>
                <a:off x="7080885" y="5740893"/>
                <a:ext cx="500605" cy="312249"/>
              </a:xfrm>
              <a:prstGeom prst="rect">
                <a:avLst/>
              </a:prstGeom>
              <a:blipFill rotWithShape="1">
                <a:blip r:embed="rId3"/>
                <a:stretch>
                  <a:fillRect t="-158" r="45" b="-120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006369" y="3608369"/>
                <a:ext cx="500605" cy="3122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𝒚</m:t>
                      </m:r>
                    </m:oMath>
                  </m:oMathPara>
                </a14:m>
                <a:endParaRPr lang="zh-CN" altLang="en-US" sz="2000" b="1" dirty="0"/>
              </a:p>
            </p:txBody>
          </p:sp>
        </mc:Choice>
        <mc:Fallback xmlns="">
          <p:sp>
            <p:nvSpPr>
              <p:cNvPr id="18" name="文本框 17"/>
              <p:cNvSpPr txBox="1">
                <a:spLocks noRot="1" noChangeAspect="1" noMove="1" noResize="1" noEditPoints="1" noAdjustHandles="1" noChangeArrowheads="1" noChangeShapeType="1" noTextEdit="1"/>
              </p:cNvSpPr>
              <p:nvPr/>
            </p:nvSpPr>
            <p:spPr>
              <a:xfrm>
                <a:off x="4006369" y="3608369"/>
                <a:ext cx="500605" cy="312249"/>
              </a:xfrm>
              <a:prstGeom prst="rect">
                <a:avLst/>
              </a:prstGeom>
              <a:blipFill rotWithShape="1">
                <a:blip r:embed="rId4"/>
                <a:stretch>
                  <a:fillRect l="-31" t="-96" r="76" b="-12161"/>
                </a:stretch>
              </a:blipFill>
            </p:spPr>
            <p:txBody>
              <a:bodyPr/>
              <a:lstStyle/>
              <a:p>
                <a:r>
                  <a:rPr lang="zh-CN" altLang="en-US">
                    <a:noFill/>
                  </a:rPr>
                  <a:t> </a:t>
                </a:r>
              </a:p>
            </p:txBody>
          </p:sp>
        </mc:Fallback>
      </mc:AlternateContent>
      <p:sp>
        <p:nvSpPr>
          <p:cNvPr id="19" name="文本框 18"/>
          <p:cNvSpPr txBox="1"/>
          <p:nvPr/>
        </p:nvSpPr>
        <p:spPr>
          <a:xfrm>
            <a:off x="6734693" y="6166922"/>
            <a:ext cx="1173799" cy="369332"/>
          </a:xfrm>
          <a:prstGeom prst="rect">
            <a:avLst/>
          </a:prstGeom>
          <a:noFill/>
        </p:spPr>
        <p:txBody>
          <a:bodyPr wrap="square">
            <a:spAutoFit/>
          </a:bodyPr>
          <a:lstStyle/>
          <a:p>
            <a:r>
              <a:rPr lang="zh-CN" altLang="en-US" sz="1800" b="1" dirty="0">
                <a:solidFill>
                  <a:schemeClr val="accent1"/>
                </a:solidFill>
                <a:latin typeface="微软雅黑" panose="020B0503020204020204" pitchFamily="34" charset="-122"/>
                <a:ea typeface="微软雅黑" panose="020B0503020204020204" pitchFamily="34" charset="-122"/>
              </a:rPr>
              <a:t>自变量</a:t>
            </a:r>
            <a:endParaRPr lang="zh-CN" altLang="en-US" dirty="0"/>
          </a:p>
        </p:txBody>
      </p:sp>
      <p:sp>
        <p:nvSpPr>
          <p:cNvPr id="20" name="文本框 19"/>
          <p:cNvSpPr txBox="1"/>
          <p:nvPr/>
        </p:nvSpPr>
        <p:spPr>
          <a:xfrm>
            <a:off x="3049699" y="3579120"/>
            <a:ext cx="1102016" cy="369332"/>
          </a:xfrm>
          <a:prstGeom prst="rect">
            <a:avLst/>
          </a:prstGeom>
          <a:noFill/>
        </p:spPr>
        <p:txBody>
          <a:bodyPr wrap="square">
            <a:spAutoFit/>
          </a:bodyPr>
          <a:lstStyle/>
          <a:p>
            <a:r>
              <a:rPr lang="zh-CN" altLang="en-US" sz="1800" b="1" dirty="0">
                <a:solidFill>
                  <a:schemeClr val="accent1"/>
                </a:solidFill>
                <a:latin typeface="微软雅黑" panose="020B0503020204020204" pitchFamily="34" charset="-122"/>
                <a:ea typeface="微软雅黑" panose="020B0503020204020204" pitchFamily="34" charset="-122"/>
              </a:rPr>
              <a:t>因变量</a:t>
            </a:r>
            <a:endParaRPr lang="zh-CN" altLang="en-US" dirty="0"/>
          </a:p>
        </p:txBody>
      </p:sp>
      <p:sp>
        <p:nvSpPr>
          <p:cNvPr id="44" name="文本框 43"/>
          <p:cNvSpPr txBox="1"/>
          <p:nvPr/>
        </p:nvSpPr>
        <p:spPr>
          <a:xfrm>
            <a:off x="6584244" y="2855881"/>
            <a:ext cx="1102018" cy="369332"/>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异常点</a:t>
            </a:r>
            <a:endParaRPr lang="zh-CN" altLang="en-US" dirty="0">
              <a:solidFill>
                <a:srgbClr val="FF0000"/>
              </a:solidFill>
            </a:endParaRPr>
          </a:p>
        </p:txBody>
      </p:sp>
      <p:sp>
        <p:nvSpPr>
          <p:cNvPr id="46" name="文本框 45"/>
          <p:cNvSpPr txBox="1"/>
          <p:nvPr/>
        </p:nvSpPr>
        <p:spPr>
          <a:xfrm>
            <a:off x="8033622" y="3195060"/>
            <a:ext cx="1389939" cy="369332"/>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模型不稳定</a:t>
            </a:r>
            <a:endParaRPr lang="zh-CN" altLang="en-US" dirty="0">
              <a:solidFill>
                <a:srgbClr val="FF0000"/>
              </a:solidFill>
            </a:endParaRPr>
          </a:p>
        </p:txBody>
      </p:sp>
      <p:sp>
        <p:nvSpPr>
          <p:cNvPr id="47" name="弧形 46"/>
          <p:cNvSpPr/>
          <p:nvPr/>
        </p:nvSpPr>
        <p:spPr>
          <a:xfrm>
            <a:off x="7378322" y="3506817"/>
            <a:ext cx="762000" cy="920540"/>
          </a:xfrm>
          <a:prstGeom prst="arc">
            <a:avLst/>
          </a:prstGeom>
          <a:ln w="31750">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椭圆 47"/>
          <p:cNvSpPr>
            <a:spLocks noChangeAspect="1"/>
          </p:cNvSpPr>
          <p:nvPr/>
        </p:nvSpPr>
        <p:spPr>
          <a:xfrm>
            <a:off x="4583899" y="5279185"/>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a:spLocks noChangeAspect="1"/>
          </p:cNvSpPr>
          <p:nvPr/>
        </p:nvSpPr>
        <p:spPr>
          <a:xfrm>
            <a:off x="4721072" y="5081826"/>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a:spLocks noChangeAspect="1"/>
          </p:cNvSpPr>
          <p:nvPr/>
        </p:nvSpPr>
        <p:spPr>
          <a:xfrm>
            <a:off x="5189325" y="5279185"/>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a:spLocks noChangeAspect="1"/>
          </p:cNvSpPr>
          <p:nvPr/>
        </p:nvSpPr>
        <p:spPr>
          <a:xfrm>
            <a:off x="5248634" y="4927012"/>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a:spLocks noChangeAspect="1"/>
          </p:cNvSpPr>
          <p:nvPr/>
        </p:nvSpPr>
        <p:spPr>
          <a:xfrm>
            <a:off x="5518549" y="4677476"/>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a:spLocks noChangeAspect="1"/>
          </p:cNvSpPr>
          <p:nvPr/>
        </p:nvSpPr>
        <p:spPr>
          <a:xfrm>
            <a:off x="5349208" y="5105414"/>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5735635" y="4814047"/>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a:spLocks noChangeAspect="1"/>
          </p:cNvSpPr>
          <p:nvPr/>
        </p:nvSpPr>
        <p:spPr>
          <a:xfrm>
            <a:off x="6009309" y="4944668"/>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6117316" y="4526184"/>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6584244" y="4287434"/>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6462492" y="4642049"/>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6937737" y="4322558"/>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6972926" y="3907475"/>
            <a:ext cx="1102018" cy="369332"/>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误判点</a:t>
            </a:r>
            <a:endParaRPr lang="zh-CN" altLang="en-US" dirty="0">
              <a:solidFill>
                <a:srgbClr val="FF0000"/>
              </a:solidFill>
            </a:endParaRPr>
          </a:p>
        </p:txBody>
      </p:sp>
      <p:sp>
        <p:nvSpPr>
          <p:cNvPr id="37" name="椭圆 36"/>
          <p:cNvSpPr>
            <a:spLocks noChangeAspect="1"/>
          </p:cNvSpPr>
          <p:nvPr/>
        </p:nvSpPr>
        <p:spPr>
          <a:xfrm>
            <a:off x="6667958" y="3898511"/>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4" grpId="0"/>
      <p:bldP spid="46" grpId="0"/>
      <p:bldP spid="47" grpId="0" animBg="1"/>
      <p:bldP spid="6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回归分析：从线性回归到非线性回归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grpSp>
      <mc:AlternateContent xmlns:mc="http://schemas.openxmlformats.org/markup-compatibility/2006" xmlns:a14="http://schemas.microsoft.com/office/drawing/2010/main">
        <mc:Choice Requires="a14">
          <p:sp>
            <p:nvSpPr>
              <p:cNvPr id="6" name="矩形 5"/>
              <p:cNvSpPr/>
              <p:nvPr/>
            </p:nvSpPr>
            <p:spPr>
              <a:xfrm>
                <a:off x="852170" y="1758950"/>
                <a:ext cx="6769735" cy="4216026"/>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逻辑斯蒂回归</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 regression)</a:t>
                </a:r>
                <a:r>
                  <a:rPr lang="zh-CN" altLang="zh-CN" dirty="0">
                    <a:solidFill>
                      <a:srgbClr val="000000"/>
                    </a:solidFill>
                    <a:latin typeface="Times New Roman" panose="02020603050405020304" pitchFamily="18" charset="0"/>
                    <a:ea typeface="楷体_GB2312"/>
                    <a:cs typeface="Times New Roman" panose="02020603050405020304" pitchFamily="18" charset="0"/>
                  </a:rPr>
                  <a:t>就是在回归模型中</a:t>
                </a:r>
                <a:r>
                  <a:rPr lang="zh-CN" altLang="zh-CN" dirty="0">
                    <a:solidFill>
                      <a:srgbClr val="C00000"/>
                    </a:solidFill>
                    <a:latin typeface="Times New Roman" panose="02020603050405020304" pitchFamily="18" charset="0"/>
                    <a:ea typeface="楷体_GB2312"/>
                    <a:cs typeface="Times New Roman" panose="02020603050405020304" pitchFamily="18" charset="0"/>
                  </a:rPr>
                  <a:t>引入</a:t>
                </a:r>
                <a:r>
                  <a:rPr lang="en-US" altLang="zh-CN" dirty="0">
                    <a:solidFill>
                      <a:srgbClr val="C00000"/>
                    </a:solidFill>
                    <a:latin typeface="Times New Roman" panose="02020603050405020304" pitchFamily="18" charset="0"/>
                    <a:ea typeface="楷体_GB2312"/>
                    <a:cs typeface="Times New Roman" panose="02020603050405020304" pitchFamily="18" charset="0"/>
                  </a:rPr>
                  <a:t> sigmoid</a:t>
                </a:r>
                <a:r>
                  <a:rPr lang="zh-CN" altLang="zh-CN" dirty="0">
                    <a:solidFill>
                      <a:srgbClr val="C00000"/>
                    </a:solidFill>
                    <a:latin typeface="Times New Roman" panose="02020603050405020304" pitchFamily="18" charset="0"/>
                    <a:ea typeface="楷体_GB2312"/>
                    <a:cs typeface="Times New Roman" panose="02020603050405020304" pitchFamily="18" charset="0"/>
                  </a:rPr>
                  <a:t>函数</a:t>
                </a:r>
                <a:r>
                  <a:rPr lang="zh-CN" altLang="zh-CN" dirty="0">
                    <a:solidFill>
                      <a:srgbClr val="000000"/>
                    </a:solidFill>
                    <a:latin typeface="Times New Roman" panose="02020603050405020304" pitchFamily="18" charset="0"/>
                    <a:ea typeface="楷体_GB2312"/>
                    <a:cs typeface="Times New Roman" panose="02020603050405020304" pitchFamily="18" charset="0"/>
                  </a:rPr>
                  <a:t>的一种非线性回归模型。</a:t>
                </a:r>
                <a:r>
                  <a:rPr lang="en-US" altLang="zh-CN" dirty="0">
                    <a:solidFill>
                      <a:srgbClr val="000000"/>
                    </a:solidFill>
                    <a:latin typeface="Times New Roman" panose="02020603050405020304" pitchFamily="18" charset="0"/>
                    <a:ea typeface="楷体_GB2312"/>
                    <a:cs typeface="Times New Roman" panose="02020603050405020304" pitchFamily="18" charset="0"/>
                  </a:rPr>
                  <a:t>Logistic</a:t>
                </a:r>
                <a:r>
                  <a:rPr lang="zh-CN" altLang="zh-CN" dirty="0">
                    <a:solidFill>
                      <a:srgbClr val="000000"/>
                    </a:solidFill>
                    <a:latin typeface="Times New Roman" panose="02020603050405020304" pitchFamily="18" charset="0"/>
                    <a:ea typeface="楷体_GB2312"/>
                    <a:cs typeface="Times New Roman" panose="02020603050405020304" pitchFamily="18" charset="0"/>
                  </a:rPr>
                  <a:t>回归模型可如下表示：</a:t>
                </a:r>
              </a:p>
              <a:p>
                <a:pPr algn="ctr">
                  <a:lnSpc>
                    <a:spcPct val="150000"/>
                  </a:lnSpc>
                  <a:spcAft>
                    <a:spcPts val="0"/>
                  </a:spcAft>
                </a:pPr>
                <a14:m>
                  <m:oMath xmlns:m="http://schemas.openxmlformats.org/officeDocument/2006/math">
                    <m:r>
                      <a:rPr lang="en-US" altLang="zh-CN"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𝑦</m:t>
                    </m:r>
                    <m:r>
                      <a:rPr lang="en-US" altLang="zh-CN" i="1" kern="100" smtClean="0">
                        <a:solidFill>
                          <a:srgbClr val="C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num>
                      <m:den>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sSup>
                          <m:sSup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𝑒</m:t>
                            </m:r>
                          </m:e>
                          <m:sup>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𝑧</m:t>
                            </m:r>
                          </m:sup>
                        </m:sSup>
                      </m:den>
                    </m:f>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f>
                      <m:f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num>
                      <m:den>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1+</m:t>
                        </m:r>
                        <m:sSup>
                          <m:sSup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𝑒</m:t>
                            </m:r>
                          </m:e>
                          <m:sup>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C00000"/>
                                    </a:solidFill>
                                    <a:latin typeface="Cambria Math" panose="02040503050406030204" pitchFamily="18" charset="0"/>
                                    <a:ea typeface="等线" panose="02010600030101010101" charset="-122"/>
                                    <a:cs typeface="Times New Roman" panose="02020603050405020304" pitchFamily="18" charset="0"/>
                                  </a:rPr>
                                  <m:t>𝒘</m:t>
                                </m:r>
                              </m:e>
                              <m:sup>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b="1" i="1" kern="100">
                                <a:solidFill>
                                  <a:srgbClr val="C00000"/>
                                </a:solidFill>
                                <a:latin typeface="Cambria Math" panose="02040503050406030204" pitchFamily="18" charset="0"/>
                                <a:ea typeface="等线" panose="02010600030101010101" charset="-122"/>
                                <a:cs typeface="Times New Roman" panose="02020603050405020304" pitchFamily="18" charset="0"/>
                              </a:rPr>
                              <m:t>𝒙</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C00000"/>
                                </a:solidFill>
                                <a:latin typeface="Cambria Math" panose="02040503050406030204" pitchFamily="18" charset="0"/>
                                <a:ea typeface="等线" panose="02010600030101010101" charset="-122"/>
                                <a:cs typeface="Times New Roman" panose="02020603050405020304" pitchFamily="18" charset="0"/>
                              </a:rPr>
                              <m:t>)</m:t>
                            </m:r>
                          </m:sup>
                        </m:sSup>
                      </m:den>
                    </m:f>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oMath>
                </a14:m>
                <a:r>
                  <a:rPr lang="zh-CN"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𝑦</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0,1</m:t>
                        </m:r>
                      </m:e>
                    </m:d>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𝑧</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𝒘</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𝑇</m:t>
                        </m:r>
                      </m:sup>
                    </m:sSup>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𝒙</m:t>
                    </m:r>
                    <m:r>
                      <a:rPr lang="en-US" altLang="zh-CN" kern="100">
                        <a:solidFill>
                          <a:srgbClr val="000000"/>
                        </a:solidFill>
                        <a:latin typeface="Cambria Math" panose="02040503050406030204" pitchFamily="18" charset="0"/>
                        <a:ea typeface="等线" panose="02010600030101010101" charset="-122"/>
                        <a:cs typeface="Times New Roman" panose="02020603050405020304" pitchFamily="18" charset="0"/>
                      </a:rPr>
                      <m:t>+</m:t>
                    </m:r>
                    <m:r>
                      <m:rPr>
                        <m:sty m:val="p"/>
                      </m:rPr>
                      <a:rPr lang="en-US" altLang="zh-CN" kern="100">
                        <a:solidFill>
                          <a:srgbClr val="000000"/>
                        </a:solidFill>
                        <a:latin typeface="Cambria Math" panose="02040503050406030204" pitchFamily="18" charset="0"/>
                        <a:ea typeface="等线" panose="02010600030101010101" charset="-122"/>
                        <a:cs typeface="Times New Roman" panose="02020603050405020304" pitchFamily="18" charset="0"/>
                      </a:rPr>
                      <m:t>b</m:t>
                    </m:r>
                  </m:oMath>
                </a14:m>
                <a:endParaRPr lang="zh-CN" altLang="zh-CN" kern="100" dirty="0">
                  <a:latin typeface="等线" panose="02010600030101010101" charset="-122"/>
                  <a:ea typeface="等线" panose="02010600030101010101" charset="-122"/>
                  <a:cs typeface="Times New Roman" panose="02020603050405020304" pitchFamily="18" charset="0"/>
                </a:endParaRPr>
              </a:p>
              <a:p>
                <a:pPr>
                  <a:lnSpc>
                    <a:spcPct val="150000"/>
                  </a:lnSpc>
                </a:pPr>
                <a:r>
                  <a:rPr lang="zh-CN" altLang="zh-CN" kern="0">
                    <a:solidFill>
                      <a:srgbClr val="000000"/>
                    </a:solidFill>
                    <a:latin typeface="Times New Roman" panose="02020603050405020304" pitchFamily="18" charset="0"/>
                    <a:ea typeface="楷体_GB2312"/>
                    <a:cs typeface="Times New Roman" panose="02020603050405020304" pitchFamily="18" charset="0"/>
                  </a:rPr>
                  <a:t>这里</a:t>
                </a:r>
                <a14:m>
                  <m:oMath xmlns:m="http://schemas.openxmlformats.org/officeDocument/2006/math">
                    <m:f>
                      <m:f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kern="100">
                            <a:solidFill>
                              <a:srgbClr val="000000"/>
                            </a:solidFill>
                            <a:latin typeface="Cambria Math" panose="02040503050406030204" pitchFamily="18" charset="0"/>
                            <a:ea typeface="等线" panose="02010600030101010101" charset="-122"/>
                            <a:cs typeface="Times New Roman" panose="02020603050405020304" pitchFamily="18" charset="0"/>
                          </a:rPr>
                          <m:t>1</m:t>
                        </m:r>
                      </m:num>
                      <m:den>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1+</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𝑒</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𝑧</m:t>
                            </m:r>
                          </m:sup>
                        </m:sSup>
                      </m:den>
                    </m:f>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函数</a:t>
                </a:r>
                <a:r>
                  <a:rPr lang="zh-CN"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a:t>
                </a:r>
                <a14:m>
                  <m:oMath xmlns:m="http://schemas.openxmlformats.org/officeDocument/2006/math">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𝒙</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ℝ</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𝑑</m:t>
                        </m:r>
                      </m:sup>
                    </m:sSup>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是输入数据</a:t>
                </a:r>
                <a:r>
                  <a:rPr lang="zh-CN"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a:t>
                </a:r>
                <a14:m>
                  <m:oMath xmlns:m="http://schemas.openxmlformats.org/officeDocument/2006/math">
                    <m:r>
                      <a:rPr lang="en-US" altLang="zh-CN" b="1" i="1" kern="100">
                        <a:solidFill>
                          <a:srgbClr val="000000"/>
                        </a:solidFill>
                        <a:latin typeface="Cambria Math" panose="02040503050406030204" pitchFamily="18" charset="0"/>
                        <a:ea typeface="等线" panose="02010600030101010101" charset="-122"/>
                        <a:cs typeface="Times New Roman" panose="02020603050405020304" pitchFamily="18" charset="0"/>
                      </a:rPr>
                      <m:t>𝒘</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ℝ</m:t>
                        </m:r>
                      </m:e>
                      <m:sup>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𝑑</m:t>
                        </m:r>
                      </m:sup>
                    </m:sSup>
                  </m:oMath>
                </a14:m>
                <a:r>
                  <a:rPr lang="zh-CN"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rPr>
                  <a:t>和</a:t>
                </a:r>
                <a14:m>
                  <m:oMath xmlns:m="http://schemas.openxmlformats.org/officeDocument/2006/math">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𝑏</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charset="-122"/>
                        <a:cs typeface="Times New Roman" panose="02020603050405020304" pitchFamily="18" charset="0"/>
                      </a:rPr>
                      <m:t>ℝ</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是回归函数的参数。</a:t>
                </a:r>
                <a:endParaRPr lang="zh-CN" altLang="zh-CN" kern="100" dirty="0">
                  <a:latin typeface="等线" panose="02010600030101010101" charset="-122"/>
                  <a:ea typeface="等线" panose="02010600030101010101" charset="-122"/>
                  <a:cs typeface="Times New Roman" panose="02020603050405020304" pitchFamily="18" charset="0"/>
                </a:endParaRPr>
              </a:p>
              <a:p>
                <a:pPr>
                  <a:lnSpc>
                    <a:spcPct val="150000"/>
                  </a:lnSpc>
                </a:pPr>
                <a:endParaRPr lang="en-US" altLang="zh-CN" kern="100" dirty="0">
                  <a:solidFill>
                    <a:srgbClr val="000000"/>
                  </a:solidFill>
                  <a:latin typeface="Times New Roman" panose="02020603050405020304" pitchFamily="18" charset="0"/>
                  <a:ea typeface="等线" panose="02010600030101010101" charset="-122"/>
                  <a:cs typeface="Times New Roman" panose="02020603050405020304" pitchFamily="18" charset="0"/>
                </a:endParaRPr>
              </a:p>
              <a:p>
                <a:pPr>
                  <a:lnSpc>
                    <a:spcPct val="150000"/>
                  </a:lnSpc>
                </a:pPr>
                <a:r>
                  <a:rPr lang="en-US" altLang="zh-CN" kern="0">
                    <a:solidFill>
                      <a:srgbClr val="000000"/>
                    </a:solidFill>
                    <a:latin typeface="Times New Roman" panose="02020603050405020304" pitchFamily="18" charset="0"/>
                    <a:ea typeface="楷体_GB2312"/>
                    <a:cs typeface="Times New Roman" panose="02020603050405020304" pitchFamily="18" charset="0"/>
                  </a:rPr>
                  <a:t>logistic</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回归只能用于解决二分类问题，将它推广为多项逻辑斯蒂回归模型</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(multi-nominal logistic model</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，也即</a:t>
                </a:r>
                <a:r>
                  <a:rPr lang="en-US" altLang="zh-CN" kern="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函数</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，用于处理多类分类问题，可以得到处理多类分类问题的</a:t>
                </a:r>
                <a:r>
                  <a:rPr lang="en-US" altLang="zh-CN" kern="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回归。</a:t>
                </a:r>
                <a:endParaRPr lang="zh-CN" altLang="zh-CN"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852170" y="1758950"/>
                <a:ext cx="6769735" cy="4216026"/>
              </a:xfrm>
              <a:prstGeom prst="rect">
                <a:avLst/>
              </a:prstGeom>
              <a:blipFill>
                <a:blip r:embed="rId3"/>
                <a:stretch>
                  <a:fillRect l="-811" r="-721" b="-289"/>
                </a:stretch>
              </a:blipFill>
            </p:spPr>
            <p:txBody>
              <a:bodyPr/>
              <a:lstStyle/>
              <a:p>
                <a:r>
                  <a:rPr lang="zh-CN" altLang="en-US">
                    <a:noFill/>
                  </a:rPr>
                  <a:t> </a:t>
                </a:r>
              </a:p>
            </p:txBody>
          </p:sp>
        </mc:Fallback>
      </mc:AlternateContent>
      <p:sp>
        <p:nvSpPr>
          <p:cNvPr id="68" name="文本框 67"/>
          <p:cNvSpPr txBox="1"/>
          <p:nvPr/>
        </p:nvSpPr>
        <p:spPr>
          <a:xfrm>
            <a:off x="9522808" y="5424470"/>
            <a:ext cx="1102018" cy="369332"/>
          </a:xfrm>
          <a:prstGeom prst="rect">
            <a:avLst/>
          </a:prstGeom>
          <a:noFill/>
        </p:spPr>
        <p:txBody>
          <a:bodyPr wrap="square">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逻辑回归</a:t>
            </a:r>
            <a:endParaRPr lang="zh-CN" altLang="en-US" dirty="0"/>
          </a:p>
        </p:txBody>
      </p:sp>
      <p:cxnSp>
        <p:nvCxnSpPr>
          <p:cNvPr id="88" name="直接连接符 87"/>
          <p:cNvCxnSpPr/>
          <p:nvPr/>
        </p:nvCxnSpPr>
        <p:spPr>
          <a:xfrm flipV="1">
            <a:off x="8058508" y="2920158"/>
            <a:ext cx="3383677" cy="202413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8158148" y="3298974"/>
            <a:ext cx="3437618" cy="1494627"/>
          </a:xfrm>
          <a:prstGeom prst="line">
            <a:avLst/>
          </a:prstGeom>
          <a:ln w="19050">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a:off x="7938603" y="5122694"/>
            <a:ext cx="370824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p:nvPr/>
        </p:nvCxnSpPr>
        <p:spPr>
          <a:xfrm flipV="1">
            <a:off x="8375751" y="2861356"/>
            <a:ext cx="0" cy="255708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92" name="椭圆 91"/>
          <p:cNvSpPr>
            <a:spLocks noChangeAspect="1"/>
          </p:cNvSpPr>
          <p:nvPr/>
        </p:nvSpPr>
        <p:spPr>
          <a:xfrm>
            <a:off x="8623297" y="4512759"/>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a:spLocks noChangeAspect="1"/>
          </p:cNvSpPr>
          <p:nvPr/>
        </p:nvSpPr>
        <p:spPr>
          <a:xfrm>
            <a:off x="9309859" y="4299175"/>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a:spLocks noChangeAspect="1"/>
          </p:cNvSpPr>
          <p:nvPr/>
        </p:nvSpPr>
        <p:spPr>
          <a:xfrm>
            <a:off x="9792723" y="3962291"/>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a:spLocks noChangeAspect="1"/>
          </p:cNvSpPr>
          <p:nvPr/>
        </p:nvSpPr>
        <p:spPr>
          <a:xfrm>
            <a:off x="11201419" y="2259731"/>
            <a:ext cx="153640" cy="144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a:spLocks noChangeAspect="1"/>
          </p:cNvSpPr>
          <p:nvPr/>
        </p:nvSpPr>
        <p:spPr>
          <a:xfrm>
            <a:off x="10977144" y="3522635"/>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7" name="文本框 96"/>
              <p:cNvSpPr txBox="1"/>
              <p:nvPr/>
            </p:nvSpPr>
            <p:spPr>
              <a:xfrm>
                <a:off x="11355059" y="4788168"/>
                <a:ext cx="500605" cy="3122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𝒙</m:t>
                      </m:r>
                    </m:oMath>
                  </m:oMathPara>
                </a14:m>
                <a:endParaRPr lang="zh-CN" altLang="en-US" sz="2000" b="1" dirty="0"/>
              </a:p>
            </p:txBody>
          </p:sp>
        </mc:Choice>
        <mc:Fallback xmlns="">
          <p:sp>
            <p:nvSpPr>
              <p:cNvPr id="97" name="文本框 96"/>
              <p:cNvSpPr txBox="1">
                <a:spLocks noRot="1" noChangeAspect="1" noMove="1" noResize="1" noEditPoints="1" noAdjustHandles="1" noChangeArrowheads="1" noChangeShapeType="1" noTextEdit="1"/>
              </p:cNvSpPr>
              <p:nvPr/>
            </p:nvSpPr>
            <p:spPr>
              <a:xfrm>
                <a:off x="11355059" y="4788168"/>
                <a:ext cx="500605" cy="312249"/>
              </a:xfrm>
              <a:prstGeom prst="rect">
                <a:avLst/>
              </a:prstGeom>
              <a:blipFill rotWithShape="1">
                <a:blip r:embed="rId4"/>
                <a:stretch>
                  <a:fillRect l="-125" t="-86" r="43" b="-121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p:cNvSpPr txBox="1"/>
              <p:nvPr/>
            </p:nvSpPr>
            <p:spPr>
              <a:xfrm>
                <a:off x="8280543" y="2655644"/>
                <a:ext cx="500605" cy="31224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𝒚</m:t>
                      </m:r>
                    </m:oMath>
                  </m:oMathPara>
                </a14:m>
                <a:endParaRPr lang="zh-CN" altLang="en-US" sz="2000" b="1" dirty="0"/>
              </a:p>
            </p:txBody>
          </p:sp>
        </mc:Choice>
        <mc:Fallback xmlns="">
          <p:sp>
            <p:nvSpPr>
              <p:cNvPr id="98" name="文本框 97"/>
              <p:cNvSpPr txBox="1">
                <a:spLocks noRot="1" noChangeAspect="1" noMove="1" noResize="1" noEditPoints="1" noAdjustHandles="1" noChangeArrowheads="1" noChangeShapeType="1" noTextEdit="1"/>
              </p:cNvSpPr>
              <p:nvPr/>
            </p:nvSpPr>
            <p:spPr>
              <a:xfrm>
                <a:off x="8280543" y="2655644"/>
                <a:ext cx="500605" cy="312249"/>
              </a:xfrm>
              <a:prstGeom prst="rect">
                <a:avLst/>
              </a:prstGeom>
              <a:blipFill rotWithShape="1">
                <a:blip r:embed="rId5"/>
                <a:stretch>
                  <a:fillRect l="-29" t="-24" r="74" b="-12233"/>
                </a:stretch>
              </a:blipFill>
            </p:spPr>
            <p:txBody>
              <a:bodyPr/>
              <a:lstStyle/>
              <a:p>
                <a:r>
                  <a:rPr lang="zh-CN" altLang="en-US">
                    <a:noFill/>
                  </a:rPr>
                  <a:t> </a:t>
                </a:r>
              </a:p>
            </p:txBody>
          </p:sp>
        </mc:Fallback>
      </mc:AlternateContent>
      <p:sp>
        <p:nvSpPr>
          <p:cNvPr id="99" name="文本框 98"/>
          <p:cNvSpPr txBox="1"/>
          <p:nvPr/>
        </p:nvSpPr>
        <p:spPr>
          <a:xfrm>
            <a:off x="11008867" y="5214197"/>
            <a:ext cx="1173799" cy="369332"/>
          </a:xfrm>
          <a:prstGeom prst="rect">
            <a:avLst/>
          </a:prstGeom>
          <a:noFill/>
        </p:spPr>
        <p:txBody>
          <a:bodyPr wrap="square">
            <a:spAutoFit/>
          </a:bodyPr>
          <a:lstStyle/>
          <a:p>
            <a:r>
              <a:rPr lang="zh-CN" altLang="en-US" sz="1800" b="1" dirty="0">
                <a:solidFill>
                  <a:schemeClr val="accent1"/>
                </a:solidFill>
                <a:latin typeface="微软雅黑" panose="020B0503020204020204" pitchFamily="34" charset="-122"/>
                <a:ea typeface="微软雅黑" panose="020B0503020204020204" pitchFamily="34" charset="-122"/>
              </a:rPr>
              <a:t>自变量</a:t>
            </a:r>
            <a:endParaRPr lang="zh-CN" altLang="en-US" dirty="0"/>
          </a:p>
        </p:txBody>
      </p:sp>
      <p:sp>
        <p:nvSpPr>
          <p:cNvPr id="100" name="文本框 99"/>
          <p:cNvSpPr txBox="1"/>
          <p:nvPr/>
        </p:nvSpPr>
        <p:spPr>
          <a:xfrm>
            <a:off x="7323873" y="2626395"/>
            <a:ext cx="1102016" cy="369332"/>
          </a:xfrm>
          <a:prstGeom prst="rect">
            <a:avLst/>
          </a:prstGeom>
          <a:noFill/>
        </p:spPr>
        <p:txBody>
          <a:bodyPr wrap="square">
            <a:spAutoFit/>
          </a:bodyPr>
          <a:lstStyle/>
          <a:p>
            <a:r>
              <a:rPr lang="zh-CN" altLang="en-US" sz="1800" b="1" dirty="0">
                <a:solidFill>
                  <a:schemeClr val="accent1"/>
                </a:solidFill>
                <a:latin typeface="微软雅黑" panose="020B0503020204020204" pitchFamily="34" charset="-122"/>
                <a:ea typeface="微软雅黑" panose="020B0503020204020204" pitchFamily="34" charset="-122"/>
              </a:rPr>
              <a:t>因变量</a:t>
            </a:r>
            <a:endParaRPr lang="zh-CN" altLang="en-US" dirty="0"/>
          </a:p>
        </p:txBody>
      </p:sp>
      <p:sp>
        <p:nvSpPr>
          <p:cNvPr id="105" name="椭圆 104"/>
          <p:cNvSpPr>
            <a:spLocks noChangeAspect="1"/>
          </p:cNvSpPr>
          <p:nvPr/>
        </p:nvSpPr>
        <p:spPr>
          <a:xfrm>
            <a:off x="8858073" y="4326460"/>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a:spLocks noChangeAspect="1"/>
          </p:cNvSpPr>
          <p:nvPr/>
        </p:nvSpPr>
        <p:spPr>
          <a:xfrm>
            <a:off x="8995246" y="4129101"/>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a:spLocks noChangeAspect="1"/>
          </p:cNvSpPr>
          <p:nvPr/>
        </p:nvSpPr>
        <p:spPr>
          <a:xfrm>
            <a:off x="9463499" y="4326460"/>
            <a:ext cx="153640" cy="144000"/>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a:spLocks noChangeAspect="1"/>
          </p:cNvSpPr>
          <p:nvPr/>
        </p:nvSpPr>
        <p:spPr>
          <a:xfrm>
            <a:off x="9522808" y="3974287"/>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a:spLocks noChangeAspect="1"/>
          </p:cNvSpPr>
          <p:nvPr/>
        </p:nvSpPr>
        <p:spPr>
          <a:xfrm>
            <a:off x="9792723" y="3724751"/>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a:spLocks noChangeAspect="1"/>
          </p:cNvSpPr>
          <p:nvPr/>
        </p:nvSpPr>
        <p:spPr>
          <a:xfrm>
            <a:off x="9623382" y="4152689"/>
            <a:ext cx="153640" cy="144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a:spLocks noChangeAspect="1"/>
          </p:cNvSpPr>
          <p:nvPr/>
        </p:nvSpPr>
        <p:spPr>
          <a:xfrm>
            <a:off x="10009809" y="3861322"/>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a:spLocks noChangeAspect="1"/>
          </p:cNvSpPr>
          <p:nvPr/>
        </p:nvSpPr>
        <p:spPr>
          <a:xfrm>
            <a:off x="10283483" y="3991943"/>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a:spLocks noChangeAspect="1"/>
          </p:cNvSpPr>
          <p:nvPr/>
        </p:nvSpPr>
        <p:spPr>
          <a:xfrm>
            <a:off x="10391490" y="3573459"/>
            <a:ext cx="153640" cy="144000"/>
          </a:xfrm>
          <a:prstGeom prst="ellips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a:spLocks noChangeAspect="1"/>
          </p:cNvSpPr>
          <p:nvPr/>
        </p:nvSpPr>
        <p:spPr>
          <a:xfrm>
            <a:off x="10858418" y="3334709"/>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a:spLocks noChangeAspect="1"/>
          </p:cNvSpPr>
          <p:nvPr/>
        </p:nvSpPr>
        <p:spPr>
          <a:xfrm>
            <a:off x="10736666" y="3689324"/>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a:spLocks noChangeAspect="1"/>
          </p:cNvSpPr>
          <p:nvPr/>
        </p:nvSpPr>
        <p:spPr>
          <a:xfrm>
            <a:off x="11211911" y="3369833"/>
            <a:ext cx="153640" cy="144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a:spLocks noChangeAspect="1"/>
          </p:cNvSpPr>
          <p:nvPr/>
        </p:nvSpPr>
        <p:spPr>
          <a:xfrm>
            <a:off x="10985189" y="2953717"/>
            <a:ext cx="153640" cy="144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任意多边形: 形状 118"/>
          <p:cNvSpPr/>
          <p:nvPr/>
        </p:nvSpPr>
        <p:spPr>
          <a:xfrm>
            <a:off x="8186180" y="2367796"/>
            <a:ext cx="3271025" cy="3033132"/>
          </a:xfrm>
          <a:custGeom>
            <a:avLst/>
            <a:gdLst>
              <a:gd name="connsiteX0" fmla="*/ 0 w 3271025"/>
              <a:gd name="connsiteY0" fmla="*/ 3033132 h 3033132"/>
              <a:gd name="connsiteX1" fmla="*/ 282498 w 3271025"/>
              <a:gd name="connsiteY1" fmla="*/ 2178205 h 3033132"/>
              <a:gd name="connsiteX2" fmla="*/ 602166 w 3271025"/>
              <a:gd name="connsiteY2" fmla="*/ 1761893 h 3033132"/>
              <a:gd name="connsiteX3" fmla="*/ 1182030 w 3271025"/>
              <a:gd name="connsiteY3" fmla="*/ 1642946 h 3033132"/>
              <a:gd name="connsiteX4" fmla="*/ 1732156 w 3271025"/>
              <a:gd name="connsiteY4" fmla="*/ 1605776 h 3033132"/>
              <a:gd name="connsiteX5" fmla="*/ 2170771 w 3271025"/>
              <a:gd name="connsiteY5" fmla="*/ 1501697 h 3033132"/>
              <a:gd name="connsiteX6" fmla="*/ 2475571 w 3271025"/>
              <a:gd name="connsiteY6" fmla="*/ 1375317 h 3033132"/>
              <a:gd name="connsiteX7" fmla="*/ 2676293 w 3271025"/>
              <a:gd name="connsiteY7" fmla="*/ 1167161 h 3033132"/>
              <a:gd name="connsiteX8" fmla="*/ 2832410 w 3271025"/>
              <a:gd name="connsiteY8" fmla="*/ 854927 h 3033132"/>
              <a:gd name="connsiteX9" fmla="*/ 3077737 w 3271025"/>
              <a:gd name="connsiteY9" fmla="*/ 364273 h 3033132"/>
              <a:gd name="connsiteX10" fmla="*/ 3271025 w 3271025"/>
              <a:gd name="connsiteY10" fmla="*/ 0 h 303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71025" h="3033132">
                <a:moveTo>
                  <a:pt x="0" y="3033132"/>
                </a:moveTo>
                <a:cubicBezTo>
                  <a:pt x="91068" y="2711605"/>
                  <a:pt x="182137" y="2390078"/>
                  <a:pt x="282498" y="2178205"/>
                </a:cubicBezTo>
                <a:cubicBezTo>
                  <a:pt x="382859" y="1966332"/>
                  <a:pt x="452244" y="1851103"/>
                  <a:pt x="602166" y="1761893"/>
                </a:cubicBezTo>
                <a:cubicBezTo>
                  <a:pt x="752088" y="1672683"/>
                  <a:pt x="993698" y="1668965"/>
                  <a:pt x="1182030" y="1642946"/>
                </a:cubicBezTo>
                <a:cubicBezTo>
                  <a:pt x="1370362" y="1616926"/>
                  <a:pt x="1567366" y="1629317"/>
                  <a:pt x="1732156" y="1605776"/>
                </a:cubicBezTo>
                <a:cubicBezTo>
                  <a:pt x="1896946" y="1582235"/>
                  <a:pt x="2046869" y="1540107"/>
                  <a:pt x="2170771" y="1501697"/>
                </a:cubicBezTo>
                <a:cubicBezTo>
                  <a:pt x="2294673" y="1463287"/>
                  <a:pt x="2391317" y="1431073"/>
                  <a:pt x="2475571" y="1375317"/>
                </a:cubicBezTo>
                <a:cubicBezTo>
                  <a:pt x="2559825" y="1319561"/>
                  <a:pt x="2616820" y="1253892"/>
                  <a:pt x="2676293" y="1167161"/>
                </a:cubicBezTo>
                <a:cubicBezTo>
                  <a:pt x="2735766" y="1080430"/>
                  <a:pt x="2765503" y="988742"/>
                  <a:pt x="2832410" y="854927"/>
                </a:cubicBezTo>
                <a:cubicBezTo>
                  <a:pt x="2899317" y="721112"/>
                  <a:pt x="3004635" y="506761"/>
                  <a:pt x="3077737" y="364273"/>
                </a:cubicBezTo>
                <a:cubicBezTo>
                  <a:pt x="3150840" y="221785"/>
                  <a:pt x="3210932" y="110892"/>
                  <a:pt x="3271025" y="0"/>
                </a:cubicBezTo>
              </a:path>
            </a:pathLst>
          </a:custGeom>
          <a:noFill/>
          <a:ln w="57150" cmpd="sng">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BCDC1FE-864A-4716-83F9-0501E6D86C1F}"/>
                  </a:ext>
                </a:extLst>
              </p:cNvPr>
              <p:cNvSpPr/>
              <p:nvPr/>
            </p:nvSpPr>
            <p:spPr>
              <a:xfrm>
                <a:off x="556334" y="1555692"/>
                <a:ext cx="6705600" cy="4662815"/>
              </a:xfrm>
              <a:prstGeom prst="rect">
                <a:avLst/>
              </a:prstGeom>
            </p:spPr>
            <p:txBody>
              <a:bodyPr wrap="square">
                <a:spAutoFit/>
              </a:bodyPr>
              <a:lstStyle/>
              <a:p>
                <a:pPr indent="266700" algn="just">
                  <a:lnSpc>
                    <a:spcPct val="150000"/>
                  </a:lnSpc>
                  <a:spcAft>
                    <a:spcPts val="0"/>
                  </a:spcAft>
                </a:pPr>
                <a:r>
                  <a:rPr lang="en-US" altLang="zh-CN" b="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函数一般用于多分类问题中</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，它是对逻辑斯蒂（</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logistic</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）回归的一种推广，也被称为多项逻辑斯蒂回归模型</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(multi-nominal logistic mode)</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假设要实现</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𝑘</m:t>
                    </m:r>
                  </m:oMath>
                </a14:m>
                <a:r>
                  <a:rPr lang="zh-CN"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个类别</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的分类任务，</a:t>
                </a:r>
                <a:r>
                  <a:rPr lang="en-US" altLang="zh-CN"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函数将输入数据映射到</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某</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个类别的概率</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spcAft>
                    <a:spcPts val="0"/>
                  </a:spcAft>
                </a:pP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66700" algn="just">
                  <a:lnSpc>
                    <a:spcPct val="150000"/>
                  </a:lnSpc>
                  <a:spcAft>
                    <a:spcPts val="0"/>
                  </a:spcAft>
                </a:pP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右</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图给出了</a:t>
                </a:r>
                <a:r>
                  <a:rPr lang="zh-CN"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三类分类</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问题的</a:t>
                </a:r>
                <a:r>
                  <a:rPr lang="en-US" altLang="zh-CN"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输出示意图。在图中，对于取值为</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变换后，将其映射到</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(0,1)</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之间的概率值。</a:t>
                </a:r>
              </a:p>
              <a:p>
                <a:pPr indent="266700" algn="just">
                  <a:lnSpc>
                    <a:spcPct val="150000"/>
                  </a:lnSpc>
                  <a:spcAft>
                    <a:spcPts val="0"/>
                  </a:spcAft>
                </a:pP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输出结果的值累加起来为</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，因此可将输出概率最大的作为分类目标。</a:t>
                </a:r>
              </a:p>
            </p:txBody>
          </p:sp>
        </mc:Choice>
        <mc:Fallback xmlns="">
          <p:sp>
            <p:nvSpPr>
              <p:cNvPr id="6" name="矩形 5">
                <a:extLst>
                  <a:ext uri="{FF2B5EF4-FFF2-40B4-BE49-F238E27FC236}">
                    <a16:creationId xmlns:a16="http://schemas.microsoft.com/office/drawing/2014/main" id="{EBCDC1FE-864A-4716-83F9-0501E6D86C1F}"/>
                  </a:ext>
                </a:extLst>
              </p:cNvPr>
              <p:cNvSpPr>
                <a:spLocks noRot="1" noChangeAspect="1" noMove="1" noResize="1" noEditPoints="1" noAdjustHandles="1" noChangeArrowheads="1" noChangeShapeType="1" noTextEdit="1"/>
              </p:cNvSpPr>
              <p:nvPr/>
            </p:nvSpPr>
            <p:spPr>
              <a:xfrm>
                <a:off x="556334" y="1555692"/>
                <a:ext cx="6705600" cy="4662815"/>
              </a:xfrm>
              <a:prstGeom prst="rect">
                <a:avLst/>
              </a:prstGeom>
              <a:blipFill>
                <a:blip r:embed="rId3"/>
                <a:stretch>
                  <a:fillRect l="-727" r="-818" b="-1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9EE2B80-0081-4515-8633-74BA45AF6844}"/>
                  </a:ext>
                </a:extLst>
              </p:cNvPr>
              <p:cNvSpPr/>
              <p:nvPr/>
            </p:nvSpPr>
            <p:spPr>
              <a:xfrm>
                <a:off x="8157099" y="5233870"/>
                <a:ext cx="3033010" cy="7378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𝑦</m:t>
                          </m:r>
                        </m:e>
                        <m:sub>
                          <m:r>
                            <a:rPr lang="zh-CN" altLang="en-US" i="1">
                              <a:solidFill>
                                <a:srgbClr val="FF0000"/>
                              </a:solidFill>
                              <a:latin typeface="Cambria Math" panose="02040503050406030204" pitchFamily="18" charset="0"/>
                            </a:rPr>
                            <m:t>𝑖</m:t>
                          </m:r>
                        </m:sub>
                      </m:sSub>
                      <m:r>
                        <a:rPr lang="zh-CN" altLang="en-US" i="0">
                          <a:solidFill>
                            <a:srgbClr val="FF0000"/>
                          </a:solidFill>
                          <a:latin typeface="Cambria Math" panose="02040503050406030204" pitchFamily="18" charset="0"/>
                        </a:rPr>
                        <m:t>=</m:t>
                      </m:r>
                      <m:r>
                        <m:rPr>
                          <m:sty m:val="p"/>
                        </m:rPr>
                        <a:rPr lang="zh-CN" altLang="en-US" i="0">
                          <a:solidFill>
                            <a:srgbClr val="FF0000"/>
                          </a:solidFill>
                          <a:latin typeface="Cambria Math" panose="02040503050406030204" pitchFamily="18" charset="0"/>
                        </a:rPr>
                        <m:t>softmax</m:t>
                      </m:r>
                      <m:d>
                        <m:dPr>
                          <m:ctrlPr>
                            <a:rPr lang="zh-CN" altLang="en-US" i="1">
                              <a:solidFill>
                                <a:srgbClr val="FF0000"/>
                              </a:solidFill>
                              <a:latin typeface="Cambria Math" panose="02040503050406030204" pitchFamily="18" charset="0"/>
                            </a:rPr>
                          </m:ctrlPr>
                        </m:dPr>
                        <m:e>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𝑥</m:t>
                              </m:r>
                            </m:e>
                            <m:sub>
                              <m:r>
                                <a:rPr lang="zh-CN" altLang="en-US" i="1">
                                  <a:solidFill>
                                    <a:srgbClr val="FF0000"/>
                                  </a:solidFill>
                                  <a:latin typeface="Cambria Math" panose="02040503050406030204" pitchFamily="18" charset="0"/>
                                </a:rPr>
                                <m:t>𝑖</m:t>
                              </m:r>
                            </m:sub>
                          </m:sSub>
                        </m:e>
                      </m:d>
                      <m:r>
                        <a:rPr lang="zh-CN" altLang="en-US" i="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𝑒</m:t>
                              </m:r>
                            </m:e>
                            <m: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𝑥</m:t>
                                  </m:r>
                                </m:e>
                                <m:sub>
                                  <m:r>
                                    <a:rPr lang="zh-CN" altLang="en-US" i="1">
                                      <a:solidFill>
                                        <a:srgbClr val="FF0000"/>
                                      </a:solidFill>
                                      <a:latin typeface="Cambria Math" panose="02040503050406030204" pitchFamily="18" charset="0"/>
                                    </a:rPr>
                                    <m:t>𝑖</m:t>
                                  </m:r>
                                </m:sub>
                              </m:sSub>
                            </m:sup>
                          </m:sSup>
                        </m:num>
                        <m:den>
                          <m:nary>
                            <m:naryPr>
                              <m:chr m:val="∑"/>
                              <m:limLoc m:val="subSup"/>
                              <m:ctrlPr>
                                <a:rPr lang="zh-CN" altLang="en-US" i="1">
                                  <a:solidFill>
                                    <a:srgbClr val="FF0000"/>
                                  </a:solidFill>
                                  <a:latin typeface="Cambria Math" panose="02040503050406030204" pitchFamily="18" charset="0"/>
                                </a:rPr>
                              </m:ctrlPr>
                            </m:naryPr>
                            <m:sub>
                              <m:r>
                                <a:rPr lang="zh-CN" altLang="en-US" i="1">
                                  <a:solidFill>
                                    <a:srgbClr val="FF0000"/>
                                  </a:solidFill>
                                  <a:latin typeface="Cambria Math" panose="02040503050406030204" pitchFamily="18" charset="0"/>
                                </a:rPr>
                                <m:t>𝑗</m:t>
                              </m:r>
                              <m:r>
                                <a:rPr lang="zh-CN" altLang="en-US" i="0">
                                  <a:solidFill>
                                    <a:srgbClr val="FF0000"/>
                                  </a:solidFill>
                                  <a:latin typeface="Cambria Math" panose="02040503050406030204" pitchFamily="18" charset="0"/>
                                </a:rPr>
                                <m:t>=1</m:t>
                              </m:r>
                            </m:sub>
                            <m:sup>
                              <m:r>
                                <a:rPr lang="zh-CN" altLang="en-US" i="1">
                                  <a:solidFill>
                                    <a:srgbClr val="FF0000"/>
                                  </a:solidFill>
                                  <a:latin typeface="Cambria Math" panose="02040503050406030204" pitchFamily="18" charset="0"/>
                                </a:rPr>
                                <m:t>𝑘</m:t>
                              </m:r>
                            </m:sup>
                            <m:e>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𝑒</m:t>
                                  </m:r>
                                </m:e>
                                <m:sup>
                                  <m:sSub>
                                    <m:sSubPr>
                                      <m:ctrlPr>
                                        <a:rPr lang="zh-CN" altLang="en-US" i="1">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𝑥</m:t>
                                      </m:r>
                                    </m:e>
                                    <m:sub>
                                      <m:r>
                                        <a:rPr lang="zh-CN" altLang="en-US" i="1">
                                          <a:solidFill>
                                            <a:srgbClr val="FF0000"/>
                                          </a:solidFill>
                                          <a:latin typeface="Cambria Math" panose="02040503050406030204" pitchFamily="18" charset="0"/>
                                        </a:rPr>
                                        <m:t>𝑗</m:t>
                                      </m:r>
                                    </m:sub>
                                  </m:sSub>
                                </m:sup>
                              </m:sSup>
                            </m:e>
                          </m:nary>
                        </m:den>
                      </m:f>
                    </m:oMath>
                  </m:oMathPara>
                </a14:m>
                <a:endParaRPr lang="zh-CN" altLang="en-US" dirty="0">
                  <a:solidFill>
                    <a:srgbClr val="FF0000"/>
                  </a:solidFill>
                </a:endParaRPr>
              </a:p>
            </p:txBody>
          </p:sp>
        </mc:Choice>
        <mc:Fallback xmlns="">
          <p:sp>
            <p:nvSpPr>
              <p:cNvPr id="8" name="矩形 7">
                <a:extLst>
                  <a:ext uri="{FF2B5EF4-FFF2-40B4-BE49-F238E27FC236}">
                    <a16:creationId xmlns:a16="http://schemas.microsoft.com/office/drawing/2014/main" id="{29EE2B80-0081-4515-8633-74BA45AF6844}"/>
                  </a:ext>
                </a:extLst>
              </p:cNvPr>
              <p:cNvSpPr>
                <a:spLocks noRot="1" noChangeAspect="1" noMove="1" noResize="1" noEditPoints="1" noAdjustHandles="1" noChangeArrowheads="1" noChangeShapeType="1" noTextEdit="1"/>
              </p:cNvSpPr>
              <p:nvPr/>
            </p:nvSpPr>
            <p:spPr>
              <a:xfrm>
                <a:off x="8157099" y="5233870"/>
                <a:ext cx="3033010" cy="737831"/>
              </a:xfrm>
              <a:prstGeom prst="rect">
                <a:avLst/>
              </a:prstGeom>
              <a:blipFill>
                <a:blip r:embed="rId4"/>
                <a:stretch>
                  <a:fillRect/>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747D83A9-4663-4929-AC0D-09F30CED8C14}"/>
              </a:ext>
            </a:extLst>
          </p:cNvPr>
          <p:cNvPicPr>
            <a:picLocks noChangeAspect="1"/>
          </p:cNvPicPr>
          <p:nvPr/>
        </p:nvPicPr>
        <p:blipFill rotWithShape="1">
          <a:blip r:embed="rId5"/>
          <a:srcRect b="12560"/>
          <a:stretch/>
        </p:blipFill>
        <p:spPr>
          <a:xfrm>
            <a:off x="7579311" y="1555692"/>
            <a:ext cx="4343400" cy="3375623"/>
          </a:xfrm>
          <a:prstGeom prst="rect">
            <a:avLst/>
          </a:prstGeom>
        </p:spPr>
      </p:pic>
      <p:grpSp>
        <p:nvGrpSpPr>
          <p:cNvPr id="10" name="组合 9"/>
          <p:cNvGrpSpPr/>
          <p:nvPr/>
        </p:nvGrpSpPr>
        <p:grpSpPr>
          <a:xfrm>
            <a:off x="773415" y="600277"/>
            <a:ext cx="4944140" cy="497934"/>
            <a:chOff x="4099943" y="2819853"/>
            <a:chExt cx="2570275" cy="497934"/>
          </a:xfrm>
        </p:grpSpPr>
        <p:sp>
          <p:nvSpPr>
            <p:cNvPr id="11" name="平行四边形 10"/>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2" name="平行四边形 11"/>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13" name="矩形 12"/>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回归分析：从线性回归到非线性回归</a:t>
              </a:r>
              <a:endParaRPr lang="zh-CN" altLang="en-US" sz="2000" b="1" dirty="0">
                <a:solidFill>
                  <a:schemeClr val="tx1">
                    <a:lumMod val="95000"/>
                    <a:lumOff val="5000"/>
                  </a:schemeClr>
                </a:solidFill>
                <a:latin typeface="+mj-ea"/>
                <a:ea typeface="+mj-ea"/>
                <a:sym typeface="+mn-ea"/>
              </a:endParaRPr>
            </a:p>
          </p:txBody>
        </p:sp>
      </p:grpSp>
    </p:spTree>
    <p:extLst>
      <p:ext uri="{BB962C8B-B14F-4D97-AF65-F5344CB8AC3E}">
        <p14:creationId xmlns:p14="http://schemas.microsoft.com/office/powerpoint/2010/main" val="1490937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案例一：房价预测</a:t>
              </a:r>
            </a:p>
          </p:txBody>
        </p:sp>
      </p:grpSp>
      <p:sp>
        <p:nvSpPr>
          <p:cNvPr id="2" name="内容占位符 1"/>
          <p:cNvSpPr>
            <a:spLocks noGrp="1"/>
          </p:cNvSpPr>
          <p:nvPr>
            <p:ph sz="half" idx="1"/>
          </p:nvPr>
        </p:nvSpPr>
        <p:spPr>
          <a:xfrm>
            <a:off x="349338" y="3947698"/>
            <a:ext cx="6997700" cy="1554480"/>
          </a:xfrm>
          <a:noFill/>
        </p:spPr>
        <p:txBody>
          <a:bodyPr wrap="square" rtlCol="0">
            <a:spAutoFit/>
          </a:bodyPr>
          <a:lstStyle/>
          <a:p>
            <a:pPr marL="0" indent="0">
              <a:buNone/>
            </a:pPr>
            <a:r>
              <a:rPr lang="zh-CN" altLang="en-US" sz="1800" b="1" dirty="0">
                <a:latin typeface="微软雅黑" panose="020B0503020204020204" pitchFamily="34" charset="-122"/>
                <a:ea typeface="微软雅黑" panose="020B0503020204020204" pitchFamily="34" charset="-122"/>
              </a:rPr>
              <a:t>因变量：</a:t>
            </a:r>
            <a:r>
              <a:rPr lang="zh-CN" altLang="en-US" sz="1800" dirty="0">
                <a:latin typeface="微软雅黑" panose="020B0503020204020204" pitchFamily="34" charset="-122"/>
                <a:ea typeface="微软雅黑" panose="020B0503020204020204" pitchFamily="34" charset="-122"/>
              </a:rPr>
              <a:t>房价（</a:t>
            </a:r>
            <a:r>
              <a:rPr lang="en-US" altLang="zh-CN" sz="1800" dirty="0">
                <a:latin typeface="微软雅黑" panose="020B0503020204020204" pitchFamily="34" charset="-122"/>
                <a:ea typeface="微软雅黑" panose="020B0503020204020204" pitchFamily="34" charset="-122"/>
              </a:rPr>
              <a:t>Y</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0" indent="0">
              <a:buNone/>
            </a:pPr>
            <a:endParaRPr lang="en-US" altLang="zh-CN" sz="1800" dirty="0">
              <a:latin typeface="微软雅黑" panose="020B0503020204020204" pitchFamily="34" charset="-122"/>
              <a:ea typeface="微软雅黑" panose="020B0503020204020204" pitchFamily="34" charset="-122"/>
            </a:endParaRPr>
          </a:p>
          <a:p>
            <a:pPr marL="0" indent="0">
              <a:buNone/>
            </a:pPr>
            <a:r>
              <a:rPr lang="zh-CN" altLang="en-US" sz="1800" b="1" dirty="0">
                <a:latin typeface="微软雅黑" panose="020B0503020204020204" pitchFamily="34" charset="-122"/>
                <a:ea typeface="微软雅黑" panose="020B0503020204020204" pitchFamily="34" charset="-122"/>
              </a:rPr>
              <a:t>自变量：</a:t>
            </a:r>
            <a:r>
              <a:rPr lang="zh-CN" altLang="en-US" sz="1800" dirty="0">
                <a:latin typeface="微软雅黑" panose="020B0503020204020204" pitchFamily="34" charset="-122"/>
                <a:ea typeface="微软雅黑" panose="020B0503020204020204" pitchFamily="34" charset="-122"/>
              </a:rPr>
              <a:t>犯罪率（</a:t>
            </a:r>
            <a:r>
              <a:rPr lang="en-US" altLang="zh-CN" sz="1800" dirty="0">
                <a:latin typeface="微软雅黑" panose="020B0503020204020204" pitchFamily="34" charset="-122"/>
                <a:ea typeface="微软雅黑" panose="020B0503020204020204" pitchFamily="34" charset="-122"/>
              </a:rPr>
              <a:t>X1</a:t>
            </a:r>
            <a:r>
              <a:rPr lang="zh-CN" altLang="en-US" sz="1800" dirty="0">
                <a:latin typeface="微软雅黑" panose="020B0503020204020204" pitchFamily="34" charset="-122"/>
                <a:ea typeface="微软雅黑" panose="020B0503020204020204" pitchFamily="34" charset="-122"/>
              </a:rPr>
              <a:t>）房间数（</a:t>
            </a:r>
            <a:r>
              <a:rPr lang="en-US" altLang="zh-CN" sz="1800" dirty="0">
                <a:latin typeface="微软雅黑" panose="020B0503020204020204" pitchFamily="34" charset="-122"/>
                <a:ea typeface="微软雅黑" panose="020B0503020204020204" pitchFamily="34" charset="-122"/>
              </a:rPr>
              <a:t>X2</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marL="0" indent="0">
              <a:buNone/>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低收入人群占比（</a:t>
            </a:r>
            <a:r>
              <a:rPr lang="en-US" altLang="zh-CN" sz="1800" dirty="0">
                <a:latin typeface="微软雅黑" panose="020B0503020204020204" pitchFamily="34" charset="-122"/>
                <a:ea typeface="微软雅黑" panose="020B0503020204020204" pitchFamily="34" charset="-122"/>
              </a:rPr>
              <a:t>X3</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是否沿河（</a:t>
            </a:r>
            <a:r>
              <a:rPr lang="en-US" altLang="zh-CN" sz="1800" dirty="0">
                <a:latin typeface="微软雅黑" panose="020B0503020204020204" pitchFamily="34" charset="-122"/>
                <a:ea typeface="微软雅黑" panose="020B0503020204020204" pitchFamily="34" charset="-122"/>
              </a:rPr>
              <a:t>X4</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pic>
        <p:nvPicPr>
          <p:cNvPr id="7" name="Picture 2"/>
          <p:cNvPicPr>
            <a:picLocks noGrp="1" noChangeAspect="1" noChangeArrowheads="1"/>
          </p:cNvPicPr>
          <p:nvPr>
            <p:ph sz="half" idx="2"/>
          </p:nvPr>
        </p:nvPicPr>
        <p:blipFill>
          <a:blip r:embed="rId3"/>
          <a:stretch>
            <a:fillRect/>
          </a:stretch>
        </p:blipFill>
        <p:spPr bwMode="auto">
          <a:xfrm>
            <a:off x="6741160" y="1304305"/>
            <a:ext cx="4800600" cy="4792491"/>
          </a:xfrm>
          <a:prstGeom prst="rect">
            <a:avLst/>
          </a:prstGeom>
          <a:noFill/>
          <a:ln w="9525">
            <a:noFill/>
            <a:miter lim="800000"/>
            <a:headEnd/>
            <a:tailEnd/>
          </a:ln>
        </p:spPr>
      </p:pic>
      <p:sp>
        <p:nvSpPr>
          <p:cNvPr id="8" name="文本框 7"/>
          <p:cNvSpPr txBox="1"/>
          <p:nvPr/>
        </p:nvSpPr>
        <p:spPr>
          <a:xfrm>
            <a:off x="349338" y="1901817"/>
            <a:ext cx="6007188" cy="1753235"/>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该数据集包含美国人口普查局收集的美国马萨诸塞州波士顿住房价格的有关信息。</a:t>
            </a:r>
            <a:r>
              <a:rPr lang="zh-CN" altLang="en-US" b="0" i="0" dirty="0">
                <a:effectLst/>
                <a:latin typeface="微软雅黑" panose="020B0503020204020204" pitchFamily="34" charset="-122"/>
                <a:ea typeface="微软雅黑" panose="020B0503020204020204" pitchFamily="34" charset="-122"/>
              </a:rPr>
              <a:t>该数据集共有</a:t>
            </a:r>
            <a:r>
              <a:rPr lang="en-US" altLang="zh-CN" b="0" i="0" dirty="0">
                <a:effectLst/>
                <a:latin typeface="微软雅黑" panose="020B0503020204020204" pitchFamily="34" charset="-122"/>
                <a:ea typeface="微软雅黑" panose="020B0503020204020204" pitchFamily="34" charset="-122"/>
              </a:rPr>
              <a:t>506</a:t>
            </a:r>
            <a:r>
              <a:rPr lang="zh-CN" altLang="en-US" b="0" i="0" dirty="0">
                <a:effectLst/>
                <a:latin typeface="微软雅黑" panose="020B0503020204020204" pitchFamily="34" charset="-122"/>
                <a:ea typeface="微软雅黑" panose="020B0503020204020204" pitchFamily="34" charset="-122"/>
              </a:rPr>
              <a:t>个样本，</a:t>
            </a:r>
            <a:r>
              <a:rPr lang="en-US" altLang="zh-CN" b="0" i="0" dirty="0">
                <a:effectLst/>
                <a:latin typeface="微软雅黑" panose="020B0503020204020204" pitchFamily="34" charset="-122"/>
                <a:ea typeface="微软雅黑" panose="020B0503020204020204" pitchFamily="34" charset="-122"/>
              </a:rPr>
              <a:t>13</a:t>
            </a:r>
            <a:r>
              <a:rPr lang="zh-CN" altLang="en-US" b="0" i="0" dirty="0">
                <a:effectLst/>
                <a:latin typeface="微软雅黑" panose="020B0503020204020204" pitchFamily="34" charset="-122"/>
                <a:ea typeface="微软雅黑" panose="020B0503020204020204" pitchFamily="34" charset="-122"/>
              </a:rPr>
              <a:t>个属性，其中包括</a:t>
            </a:r>
            <a:r>
              <a:rPr lang="en-US" altLang="zh-CN" b="0" i="0" dirty="0">
                <a:effectLst/>
                <a:latin typeface="微软雅黑" panose="020B0503020204020204" pitchFamily="34" charset="-122"/>
                <a:ea typeface="微软雅黑" panose="020B0503020204020204" pitchFamily="34" charset="-122"/>
              </a:rPr>
              <a:t>12</a:t>
            </a:r>
            <a:r>
              <a:rPr lang="zh-CN" altLang="en-US" b="0" i="0" dirty="0">
                <a:effectLst/>
                <a:latin typeface="微软雅黑" panose="020B0503020204020204" pitchFamily="34" charset="-122"/>
                <a:ea typeface="微软雅黑" panose="020B0503020204020204" pitchFamily="34" charset="-122"/>
              </a:rPr>
              <a:t>个特征变量和</a:t>
            </a:r>
            <a:r>
              <a:rPr lang="en-US" altLang="zh-CN" b="0" i="0" dirty="0">
                <a:effectLst/>
                <a:latin typeface="微软雅黑" panose="020B0503020204020204" pitchFamily="34" charset="-122"/>
                <a:ea typeface="微软雅黑" panose="020B0503020204020204" pitchFamily="34" charset="-122"/>
              </a:rPr>
              <a:t>1</a:t>
            </a:r>
            <a:r>
              <a:rPr lang="zh-CN" altLang="en-US" b="0" i="0" dirty="0">
                <a:effectLst/>
                <a:latin typeface="微软雅黑" panose="020B0503020204020204" pitchFamily="34" charset="-122"/>
                <a:ea typeface="微软雅黑" panose="020B0503020204020204" pitchFamily="34" charset="-122"/>
              </a:rPr>
              <a:t>个目标变量（房价中位数），取以下</a:t>
            </a:r>
            <a:r>
              <a:rPr lang="en-US" altLang="zh-CN" b="0" i="0" dirty="0">
                <a:effectLst/>
                <a:latin typeface="微软雅黑" panose="020B0503020204020204" pitchFamily="34" charset="-122"/>
                <a:ea typeface="微软雅黑" panose="020B0503020204020204" pitchFamily="34" charset="-122"/>
              </a:rPr>
              <a:t>4</a:t>
            </a:r>
            <a:r>
              <a:rPr lang="zh-CN" altLang="en-US" b="0" i="0" dirty="0">
                <a:effectLst/>
                <a:latin typeface="微软雅黑" panose="020B0503020204020204" pitchFamily="34" charset="-122"/>
                <a:ea typeface="微软雅黑" panose="020B0503020204020204" pitchFamily="34" charset="-122"/>
              </a:rPr>
              <a:t>个特征作为自变量。</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案例一：房价预测</a:t>
              </a:r>
            </a:p>
          </p:txBody>
        </p:sp>
      </p:grpSp>
      <mc:AlternateContent xmlns:mc="http://schemas.openxmlformats.org/markup-compatibility/2006" xmlns:a14="http://schemas.microsoft.com/office/drawing/2010/main">
        <mc:Choice Requires="a14">
          <p:sp>
            <p:nvSpPr>
              <p:cNvPr id="13" name="文本框 12"/>
              <p:cNvSpPr txBox="1"/>
              <p:nvPr/>
            </p:nvSpPr>
            <p:spPr>
              <a:xfrm>
                <a:off x="1295400" y="3520955"/>
                <a:ext cx="7733591" cy="379206"/>
              </a:xfrm>
              <a:prstGeom prst="rect">
                <a:avLst/>
              </a:prstGeom>
              <a:noFill/>
            </p:spPr>
            <p:txBody>
              <a:bodyPr wrap="none" lIns="0" tIns="0" rIns="0" bIns="0" rtlCol="0">
                <a:spAutoFit/>
              </a:bodyPr>
              <a:lstStyle/>
              <a:p>
                <a:pPr defTabSz="609600"/>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panose="02040503050406030204" pitchFamily="18" charset="0"/>
                            </a:rPr>
                          </m:ctrlPr>
                        </m:sSubPr>
                        <m:e>
                          <m:acc>
                            <m:accPr>
                              <m:chr m:val="̂"/>
                              <m:ctrlPr>
                                <a:rPr lang="zh-CN" altLang="en-US" sz="2400" i="1">
                                  <a:solidFill>
                                    <a:schemeClr val="tx1"/>
                                  </a:solidFill>
                                  <a:latin typeface="Cambria Math" panose="02040503050406030204" pitchFamily="18" charset="0"/>
                                </a:rPr>
                              </m:ctrlPr>
                            </m:accPr>
                            <m:e>
                              <m:r>
                                <a:rPr lang="en-US" altLang="zh-CN" sz="2400" i="1">
                                  <a:solidFill>
                                    <a:schemeClr val="tx1"/>
                                  </a:solidFill>
                                  <a:latin typeface="Cambria Math" panose="02040503050406030204" pitchFamily="18" charset="0"/>
                                </a:rPr>
                                <m:t>𝑌</m:t>
                              </m:r>
                            </m:e>
                          </m:acc>
                        </m:e>
                        <m:sub>
                          <m:r>
                            <a:rPr lang="en-US" altLang="zh-CN" sz="2400" i="1">
                              <a:solidFill>
                                <a:schemeClr val="tx1"/>
                              </a:solidFill>
                              <a:latin typeface="Cambria Math" panose="02040503050406030204" pitchFamily="18" charset="0"/>
                            </a:rPr>
                            <m:t>𝑖</m:t>
                          </m:r>
                        </m:sub>
                      </m:sSub>
                      <m:r>
                        <a:rPr lang="en-US" altLang="zh-CN" sz="2400" i="1">
                          <a:solidFill>
                            <a:schemeClr val="tx1"/>
                          </a:solidFill>
                          <a:latin typeface="Cambria Math" panose="02040503050406030204" pitchFamily="18" charset="0"/>
                        </a:rPr>
                        <m:t>=−1.921−0.097</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𝑋</m:t>
                          </m:r>
                        </m:e>
                        <m:sub>
                          <m:r>
                            <a:rPr lang="en-US" altLang="zh-CN" sz="2400" i="1">
                              <a:solidFill>
                                <a:schemeClr val="tx1"/>
                              </a:solidFill>
                              <a:latin typeface="Cambria Math" panose="02040503050406030204" pitchFamily="18" charset="0"/>
                            </a:rPr>
                            <m:t>𝑖</m:t>
                          </m:r>
                          <m:r>
                            <a:rPr lang="en-US" altLang="zh-CN" sz="2400" i="1">
                              <a:solidFill>
                                <a:schemeClr val="tx1"/>
                              </a:solidFill>
                              <a:latin typeface="Cambria Math" panose="02040503050406030204" pitchFamily="18" charset="0"/>
                            </a:rPr>
                            <m:t>1</m:t>
                          </m:r>
                        </m:sub>
                      </m:sSub>
                      <m:r>
                        <a:rPr lang="en-US" altLang="zh-CN" sz="2400" i="1">
                          <a:solidFill>
                            <a:schemeClr val="tx1"/>
                          </a:solidFill>
                          <a:latin typeface="Cambria Math" panose="02040503050406030204" pitchFamily="18" charset="0"/>
                        </a:rPr>
                        <m:t>+5.076</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𝑋</m:t>
                          </m:r>
                        </m:e>
                        <m:sub>
                          <m:r>
                            <a:rPr lang="en-US" altLang="zh-CN" sz="2400" i="1">
                              <a:solidFill>
                                <a:schemeClr val="tx1"/>
                              </a:solidFill>
                              <a:latin typeface="Cambria Math" panose="02040503050406030204" pitchFamily="18" charset="0"/>
                            </a:rPr>
                            <m:t>𝑖</m:t>
                          </m:r>
                          <m:r>
                            <a:rPr lang="en-US" altLang="zh-CN" sz="2400" i="1">
                              <a:solidFill>
                                <a:schemeClr val="tx1"/>
                              </a:solidFill>
                              <a:latin typeface="Cambria Math" panose="02040503050406030204" pitchFamily="18" charset="0"/>
                            </a:rPr>
                            <m:t>2</m:t>
                          </m:r>
                        </m:sub>
                      </m:sSub>
                      <m:r>
                        <a:rPr lang="en-US" altLang="zh-CN" sz="2400" i="1">
                          <a:solidFill>
                            <a:schemeClr val="tx1"/>
                          </a:solidFill>
                          <a:latin typeface="Cambria Math" panose="02040503050406030204" pitchFamily="18" charset="0"/>
                        </a:rPr>
                        <m:t>−0.582</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𝑋</m:t>
                          </m:r>
                        </m:e>
                        <m:sub>
                          <m:r>
                            <a:rPr lang="en-US" altLang="zh-CN" sz="2400" i="1">
                              <a:solidFill>
                                <a:schemeClr val="tx1"/>
                              </a:solidFill>
                              <a:latin typeface="Cambria Math" panose="02040503050406030204" pitchFamily="18" charset="0"/>
                            </a:rPr>
                            <m:t>𝑖</m:t>
                          </m:r>
                          <m:r>
                            <a:rPr lang="en-US" altLang="zh-CN" sz="2400" i="1">
                              <a:solidFill>
                                <a:schemeClr val="tx1"/>
                              </a:solidFill>
                              <a:latin typeface="Cambria Math" panose="02040503050406030204" pitchFamily="18" charset="0"/>
                            </a:rPr>
                            <m:t>3</m:t>
                          </m:r>
                        </m:sub>
                      </m:sSub>
                      <m:r>
                        <a:rPr lang="en-US" altLang="zh-CN" sz="2400" i="1">
                          <a:solidFill>
                            <a:schemeClr val="tx1"/>
                          </a:solidFill>
                          <a:latin typeface="Cambria Math" panose="02040503050406030204" pitchFamily="18" charset="0"/>
                        </a:rPr>
                        <m:t>+3.998</m:t>
                      </m:r>
                      <m:sSub>
                        <m:sSubPr>
                          <m:ctrlPr>
                            <a:rPr lang="en-US"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𝑋</m:t>
                          </m:r>
                        </m:e>
                        <m:sub>
                          <m:r>
                            <a:rPr lang="en-US" altLang="zh-CN" sz="2400" i="1">
                              <a:solidFill>
                                <a:schemeClr val="tx1"/>
                              </a:solidFill>
                              <a:latin typeface="Cambria Math" panose="02040503050406030204" pitchFamily="18" charset="0"/>
                            </a:rPr>
                            <m:t>𝑖</m:t>
                          </m:r>
                          <m:r>
                            <a:rPr lang="en-US" altLang="zh-CN" sz="2400" i="1">
                              <a:solidFill>
                                <a:schemeClr val="tx1"/>
                              </a:solidFill>
                              <a:latin typeface="Cambria Math" panose="02040503050406030204" pitchFamily="18" charset="0"/>
                            </a:rPr>
                            <m:t>4</m:t>
                          </m:r>
                        </m:sub>
                      </m:sSub>
                    </m:oMath>
                  </m:oMathPara>
                </a14:m>
                <a:endParaRPr lang="zh-CN" altLang="en-US" sz="2400" dirty="0">
                  <a:solidFill>
                    <a:schemeClr val="tx1"/>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1295400" y="3520955"/>
                <a:ext cx="7733591" cy="379206"/>
              </a:xfrm>
              <a:prstGeom prst="rect">
                <a:avLst/>
              </a:prstGeom>
              <a:blipFill rotWithShape="1">
                <a:blip r:embed="rId3"/>
                <a:stretch>
                  <a:fillRect t="-136" r="-1487" b="165"/>
                </a:stretch>
              </a:blipFill>
            </p:spPr>
            <p:txBody>
              <a:bodyPr/>
              <a:lstStyle/>
              <a:p>
                <a:r>
                  <a:rPr lang="zh-CN" altLang="en-US">
                    <a:noFill/>
                  </a:rPr>
                  <a:t> </a:t>
                </a:r>
              </a:p>
            </p:txBody>
          </p:sp>
        </mc:Fallback>
      </mc:AlternateContent>
      <p:sp>
        <p:nvSpPr>
          <p:cNvPr id="14" name="标题 1"/>
          <p:cNvSpPr>
            <a:spLocks noGrp="1"/>
          </p:cNvSpPr>
          <p:nvPr>
            <p:ph type="title"/>
          </p:nvPr>
        </p:nvSpPr>
        <p:spPr>
          <a:xfrm>
            <a:off x="640080" y="1691640"/>
            <a:ext cx="8229600" cy="639762"/>
          </a:xfrm>
        </p:spPr>
        <p:txBody>
          <a:bodyPr vert="horz" wrap="square" lIns="123825" tIns="123825" rIns="57150" bIns="123825" rtlCol="0" anchor="t" anchorCtr="0">
            <a:normAutofit/>
          </a:bodyPr>
          <a:lstStyle/>
          <a:p>
            <a:pPr algn="l">
              <a:lnSpc>
                <a:spcPct val="90000"/>
              </a:lnSpc>
            </a:pPr>
            <a:r>
              <a:rPr lang="zh-CN" altLang="en-US" sz="1800" dirty="0">
                <a:latin typeface="微软雅黑" panose="020B0503020204020204" pitchFamily="34" charset="-122"/>
                <a:ea typeface="微软雅黑" panose="020B0503020204020204" pitchFamily="34" charset="-122"/>
              </a:rPr>
              <a:t>基于最小二乘法计算线性回归模型</a:t>
            </a:r>
          </a:p>
        </p:txBody>
      </p:sp>
      <p:sp>
        <p:nvSpPr>
          <p:cNvPr id="17" name="文本框 16"/>
          <p:cNvSpPr txBox="1"/>
          <p:nvPr/>
        </p:nvSpPr>
        <p:spPr>
          <a:xfrm>
            <a:off x="202173" y="4300365"/>
            <a:ext cx="11380227" cy="1337945"/>
          </a:xfrm>
          <a:prstGeom prst="rect">
            <a:avLst/>
          </a:prstGeom>
          <a:noFill/>
        </p:spPr>
        <p:txBody>
          <a:bodyPr wrap="square">
            <a:spAutoFit/>
          </a:bodyPr>
          <a:lstStyle/>
          <a:p>
            <a:pPr lvl="1">
              <a:lnSpc>
                <a:spcPct val="150000"/>
              </a:lnSpc>
            </a:pPr>
            <a:r>
              <a:rPr lang="zh-CN" altLang="en-US" dirty="0">
                <a:latin typeface="微软雅黑" panose="020B0503020204020204" pitchFamily="34" charset="-122"/>
                <a:ea typeface="微软雅黑" panose="020B0503020204020204" pitchFamily="34" charset="-122"/>
              </a:rPr>
              <a:t>犯罪率</a:t>
            </a:r>
            <a:r>
              <a:rPr lang="en-US" altLang="zh-CN" dirty="0">
                <a:latin typeface="微软雅黑" panose="020B0503020204020204" pitchFamily="34" charset="-122"/>
                <a:ea typeface="微软雅黑" panose="020B0503020204020204" pitchFamily="34" charset="-122"/>
              </a:rPr>
              <a:t>(X</a:t>
            </a:r>
            <a:r>
              <a:rPr lang="en-US" altLang="zh-CN" baseline="-25000" dirty="0">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控制其他因素不变时</a:t>
            </a:r>
            <a:r>
              <a:rPr lang="zh-CN" altLang="en-US" dirty="0">
                <a:latin typeface="微软雅黑" panose="020B0503020204020204" pitchFamily="34" charset="-122"/>
                <a:ea typeface="微软雅黑" panose="020B0503020204020204" pitchFamily="34" charset="-122"/>
              </a:rPr>
              <a:t>，犯罪率每增加一个百分点，房价</a:t>
            </a:r>
            <a:r>
              <a:rPr lang="zh-CN" altLang="en-US" b="1" dirty="0">
                <a:latin typeface="微软雅黑" panose="020B0503020204020204" pitchFamily="34" charset="-122"/>
                <a:ea typeface="微软雅黑" panose="020B0503020204020204" pitchFamily="34" charset="-122"/>
              </a:rPr>
              <a:t>平均降低</a:t>
            </a:r>
            <a:r>
              <a:rPr lang="en-US" altLang="zh-CN" dirty="0">
                <a:latin typeface="微软雅黑" panose="020B0503020204020204" pitchFamily="34" charset="-122"/>
                <a:ea typeface="微软雅黑" panose="020B0503020204020204" pitchFamily="34" charset="-122"/>
              </a:rPr>
              <a:t>0.097</a:t>
            </a:r>
            <a:r>
              <a:rPr lang="zh-CN" altLang="en-US" dirty="0">
                <a:latin typeface="微软雅黑" panose="020B0503020204020204" pitchFamily="34" charset="-122"/>
                <a:ea typeface="微软雅黑" panose="020B0503020204020204" pitchFamily="34" charset="-122"/>
              </a:rPr>
              <a:t>个单位，即</a:t>
            </a:r>
            <a:r>
              <a:rPr lang="en-US" altLang="zh-CN" dirty="0">
                <a:latin typeface="微软雅黑" panose="020B0503020204020204" pitchFamily="34" charset="-122"/>
                <a:ea typeface="微软雅黑" panose="020B0503020204020204" pitchFamily="34" charset="-122"/>
              </a:rPr>
              <a:t>97</a:t>
            </a:r>
            <a:r>
              <a:rPr lang="zh-CN" altLang="en-US" dirty="0">
                <a:latin typeface="微软雅黑" panose="020B0503020204020204" pitchFamily="34" charset="-122"/>
                <a:ea typeface="微软雅黑" panose="020B0503020204020204" pitchFamily="34" charset="-122"/>
              </a:rPr>
              <a:t>美元</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房间数</a:t>
            </a:r>
            <a:r>
              <a:rPr lang="en-US" altLang="zh-CN" dirty="0">
                <a:latin typeface="微软雅黑" panose="020B0503020204020204" pitchFamily="34" charset="-122"/>
                <a:ea typeface="微软雅黑" panose="020B0503020204020204" pitchFamily="34" charset="-122"/>
              </a:rPr>
              <a:t>(X</a:t>
            </a:r>
            <a:r>
              <a:rPr lang="en-US" altLang="zh-CN" baseline="-25000" dirty="0">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控制其他因素不变时</a:t>
            </a:r>
            <a:r>
              <a:rPr lang="zh-CN" altLang="en-US" dirty="0">
                <a:latin typeface="微软雅黑" panose="020B0503020204020204" pitchFamily="34" charset="-122"/>
                <a:ea typeface="微软雅黑" panose="020B0503020204020204" pitchFamily="34" charset="-122"/>
              </a:rPr>
              <a:t>，房间数每增加一个，房价</a:t>
            </a:r>
            <a:r>
              <a:rPr lang="zh-CN" altLang="en-US" b="1" dirty="0">
                <a:latin typeface="微软雅黑" panose="020B0503020204020204" pitchFamily="34" charset="-122"/>
                <a:ea typeface="微软雅黑" panose="020B0503020204020204" pitchFamily="34" charset="-122"/>
              </a:rPr>
              <a:t>平均增加</a:t>
            </a:r>
            <a:r>
              <a:rPr lang="en-US" altLang="zh-CN" dirty="0">
                <a:latin typeface="微软雅黑" panose="020B0503020204020204" pitchFamily="34" charset="-122"/>
                <a:ea typeface="微软雅黑" panose="020B0503020204020204" pitchFamily="34" charset="-122"/>
              </a:rPr>
              <a:t>5.076</a:t>
            </a:r>
            <a:r>
              <a:rPr lang="zh-CN" altLang="en-US" dirty="0">
                <a:latin typeface="微软雅黑" panose="020B0503020204020204" pitchFamily="34" charset="-122"/>
                <a:ea typeface="微软雅黑" panose="020B0503020204020204" pitchFamily="34" charset="-122"/>
              </a:rPr>
              <a:t>个单位，即</a:t>
            </a:r>
            <a:r>
              <a:rPr lang="en-US" altLang="zh-CN" dirty="0">
                <a:latin typeface="微软雅黑" panose="020B0503020204020204" pitchFamily="34" charset="-122"/>
                <a:ea typeface="微软雅黑" panose="020B0503020204020204" pitchFamily="34" charset="-122"/>
              </a:rPr>
              <a:t>5067</a:t>
            </a:r>
            <a:r>
              <a:rPr lang="zh-CN" altLang="en-US" dirty="0">
                <a:latin typeface="微软雅黑" panose="020B0503020204020204" pitchFamily="34" charset="-122"/>
                <a:ea typeface="微软雅黑" panose="020B0503020204020204" pitchFamily="34" charset="-122"/>
              </a:rPr>
              <a:t>美元</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低收入人群占比（</a:t>
            </a:r>
            <a:r>
              <a:rPr lang="en-US" altLang="zh-CN" dirty="0">
                <a:latin typeface="微软雅黑" panose="020B0503020204020204" pitchFamily="34" charset="-122"/>
                <a:ea typeface="微软雅黑" panose="020B0503020204020204" pitchFamily="34" charset="-122"/>
              </a:rPr>
              <a:t>X3</a:t>
            </a:r>
            <a:r>
              <a:rPr lang="zh-CN" altLang="en-US" dirty="0">
                <a:latin typeface="微软雅黑" panose="020B0503020204020204" pitchFamily="34" charset="-122"/>
                <a:ea typeface="微软雅黑" panose="020B0503020204020204" pitchFamily="34" charset="-122"/>
              </a:rPr>
              <a:t>）和是否沿河（</a:t>
            </a:r>
            <a:r>
              <a:rPr lang="en-US" altLang="zh-CN" dirty="0">
                <a:latin typeface="微软雅黑" panose="020B0503020204020204" pitchFamily="34" charset="-122"/>
                <a:ea typeface="微软雅黑" panose="020B0503020204020204" pitchFamily="34" charset="-122"/>
              </a:rPr>
              <a:t>X4</a:t>
            </a:r>
            <a:r>
              <a:rPr lang="zh-CN" altLang="en-US" dirty="0">
                <a:latin typeface="微软雅黑" panose="020B0503020204020204" pitchFamily="34" charset="-122"/>
                <a:ea typeface="微软雅黑" panose="020B0503020204020204" pitchFamily="34" charset="-122"/>
              </a:rPr>
              <a:t>）如何解读？</a:t>
            </a:r>
          </a:p>
        </p:txBody>
      </p:sp>
      <mc:AlternateContent xmlns:mc="http://schemas.openxmlformats.org/markup-compatibility/2006" xmlns:a14="http://schemas.microsoft.com/office/drawing/2010/main">
        <mc:Choice Requires="a14">
          <p:sp>
            <p:nvSpPr>
              <p:cNvPr id="20" name="文本框 19"/>
              <p:cNvSpPr txBox="1"/>
              <p:nvPr/>
            </p:nvSpPr>
            <p:spPr>
              <a:xfrm>
                <a:off x="4800601" y="2434534"/>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1" i="1" dirty="0" smtClean="0">
                          <a:solidFill>
                            <a:schemeClr val="tx1"/>
                          </a:solidFill>
                          <a:latin typeface="Cambria Math" panose="02040503050406030204" pitchFamily="18" charset="0"/>
                          <a:ea typeface="微软雅黑" panose="020B0503020204020204" pitchFamily="34" charset="-122"/>
                        </a:rPr>
                        <m:t>𝜷</m:t>
                      </m:r>
                      <m:r>
                        <a:rPr lang="en-US" altLang="zh-CN" sz="2400" b="0" i="1" dirty="0" smtClean="0">
                          <a:solidFill>
                            <a:schemeClr val="tx1"/>
                          </a:solidFill>
                          <a:latin typeface="Cambria Math" panose="02040503050406030204" pitchFamily="18" charset="0"/>
                          <a:ea typeface="微软雅黑" panose="020B0503020204020204" pitchFamily="34" charset="-122"/>
                        </a:rPr>
                        <m:t>=</m:t>
                      </m:r>
                      <m:sSup>
                        <m:sSupPr>
                          <m:ctrlPr>
                            <a:rPr lang="en-US" altLang="zh-CN" sz="2400" b="0" i="1" dirty="0" smtClean="0">
                              <a:solidFill>
                                <a:schemeClr val="tx1"/>
                              </a:solidFill>
                              <a:latin typeface="Cambria Math" panose="02040503050406030204" pitchFamily="18" charset="0"/>
                              <a:ea typeface="微软雅黑" panose="020B0503020204020204" pitchFamily="34" charset="-122"/>
                            </a:rPr>
                          </m:ctrlPr>
                        </m:sSupPr>
                        <m:e>
                          <m:r>
                            <a:rPr lang="en-US" altLang="zh-CN" sz="2400" b="0" i="1" dirty="0" smtClean="0">
                              <a:solidFill>
                                <a:schemeClr val="tx1"/>
                              </a:solidFill>
                              <a:latin typeface="Cambria Math" panose="02040503050406030204" pitchFamily="18" charset="0"/>
                              <a:ea typeface="微软雅黑" panose="020B0503020204020204" pitchFamily="34" charset="-122"/>
                            </a:rPr>
                            <m:t>(</m:t>
                          </m:r>
                          <m:sSup>
                            <m:sSupPr>
                              <m:ctrlPr>
                                <a:rPr lang="en-US" altLang="zh-CN" sz="2400" i="1" dirty="0">
                                  <a:solidFill>
                                    <a:schemeClr val="tx1"/>
                                  </a:solidFill>
                                  <a:latin typeface="Cambria Math" panose="02040503050406030204" pitchFamily="18" charset="0"/>
                                  <a:ea typeface="微软雅黑" panose="020B0503020204020204" pitchFamily="34" charset="-122"/>
                                </a:rPr>
                              </m:ctrlPr>
                            </m:sSupPr>
                            <m:e>
                              <m:r>
                                <a:rPr lang="en-US" altLang="zh-CN" sz="2400" b="1" i="1" dirty="0">
                                  <a:solidFill>
                                    <a:schemeClr val="tx1"/>
                                  </a:solidFill>
                                  <a:latin typeface="Cambria Math" panose="02040503050406030204" pitchFamily="18" charset="0"/>
                                  <a:ea typeface="微软雅黑" panose="020B0503020204020204" pitchFamily="34" charset="-122"/>
                                </a:rPr>
                                <m:t>𝑿</m:t>
                              </m:r>
                            </m:e>
                            <m:sup>
                              <m:r>
                                <a:rPr lang="en-US" altLang="zh-CN" sz="2400" i="1" dirty="0">
                                  <a:solidFill>
                                    <a:schemeClr val="tx1"/>
                                  </a:solidFill>
                                  <a:latin typeface="Cambria Math" panose="02040503050406030204" pitchFamily="18" charset="0"/>
                                  <a:ea typeface="微软雅黑" panose="020B0503020204020204" pitchFamily="34" charset="-122"/>
                                </a:rPr>
                                <m:t>𝑇</m:t>
                              </m:r>
                            </m:sup>
                          </m:sSup>
                          <m:r>
                            <a:rPr lang="en-US" altLang="zh-CN" sz="2400" b="1" i="1" dirty="0">
                              <a:solidFill>
                                <a:schemeClr val="tx1"/>
                              </a:solidFill>
                              <a:latin typeface="Cambria Math" panose="02040503050406030204" pitchFamily="18" charset="0"/>
                              <a:ea typeface="微软雅黑" panose="020B0503020204020204" pitchFamily="34" charset="-122"/>
                            </a:rPr>
                            <m:t>𝑿</m:t>
                          </m:r>
                          <m:r>
                            <a:rPr lang="en-US" altLang="zh-CN" sz="2400" b="0" i="1" dirty="0" smtClean="0">
                              <a:solidFill>
                                <a:schemeClr val="tx1"/>
                              </a:solidFill>
                              <a:latin typeface="Cambria Math" panose="02040503050406030204" pitchFamily="18" charset="0"/>
                              <a:ea typeface="微软雅黑" panose="020B0503020204020204" pitchFamily="34" charset="-122"/>
                            </a:rPr>
                            <m:t>)</m:t>
                          </m:r>
                        </m:e>
                        <m:sup>
                          <m:r>
                            <a:rPr lang="en-US" altLang="zh-CN" sz="2400" b="0" i="1" dirty="0" smtClean="0">
                              <a:solidFill>
                                <a:schemeClr val="tx1"/>
                              </a:solidFill>
                              <a:latin typeface="Cambria Math" panose="02040503050406030204" pitchFamily="18" charset="0"/>
                              <a:ea typeface="微软雅黑" panose="020B0503020204020204" pitchFamily="34" charset="-122"/>
                            </a:rPr>
                            <m:t>−1</m:t>
                          </m:r>
                        </m:sup>
                      </m:sSup>
                      <m:sSup>
                        <m:sSupPr>
                          <m:ctrlPr>
                            <a:rPr lang="en-US" altLang="zh-CN" sz="2400" i="1" dirty="0">
                              <a:solidFill>
                                <a:schemeClr val="tx1"/>
                              </a:solidFill>
                              <a:latin typeface="Cambria Math" panose="02040503050406030204" pitchFamily="18" charset="0"/>
                              <a:ea typeface="微软雅黑" panose="020B0503020204020204" pitchFamily="34" charset="-122"/>
                            </a:rPr>
                          </m:ctrlPr>
                        </m:sSupPr>
                        <m:e>
                          <m:r>
                            <a:rPr lang="en-US" altLang="zh-CN" sz="2400" b="1" i="1" dirty="0">
                              <a:solidFill>
                                <a:schemeClr val="tx1"/>
                              </a:solidFill>
                              <a:latin typeface="Cambria Math" panose="02040503050406030204" pitchFamily="18" charset="0"/>
                              <a:ea typeface="微软雅黑" panose="020B0503020204020204" pitchFamily="34" charset="-122"/>
                            </a:rPr>
                            <m:t>𝑿</m:t>
                          </m:r>
                        </m:e>
                        <m:sup>
                          <m:r>
                            <a:rPr lang="en-US" altLang="zh-CN" sz="2400" i="1" dirty="0">
                              <a:solidFill>
                                <a:schemeClr val="tx1"/>
                              </a:solidFill>
                              <a:latin typeface="Cambria Math" panose="02040503050406030204" pitchFamily="18" charset="0"/>
                              <a:ea typeface="微软雅黑" panose="020B0503020204020204" pitchFamily="34" charset="-122"/>
                            </a:rPr>
                            <m:t>𝑇</m:t>
                          </m:r>
                        </m:sup>
                      </m:sSup>
                      <m:acc>
                        <m:accPr>
                          <m:chr m:val="̂"/>
                          <m:ctrlPr>
                            <a:rPr lang="en-US" altLang="zh-CN" sz="2400" b="1" i="1" dirty="0" smtClean="0">
                              <a:solidFill>
                                <a:schemeClr val="tx1"/>
                              </a:solidFill>
                              <a:latin typeface="Cambria Math" panose="02040503050406030204" pitchFamily="18" charset="0"/>
                              <a:ea typeface="微软雅黑" panose="020B0503020204020204" pitchFamily="34" charset="-122"/>
                            </a:rPr>
                          </m:ctrlPr>
                        </m:accPr>
                        <m:e>
                          <m:r>
                            <a:rPr lang="en-US" altLang="zh-CN" sz="2400" b="1" i="1" dirty="0">
                              <a:solidFill>
                                <a:schemeClr val="tx1"/>
                              </a:solidFill>
                              <a:latin typeface="Cambria Math" panose="02040503050406030204" pitchFamily="18" charset="0"/>
                              <a:ea typeface="微软雅黑" panose="020B0503020204020204" pitchFamily="34" charset="-122"/>
                            </a:rPr>
                            <m:t>𝒚</m:t>
                          </m:r>
                        </m:e>
                      </m:acc>
                    </m:oMath>
                  </m:oMathPara>
                </a14:m>
                <a:endParaRPr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4800601" y="2434534"/>
                <a:ext cx="6096000" cy="461665"/>
              </a:xfrm>
              <a:prstGeom prst="rect">
                <a:avLst/>
              </a:prstGeom>
              <a:blipFill rotWithShape="1">
                <a:blip r:embed="rId4"/>
                <a:stretch>
                  <a:fillRect t="-125" b="130"/>
                </a:stretch>
              </a:blipFill>
            </p:spPr>
            <p:txBody>
              <a:bodyPr/>
              <a:lstStyle/>
              <a:p>
                <a:r>
                  <a:rPr lang="zh-CN" altLang="en-US">
                    <a:noFill/>
                  </a:rPr>
                  <a:t> </a:t>
                </a:r>
              </a:p>
            </p:txBody>
          </p:sp>
        </mc:Fallback>
      </mc:AlternateContent>
      <p:sp>
        <p:nvSpPr>
          <p:cNvPr id="3" name="文本框 2"/>
          <p:cNvSpPr txBox="1"/>
          <p:nvPr/>
        </p:nvSpPr>
        <p:spPr>
          <a:xfrm>
            <a:off x="689019" y="2481561"/>
            <a:ext cx="2667000" cy="36830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最小化残差平方和</a:t>
            </a:r>
          </a:p>
        </p:txBody>
      </p:sp>
      <p:pic>
        <p:nvPicPr>
          <p:cNvPr id="4" name="图片 3"/>
          <p:cNvPicPr>
            <a:picLocks noChangeAspect="1"/>
          </p:cNvPicPr>
          <p:nvPr/>
        </p:nvPicPr>
        <p:blipFill>
          <a:blip r:embed="rId5"/>
          <a:stretch>
            <a:fillRect/>
          </a:stretch>
        </p:blipFill>
        <p:spPr>
          <a:xfrm>
            <a:off x="3526931" y="2248589"/>
            <a:ext cx="2394938" cy="882345"/>
          </a:xfrm>
          <a:prstGeom prst="rect">
            <a:avLst/>
          </a:prstGeom>
        </p:spPr>
      </p:pic>
      <p:sp>
        <p:nvSpPr>
          <p:cNvPr id="5" name="箭头: 右 23"/>
          <p:cNvSpPr/>
          <p:nvPr/>
        </p:nvSpPr>
        <p:spPr>
          <a:xfrm>
            <a:off x="5994400" y="2613269"/>
            <a:ext cx="381000" cy="2355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下 24"/>
          <p:cNvSpPr/>
          <p:nvPr/>
        </p:nvSpPr>
        <p:spPr>
          <a:xfrm>
            <a:off x="7543801" y="3024890"/>
            <a:ext cx="304800" cy="3245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1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p:tgtEl>
                                          <p:spTgt spid="4"/>
                                        </p:tgtEl>
                                        <p:attrNameLst>
                                          <p:attrName>ppt_y</p:attrName>
                                        </p:attrNameLst>
                                      </p:cBhvr>
                                      <p:tavLst>
                                        <p:tav tm="0">
                                          <p:val>
                                            <p:strVal val="#ppt_y+#ppt_h*1.125000"/>
                                          </p:val>
                                        </p:tav>
                                        <p:tav tm="100000">
                                          <p:val>
                                            <p:strVal val="#ppt_y"/>
                                          </p:val>
                                        </p:tav>
                                      </p:tavLst>
                                    </p:anim>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案例二：医学分析</a:t>
              </a:r>
            </a:p>
          </p:txBody>
        </p:sp>
      </p:grpSp>
      <p:sp>
        <p:nvSpPr>
          <p:cNvPr id="2" name="文本框 1"/>
          <p:cNvSpPr txBox="1"/>
          <p:nvPr/>
        </p:nvSpPr>
        <p:spPr>
          <a:xfrm>
            <a:off x="533400" y="1100108"/>
            <a:ext cx="10972800" cy="922020"/>
          </a:xfrm>
          <a:prstGeom prst="rect">
            <a:avLst/>
          </a:prstGeom>
          <a:noFill/>
        </p:spPr>
        <p:txBody>
          <a:bodyPr wrap="square">
            <a:spAutoFit/>
          </a:bodyPr>
          <a:lstStyle>
            <a:defPPr>
              <a:defRPr lang="en-US"/>
            </a:defPPr>
            <a:lvl1pPr>
              <a:lnSpc>
                <a:spcPct val="150000"/>
              </a:lnSpc>
              <a:defRPr b="0" i="0">
                <a:solidFill>
                  <a:schemeClr val="tx2">
                    <a:lumMod val="75000"/>
                  </a:schemeClr>
                </a:solidFill>
                <a:effectLst/>
                <a:latin typeface="微软雅黑" panose="020B0503020204020204" pitchFamily="34" charset="-122"/>
                <a:ea typeface="微软雅黑" panose="020B0503020204020204" pitchFamily="34" charset="-122"/>
              </a:defRPr>
            </a:lvl1pPr>
          </a:lstStyle>
          <a:p>
            <a:r>
              <a:rPr lang="zh-CN" altLang="en-US" dirty="0">
                <a:solidFill>
                  <a:schemeClr val="tx1"/>
                </a:solidFill>
              </a:rPr>
              <a:t>某医师研究糖尿病患者的总胆固醇和甘油三酯对空腹血糖的影响，调查</a:t>
            </a:r>
            <a:r>
              <a:rPr lang="en-US" altLang="zh-CN" dirty="0">
                <a:solidFill>
                  <a:schemeClr val="tx1"/>
                </a:solidFill>
              </a:rPr>
              <a:t>40</a:t>
            </a:r>
            <a:r>
              <a:rPr lang="zh-CN" altLang="en-US" dirty="0">
                <a:solidFill>
                  <a:schemeClr val="tx1"/>
                </a:solidFill>
              </a:rPr>
              <a:t>名糖尿病患者的总胆固醇、甘油三酯和空腹血糖的测量值如下，试作统计分析。</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082006"/>
            <a:ext cx="4020734" cy="4490446"/>
          </a:xfrm>
          <a:prstGeom prst="rect">
            <a:avLst/>
          </a:prstGeom>
        </p:spPr>
      </p:pic>
      <p:sp>
        <p:nvSpPr>
          <p:cNvPr id="7" name="箭头: 右 4"/>
          <p:cNvSpPr/>
          <p:nvPr/>
        </p:nvSpPr>
        <p:spPr>
          <a:xfrm>
            <a:off x="4727650" y="3111969"/>
            <a:ext cx="397007" cy="38100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rcRect l="4296" r="11533"/>
          <a:stretch>
            <a:fillRect/>
          </a:stretch>
        </p:blipFill>
        <p:spPr>
          <a:xfrm>
            <a:off x="8458200" y="2271278"/>
            <a:ext cx="3077529" cy="2062382"/>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rcRect l="3139" r="10948"/>
          <a:stretch>
            <a:fillRect/>
          </a:stretch>
        </p:blipFill>
        <p:spPr>
          <a:xfrm>
            <a:off x="5221974" y="2271278"/>
            <a:ext cx="3077529" cy="2042941"/>
          </a:xfrm>
          <a:prstGeom prst="rect">
            <a:avLst/>
          </a:prstGeom>
        </p:spPr>
      </p:pic>
      <p:sp>
        <p:nvSpPr>
          <p:cNvPr id="8" name="文本框 7"/>
          <p:cNvSpPr txBox="1"/>
          <p:nvPr/>
        </p:nvSpPr>
        <p:spPr>
          <a:xfrm>
            <a:off x="5536565" y="4783455"/>
            <a:ext cx="5821680" cy="875665"/>
          </a:xfrm>
          <a:prstGeom prst="rect">
            <a:avLst/>
          </a:prstGeom>
          <a:noFill/>
        </p:spPr>
        <p:txBody>
          <a:bodyPr wrap="square">
            <a:spAutoFit/>
          </a:bodyPr>
          <a:lstStyle/>
          <a:p>
            <a:endParaRPr lang="en-US" altLang="zh-CN" sz="2400" b="0" i="0" dirty="0">
              <a:effectLst/>
              <a:latin typeface="微软雅黑" panose="020B0503020204020204" pitchFamily="34" charset="-122"/>
              <a:ea typeface="微软雅黑" panose="020B0503020204020204" pitchFamily="34" charset="-122"/>
            </a:endParaRPr>
          </a:p>
          <a:p>
            <a:pPr>
              <a:lnSpc>
                <a:spcPct val="150000"/>
              </a:lnSpc>
            </a:pPr>
            <a:r>
              <a:rPr lang="zh-CN" altLang="en-US" b="0" i="0" dirty="0">
                <a:solidFill>
                  <a:srgbClr val="FF0000"/>
                </a:solidFill>
                <a:effectLst/>
                <a:latin typeface="微软雅黑" panose="020B0503020204020204" pitchFamily="34" charset="-122"/>
                <a:ea typeface="微软雅黑" panose="020B0503020204020204" pitchFamily="34" charset="-122"/>
              </a:rPr>
              <a:t>空腹血糖</a:t>
            </a:r>
            <a:r>
              <a:rPr lang="en-US" altLang="zh-CN" b="0" i="0" dirty="0">
                <a:solidFill>
                  <a:srgbClr val="FF0000"/>
                </a:solidFill>
                <a:effectLst/>
                <a:latin typeface="微软雅黑" panose="020B0503020204020204" pitchFamily="34" charset="-122"/>
                <a:ea typeface="微软雅黑" panose="020B0503020204020204" pitchFamily="34" charset="-122"/>
              </a:rPr>
              <a:t>=4.985 + 0.212*</a:t>
            </a:r>
            <a:r>
              <a:rPr lang="zh-CN" altLang="en-US" b="0" i="0" dirty="0">
                <a:solidFill>
                  <a:srgbClr val="FF0000"/>
                </a:solidFill>
                <a:effectLst/>
                <a:latin typeface="微软雅黑" panose="020B0503020204020204" pitchFamily="34" charset="-122"/>
                <a:ea typeface="微软雅黑" panose="020B0503020204020204" pitchFamily="34" charset="-122"/>
              </a:rPr>
              <a:t>总胆固醇 </a:t>
            </a:r>
            <a:r>
              <a:rPr lang="en-US" altLang="zh-CN" b="0" i="0" dirty="0">
                <a:solidFill>
                  <a:srgbClr val="FF0000"/>
                </a:solidFill>
                <a:effectLst/>
                <a:latin typeface="微软雅黑" panose="020B0503020204020204" pitchFamily="34" charset="-122"/>
                <a:ea typeface="微软雅黑" panose="020B0503020204020204" pitchFamily="34" charset="-122"/>
              </a:rPr>
              <a:t>+ 0.351*</a:t>
            </a:r>
            <a:r>
              <a:rPr lang="zh-CN" altLang="en-US" b="0" i="0" dirty="0">
                <a:solidFill>
                  <a:srgbClr val="FF0000"/>
                </a:solidFill>
                <a:effectLst/>
                <a:latin typeface="微软雅黑" panose="020B0503020204020204" pitchFamily="34" charset="-122"/>
                <a:ea typeface="微软雅黑" panose="020B0503020204020204" pitchFamily="34" charset="-122"/>
              </a:rPr>
              <a:t>甘油三酯</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3869989" y="1594509"/>
            <a:ext cx="4452022" cy="4487848"/>
            <a:chOff x="3872379" y="1383943"/>
            <a:chExt cx="4452022" cy="4487848"/>
          </a:xfrm>
        </p:grpSpPr>
        <p:sp>
          <p:nvSpPr>
            <p:cNvPr id="3" name="Freeform 5"/>
            <p:cNvSpPr/>
            <p:nvPr>
              <p:custDataLst>
                <p:tags r:id="rId7"/>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p:nvPr>
              <p:custDataLst>
                <p:tags r:id="rId8"/>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p:nvPr>
              <p:custDataLst>
                <p:tags r:id="rId9"/>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p:nvPr>
              <p:custDataLst>
                <p:tags r:id="rId10"/>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custDataLst>
                  <p:tags r:id="rId21"/>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custDataLst>
                  <p:tags r:id="rId22"/>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custDataLst>
                  <p:tags r:id="rId23"/>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custDataLst>
                  <p:tags r:id="rId19"/>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custDataLst>
                  <p:tags r:id="rId20"/>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custDataLst>
                  <p:tags r:id="rId16"/>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custDataLst>
                  <p:tags r:id="rId17"/>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custDataLst>
                  <p:tags r:id="rId18"/>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custDataLst>
                <p:tags r:id="rId11"/>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custDataLst>
                <p:tags r:id="rId12"/>
              </p:custDataLst>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custDataLst>
                <p:tags r:id="rId13"/>
              </p:custDataLst>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custDataLst>
                <p:tags r:id="rId14"/>
              </p:custDataLst>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custDataLst>
                <p:tags r:id="rId15"/>
              </p:custDataLst>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2"/>
            </p:custDataLst>
          </p:nvPr>
        </p:nvGrpSpPr>
        <p:grpSpPr>
          <a:xfrm>
            <a:off x="1445407" y="2526644"/>
            <a:ext cx="2892852" cy="823738"/>
            <a:chOff x="656868" y="2381121"/>
            <a:chExt cx="2892852" cy="823738"/>
          </a:xfrm>
        </p:grpSpPr>
        <p:sp>
          <p:nvSpPr>
            <p:cNvPr id="24" name="文本框 23"/>
            <p:cNvSpPr txBox="1"/>
            <p:nvPr>
              <p:custDataLst>
                <p:tags r:id="rId6"/>
              </p:custDataLst>
            </p:nvPr>
          </p:nvSpPr>
          <p:spPr>
            <a:xfrm>
              <a:off x="928440" y="2381121"/>
              <a:ext cx="2621280" cy="460375"/>
            </a:xfrm>
            <a:prstGeom prst="rect">
              <a:avLst/>
            </a:prstGeom>
            <a:noFill/>
          </p:spPr>
          <p:txBody>
            <a:bodyPr wrap="none" rtlCol="0">
              <a:spAutoFit/>
            </a:bodyPr>
            <a:lstStyle/>
            <a:p>
              <a:r>
                <a:rPr lang="zh-CN" altLang="en-US" sz="2400" b="1" dirty="0">
                  <a:solidFill>
                    <a:srgbClr val="24569D"/>
                  </a:solidFill>
                </a:rPr>
                <a:t>机器学习基本概念</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28" name="文本框 27"/>
          <p:cNvSpPr txBox="1"/>
          <p:nvPr>
            <p:custDataLst>
              <p:tags r:id="rId3"/>
            </p:custDataLst>
          </p:nvPr>
        </p:nvSpPr>
        <p:spPr>
          <a:xfrm>
            <a:off x="8551048" y="4920321"/>
            <a:ext cx="1097280" cy="460375"/>
          </a:xfrm>
          <a:prstGeom prst="rect">
            <a:avLst/>
          </a:prstGeom>
          <a:noFill/>
        </p:spPr>
        <p:txBody>
          <a:bodyPr wrap="none" rtlCol="0">
            <a:spAutoFit/>
          </a:bodyPr>
          <a:lstStyle/>
          <a:p>
            <a:r>
              <a:rPr lang="zh-CN" altLang="en-US" sz="2400" b="1" dirty="0">
                <a:solidFill>
                  <a:srgbClr val="FF0000"/>
                </a:solidFill>
              </a:rPr>
              <a:t>决策树</a:t>
            </a:r>
          </a:p>
        </p:txBody>
      </p:sp>
      <p:sp>
        <p:nvSpPr>
          <p:cNvPr id="31" name="文本框 30"/>
          <p:cNvSpPr txBox="1"/>
          <p:nvPr>
            <p:custDataLst>
              <p:tags r:id="rId4"/>
            </p:custDataLst>
          </p:nvPr>
        </p:nvSpPr>
        <p:spPr>
          <a:xfrm>
            <a:off x="1743730" y="4865798"/>
            <a:ext cx="1402080" cy="460375"/>
          </a:xfrm>
          <a:prstGeom prst="rect">
            <a:avLst/>
          </a:prstGeom>
          <a:noFill/>
        </p:spPr>
        <p:txBody>
          <a:bodyPr wrap="none" rtlCol="0">
            <a:spAutoFit/>
          </a:bodyPr>
          <a:lstStyle/>
          <a:p>
            <a:r>
              <a:rPr lang="zh-CN" altLang="en-US" sz="2400" b="1" dirty="0">
                <a:solidFill>
                  <a:srgbClr val="24569D"/>
                </a:solidFill>
              </a:rPr>
              <a:t>回归分析</a:t>
            </a:r>
          </a:p>
        </p:txBody>
      </p:sp>
      <p:sp>
        <p:nvSpPr>
          <p:cNvPr id="34" name="文本框 33"/>
          <p:cNvSpPr txBox="1"/>
          <p:nvPr>
            <p:custDataLst>
              <p:tags r:id="rId5"/>
            </p:custDataLst>
          </p:nvPr>
        </p:nvSpPr>
        <p:spPr>
          <a:xfrm>
            <a:off x="8551048" y="2586871"/>
            <a:ext cx="1706880" cy="460375"/>
          </a:xfrm>
          <a:prstGeom prst="rect">
            <a:avLst/>
          </a:prstGeom>
          <a:noFill/>
        </p:spPr>
        <p:txBody>
          <a:bodyPr wrap="none" rtlCol="0">
            <a:spAutoFit/>
          </a:bodyPr>
          <a:lstStyle/>
          <a:p>
            <a:r>
              <a:rPr lang="zh-CN" altLang="en-US" sz="2400" b="1" dirty="0">
                <a:solidFill>
                  <a:srgbClr val="24569D"/>
                </a:solidFill>
              </a:rPr>
              <a:t>有监督学习</a:t>
            </a:r>
          </a:p>
        </p:txBody>
      </p:sp>
      <p:sp>
        <p:nvSpPr>
          <p:cNvPr id="2" name="矩形 1"/>
          <p:cNvSpPr/>
          <p:nvPr/>
        </p:nvSpPr>
        <p:spPr>
          <a:xfrm>
            <a:off x="745606" y="902626"/>
            <a:ext cx="902811" cy="523220"/>
          </a:xfrm>
          <a:prstGeom prst="rect">
            <a:avLst/>
          </a:prstGeom>
        </p:spPr>
        <p:txBody>
          <a:bodyPr wrap="none">
            <a:spAutoFit/>
          </a:bodyPr>
          <a:lstStyle/>
          <a:p>
            <a:r>
              <a:rPr lang="zh-CN" altLang="en-US" sz="2800" dirty="0"/>
              <a:t>目录</a:t>
            </a:r>
          </a:p>
        </p:txBody>
      </p:sp>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5" name="Rectangle 3"/>
          <p:cNvSpPr>
            <a:spLocks noGrp="1" noChangeArrowheads="1"/>
          </p:cNvSpPr>
          <p:nvPr>
            <p:ph idx="1"/>
          </p:nvPr>
        </p:nvSpPr>
        <p:spPr>
          <a:xfrm>
            <a:off x="581891" y="1447800"/>
            <a:ext cx="4204713" cy="4729164"/>
          </a:xfrm>
        </p:spPr>
        <p:txBody>
          <a:bodyPr>
            <a:normAutofit fontScale="85000" lnSpcReduction="10000"/>
          </a:bodyPr>
          <a:lstStyle/>
          <a:p>
            <a:pPr>
              <a:lnSpc>
                <a:spcPct val="150000"/>
              </a:lnSpc>
            </a:pPr>
            <a:r>
              <a:rPr lang="zh-CN" altLang="en-US" sz="2200" dirty="0">
                <a:latin typeface="Times New Roman" pitchFamily="18" charset="0"/>
              </a:rPr>
              <a:t>决策树归纳是一类简单的机器学习形式，是一种以样例为基础的归纳学习方法。事实上，人们在逻辑推理过程中经常使用决策树的思想。</a:t>
            </a:r>
            <a:endParaRPr lang="en-US" altLang="zh-CN" sz="2200" dirty="0">
              <a:latin typeface="Times New Roman" pitchFamily="18" charset="0"/>
            </a:endParaRPr>
          </a:p>
          <a:p>
            <a:pPr>
              <a:lnSpc>
                <a:spcPct val="150000"/>
              </a:lnSpc>
            </a:pPr>
            <a:endParaRPr lang="en-US" sz="2200" dirty="0">
              <a:latin typeface="Times New Roman" pitchFamily="18" charset="0"/>
            </a:endParaRPr>
          </a:p>
          <a:p>
            <a:pPr>
              <a:lnSpc>
                <a:spcPct val="150000"/>
              </a:lnSpc>
            </a:pPr>
            <a:r>
              <a:rPr lang="zh-CN" altLang="en-US" sz="2400" dirty="0">
                <a:latin typeface="Times New Roman" pitchFamily="18" charset="0"/>
              </a:rPr>
              <a:t>从一组</a:t>
            </a:r>
            <a:r>
              <a:rPr lang="zh-CN" altLang="en-US" sz="2400" dirty="0">
                <a:solidFill>
                  <a:srgbClr val="FF0000"/>
                </a:solidFill>
                <a:latin typeface="Times New Roman" pitchFamily="18" charset="0"/>
              </a:rPr>
              <a:t>训练数据</a:t>
            </a:r>
            <a:r>
              <a:rPr lang="zh-CN" altLang="en-US" sz="2400" dirty="0">
                <a:latin typeface="Times New Roman" pitchFamily="18" charset="0"/>
              </a:rPr>
              <a:t>中学习到的函数，</a:t>
            </a:r>
            <a:r>
              <a:rPr lang="zh-CN" altLang="en-US" sz="2200" dirty="0">
                <a:solidFill>
                  <a:srgbClr val="FF0000"/>
                </a:solidFill>
                <a:latin typeface="Times New Roman" pitchFamily="18" charset="0"/>
              </a:rPr>
              <a:t>一棵决策树表示一个函数</a:t>
            </a:r>
            <a:r>
              <a:rPr lang="zh-CN" altLang="en-US" sz="2200" dirty="0">
                <a:latin typeface="Times New Roman" pitchFamily="18" charset="0"/>
              </a:rPr>
              <a:t>：</a:t>
            </a:r>
            <a:r>
              <a:rPr lang="en-US" altLang="zh-CN" sz="2200" i="1" dirty="0">
                <a:latin typeface="Times New Roman" pitchFamily="18" charset="0"/>
              </a:rPr>
              <a:t>y </a:t>
            </a:r>
            <a:r>
              <a:rPr lang="en-US" altLang="zh-CN" sz="2200" dirty="0">
                <a:latin typeface="Times New Roman" pitchFamily="18" charset="0"/>
              </a:rPr>
              <a:t>= </a:t>
            </a:r>
            <a:r>
              <a:rPr lang="en-US" altLang="zh-CN" sz="2200" i="1" dirty="0">
                <a:latin typeface="Times New Roman" pitchFamily="18" charset="0"/>
              </a:rPr>
              <a:t>f </a:t>
            </a:r>
            <a:r>
              <a:rPr lang="en-US" altLang="zh-CN" sz="2200" dirty="0">
                <a:latin typeface="Times New Roman" pitchFamily="18" charset="0"/>
              </a:rPr>
              <a:t>(</a:t>
            </a:r>
            <a:r>
              <a:rPr lang="en-US" altLang="zh-CN" sz="2200" i="1" dirty="0">
                <a:latin typeface="Times New Roman" pitchFamily="18" charset="0"/>
              </a:rPr>
              <a:t>x</a:t>
            </a:r>
            <a:r>
              <a:rPr lang="en-US" altLang="zh-CN" sz="2200" dirty="0">
                <a:latin typeface="Times New Roman" pitchFamily="18" charset="0"/>
              </a:rPr>
              <a:t>)</a:t>
            </a:r>
          </a:p>
          <a:p>
            <a:pPr lvl="1">
              <a:lnSpc>
                <a:spcPct val="150000"/>
              </a:lnSpc>
            </a:pPr>
            <a:r>
              <a:rPr lang="zh-CN" altLang="en-US" sz="1800" dirty="0">
                <a:latin typeface="Times New Roman" pitchFamily="18" charset="0"/>
              </a:rPr>
              <a:t>输入</a:t>
            </a:r>
            <a:r>
              <a:rPr lang="en-US" altLang="zh-CN" sz="1800" i="1" dirty="0">
                <a:latin typeface="Times New Roman" pitchFamily="18" charset="0"/>
              </a:rPr>
              <a:t>x</a:t>
            </a:r>
            <a:r>
              <a:rPr lang="zh-CN" altLang="en-US" sz="1800" dirty="0">
                <a:latin typeface="Times New Roman" pitchFamily="18" charset="0"/>
              </a:rPr>
              <a:t>：属性值向量</a:t>
            </a:r>
            <a:endParaRPr lang="en-US" altLang="zh-CN" sz="1800" dirty="0">
              <a:latin typeface="Times New Roman" pitchFamily="18" charset="0"/>
            </a:endParaRPr>
          </a:p>
          <a:p>
            <a:pPr lvl="1">
              <a:lnSpc>
                <a:spcPct val="150000"/>
              </a:lnSpc>
            </a:pPr>
            <a:r>
              <a:rPr lang="zh-CN" altLang="en-US" sz="1800" dirty="0">
                <a:latin typeface="Times New Roman" pitchFamily="18" charset="0"/>
              </a:rPr>
              <a:t>输出</a:t>
            </a:r>
            <a:r>
              <a:rPr lang="en-US" altLang="zh-CN" sz="1800" i="1" dirty="0">
                <a:latin typeface="Times New Roman" pitchFamily="18" charset="0"/>
              </a:rPr>
              <a:t>y</a:t>
            </a:r>
            <a:r>
              <a:rPr lang="zh-CN" altLang="en-US" sz="1800" dirty="0">
                <a:latin typeface="Times New Roman" pitchFamily="18" charset="0"/>
              </a:rPr>
              <a:t>：一个决策</a:t>
            </a:r>
            <a:endParaRPr lang="en-US" altLang="zh-CN" sz="1800" dirty="0">
              <a:latin typeface="Times New Roman" pitchFamily="18" charset="0"/>
            </a:endParaRPr>
          </a:p>
          <a:p>
            <a:pPr>
              <a:lnSpc>
                <a:spcPct val="150000"/>
              </a:lnSpc>
            </a:pPr>
            <a:endParaRPr lang="en-US" sz="2200" dirty="0">
              <a:latin typeface="Times New Roman" pitchFamily="18" charset="0"/>
            </a:endParaRPr>
          </a:p>
        </p:txBody>
      </p:sp>
      <p:grpSp>
        <p:nvGrpSpPr>
          <p:cNvPr id="5" name="组合 4"/>
          <p:cNvGrpSpPr/>
          <p:nvPr/>
        </p:nvGrpSpPr>
        <p:grpSpPr>
          <a:xfrm>
            <a:off x="773415" y="600277"/>
            <a:ext cx="4944140"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pic>
        <p:nvPicPr>
          <p:cNvPr id="9" name="图片 8"/>
          <p:cNvPicPr>
            <a:picLocks noChangeAspect="1"/>
          </p:cNvPicPr>
          <p:nvPr/>
        </p:nvPicPr>
        <p:blipFill>
          <a:blip r:embed="rId2"/>
          <a:stretch>
            <a:fillRect/>
          </a:stretch>
        </p:blipFill>
        <p:spPr>
          <a:xfrm>
            <a:off x="5471425" y="983858"/>
            <a:ext cx="6602138" cy="5657047"/>
          </a:xfrm>
          <a:prstGeom prst="rect">
            <a:avLst/>
          </a:prstGeom>
        </p:spPr>
      </p:pic>
    </p:spTree>
    <p:extLst>
      <p:ext uri="{BB962C8B-B14F-4D97-AF65-F5344CB8AC3E}">
        <p14:creationId xmlns:p14="http://schemas.microsoft.com/office/powerpoint/2010/main" val="39749714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pic>
        <p:nvPicPr>
          <p:cNvPr id="7" name="图片 6"/>
          <p:cNvPicPr>
            <a:picLocks noChangeAspect="1"/>
          </p:cNvPicPr>
          <p:nvPr/>
        </p:nvPicPr>
        <p:blipFill>
          <a:blip r:embed="rId3"/>
          <a:stretch>
            <a:fillRect/>
          </a:stretch>
        </p:blipFill>
        <p:spPr>
          <a:xfrm>
            <a:off x="6074159" y="1388318"/>
            <a:ext cx="5721186" cy="4902203"/>
          </a:xfrm>
          <a:prstGeom prst="rect">
            <a:avLst/>
          </a:prstGeom>
        </p:spPr>
      </p:pic>
      <p:sp>
        <p:nvSpPr>
          <p:cNvPr id="8" name="矩形 7"/>
          <p:cNvSpPr/>
          <p:nvPr/>
        </p:nvSpPr>
        <p:spPr>
          <a:xfrm>
            <a:off x="674084" y="1740320"/>
            <a:ext cx="5129557" cy="3831818"/>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决策树将分类问题分解为若干基于单个信息的推理任务，</a:t>
            </a:r>
            <a:r>
              <a:rPr lang="zh-CN" altLang="zh-CN" dirty="0">
                <a:solidFill>
                  <a:srgbClr val="FF0000"/>
                </a:solidFill>
                <a:latin typeface="Times New Roman" panose="02020603050405020304" pitchFamily="18" charset="0"/>
                <a:ea typeface="楷体_GB2312"/>
                <a:cs typeface="Times New Roman" panose="02020603050405020304" pitchFamily="18" charset="0"/>
              </a:rPr>
              <a:t>采用树状结构来逐步完成决策判断</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p>
          <a:p>
            <a:pPr marL="285750" indent="-285750" algn="just">
              <a:lnSpc>
                <a:spcPct val="150000"/>
              </a:lnSpc>
              <a:spcAft>
                <a:spcPts val="0"/>
              </a:spcAft>
              <a:buFont typeface="Arial" panose="020B0604020202020204" pitchFamily="34" charset="0"/>
              <a:buChar char="•"/>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下面通过一个例子来解释决策树的分类。</a:t>
            </a:r>
            <a:r>
              <a:rPr lang="zh-CN" altLang="zh-CN" dirty="0">
                <a:solidFill>
                  <a:srgbClr val="FF0000"/>
                </a:solidFill>
                <a:latin typeface="Times New Roman" panose="02020603050405020304" pitchFamily="18" charset="0"/>
                <a:ea typeface="楷体_GB2312"/>
                <a:cs typeface="Times New Roman" panose="02020603050405020304" pitchFamily="18" charset="0"/>
              </a:rPr>
              <a:t>银行的数据分析师希望通过历史的贷款记录</a:t>
            </a:r>
            <a:r>
              <a:rPr lang="zh-CN" altLang="zh-CN" dirty="0">
                <a:solidFill>
                  <a:srgbClr val="000000"/>
                </a:solidFill>
                <a:latin typeface="Times New Roman" panose="02020603050405020304" pitchFamily="18" charset="0"/>
                <a:ea typeface="楷体_GB2312"/>
                <a:cs typeface="Times New Roman" panose="02020603050405020304" pitchFamily="18" charset="0"/>
              </a:rPr>
              <a:t>，包括用户的</a:t>
            </a:r>
            <a:r>
              <a:rPr lang="zh-CN" altLang="zh-CN" dirty="0">
                <a:solidFill>
                  <a:srgbClr val="FF0000"/>
                </a:solidFill>
                <a:latin typeface="Times New Roman" panose="02020603050405020304" pitchFamily="18" charset="0"/>
                <a:ea typeface="楷体_GB2312"/>
                <a:cs typeface="Times New Roman" panose="02020603050405020304" pitchFamily="18" charset="0"/>
              </a:rPr>
              <a:t>四种特征（年龄，银行流水，婚姻状况，房产状况）</a:t>
            </a:r>
            <a:r>
              <a:rPr lang="zh-CN" altLang="zh-CN" dirty="0">
                <a:solidFill>
                  <a:srgbClr val="000000"/>
                </a:solidFill>
                <a:latin typeface="Times New Roman" panose="02020603050405020304" pitchFamily="18" charset="0"/>
                <a:ea typeface="楷体_GB2312"/>
                <a:cs typeface="Times New Roman" panose="02020603050405020304" pitchFamily="18" charset="0"/>
              </a:rPr>
              <a:t>以及</a:t>
            </a:r>
            <a:r>
              <a:rPr lang="zh-CN" altLang="zh-CN" dirty="0">
                <a:solidFill>
                  <a:srgbClr val="FF0000"/>
                </a:solidFill>
                <a:latin typeface="Times New Roman" panose="02020603050405020304" pitchFamily="18" charset="0"/>
                <a:ea typeface="楷体_GB2312"/>
                <a:cs typeface="Times New Roman" panose="02020603050405020304" pitchFamily="18" charset="0"/>
              </a:rPr>
              <a:t>最终是否给予贷款</a:t>
            </a:r>
            <a:r>
              <a:rPr lang="zh-CN" altLang="zh-CN" dirty="0">
                <a:solidFill>
                  <a:srgbClr val="000000"/>
                </a:solidFill>
                <a:latin typeface="Times New Roman" panose="02020603050405020304" pitchFamily="18" charset="0"/>
                <a:ea typeface="楷体_GB2312"/>
                <a:cs typeface="Times New Roman" panose="02020603050405020304" pitchFamily="18" charset="0"/>
              </a:rPr>
              <a:t>，来建立分类模型辅助决策者进行决策。</a:t>
            </a:r>
          </a:p>
          <a:p>
            <a:pPr marL="285750" indent="-285750" algn="just">
              <a:lnSpc>
                <a:spcPct val="1500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银行收集整理的</a:t>
            </a:r>
            <a:r>
              <a:rPr lang="en-US" altLang="zh-CN" dirty="0">
                <a:solidFill>
                  <a:srgbClr val="000000"/>
                </a:solidFill>
                <a:latin typeface="Times New Roman" panose="02020603050405020304" pitchFamily="18" charset="0"/>
                <a:ea typeface="楷体_GB2312"/>
                <a:cs typeface="Times New Roman" panose="02020603050405020304" pitchFamily="18" charset="0"/>
              </a:rPr>
              <a:t>14</a:t>
            </a:r>
            <a:r>
              <a:rPr lang="zh-CN" altLang="en-US" dirty="0">
                <a:solidFill>
                  <a:srgbClr val="000000"/>
                </a:solidFill>
                <a:latin typeface="Times New Roman" panose="02020603050405020304" pitchFamily="18" charset="0"/>
                <a:ea typeface="楷体_GB2312"/>
                <a:cs typeface="Times New Roman" panose="02020603050405020304" pitchFamily="18" charset="0"/>
              </a:rPr>
              <a:t>条</a:t>
            </a:r>
            <a:r>
              <a:rPr lang="zh-CN" altLang="zh-CN" dirty="0">
                <a:solidFill>
                  <a:srgbClr val="000000"/>
                </a:solidFill>
                <a:latin typeface="Times New Roman" panose="02020603050405020304" pitchFamily="18" charset="0"/>
                <a:ea typeface="楷体_GB2312"/>
                <a:cs typeface="Times New Roman" panose="02020603050405020304" pitchFamily="18" charset="0"/>
              </a:rPr>
              <a:t>数据如表</a:t>
            </a:r>
            <a:r>
              <a:rPr lang="en-US" altLang="zh-CN" dirty="0">
                <a:solidFill>
                  <a:srgbClr val="000000"/>
                </a:solidFill>
                <a:latin typeface="Times New Roman" panose="02020603050405020304" pitchFamily="18" charset="0"/>
                <a:ea typeface="楷体_GB2312"/>
                <a:cs typeface="Times New Roman" panose="02020603050405020304" pitchFamily="18" charset="0"/>
              </a:rPr>
              <a:t>4.5</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33285826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pic>
        <p:nvPicPr>
          <p:cNvPr id="2" name="图片 1"/>
          <p:cNvPicPr>
            <a:picLocks noChangeAspect="1"/>
          </p:cNvPicPr>
          <p:nvPr/>
        </p:nvPicPr>
        <p:blipFill>
          <a:blip r:embed="rId3"/>
          <a:stretch>
            <a:fillRect/>
          </a:stretch>
        </p:blipFill>
        <p:spPr>
          <a:xfrm>
            <a:off x="816869" y="3012160"/>
            <a:ext cx="4342421" cy="3565881"/>
          </a:xfrm>
          <a:prstGeom prst="rect">
            <a:avLst/>
          </a:prstGeom>
        </p:spPr>
      </p:pic>
      <p:pic>
        <p:nvPicPr>
          <p:cNvPr id="8" name="图片 7"/>
          <p:cNvPicPr>
            <a:picLocks noChangeAspect="1"/>
          </p:cNvPicPr>
          <p:nvPr/>
        </p:nvPicPr>
        <p:blipFill>
          <a:blip r:embed="rId4"/>
          <a:stretch>
            <a:fillRect/>
          </a:stretch>
        </p:blipFill>
        <p:spPr>
          <a:xfrm>
            <a:off x="6074159" y="1388318"/>
            <a:ext cx="5721186" cy="4902203"/>
          </a:xfrm>
          <a:prstGeom prst="rect">
            <a:avLst/>
          </a:prstGeom>
        </p:spPr>
      </p:pic>
      <p:sp>
        <p:nvSpPr>
          <p:cNvPr id="4" name="左箭头 3"/>
          <p:cNvSpPr/>
          <p:nvPr/>
        </p:nvSpPr>
        <p:spPr>
          <a:xfrm>
            <a:off x="4707803" y="4795100"/>
            <a:ext cx="1270052" cy="447870"/>
          </a:xfrm>
          <a:prstGeom prst="lef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098590" y="6290521"/>
            <a:ext cx="1107996" cy="369332"/>
          </a:xfrm>
          <a:prstGeom prst="rect">
            <a:avLst/>
          </a:prstGeom>
        </p:spPr>
        <p:txBody>
          <a:bodyPr wrap="none">
            <a:spAutoFit/>
          </a:bodyPr>
          <a:lstStyle/>
          <a:p>
            <a:r>
              <a:rPr lang="zh-CN" altLang="en-US" dirty="0">
                <a:solidFill>
                  <a:srgbClr val="FF0000"/>
                </a:solidFill>
                <a:latin typeface="Times New Roman" pitchFamily="18" charset="0"/>
              </a:rPr>
              <a:t>训练数据</a:t>
            </a:r>
            <a:endParaRPr lang="zh-CN" altLang="en-US" dirty="0"/>
          </a:p>
        </p:txBody>
      </p:sp>
      <p:sp>
        <p:nvSpPr>
          <p:cNvPr id="6" name="矩形 5"/>
          <p:cNvSpPr/>
          <p:nvPr/>
        </p:nvSpPr>
        <p:spPr>
          <a:xfrm>
            <a:off x="1447280" y="6385773"/>
            <a:ext cx="2608406" cy="369332"/>
          </a:xfrm>
          <a:prstGeom prst="rect">
            <a:avLst/>
          </a:prstGeom>
        </p:spPr>
        <p:txBody>
          <a:bodyPr wrap="none">
            <a:spAutoFit/>
          </a:bodyPr>
          <a:lstStyle/>
          <a:p>
            <a:r>
              <a:rPr lang="zh-CN" altLang="en-US" dirty="0">
                <a:solidFill>
                  <a:srgbClr val="FF0000"/>
                </a:solidFill>
                <a:latin typeface="Times New Roman" pitchFamily="18" charset="0"/>
              </a:rPr>
              <a:t>决策树表示一个函数</a:t>
            </a:r>
            <a:r>
              <a:rPr lang="en-US" altLang="zh-CN" dirty="0">
                <a:solidFill>
                  <a:srgbClr val="FF0000"/>
                </a:solidFill>
                <a:latin typeface="Times New Roman" pitchFamily="18" charset="0"/>
              </a:rPr>
              <a:t>f(x)</a:t>
            </a:r>
            <a:endParaRPr lang="zh-CN" altLang="en-US" dirty="0"/>
          </a:p>
        </p:txBody>
      </p:sp>
      <p:sp>
        <p:nvSpPr>
          <p:cNvPr id="7" name="矩形 6"/>
          <p:cNvSpPr/>
          <p:nvPr/>
        </p:nvSpPr>
        <p:spPr>
          <a:xfrm>
            <a:off x="-118145" y="1372283"/>
            <a:ext cx="6096000" cy="1751249"/>
          </a:xfrm>
          <a:prstGeom prst="rect">
            <a:avLst/>
          </a:prstGeom>
        </p:spPr>
        <p:txBody>
          <a:bodyPr>
            <a:spAutoFit/>
          </a:bodyPr>
          <a:lstStyle/>
          <a:p>
            <a:pPr marL="838200" lvl="1" indent="-381000">
              <a:lnSpc>
                <a:spcPct val="150000"/>
              </a:lnSpc>
              <a:spcBef>
                <a:spcPct val="20000"/>
              </a:spcBef>
              <a:buFont typeface="Arial" pitchFamily="34" charset="0"/>
              <a:buChar char="•"/>
            </a:pPr>
            <a:r>
              <a:rPr lang="zh-CN" altLang="en-US" sz="2200" kern="0" dirty="0"/>
              <a:t>树中内部结点代表对输入的一个特征</a:t>
            </a:r>
            <a:endParaRPr lang="en-US" altLang="zh-CN" sz="2200" kern="0" dirty="0"/>
          </a:p>
          <a:p>
            <a:pPr marL="838200" lvl="1" indent="-381000">
              <a:lnSpc>
                <a:spcPct val="150000"/>
              </a:lnSpc>
              <a:spcBef>
                <a:spcPct val="20000"/>
              </a:spcBef>
              <a:buFont typeface="Arial" pitchFamily="34" charset="0"/>
              <a:buChar char="•"/>
            </a:pPr>
            <a:r>
              <a:rPr lang="zh-CN" altLang="en-US" sz="2200" kern="0" dirty="0"/>
              <a:t>边表示结点对应的特征值</a:t>
            </a:r>
            <a:endParaRPr lang="en-US" altLang="zh-CN" sz="2200" kern="0" dirty="0"/>
          </a:p>
          <a:p>
            <a:pPr marL="838200" lvl="1" indent="-381000">
              <a:lnSpc>
                <a:spcPct val="150000"/>
              </a:lnSpc>
              <a:spcBef>
                <a:spcPct val="20000"/>
              </a:spcBef>
              <a:buFont typeface="Arial" pitchFamily="34" charset="0"/>
              <a:buChar char="•"/>
            </a:pPr>
            <a:r>
              <a:rPr lang="zh-CN" altLang="en-US" sz="2200" dirty="0"/>
              <a:t>叶子节点即为实例所属的分类。</a:t>
            </a:r>
            <a:endParaRPr lang="en-US" altLang="zh-CN" sz="2200" dirty="0"/>
          </a:p>
        </p:txBody>
      </p:sp>
    </p:spTree>
    <p:extLst>
      <p:ext uri="{BB962C8B-B14F-4D97-AF65-F5344CB8AC3E}">
        <p14:creationId xmlns:p14="http://schemas.microsoft.com/office/powerpoint/2010/main" val="2058347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pic>
        <p:nvPicPr>
          <p:cNvPr id="2" name="图片 1"/>
          <p:cNvPicPr>
            <a:picLocks noChangeAspect="1"/>
          </p:cNvPicPr>
          <p:nvPr/>
        </p:nvPicPr>
        <p:blipFill>
          <a:blip r:embed="rId3"/>
          <a:stretch>
            <a:fillRect/>
          </a:stretch>
        </p:blipFill>
        <p:spPr>
          <a:xfrm>
            <a:off x="266903" y="1955086"/>
            <a:ext cx="4072580" cy="3596627"/>
          </a:xfrm>
          <a:prstGeom prst="rect">
            <a:avLst/>
          </a:prstGeom>
        </p:spPr>
      </p:pic>
      <p:sp>
        <p:nvSpPr>
          <p:cNvPr id="3" name="矩形 2"/>
          <p:cNvSpPr/>
          <p:nvPr/>
        </p:nvSpPr>
        <p:spPr>
          <a:xfrm>
            <a:off x="4075349" y="1640923"/>
            <a:ext cx="7594059" cy="4480714"/>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第一层是年龄状况，分为小于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岁，大于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岁三种取值。</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岁之间，样本子集为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 7, 12, 13}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，这些样本的标签均为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给予贷款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，所以为叶子节点。 </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如果年龄大于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 2, 8, 9, 11}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，这些样本具有不同的标签，要进一步使用其他属性对这个样本子集进行划分。经观察，通过</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是否结婚</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这一属性值，可以将该样本子集进一步划分成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 2, 8}</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（未婚）和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{9, 11}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（已婚）两个样本子集。此时这两个样本子集内标签一样，不需要再划分。</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如果年龄小于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岁，样本子集为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 5, 6, 10, 14}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，这些样本具有不同的标签，同样需要继续划分。通过观察，</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拥有房产</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这个属性值可将该样本子集进一步划分成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 5, 10}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（无房产）和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{6, 14}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（有房产）两个样本子集。此时这两个样本子集内标签一样，不需要再划分。</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银行流水</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这一特点及其属性值在这次决策树构造过程中没有使用。</a:t>
            </a:r>
          </a:p>
        </p:txBody>
      </p:sp>
    </p:spTree>
    <p:extLst>
      <p:ext uri="{BB962C8B-B14F-4D97-AF65-F5344CB8AC3E}">
        <p14:creationId xmlns:p14="http://schemas.microsoft.com/office/powerpoint/2010/main" val="35694284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p:sp>
        <p:nvSpPr>
          <p:cNvPr id="7" name="矩形 6"/>
          <p:cNvSpPr/>
          <p:nvPr/>
        </p:nvSpPr>
        <p:spPr>
          <a:xfrm>
            <a:off x="596263" y="1604454"/>
            <a:ext cx="5121292" cy="5452775"/>
          </a:xfrm>
          <a:prstGeom prst="rect">
            <a:avLst/>
          </a:prstGeom>
        </p:spPr>
        <p:txBody>
          <a:bodyPr wrap="square">
            <a:spAutoFit/>
          </a:bodyPr>
          <a:lstStyle/>
          <a:p>
            <a:pPr marL="285750" indent="-285750" algn="just" fontAlgn="auto">
              <a:lnSpc>
                <a:spcPct val="150000"/>
              </a:lnSpc>
              <a:spcAft>
                <a:spcPts val="0"/>
              </a:spcAft>
              <a:buFont typeface="Wingdings" panose="05000000000000000000" charset="0"/>
              <a:buChar char="Ø"/>
            </a:pPr>
            <a:r>
              <a:rPr lang="zh-CN" altLang="en-US" sz="2200" dirty="0">
                <a:latin typeface="+mj-ea"/>
                <a:ea typeface="+mj-ea"/>
                <a:sym typeface="+mn-ea"/>
              </a:rPr>
              <a:t>建立决策树的过程，就是：</a:t>
            </a:r>
            <a:endParaRPr lang="en-US" altLang="zh-CN" sz="2200" dirty="0">
              <a:latin typeface="+mj-ea"/>
              <a:ea typeface="+mj-ea"/>
            </a:endParaRPr>
          </a:p>
          <a:p>
            <a:pPr marL="742950" lvl="1" indent="-285750" fontAlgn="auto">
              <a:lnSpc>
                <a:spcPct val="150000"/>
              </a:lnSpc>
              <a:buFont typeface="Arial" panose="020B0604020202020204" pitchFamily="34" charset="0"/>
              <a:buChar char="•"/>
            </a:pPr>
            <a:r>
              <a:rPr lang="zh-CN" altLang="en-US" sz="2200" dirty="0">
                <a:solidFill>
                  <a:srgbClr val="FF0000"/>
                </a:solidFill>
                <a:latin typeface="+mj-ea"/>
                <a:ea typeface="+mj-ea"/>
                <a:sym typeface="+mn-ea"/>
              </a:rPr>
              <a:t>选择属性</a:t>
            </a:r>
            <a:r>
              <a:rPr lang="zh-CN" altLang="en-US" sz="2200" dirty="0">
                <a:latin typeface="+mj-ea"/>
                <a:ea typeface="+mj-ea"/>
                <a:sym typeface="+mn-ea"/>
              </a:rPr>
              <a:t>，根据属性值对样本集进行划分，</a:t>
            </a:r>
            <a:r>
              <a:rPr lang="zh-CN" altLang="en-US" sz="2200" dirty="0">
                <a:solidFill>
                  <a:srgbClr val="FF0000"/>
                </a:solidFill>
                <a:latin typeface="+mj-ea"/>
                <a:ea typeface="+mj-ea"/>
                <a:sym typeface="+mn-ea"/>
              </a:rPr>
              <a:t>选择下一个属性</a:t>
            </a:r>
            <a:r>
              <a:rPr lang="zh-CN" altLang="en-US" sz="2200" dirty="0">
                <a:latin typeface="+mj-ea"/>
                <a:ea typeface="+mj-ea"/>
                <a:sym typeface="+mn-ea"/>
              </a:rPr>
              <a:t>，直至每个子集为同一个类别</a:t>
            </a:r>
            <a:endParaRPr lang="en-US" altLang="zh-CN" sz="2200" dirty="0">
              <a:latin typeface="+mj-ea"/>
              <a:ea typeface="+mj-ea"/>
            </a:endParaRPr>
          </a:p>
          <a:p>
            <a:pPr indent="266700" algn="just" fontAlgn="auto">
              <a:lnSpc>
                <a:spcPct val="150000"/>
              </a:lnSpc>
              <a:spcAft>
                <a:spcPts val="0"/>
              </a:spcAft>
            </a:pPr>
            <a:endParaRPr lang="en-US" altLang="zh-CN" sz="2200" dirty="0">
              <a:latin typeface="+mj-ea"/>
              <a:ea typeface="+mj-ea"/>
            </a:endParaRPr>
          </a:p>
          <a:p>
            <a:pPr marL="285750" indent="-285750" algn="just" fontAlgn="auto">
              <a:lnSpc>
                <a:spcPct val="150000"/>
              </a:lnSpc>
              <a:spcAft>
                <a:spcPts val="0"/>
              </a:spcAft>
              <a:buFont typeface="Wingdings" panose="05000000000000000000" charset="0"/>
              <a:buChar char="Ø"/>
            </a:pPr>
            <a:r>
              <a:rPr lang="zh-CN" altLang="en-US" sz="2200" dirty="0">
                <a:latin typeface="+mj-ea"/>
                <a:ea typeface="+mj-ea"/>
                <a:sym typeface="+mn-ea"/>
              </a:rPr>
              <a:t>上面的案例数据较少</a:t>
            </a:r>
            <a:endParaRPr lang="en-US" altLang="zh-CN" sz="2200" dirty="0">
              <a:latin typeface="+mj-ea"/>
              <a:ea typeface="+mj-ea"/>
            </a:endParaRPr>
          </a:p>
          <a:p>
            <a:pPr marL="742950" lvl="1" indent="-285750" fontAlgn="auto">
              <a:lnSpc>
                <a:spcPct val="150000"/>
              </a:lnSpc>
              <a:buFont typeface="Arial" panose="020B0604020202020204" pitchFamily="34" charset="0"/>
              <a:buChar char="•"/>
            </a:pPr>
            <a:r>
              <a:rPr lang="zh-CN" altLang="en-US" sz="2200" dirty="0">
                <a:latin typeface="+mj-ea"/>
                <a:ea typeface="+mj-ea"/>
                <a:sym typeface="+mn-ea"/>
              </a:rPr>
              <a:t>数据较少：通过观察、穷举的，不断选择属性值对样本集进行划分</a:t>
            </a:r>
            <a:endParaRPr lang="en-US" altLang="zh-CN" sz="2200" dirty="0">
              <a:latin typeface="+mj-ea"/>
              <a:ea typeface="+mj-ea"/>
            </a:endParaRPr>
          </a:p>
          <a:p>
            <a:pPr marL="742950" lvl="1" indent="-285750" fontAlgn="auto">
              <a:lnSpc>
                <a:spcPct val="150000"/>
              </a:lnSpc>
              <a:buFont typeface="Arial" panose="020B0604020202020204" pitchFamily="34" charset="0"/>
              <a:buChar char="•"/>
            </a:pPr>
            <a:r>
              <a:rPr lang="zh-CN" altLang="en-US" sz="2200" dirty="0">
                <a:latin typeface="+mj-ea"/>
                <a:ea typeface="+mj-ea"/>
                <a:sym typeface="+mn-ea"/>
              </a:rPr>
              <a:t>数据较多：先选哪个属性？后选哪个属性？</a:t>
            </a:r>
            <a:endParaRPr lang="zh-CN" altLang="en-US" sz="2200" dirty="0">
              <a:latin typeface="+mj-ea"/>
              <a:ea typeface="+mj-ea"/>
            </a:endParaRPr>
          </a:p>
          <a:p>
            <a:pPr indent="266700" algn="just">
              <a:lnSpc>
                <a:spcPts val="2200"/>
              </a:lnSpc>
              <a:spcAft>
                <a:spcPts val="0"/>
              </a:spcAft>
            </a:pPr>
            <a:endParaRPr lang="zh-CN" altLang="zh-CN" sz="2200" dirty="0">
              <a:solidFill>
                <a:srgbClr val="000000"/>
              </a:solidFill>
              <a:latin typeface="+mj-ea"/>
              <a:ea typeface="+mj-ea"/>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6074159" y="1388318"/>
            <a:ext cx="5721186" cy="4902203"/>
          </a:xfrm>
          <a:prstGeom prst="rect">
            <a:avLst/>
          </a:prstGeom>
        </p:spPr>
      </p:pic>
    </p:spTree>
    <p:extLst>
      <p:ext uri="{BB962C8B-B14F-4D97-AF65-F5344CB8AC3E}">
        <p14:creationId xmlns:p14="http://schemas.microsoft.com/office/powerpoint/2010/main" val="31717828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828800" y="1295400"/>
            <a:ext cx="8229600" cy="5486400"/>
          </a:xfrm>
          <a:prstGeom prst="rect">
            <a:avLst/>
          </a:prstGeom>
          <a:noFill/>
          <a:ln w="9525">
            <a:noFill/>
            <a:miter lim="800000"/>
            <a:headEnd/>
            <a:tailEnd/>
          </a:ln>
        </p:spPr>
        <p:txBody>
          <a:bodyPr/>
          <a:lstStyle/>
          <a:p>
            <a:pPr marL="381000" indent="-381000">
              <a:spcBef>
                <a:spcPct val="20000"/>
              </a:spcBef>
            </a:pPr>
            <a:r>
              <a:rPr lang="zh-CN" altLang="en-US" sz="2400" dirty="0">
                <a:latin typeface="Times New Roman" pitchFamily="18" charset="0"/>
              </a:rPr>
              <a:t>基于下面的</a:t>
            </a:r>
            <a:r>
              <a:rPr lang="en-US" altLang="zh-CN" sz="2400" dirty="0">
                <a:latin typeface="Times New Roman" pitchFamily="18" charset="0"/>
              </a:rPr>
              <a:t>10</a:t>
            </a:r>
            <a:r>
              <a:rPr lang="zh-CN" altLang="en-US" sz="2400" dirty="0">
                <a:latin typeface="Times New Roman" pitchFamily="18" charset="0"/>
              </a:rPr>
              <a:t>个</a:t>
            </a:r>
            <a:r>
              <a:rPr lang="zh-CN" altLang="en-US" sz="2400" dirty="0">
                <a:solidFill>
                  <a:srgbClr val="FF0000"/>
                </a:solidFill>
                <a:latin typeface="Times New Roman" pitchFamily="18" charset="0"/>
              </a:rPr>
              <a:t>属性</a:t>
            </a:r>
            <a:r>
              <a:rPr lang="zh-CN" altLang="en-US" sz="2400" dirty="0">
                <a:latin typeface="Times New Roman" pitchFamily="18" charset="0"/>
              </a:rPr>
              <a:t>，决定是否要在餐馆等座位？</a:t>
            </a:r>
            <a:endParaRPr lang="en-US" altLang="zh-CN" sz="2400" dirty="0">
              <a:latin typeface="Times New Roman" pitchFamily="18" charset="0"/>
            </a:endParaRPr>
          </a:p>
          <a:p>
            <a:pPr marL="800100" lvl="1" indent="-342900">
              <a:spcBef>
                <a:spcPct val="20000"/>
              </a:spcBef>
              <a:buFontTx/>
              <a:buAutoNum type="arabicPeriod"/>
            </a:pPr>
            <a:r>
              <a:rPr lang="en-US" altLang="zh-CN" sz="2400" dirty="0">
                <a:latin typeface="Times New Roman" pitchFamily="18" charset="0"/>
              </a:rPr>
              <a:t>Alternate</a:t>
            </a:r>
            <a:r>
              <a:rPr lang="zh-CN" altLang="en-US" sz="2400" dirty="0">
                <a:latin typeface="Times New Roman" pitchFamily="18" charset="0"/>
              </a:rPr>
              <a:t>（候选）</a:t>
            </a:r>
            <a:r>
              <a:rPr lang="en-US" altLang="zh-CN" sz="2400" dirty="0">
                <a:latin typeface="Times New Roman" pitchFamily="18" charset="0"/>
              </a:rPr>
              <a:t>: </a:t>
            </a:r>
            <a:r>
              <a:rPr lang="zh-CN" altLang="en-US" sz="2400" dirty="0">
                <a:latin typeface="Times New Roman" pitchFamily="18" charset="0"/>
              </a:rPr>
              <a:t>附近是否有另一家合适的餐馆？</a:t>
            </a:r>
            <a:endParaRPr lang="en-US" altLang="zh-CN" sz="2400" dirty="0">
              <a:latin typeface="Times New Roman" pitchFamily="18" charset="0"/>
            </a:endParaRPr>
          </a:p>
          <a:p>
            <a:pPr marL="800100" lvl="1" indent="-342900">
              <a:spcBef>
                <a:spcPct val="20000"/>
              </a:spcBef>
              <a:buFontTx/>
              <a:buAutoNum type="arabicPeriod"/>
            </a:pPr>
            <a:r>
              <a:rPr lang="en-US" altLang="zh-CN" sz="2400" dirty="0">
                <a:latin typeface="Times New Roman" pitchFamily="18" charset="0"/>
              </a:rPr>
              <a:t>Bar</a:t>
            </a:r>
            <a:r>
              <a:rPr lang="zh-CN" altLang="en-US" sz="2400" dirty="0">
                <a:latin typeface="Times New Roman" pitchFamily="18" charset="0"/>
              </a:rPr>
              <a:t>（酒吧）</a:t>
            </a:r>
            <a:r>
              <a:rPr lang="en-US" altLang="zh-CN" sz="2400" dirty="0">
                <a:latin typeface="Times New Roman" pitchFamily="18" charset="0"/>
              </a:rPr>
              <a:t>: </a:t>
            </a:r>
            <a:r>
              <a:rPr lang="zh-CN" altLang="en-US" sz="2400" dirty="0">
                <a:latin typeface="Times New Roman" pitchFamily="18" charset="0"/>
              </a:rPr>
              <a:t>该餐馆中供顾客等候的吧区是否舒适？</a:t>
            </a:r>
            <a:endParaRPr lang="en-US" altLang="zh-CN" sz="2400" dirty="0">
              <a:latin typeface="Times New Roman" pitchFamily="18" charset="0"/>
            </a:endParaRPr>
          </a:p>
          <a:p>
            <a:pPr marL="800100" lvl="1" indent="-342900">
              <a:spcBef>
                <a:spcPct val="20000"/>
              </a:spcBef>
              <a:buFontTx/>
              <a:buAutoNum type="arabicPeriod"/>
            </a:pPr>
            <a:r>
              <a:rPr lang="en-US" altLang="zh-CN" sz="2400" dirty="0">
                <a:latin typeface="Times New Roman" pitchFamily="18" charset="0"/>
              </a:rPr>
              <a:t>Fri/Sat</a:t>
            </a:r>
            <a:r>
              <a:rPr lang="zh-CN" altLang="en-US" sz="2400" dirty="0">
                <a:latin typeface="Times New Roman" pitchFamily="18" charset="0"/>
              </a:rPr>
              <a:t>（周五</a:t>
            </a:r>
            <a:r>
              <a:rPr lang="en-US" altLang="zh-CN" sz="2400" dirty="0">
                <a:latin typeface="Times New Roman" pitchFamily="18" charset="0"/>
              </a:rPr>
              <a:t>/</a:t>
            </a:r>
            <a:r>
              <a:rPr lang="zh-CN" altLang="en-US" sz="2400" dirty="0">
                <a:latin typeface="Times New Roman" pitchFamily="18" charset="0"/>
              </a:rPr>
              <a:t>周六）是周五或周六吗？</a:t>
            </a:r>
            <a:endParaRPr lang="en-US" altLang="zh-CN" sz="2400" dirty="0">
              <a:latin typeface="Times New Roman" pitchFamily="18" charset="0"/>
            </a:endParaRPr>
          </a:p>
          <a:p>
            <a:pPr marL="800100" lvl="1" indent="-342900">
              <a:spcBef>
                <a:spcPct val="20000"/>
              </a:spcBef>
              <a:buFontTx/>
              <a:buAutoNum type="arabicPeriod"/>
            </a:pPr>
            <a:r>
              <a:rPr lang="en-US" altLang="zh-CN" sz="2400" dirty="0">
                <a:latin typeface="Times New Roman" pitchFamily="18" charset="0"/>
              </a:rPr>
              <a:t>Hungry</a:t>
            </a:r>
            <a:r>
              <a:rPr lang="zh-CN" altLang="en-US" sz="2400" dirty="0">
                <a:latin typeface="Times New Roman" pitchFamily="18" charset="0"/>
              </a:rPr>
              <a:t>（饥饿）我们是否饥饿</a:t>
            </a:r>
            <a:r>
              <a:rPr lang="en-US" altLang="zh-CN" sz="2400" dirty="0">
                <a:latin typeface="Times New Roman" pitchFamily="18" charset="0"/>
              </a:rPr>
              <a:t>?</a:t>
            </a:r>
          </a:p>
          <a:p>
            <a:pPr marL="800100" lvl="1" indent="-342900">
              <a:spcBef>
                <a:spcPct val="20000"/>
              </a:spcBef>
              <a:buFontTx/>
              <a:buAutoNum type="arabicPeriod"/>
            </a:pPr>
            <a:r>
              <a:rPr lang="en-US" altLang="zh-CN" sz="2400" dirty="0">
                <a:latin typeface="Times New Roman" pitchFamily="18" charset="0"/>
              </a:rPr>
              <a:t>Patrons</a:t>
            </a:r>
            <a:r>
              <a:rPr lang="en-US" altLang="zh-CN" sz="2000" dirty="0">
                <a:latin typeface="Times New Roman" pitchFamily="18" charset="0"/>
              </a:rPr>
              <a:t>(</a:t>
            </a:r>
            <a:r>
              <a:rPr lang="zh-CN" altLang="en-US" sz="2000" dirty="0">
                <a:latin typeface="Times New Roman" pitchFamily="18" charset="0"/>
              </a:rPr>
              <a:t>顾客）</a:t>
            </a:r>
            <a:r>
              <a:rPr lang="en-US" altLang="zh-CN" sz="2400" dirty="0">
                <a:latin typeface="Times New Roman" pitchFamily="18" charset="0"/>
              </a:rPr>
              <a:t>: </a:t>
            </a:r>
            <a:r>
              <a:rPr lang="zh-CN" altLang="en-US" sz="2400" dirty="0">
                <a:latin typeface="Times New Roman" pitchFamily="18" charset="0"/>
              </a:rPr>
              <a:t>该餐馆中有多少顾客</a:t>
            </a:r>
            <a:r>
              <a:rPr lang="en-US" altLang="zh-CN" sz="2400" dirty="0">
                <a:latin typeface="Times New Roman" pitchFamily="18" charset="0"/>
              </a:rPr>
              <a:t>(None, Some, Full)</a:t>
            </a:r>
          </a:p>
          <a:p>
            <a:pPr marL="800100" lvl="1" indent="-342900">
              <a:spcBef>
                <a:spcPct val="20000"/>
              </a:spcBef>
              <a:buFontTx/>
              <a:buAutoNum type="arabicPeriod"/>
            </a:pPr>
            <a:r>
              <a:rPr lang="en-US" altLang="zh-CN" sz="2400" dirty="0">
                <a:latin typeface="Times New Roman" pitchFamily="18" charset="0"/>
              </a:rPr>
              <a:t>Price</a:t>
            </a:r>
            <a:r>
              <a:rPr lang="zh-CN" altLang="en-US" sz="2400" dirty="0">
                <a:latin typeface="Times New Roman" pitchFamily="18" charset="0"/>
              </a:rPr>
              <a:t>（价格）</a:t>
            </a:r>
            <a:r>
              <a:rPr lang="en-US" altLang="zh-CN" sz="2400" dirty="0">
                <a:latin typeface="Times New Roman" pitchFamily="18" charset="0"/>
              </a:rPr>
              <a:t>: </a:t>
            </a:r>
            <a:r>
              <a:rPr lang="zh-CN" altLang="en-US" sz="2400" dirty="0">
                <a:latin typeface="Times New Roman" pitchFamily="18" charset="0"/>
              </a:rPr>
              <a:t>餐馆的价格范围</a:t>
            </a:r>
            <a:r>
              <a:rPr lang="en-US" altLang="zh-CN" sz="2400" dirty="0">
                <a:latin typeface="Times New Roman" pitchFamily="18" charset="0"/>
              </a:rPr>
              <a:t>($, $$, $$$)</a:t>
            </a:r>
          </a:p>
          <a:p>
            <a:pPr marL="800100" lvl="1" indent="-342900">
              <a:spcBef>
                <a:spcPct val="20000"/>
              </a:spcBef>
              <a:buFontTx/>
              <a:buAutoNum type="arabicPeriod"/>
            </a:pPr>
            <a:r>
              <a:rPr lang="en-US" altLang="zh-CN" sz="2400" dirty="0">
                <a:latin typeface="Times New Roman" pitchFamily="18" charset="0"/>
              </a:rPr>
              <a:t>Raining</a:t>
            </a:r>
            <a:r>
              <a:rPr lang="zh-CN" altLang="en-US" sz="2400" dirty="0">
                <a:latin typeface="Times New Roman" pitchFamily="18" charset="0"/>
              </a:rPr>
              <a:t>（下雨）外面是否在下雨</a:t>
            </a:r>
            <a:r>
              <a:rPr lang="en-US" altLang="zh-CN" sz="2400" dirty="0">
                <a:latin typeface="Times New Roman" pitchFamily="18" charset="0"/>
              </a:rPr>
              <a:t>?</a:t>
            </a:r>
          </a:p>
          <a:p>
            <a:pPr marL="800100" lvl="1" indent="-342900">
              <a:spcBef>
                <a:spcPct val="20000"/>
              </a:spcBef>
              <a:buFontTx/>
              <a:buAutoNum type="arabicPeriod"/>
            </a:pPr>
            <a:r>
              <a:rPr lang="en-US" altLang="zh-CN" sz="2400" dirty="0">
                <a:latin typeface="Times New Roman" pitchFamily="18" charset="0"/>
              </a:rPr>
              <a:t>Reservation</a:t>
            </a:r>
            <a:r>
              <a:rPr lang="zh-CN" altLang="en-US" sz="2400" dirty="0">
                <a:latin typeface="Times New Roman" pitchFamily="18" charset="0"/>
              </a:rPr>
              <a:t>（预约）</a:t>
            </a:r>
            <a:r>
              <a:rPr lang="en-US" altLang="zh-CN" sz="2400" dirty="0">
                <a:latin typeface="Times New Roman" pitchFamily="18" charset="0"/>
              </a:rPr>
              <a:t>: </a:t>
            </a:r>
            <a:r>
              <a:rPr lang="zh-CN" altLang="en-US" sz="2400" dirty="0">
                <a:latin typeface="Times New Roman" pitchFamily="18" charset="0"/>
              </a:rPr>
              <a:t>我们是否预约过</a:t>
            </a:r>
            <a:r>
              <a:rPr lang="en-US" altLang="zh-CN" sz="2400" dirty="0">
                <a:latin typeface="Times New Roman" pitchFamily="18" charset="0"/>
              </a:rPr>
              <a:t>?</a:t>
            </a:r>
          </a:p>
          <a:p>
            <a:pPr marL="800100" lvl="1" indent="-342900">
              <a:spcBef>
                <a:spcPct val="20000"/>
              </a:spcBef>
              <a:buFontTx/>
              <a:buAutoNum type="arabicPeriod"/>
            </a:pPr>
            <a:r>
              <a:rPr lang="en-US" altLang="zh-CN" sz="2400" dirty="0">
                <a:latin typeface="Times New Roman" pitchFamily="18" charset="0"/>
              </a:rPr>
              <a:t>Type</a:t>
            </a:r>
            <a:r>
              <a:rPr lang="zh-CN" altLang="en-US" sz="2400" dirty="0">
                <a:latin typeface="Times New Roman" pitchFamily="18" charset="0"/>
              </a:rPr>
              <a:t>（类型）</a:t>
            </a:r>
            <a:r>
              <a:rPr lang="en-US" altLang="zh-CN" sz="2400" dirty="0">
                <a:latin typeface="Times New Roman" pitchFamily="18" charset="0"/>
              </a:rPr>
              <a:t>: </a:t>
            </a:r>
            <a:r>
              <a:rPr lang="zh-CN" altLang="en-US" sz="2400" dirty="0">
                <a:latin typeface="Times New Roman" pitchFamily="18" charset="0"/>
              </a:rPr>
              <a:t>餐馆的种类</a:t>
            </a:r>
            <a:r>
              <a:rPr lang="en-US" altLang="zh-CN" sz="2400" dirty="0">
                <a:latin typeface="Times New Roman" pitchFamily="18" charset="0"/>
              </a:rPr>
              <a:t>(French, Italian, Thai, Burger)</a:t>
            </a:r>
          </a:p>
          <a:p>
            <a:pPr marL="800100" lvl="1" indent="-342900">
              <a:spcBef>
                <a:spcPct val="20000"/>
              </a:spcBef>
              <a:buFontTx/>
              <a:buAutoNum type="arabicPeriod"/>
            </a:pPr>
            <a:r>
              <a:rPr lang="en-US" altLang="zh-CN" sz="2400" dirty="0">
                <a:latin typeface="Times New Roman" pitchFamily="18" charset="0"/>
              </a:rPr>
              <a:t> </a:t>
            </a:r>
            <a:r>
              <a:rPr lang="en-US" altLang="zh-CN" sz="2400" dirty="0" err="1">
                <a:latin typeface="Times New Roman" pitchFamily="18" charset="0"/>
              </a:rPr>
              <a:t>WaitEstimate</a:t>
            </a:r>
            <a:r>
              <a:rPr lang="zh-CN" altLang="en-US" sz="2400" dirty="0">
                <a:latin typeface="Times New Roman" pitchFamily="18" charset="0"/>
              </a:rPr>
              <a:t>（等候时间估计）</a:t>
            </a:r>
            <a:r>
              <a:rPr lang="en-US" altLang="zh-CN" sz="2400" dirty="0">
                <a:latin typeface="Times New Roman" pitchFamily="18" charset="0"/>
              </a:rPr>
              <a:t>: </a:t>
            </a:r>
            <a:r>
              <a:rPr lang="zh-CN" altLang="en-US" sz="2400" dirty="0">
                <a:latin typeface="Times New Roman" pitchFamily="18" charset="0"/>
              </a:rPr>
              <a:t>估计的等候时间</a:t>
            </a:r>
            <a:r>
              <a:rPr lang="en-US" altLang="zh-CN" sz="2400" dirty="0">
                <a:latin typeface="Times New Roman" pitchFamily="18" charset="0"/>
              </a:rPr>
              <a:t>(0-10, 10-30, 30-60, &gt;60)</a:t>
            </a:r>
          </a:p>
        </p:txBody>
      </p:sp>
      <p:grpSp>
        <p:nvGrpSpPr>
          <p:cNvPr id="4" name="组合 3"/>
          <p:cNvGrpSpPr/>
          <p:nvPr/>
        </p:nvGrpSpPr>
        <p:grpSpPr>
          <a:xfrm>
            <a:off x="773415" y="600277"/>
            <a:ext cx="4944140" cy="497934"/>
            <a:chOff x="4099943" y="2819853"/>
            <a:chExt cx="2570275" cy="497934"/>
          </a:xfrm>
        </p:grpSpPr>
        <p:sp>
          <p:nvSpPr>
            <p:cNvPr id="5" name="平行四边形 4"/>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示例</a:t>
              </a:r>
            </a:p>
          </p:txBody>
        </p:sp>
      </p:grpSp>
    </p:spTree>
    <p:extLst>
      <p:ext uri="{BB962C8B-B14F-4D97-AF65-F5344CB8AC3E}">
        <p14:creationId xmlns:p14="http://schemas.microsoft.com/office/powerpoint/2010/main" val="23025195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676400" y="1147126"/>
            <a:ext cx="8229600" cy="4525963"/>
          </a:xfrm>
          <a:prstGeom prst="rect">
            <a:avLst/>
          </a:prstGeom>
          <a:noFill/>
          <a:ln w="9525">
            <a:noFill/>
            <a:miter lim="800000"/>
            <a:headEnd/>
            <a:tailEnd/>
          </a:ln>
        </p:spPr>
        <p:txBody>
          <a:bodyPr/>
          <a:lstStyle/>
          <a:p>
            <a:pPr marL="342900" indent="-342900">
              <a:spcBef>
                <a:spcPct val="20000"/>
              </a:spcBef>
              <a:buFontTx/>
              <a:buChar char="•"/>
            </a:pPr>
            <a:r>
              <a:rPr lang="zh-CN" altLang="en-US" sz="2400" dirty="0">
                <a:latin typeface="Times New Roman" pitchFamily="18" charset="0"/>
              </a:rPr>
              <a:t>决定是否要在餐馆等座位的</a:t>
            </a:r>
            <a:r>
              <a:rPr lang="zh-CN" altLang="en-US" sz="2400" dirty="0">
                <a:solidFill>
                  <a:srgbClr val="FF0000"/>
                </a:solidFill>
                <a:latin typeface="Times New Roman" pitchFamily="18" charset="0"/>
              </a:rPr>
              <a:t>实例集</a:t>
            </a:r>
            <a:r>
              <a:rPr lang="en-US" altLang="zh-CN" sz="2400" dirty="0">
                <a:solidFill>
                  <a:srgbClr val="FF0000"/>
                </a:solidFill>
                <a:latin typeface="Times New Roman" pitchFamily="18" charset="0"/>
              </a:rPr>
              <a:t>X</a:t>
            </a:r>
            <a:r>
              <a:rPr lang="en-US" altLang="zh-CN" sz="2400" baseline="-25000" dirty="0">
                <a:solidFill>
                  <a:srgbClr val="FF0000"/>
                </a:solidFill>
                <a:latin typeface="Times New Roman" pitchFamily="18" charset="0"/>
              </a:rPr>
              <a:t>1</a:t>
            </a:r>
            <a:r>
              <a:rPr lang="en-US" altLang="zh-CN" sz="2400" dirty="0">
                <a:solidFill>
                  <a:srgbClr val="FF0000"/>
                </a:solidFill>
                <a:latin typeface="Times New Roman" pitchFamily="18" charset="0"/>
              </a:rPr>
              <a:t>~X</a:t>
            </a:r>
            <a:r>
              <a:rPr lang="en-US" altLang="zh-CN" sz="2400" baseline="-25000" dirty="0">
                <a:solidFill>
                  <a:srgbClr val="FF0000"/>
                </a:solidFill>
                <a:latin typeface="Times New Roman" pitchFamily="18" charset="0"/>
              </a:rPr>
              <a:t>12</a:t>
            </a:r>
          </a:p>
          <a:p>
            <a:pPr marL="342900" indent="-342900">
              <a:spcBef>
                <a:spcPct val="20000"/>
              </a:spcBef>
              <a:buFontTx/>
              <a:buChar char="•"/>
            </a:pPr>
            <a:r>
              <a:rPr lang="zh-CN" altLang="en-US" sz="2400" dirty="0">
                <a:solidFill>
                  <a:schemeClr val="accent2"/>
                </a:solidFill>
                <a:latin typeface="Times New Roman" pitchFamily="18" charset="0"/>
              </a:rPr>
              <a:t>实例是通过属性值描述的</a:t>
            </a:r>
            <a:r>
              <a:rPr lang="en-US" altLang="zh-CN" sz="2400" dirty="0">
                <a:solidFill>
                  <a:schemeClr val="accent2"/>
                </a:solidFill>
                <a:latin typeface="Times New Roman" pitchFamily="18" charset="0"/>
              </a:rPr>
              <a:t> </a:t>
            </a:r>
            <a:endParaRPr lang="en-US" altLang="zh-CN" sz="2400" dirty="0">
              <a:latin typeface="Times New Roman" pitchFamily="18" charset="0"/>
            </a:endParaRPr>
          </a:p>
          <a:p>
            <a:pPr marL="342900" indent="-342900">
              <a:spcBef>
                <a:spcPct val="20000"/>
              </a:spcBef>
            </a:pPr>
            <a:endParaRPr lang="en-US" altLang="zh-CN" dirty="0">
              <a:latin typeface="Times New Roman" pitchFamily="18" charset="0"/>
            </a:endParaRPr>
          </a:p>
          <a:p>
            <a:pPr marL="342900" indent="-342900">
              <a:spcBef>
                <a:spcPct val="20000"/>
              </a:spcBef>
            </a:pPr>
            <a:endParaRPr lang="en-US" altLang="zh-CN" dirty="0">
              <a:latin typeface="Times New Roman" pitchFamily="18" charset="0"/>
            </a:endParaRPr>
          </a:p>
          <a:p>
            <a:pPr marL="342900" indent="-342900">
              <a:spcBef>
                <a:spcPct val="20000"/>
              </a:spcBef>
            </a:pPr>
            <a:endParaRPr lang="en-US" altLang="zh-CN" dirty="0">
              <a:latin typeface="Times New Roman" pitchFamily="18" charset="0"/>
            </a:endParaRPr>
          </a:p>
          <a:p>
            <a:pPr marL="342900" indent="-342900">
              <a:spcBef>
                <a:spcPct val="20000"/>
              </a:spcBef>
            </a:pPr>
            <a:r>
              <a:rPr lang="en-US" altLang="zh-CN" dirty="0">
                <a:latin typeface="Times New Roman" pitchFamily="18" charset="0"/>
              </a:rPr>
              <a:t>
</a:t>
            </a:r>
          </a:p>
          <a:p>
            <a:pPr marL="342900" indent="-342900">
              <a:spcBef>
                <a:spcPct val="20000"/>
              </a:spcBef>
            </a:pPr>
            <a:endParaRPr lang="en-US" altLang="zh-CN" dirty="0">
              <a:latin typeface="Times New Roman" pitchFamily="18" charset="0"/>
            </a:endParaRPr>
          </a:p>
          <a:p>
            <a:pPr marL="342900" indent="-342900">
              <a:spcBef>
                <a:spcPct val="20000"/>
              </a:spcBef>
            </a:pPr>
            <a:endParaRPr lang="en-US" altLang="zh-CN" dirty="0">
              <a:latin typeface="Times New Roman" pitchFamily="18" charset="0"/>
            </a:endParaRPr>
          </a:p>
          <a:p>
            <a:pPr marL="342900" indent="-342900">
              <a:spcBef>
                <a:spcPct val="20000"/>
              </a:spcBef>
              <a:buFontTx/>
              <a:buChar char="•"/>
            </a:pPr>
            <a:endParaRPr lang="en-US" altLang="zh-CN" dirty="0">
              <a:solidFill>
                <a:schemeClr val="accent2"/>
              </a:solidFill>
              <a:latin typeface="Times New Roman" pitchFamily="18" charset="0"/>
            </a:endParaRPr>
          </a:p>
          <a:p>
            <a:pPr marL="342900" indent="-342900">
              <a:spcBef>
                <a:spcPct val="20000"/>
              </a:spcBef>
              <a:buFontTx/>
              <a:buChar char="•"/>
            </a:pPr>
            <a:endParaRPr lang="en-US" altLang="zh-CN" dirty="0">
              <a:solidFill>
                <a:schemeClr val="accent2"/>
              </a:solidFill>
              <a:latin typeface="Times New Roman" pitchFamily="18" charset="0"/>
            </a:endParaRPr>
          </a:p>
          <a:p>
            <a:pPr marL="342900" indent="-342900">
              <a:spcBef>
                <a:spcPct val="20000"/>
              </a:spcBef>
              <a:buFontTx/>
              <a:buChar char="•"/>
            </a:pPr>
            <a:endParaRPr lang="en-US" altLang="zh-CN" dirty="0">
              <a:solidFill>
                <a:schemeClr val="accent2"/>
              </a:solidFill>
              <a:latin typeface="Times New Roman" pitchFamily="18" charset="0"/>
            </a:endParaRPr>
          </a:p>
          <a:p>
            <a:pPr marL="342900" indent="-342900">
              <a:spcBef>
                <a:spcPct val="20000"/>
              </a:spcBef>
            </a:pPr>
            <a:endParaRPr lang="en-US" altLang="zh-CN" sz="2000" dirty="0">
              <a:solidFill>
                <a:schemeClr val="accent2"/>
              </a:solidFill>
              <a:latin typeface="Times New Roman" pitchFamily="18" charset="0"/>
            </a:endParaRPr>
          </a:p>
          <a:p>
            <a:pPr marL="342900" indent="-342900">
              <a:spcBef>
                <a:spcPct val="20000"/>
              </a:spcBef>
              <a:buFontTx/>
              <a:buChar char="•"/>
            </a:pPr>
            <a:endParaRPr lang="en-US" altLang="zh-CN" sz="2400" dirty="0">
              <a:latin typeface="Times New Roman" pitchFamily="18" charset="0"/>
            </a:endParaRPr>
          </a:p>
          <a:p>
            <a:pPr marL="342900" indent="-342900">
              <a:spcBef>
                <a:spcPct val="20000"/>
              </a:spcBef>
              <a:buFontTx/>
              <a:buChar char="•"/>
            </a:pPr>
            <a:r>
              <a:rPr lang="zh-CN" altLang="en-US" sz="2400" dirty="0">
                <a:solidFill>
                  <a:srgbClr val="FF0000"/>
                </a:solidFill>
                <a:latin typeface="Times New Roman" pitchFamily="18" charset="0"/>
              </a:rPr>
              <a:t>实例分类</a:t>
            </a:r>
            <a:r>
              <a:rPr lang="zh-CN" altLang="en-US" sz="2400" dirty="0">
                <a:latin typeface="Times New Roman" pitchFamily="18" charset="0"/>
              </a:rPr>
              <a:t>：</a:t>
            </a:r>
            <a:r>
              <a:rPr lang="en-US" altLang="zh-CN" sz="2400" dirty="0">
                <a:latin typeface="Times New Roman" pitchFamily="18" charset="0"/>
              </a:rPr>
              <a:t> </a:t>
            </a:r>
            <a:r>
              <a:rPr lang="zh-CN" altLang="en-US" sz="2400" dirty="0">
                <a:solidFill>
                  <a:schemeClr val="accent2"/>
                </a:solidFill>
                <a:latin typeface="Times New Roman" pitchFamily="18" charset="0"/>
              </a:rPr>
              <a:t>正</a:t>
            </a:r>
            <a:r>
              <a:rPr lang="en-US" altLang="zh-CN" sz="2400" dirty="0">
                <a:latin typeface="Times New Roman" pitchFamily="18" charset="0"/>
              </a:rPr>
              <a:t> (T) </a:t>
            </a:r>
            <a:r>
              <a:rPr lang="zh-CN" altLang="en-US" sz="2400" dirty="0">
                <a:latin typeface="Times New Roman" pitchFamily="18" charset="0"/>
              </a:rPr>
              <a:t>、</a:t>
            </a:r>
            <a:r>
              <a:rPr lang="en-US" altLang="zh-CN" sz="2400" dirty="0">
                <a:latin typeface="Times New Roman" pitchFamily="18" charset="0"/>
              </a:rPr>
              <a:t> </a:t>
            </a:r>
            <a:r>
              <a:rPr lang="zh-CN" altLang="en-US" sz="2400" dirty="0">
                <a:solidFill>
                  <a:schemeClr val="accent2"/>
                </a:solidFill>
                <a:latin typeface="Times New Roman" pitchFamily="18" charset="0"/>
              </a:rPr>
              <a:t>负</a:t>
            </a:r>
            <a:r>
              <a:rPr lang="en-US" altLang="zh-CN" sz="2400" dirty="0">
                <a:solidFill>
                  <a:schemeClr val="accent2"/>
                </a:solidFill>
                <a:latin typeface="Times New Roman" pitchFamily="18" charset="0"/>
              </a:rPr>
              <a:t> </a:t>
            </a:r>
            <a:r>
              <a:rPr lang="en-US" altLang="zh-CN" sz="2400" dirty="0">
                <a:latin typeface="Times New Roman" pitchFamily="18" charset="0"/>
              </a:rPr>
              <a:t>(F)</a:t>
            </a:r>
            <a:endParaRPr lang="en-US" altLang="zh-CN" sz="2000" dirty="0">
              <a:latin typeface="Times New Roman" pitchFamily="18" charset="0"/>
            </a:endParaRPr>
          </a:p>
        </p:txBody>
      </p:sp>
      <p:pic>
        <p:nvPicPr>
          <p:cNvPr id="4" name="Picture 4"/>
          <p:cNvPicPr>
            <a:picLocks noChangeAspect="1" noChangeArrowheads="1"/>
          </p:cNvPicPr>
          <p:nvPr/>
        </p:nvPicPr>
        <p:blipFill>
          <a:blip r:embed="rId2" cstate="print"/>
          <a:srcRect l="53906" t="29167" r="9766" b="19792"/>
          <a:stretch>
            <a:fillRect/>
          </a:stretch>
        </p:blipFill>
        <p:spPr bwMode="auto">
          <a:xfrm>
            <a:off x="1828800" y="2209800"/>
            <a:ext cx="6400800" cy="3371850"/>
          </a:xfrm>
          <a:prstGeom prst="rect">
            <a:avLst/>
          </a:prstGeom>
          <a:noFill/>
          <a:ln w="9525">
            <a:noFill/>
            <a:miter lim="800000"/>
            <a:headEnd/>
            <a:tailEnd/>
          </a:ln>
        </p:spPr>
      </p:pic>
      <p:sp>
        <p:nvSpPr>
          <p:cNvPr id="5" name="矩形 4"/>
          <p:cNvSpPr/>
          <p:nvPr/>
        </p:nvSpPr>
        <p:spPr>
          <a:xfrm>
            <a:off x="8915400" y="3410108"/>
            <a:ext cx="2786340" cy="954107"/>
          </a:xfrm>
          <a:prstGeom prst="rect">
            <a:avLst/>
          </a:prstGeom>
        </p:spPr>
        <p:txBody>
          <a:bodyPr wrap="none">
            <a:spAutoFit/>
          </a:bodyPr>
          <a:lstStyle/>
          <a:p>
            <a:r>
              <a:rPr lang="zh-CN" altLang="en-US" dirty="0">
                <a:latin typeface="Calibri"/>
                <a:cs typeface="Calibri"/>
              </a:rPr>
              <a:t>实例集中隐含着映射函数</a:t>
            </a:r>
            <a:r>
              <a:rPr lang="en-US" altLang="zh-CN" dirty="0">
                <a:latin typeface="Calibri"/>
                <a:cs typeface="Calibri"/>
              </a:rPr>
              <a:t>:</a:t>
            </a:r>
          </a:p>
          <a:p>
            <a:endParaRPr lang="en-US" altLang="zh-CN" spc="-5" dirty="0">
              <a:latin typeface="Calibri"/>
              <a:cs typeface="Calibri"/>
            </a:endParaRPr>
          </a:p>
          <a:p>
            <a:r>
              <a:rPr lang="en-US" altLang="zh-CN" spc="-5" dirty="0">
                <a:latin typeface="Calibri"/>
                <a:cs typeface="Calibri"/>
              </a:rPr>
              <a:t>                 </a:t>
            </a:r>
            <a:r>
              <a:rPr lang="zh-CN" altLang="en-US" spc="-5" dirty="0">
                <a:latin typeface="Calibri"/>
                <a:cs typeface="Calibri"/>
              </a:rPr>
              <a:t> </a:t>
            </a:r>
            <a:r>
              <a:rPr lang="en-US" altLang="zh-CN" spc="-5" dirty="0">
                <a:latin typeface="Calibri"/>
                <a:cs typeface="Calibri"/>
              </a:rPr>
              <a:t>y</a:t>
            </a:r>
            <a:r>
              <a:rPr lang="en-US" altLang="zh-CN" sz="2000" dirty="0">
                <a:latin typeface="Times New Roman"/>
                <a:cs typeface="Times New Roman"/>
              </a:rPr>
              <a:t>= </a:t>
            </a:r>
            <a:r>
              <a:rPr lang="en-US" altLang="zh-CN" sz="2000" i="1" spc="-10" dirty="0">
                <a:latin typeface="Times New Roman"/>
                <a:cs typeface="Times New Roman"/>
              </a:rPr>
              <a:t>f</a:t>
            </a:r>
            <a:r>
              <a:rPr lang="en-US" altLang="zh-CN" sz="2000" spc="-10" dirty="0">
                <a:latin typeface="Times New Roman"/>
                <a:cs typeface="Times New Roman"/>
              </a:rPr>
              <a:t>(</a:t>
            </a:r>
            <a:r>
              <a:rPr lang="en-US" altLang="zh-CN" sz="2000" i="1" spc="-10" dirty="0">
                <a:latin typeface="Times New Roman"/>
                <a:cs typeface="Times New Roman"/>
              </a:rPr>
              <a:t>x</a:t>
            </a:r>
            <a:r>
              <a:rPr lang="en-US" altLang="zh-CN" sz="2000" spc="-10" dirty="0">
                <a:latin typeface="Times New Roman"/>
                <a:cs typeface="Times New Roman"/>
              </a:rPr>
              <a:t>)</a:t>
            </a:r>
            <a:endParaRPr lang="zh-CN" altLang="en-US" dirty="0"/>
          </a:p>
        </p:txBody>
      </p:sp>
      <p:sp>
        <p:nvSpPr>
          <p:cNvPr id="6" name="矩形 5"/>
          <p:cNvSpPr/>
          <p:nvPr/>
        </p:nvSpPr>
        <p:spPr>
          <a:xfrm>
            <a:off x="9166820" y="5114923"/>
            <a:ext cx="2514600" cy="1200329"/>
          </a:xfrm>
          <a:prstGeom prst="rect">
            <a:avLst/>
          </a:prstGeom>
        </p:spPr>
        <p:txBody>
          <a:bodyPr wrap="square">
            <a:spAutoFit/>
          </a:bodyPr>
          <a:lstStyle/>
          <a:p>
            <a:pPr>
              <a:lnSpc>
                <a:spcPct val="200000"/>
              </a:lnSpc>
              <a:defRPr/>
            </a:pPr>
            <a:r>
              <a:rPr lang="zh-CN" altLang="en-US" dirty="0"/>
              <a:t>寻找假设空间</a:t>
            </a:r>
            <a:r>
              <a:rPr lang="en-US" altLang="zh-CN" b="1" dirty="0">
                <a:latin typeface="Blackadder ITC" panose="04020505051007020D02" pitchFamily="82" charset="0"/>
              </a:rPr>
              <a:t>H </a:t>
            </a:r>
            <a:r>
              <a:rPr lang="zh-CN" altLang="en-US" b="1" dirty="0">
                <a:latin typeface="Blackadder ITC" panose="04020505051007020D02" pitchFamily="82" charset="0"/>
              </a:rPr>
              <a:t>中</a:t>
            </a:r>
            <a:r>
              <a:rPr lang="zh-CN" altLang="en-US" dirty="0"/>
              <a:t>的一种可能表示：</a:t>
            </a:r>
            <a:r>
              <a:rPr lang="en-US" altLang="zh-CN" i="1" dirty="0" err="1"/>
              <a:t>h~f</a:t>
            </a:r>
            <a:endParaRPr lang="en-US" altLang="zh-CN" i="1" dirty="0"/>
          </a:p>
        </p:txBody>
      </p:sp>
      <p:grpSp>
        <p:nvGrpSpPr>
          <p:cNvPr id="7" name="组合 6"/>
          <p:cNvGrpSpPr/>
          <p:nvPr/>
        </p:nvGrpSpPr>
        <p:grpSpPr>
          <a:xfrm>
            <a:off x="773415" y="600277"/>
            <a:ext cx="4944140"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示例</a:t>
              </a:r>
            </a:p>
          </p:txBody>
        </p:sp>
      </p:grpSp>
    </p:spTree>
    <p:extLst>
      <p:ext uri="{BB962C8B-B14F-4D97-AF65-F5344CB8AC3E}">
        <p14:creationId xmlns:p14="http://schemas.microsoft.com/office/powerpoint/2010/main" val="24798103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089" y="2034073"/>
            <a:ext cx="4351337" cy="3146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8461" y="2034073"/>
            <a:ext cx="5345545" cy="34453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5" name="组合 4"/>
          <p:cNvGrpSpPr/>
          <p:nvPr/>
        </p:nvGrpSpPr>
        <p:grpSpPr>
          <a:xfrm>
            <a:off x="773415" y="600277"/>
            <a:ext cx="4944140"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7" name="平行四边形 6"/>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8" name="矩形 7"/>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 决策树</a:t>
              </a:r>
            </a:p>
          </p:txBody>
        </p:sp>
      </p:grpSp>
      <p:sp>
        <p:nvSpPr>
          <p:cNvPr id="9" name="矩形 8"/>
          <p:cNvSpPr/>
          <p:nvPr/>
        </p:nvSpPr>
        <p:spPr>
          <a:xfrm>
            <a:off x="599201" y="5674672"/>
            <a:ext cx="10236707" cy="646331"/>
          </a:xfrm>
          <a:prstGeom prst="rect">
            <a:avLst/>
          </a:prstGeom>
        </p:spPr>
        <p:txBody>
          <a:bodyPr wrap="square">
            <a:spAutoFit/>
          </a:bodyPr>
          <a:lstStyle/>
          <a:p>
            <a:pPr marL="342900" indent="-360000">
              <a:lnSpc>
                <a:spcPct val="200000"/>
              </a:lnSpc>
              <a:spcBef>
                <a:spcPct val="20000"/>
              </a:spcBef>
              <a:buFontTx/>
              <a:buChar char="•"/>
              <a:defRPr/>
            </a:pPr>
            <a:r>
              <a:rPr lang="zh-CN" altLang="en-US" kern="0" dirty="0">
                <a:solidFill>
                  <a:srgbClr val="0070C0"/>
                </a:solidFill>
              </a:rPr>
              <a:t>目标</a:t>
            </a:r>
            <a:r>
              <a:rPr lang="en-US" altLang="zh-CN" kern="0" dirty="0"/>
              <a:t>: </a:t>
            </a:r>
            <a:r>
              <a:rPr lang="zh-CN" altLang="en-US" kern="0" dirty="0"/>
              <a:t>找到和训练集一致的</a:t>
            </a:r>
            <a:r>
              <a:rPr lang="zh-CN" altLang="en-US" kern="0" dirty="0">
                <a:solidFill>
                  <a:srgbClr val="FF0000"/>
                </a:solidFill>
              </a:rPr>
              <a:t>较小的树</a:t>
            </a:r>
            <a:r>
              <a:rPr lang="zh-CN" altLang="en-US" kern="0" dirty="0"/>
              <a:t>（树中所有的路径都佷短，整棵树的规模比较小）</a:t>
            </a:r>
            <a:endParaRPr lang="en-US" altLang="zh-CN" kern="0" dirty="0"/>
          </a:p>
        </p:txBody>
      </p:sp>
    </p:spTree>
    <p:extLst>
      <p:ext uri="{BB962C8B-B14F-4D97-AF65-F5344CB8AC3E}">
        <p14:creationId xmlns:p14="http://schemas.microsoft.com/office/powerpoint/2010/main" val="166871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908180" y="1390260"/>
            <a:ext cx="10605796" cy="4865712"/>
          </a:xfrm>
          <a:prstGeom prst="rect">
            <a:avLst/>
          </a:prstGeom>
        </p:spPr>
        <p:txBody>
          <a:bodyPr/>
          <a:lstStyle/>
          <a:p>
            <a:pPr marL="342900" indent="-360000">
              <a:lnSpc>
                <a:spcPct val="200000"/>
              </a:lnSpc>
              <a:spcBef>
                <a:spcPct val="20000"/>
              </a:spcBef>
              <a:buFontTx/>
              <a:buChar char="•"/>
              <a:defRPr/>
            </a:pPr>
            <a:r>
              <a:rPr lang="zh-CN" altLang="en-US" sz="2600" kern="0" dirty="0">
                <a:solidFill>
                  <a:srgbClr val="0070C0"/>
                </a:solidFill>
                <a:latin typeface="+mn-lt"/>
              </a:rPr>
              <a:t>目标</a:t>
            </a:r>
            <a:r>
              <a:rPr lang="en-US" altLang="zh-CN" sz="2600" kern="0" dirty="0">
                <a:latin typeface="+mn-lt"/>
              </a:rPr>
              <a:t>: </a:t>
            </a:r>
            <a:r>
              <a:rPr lang="zh-CN" altLang="en-US" sz="2600" kern="0" dirty="0">
                <a:latin typeface="+mn-lt"/>
              </a:rPr>
              <a:t>找到和训练集一致的</a:t>
            </a:r>
            <a:r>
              <a:rPr lang="zh-CN" altLang="en-US" sz="2600" kern="0" dirty="0">
                <a:solidFill>
                  <a:srgbClr val="FF0000"/>
                </a:solidFill>
                <a:latin typeface="+mn-lt"/>
              </a:rPr>
              <a:t>较小的树</a:t>
            </a:r>
            <a:r>
              <a:rPr lang="zh-CN" altLang="en-US" sz="2600" kern="0" dirty="0">
                <a:latin typeface="+mn-lt"/>
              </a:rPr>
              <a:t>（树中所有的路径都佷短，整棵树的规模比较小）</a:t>
            </a:r>
            <a:endParaRPr lang="en-US" altLang="zh-CN" sz="2600" kern="0" dirty="0">
              <a:latin typeface="+mn-lt"/>
            </a:endParaRPr>
          </a:p>
          <a:p>
            <a:pPr marL="342900" indent="-360000">
              <a:lnSpc>
                <a:spcPct val="200000"/>
              </a:lnSpc>
              <a:spcBef>
                <a:spcPct val="20000"/>
              </a:spcBef>
              <a:buFontTx/>
              <a:buChar char="•"/>
              <a:defRPr/>
            </a:pPr>
            <a:r>
              <a:rPr lang="zh-CN" altLang="en-US" sz="2600" kern="0" dirty="0">
                <a:solidFill>
                  <a:srgbClr val="0070C0"/>
                </a:solidFill>
                <a:latin typeface="+mn-lt"/>
              </a:rPr>
              <a:t>思想</a:t>
            </a:r>
            <a:r>
              <a:rPr lang="en-US" altLang="zh-CN" sz="2600" kern="0" dirty="0">
                <a:latin typeface="+mn-lt"/>
              </a:rPr>
              <a:t>: </a:t>
            </a:r>
            <a:r>
              <a:rPr lang="zh-CN" altLang="en-US" sz="2600" u="sng" kern="0" dirty="0">
                <a:latin typeface="+mn-lt"/>
              </a:rPr>
              <a:t>递归地选择“</a:t>
            </a:r>
            <a:r>
              <a:rPr lang="zh-CN" altLang="en-US" sz="2600" u="sng" kern="0" dirty="0">
                <a:solidFill>
                  <a:srgbClr val="FF0000"/>
                </a:solidFill>
                <a:latin typeface="+mn-lt"/>
              </a:rPr>
              <a:t>最好</a:t>
            </a:r>
            <a:r>
              <a:rPr lang="zh-CN" altLang="en-US" sz="2600" u="sng" kern="0" dirty="0">
                <a:latin typeface="+mn-lt"/>
              </a:rPr>
              <a:t>”的属性作为树或子树的根</a:t>
            </a:r>
            <a:r>
              <a:rPr lang="zh-CN" altLang="en-US" sz="2600" kern="0" dirty="0">
                <a:latin typeface="+mn-lt"/>
              </a:rPr>
              <a:t>，通过较少数量的测试就能得到正确的分类</a:t>
            </a:r>
            <a:endParaRPr lang="en-US" altLang="zh-CN" sz="2600" kern="0" dirty="0">
              <a:latin typeface="+mn-lt"/>
            </a:endParaRPr>
          </a:p>
          <a:p>
            <a:pPr marL="342900" indent="-360000">
              <a:lnSpc>
                <a:spcPct val="200000"/>
              </a:lnSpc>
              <a:spcBef>
                <a:spcPct val="20000"/>
              </a:spcBef>
              <a:buFontTx/>
              <a:buChar char="•"/>
              <a:defRPr/>
            </a:pPr>
            <a:r>
              <a:rPr lang="en-US" altLang="zh-CN" sz="2600" kern="0" dirty="0">
                <a:solidFill>
                  <a:srgbClr val="0070C0"/>
                </a:solidFill>
                <a:latin typeface="+mn-lt"/>
              </a:rPr>
              <a:t>“</a:t>
            </a:r>
            <a:r>
              <a:rPr lang="zh-CN" altLang="en-US" sz="2600" kern="0" dirty="0">
                <a:solidFill>
                  <a:srgbClr val="0070C0"/>
                </a:solidFill>
                <a:latin typeface="+mn-lt"/>
              </a:rPr>
              <a:t>最好</a:t>
            </a:r>
            <a:r>
              <a:rPr lang="en-US" altLang="zh-CN" sz="2600" kern="0" dirty="0">
                <a:solidFill>
                  <a:srgbClr val="0070C0"/>
                </a:solidFill>
                <a:latin typeface="+mn-lt"/>
              </a:rPr>
              <a:t>”</a:t>
            </a:r>
            <a:r>
              <a:rPr lang="zh-CN" altLang="en-US" sz="2600" kern="0" dirty="0">
                <a:solidFill>
                  <a:srgbClr val="FF0000"/>
                </a:solidFill>
                <a:latin typeface="+mn-lt"/>
              </a:rPr>
              <a:t>：分类能力最好</a:t>
            </a:r>
            <a:endParaRPr lang="en-US" altLang="zh-CN" sz="2600" kern="0" dirty="0">
              <a:solidFill>
                <a:srgbClr val="FF0000"/>
              </a:solidFill>
              <a:latin typeface="+mn-lt"/>
            </a:endParaRPr>
          </a:p>
        </p:txBody>
      </p:sp>
      <p:grpSp>
        <p:nvGrpSpPr>
          <p:cNvPr id="4" name="组合 3"/>
          <p:cNvGrpSpPr/>
          <p:nvPr/>
        </p:nvGrpSpPr>
        <p:grpSpPr>
          <a:xfrm>
            <a:off x="773415" y="600277"/>
            <a:ext cx="4944140" cy="497934"/>
            <a:chOff x="4099943" y="2819853"/>
            <a:chExt cx="2570275" cy="497934"/>
          </a:xfrm>
        </p:grpSpPr>
        <p:sp>
          <p:nvSpPr>
            <p:cNvPr id="5" name="平行四边形 4"/>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sp>
        <p:nvSpPr>
          <p:cNvPr id="2" name="文本框 1"/>
          <p:cNvSpPr txBox="1"/>
          <p:nvPr/>
        </p:nvSpPr>
        <p:spPr>
          <a:xfrm>
            <a:off x="2198255" y="6025139"/>
            <a:ext cx="4424218" cy="461665"/>
          </a:xfrm>
          <a:prstGeom prst="rect">
            <a:avLst/>
          </a:prstGeom>
          <a:noFill/>
        </p:spPr>
        <p:txBody>
          <a:bodyPr wrap="square" rtlCol="0">
            <a:spAutoFit/>
          </a:bodyPr>
          <a:lstStyle/>
          <a:p>
            <a:r>
              <a:rPr lang="en-US" altLang="zh-CN" sz="2400" dirty="0">
                <a:solidFill>
                  <a:srgbClr val="FF0000"/>
                </a:solidFill>
              </a:rPr>
              <a:t>Q: </a:t>
            </a:r>
            <a:r>
              <a:rPr lang="zh-CN" altLang="en-US" sz="2400" dirty="0">
                <a:solidFill>
                  <a:srgbClr val="FF0000"/>
                </a:solidFill>
              </a:rPr>
              <a:t>如何对属性的好坏进行度量？</a:t>
            </a:r>
          </a:p>
        </p:txBody>
      </p:sp>
    </p:spTree>
    <p:extLst>
      <p:ext uri="{BB962C8B-B14F-4D97-AF65-F5344CB8AC3E}">
        <p14:creationId xmlns:p14="http://schemas.microsoft.com/office/powerpoint/2010/main" val="3402726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533400" y="1390524"/>
            <a:ext cx="10972800" cy="4525963"/>
          </a:xfrm>
          <a:prstGeom prst="rect">
            <a:avLst/>
          </a:prstGeom>
        </p:spPr>
        <p:txBody>
          <a:bodyPr/>
          <a:lstStyle/>
          <a:p>
            <a:pPr marL="342900" indent="-342900">
              <a:lnSpc>
                <a:spcPct val="120000"/>
              </a:lnSpc>
              <a:spcBef>
                <a:spcPct val="20000"/>
              </a:spcBef>
              <a:buFontTx/>
              <a:buChar char="•"/>
              <a:defRPr/>
            </a:pPr>
            <a:r>
              <a:rPr lang="zh-CN" altLang="en-US" sz="2800" kern="0" dirty="0">
                <a:solidFill>
                  <a:srgbClr val="FF0000"/>
                </a:solidFill>
                <a:latin typeface="+mn-lt"/>
              </a:rPr>
              <a:t>思想</a:t>
            </a:r>
            <a:r>
              <a:rPr lang="en-US" altLang="zh-CN" sz="2800" kern="0" dirty="0">
                <a:latin typeface="+mn-lt"/>
              </a:rPr>
              <a:t>: </a:t>
            </a:r>
            <a:r>
              <a:rPr lang="zh-CN" altLang="en-US" sz="2800" kern="0" dirty="0">
                <a:latin typeface="+mn-lt"/>
              </a:rPr>
              <a:t>理想的属性是将实例分为只包含正例或只包含反例的集合</a:t>
            </a:r>
            <a:endParaRPr lang="en-US" altLang="zh-CN" sz="2800" kern="0" dirty="0">
              <a:latin typeface="+mn-lt"/>
            </a:endParaRPr>
          </a:p>
          <a:p>
            <a:pPr marL="342900" indent="-342900">
              <a:spcBef>
                <a:spcPct val="20000"/>
              </a:spcBef>
              <a:buFontTx/>
              <a:buChar char="•"/>
              <a:defRPr/>
            </a:pPr>
            <a:endParaRPr lang="en-US" altLang="zh-CN" sz="2400" kern="0" dirty="0">
              <a:latin typeface="+mn-lt"/>
            </a:endParaRPr>
          </a:p>
          <a:p>
            <a:pPr marL="342900" indent="-342900">
              <a:spcBef>
                <a:spcPct val="20000"/>
              </a:spcBef>
              <a:defRPr/>
            </a:pPr>
            <a:r>
              <a:rPr lang="en-US" altLang="zh-CN" sz="2400" kern="0" dirty="0">
                <a:latin typeface="+mn-lt"/>
              </a:rPr>
              <a:t>
</a:t>
            </a:r>
          </a:p>
          <a:p>
            <a:pPr marL="342900" indent="-342900">
              <a:spcBef>
                <a:spcPct val="20000"/>
              </a:spcBef>
              <a:defRPr/>
            </a:pPr>
            <a:endParaRPr lang="en-US" altLang="zh-CN" sz="2400" kern="0" dirty="0">
              <a:latin typeface="+mn-lt"/>
            </a:endParaRPr>
          </a:p>
          <a:p>
            <a:pPr marL="342900" indent="-342900">
              <a:spcBef>
                <a:spcPct val="20000"/>
              </a:spcBef>
              <a:defRPr/>
            </a:pPr>
            <a:endParaRPr lang="en-US" altLang="zh-CN" sz="2400" kern="0" dirty="0">
              <a:latin typeface="+mn-lt"/>
            </a:endParaRPr>
          </a:p>
          <a:p>
            <a:pPr marL="342900" indent="-342900">
              <a:spcBef>
                <a:spcPct val="20000"/>
              </a:spcBef>
              <a:defRPr/>
            </a:pPr>
            <a:endParaRPr lang="en-US" altLang="zh-CN" sz="2400" kern="0" dirty="0">
              <a:latin typeface="+mn-lt"/>
            </a:endParaRPr>
          </a:p>
          <a:p>
            <a:pPr marL="342900" indent="-342900">
              <a:spcBef>
                <a:spcPct val="20000"/>
              </a:spcBef>
              <a:defRPr/>
            </a:pPr>
            <a:endParaRPr lang="en-US" altLang="zh-CN" sz="2400" kern="0" dirty="0">
              <a:latin typeface="+mn-lt"/>
            </a:endParaRPr>
          </a:p>
        </p:txBody>
      </p:sp>
      <p:pic>
        <p:nvPicPr>
          <p:cNvPr id="4" name="Picture 4" descr="restaurant-roots"/>
          <p:cNvPicPr>
            <a:picLocks noChangeAspect="1" noChangeArrowheads="1"/>
          </p:cNvPicPr>
          <p:nvPr/>
        </p:nvPicPr>
        <p:blipFill>
          <a:blip r:embed="rId2" cstate="print"/>
          <a:srcRect/>
          <a:stretch>
            <a:fillRect/>
          </a:stretch>
        </p:blipFill>
        <p:spPr bwMode="auto">
          <a:xfrm>
            <a:off x="4282751" y="2335275"/>
            <a:ext cx="6966776" cy="1660403"/>
          </a:xfrm>
          <a:prstGeom prst="rect">
            <a:avLst/>
          </a:prstGeom>
          <a:noFill/>
          <a:ln w="9525">
            <a:noFill/>
            <a:miter lim="800000"/>
            <a:headEnd/>
            <a:tailEnd/>
          </a:ln>
        </p:spPr>
      </p:pic>
      <p:grpSp>
        <p:nvGrpSpPr>
          <p:cNvPr id="5" name="组合 4"/>
          <p:cNvGrpSpPr/>
          <p:nvPr/>
        </p:nvGrpSpPr>
        <p:grpSpPr>
          <a:xfrm>
            <a:off x="773415" y="600277"/>
            <a:ext cx="4944140" cy="497934"/>
            <a:chOff x="4099943" y="2819853"/>
            <a:chExt cx="2570275" cy="497934"/>
          </a:xfrm>
        </p:grpSpPr>
        <p:sp>
          <p:nvSpPr>
            <p:cNvPr id="6" name="平行四边形 5"/>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平行四边形 6"/>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8" name="矩形 7"/>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sp>
        <p:nvSpPr>
          <p:cNvPr id="10" name="矩形 9"/>
          <p:cNvSpPr/>
          <p:nvPr/>
        </p:nvSpPr>
        <p:spPr>
          <a:xfrm>
            <a:off x="458754" y="4247605"/>
            <a:ext cx="11549744" cy="2308324"/>
          </a:xfrm>
          <a:prstGeom prst="rect">
            <a:avLst/>
          </a:prstGeom>
        </p:spPr>
        <p:txBody>
          <a:bodyPr wrap="square">
            <a:spAutoFit/>
          </a:bodyPr>
          <a:lstStyle/>
          <a:p>
            <a:pPr marL="342900" indent="-342900" algn="just" fontAlgn="auto">
              <a:lnSpc>
                <a:spcPct val="150000"/>
              </a:lnSpc>
              <a:spcAft>
                <a:spcPts val="0"/>
              </a:spcAft>
              <a:buFont typeface="Wingdings" panose="05000000000000000000" charset="0"/>
              <a:buChar char="Ø"/>
            </a:pPr>
            <a:r>
              <a:rPr lang="zh-CN" altLang="en-US" sz="2400" dirty="0">
                <a:latin typeface="+mj-ea"/>
                <a:cs typeface="华文楷体" panose="02010600040101010101" pitchFamily="2" charset="-122"/>
                <a:sym typeface="+mn-ea"/>
              </a:rPr>
              <a:t>信息熵（</a:t>
            </a:r>
            <a:r>
              <a:rPr lang="en-GB" altLang="zh-CN" sz="2400" dirty="0">
                <a:latin typeface="+mj-ea"/>
                <a:cs typeface="华文楷体" panose="02010600040101010101" pitchFamily="2" charset="-122"/>
                <a:sym typeface="+mn-ea"/>
              </a:rPr>
              <a:t>entropy</a:t>
            </a:r>
            <a:r>
              <a:rPr lang="zh-CN" altLang="en-GB" sz="2400" dirty="0">
                <a:latin typeface="+mj-ea"/>
                <a:cs typeface="华文楷体" panose="02010600040101010101" pitchFamily="2" charset="-122"/>
                <a:sym typeface="+mn-ea"/>
              </a:rPr>
              <a:t>）</a:t>
            </a:r>
            <a:endParaRPr lang="en-US" altLang="zh-CN" sz="2400" dirty="0">
              <a:latin typeface="+mj-ea"/>
              <a:cs typeface="华文楷体" panose="02010600040101010101" pitchFamily="2" charset="-122"/>
            </a:endParaRPr>
          </a:p>
          <a:p>
            <a:pPr marL="742950" lvl="1" indent="-285750" fontAlgn="auto">
              <a:lnSpc>
                <a:spcPct val="150000"/>
              </a:lnSpc>
              <a:buFont typeface="Arial" panose="020B0604020202020204" pitchFamily="34" charset="0"/>
              <a:buChar char="•"/>
            </a:pPr>
            <a:r>
              <a:rPr lang="zh-CN" altLang="en-US" sz="2400" dirty="0">
                <a:latin typeface="+mj-ea"/>
                <a:cs typeface="华文楷体" panose="02010600040101010101" pitchFamily="2" charset="-122"/>
                <a:sym typeface="+mn-ea"/>
              </a:rPr>
              <a:t>信息熵越大，说明集合的不确定性越大</a:t>
            </a:r>
            <a:endParaRPr lang="en-US" altLang="zh-CN" sz="2400" dirty="0">
              <a:latin typeface="+mj-ea"/>
              <a:cs typeface="华文楷体" panose="02010600040101010101" pitchFamily="2" charset="-122"/>
            </a:endParaRPr>
          </a:p>
          <a:p>
            <a:pPr marL="742950" lvl="1" indent="-285750" fontAlgn="auto">
              <a:lnSpc>
                <a:spcPct val="150000"/>
              </a:lnSpc>
              <a:buFont typeface="Arial" panose="020B0604020202020204" pitchFamily="34" charset="0"/>
              <a:buChar char="•"/>
            </a:pPr>
            <a:r>
              <a:rPr lang="zh-CN" altLang="en-US" sz="2400" dirty="0">
                <a:latin typeface="+mj-ea"/>
                <a:cs typeface="华文楷体" panose="02010600040101010101" pitchFamily="2" charset="-122"/>
                <a:sym typeface="+mn-ea"/>
              </a:rPr>
              <a:t>选择属性划分样本集前后信息熵的减少量被称为</a:t>
            </a:r>
            <a:r>
              <a:rPr lang="zh-CN" altLang="en-US" sz="2400" dirty="0">
                <a:solidFill>
                  <a:srgbClr val="FF0000"/>
                </a:solidFill>
                <a:latin typeface="+mj-ea"/>
                <a:cs typeface="华文楷体" panose="02010600040101010101" pitchFamily="2" charset="-122"/>
                <a:sym typeface="+mn-ea"/>
              </a:rPr>
              <a:t>信息增益（</a:t>
            </a:r>
            <a:r>
              <a:rPr lang="en-GB" altLang="zh-CN" sz="2400" dirty="0">
                <a:solidFill>
                  <a:srgbClr val="FF0000"/>
                </a:solidFill>
                <a:latin typeface="+mj-ea"/>
                <a:cs typeface="华文楷体" panose="02010600040101010101" pitchFamily="2" charset="-122"/>
                <a:sym typeface="+mn-ea"/>
              </a:rPr>
              <a:t>information gain</a:t>
            </a:r>
            <a:r>
              <a:rPr lang="zh-CN" altLang="en-GB" sz="2400" dirty="0">
                <a:solidFill>
                  <a:srgbClr val="FF0000"/>
                </a:solidFill>
                <a:latin typeface="+mj-ea"/>
                <a:cs typeface="华文楷体" panose="02010600040101010101" pitchFamily="2" charset="-122"/>
                <a:sym typeface="+mn-ea"/>
              </a:rPr>
              <a:t>）</a:t>
            </a:r>
            <a:endParaRPr lang="en-US" altLang="zh-CN" sz="2400" dirty="0">
              <a:solidFill>
                <a:srgbClr val="FF0000"/>
              </a:solidFill>
              <a:latin typeface="+mj-ea"/>
              <a:cs typeface="华文楷体" panose="02010600040101010101" pitchFamily="2" charset="-122"/>
            </a:endParaRPr>
          </a:p>
          <a:p>
            <a:pPr lvl="2" fontAlgn="auto">
              <a:lnSpc>
                <a:spcPct val="150000"/>
              </a:lnSpc>
            </a:pPr>
            <a:r>
              <a:rPr lang="zh-CN" altLang="en-US" sz="2400" dirty="0">
                <a:latin typeface="+mj-ea"/>
                <a:cs typeface="华文楷体" panose="02010600040101010101" pitchFamily="2" charset="-122"/>
                <a:sym typeface="+mn-ea"/>
              </a:rPr>
              <a:t>描述了样本集合复杂度（不确定性）所减少的程度</a:t>
            </a:r>
            <a:endParaRPr lang="zh-CN" altLang="en-US" sz="2400" dirty="0">
              <a:latin typeface="+mj-ea"/>
              <a:cs typeface="华文楷体" panose="02010600040101010101" pitchFamily="2" charset="-122"/>
            </a:endParaRPr>
          </a:p>
        </p:txBody>
      </p:sp>
    </p:spTree>
    <p:extLst>
      <p:ext uri="{BB962C8B-B14F-4D97-AF65-F5344CB8AC3E}">
        <p14:creationId xmlns:p14="http://schemas.microsoft.com/office/powerpoint/2010/main" val="35340687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27" name="Rectangle 3"/>
          <p:cNvSpPr>
            <a:spLocks noGrp="1" noChangeArrowheads="1"/>
          </p:cNvSpPr>
          <p:nvPr>
            <p:ph idx="1"/>
          </p:nvPr>
        </p:nvSpPr>
        <p:spPr>
          <a:xfrm>
            <a:off x="457200" y="1295400"/>
            <a:ext cx="10668000" cy="4946650"/>
          </a:xfrm>
        </p:spPr>
        <p:txBody>
          <a:bodyPr>
            <a:normAutofit lnSpcReduction="10000"/>
          </a:bodyPr>
          <a:lstStyle/>
          <a:p>
            <a:pPr>
              <a:lnSpc>
                <a:spcPct val="150000"/>
              </a:lnSpc>
            </a:pPr>
            <a:r>
              <a:rPr lang="zh-CN" altLang="en-US" sz="2000" dirty="0">
                <a:solidFill>
                  <a:schemeClr val="tx1"/>
                </a:solidFill>
              </a:rPr>
              <a:t>熵是信息论中的基本量（</a:t>
            </a:r>
            <a:r>
              <a:rPr lang="en-US" altLang="zh-CN" sz="2000" dirty="0">
                <a:solidFill>
                  <a:schemeClr val="tx1"/>
                </a:solidFill>
              </a:rPr>
              <a:t>Shannon, Weaver,1949</a:t>
            </a:r>
            <a:r>
              <a:rPr lang="zh-CN" altLang="en-US" sz="2000" dirty="0">
                <a:solidFill>
                  <a:schemeClr val="tx1"/>
                </a:solidFill>
              </a:rPr>
              <a:t>）</a:t>
            </a:r>
            <a:endParaRPr lang="en-US" altLang="zh-CN" sz="2000" dirty="0">
              <a:solidFill>
                <a:schemeClr val="tx1"/>
              </a:solidFill>
            </a:endParaRPr>
          </a:p>
          <a:p>
            <a:pPr lvl="1">
              <a:lnSpc>
                <a:spcPct val="150000"/>
              </a:lnSpc>
            </a:pPr>
            <a:r>
              <a:rPr lang="zh-CN" altLang="en-US" sz="2000" dirty="0">
                <a:solidFill>
                  <a:srgbClr val="FF0000"/>
                </a:solidFill>
              </a:rPr>
              <a:t>熵是随机变量的不确定性度量</a:t>
            </a:r>
            <a:endParaRPr lang="en-US" altLang="zh-CN" sz="2000" dirty="0">
              <a:solidFill>
                <a:srgbClr val="FF0000"/>
              </a:solidFill>
            </a:endParaRPr>
          </a:p>
          <a:p>
            <a:pPr lvl="1">
              <a:lnSpc>
                <a:spcPct val="150000"/>
              </a:lnSpc>
            </a:pPr>
            <a:r>
              <a:rPr lang="en-US" sz="2000" dirty="0">
                <a:solidFill>
                  <a:srgbClr val="FF0000"/>
                </a:solidFill>
              </a:rPr>
              <a:t>Scale: bits</a:t>
            </a:r>
          </a:p>
          <a:p>
            <a:pPr lvl="1">
              <a:lnSpc>
                <a:spcPct val="150000"/>
              </a:lnSpc>
            </a:pPr>
            <a:endParaRPr lang="en-US" sz="2000" dirty="0">
              <a:solidFill>
                <a:srgbClr val="FF0000"/>
              </a:solidFill>
            </a:endParaRPr>
          </a:p>
          <a:p>
            <a:pPr lvl="1">
              <a:lnSpc>
                <a:spcPct val="150000"/>
              </a:lnSpc>
            </a:pPr>
            <a:endParaRPr lang="en-US" sz="2000" dirty="0">
              <a:solidFill>
                <a:srgbClr val="FF0000"/>
              </a:solidFill>
            </a:endParaRPr>
          </a:p>
          <a:p>
            <a:pPr lvl="2">
              <a:lnSpc>
                <a:spcPct val="150000"/>
              </a:lnSpc>
            </a:pPr>
            <a:endParaRPr lang="en-US" altLang="zh-CN" sz="1800" dirty="0"/>
          </a:p>
          <a:p>
            <a:pPr lvl="2">
              <a:lnSpc>
                <a:spcPct val="150000"/>
              </a:lnSpc>
            </a:pPr>
            <a:r>
              <a:rPr lang="en-US" altLang="zh-CN" sz="1800" dirty="0"/>
              <a:t>Answer to Boolean question with prior &lt;1/2, 1/2&gt;?  </a:t>
            </a:r>
          </a:p>
          <a:p>
            <a:pPr lvl="2">
              <a:lnSpc>
                <a:spcPct val="150000"/>
              </a:lnSpc>
            </a:pPr>
            <a:r>
              <a:rPr lang="en-US" altLang="zh-CN" sz="1800" dirty="0"/>
              <a:t>Answer to 4-way question with prior &lt;1/4, 1/4, 1/4, 1/4&gt;?</a:t>
            </a:r>
          </a:p>
          <a:p>
            <a:pPr lvl="2">
              <a:lnSpc>
                <a:spcPct val="150000"/>
              </a:lnSpc>
            </a:pPr>
            <a:r>
              <a:rPr lang="en-US" altLang="zh-CN" sz="1800" dirty="0"/>
              <a:t>Answer to 4-way question with prior &lt;0, 0, 0, 1&gt;?</a:t>
            </a:r>
          </a:p>
          <a:p>
            <a:pPr lvl="2">
              <a:lnSpc>
                <a:spcPct val="150000"/>
              </a:lnSpc>
            </a:pPr>
            <a:r>
              <a:rPr lang="en-US" altLang="zh-CN" sz="1800" dirty="0"/>
              <a:t>Answer to 3-way question with prior &lt;1/2, 1/4, 1/4&gt;?</a:t>
            </a:r>
            <a:endParaRPr lang="en-US" sz="2000" dirty="0">
              <a:solidFill>
                <a:srgbClr val="FF0000"/>
              </a:solidFill>
            </a:endParaRPr>
          </a:p>
        </p:txBody>
      </p:sp>
      <p:pic>
        <p:nvPicPr>
          <p:cNvPr id="3" name="图片 2">
            <a:extLst>
              <a:ext uri="{FF2B5EF4-FFF2-40B4-BE49-F238E27FC236}">
                <a16:creationId xmlns:a16="http://schemas.microsoft.com/office/drawing/2014/main" id="{4F865875-09DF-4908-B1D8-2A6FEA723360}"/>
              </a:ext>
            </a:extLst>
          </p:cNvPr>
          <p:cNvPicPr>
            <a:picLocks noChangeAspect="1"/>
          </p:cNvPicPr>
          <p:nvPr/>
        </p:nvPicPr>
        <p:blipFill>
          <a:blip r:embed="rId2"/>
          <a:stretch>
            <a:fillRect/>
          </a:stretch>
        </p:blipFill>
        <p:spPr>
          <a:xfrm>
            <a:off x="1300162" y="2971800"/>
            <a:ext cx="8982075" cy="896074"/>
          </a:xfrm>
          <a:prstGeom prst="rect">
            <a:avLst/>
          </a:prstGeom>
        </p:spPr>
      </p:pic>
      <p:pic>
        <p:nvPicPr>
          <p:cNvPr id="5"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2539" y="4251254"/>
            <a:ext cx="2519253" cy="2539652"/>
          </a:xfrm>
          <a:prstGeom prst="rect">
            <a:avLst/>
          </a:prstGeom>
        </p:spPr>
      </p:pic>
      <p:grpSp>
        <p:nvGrpSpPr>
          <p:cNvPr id="7" name="组合 6"/>
          <p:cNvGrpSpPr/>
          <p:nvPr/>
        </p:nvGrpSpPr>
        <p:grpSpPr>
          <a:xfrm>
            <a:off x="773415" y="600277"/>
            <a:ext cx="4944140" cy="497934"/>
            <a:chOff x="4099943" y="2819853"/>
            <a:chExt cx="2570275" cy="497934"/>
          </a:xfrm>
        </p:grpSpPr>
        <p:sp>
          <p:nvSpPr>
            <p:cNvPr id="8" name="平行四边形 7"/>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9" name="平行四边形 8"/>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0" name="矩形 9"/>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决策树</a:t>
              </a:r>
            </a:p>
          </p:txBody>
        </p:sp>
      </p:grpSp>
    </p:spTree>
    <p:extLst>
      <p:ext uri="{BB962C8B-B14F-4D97-AF65-F5344CB8AC3E}">
        <p14:creationId xmlns:p14="http://schemas.microsoft.com/office/powerpoint/2010/main" val="13583609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2400"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2400" dirty="0">
                <a:latin typeface="+mj-ea"/>
                <a:ea typeface="+mj-ea"/>
              </a:endParaRPr>
            </a:p>
          </p:txBody>
        </p:sp>
        <p:sp>
          <p:nvSpPr>
            <p:cNvPr id="24" name="矩形 23"/>
            <p:cNvSpPr/>
            <p:nvPr/>
          </p:nvSpPr>
          <p:spPr>
            <a:xfrm>
              <a:off x="4216534" y="2853798"/>
              <a:ext cx="2359684" cy="461665"/>
            </a:xfrm>
            <a:prstGeom prst="rect">
              <a:avLst/>
            </a:prstGeom>
            <a:ln>
              <a:noFill/>
            </a:ln>
          </p:spPr>
          <p:txBody>
            <a:bodyPr wrap="square">
              <a:spAutoFit/>
            </a:bodyPr>
            <a:lstStyle/>
            <a:p>
              <a:pPr algn="ctr">
                <a:spcBef>
                  <a:spcPct val="50000"/>
                </a:spcBef>
              </a:pPr>
              <a:r>
                <a:rPr lang="zh-CN" altLang="en-US" sz="24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mc:AlternateContent xmlns:mc="http://schemas.openxmlformats.org/markup-compatibility/2006" xmlns:a14="http://schemas.microsoft.com/office/drawing/2010/main">
        <mc:Choice Requires="a14">
          <p:sp>
            <p:nvSpPr>
              <p:cNvPr id="9" name="矩形 8"/>
              <p:cNvSpPr/>
              <p:nvPr/>
            </p:nvSpPr>
            <p:spPr>
              <a:xfrm>
                <a:off x="773414" y="1373899"/>
                <a:ext cx="10848609" cy="3531480"/>
              </a:xfrm>
              <a:prstGeom prst="rect">
                <a:avLst/>
              </a:prstGeom>
            </p:spPr>
            <p:txBody>
              <a:bodyPr wrap="square">
                <a:spAutoFit/>
              </a:bodyPr>
              <a:lstStyle/>
              <a:p>
                <a:pPr indent="266700" algn="just">
                  <a:lnSpc>
                    <a:spcPct val="150000"/>
                  </a:lnSpc>
                  <a:spcAft>
                    <a:spcPts val="0"/>
                  </a:spcAft>
                </a:pPr>
                <a:r>
                  <a:rPr lang="zh-CN" altLang="zh-CN" sz="2400" dirty="0">
                    <a:solidFill>
                      <a:srgbClr val="000000"/>
                    </a:solidFill>
                    <a:latin typeface="+mj-ea"/>
                    <a:ea typeface="+mj-ea"/>
                    <a:cs typeface="Times New Roman" panose="02020603050405020304" pitchFamily="18" charset="0"/>
                  </a:rPr>
                  <a:t>假设有</a:t>
                </a:r>
                <a14:m>
                  <m:oMath xmlns:m="http://schemas.openxmlformats.org/officeDocument/2006/math">
                    <m:r>
                      <a:rPr lang="en-US" altLang="zh-CN" sz="2400" i="1">
                        <a:solidFill>
                          <a:srgbClr val="000000"/>
                        </a:solidFill>
                        <a:latin typeface="Cambria Math" panose="02040503050406030204" pitchFamily="18" charset="0"/>
                        <a:ea typeface="+mj-ea"/>
                        <a:cs typeface="Times New Roman" panose="02020603050405020304" pitchFamily="18" charset="0"/>
                      </a:rPr>
                      <m:t>𝐾</m:t>
                    </m:r>
                  </m:oMath>
                </a14:m>
                <a:r>
                  <a:rPr lang="zh-CN" altLang="zh-CN" sz="2400" dirty="0">
                    <a:solidFill>
                      <a:srgbClr val="000000"/>
                    </a:solidFill>
                    <a:latin typeface="+mj-ea"/>
                    <a:ea typeface="+mj-ea"/>
                    <a:cs typeface="Times New Roman" panose="02020603050405020304" pitchFamily="18" charset="0"/>
                  </a:rPr>
                  <a:t>个信息，其组成了集合样本</a:t>
                </a:r>
                <a14:m>
                  <m:oMath xmlns:m="http://schemas.openxmlformats.org/officeDocument/2006/math">
                    <m:r>
                      <a:rPr lang="en-US" altLang="zh-CN" sz="2400" i="1">
                        <a:solidFill>
                          <a:srgbClr val="000000"/>
                        </a:solidFill>
                        <a:latin typeface="Cambria Math" panose="02040503050406030204" pitchFamily="18" charset="0"/>
                        <a:ea typeface="+mj-ea"/>
                        <a:cs typeface="Times New Roman" panose="02020603050405020304" pitchFamily="18" charset="0"/>
                      </a:rPr>
                      <m:t>𝐷</m:t>
                    </m:r>
                  </m:oMath>
                </a14:m>
                <a:r>
                  <a:rPr lang="zh-CN" altLang="zh-CN" sz="2400" dirty="0">
                    <a:solidFill>
                      <a:srgbClr val="000000"/>
                    </a:solidFill>
                    <a:latin typeface="+mj-ea"/>
                    <a:ea typeface="+mj-ea"/>
                    <a:cs typeface="Times New Roman" panose="02020603050405020304" pitchFamily="18" charset="0"/>
                  </a:rPr>
                  <a:t>，记第</a:t>
                </a:r>
                <a14:m>
                  <m:oMath xmlns:m="http://schemas.openxmlformats.org/officeDocument/2006/math">
                    <m:r>
                      <a:rPr lang="en-US" altLang="zh-CN" sz="2400" i="1">
                        <a:solidFill>
                          <a:srgbClr val="000000"/>
                        </a:solidFill>
                        <a:latin typeface="Cambria Math" panose="02040503050406030204" pitchFamily="18" charset="0"/>
                        <a:ea typeface="+mj-ea"/>
                        <a:cs typeface="Times New Roman" panose="02020603050405020304" pitchFamily="18" charset="0"/>
                      </a:rPr>
                      <m:t>𝑘</m:t>
                    </m:r>
                  </m:oMath>
                </a14:m>
                <a:r>
                  <a:rPr lang="zh-CN" altLang="zh-CN" sz="2400" dirty="0">
                    <a:solidFill>
                      <a:srgbClr val="000000"/>
                    </a:solidFill>
                    <a:latin typeface="+mj-ea"/>
                    <a:ea typeface="+mj-ea"/>
                    <a:cs typeface="Times New Roman" panose="02020603050405020304" pitchFamily="18" charset="0"/>
                  </a:rPr>
                  <a:t>个信息发生的概率为</a:t>
                </a:r>
                <a14:m>
                  <m:oMath xmlns:m="http://schemas.openxmlformats.org/officeDocument/2006/math">
                    <m:sSub>
                      <m:sSubPr>
                        <m:ctrlPr>
                          <a:rPr lang="zh-CN" altLang="zh-CN" sz="2400" i="1">
                            <a:solidFill>
                              <a:srgbClr val="000000"/>
                            </a:solidFill>
                            <a:latin typeface="Cambria Math" panose="02040503050406030204" pitchFamily="18" charset="0"/>
                            <a:ea typeface="+mj-ea"/>
                            <a:cs typeface="Times New Roman" panose="02020603050405020304" pitchFamily="18" charset="0"/>
                          </a:rPr>
                        </m:ctrlPr>
                      </m:sSubPr>
                      <m:e>
                        <m:r>
                          <a:rPr lang="en-US" altLang="zh-CN" sz="2400" i="1">
                            <a:solidFill>
                              <a:srgbClr val="000000"/>
                            </a:solidFill>
                            <a:latin typeface="Cambria Math" panose="02040503050406030204" pitchFamily="18" charset="0"/>
                            <a:ea typeface="+mj-ea"/>
                            <a:cs typeface="Times New Roman" panose="02020603050405020304" pitchFamily="18" charset="0"/>
                          </a:rPr>
                          <m:t>𝑝</m:t>
                        </m:r>
                      </m:e>
                      <m:sub>
                        <m:r>
                          <a:rPr lang="en-US" altLang="zh-CN" sz="2400" i="1">
                            <a:solidFill>
                              <a:srgbClr val="000000"/>
                            </a:solidFill>
                            <a:latin typeface="Cambria Math" panose="02040503050406030204" pitchFamily="18" charset="0"/>
                            <a:ea typeface="+mj-ea"/>
                            <a:cs typeface="Times New Roman" panose="02020603050405020304" pitchFamily="18" charset="0"/>
                          </a:rPr>
                          <m:t>𝑘</m:t>
                        </m:r>
                      </m:sub>
                    </m:sSub>
                    <m:r>
                      <a:rPr lang="en-US" altLang="zh-CN" sz="2400">
                        <a:solidFill>
                          <a:srgbClr val="000000"/>
                        </a:solidFill>
                        <a:latin typeface="Cambria Math" panose="02040503050406030204" pitchFamily="18" charset="0"/>
                        <a:ea typeface="+mj-ea"/>
                        <a:cs typeface="Times New Roman" panose="02020603050405020304" pitchFamily="18" charset="0"/>
                      </a:rPr>
                      <m:t>(</m:t>
                    </m:r>
                    <m:r>
                      <a:rPr lang="en-US" altLang="zh-CN" sz="2400" i="1">
                        <a:solidFill>
                          <a:srgbClr val="000000"/>
                        </a:solidFill>
                        <a:latin typeface="Cambria Math" panose="02040503050406030204" pitchFamily="18" charset="0"/>
                        <a:ea typeface="+mj-ea"/>
                        <a:cs typeface="Times New Roman" panose="02020603050405020304" pitchFamily="18" charset="0"/>
                      </a:rPr>
                      <m:t>1≤</m:t>
                    </m:r>
                    <m:r>
                      <a:rPr lang="en-US" altLang="zh-CN" sz="2400" i="1">
                        <a:solidFill>
                          <a:srgbClr val="000000"/>
                        </a:solidFill>
                        <a:latin typeface="Cambria Math" panose="02040503050406030204" pitchFamily="18" charset="0"/>
                        <a:ea typeface="+mj-ea"/>
                        <a:cs typeface="Times New Roman" panose="02020603050405020304" pitchFamily="18" charset="0"/>
                      </a:rPr>
                      <m:t>𝑘</m:t>
                    </m:r>
                    <m:r>
                      <a:rPr lang="en-US" altLang="zh-CN" sz="2400" i="1">
                        <a:solidFill>
                          <a:srgbClr val="000000"/>
                        </a:solidFill>
                        <a:latin typeface="Cambria Math" panose="02040503050406030204" pitchFamily="18" charset="0"/>
                        <a:ea typeface="+mj-ea"/>
                        <a:cs typeface="Times New Roman" panose="02020603050405020304" pitchFamily="18" charset="0"/>
                      </a:rPr>
                      <m:t>≤</m:t>
                    </m:r>
                    <m:r>
                      <a:rPr lang="en-US" altLang="zh-CN" sz="2400" i="1">
                        <a:solidFill>
                          <a:srgbClr val="000000"/>
                        </a:solidFill>
                        <a:latin typeface="Cambria Math" panose="02040503050406030204" pitchFamily="18" charset="0"/>
                        <a:ea typeface="+mj-ea"/>
                        <a:cs typeface="Times New Roman" panose="02020603050405020304" pitchFamily="18" charset="0"/>
                      </a:rPr>
                      <m:t>𝐾</m:t>
                    </m:r>
                    <m:r>
                      <a:rPr lang="en-US" altLang="zh-CN" sz="2400">
                        <a:solidFill>
                          <a:srgbClr val="000000"/>
                        </a:solidFill>
                        <a:latin typeface="Cambria Math" panose="02040503050406030204" pitchFamily="18" charset="0"/>
                        <a:ea typeface="+mj-ea"/>
                        <a:cs typeface="Times New Roman" panose="02020603050405020304" pitchFamily="18" charset="0"/>
                      </a:rPr>
                      <m:t>)</m:t>
                    </m:r>
                  </m:oMath>
                </a14:m>
                <a:r>
                  <a:rPr lang="zh-CN" altLang="zh-CN" sz="2400" dirty="0">
                    <a:solidFill>
                      <a:srgbClr val="000000"/>
                    </a:solidFill>
                    <a:latin typeface="+mj-ea"/>
                    <a:ea typeface="+mj-ea"/>
                    <a:cs typeface="Times New Roman" panose="02020603050405020304" pitchFamily="18" charset="0"/>
                  </a:rPr>
                  <a:t>。如下定义这</a:t>
                </a:r>
                <a14:m>
                  <m:oMath xmlns:m="http://schemas.openxmlformats.org/officeDocument/2006/math">
                    <m:r>
                      <a:rPr lang="en-US" altLang="zh-CN" sz="2400" i="1">
                        <a:solidFill>
                          <a:srgbClr val="000000"/>
                        </a:solidFill>
                        <a:latin typeface="Cambria Math" panose="02040503050406030204" pitchFamily="18" charset="0"/>
                        <a:ea typeface="+mj-ea"/>
                        <a:cs typeface="Times New Roman" panose="02020603050405020304" pitchFamily="18" charset="0"/>
                      </a:rPr>
                      <m:t>𝐾</m:t>
                    </m:r>
                  </m:oMath>
                </a14:m>
                <a:r>
                  <a:rPr lang="zh-CN" altLang="zh-CN" sz="2400" dirty="0">
                    <a:solidFill>
                      <a:srgbClr val="000000"/>
                    </a:solidFill>
                    <a:latin typeface="+mj-ea"/>
                    <a:ea typeface="+mj-ea"/>
                    <a:cs typeface="Times New Roman" panose="02020603050405020304" pitchFamily="18" charset="0"/>
                  </a:rPr>
                  <a:t>个信息的</a:t>
                </a:r>
                <a:r>
                  <a:rPr lang="zh-CN" altLang="zh-CN" sz="2400" b="1" dirty="0">
                    <a:solidFill>
                      <a:srgbClr val="FF0000"/>
                    </a:solidFill>
                    <a:latin typeface="+mj-ea"/>
                    <a:ea typeface="+mj-ea"/>
                    <a:cs typeface="Times New Roman" panose="02020603050405020304" pitchFamily="18" charset="0"/>
                  </a:rPr>
                  <a:t>信息熵</a:t>
                </a:r>
                <a:r>
                  <a:rPr lang="zh-CN" altLang="zh-CN" sz="2400" b="1" dirty="0">
                    <a:solidFill>
                      <a:srgbClr val="000000"/>
                    </a:solidFill>
                    <a:latin typeface="+mj-ea"/>
                    <a:ea typeface="+mj-ea"/>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r>
                        <a:rPr lang="en-US" altLang="zh-CN" sz="2400" i="1" kern="100">
                          <a:solidFill>
                            <a:srgbClr val="000000"/>
                          </a:solidFill>
                          <a:latin typeface="Cambria Math" panose="02040503050406030204" pitchFamily="18" charset="0"/>
                          <a:ea typeface="+mj-ea"/>
                          <a:cs typeface="Times New Roman" panose="02020603050405020304" pitchFamily="18" charset="0"/>
                        </a:rPr>
                        <m:t>𝐸</m:t>
                      </m:r>
                      <m:d>
                        <m:dPr>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dPr>
                        <m:e>
                          <m:r>
                            <a:rPr lang="en-US" altLang="zh-CN" sz="2400" i="1" kern="100">
                              <a:solidFill>
                                <a:srgbClr val="000000"/>
                              </a:solidFill>
                              <a:latin typeface="Cambria Math" panose="02040503050406030204" pitchFamily="18" charset="0"/>
                              <a:ea typeface="+mj-ea"/>
                              <a:cs typeface="Times New Roman" panose="02020603050405020304" pitchFamily="18" charset="0"/>
                            </a:rPr>
                            <m:t>𝐷</m:t>
                          </m:r>
                        </m:e>
                      </m:d>
                      <m:r>
                        <a:rPr lang="en-US" altLang="zh-CN" sz="2400" kern="100">
                          <a:solidFill>
                            <a:srgbClr val="000000"/>
                          </a:solidFill>
                          <a:latin typeface="Cambria Math" panose="02040503050406030204" pitchFamily="18" charset="0"/>
                          <a:ea typeface="+mj-ea"/>
                          <a:cs typeface="Times New Roman" panose="02020603050405020304" pitchFamily="18" charset="0"/>
                        </a:rPr>
                        <m:t>=</m:t>
                      </m:r>
                      <m:r>
                        <a:rPr lang="en-US" altLang="zh-CN" sz="2400" i="1" kern="100">
                          <a:solidFill>
                            <a:srgbClr val="000000"/>
                          </a:solidFill>
                          <a:latin typeface="Cambria Math" panose="02040503050406030204" pitchFamily="18" charset="0"/>
                          <a:ea typeface="+mj-ea"/>
                          <a:cs typeface="Times New Roman" panose="02020603050405020304" pitchFamily="18" charset="0"/>
                        </a:rPr>
                        <m:t>−</m:t>
                      </m:r>
                      <m:nary>
                        <m:naryPr>
                          <m:chr m:val="∑"/>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naryPr>
                        <m:sub>
                          <m:r>
                            <a:rPr lang="en-US" altLang="zh-CN" sz="2400" i="1" kern="100">
                              <a:solidFill>
                                <a:srgbClr val="000000"/>
                              </a:solidFill>
                              <a:latin typeface="Cambria Math" panose="02040503050406030204" pitchFamily="18" charset="0"/>
                              <a:ea typeface="+mj-ea"/>
                              <a:cs typeface="Times New Roman" panose="02020603050405020304" pitchFamily="18" charset="0"/>
                            </a:rPr>
                            <m:t>𝑘</m:t>
                          </m:r>
                          <m:r>
                            <a:rPr lang="en-US" altLang="zh-CN" sz="2400" kern="100">
                              <a:solidFill>
                                <a:srgbClr val="000000"/>
                              </a:solidFill>
                              <a:latin typeface="Cambria Math" panose="02040503050406030204" pitchFamily="18" charset="0"/>
                              <a:ea typeface="+mj-ea"/>
                              <a:cs typeface="Times New Roman" panose="02020603050405020304" pitchFamily="18" charset="0"/>
                            </a:rPr>
                            <m:t>=1</m:t>
                          </m:r>
                        </m:sub>
                        <m:sup>
                          <m:r>
                            <a:rPr lang="en-US" altLang="zh-CN" sz="2400" i="1" kern="100">
                              <a:solidFill>
                                <a:srgbClr val="000000"/>
                              </a:solidFill>
                              <a:latin typeface="Cambria Math" panose="02040503050406030204" pitchFamily="18" charset="0"/>
                              <a:ea typeface="+mj-ea"/>
                              <a:cs typeface="Times New Roman" panose="02020603050405020304" pitchFamily="18" charset="0"/>
                            </a:rPr>
                            <m:t>𝐾</m:t>
                          </m:r>
                        </m:sup>
                        <m:e>
                          <m:sSub>
                            <m:sSubPr>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400" i="1" kern="100">
                                  <a:solidFill>
                                    <a:srgbClr val="000000"/>
                                  </a:solidFill>
                                  <a:latin typeface="Cambria Math" panose="02040503050406030204" pitchFamily="18" charset="0"/>
                                  <a:ea typeface="+mj-ea"/>
                                  <a:cs typeface="Times New Roman" panose="02020603050405020304" pitchFamily="18" charset="0"/>
                                </a:rPr>
                                <m:t>𝑝</m:t>
                              </m:r>
                            </m:e>
                            <m:sub>
                              <m:r>
                                <a:rPr lang="en-US" altLang="zh-CN" sz="2400" i="1" kern="100">
                                  <a:solidFill>
                                    <a:srgbClr val="000000"/>
                                  </a:solidFill>
                                  <a:latin typeface="Cambria Math" panose="02040503050406030204" pitchFamily="18" charset="0"/>
                                  <a:ea typeface="+mj-ea"/>
                                  <a:cs typeface="Times New Roman" panose="02020603050405020304" pitchFamily="18" charset="0"/>
                                </a:rPr>
                                <m:t>𝑘</m:t>
                              </m:r>
                            </m:sub>
                          </m:sSub>
                          <m:func>
                            <m:funcPr>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funcPr>
                            <m:fName>
                              <m:sSub>
                                <m:sSubPr>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sSubPr>
                                <m:e>
                                  <m:r>
                                    <m:rPr>
                                      <m:sty m:val="p"/>
                                    </m:rPr>
                                    <a:rPr lang="en-US" altLang="zh-CN" sz="2400" kern="100">
                                      <a:solidFill>
                                        <a:srgbClr val="000000"/>
                                      </a:solidFill>
                                      <a:latin typeface="Cambria Math" panose="02040503050406030204" pitchFamily="18" charset="0"/>
                                      <a:ea typeface="+mj-ea"/>
                                      <a:cs typeface="Times New Roman" panose="02020603050405020304" pitchFamily="18" charset="0"/>
                                    </a:rPr>
                                    <m:t>log</m:t>
                                  </m:r>
                                </m:e>
                                <m:sub>
                                  <m:r>
                                    <a:rPr lang="en-US" altLang="zh-CN" sz="2400" i="1" kern="100">
                                      <a:solidFill>
                                        <a:srgbClr val="000000"/>
                                      </a:solidFill>
                                      <a:latin typeface="Cambria Math" panose="02040503050406030204" pitchFamily="18" charset="0"/>
                                      <a:ea typeface="+mj-ea"/>
                                      <a:cs typeface="Times New Roman" panose="02020603050405020304" pitchFamily="18" charset="0"/>
                                    </a:rPr>
                                    <m:t>2</m:t>
                                  </m:r>
                                </m:sub>
                              </m:sSub>
                            </m:fName>
                            <m:e>
                              <m:sSub>
                                <m:sSubPr>
                                  <m:ctrlPr>
                                    <a:rPr lang="zh-CN" altLang="zh-CN" sz="2400" i="1" kern="100">
                                      <a:solidFill>
                                        <a:srgbClr val="000000"/>
                                      </a:solidFill>
                                      <a:latin typeface="Cambria Math" panose="02040503050406030204" pitchFamily="18" charset="0"/>
                                      <a:ea typeface="+mj-ea"/>
                                      <a:cs typeface="Times New Roman" panose="02020603050405020304" pitchFamily="18" charset="0"/>
                                    </a:rPr>
                                  </m:ctrlPr>
                                </m:sSubPr>
                                <m:e>
                                  <m:r>
                                    <a:rPr lang="en-US" altLang="zh-CN" sz="2400" i="1" kern="100">
                                      <a:solidFill>
                                        <a:srgbClr val="000000"/>
                                      </a:solidFill>
                                      <a:latin typeface="Cambria Math" panose="02040503050406030204" pitchFamily="18" charset="0"/>
                                      <a:ea typeface="+mj-ea"/>
                                      <a:cs typeface="Times New Roman" panose="02020603050405020304" pitchFamily="18" charset="0"/>
                                    </a:rPr>
                                    <m:t>𝑝</m:t>
                                  </m:r>
                                </m:e>
                                <m:sub>
                                  <m:r>
                                    <a:rPr lang="en-US" altLang="zh-CN" sz="2400" i="1" kern="100">
                                      <a:solidFill>
                                        <a:srgbClr val="000000"/>
                                      </a:solidFill>
                                      <a:latin typeface="Cambria Math" panose="02040503050406030204" pitchFamily="18" charset="0"/>
                                      <a:ea typeface="+mj-ea"/>
                                      <a:cs typeface="Times New Roman" panose="02020603050405020304" pitchFamily="18" charset="0"/>
                                    </a:rPr>
                                    <m:t>𝑘</m:t>
                                  </m:r>
                                </m:sub>
                              </m:sSub>
                            </m:e>
                          </m:func>
                        </m:e>
                      </m:nary>
                      <m:r>
                        <a:rPr lang="en-US" altLang="zh-CN" sz="2400" kern="100">
                          <a:solidFill>
                            <a:srgbClr val="000000"/>
                          </a:solidFill>
                          <a:latin typeface="Cambria Math" panose="02040503050406030204" pitchFamily="18" charset="0"/>
                          <a:ea typeface="+mj-ea"/>
                          <a:cs typeface="Times New Roman" panose="02020603050405020304" pitchFamily="18" charset="0"/>
                        </a:rPr>
                        <m:t> </m:t>
                      </m:r>
                    </m:oMath>
                  </m:oMathPara>
                </a14:m>
                <a:endParaRPr lang="zh-CN" altLang="zh-CN" sz="2400" kern="100" dirty="0">
                  <a:latin typeface="+mj-ea"/>
                  <a:ea typeface="+mj-ea"/>
                  <a:cs typeface="Times New Roman" panose="02020603050405020304" pitchFamily="18" charset="0"/>
                </a:endParaRPr>
              </a:p>
              <a:p>
                <a:pPr indent="266700" algn="just">
                  <a:spcAft>
                    <a:spcPts val="0"/>
                  </a:spcAft>
                </a:pPr>
                <a:endParaRPr lang="en-US" altLang="zh-CN" sz="2400" i="1" dirty="0">
                  <a:solidFill>
                    <a:srgbClr val="000000"/>
                  </a:solidFill>
                  <a:latin typeface="Cambria Math" panose="02040503050406030204" pitchFamily="18" charset="0"/>
                  <a:ea typeface="+mj-ea"/>
                  <a:cs typeface="Times New Roman" panose="02020603050405020304" pitchFamily="18" charset="0"/>
                </a:endParaRPr>
              </a:p>
              <a:p>
                <a:pPr indent="266700" algn="just">
                  <a:spcAft>
                    <a:spcPts val="0"/>
                  </a:spcAft>
                </a:pPr>
                <a14:m>
                  <m:oMath xmlns:m="http://schemas.openxmlformats.org/officeDocument/2006/math">
                    <m:r>
                      <a:rPr lang="en-US" altLang="zh-CN" sz="2400" i="1" smtClean="0">
                        <a:solidFill>
                          <a:srgbClr val="FF0000"/>
                        </a:solidFill>
                        <a:latin typeface="Cambria Math" panose="02040503050406030204" pitchFamily="18" charset="0"/>
                        <a:ea typeface="+mj-ea"/>
                        <a:cs typeface="Times New Roman" panose="02020603050405020304" pitchFamily="18" charset="0"/>
                      </a:rPr>
                      <m:t>𝐸</m:t>
                    </m:r>
                    <m:r>
                      <a:rPr lang="en-US" altLang="zh-CN" sz="2400" i="1" smtClean="0">
                        <a:solidFill>
                          <a:srgbClr val="FF0000"/>
                        </a:solidFill>
                        <a:latin typeface="Cambria Math" panose="02040503050406030204" pitchFamily="18" charset="0"/>
                        <a:ea typeface="+mj-ea"/>
                        <a:cs typeface="Times New Roman" panose="02020603050405020304" pitchFamily="18" charset="0"/>
                      </a:rPr>
                      <m:t>(</m:t>
                    </m:r>
                    <m:r>
                      <a:rPr lang="en-US" altLang="zh-CN" sz="2400" i="1" smtClean="0">
                        <a:solidFill>
                          <a:srgbClr val="FF0000"/>
                        </a:solidFill>
                        <a:latin typeface="Cambria Math" panose="02040503050406030204" pitchFamily="18" charset="0"/>
                        <a:ea typeface="+mj-ea"/>
                        <a:cs typeface="Times New Roman" panose="02020603050405020304" pitchFamily="18" charset="0"/>
                      </a:rPr>
                      <m:t>𝐷</m:t>
                    </m:r>
                    <m:r>
                      <a:rPr lang="en-US" altLang="zh-CN" sz="2400" i="1" smtClean="0">
                        <a:solidFill>
                          <a:srgbClr val="FF0000"/>
                        </a:solidFill>
                        <a:latin typeface="Cambria Math" panose="02040503050406030204" pitchFamily="18" charset="0"/>
                        <a:ea typeface="+mj-ea"/>
                        <a:cs typeface="Times New Roman" panose="02020603050405020304" pitchFamily="18" charset="0"/>
                      </a:rPr>
                      <m:t>)</m:t>
                    </m:r>
                  </m:oMath>
                </a14:m>
                <a:r>
                  <a:rPr lang="zh-CN" altLang="zh-CN" sz="2400" dirty="0">
                    <a:solidFill>
                      <a:srgbClr val="FF0000"/>
                    </a:solidFill>
                    <a:latin typeface="+mj-ea"/>
                    <a:ea typeface="+mj-ea"/>
                    <a:cs typeface="Times New Roman" panose="02020603050405020304" pitchFamily="18" charset="0"/>
                  </a:rPr>
                  <a:t>值越小表示</a:t>
                </a:r>
                <a14:m>
                  <m:oMath xmlns:m="http://schemas.openxmlformats.org/officeDocument/2006/math">
                    <m:r>
                      <a:rPr lang="en-US" altLang="zh-CN" sz="2400" i="1">
                        <a:solidFill>
                          <a:srgbClr val="FF0000"/>
                        </a:solidFill>
                        <a:latin typeface="Cambria Math" panose="02040503050406030204" pitchFamily="18" charset="0"/>
                        <a:ea typeface="+mj-ea"/>
                        <a:cs typeface="Times New Roman" panose="02020603050405020304" pitchFamily="18" charset="0"/>
                      </a:rPr>
                      <m:t>𝐷</m:t>
                    </m:r>
                  </m:oMath>
                </a14:m>
                <a:r>
                  <a:rPr lang="zh-CN" altLang="zh-CN" sz="2400" dirty="0">
                    <a:solidFill>
                      <a:srgbClr val="FF0000"/>
                    </a:solidFill>
                    <a:latin typeface="+mj-ea"/>
                    <a:ea typeface="+mj-ea"/>
                    <a:cs typeface="Times New Roman" panose="02020603050405020304" pitchFamily="18" charset="0"/>
                  </a:rPr>
                  <a:t>包含信息越确定</a:t>
                </a:r>
                <a:r>
                  <a:rPr lang="zh-CN" altLang="zh-CN" sz="2400" dirty="0">
                    <a:solidFill>
                      <a:srgbClr val="000000"/>
                    </a:solidFill>
                    <a:latin typeface="+mj-ea"/>
                    <a:ea typeface="+mj-ea"/>
                    <a:cs typeface="Times New Roman" panose="02020603050405020304" pitchFamily="18" charset="0"/>
                  </a:rPr>
                  <a:t>。需要指出，所有</a:t>
                </a:r>
                <a14:m>
                  <m:oMath xmlns:m="http://schemas.openxmlformats.org/officeDocument/2006/math">
                    <m:sSub>
                      <m:sSubPr>
                        <m:ctrlPr>
                          <a:rPr lang="zh-CN" altLang="zh-CN" sz="2400" i="1">
                            <a:solidFill>
                              <a:srgbClr val="000000"/>
                            </a:solidFill>
                            <a:latin typeface="Cambria Math" panose="02040503050406030204" pitchFamily="18" charset="0"/>
                            <a:ea typeface="+mj-ea"/>
                            <a:cs typeface="Times New Roman" panose="02020603050405020304" pitchFamily="18" charset="0"/>
                          </a:rPr>
                        </m:ctrlPr>
                      </m:sSubPr>
                      <m:e>
                        <m:r>
                          <a:rPr lang="en-US" altLang="zh-CN" sz="2400" i="1">
                            <a:solidFill>
                              <a:srgbClr val="000000"/>
                            </a:solidFill>
                            <a:latin typeface="Cambria Math" panose="02040503050406030204" pitchFamily="18" charset="0"/>
                            <a:ea typeface="+mj-ea"/>
                            <a:cs typeface="Times New Roman" panose="02020603050405020304" pitchFamily="18" charset="0"/>
                          </a:rPr>
                          <m:t>𝑝</m:t>
                        </m:r>
                      </m:e>
                      <m:sub>
                        <m:r>
                          <a:rPr lang="en-US" altLang="zh-CN" sz="2400" i="1">
                            <a:solidFill>
                              <a:srgbClr val="000000"/>
                            </a:solidFill>
                            <a:latin typeface="Cambria Math" panose="02040503050406030204" pitchFamily="18" charset="0"/>
                            <a:ea typeface="+mj-ea"/>
                            <a:cs typeface="Times New Roman" panose="02020603050405020304" pitchFamily="18" charset="0"/>
                          </a:rPr>
                          <m:t>𝑘</m:t>
                        </m:r>
                      </m:sub>
                    </m:sSub>
                  </m:oMath>
                </a14:m>
                <a:r>
                  <a:rPr lang="zh-CN" altLang="zh-CN" sz="2400" dirty="0">
                    <a:solidFill>
                      <a:srgbClr val="000000"/>
                    </a:solidFill>
                    <a:latin typeface="+mj-ea"/>
                    <a:ea typeface="+mj-ea"/>
                    <a:cs typeface="Times New Roman" panose="02020603050405020304" pitchFamily="18" charset="0"/>
                  </a:rPr>
                  <a:t>累加起来的和为</a:t>
                </a:r>
                <a:r>
                  <a:rPr lang="en-US" altLang="zh-CN" sz="2400" dirty="0">
                    <a:solidFill>
                      <a:srgbClr val="000000"/>
                    </a:solidFill>
                    <a:latin typeface="+mj-ea"/>
                    <a:ea typeface="+mj-ea"/>
                    <a:cs typeface="Times New Roman" panose="02020603050405020304" pitchFamily="18" charset="0"/>
                  </a:rPr>
                  <a:t>1</a:t>
                </a:r>
                <a:r>
                  <a:rPr lang="zh-CN" altLang="zh-CN" sz="2400" dirty="0">
                    <a:solidFill>
                      <a:srgbClr val="000000"/>
                    </a:solidFill>
                    <a:latin typeface="+mj-ea"/>
                    <a:ea typeface="+mj-ea"/>
                    <a:cs typeface="Times New Roman" panose="02020603050405020304" pitchFamily="18" charset="0"/>
                  </a:rPr>
                  <a:t>。</a:t>
                </a:r>
              </a:p>
              <a:p>
                <a:pPr indent="266700" algn="just">
                  <a:lnSpc>
                    <a:spcPct val="150000"/>
                  </a:lnSpc>
                  <a:spcAft>
                    <a:spcPts val="0"/>
                  </a:spcAft>
                </a:pPr>
                <a:endParaRPr lang="zh-CN" altLang="zh-CN" sz="2400" kern="100" dirty="0">
                  <a:latin typeface="+mj-ea"/>
                  <a:ea typeface="+mj-ea"/>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773414" y="1373899"/>
                <a:ext cx="10848609" cy="3531480"/>
              </a:xfrm>
              <a:prstGeom prst="rect">
                <a:avLst/>
              </a:prstGeom>
              <a:blipFill>
                <a:blip r:embed="rId3"/>
                <a:stretch>
                  <a:fillRect l="-169" r="-112"/>
                </a:stretch>
              </a:blipFill>
            </p:spPr>
            <p:txBody>
              <a:bodyPr/>
              <a:lstStyle/>
              <a:p>
                <a:r>
                  <a:rPr lang="zh-CN" altLang="en-US">
                    <a:noFill/>
                  </a:rPr>
                  <a:t> </a:t>
                </a:r>
              </a:p>
            </p:txBody>
          </p:sp>
        </mc:Fallback>
      </mc:AlternateContent>
      <p:sp>
        <p:nvSpPr>
          <p:cNvPr id="7" name="Line 6"/>
          <p:cNvSpPr>
            <a:spLocks noChangeShapeType="1"/>
          </p:cNvSpPr>
          <p:nvPr/>
        </p:nvSpPr>
        <p:spPr bwMode="auto">
          <a:xfrm>
            <a:off x="3520857" y="6369748"/>
            <a:ext cx="1447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8" name="Rectangle 7"/>
          <p:cNvSpPr>
            <a:spLocks noChangeArrowheads="1"/>
          </p:cNvSpPr>
          <p:nvPr/>
        </p:nvSpPr>
        <p:spPr bwMode="auto">
          <a:xfrm>
            <a:off x="3749457" y="5683948"/>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0" name="Rectangle 8"/>
          <p:cNvSpPr>
            <a:spLocks noChangeArrowheads="1"/>
          </p:cNvSpPr>
          <p:nvPr/>
        </p:nvSpPr>
        <p:spPr bwMode="auto">
          <a:xfrm>
            <a:off x="4359057" y="5683948"/>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1" name="Line 9"/>
          <p:cNvSpPr>
            <a:spLocks noChangeShapeType="1"/>
          </p:cNvSpPr>
          <p:nvPr/>
        </p:nvSpPr>
        <p:spPr bwMode="auto">
          <a:xfrm>
            <a:off x="1523364" y="6385624"/>
            <a:ext cx="1447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2" name="Rectangle 11"/>
          <p:cNvSpPr>
            <a:spLocks noChangeArrowheads="1"/>
          </p:cNvSpPr>
          <p:nvPr/>
        </p:nvSpPr>
        <p:spPr bwMode="auto">
          <a:xfrm>
            <a:off x="2361564" y="5090224"/>
            <a:ext cx="381000" cy="1295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3" name="Line 12"/>
          <p:cNvSpPr>
            <a:spLocks noChangeShapeType="1"/>
          </p:cNvSpPr>
          <p:nvPr/>
        </p:nvSpPr>
        <p:spPr bwMode="auto">
          <a:xfrm>
            <a:off x="8966557" y="6353574"/>
            <a:ext cx="1447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4" name="Rectangle 13"/>
          <p:cNvSpPr>
            <a:spLocks noChangeArrowheads="1"/>
          </p:cNvSpPr>
          <p:nvPr/>
        </p:nvSpPr>
        <p:spPr bwMode="auto">
          <a:xfrm>
            <a:off x="9595969" y="5958285"/>
            <a:ext cx="381000" cy="395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5" name="Rectangle 14"/>
          <p:cNvSpPr>
            <a:spLocks noChangeArrowheads="1"/>
          </p:cNvSpPr>
          <p:nvPr/>
        </p:nvSpPr>
        <p:spPr bwMode="auto">
          <a:xfrm>
            <a:off x="9022552" y="5542169"/>
            <a:ext cx="381000" cy="817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6" name="Text Box 15"/>
          <p:cNvSpPr txBox="1">
            <a:spLocks noChangeArrowheads="1"/>
          </p:cNvSpPr>
          <p:nvPr/>
        </p:nvSpPr>
        <p:spPr bwMode="auto">
          <a:xfrm>
            <a:off x="3787557" y="6491288"/>
            <a:ext cx="76200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dirty="0"/>
              <a:t>1 bit</a:t>
            </a:r>
          </a:p>
        </p:txBody>
      </p:sp>
      <p:sp>
        <p:nvSpPr>
          <p:cNvPr id="17" name="Text Box 16"/>
          <p:cNvSpPr txBox="1">
            <a:spLocks noChangeArrowheads="1"/>
          </p:cNvSpPr>
          <p:nvPr/>
        </p:nvSpPr>
        <p:spPr bwMode="auto">
          <a:xfrm>
            <a:off x="1904364" y="6461824"/>
            <a:ext cx="76200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t>0 bits</a:t>
            </a:r>
          </a:p>
        </p:txBody>
      </p:sp>
      <p:sp>
        <p:nvSpPr>
          <p:cNvPr id="18" name="Text Box 17"/>
          <p:cNvSpPr txBox="1">
            <a:spLocks noChangeArrowheads="1"/>
          </p:cNvSpPr>
          <p:nvPr/>
        </p:nvSpPr>
        <p:spPr bwMode="auto">
          <a:xfrm>
            <a:off x="9347557" y="6429774"/>
            <a:ext cx="114300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dirty="0"/>
              <a:t>1</a:t>
            </a:r>
            <a:r>
              <a:rPr lang="en-US" dirty="0"/>
              <a:t>.5 bit</a:t>
            </a:r>
          </a:p>
        </p:txBody>
      </p:sp>
      <p:sp>
        <p:nvSpPr>
          <p:cNvPr id="19" name="Line 6">
            <a:extLst>
              <a:ext uri="{FF2B5EF4-FFF2-40B4-BE49-F238E27FC236}">
                <a16:creationId xmlns:a16="http://schemas.microsoft.com/office/drawing/2014/main" id="{A6CDC00C-7DF8-4D85-9CB8-57E27617CD48}"/>
              </a:ext>
            </a:extLst>
          </p:cNvPr>
          <p:cNvSpPr>
            <a:spLocks noChangeShapeType="1"/>
          </p:cNvSpPr>
          <p:nvPr/>
        </p:nvSpPr>
        <p:spPr bwMode="auto">
          <a:xfrm>
            <a:off x="5463022" y="6362699"/>
            <a:ext cx="1447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0" name="Rectangle 7">
            <a:extLst>
              <a:ext uri="{FF2B5EF4-FFF2-40B4-BE49-F238E27FC236}">
                <a16:creationId xmlns:a16="http://schemas.microsoft.com/office/drawing/2014/main" id="{0800398E-F67D-41C5-9A4A-F888B27C1B93}"/>
              </a:ext>
            </a:extLst>
          </p:cNvPr>
          <p:cNvSpPr>
            <a:spLocks noChangeArrowheads="1"/>
          </p:cNvSpPr>
          <p:nvPr/>
        </p:nvSpPr>
        <p:spPr bwMode="auto">
          <a:xfrm>
            <a:off x="5691622" y="5676899"/>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5" name="Rectangle 8">
            <a:extLst>
              <a:ext uri="{FF2B5EF4-FFF2-40B4-BE49-F238E27FC236}">
                <a16:creationId xmlns:a16="http://schemas.microsoft.com/office/drawing/2014/main" id="{D34EB5BB-5856-44A4-98E6-914E542680E1}"/>
              </a:ext>
            </a:extLst>
          </p:cNvPr>
          <p:cNvSpPr>
            <a:spLocks noChangeArrowheads="1"/>
          </p:cNvSpPr>
          <p:nvPr/>
        </p:nvSpPr>
        <p:spPr bwMode="auto">
          <a:xfrm>
            <a:off x="6301222" y="5676899"/>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6" name="Text Box 15">
            <a:extLst>
              <a:ext uri="{FF2B5EF4-FFF2-40B4-BE49-F238E27FC236}">
                <a16:creationId xmlns:a16="http://schemas.microsoft.com/office/drawing/2014/main" id="{EDFCE399-60CB-47B9-8FD8-C27444772CC9}"/>
              </a:ext>
            </a:extLst>
          </p:cNvPr>
          <p:cNvSpPr txBox="1">
            <a:spLocks noChangeArrowheads="1"/>
          </p:cNvSpPr>
          <p:nvPr/>
        </p:nvSpPr>
        <p:spPr bwMode="auto">
          <a:xfrm>
            <a:off x="6636040" y="6455714"/>
            <a:ext cx="76200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dirty="0"/>
              <a:t>2 bit</a:t>
            </a:r>
          </a:p>
        </p:txBody>
      </p:sp>
      <p:sp>
        <p:nvSpPr>
          <p:cNvPr id="27" name="Line 6">
            <a:extLst>
              <a:ext uri="{FF2B5EF4-FFF2-40B4-BE49-F238E27FC236}">
                <a16:creationId xmlns:a16="http://schemas.microsoft.com/office/drawing/2014/main" id="{A06C8D5D-F45D-4ACC-81E5-F1ED85FC7290}"/>
              </a:ext>
            </a:extLst>
          </p:cNvPr>
          <p:cNvSpPr>
            <a:spLocks noChangeShapeType="1"/>
          </p:cNvSpPr>
          <p:nvPr/>
        </p:nvSpPr>
        <p:spPr bwMode="auto">
          <a:xfrm>
            <a:off x="6676449" y="6359669"/>
            <a:ext cx="14478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28" name="Rectangle 7">
            <a:extLst>
              <a:ext uri="{FF2B5EF4-FFF2-40B4-BE49-F238E27FC236}">
                <a16:creationId xmlns:a16="http://schemas.microsoft.com/office/drawing/2014/main" id="{82C3B4EB-30BC-4D99-BD82-2A96EFC92DAA}"/>
              </a:ext>
            </a:extLst>
          </p:cNvPr>
          <p:cNvSpPr>
            <a:spLocks noChangeArrowheads="1"/>
          </p:cNvSpPr>
          <p:nvPr/>
        </p:nvSpPr>
        <p:spPr bwMode="auto">
          <a:xfrm>
            <a:off x="6905049" y="5673869"/>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29" name="Rectangle 8">
            <a:extLst>
              <a:ext uri="{FF2B5EF4-FFF2-40B4-BE49-F238E27FC236}">
                <a16:creationId xmlns:a16="http://schemas.microsoft.com/office/drawing/2014/main" id="{B2C7C468-1C39-425F-80B7-A5ADB7E57D46}"/>
              </a:ext>
            </a:extLst>
          </p:cNvPr>
          <p:cNvSpPr>
            <a:spLocks noChangeArrowheads="1"/>
          </p:cNvSpPr>
          <p:nvPr/>
        </p:nvSpPr>
        <p:spPr bwMode="auto">
          <a:xfrm>
            <a:off x="7514649" y="5673869"/>
            <a:ext cx="381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0" name="Rectangle 13"/>
          <p:cNvSpPr>
            <a:spLocks noChangeArrowheads="1"/>
          </p:cNvSpPr>
          <p:nvPr/>
        </p:nvSpPr>
        <p:spPr bwMode="auto">
          <a:xfrm>
            <a:off x="10169386" y="5965334"/>
            <a:ext cx="381000" cy="3952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1" name="矩形 30"/>
          <p:cNvSpPr/>
          <p:nvPr/>
        </p:nvSpPr>
        <p:spPr>
          <a:xfrm>
            <a:off x="3633051" y="5218475"/>
            <a:ext cx="1223412" cy="369332"/>
          </a:xfrm>
          <a:prstGeom prst="rect">
            <a:avLst/>
          </a:prstGeom>
        </p:spPr>
        <p:txBody>
          <a:bodyPr wrap="none">
            <a:spAutoFit/>
          </a:bodyPr>
          <a:lstStyle/>
          <a:p>
            <a:r>
              <a:rPr lang="en-US" altLang="zh-CN" dirty="0"/>
              <a:t>&lt;1/2, 1/2&gt;</a:t>
            </a:r>
            <a:endParaRPr lang="zh-CN" altLang="en-US" dirty="0"/>
          </a:p>
        </p:txBody>
      </p:sp>
      <p:sp>
        <p:nvSpPr>
          <p:cNvPr id="32" name="矩形 31"/>
          <p:cNvSpPr/>
          <p:nvPr/>
        </p:nvSpPr>
        <p:spPr>
          <a:xfrm>
            <a:off x="5691622" y="5216881"/>
            <a:ext cx="2121093" cy="369332"/>
          </a:xfrm>
          <a:prstGeom prst="rect">
            <a:avLst/>
          </a:prstGeom>
        </p:spPr>
        <p:txBody>
          <a:bodyPr wrap="none">
            <a:spAutoFit/>
          </a:bodyPr>
          <a:lstStyle/>
          <a:p>
            <a:r>
              <a:rPr lang="en-US" altLang="zh-CN" dirty="0"/>
              <a:t>&lt;1/4, 1/4, 1/4, 1/4&gt;</a:t>
            </a:r>
            <a:endParaRPr lang="zh-CN" altLang="en-US" dirty="0"/>
          </a:p>
        </p:txBody>
      </p:sp>
      <p:sp>
        <p:nvSpPr>
          <p:cNvPr id="33" name="矩形 32"/>
          <p:cNvSpPr/>
          <p:nvPr/>
        </p:nvSpPr>
        <p:spPr>
          <a:xfrm>
            <a:off x="1609538" y="4568134"/>
            <a:ext cx="1351652" cy="369332"/>
          </a:xfrm>
          <a:prstGeom prst="rect">
            <a:avLst/>
          </a:prstGeom>
        </p:spPr>
        <p:txBody>
          <a:bodyPr wrap="none">
            <a:spAutoFit/>
          </a:bodyPr>
          <a:lstStyle/>
          <a:p>
            <a:r>
              <a:rPr lang="en-US" altLang="zh-CN" dirty="0"/>
              <a:t>&lt;0, 0, 0, 1&gt;</a:t>
            </a:r>
            <a:endParaRPr lang="zh-CN" altLang="en-US" dirty="0"/>
          </a:p>
        </p:txBody>
      </p:sp>
      <p:sp>
        <p:nvSpPr>
          <p:cNvPr id="34" name="矩形 33"/>
          <p:cNvSpPr/>
          <p:nvPr/>
        </p:nvSpPr>
        <p:spPr>
          <a:xfrm>
            <a:off x="8915574" y="4998585"/>
            <a:ext cx="1672253" cy="369332"/>
          </a:xfrm>
          <a:prstGeom prst="rect">
            <a:avLst/>
          </a:prstGeom>
        </p:spPr>
        <p:txBody>
          <a:bodyPr wrap="none">
            <a:spAutoFit/>
          </a:bodyPr>
          <a:lstStyle/>
          <a:p>
            <a:r>
              <a:rPr lang="en-US" altLang="zh-CN" dirty="0"/>
              <a:t>&lt;1/2, 1/4, 1/4&gt;</a:t>
            </a:r>
            <a:endParaRPr lang="zh-CN" altLang="en-US" dirty="0"/>
          </a:p>
        </p:txBody>
      </p:sp>
    </p:spTree>
    <p:extLst>
      <p:ext uri="{BB962C8B-B14F-4D97-AF65-F5344CB8AC3E}">
        <p14:creationId xmlns:p14="http://schemas.microsoft.com/office/powerpoint/2010/main" val="124957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6" grpId="0"/>
      <p:bldP spid="17" grpId="0"/>
      <p:bldP spid="18" grpId="0"/>
      <p:bldP spid="19" grpId="0" animBg="1"/>
      <p:bldP spid="20" grpId="0" animBg="1"/>
      <p:bldP spid="25" grpId="0" animBg="1"/>
      <p:bldP spid="26" grpId="0"/>
      <p:bldP spid="27" grpId="0" animBg="1"/>
      <p:bldP spid="28" grpId="0" animBg="1"/>
      <p:bldP spid="29" grpId="0" animBg="1"/>
      <p:bldP spid="30" grpId="0" animBg="1"/>
      <p:bldP spid="31" grpId="0"/>
      <p:bldP spid="32" grpId="0"/>
      <p:bldP spid="33" grpId="0"/>
      <p:bldP spid="3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08101" y="572285"/>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2000"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2000"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mc:AlternateContent xmlns:mc="http://schemas.openxmlformats.org/markup-compatibility/2006" xmlns:a14="http://schemas.microsoft.com/office/drawing/2010/main">
        <mc:Choice Requires="a14">
          <p:sp>
            <p:nvSpPr>
              <p:cNvPr id="9" name="矩形 8"/>
              <p:cNvSpPr/>
              <p:nvPr/>
            </p:nvSpPr>
            <p:spPr>
              <a:xfrm>
                <a:off x="369933" y="1775823"/>
                <a:ext cx="6025515" cy="4275209"/>
              </a:xfrm>
              <a:prstGeom prst="rect">
                <a:avLst/>
              </a:prstGeom>
            </p:spPr>
            <p:txBody>
              <a:bodyPr wrap="square">
                <a:spAutoFit/>
              </a:bodyPr>
              <a:lstStyle/>
              <a:p>
                <a:pPr indent="266700" algn="just">
                  <a:lnSpc>
                    <a:spcPct val="150000"/>
                  </a:lnSpc>
                  <a:spcAft>
                    <a:spcPts val="0"/>
                  </a:spcAft>
                </a:pPr>
                <a:r>
                  <a:rPr lang="zh-CN" altLang="zh-CN" sz="2000" dirty="0">
                    <a:solidFill>
                      <a:srgbClr val="000000"/>
                    </a:solidFill>
                    <a:latin typeface="+mj-ea"/>
                    <a:ea typeface="+mj-ea"/>
                    <a:cs typeface="Times New Roman" panose="02020603050405020304" pitchFamily="18" charset="0"/>
                  </a:rPr>
                  <a:t>现在应用信息熵这个度量标准来构建决策树。表</a:t>
                </a:r>
                <a:r>
                  <a:rPr lang="en-US" altLang="zh-CN" sz="2000" dirty="0">
                    <a:solidFill>
                      <a:srgbClr val="000000"/>
                    </a:solidFill>
                    <a:latin typeface="+mj-ea"/>
                    <a:ea typeface="+mj-ea"/>
                    <a:cs typeface="Times New Roman" panose="02020603050405020304" pitchFamily="18" charset="0"/>
                  </a:rPr>
                  <a:t>4.5 </a:t>
                </a:r>
                <a:r>
                  <a:rPr lang="zh-CN" altLang="zh-CN" sz="2000" dirty="0">
                    <a:solidFill>
                      <a:srgbClr val="000000"/>
                    </a:solidFill>
                    <a:latin typeface="+mj-ea"/>
                    <a:ea typeface="+mj-ea"/>
                    <a:cs typeface="Times New Roman" panose="02020603050405020304" pitchFamily="18" charset="0"/>
                  </a:rPr>
                  <a:t>中</a:t>
                </a:r>
                <a:r>
                  <a:rPr lang="en-US" altLang="zh-CN" sz="2000" dirty="0">
                    <a:solidFill>
                      <a:srgbClr val="000000"/>
                    </a:solidFill>
                    <a:latin typeface="+mj-ea"/>
                    <a:ea typeface="+mj-ea"/>
                    <a:cs typeface="Times New Roman" panose="02020603050405020304" pitchFamily="18" charset="0"/>
                  </a:rPr>
                  <a:t>14</a:t>
                </a:r>
                <a:r>
                  <a:rPr lang="zh-CN" altLang="zh-CN" sz="2000" dirty="0">
                    <a:solidFill>
                      <a:srgbClr val="000000"/>
                    </a:solidFill>
                    <a:latin typeface="+mj-ea"/>
                    <a:ea typeface="+mj-ea"/>
                    <a:cs typeface="Times New Roman" panose="02020603050405020304" pitchFamily="18" charset="0"/>
                  </a:rPr>
                  <a:t>个样本分属于</a:t>
                </a:r>
                <a:r>
                  <a:rPr lang="en-US" altLang="zh-CN" sz="2000" dirty="0">
                    <a:solidFill>
                      <a:srgbClr val="000000"/>
                    </a:solidFill>
                    <a:latin typeface="+mj-ea"/>
                    <a:ea typeface="+mj-ea"/>
                    <a:cs typeface="Times New Roman" panose="02020603050405020304" pitchFamily="18" charset="0"/>
                  </a:rPr>
                  <a:t>“</a:t>
                </a:r>
                <a:r>
                  <a:rPr lang="zh-CN" altLang="zh-CN" sz="2000" dirty="0">
                    <a:solidFill>
                      <a:srgbClr val="000000"/>
                    </a:solidFill>
                    <a:latin typeface="+mj-ea"/>
                    <a:ea typeface="+mj-ea"/>
                    <a:cs typeface="Times New Roman" panose="02020603050405020304" pitchFamily="18" charset="0"/>
                  </a:rPr>
                  <a:t>给予贷款（</a:t>
                </a:r>
                <a:r>
                  <a:rPr lang="en-US" altLang="zh-CN" sz="2000" dirty="0">
                    <a:solidFill>
                      <a:srgbClr val="000000"/>
                    </a:solidFill>
                    <a:latin typeface="+mj-ea"/>
                    <a:ea typeface="+mj-ea"/>
                    <a:cs typeface="Times New Roman" panose="02020603050405020304" pitchFamily="18" charset="0"/>
                  </a:rPr>
                  <a:t>9 </a:t>
                </a:r>
                <a:r>
                  <a:rPr lang="zh-CN" altLang="zh-CN" sz="2000" dirty="0">
                    <a:solidFill>
                      <a:srgbClr val="000000"/>
                    </a:solidFill>
                    <a:latin typeface="+mj-ea"/>
                    <a:ea typeface="+mj-ea"/>
                    <a:cs typeface="Times New Roman" panose="02020603050405020304" pitchFamily="18" charset="0"/>
                  </a:rPr>
                  <a:t>个样本）</a:t>
                </a:r>
                <a:r>
                  <a:rPr lang="en-US" altLang="zh-CN" sz="2000" dirty="0">
                    <a:solidFill>
                      <a:srgbClr val="000000"/>
                    </a:solidFill>
                    <a:latin typeface="+mj-ea"/>
                    <a:ea typeface="+mj-ea"/>
                    <a:cs typeface="Times New Roman" panose="02020603050405020304" pitchFamily="18" charset="0"/>
                  </a:rPr>
                  <a:t>”</a:t>
                </a:r>
                <a:r>
                  <a:rPr lang="zh-CN" altLang="zh-CN" sz="2000" dirty="0">
                    <a:solidFill>
                      <a:srgbClr val="000000"/>
                    </a:solidFill>
                    <a:latin typeface="+mj-ea"/>
                    <a:ea typeface="+mj-ea"/>
                    <a:cs typeface="Times New Roman" panose="02020603050405020304" pitchFamily="18" charset="0"/>
                  </a:rPr>
                  <a:t>和</a:t>
                </a:r>
                <a:r>
                  <a:rPr lang="en-US" altLang="zh-CN" sz="2000" dirty="0">
                    <a:solidFill>
                      <a:srgbClr val="000000"/>
                    </a:solidFill>
                    <a:latin typeface="+mj-ea"/>
                    <a:ea typeface="+mj-ea"/>
                    <a:cs typeface="Times New Roman" panose="02020603050405020304" pitchFamily="18" charset="0"/>
                  </a:rPr>
                  <a:t>“</a:t>
                </a:r>
                <a:r>
                  <a:rPr lang="zh-CN" altLang="zh-CN" sz="2000" dirty="0">
                    <a:solidFill>
                      <a:srgbClr val="000000"/>
                    </a:solidFill>
                    <a:latin typeface="+mj-ea"/>
                    <a:ea typeface="+mj-ea"/>
                    <a:cs typeface="Times New Roman" panose="02020603050405020304" pitchFamily="18" charset="0"/>
                  </a:rPr>
                  <a:t>不给予贷款（</a:t>
                </a:r>
                <a:r>
                  <a:rPr lang="en-US" altLang="zh-CN" sz="2000" dirty="0">
                    <a:solidFill>
                      <a:srgbClr val="000000"/>
                    </a:solidFill>
                    <a:latin typeface="+mj-ea"/>
                    <a:ea typeface="+mj-ea"/>
                    <a:cs typeface="Times New Roman" panose="02020603050405020304" pitchFamily="18" charset="0"/>
                  </a:rPr>
                  <a:t>5 </a:t>
                </a:r>
                <a:r>
                  <a:rPr lang="zh-CN" altLang="zh-CN" sz="2000" dirty="0">
                    <a:solidFill>
                      <a:srgbClr val="000000"/>
                    </a:solidFill>
                    <a:latin typeface="+mj-ea"/>
                    <a:ea typeface="+mj-ea"/>
                    <a:cs typeface="Times New Roman" panose="02020603050405020304" pitchFamily="18" charset="0"/>
                  </a:rPr>
                  <a:t>个样本）</a:t>
                </a:r>
                <a:r>
                  <a:rPr lang="en-US" altLang="zh-CN" sz="2000" dirty="0">
                    <a:solidFill>
                      <a:srgbClr val="000000"/>
                    </a:solidFill>
                    <a:latin typeface="+mj-ea"/>
                    <a:ea typeface="+mj-ea"/>
                    <a:cs typeface="Times New Roman" panose="02020603050405020304" pitchFamily="18" charset="0"/>
                  </a:rPr>
                  <a:t>”</a:t>
                </a:r>
                <a:r>
                  <a:rPr lang="zh-CN" altLang="zh-CN" sz="2000" dirty="0">
                    <a:solidFill>
                      <a:srgbClr val="000000"/>
                    </a:solidFill>
                    <a:latin typeface="+mj-ea"/>
                    <a:ea typeface="+mj-ea"/>
                    <a:cs typeface="Times New Roman" panose="02020603050405020304" pitchFamily="18" charset="0"/>
                  </a:rPr>
                  <a:t>两个类别，即 </a:t>
                </a:r>
                <a14:m>
                  <m:oMath xmlns:m="http://schemas.openxmlformats.org/officeDocument/2006/math">
                    <m:r>
                      <a:rPr lang="en-US" altLang="zh-CN" sz="2000" i="1">
                        <a:solidFill>
                          <a:srgbClr val="000000"/>
                        </a:solidFill>
                        <a:latin typeface="Cambria Math" panose="02040503050406030204" pitchFamily="18" charset="0"/>
                        <a:ea typeface="+mj-ea"/>
                        <a:cs typeface="Times New Roman" panose="02020603050405020304" pitchFamily="18" charset="0"/>
                      </a:rPr>
                      <m:t>𝐾</m:t>
                    </m:r>
                    <m:r>
                      <a:rPr lang="en-US" altLang="zh-CN" sz="2000" i="1">
                        <a:solidFill>
                          <a:srgbClr val="000000"/>
                        </a:solidFill>
                        <a:latin typeface="Cambria Math" panose="02040503050406030204" pitchFamily="18" charset="0"/>
                        <a:ea typeface="+mj-ea"/>
                        <a:cs typeface="Times New Roman" panose="02020603050405020304" pitchFamily="18" charset="0"/>
                      </a:rPr>
                      <m:t>=2</m:t>
                    </m:r>
                  </m:oMath>
                </a14:m>
                <a:r>
                  <a:rPr lang="zh-CN" altLang="zh-CN" sz="2000" dirty="0">
                    <a:solidFill>
                      <a:srgbClr val="000000"/>
                    </a:solidFill>
                    <a:latin typeface="+mj-ea"/>
                    <a:ea typeface="+mj-ea"/>
                    <a:cs typeface="Times New Roman" panose="02020603050405020304" pitchFamily="18" charset="0"/>
                  </a:rPr>
                  <a:t>。</a:t>
                </a:r>
              </a:p>
              <a:p>
                <a:pPr indent="266700" algn="ctr">
                  <a:lnSpc>
                    <a:spcPct val="150000"/>
                  </a:lnSpc>
                  <a:spcAft>
                    <a:spcPts val="600"/>
                  </a:spcAft>
                </a:pPr>
                <a14:m>
                  <m:oMathPara xmlns:m="http://schemas.openxmlformats.org/officeDocument/2006/math">
                    <m:oMathParaPr>
                      <m:jc m:val="centerGroup"/>
                    </m:oMathParaPr>
                    <m:oMath xmlns:m="http://schemas.openxmlformats.org/officeDocument/2006/math">
                      <m:r>
                        <a:rPr lang="en-US" altLang="zh-CN" sz="2000" i="1" kern="100">
                          <a:latin typeface="Cambria Math" panose="02040503050406030204" pitchFamily="18" charset="0"/>
                          <a:ea typeface="+mj-ea"/>
                          <a:cs typeface="Times New Roman" panose="02020603050405020304" pitchFamily="18" charset="0"/>
                        </a:rPr>
                        <m:t>𝐸𝑛𝑡</m:t>
                      </m:r>
                      <m:d>
                        <m:dPr>
                          <m:ctrlPr>
                            <a:rPr lang="zh-CN" altLang="zh-CN" sz="2000" i="1" kern="100">
                              <a:latin typeface="Cambria Math" panose="02040503050406030204" pitchFamily="18" charset="0"/>
                              <a:ea typeface="+mj-ea"/>
                              <a:cs typeface="Times New Roman" panose="02020603050405020304" pitchFamily="18" charset="0"/>
                            </a:rPr>
                          </m:ctrlPr>
                        </m:dPr>
                        <m:e>
                          <m:r>
                            <a:rPr lang="en-US" altLang="zh-CN" sz="2000" i="1" kern="100">
                              <a:latin typeface="Cambria Math" panose="02040503050406030204" pitchFamily="18" charset="0"/>
                              <a:ea typeface="+mj-ea"/>
                              <a:cs typeface="Times New Roman" panose="02020603050405020304" pitchFamily="18" charset="0"/>
                            </a:rPr>
                            <m:t>𝐷</m:t>
                          </m:r>
                        </m:e>
                      </m:d>
                      <m:r>
                        <a:rPr lang="en-US" altLang="zh-CN" sz="2000" i="1" kern="100">
                          <a:latin typeface="Cambria Math" panose="02040503050406030204" pitchFamily="18" charset="0"/>
                          <a:ea typeface="+mj-ea"/>
                          <a:cs typeface="Times New Roman" panose="02020603050405020304" pitchFamily="18" charset="0"/>
                        </a:rPr>
                        <m:t>=−</m:t>
                      </m:r>
                      <m:nary>
                        <m:naryPr>
                          <m:chr m:val="∑"/>
                          <m:ctrlPr>
                            <a:rPr lang="zh-CN" altLang="zh-CN" sz="2000" i="1" kern="100">
                              <a:latin typeface="Cambria Math" panose="02040503050406030204" pitchFamily="18" charset="0"/>
                              <a:ea typeface="+mj-ea"/>
                              <a:cs typeface="Times New Roman" panose="02020603050405020304" pitchFamily="18" charset="0"/>
                            </a:rPr>
                          </m:ctrlPr>
                        </m:naryPr>
                        <m:sub>
                          <m:r>
                            <a:rPr lang="en-US" altLang="zh-CN" sz="2000" i="1" kern="100">
                              <a:latin typeface="Cambria Math" panose="02040503050406030204" pitchFamily="18" charset="0"/>
                              <a:ea typeface="+mj-ea"/>
                              <a:cs typeface="Times New Roman" panose="02020603050405020304" pitchFamily="18" charset="0"/>
                            </a:rPr>
                            <m:t>𝑘</m:t>
                          </m:r>
                          <m:r>
                            <a:rPr lang="en-US" altLang="zh-CN" sz="2000" i="1" kern="100">
                              <a:latin typeface="Cambria Math" panose="02040503050406030204" pitchFamily="18" charset="0"/>
                              <a:ea typeface="+mj-ea"/>
                              <a:cs typeface="Times New Roman" panose="02020603050405020304" pitchFamily="18" charset="0"/>
                            </a:rPr>
                            <m:t>=1</m:t>
                          </m:r>
                        </m:sub>
                        <m:sup>
                          <m:r>
                            <a:rPr lang="en-US" altLang="zh-CN" sz="2000" i="1" kern="100">
                              <a:latin typeface="Cambria Math" panose="02040503050406030204" pitchFamily="18" charset="0"/>
                              <a:ea typeface="+mj-ea"/>
                              <a:cs typeface="Times New Roman" panose="02020603050405020304" pitchFamily="18" charset="0"/>
                            </a:rPr>
                            <m:t>2</m:t>
                          </m:r>
                        </m:sup>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𝑝</m:t>
                              </m:r>
                            </m:e>
                            <m:sub>
                              <m:r>
                                <a:rPr lang="en-US" altLang="zh-CN" sz="2000" i="1" kern="100">
                                  <a:latin typeface="Cambria Math" panose="02040503050406030204" pitchFamily="18" charset="0"/>
                                  <a:ea typeface="+mj-ea"/>
                                  <a:cs typeface="Times New Roman" panose="02020603050405020304" pitchFamily="18" charset="0"/>
                                </a:rPr>
                                <m:t>𝑘</m:t>
                              </m:r>
                            </m:sub>
                          </m:sSub>
                          <m:func>
                            <m:funcPr>
                              <m:ctrlPr>
                                <a:rPr lang="zh-CN" altLang="zh-CN" sz="2000" i="1" kern="100">
                                  <a:latin typeface="Cambria Math" panose="02040503050406030204" pitchFamily="18" charset="0"/>
                                  <a:ea typeface="+mj-ea"/>
                                  <a:cs typeface="Times New Roman" panose="02020603050405020304" pitchFamily="18" charset="0"/>
                                </a:rPr>
                              </m:ctrlPr>
                            </m:funcPr>
                            <m:fName>
                              <m:sSubSup>
                                <m:sSubSupPr>
                                  <m:ctrlPr>
                                    <a:rPr lang="zh-CN" altLang="zh-CN" sz="2000" i="1" kern="100">
                                      <a:latin typeface="Cambria Math" panose="02040503050406030204" pitchFamily="18" charset="0"/>
                                      <a:ea typeface="+mj-ea"/>
                                      <a:cs typeface="Times New Roman" panose="02020603050405020304" pitchFamily="18" charset="0"/>
                                    </a:rPr>
                                  </m:ctrlPr>
                                </m:sSubSup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i="1" kern="100">
                                      <a:latin typeface="Cambria Math" panose="02040503050406030204" pitchFamily="18" charset="0"/>
                                      <a:ea typeface="+mj-ea"/>
                                      <a:cs typeface="Times New Roman" panose="02020603050405020304" pitchFamily="18" charset="0"/>
                                    </a:rPr>
                                    <m:t>2</m:t>
                                  </m:r>
                                </m:sub>
                                <m:sup>
                                  <m:r>
                                    <a:rPr lang="en-US" altLang="zh-CN" sz="2000" i="1" kern="100">
                                      <a:latin typeface="Cambria Math" panose="02040503050406030204" pitchFamily="18" charset="0"/>
                                      <a:ea typeface="+mj-ea"/>
                                      <a:cs typeface="Times New Roman" panose="02020603050405020304" pitchFamily="18" charset="0"/>
                                    </a:rPr>
                                    <m:t> </m:t>
                                  </m:r>
                                </m:sup>
                              </m:sSubSup>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 </m:t>
                                  </m:r>
                                  <m:r>
                                    <a:rPr lang="en-US" altLang="zh-CN" sz="2000" i="1" kern="100">
                                      <a:latin typeface="Cambria Math" panose="02040503050406030204" pitchFamily="18" charset="0"/>
                                      <a:ea typeface="+mj-ea"/>
                                      <a:cs typeface="Times New Roman" panose="02020603050405020304" pitchFamily="18" charset="0"/>
                                    </a:rPr>
                                    <m:t>𝑝</m:t>
                                  </m:r>
                                </m:e>
                                <m:sub>
                                  <m:r>
                                    <a:rPr lang="en-US" altLang="zh-CN" sz="2000" i="1" kern="100">
                                      <a:latin typeface="Cambria Math" panose="02040503050406030204" pitchFamily="18" charset="0"/>
                                      <a:ea typeface="+mj-ea"/>
                                      <a:cs typeface="Times New Roman" panose="02020603050405020304" pitchFamily="18" charset="0"/>
                                    </a:rPr>
                                    <m:t>𝑘</m:t>
                                  </m:r>
                                </m:sub>
                              </m:sSub>
                            </m:fName>
                            <m:e>
                              <m:r>
                                <a:rPr lang="en-US" altLang="zh-CN" sz="2000" i="1" kern="100">
                                  <a:latin typeface="Cambria Math" panose="02040503050406030204" pitchFamily="18" charset="0"/>
                                  <a:ea typeface="+mj-ea"/>
                                  <a:cs typeface="Times New Roman" panose="02020603050405020304" pitchFamily="18" charset="0"/>
                                </a:rPr>
                                <m:t>=−</m:t>
                              </m:r>
                              <m:d>
                                <m:dPr>
                                  <m:ctrlPr>
                                    <a:rPr lang="zh-CN" altLang="zh-CN" sz="2000" i="1" kern="100">
                                      <a:latin typeface="Cambria Math" panose="02040503050406030204" pitchFamily="18" charset="0"/>
                                      <a:ea typeface="+mj-ea"/>
                                      <a:cs typeface="Times New Roman" panose="02020603050405020304" pitchFamily="18" charset="0"/>
                                    </a:rPr>
                                  </m:ctrlPr>
                                </m:dPr>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9</m:t>
                                      </m:r>
                                    </m:num>
                                    <m:den>
                                      <m:r>
                                        <a:rPr lang="en-US" altLang="zh-CN" sz="2000" i="1" kern="100">
                                          <a:latin typeface="Cambria Math" panose="02040503050406030204" pitchFamily="18" charset="0"/>
                                          <a:ea typeface="+mj-ea"/>
                                          <a:cs typeface="Times New Roman" panose="02020603050405020304" pitchFamily="18" charset="0"/>
                                        </a:rPr>
                                        <m:t>14</m:t>
                                      </m:r>
                                    </m:den>
                                  </m:f>
                                  <m:r>
                                    <a:rPr lang="en-US" altLang="zh-CN" sz="2000" i="1"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i="1"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9</m:t>
                                          </m:r>
                                        </m:num>
                                        <m:den>
                                          <m:r>
                                            <a:rPr lang="en-US" altLang="zh-CN" sz="2000" i="1" kern="100">
                                              <a:latin typeface="Cambria Math" panose="02040503050406030204" pitchFamily="18" charset="0"/>
                                              <a:ea typeface="+mj-ea"/>
                                              <a:cs typeface="Times New Roman" panose="02020603050405020304" pitchFamily="18" charset="0"/>
                                            </a:rPr>
                                            <m:t>14</m:t>
                                          </m:r>
                                        </m:den>
                                      </m:f>
                                    </m:e>
                                  </m:func>
                                  <m:r>
                                    <a:rPr lang="en-US" altLang="zh-CN" sz="2000" i="1"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5</m:t>
                                      </m:r>
                                    </m:num>
                                    <m:den>
                                      <m:r>
                                        <a:rPr lang="en-US" altLang="zh-CN" sz="2000" i="1" kern="100">
                                          <a:latin typeface="Cambria Math" panose="02040503050406030204" pitchFamily="18" charset="0"/>
                                          <a:ea typeface="+mj-ea"/>
                                          <a:cs typeface="Times New Roman" panose="02020603050405020304" pitchFamily="18" charset="0"/>
                                        </a:rPr>
                                        <m:t>14</m:t>
                                      </m:r>
                                    </m:den>
                                  </m:f>
                                  <m:r>
                                    <a:rPr lang="en-US" altLang="zh-CN" sz="2000" i="1"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i="1"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i="1" kern="100">
                                              <a:latin typeface="Cambria Math" panose="02040503050406030204" pitchFamily="18" charset="0"/>
                                              <a:ea typeface="+mj-ea"/>
                                              <a:cs typeface="Times New Roman" panose="02020603050405020304" pitchFamily="18" charset="0"/>
                                            </a:rPr>
                                            <m:t>5</m:t>
                                          </m:r>
                                        </m:num>
                                        <m:den>
                                          <m:r>
                                            <a:rPr lang="en-US" altLang="zh-CN" sz="2000" i="1" kern="100">
                                              <a:latin typeface="Cambria Math" panose="02040503050406030204" pitchFamily="18" charset="0"/>
                                              <a:ea typeface="+mj-ea"/>
                                              <a:cs typeface="Times New Roman" panose="02020603050405020304" pitchFamily="18" charset="0"/>
                                            </a:rPr>
                                            <m:t>14</m:t>
                                          </m:r>
                                        </m:den>
                                      </m:f>
                                    </m:e>
                                  </m:func>
                                </m:e>
                              </m:d>
                              <m:r>
                                <a:rPr lang="en-US" altLang="zh-CN" sz="2000" i="1" kern="100">
                                  <a:latin typeface="Cambria Math" panose="02040503050406030204" pitchFamily="18" charset="0"/>
                                  <a:ea typeface="+mj-ea"/>
                                  <a:cs typeface="Times New Roman" panose="02020603050405020304" pitchFamily="18" charset="0"/>
                                </a:rPr>
                                <m:t>=0.940</m:t>
                              </m:r>
                            </m:e>
                          </m:func>
                        </m:e>
                      </m:nary>
                    </m:oMath>
                  </m:oMathPara>
                </a14:m>
                <a:endParaRPr lang="zh-CN" altLang="zh-CN" sz="2000" kern="100" dirty="0">
                  <a:latin typeface="+mj-ea"/>
                  <a:ea typeface="+mj-ea"/>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369933" y="1775823"/>
                <a:ext cx="6025515" cy="4275209"/>
              </a:xfrm>
              <a:prstGeom prst="rect">
                <a:avLst/>
              </a:prstGeom>
              <a:blipFill>
                <a:blip r:embed="rId3"/>
                <a:stretch>
                  <a:fillRect l="-1113" r="-1012"/>
                </a:stretch>
              </a:blipFill>
            </p:spPr>
            <p:txBody>
              <a:bodyPr/>
              <a:lstStyle/>
              <a:p>
                <a:r>
                  <a:rPr lang="zh-CN" altLang="en-US">
                    <a:noFill/>
                  </a:rPr>
                  <a:t> </a:t>
                </a:r>
              </a:p>
            </p:txBody>
          </p:sp>
        </mc:Fallback>
      </mc:AlternateContent>
      <p:pic>
        <p:nvPicPr>
          <p:cNvPr id="4" name="内容占位符 4"/>
          <p:cNvPicPr>
            <a:picLocks noChangeAspect="1"/>
          </p:cNvPicPr>
          <p:nvPr/>
        </p:nvPicPr>
        <p:blipFill>
          <a:blip r:embed="rId4"/>
          <a:stretch>
            <a:fillRect/>
          </a:stretch>
        </p:blipFill>
        <p:spPr>
          <a:xfrm>
            <a:off x="6751411" y="1559508"/>
            <a:ext cx="4887595" cy="3986530"/>
          </a:xfrm>
          <a:prstGeom prst="rect">
            <a:avLst/>
          </a:prstGeom>
        </p:spPr>
      </p:pic>
    </p:spTree>
    <p:extLst>
      <p:ext uri="{BB962C8B-B14F-4D97-AF65-F5344CB8AC3E}">
        <p14:creationId xmlns:p14="http://schemas.microsoft.com/office/powerpoint/2010/main" val="29852417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p:pic>
        <p:nvPicPr>
          <p:cNvPr id="7" name="图片 6"/>
          <p:cNvPicPr>
            <a:picLocks noChangeAspect="1"/>
          </p:cNvPicPr>
          <p:nvPr/>
        </p:nvPicPr>
        <p:blipFill>
          <a:blip r:embed="rId3"/>
          <a:stretch>
            <a:fillRect/>
          </a:stretch>
        </p:blipFill>
        <p:spPr>
          <a:xfrm>
            <a:off x="2658745" y="4665345"/>
            <a:ext cx="6154420" cy="1992630"/>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732155" y="1365885"/>
                <a:ext cx="10007600" cy="2388870"/>
              </a:xfrm>
              <a:prstGeom prst="rect">
                <a:avLst/>
              </a:prstGeom>
            </p:spPr>
            <p:txBody>
              <a:bodyPr wrap="square">
                <a:noAutofit/>
              </a:bodyPr>
              <a:lstStyle/>
              <a:p>
                <a:pPr indent="266700" algn="just">
                  <a:lnSpc>
                    <a:spcPct val="150000"/>
                  </a:lnSpc>
                  <a:spcAft>
                    <a:spcPts val="0"/>
                  </a:spcAft>
                </a:pPr>
                <a:r>
                  <a:rPr lang="zh-CN" altLang="zh-CN" dirty="0">
                    <a:solidFill>
                      <a:srgbClr val="000000"/>
                    </a:solidFill>
                    <a:latin typeface="+mj-ea"/>
                    <a:ea typeface="+mj-ea"/>
                    <a:cs typeface="Times New Roman" panose="02020603050405020304" pitchFamily="18" charset="0"/>
                  </a:rPr>
                  <a:t>表</a:t>
                </a:r>
                <a:r>
                  <a:rPr lang="en-US" altLang="zh-CN" dirty="0">
                    <a:solidFill>
                      <a:srgbClr val="000000"/>
                    </a:solidFill>
                    <a:latin typeface="+mj-ea"/>
                    <a:ea typeface="+mj-ea"/>
                    <a:cs typeface="Times New Roman" panose="02020603050405020304" pitchFamily="18" charset="0"/>
                  </a:rPr>
                  <a:t>4.5</a:t>
                </a:r>
                <a:r>
                  <a:rPr lang="zh-CN" altLang="zh-CN" dirty="0">
                    <a:solidFill>
                      <a:srgbClr val="000000"/>
                    </a:solidFill>
                    <a:latin typeface="+mj-ea"/>
                    <a:ea typeface="+mj-ea"/>
                    <a:cs typeface="Times New Roman" panose="02020603050405020304" pitchFamily="18" charset="0"/>
                  </a:rPr>
                  <a:t>中有年龄、银行流水、是否结婚、拥有房产四个人物相关的属性特征，下面计算这四个特点所对应的信息熵。</a:t>
                </a:r>
              </a:p>
              <a:p>
                <a:pPr indent="266700" algn="just">
                  <a:lnSpc>
                    <a:spcPct val="150000"/>
                  </a:lnSpc>
                  <a:spcAft>
                    <a:spcPts val="0"/>
                  </a:spcAft>
                </a:pPr>
                <a:r>
                  <a:rPr lang="zh-CN" altLang="zh-CN" dirty="0">
                    <a:solidFill>
                      <a:srgbClr val="FF0000"/>
                    </a:solidFill>
                    <a:latin typeface="+mj-ea"/>
                    <a:ea typeface="+mj-ea"/>
                    <a:cs typeface="Times New Roman" panose="02020603050405020304" pitchFamily="18" charset="0"/>
                  </a:rPr>
                  <a:t>以年龄为例</a:t>
                </a:r>
                <a:r>
                  <a:rPr lang="zh-CN" altLang="zh-CN" dirty="0">
                    <a:solidFill>
                      <a:srgbClr val="000000"/>
                    </a:solidFill>
                    <a:latin typeface="+mj-ea"/>
                    <a:ea typeface="+mj-ea"/>
                    <a:cs typeface="Times New Roman" panose="02020603050405020304" pitchFamily="18" charset="0"/>
                  </a:rPr>
                  <a:t>，年龄包含</a:t>
                </a:r>
                <a:r>
                  <a:rPr lang="en-US" altLang="zh-CN" dirty="0">
                    <a:solidFill>
                      <a:srgbClr val="000000"/>
                    </a:solidFill>
                    <a:latin typeface="+mj-ea"/>
                    <a:ea typeface="+mj-ea"/>
                    <a:cs typeface="Times New Roman" panose="02020603050405020304" pitchFamily="18" charset="0"/>
                  </a:rPr>
                  <a:t>“&gt;30”</a:t>
                </a:r>
                <a:r>
                  <a:rPr lang="zh-CN" altLang="zh-CN" dirty="0">
                    <a:solidFill>
                      <a:srgbClr val="000000"/>
                    </a:solidFill>
                    <a:latin typeface="+mj-ea"/>
                    <a:ea typeface="+mj-ea"/>
                    <a:cs typeface="Times New Roman" panose="02020603050405020304" pitchFamily="18" charset="0"/>
                  </a:rPr>
                  <a:t>、</a:t>
                </a:r>
                <a:r>
                  <a:rPr lang="en-US" altLang="zh-CN" dirty="0">
                    <a:solidFill>
                      <a:srgbClr val="000000"/>
                    </a:solidFill>
                    <a:latin typeface="+mj-ea"/>
                    <a:ea typeface="+mj-ea"/>
                    <a:cs typeface="Times New Roman" panose="02020603050405020304" pitchFamily="18" charset="0"/>
                  </a:rPr>
                  <a:t>“20~30”</a:t>
                </a:r>
                <a:r>
                  <a:rPr lang="zh-CN" altLang="zh-CN" dirty="0">
                    <a:solidFill>
                      <a:srgbClr val="000000"/>
                    </a:solidFill>
                    <a:latin typeface="+mj-ea"/>
                    <a:ea typeface="+mj-ea"/>
                    <a:cs typeface="Times New Roman" panose="02020603050405020304" pitchFamily="18" charset="0"/>
                  </a:rPr>
                  <a:t>、</a:t>
                </a:r>
                <a:r>
                  <a:rPr lang="en-US" altLang="zh-CN" dirty="0">
                    <a:solidFill>
                      <a:srgbClr val="000000"/>
                    </a:solidFill>
                    <a:latin typeface="+mj-ea"/>
                    <a:ea typeface="+mj-ea"/>
                    <a:cs typeface="Times New Roman" panose="02020603050405020304" pitchFamily="18" charset="0"/>
                  </a:rPr>
                  <a:t>“&lt;20”</a:t>
                </a:r>
                <a:r>
                  <a:rPr lang="zh-CN" altLang="zh-CN" dirty="0">
                    <a:solidFill>
                      <a:srgbClr val="000000"/>
                    </a:solidFill>
                    <a:latin typeface="+mj-ea"/>
                    <a:ea typeface="+mj-ea"/>
                    <a:cs typeface="Times New Roman" panose="02020603050405020304" pitchFamily="18" charset="0"/>
                  </a:rPr>
                  <a:t>三个属性取值。这三个属性取值对</a:t>
                </a:r>
                <a:r>
                  <a:rPr lang="en-US" altLang="zh-CN" dirty="0">
                    <a:solidFill>
                      <a:srgbClr val="000000"/>
                    </a:solidFill>
                    <a:latin typeface="+mj-ea"/>
                    <a:ea typeface="+mj-ea"/>
                    <a:cs typeface="Times New Roman" panose="02020603050405020304" pitchFamily="18" charset="0"/>
                  </a:rPr>
                  <a:t>14</a:t>
                </a:r>
                <a:r>
                  <a:rPr lang="zh-CN" altLang="zh-CN" dirty="0">
                    <a:solidFill>
                      <a:srgbClr val="000000"/>
                    </a:solidFill>
                    <a:latin typeface="+mj-ea"/>
                    <a:ea typeface="+mj-ea"/>
                    <a:cs typeface="Times New Roman" panose="02020603050405020304" pitchFamily="18" charset="0"/>
                  </a:rPr>
                  <a:t>个样本进行划分，在决策树中产生了三个分支结点，每个分支结点包含一个数据子集，三个数据子集构成了对原数据的划分。如</a:t>
                </a:r>
                <a:r>
                  <a:rPr lang="en-US" altLang="zh-CN" dirty="0">
                    <a:solidFill>
                      <a:srgbClr val="000000"/>
                    </a:solidFill>
                    <a:latin typeface="+mj-ea"/>
                    <a:ea typeface="+mj-ea"/>
                    <a:cs typeface="Times New Roman" panose="02020603050405020304" pitchFamily="18" charset="0"/>
                  </a:rPr>
                  <a:t>“20~30”</a:t>
                </a:r>
                <a:r>
                  <a:rPr lang="zh-CN" altLang="zh-CN" dirty="0">
                    <a:solidFill>
                      <a:srgbClr val="000000"/>
                    </a:solidFill>
                    <a:latin typeface="+mj-ea"/>
                    <a:ea typeface="+mj-ea"/>
                    <a:cs typeface="Times New Roman" panose="02020603050405020304" pitchFamily="18" charset="0"/>
                  </a:rPr>
                  <a:t>这一属性取值包含四个样本</a:t>
                </a:r>
                <a:r>
                  <a:rPr lang="en-US" altLang="zh-CN" dirty="0">
                    <a:solidFill>
                      <a:srgbClr val="000000"/>
                    </a:solidFill>
                    <a:latin typeface="+mj-ea"/>
                    <a:ea typeface="+mj-ea"/>
                    <a:cs typeface="Times New Roman" panose="02020603050405020304" pitchFamily="18" charset="0"/>
                  </a:rPr>
                  <a:t>{3, 7,12,13}</a:t>
                </a:r>
                <a:r>
                  <a:rPr lang="zh-CN" altLang="zh-CN" dirty="0">
                    <a:solidFill>
                      <a:srgbClr val="000000"/>
                    </a:solidFill>
                    <a:latin typeface="+mj-ea"/>
                    <a:ea typeface="+mj-ea"/>
                    <a:cs typeface="Times New Roman" panose="02020603050405020304" pitchFamily="18" charset="0"/>
                  </a:rPr>
                  <a:t>。</a:t>
                </a:r>
              </a:p>
              <a:p>
                <a:pPr indent="266700" algn="just">
                  <a:lnSpc>
                    <a:spcPct val="150000"/>
                  </a:lnSpc>
                  <a:spcAft>
                    <a:spcPts val="0"/>
                  </a:spcAft>
                </a:pPr>
                <a:r>
                  <a:rPr lang="zh-CN" altLang="zh-CN" dirty="0">
                    <a:solidFill>
                      <a:srgbClr val="000000"/>
                    </a:solidFill>
                    <a:latin typeface="+mj-ea"/>
                    <a:ea typeface="+mj-ea"/>
                    <a:cs typeface="Times New Roman" panose="02020603050405020304" pitchFamily="18" charset="0"/>
                  </a:rPr>
                  <a:t>对年龄属性划分出的子样本集情况的统计如表</a:t>
                </a:r>
                <a:r>
                  <a:rPr lang="en-US" altLang="zh-CN" dirty="0">
                    <a:solidFill>
                      <a:srgbClr val="000000"/>
                    </a:solidFill>
                    <a:latin typeface="+mj-ea"/>
                    <a:ea typeface="+mj-ea"/>
                    <a:cs typeface="Times New Roman" panose="02020603050405020304" pitchFamily="18" charset="0"/>
                  </a:rPr>
                  <a:t>4.6</a:t>
                </a:r>
                <a:r>
                  <a:rPr lang="zh-CN" altLang="zh-CN" dirty="0">
                    <a:solidFill>
                      <a:srgbClr val="000000"/>
                    </a:solidFill>
                    <a:latin typeface="+mj-ea"/>
                    <a:ea typeface="+mj-ea"/>
                    <a:cs typeface="Times New Roman" panose="02020603050405020304" pitchFamily="18" charset="0"/>
                  </a:rPr>
                  <a:t>所示。这里记属性取值为</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𝑎</m:t>
                        </m:r>
                      </m:e>
                      <m:sub>
                        <m:r>
                          <a:rPr lang="en-US" altLang="zh-CN" i="1">
                            <a:solidFill>
                              <a:srgbClr val="000000"/>
                            </a:solidFill>
                            <a:latin typeface="Cambria Math" panose="02040503050406030204" pitchFamily="18" charset="0"/>
                            <a:ea typeface="+mj-ea"/>
                            <a:cs typeface="Times New Roman" panose="02020603050405020304" pitchFamily="18" charset="0"/>
                          </a:rPr>
                          <m:t>𝑖</m:t>
                        </m:r>
                      </m:sub>
                    </m:sSub>
                  </m:oMath>
                </a14:m>
                <a:r>
                  <a:rPr lang="zh-CN" altLang="zh-CN" dirty="0">
                    <a:solidFill>
                      <a:srgbClr val="000000"/>
                    </a:solidFill>
                    <a:latin typeface="+mj-ea"/>
                    <a:ea typeface="+mj-ea"/>
                    <a:cs typeface="Times New Roman" panose="02020603050405020304" pitchFamily="18" charset="0"/>
                  </a:rPr>
                  <a:t>（即</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𝑎</m:t>
                        </m:r>
                      </m:e>
                      <m:sub>
                        <m:r>
                          <a:rPr lang="en-US" altLang="zh-CN" i="1">
                            <a:solidFill>
                              <a:srgbClr val="000000"/>
                            </a:solidFill>
                            <a:latin typeface="Cambria Math" panose="02040503050406030204" pitchFamily="18" charset="0"/>
                            <a:ea typeface="+mj-ea"/>
                            <a:cs typeface="Times New Roman" panose="02020603050405020304" pitchFamily="18" charset="0"/>
                          </a:rPr>
                          <m:t>0</m:t>
                        </m:r>
                      </m:sub>
                    </m:sSub>
                    <m:r>
                      <a:rPr lang="en-US" altLang="zh-CN" i="1">
                        <a:solidFill>
                          <a:srgbClr val="000000"/>
                        </a:solidFill>
                        <a:latin typeface="Cambria Math" panose="02040503050406030204" pitchFamily="18" charset="0"/>
                        <a:ea typeface="+mj-ea"/>
                        <a:cs typeface="Times New Roman" panose="02020603050405020304" pitchFamily="18" charset="0"/>
                      </a:rPr>
                      <m:t>=“</m:t>
                    </m:r>
                    <m:r>
                      <a:rPr lang="zh-CN" altLang="zh-CN">
                        <a:solidFill>
                          <a:srgbClr val="000000"/>
                        </a:solidFill>
                        <a:latin typeface="Cambria Math" panose="02040503050406030204" pitchFamily="18" charset="0"/>
                        <a:ea typeface="+mj-ea"/>
                        <a:cs typeface="Times New Roman" panose="02020603050405020304" pitchFamily="18" charset="0"/>
                      </a:rPr>
                      <m:t>年龄</m:t>
                    </m:r>
                    <m:r>
                      <a:rPr lang="en-US" altLang="zh-CN">
                        <a:solidFill>
                          <a:srgbClr val="000000"/>
                        </a:solidFill>
                        <a:latin typeface="Cambria Math" panose="02040503050406030204" pitchFamily="18" charset="0"/>
                        <a:ea typeface="+mj-ea"/>
                        <a:cs typeface="Times New Roman" panose="02020603050405020304" pitchFamily="18" charset="0"/>
                      </a:rPr>
                      <m:t>&gt;30</m:t>
                    </m:r>
                    <m:r>
                      <a:rPr lang="en-US" altLang="zh-CN" i="1">
                        <a:solidFill>
                          <a:srgbClr val="000000"/>
                        </a:solidFill>
                        <a:latin typeface="Cambria Math" panose="02040503050406030204" pitchFamily="18" charset="0"/>
                        <a:ea typeface="+mj-ea"/>
                        <a:cs typeface="Times New Roman" panose="02020603050405020304" pitchFamily="18" charset="0"/>
                      </a:rPr>
                      <m:t>”</m:t>
                    </m:r>
                  </m:oMath>
                </a14:m>
                <a:r>
                  <a:rPr lang="zh-CN" altLang="zh-CN" dirty="0">
                    <a:solidFill>
                      <a:srgbClr val="000000"/>
                    </a:solidFill>
                    <a:latin typeface="+mj-ea"/>
                    <a:ea typeface="+mj-ea"/>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𝑎</m:t>
                        </m:r>
                      </m:e>
                      <m:sub>
                        <m:r>
                          <a:rPr lang="en-US" altLang="zh-CN" i="1">
                            <a:solidFill>
                              <a:srgbClr val="000000"/>
                            </a:solidFill>
                            <a:latin typeface="Cambria Math" panose="02040503050406030204" pitchFamily="18" charset="0"/>
                            <a:ea typeface="+mj-ea"/>
                            <a:cs typeface="Times New Roman" panose="02020603050405020304" pitchFamily="18" charset="0"/>
                          </a:rPr>
                          <m:t>1</m:t>
                        </m:r>
                      </m:sub>
                    </m:sSub>
                    <m:r>
                      <a:rPr lang="en-US" altLang="zh-CN" i="1">
                        <a:solidFill>
                          <a:srgbClr val="000000"/>
                        </a:solidFill>
                        <a:latin typeface="Cambria Math" panose="02040503050406030204" pitchFamily="18" charset="0"/>
                        <a:ea typeface="+mj-ea"/>
                        <a:cs typeface="Times New Roman" panose="02020603050405020304" pitchFamily="18" charset="0"/>
                      </a:rPr>
                      <m:t>=“</m:t>
                    </m:r>
                    <m:r>
                      <a:rPr lang="zh-CN" altLang="zh-CN">
                        <a:solidFill>
                          <a:srgbClr val="000000"/>
                        </a:solidFill>
                        <a:latin typeface="Cambria Math" panose="02040503050406030204" pitchFamily="18" charset="0"/>
                        <a:ea typeface="+mj-ea"/>
                        <a:cs typeface="Times New Roman" panose="02020603050405020304" pitchFamily="18" charset="0"/>
                      </a:rPr>
                      <m:t>年龄</m:t>
                    </m:r>
                    <m:r>
                      <a:rPr lang="en-US" altLang="zh-CN">
                        <a:solidFill>
                          <a:srgbClr val="000000"/>
                        </a:solidFill>
                        <a:latin typeface="Cambria Math" panose="02040503050406030204" pitchFamily="18" charset="0"/>
                        <a:ea typeface="+mj-ea"/>
                        <a:cs typeface="Times New Roman" panose="02020603050405020304" pitchFamily="18" charset="0"/>
                      </a:rPr>
                      <m:t>20~30</m:t>
                    </m:r>
                    <m:r>
                      <a:rPr lang="en-US" altLang="zh-CN" i="1">
                        <a:solidFill>
                          <a:srgbClr val="000000"/>
                        </a:solidFill>
                        <a:latin typeface="Cambria Math" panose="02040503050406030204" pitchFamily="18" charset="0"/>
                        <a:ea typeface="+mj-ea"/>
                        <a:cs typeface="Times New Roman" panose="02020603050405020304" pitchFamily="18" charset="0"/>
                      </a:rPr>
                      <m:t>”</m:t>
                    </m:r>
                  </m:oMath>
                </a14:m>
                <a:r>
                  <a:rPr lang="zh-CN" altLang="zh-CN" dirty="0">
                    <a:solidFill>
                      <a:srgbClr val="000000"/>
                    </a:solidFill>
                    <a:latin typeface="+mj-ea"/>
                    <a:ea typeface="+mj-ea"/>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𝑎</m:t>
                        </m:r>
                      </m:e>
                      <m:sub>
                        <m:r>
                          <a:rPr lang="en-US" altLang="zh-CN" i="1">
                            <a:solidFill>
                              <a:srgbClr val="000000"/>
                            </a:solidFill>
                            <a:latin typeface="Cambria Math" panose="02040503050406030204" pitchFamily="18" charset="0"/>
                            <a:ea typeface="+mj-ea"/>
                            <a:cs typeface="Times New Roman" panose="02020603050405020304" pitchFamily="18" charset="0"/>
                          </a:rPr>
                          <m:t>2</m:t>
                        </m:r>
                      </m:sub>
                    </m:sSub>
                    <m:r>
                      <a:rPr lang="en-US" altLang="zh-CN" i="1">
                        <a:solidFill>
                          <a:srgbClr val="000000"/>
                        </a:solidFill>
                        <a:latin typeface="Cambria Math" panose="02040503050406030204" pitchFamily="18" charset="0"/>
                        <a:ea typeface="+mj-ea"/>
                        <a:cs typeface="Times New Roman" panose="02020603050405020304" pitchFamily="18" charset="0"/>
                      </a:rPr>
                      <m:t>=“</m:t>
                    </m:r>
                    <m:r>
                      <a:rPr lang="zh-CN" altLang="zh-CN">
                        <a:solidFill>
                          <a:srgbClr val="000000"/>
                        </a:solidFill>
                        <a:latin typeface="Cambria Math" panose="02040503050406030204" pitchFamily="18" charset="0"/>
                        <a:ea typeface="+mj-ea"/>
                        <a:cs typeface="Times New Roman" panose="02020603050405020304" pitchFamily="18" charset="0"/>
                      </a:rPr>
                      <m:t>年龄</m:t>
                    </m:r>
                    <m:r>
                      <a:rPr lang="en-US" altLang="zh-CN" i="1">
                        <a:solidFill>
                          <a:srgbClr val="000000"/>
                        </a:solidFill>
                        <a:latin typeface="Cambria Math" panose="02040503050406030204" pitchFamily="18" charset="0"/>
                        <a:ea typeface="+mj-ea"/>
                        <a:cs typeface="Times New Roman" panose="02020603050405020304" pitchFamily="18" charset="0"/>
                      </a:rPr>
                      <m:t>&lt;</m:t>
                    </m:r>
                    <m:r>
                      <a:rPr lang="en-US" altLang="zh-CN">
                        <a:solidFill>
                          <a:srgbClr val="000000"/>
                        </a:solidFill>
                        <a:latin typeface="Cambria Math" panose="02040503050406030204" pitchFamily="18" charset="0"/>
                        <a:ea typeface="+mj-ea"/>
                        <a:cs typeface="Times New Roman" panose="02020603050405020304" pitchFamily="18" charset="0"/>
                      </a:rPr>
                      <m:t>20</m:t>
                    </m:r>
                    <m:r>
                      <a:rPr lang="en-US" altLang="zh-CN" i="1">
                        <a:solidFill>
                          <a:srgbClr val="000000"/>
                        </a:solidFill>
                        <a:latin typeface="Cambria Math" panose="02040503050406030204" pitchFamily="18" charset="0"/>
                        <a:ea typeface="+mj-ea"/>
                        <a:cs typeface="Times New Roman" panose="02020603050405020304" pitchFamily="18" charset="0"/>
                      </a:rPr>
                      <m:t>”</m:t>
                    </m:r>
                  </m:oMath>
                </a14:m>
                <a:r>
                  <a:rPr lang="zh-CN" altLang="zh-CN" dirty="0">
                    <a:solidFill>
                      <a:srgbClr val="000000"/>
                    </a:solidFill>
                    <a:latin typeface="+mj-ea"/>
                    <a:ea typeface="+mj-ea"/>
                    <a:cs typeface="Times New Roman" panose="02020603050405020304" pitchFamily="18" charset="0"/>
                  </a:rPr>
                  <a:t>）。属性取值</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𝑎</m:t>
                        </m:r>
                      </m:e>
                      <m:sub>
                        <m:r>
                          <a:rPr lang="en-US" altLang="zh-CN" i="1">
                            <a:solidFill>
                              <a:srgbClr val="000000"/>
                            </a:solidFill>
                            <a:latin typeface="Cambria Math" panose="02040503050406030204" pitchFamily="18" charset="0"/>
                            <a:ea typeface="+mj-ea"/>
                            <a:cs typeface="Times New Roman" panose="02020603050405020304" pitchFamily="18" charset="0"/>
                          </a:rPr>
                          <m:t>𝑖</m:t>
                        </m:r>
                      </m:sub>
                    </m:sSub>
                  </m:oMath>
                </a14:m>
                <a:r>
                  <a:rPr lang="zh-CN" altLang="zh-CN" dirty="0">
                    <a:solidFill>
                      <a:srgbClr val="000000"/>
                    </a:solidFill>
                    <a:latin typeface="+mj-ea"/>
                    <a:ea typeface="+mj-ea"/>
                    <a:cs typeface="Times New Roman" panose="02020603050405020304" pitchFamily="18" charset="0"/>
                  </a:rPr>
                  <a:t>划分出的子样本集记为</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𝐷</m:t>
                        </m:r>
                      </m:e>
                      <m:sub>
                        <m:r>
                          <a:rPr lang="en-US" altLang="zh-CN" i="1">
                            <a:solidFill>
                              <a:srgbClr val="000000"/>
                            </a:solidFill>
                            <a:latin typeface="Cambria Math" panose="02040503050406030204" pitchFamily="18" charset="0"/>
                            <a:ea typeface="+mj-ea"/>
                            <a:cs typeface="Times New Roman" panose="02020603050405020304" pitchFamily="18" charset="0"/>
                          </a:rPr>
                          <m:t>𝑖</m:t>
                        </m:r>
                      </m:sub>
                    </m:sSub>
                  </m:oMath>
                </a14:m>
                <a:r>
                  <a:rPr lang="zh-CN" altLang="zh-CN" dirty="0">
                    <a:solidFill>
                      <a:srgbClr val="000000"/>
                    </a:solidFill>
                    <a:latin typeface="+mj-ea"/>
                    <a:ea typeface="+mj-ea"/>
                    <a:cs typeface="Times New Roman" panose="02020603050405020304" pitchFamily="18" charset="0"/>
                  </a:rPr>
                  <a:t>，该子样本集包含样本数量记为</a:t>
                </a:r>
                <a14:m>
                  <m:oMath xmlns:m="http://schemas.openxmlformats.org/officeDocument/2006/math">
                    <m:sSub>
                      <m:sSubPr>
                        <m:ctrlPr>
                          <a:rPr lang="zh-CN" altLang="zh-CN" i="1">
                            <a:solidFill>
                              <a:srgbClr val="000000"/>
                            </a:solidFill>
                            <a:latin typeface="Cambria Math" panose="02040503050406030204" pitchFamily="18" charset="0"/>
                            <a:ea typeface="+mj-ea"/>
                            <a:cs typeface="Times New Roman" panose="02020603050405020304" pitchFamily="18" charset="0"/>
                          </a:rPr>
                        </m:ctrlPr>
                      </m:sSubPr>
                      <m:e>
                        <m:r>
                          <a:rPr lang="en-US" altLang="zh-CN" i="1">
                            <a:solidFill>
                              <a:srgbClr val="000000"/>
                            </a:solidFill>
                            <a:latin typeface="Cambria Math" panose="02040503050406030204" pitchFamily="18" charset="0"/>
                            <a:ea typeface="+mj-ea"/>
                            <a:cs typeface="Times New Roman" panose="02020603050405020304" pitchFamily="18" charset="0"/>
                          </a:rPr>
                          <m:t>|</m:t>
                        </m:r>
                        <m:r>
                          <a:rPr lang="en-US" altLang="zh-CN" i="1">
                            <a:solidFill>
                              <a:srgbClr val="000000"/>
                            </a:solidFill>
                            <a:latin typeface="Cambria Math" panose="02040503050406030204" pitchFamily="18" charset="0"/>
                            <a:ea typeface="+mj-ea"/>
                            <a:cs typeface="Times New Roman" panose="02020603050405020304" pitchFamily="18" charset="0"/>
                          </a:rPr>
                          <m:t>𝐷</m:t>
                        </m:r>
                      </m:e>
                      <m:sub>
                        <m:r>
                          <a:rPr lang="en-US" altLang="zh-CN" i="1">
                            <a:solidFill>
                              <a:srgbClr val="000000"/>
                            </a:solidFill>
                            <a:latin typeface="Cambria Math" panose="02040503050406030204" pitchFamily="18" charset="0"/>
                            <a:ea typeface="+mj-ea"/>
                            <a:cs typeface="Times New Roman" panose="02020603050405020304" pitchFamily="18" charset="0"/>
                          </a:rPr>
                          <m:t>𝑖</m:t>
                        </m:r>
                      </m:sub>
                    </m:sSub>
                    <m:r>
                      <a:rPr lang="en-US" altLang="zh-CN" i="1">
                        <a:solidFill>
                          <a:srgbClr val="000000"/>
                        </a:solidFill>
                        <a:latin typeface="Cambria Math" panose="02040503050406030204" pitchFamily="18" charset="0"/>
                        <a:ea typeface="+mj-ea"/>
                        <a:cs typeface="Times New Roman" panose="02020603050405020304" pitchFamily="18" charset="0"/>
                      </a:rPr>
                      <m:t>|</m:t>
                    </m:r>
                  </m:oMath>
                </a14:m>
                <a:r>
                  <a:rPr lang="zh-CN" altLang="zh-CN" dirty="0">
                    <a:solidFill>
                      <a:srgbClr val="000000"/>
                    </a:solidFill>
                    <a:latin typeface="+mj-ea"/>
                    <a:ea typeface="+mj-ea"/>
                    <a:cs typeface="Times New Roman" panose="02020603050405020304" pitchFamily="18" charset="0"/>
                  </a:rPr>
                  <a:t>。</a:t>
                </a:r>
              </a:p>
            </p:txBody>
          </p:sp>
        </mc:Choice>
        <mc:Fallback xmlns="">
          <p:sp>
            <p:nvSpPr>
              <p:cNvPr id="8" name="矩形 7"/>
              <p:cNvSpPr>
                <a:spLocks noRot="1" noChangeAspect="1" noMove="1" noResize="1" noEditPoints="1" noAdjustHandles="1" noChangeArrowheads="1" noChangeShapeType="1" noTextEdit="1"/>
              </p:cNvSpPr>
              <p:nvPr/>
            </p:nvSpPr>
            <p:spPr>
              <a:xfrm>
                <a:off x="732155" y="1365885"/>
                <a:ext cx="10007600" cy="2388870"/>
              </a:xfrm>
              <a:prstGeom prst="rect">
                <a:avLst/>
              </a:prstGeom>
              <a:blipFill>
                <a:blip r:embed="rId4"/>
                <a:stretch>
                  <a:fillRect l="-487" r="-487" b="-438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36433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mc:AlternateContent xmlns:mc="http://schemas.openxmlformats.org/markup-compatibility/2006" xmlns:a14="http://schemas.microsoft.com/office/drawing/2010/main">
        <mc:Choice Requires="a14">
          <p:sp>
            <p:nvSpPr>
              <p:cNvPr id="6" name="矩形 5"/>
              <p:cNvSpPr/>
              <p:nvPr/>
            </p:nvSpPr>
            <p:spPr>
              <a:xfrm>
                <a:off x="816610" y="1639570"/>
                <a:ext cx="8930005" cy="3264420"/>
              </a:xfrm>
              <a:prstGeom prst="rect">
                <a:avLst/>
              </a:prstGeom>
            </p:spPr>
            <p:txBody>
              <a:bodyPr wrap="square">
                <a:spAutoFit/>
              </a:bodyPr>
              <a:lstStyle/>
              <a:p>
                <a:pPr indent="266700" algn="just">
                  <a:lnSpc>
                    <a:spcPts val="2200"/>
                  </a:lnSpc>
                  <a:spcBef>
                    <a:spcPts val="600"/>
                  </a:spcBef>
                  <a:spcAft>
                    <a:spcPts val="0"/>
                  </a:spcAft>
                </a:pPr>
                <a:r>
                  <a:rPr lang="zh-CN" altLang="zh-CN" sz="2000" dirty="0">
                    <a:solidFill>
                      <a:srgbClr val="000000"/>
                    </a:solidFill>
                    <a:latin typeface="+mj-ea"/>
                    <a:ea typeface="+mj-ea"/>
                    <a:cs typeface="Times New Roman" panose="02020603050405020304" pitchFamily="18" charset="0"/>
                  </a:rPr>
                  <a:t>根据表</a:t>
                </a:r>
                <a:r>
                  <a:rPr lang="en-US" altLang="zh-CN" sz="2000" dirty="0">
                    <a:solidFill>
                      <a:srgbClr val="000000"/>
                    </a:solidFill>
                    <a:latin typeface="+mj-ea"/>
                    <a:ea typeface="+mj-ea"/>
                    <a:cs typeface="Times New Roman" panose="02020603050405020304" pitchFamily="18" charset="0"/>
                  </a:rPr>
                  <a:t>4.6</a:t>
                </a:r>
                <a:r>
                  <a:rPr lang="zh-CN" altLang="zh-CN" sz="2000" dirty="0">
                    <a:solidFill>
                      <a:srgbClr val="000000"/>
                    </a:solidFill>
                    <a:latin typeface="+mj-ea"/>
                    <a:ea typeface="+mj-ea"/>
                    <a:cs typeface="Times New Roman" panose="02020603050405020304" pitchFamily="18" charset="0"/>
                  </a:rPr>
                  <a:t>的统计情况，计算每个属性值划分出的子样本集（即每个分支节点）的信息熵：</a:t>
                </a:r>
              </a:p>
              <a:p>
                <a:pPr indent="266700" algn="just">
                  <a:lnSpc>
                    <a:spcPts val="2200"/>
                  </a:lnSpc>
                  <a:spcBef>
                    <a:spcPts val="600"/>
                  </a:spcBef>
                  <a:spcAft>
                    <a:spcPts val="0"/>
                  </a:spcAft>
                </a:pPr>
                <a:endParaRPr lang="zh-CN" altLang="zh-CN" sz="2000" dirty="0">
                  <a:solidFill>
                    <a:srgbClr val="000000"/>
                  </a:solidFill>
                  <a:latin typeface="+mj-ea"/>
                  <a:ea typeface="+mj-ea"/>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m:t>
                      </m:r>
                      <m:r>
                        <a:rPr lang="zh-CN" altLang="zh-CN" sz="2000" kern="100">
                          <a:latin typeface="Cambria Math" panose="02040503050406030204" pitchFamily="18" charset="0"/>
                          <a:ea typeface="+mj-ea"/>
                          <a:cs typeface="Times New Roman" panose="02020603050405020304" pitchFamily="18" charset="0"/>
                        </a:rPr>
                        <m:t>年龄</m:t>
                      </m:r>
                      <m:r>
                        <a:rPr lang="en-US" altLang="zh-CN" sz="2000" kern="100">
                          <a:latin typeface="Cambria Math" panose="02040503050406030204" pitchFamily="18" charset="0"/>
                          <a:ea typeface="+mj-ea"/>
                          <a:cs typeface="Times New Roman" panose="02020603050405020304" pitchFamily="18" charset="0"/>
                        </a:rPr>
                        <m:t>&gt;30”:   </m:t>
                      </m:r>
                      <m:r>
                        <a:rPr lang="en-US" altLang="zh-CN" sz="2000" i="1" kern="100">
                          <a:latin typeface="Cambria Math" panose="02040503050406030204" pitchFamily="18" charset="0"/>
                          <a:ea typeface="+mj-ea"/>
                          <a:cs typeface="Times New Roman" panose="02020603050405020304" pitchFamily="18" charset="0"/>
                        </a:rPr>
                        <m:t>𝐸𝑛𝑡</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𝐷</m:t>
                              </m:r>
                            </m:e>
                            <m:sub>
                              <m:r>
                                <a:rPr lang="en-US" altLang="zh-CN" sz="2000" i="1" kern="100">
                                  <a:latin typeface="Cambria Math" panose="02040503050406030204" pitchFamily="18" charset="0"/>
                                  <a:ea typeface="+mj-ea"/>
                                  <a:cs typeface="Times New Roman" panose="02020603050405020304" pitchFamily="18" charset="0"/>
                                </a:rPr>
                                <m:t>0</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m:t>
                      </m:r>
                      <m:d>
                        <m:dPr>
                          <m:ctrlPr>
                            <a:rPr lang="zh-CN" altLang="zh-CN" sz="2000" i="1" kern="100">
                              <a:latin typeface="Cambria Math" panose="02040503050406030204" pitchFamily="18" charset="0"/>
                              <a:ea typeface="+mj-ea"/>
                              <a:cs typeface="Times New Roman" panose="02020603050405020304" pitchFamily="18" charset="0"/>
                            </a:rPr>
                          </m:ctrlPr>
                        </m:dPr>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m:t>
                              </m:r>
                            </m:num>
                            <m:den>
                              <m:r>
                                <a:rPr lang="en-US" altLang="zh-CN" sz="2000" kern="100">
                                  <a:latin typeface="Cambria Math" panose="02040503050406030204" pitchFamily="18" charset="0"/>
                                  <a:ea typeface="+mj-ea"/>
                                  <a:cs typeface="Times New Roman" panose="02020603050405020304" pitchFamily="18" charset="0"/>
                                </a:rPr>
                                <m:t>5</m:t>
                              </m:r>
                            </m:den>
                          </m:f>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m:t>
                                  </m:r>
                                </m:num>
                                <m:den>
                                  <m:r>
                                    <a:rPr lang="en-US" altLang="zh-CN" sz="2000" kern="100">
                                      <a:latin typeface="Cambria Math" panose="02040503050406030204" pitchFamily="18" charset="0"/>
                                      <a:ea typeface="+mj-ea"/>
                                      <a:cs typeface="Times New Roman" panose="02020603050405020304" pitchFamily="18" charset="0"/>
                                    </a:rPr>
                                    <m:t>5</m:t>
                                  </m:r>
                                </m:den>
                              </m:f>
                            </m:e>
                          </m:func>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3</m:t>
                              </m:r>
                            </m:num>
                            <m:den>
                              <m:r>
                                <a:rPr lang="en-US" altLang="zh-CN" sz="2000" kern="100">
                                  <a:latin typeface="Cambria Math" panose="02040503050406030204" pitchFamily="18" charset="0"/>
                                  <a:ea typeface="+mj-ea"/>
                                  <a:cs typeface="Times New Roman" panose="02020603050405020304" pitchFamily="18" charset="0"/>
                                </a:rPr>
                                <m:t>5</m:t>
                              </m:r>
                            </m:den>
                          </m:f>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3</m:t>
                                  </m:r>
                                </m:num>
                                <m:den>
                                  <m:r>
                                    <a:rPr lang="en-US" altLang="zh-CN" sz="2000" kern="100">
                                      <a:latin typeface="Cambria Math" panose="02040503050406030204" pitchFamily="18" charset="0"/>
                                      <a:ea typeface="+mj-ea"/>
                                      <a:cs typeface="Times New Roman" panose="02020603050405020304" pitchFamily="18" charset="0"/>
                                    </a:rPr>
                                    <m:t>5</m:t>
                                  </m:r>
                                </m:den>
                              </m:f>
                            </m:e>
                          </m:func>
                        </m:e>
                      </m:d>
                      <m:r>
                        <a:rPr lang="en-US" altLang="zh-CN" sz="2000" kern="100">
                          <a:latin typeface="Cambria Math" panose="02040503050406030204" pitchFamily="18" charset="0"/>
                          <a:ea typeface="+mj-ea"/>
                          <a:cs typeface="Times New Roman" panose="02020603050405020304" pitchFamily="18" charset="0"/>
                        </a:rPr>
                        <m:t>=0.971</m:t>
                      </m:r>
                    </m:oMath>
                  </m:oMathPara>
                </a14:m>
                <a:endParaRPr lang="zh-CN" altLang="zh-CN" sz="2000" kern="100" dirty="0">
                  <a:latin typeface="+mj-ea"/>
                  <a:ea typeface="+mj-ea"/>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m:t>
                      </m:r>
                      <m:r>
                        <a:rPr lang="zh-CN" altLang="zh-CN" sz="2000" kern="100">
                          <a:latin typeface="Cambria Math" panose="02040503050406030204" pitchFamily="18" charset="0"/>
                          <a:ea typeface="+mj-ea"/>
                          <a:cs typeface="Times New Roman" panose="02020603050405020304" pitchFamily="18" charset="0"/>
                        </a:rPr>
                        <m:t>年龄</m:t>
                      </m:r>
                      <m:r>
                        <a:rPr lang="en-US" altLang="zh-CN" sz="2000" kern="100">
                          <a:latin typeface="Cambria Math" panose="02040503050406030204" pitchFamily="18" charset="0"/>
                          <a:ea typeface="+mj-ea"/>
                          <a:cs typeface="Times New Roman" panose="02020603050405020304" pitchFamily="18" charset="0"/>
                        </a:rPr>
                        <m:t>20~30”:   </m:t>
                      </m:r>
                      <m:r>
                        <a:rPr lang="en-US" altLang="zh-CN" sz="2000" i="1" kern="100">
                          <a:latin typeface="Cambria Math" panose="02040503050406030204" pitchFamily="18" charset="0"/>
                          <a:ea typeface="+mj-ea"/>
                          <a:cs typeface="Times New Roman" panose="02020603050405020304" pitchFamily="18" charset="0"/>
                        </a:rPr>
                        <m:t>𝐸𝑛𝑡</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𝐷</m:t>
                              </m:r>
                            </m:e>
                            <m:sub>
                              <m:r>
                                <a:rPr lang="en-US" altLang="zh-CN" sz="2000" i="1" kern="100">
                                  <a:latin typeface="Cambria Math" panose="02040503050406030204" pitchFamily="18" charset="0"/>
                                  <a:ea typeface="+mj-ea"/>
                                  <a:cs typeface="Times New Roman" panose="02020603050405020304" pitchFamily="18" charset="0"/>
                                </a:rPr>
                                <m:t>1</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m:t>
                      </m:r>
                      <m:d>
                        <m:dPr>
                          <m:ctrlPr>
                            <a:rPr lang="zh-CN" altLang="zh-CN" sz="2000" i="1" kern="100">
                              <a:latin typeface="Cambria Math" panose="02040503050406030204" pitchFamily="18" charset="0"/>
                              <a:ea typeface="+mj-ea"/>
                              <a:cs typeface="Times New Roman" panose="02020603050405020304" pitchFamily="18" charset="0"/>
                            </a:rPr>
                          </m:ctrlPr>
                        </m:dPr>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4</m:t>
                              </m:r>
                            </m:num>
                            <m:den>
                              <m:r>
                                <a:rPr lang="en-US" altLang="zh-CN" sz="2000" kern="100">
                                  <a:latin typeface="Cambria Math" panose="02040503050406030204" pitchFamily="18" charset="0"/>
                                  <a:ea typeface="+mj-ea"/>
                                  <a:cs typeface="Times New Roman" panose="02020603050405020304" pitchFamily="18" charset="0"/>
                                </a:rPr>
                                <m:t>4</m:t>
                              </m:r>
                            </m:den>
                          </m:f>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4</m:t>
                                  </m:r>
                                </m:num>
                                <m:den>
                                  <m:r>
                                    <a:rPr lang="en-US" altLang="zh-CN" sz="2000" kern="100">
                                      <a:latin typeface="Cambria Math" panose="02040503050406030204" pitchFamily="18" charset="0"/>
                                      <a:ea typeface="+mj-ea"/>
                                      <a:cs typeface="Times New Roman" panose="02020603050405020304" pitchFamily="18" charset="0"/>
                                    </a:rPr>
                                    <m:t>4</m:t>
                                  </m:r>
                                </m:den>
                              </m:f>
                            </m:e>
                          </m:func>
                          <m:r>
                            <a:rPr lang="en-US" altLang="zh-CN" sz="2000" kern="100">
                              <a:latin typeface="Cambria Math" panose="02040503050406030204" pitchFamily="18" charset="0"/>
                              <a:ea typeface="+mj-ea"/>
                              <a:cs typeface="Times New Roman" panose="02020603050405020304" pitchFamily="18" charset="0"/>
                            </a:rPr>
                            <m:t>+0</m:t>
                          </m:r>
                        </m:e>
                      </m:d>
                      <m:r>
                        <a:rPr lang="en-US" altLang="zh-CN" sz="2000" kern="100">
                          <a:latin typeface="Cambria Math" panose="02040503050406030204" pitchFamily="18" charset="0"/>
                          <a:ea typeface="+mj-ea"/>
                          <a:cs typeface="Times New Roman" panose="02020603050405020304" pitchFamily="18" charset="0"/>
                        </a:rPr>
                        <m:t>=0</m:t>
                      </m:r>
                    </m:oMath>
                  </m:oMathPara>
                </a14:m>
                <a:endParaRPr lang="zh-CN" altLang="zh-CN" sz="2000" kern="100" dirty="0">
                  <a:latin typeface="+mj-ea"/>
                  <a:ea typeface="+mj-ea"/>
                  <a:cs typeface="Times New Roman" panose="02020603050405020304" pitchFamily="18" charset="0"/>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2000" kern="100">
                          <a:latin typeface="Cambria Math" panose="02040503050406030204" pitchFamily="18" charset="0"/>
                          <a:ea typeface="+mj-ea"/>
                          <a:cs typeface="Times New Roman" panose="02020603050405020304" pitchFamily="18" charset="0"/>
                        </a:rPr>
                        <m:t>“</m:t>
                      </m:r>
                      <m:r>
                        <a:rPr lang="zh-CN" altLang="zh-CN" sz="2000" kern="100">
                          <a:latin typeface="Cambria Math" panose="02040503050406030204" pitchFamily="18" charset="0"/>
                          <a:ea typeface="+mj-ea"/>
                          <a:cs typeface="Times New Roman" panose="02020603050405020304" pitchFamily="18" charset="0"/>
                        </a:rPr>
                        <m:t>年龄</m:t>
                      </m:r>
                      <m:r>
                        <a:rPr lang="en-US" altLang="zh-CN" sz="2000" kern="100">
                          <a:latin typeface="Cambria Math" panose="02040503050406030204" pitchFamily="18" charset="0"/>
                          <a:ea typeface="+mj-ea"/>
                          <a:cs typeface="Times New Roman" panose="02020603050405020304" pitchFamily="18" charset="0"/>
                        </a:rPr>
                        <m:t>&lt;20”:   </m:t>
                      </m:r>
                      <m:r>
                        <a:rPr lang="en-US" altLang="zh-CN" sz="2000" i="1" kern="100">
                          <a:latin typeface="Cambria Math" panose="02040503050406030204" pitchFamily="18" charset="0"/>
                          <a:ea typeface="+mj-ea"/>
                          <a:cs typeface="Times New Roman" panose="02020603050405020304" pitchFamily="18" charset="0"/>
                        </a:rPr>
                        <m:t>𝐸𝑛𝑡</m:t>
                      </m:r>
                      <m:d>
                        <m:dPr>
                          <m:ctrlPr>
                            <a:rPr lang="zh-CN" altLang="zh-CN" sz="2000" i="1" kern="100">
                              <a:latin typeface="Cambria Math" panose="02040503050406030204" pitchFamily="18" charset="0"/>
                              <a:ea typeface="+mj-ea"/>
                              <a:cs typeface="Times New Roman" panose="02020603050405020304" pitchFamily="18" charset="0"/>
                            </a:rPr>
                          </m:ctrlPr>
                        </m:dPr>
                        <m:e>
                          <m:sSub>
                            <m:sSubPr>
                              <m:ctrlPr>
                                <a:rPr lang="zh-CN" altLang="zh-CN" sz="2000" i="1" kern="100">
                                  <a:latin typeface="Cambria Math" panose="02040503050406030204" pitchFamily="18" charset="0"/>
                                  <a:ea typeface="+mj-ea"/>
                                  <a:cs typeface="Times New Roman" panose="02020603050405020304" pitchFamily="18" charset="0"/>
                                </a:rPr>
                              </m:ctrlPr>
                            </m:sSubPr>
                            <m:e>
                              <m:r>
                                <a:rPr lang="en-US" altLang="zh-CN" sz="2000" i="1" kern="100">
                                  <a:latin typeface="Cambria Math" panose="02040503050406030204" pitchFamily="18" charset="0"/>
                                  <a:ea typeface="+mj-ea"/>
                                  <a:cs typeface="Times New Roman" panose="02020603050405020304" pitchFamily="18" charset="0"/>
                                </a:rPr>
                                <m:t>𝐷</m:t>
                              </m:r>
                            </m:e>
                            <m:sub>
                              <m:r>
                                <a:rPr lang="en-US" altLang="zh-CN" sz="2000" i="1" kern="100">
                                  <a:latin typeface="Cambria Math" panose="02040503050406030204" pitchFamily="18" charset="0"/>
                                  <a:ea typeface="+mj-ea"/>
                                  <a:cs typeface="Times New Roman" panose="02020603050405020304" pitchFamily="18" charset="0"/>
                                </a:rPr>
                                <m:t>2</m:t>
                              </m:r>
                            </m:sub>
                          </m:sSub>
                        </m:e>
                      </m:d>
                      <m:r>
                        <a:rPr lang="en-US" altLang="zh-CN" sz="2000" kern="100">
                          <a:latin typeface="Cambria Math" panose="02040503050406030204" pitchFamily="18" charset="0"/>
                          <a:ea typeface="+mj-ea"/>
                          <a:cs typeface="Times New Roman" panose="02020603050405020304" pitchFamily="18" charset="0"/>
                        </a:rPr>
                        <m:t>=</m:t>
                      </m:r>
                      <m:r>
                        <a:rPr lang="en-US" altLang="zh-CN" sz="2000" i="1" kern="100">
                          <a:latin typeface="Cambria Math" panose="02040503050406030204" pitchFamily="18" charset="0"/>
                          <a:ea typeface="+mj-ea"/>
                          <a:cs typeface="Times New Roman" panose="02020603050405020304" pitchFamily="18" charset="0"/>
                        </a:rPr>
                        <m:t>−</m:t>
                      </m:r>
                      <m:d>
                        <m:dPr>
                          <m:ctrlPr>
                            <a:rPr lang="zh-CN" altLang="zh-CN" sz="2000" i="1" kern="100">
                              <a:latin typeface="Cambria Math" panose="02040503050406030204" pitchFamily="18" charset="0"/>
                              <a:ea typeface="+mj-ea"/>
                              <a:cs typeface="Times New Roman" panose="02020603050405020304" pitchFamily="18" charset="0"/>
                            </a:rPr>
                          </m:ctrlPr>
                        </m:dPr>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3</m:t>
                              </m:r>
                            </m:num>
                            <m:den>
                              <m:r>
                                <a:rPr lang="en-US" altLang="zh-CN" sz="2000" kern="100">
                                  <a:latin typeface="Cambria Math" panose="02040503050406030204" pitchFamily="18" charset="0"/>
                                  <a:ea typeface="+mj-ea"/>
                                  <a:cs typeface="Times New Roman" panose="02020603050405020304" pitchFamily="18" charset="0"/>
                                </a:rPr>
                                <m:t>5</m:t>
                              </m:r>
                            </m:den>
                          </m:f>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3</m:t>
                                  </m:r>
                                </m:num>
                                <m:den>
                                  <m:r>
                                    <a:rPr lang="en-US" altLang="zh-CN" sz="2000" kern="100">
                                      <a:latin typeface="Cambria Math" panose="02040503050406030204" pitchFamily="18" charset="0"/>
                                      <a:ea typeface="+mj-ea"/>
                                      <a:cs typeface="Times New Roman" panose="02020603050405020304" pitchFamily="18" charset="0"/>
                                    </a:rPr>
                                    <m:t>5</m:t>
                                  </m:r>
                                </m:den>
                              </m:f>
                            </m:e>
                          </m:func>
                          <m:r>
                            <a:rPr lang="en-US" altLang="zh-CN" sz="2000" kern="100">
                              <a:latin typeface="Cambria Math" panose="02040503050406030204" pitchFamily="18" charset="0"/>
                              <a:ea typeface="+mj-ea"/>
                              <a:cs typeface="Times New Roman" panose="02020603050405020304" pitchFamily="18" charset="0"/>
                            </a:rPr>
                            <m:t>+</m:t>
                          </m:r>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m:t>
                              </m:r>
                            </m:num>
                            <m:den>
                              <m:r>
                                <a:rPr lang="en-US" altLang="zh-CN" sz="2000" kern="100">
                                  <a:latin typeface="Cambria Math" panose="02040503050406030204" pitchFamily="18" charset="0"/>
                                  <a:ea typeface="+mj-ea"/>
                                  <a:cs typeface="Times New Roman" panose="02020603050405020304" pitchFamily="18" charset="0"/>
                                </a:rPr>
                                <m:t>5</m:t>
                              </m:r>
                            </m:den>
                          </m:f>
                          <m:r>
                            <a:rPr lang="en-US" altLang="zh-CN" sz="2000" kern="100">
                              <a:latin typeface="Cambria Math" panose="02040503050406030204" pitchFamily="18" charset="0"/>
                              <a:ea typeface="+mj-ea"/>
                              <a:cs typeface="Times New Roman" panose="02020603050405020304" pitchFamily="18" charset="0"/>
                            </a:rPr>
                            <m:t>×</m:t>
                          </m:r>
                          <m:func>
                            <m:funcPr>
                              <m:ctrlPr>
                                <a:rPr lang="zh-CN" altLang="zh-CN" sz="2000" i="1" kern="100">
                                  <a:latin typeface="Cambria Math" panose="02040503050406030204" pitchFamily="18" charset="0"/>
                                  <a:ea typeface="+mj-ea"/>
                                  <a:cs typeface="Times New Roman" panose="02020603050405020304" pitchFamily="18" charset="0"/>
                                </a:rPr>
                              </m:ctrlPr>
                            </m:funcPr>
                            <m:fName>
                              <m:sSub>
                                <m:sSubPr>
                                  <m:ctrlPr>
                                    <a:rPr lang="zh-CN" altLang="zh-CN" sz="2000" i="1" kern="100">
                                      <a:latin typeface="Cambria Math" panose="02040503050406030204" pitchFamily="18" charset="0"/>
                                      <a:ea typeface="+mj-ea"/>
                                      <a:cs typeface="Times New Roman" panose="02020603050405020304" pitchFamily="18" charset="0"/>
                                    </a:rPr>
                                  </m:ctrlPr>
                                </m:sSubPr>
                                <m:e>
                                  <m:r>
                                    <m:rPr>
                                      <m:sty m:val="p"/>
                                    </m:rPr>
                                    <a:rPr lang="en-US" altLang="zh-CN" sz="2000" kern="100">
                                      <a:latin typeface="Cambria Math" panose="02040503050406030204" pitchFamily="18" charset="0"/>
                                      <a:ea typeface="+mj-ea"/>
                                      <a:cs typeface="Times New Roman" panose="02020603050405020304" pitchFamily="18" charset="0"/>
                                    </a:rPr>
                                    <m:t>log</m:t>
                                  </m:r>
                                </m:e>
                                <m:sub>
                                  <m:r>
                                    <a:rPr lang="en-US" altLang="zh-CN" sz="2000" kern="100">
                                      <a:latin typeface="Cambria Math" panose="02040503050406030204" pitchFamily="18" charset="0"/>
                                      <a:ea typeface="+mj-ea"/>
                                      <a:cs typeface="Times New Roman" panose="02020603050405020304" pitchFamily="18" charset="0"/>
                                    </a:rPr>
                                    <m:t>2</m:t>
                                  </m:r>
                                </m:sub>
                              </m:sSub>
                            </m:fName>
                            <m:e>
                              <m:f>
                                <m:fPr>
                                  <m:ctrlPr>
                                    <a:rPr lang="zh-CN" altLang="zh-CN" sz="2000" i="1" kern="100">
                                      <a:latin typeface="Cambria Math" panose="02040503050406030204" pitchFamily="18" charset="0"/>
                                      <a:ea typeface="+mj-ea"/>
                                      <a:cs typeface="Times New Roman" panose="02020603050405020304" pitchFamily="18" charset="0"/>
                                    </a:rPr>
                                  </m:ctrlPr>
                                </m:fPr>
                                <m:num>
                                  <m:r>
                                    <a:rPr lang="en-US" altLang="zh-CN" sz="2000" kern="100">
                                      <a:latin typeface="Cambria Math" panose="02040503050406030204" pitchFamily="18" charset="0"/>
                                      <a:ea typeface="+mj-ea"/>
                                      <a:cs typeface="Times New Roman" panose="02020603050405020304" pitchFamily="18" charset="0"/>
                                    </a:rPr>
                                    <m:t>2</m:t>
                                  </m:r>
                                </m:num>
                                <m:den>
                                  <m:r>
                                    <a:rPr lang="en-US" altLang="zh-CN" sz="2000" kern="100">
                                      <a:latin typeface="Cambria Math" panose="02040503050406030204" pitchFamily="18" charset="0"/>
                                      <a:ea typeface="+mj-ea"/>
                                      <a:cs typeface="Times New Roman" panose="02020603050405020304" pitchFamily="18" charset="0"/>
                                    </a:rPr>
                                    <m:t>5</m:t>
                                  </m:r>
                                </m:den>
                              </m:f>
                            </m:e>
                          </m:func>
                        </m:e>
                      </m:d>
                      <m:r>
                        <a:rPr lang="en-US" altLang="zh-CN" sz="2000" kern="100">
                          <a:latin typeface="Cambria Math" panose="02040503050406030204" pitchFamily="18" charset="0"/>
                          <a:ea typeface="+mj-ea"/>
                          <a:cs typeface="Times New Roman" panose="02020603050405020304" pitchFamily="18" charset="0"/>
                        </a:rPr>
                        <m:t>=0.971</m:t>
                      </m:r>
                    </m:oMath>
                  </m:oMathPara>
                </a14:m>
                <a:endParaRPr lang="zh-CN" altLang="zh-CN" sz="2000" kern="100" dirty="0">
                  <a:latin typeface="+mj-ea"/>
                  <a:ea typeface="+mj-ea"/>
                  <a:cs typeface="Times New Roman" panose="02020603050405020304" pitchFamily="18" charset="0"/>
                </a:endParaRPr>
              </a:p>
              <a:p>
                <a:pPr indent="266700" algn="just">
                  <a:lnSpc>
                    <a:spcPts val="2200"/>
                  </a:lnSpc>
                  <a:spcAft>
                    <a:spcPts val="0"/>
                  </a:spcAft>
                </a:pPr>
                <a:endParaRPr lang="zh-CN" altLang="zh-CN" sz="2000" kern="100" dirty="0">
                  <a:latin typeface="+mj-ea"/>
                  <a:ea typeface="+mj-ea"/>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816610" y="1639570"/>
                <a:ext cx="8930005" cy="3264420"/>
              </a:xfrm>
              <a:prstGeom prst="rect">
                <a:avLst/>
              </a:prstGeom>
              <a:blipFill>
                <a:blip r:embed="rId3"/>
                <a:stretch>
                  <a:fillRect l="-751" t="-1869" r="-683"/>
                </a:stretch>
              </a:blipFill>
            </p:spPr>
            <p:txBody>
              <a:bodyPr/>
              <a:lstStyle/>
              <a:p>
                <a:r>
                  <a:rPr lang="zh-CN" altLang="en-US">
                    <a:noFill/>
                  </a:rPr>
                  <a:t> </a:t>
                </a:r>
              </a:p>
            </p:txBody>
          </p:sp>
        </mc:Fallback>
      </mc:AlternateContent>
      <p:pic>
        <p:nvPicPr>
          <p:cNvPr id="10" name="图片 9"/>
          <p:cNvPicPr>
            <a:picLocks noChangeAspect="1"/>
          </p:cNvPicPr>
          <p:nvPr/>
        </p:nvPicPr>
        <p:blipFill>
          <a:blip r:embed="rId4"/>
          <a:stretch>
            <a:fillRect/>
          </a:stretch>
        </p:blipFill>
        <p:spPr>
          <a:xfrm>
            <a:off x="2223626" y="4755671"/>
            <a:ext cx="6626225" cy="1918335"/>
          </a:xfrm>
          <a:prstGeom prst="rect">
            <a:avLst/>
          </a:prstGeom>
        </p:spPr>
      </p:pic>
    </p:spTree>
    <p:extLst>
      <p:ext uri="{BB962C8B-B14F-4D97-AF65-F5344CB8AC3E}">
        <p14:creationId xmlns:p14="http://schemas.microsoft.com/office/powerpoint/2010/main" val="12433269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mc:AlternateContent xmlns:mc="http://schemas.openxmlformats.org/markup-compatibility/2006" xmlns:a14="http://schemas.microsoft.com/office/drawing/2010/main">
        <mc:Choice Requires="a14">
          <p:sp>
            <p:nvSpPr>
              <p:cNvPr id="6" name="矩形 5"/>
              <p:cNvSpPr/>
              <p:nvPr/>
            </p:nvSpPr>
            <p:spPr>
              <a:xfrm>
                <a:off x="198245" y="1439862"/>
                <a:ext cx="11038620" cy="2101850"/>
              </a:xfrm>
              <a:prstGeom prst="rect">
                <a:avLst/>
              </a:prstGeom>
            </p:spPr>
            <p:txBody>
              <a:bodyPr wrap="square">
                <a:noAutofit/>
              </a:bodyPr>
              <a:lstStyle/>
              <a:p>
                <a:pPr indent="266700" algn="just">
                  <a:lnSpc>
                    <a:spcPts val="2200"/>
                  </a:lnSpc>
                  <a:spcAft>
                    <a:spcPts val="0"/>
                  </a:spcAft>
                </a:pPr>
                <a:r>
                  <a:rPr lang="zh-CN" altLang="zh-CN" dirty="0">
                    <a:solidFill>
                      <a:srgbClr val="000000"/>
                    </a:solidFill>
                    <a:latin typeface="+mj-ea"/>
                    <a:ea typeface="+mj-ea"/>
                    <a:cs typeface="Times New Roman" panose="02020603050405020304" pitchFamily="18" charset="0"/>
                  </a:rPr>
                  <a:t>得到上述三个的信息熵后，可进一步计算使用年龄属性对原样本集进行划分后的</a:t>
                </a:r>
                <a:r>
                  <a:rPr lang="zh-CN" altLang="zh-CN" b="1" dirty="0">
                    <a:solidFill>
                      <a:srgbClr val="FF0000"/>
                    </a:solidFill>
                    <a:latin typeface="+mj-ea"/>
                    <a:ea typeface="+mj-ea"/>
                    <a:cs typeface="Times New Roman" panose="02020603050405020304" pitchFamily="18" charset="0"/>
                  </a:rPr>
                  <a:t>信息增益</a:t>
                </a:r>
                <a:r>
                  <a:rPr lang="zh-CN" altLang="zh-CN" dirty="0">
                    <a:solidFill>
                      <a:srgbClr val="000000"/>
                    </a:solidFill>
                    <a:latin typeface="+mj-ea"/>
                    <a:ea typeface="+mj-ea"/>
                    <a:cs typeface="Times New Roman" panose="02020603050405020304" pitchFamily="18" charset="0"/>
                  </a:rPr>
                  <a:t>，计算公式如下：</a:t>
                </a:r>
              </a:p>
              <a:p>
                <a:pPr algn="just">
                  <a:spcAft>
                    <a:spcPts val="0"/>
                  </a:spcAft>
                </a:pPr>
                <a14:m>
                  <m:oMathPara xmlns:m="http://schemas.openxmlformats.org/officeDocument/2006/math">
                    <m:oMathParaPr>
                      <m:jc m:val="centerGroup"/>
                    </m:oMathParaPr>
                    <m:oMath xmlns:m="http://schemas.openxmlformats.org/officeDocument/2006/math">
                      <m:r>
                        <a:rPr lang="en-US" altLang="zh-CN" b="1" i="1" kern="100" smtClean="0">
                          <a:solidFill>
                            <a:srgbClr val="FF0000"/>
                          </a:solidFill>
                          <a:latin typeface="Cambria Math" panose="02040503050406030204" pitchFamily="18" charset="0"/>
                          <a:ea typeface="+mj-ea"/>
                          <a:cs typeface="Times New Roman" panose="02020603050405020304" pitchFamily="18" charset="0"/>
                        </a:rPr>
                        <m:t>𝑮𝒂𝒊𝒏</m:t>
                      </m:r>
                      <m:d>
                        <m:dPr>
                          <m:ctrlPr>
                            <a:rPr lang="zh-CN" altLang="zh-CN" b="1" i="1" kern="100">
                              <a:solidFill>
                                <a:srgbClr val="FF0000"/>
                              </a:solidFill>
                              <a:latin typeface="Cambria Math" panose="02040503050406030204" pitchFamily="18" charset="0"/>
                              <a:ea typeface="+mj-ea"/>
                              <a:cs typeface="Times New Roman" panose="02020603050405020304" pitchFamily="18" charset="0"/>
                            </a:rPr>
                          </m:ctrlPr>
                        </m:dPr>
                        <m:e>
                          <m:r>
                            <a:rPr lang="en-US" altLang="zh-CN" b="1" i="1" kern="100">
                              <a:solidFill>
                                <a:srgbClr val="FF0000"/>
                              </a:solidFill>
                              <a:latin typeface="Cambria Math" panose="02040503050406030204" pitchFamily="18" charset="0"/>
                              <a:ea typeface="+mj-ea"/>
                              <a:cs typeface="Times New Roman" panose="02020603050405020304" pitchFamily="18" charset="0"/>
                            </a:rPr>
                            <m:t>𝑫</m:t>
                          </m:r>
                          <m:r>
                            <a:rPr lang="en-US" altLang="zh-CN" b="1" i="1" kern="100">
                              <a:solidFill>
                                <a:srgbClr val="FF0000"/>
                              </a:solidFill>
                              <a:latin typeface="Cambria Math" panose="02040503050406030204" pitchFamily="18" charset="0"/>
                              <a:ea typeface="+mj-ea"/>
                              <a:cs typeface="Times New Roman" panose="02020603050405020304" pitchFamily="18" charset="0"/>
                            </a:rPr>
                            <m:t>,</m:t>
                          </m:r>
                          <m:r>
                            <a:rPr lang="en-US" altLang="zh-CN" b="1" i="1" kern="100">
                              <a:solidFill>
                                <a:srgbClr val="FF0000"/>
                              </a:solidFill>
                              <a:latin typeface="Cambria Math" panose="02040503050406030204" pitchFamily="18" charset="0"/>
                              <a:ea typeface="+mj-ea"/>
                              <a:cs typeface="Times New Roman" panose="02020603050405020304" pitchFamily="18" charset="0"/>
                            </a:rPr>
                            <m:t>𝑨</m:t>
                          </m:r>
                        </m:e>
                      </m:d>
                      <m:r>
                        <a:rPr lang="en-US" altLang="zh-CN" b="1" i="1" kern="100">
                          <a:solidFill>
                            <a:srgbClr val="FF0000"/>
                          </a:solidFill>
                          <a:latin typeface="Cambria Math" panose="02040503050406030204" pitchFamily="18" charset="0"/>
                          <a:ea typeface="+mj-ea"/>
                          <a:cs typeface="Times New Roman" panose="02020603050405020304" pitchFamily="18" charset="0"/>
                        </a:rPr>
                        <m:t>=</m:t>
                      </m:r>
                      <m:r>
                        <a:rPr lang="en-US" altLang="zh-CN" b="1" i="1" kern="100">
                          <a:solidFill>
                            <a:srgbClr val="FF0000"/>
                          </a:solidFill>
                          <a:latin typeface="Cambria Math" panose="02040503050406030204" pitchFamily="18" charset="0"/>
                          <a:ea typeface="+mj-ea"/>
                          <a:cs typeface="Times New Roman" panose="02020603050405020304" pitchFamily="18" charset="0"/>
                        </a:rPr>
                        <m:t>𝑬𝒏𝒕</m:t>
                      </m:r>
                      <m:d>
                        <m:dPr>
                          <m:ctrlPr>
                            <a:rPr lang="zh-CN" altLang="zh-CN" b="1" i="1" kern="100">
                              <a:solidFill>
                                <a:srgbClr val="FF0000"/>
                              </a:solidFill>
                              <a:latin typeface="Cambria Math" panose="02040503050406030204" pitchFamily="18" charset="0"/>
                              <a:ea typeface="+mj-ea"/>
                              <a:cs typeface="Times New Roman" panose="02020603050405020304" pitchFamily="18" charset="0"/>
                            </a:rPr>
                          </m:ctrlPr>
                        </m:dPr>
                        <m:e>
                          <m:r>
                            <a:rPr lang="en-US" altLang="zh-CN" b="1" i="1" kern="100">
                              <a:solidFill>
                                <a:srgbClr val="FF0000"/>
                              </a:solidFill>
                              <a:latin typeface="Cambria Math" panose="02040503050406030204" pitchFamily="18" charset="0"/>
                              <a:ea typeface="+mj-ea"/>
                              <a:cs typeface="Times New Roman" panose="02020603050405020304" pitchFamily="18" charset="0"/>
                            </a:rPr>
                            <m:t>𝑫</m:t>
                          </m:r>
                        </m:e>
                      </m:d>
                      <m:r>
                        <a:rPr lang="en-US" altLang="zh-CN" b="1" i="1" kern="100">
                          <a:solidFill>
                            <a:srgbClr val="FF0000"/>
                          </a:solidFill>
                          <a:latin typeface="Cambria Math" panose="02040503050406030204" pitchFamily="18" charset="0"/>
                          <a:ea typeface="+mj-ea"/>
                          <a:cs typeface="Times New Roman" panose="02020603050405020304" pitchFamily="18" charset="0"/>
                        </a:rPr>
                        <m:t>−</m:t>
                      </m:r>
                      <m:nary>
                        <m:naryPr>
                          <m:chr m:val="∑"/>
                          <m:ctrlPr>
                            <a:rPr lang="zh-CN" altLang="zh-CN" b="1" i="1" kern="100">
                              <a:solidFill>
                                <a:srgbClr val="FF0000"/>
                              </a:solidFill>
                              <a:latin typeface="Cambria Math" panose="02040503050406030204" pitchFamily="18" charset="0"/>
                              <a:ea typeface="+mj-ea"/>
                              <a:cs typeface="Times New Roman" panose="02020603050405020304" pitchFamily="18" charset="0"/>
                            </a:rPr>
                          </m:ctrlPr>
                        </m:naryPr>
                        <m:sub>
                          <m:r>
                            <a:rPr lang="en-US" altLang="zh-CN" b="1" i="1" kern="100">
                              <a:solidFill>
                                <a:srgbClr val="FF0000"/>
                              </a:solidFill>
                              <a:latin typeface="Cambria Math" panose="02040503050406030204" pitchFamily="18" charset="0"/>
                              <a:ea typeface="+mj-ea"/>
                              <a:cs typeface="Times New Roman" panose="02020603050405020304" pitchFamily="18" charset="0"/>
                            </a:rPr>
                            <m:t>𝒊</m:t>
                          </m:r>
                          <m:r>
                            <a:rPr lang="en-US" altLang="zh-CN" b="1" i="1" kern="100">
                              <a:solidFill>
                                <a:srgbClr val="FF0000"/>
                              </a:solidFill>
                              <a:latin typeface="Cambria Math" panose="02040503050406030204" pitchFamily="18" charset="0"/>
                              <a:ea typeface="+mj-ea"/>
                              <a:cs typeface="Times New Roman" panose="02020603050405020304" pitchFamily="18" charset="0"/>
                            </a:rPr>
                            <m:t>=</m:t>
                          </m:r>
                          <m:r>
                            <a:rPr lang="en-US" altLang="zh-CN" b="1" i="1" kern="100">
                              <a:solidFill>
                                <a:srgbClr val="FF0000"/>
                              </a:solidFill>
                              <a:latin typeface="Cambria Math" panose="02040503050406030204" pitchFamily="18" charset="0"/>
                              <a:ea typeface="+mj-ea"/>
                              <a:cs typeface="Times New Roman" panose="02020603050405020304" pitchFamily="18" charset="0"/>
                            </a:rPr>
                            <m:t>𝟏</m:t>
                          </m:r>
                        </m:sub>
                        <m:sup>
                          <m:r>
                            <a:rPr lang="en-US" altLang="zh-CN" b="1" i="1" kern="100">
                              <a:solidFill>
                                <a:srgbClr val="FF0000"/>
                              </a:solidFill>
                              <a:latin typeface="Cambria Math" panose="02040503050406030204" pitchFamily="18" charset="0"/>
                              <a:ea typeface="+mj-ea"/>
                              <a:cs typeface="Times New Roman" panose="02020603050405020304" pitchFamily="18" charset="0"/>
                            </a:rPr>
                            <m:t>𝒏</m:t>
                          </m:r>
                        </m:sup>
                        <m:e>
                          <m:f>
                            <m:fPr>
                              <m:ctrlPr>
                                <a:rPr lang="zh-CN" altLang="zh-CN" b="1" i="1" kern="100">
                                  <a:solidFill>
                                    <a:srgbClr val="FF0000"/>
                                  </a:solidFill>
                                  <a:latin typeface="Cambria Math" panose="02040503050406030204" pitchFamily="18" charset="0"/>
                                  <a:ea typeface="+mj-ea"/>
                                  <a:cs typeface="Times New Roman" panose="02020603050405020304" pitchFamily="18" charset="0"/>
                                </a:rPr>
                              </m:ctrlPr>
                            </m:fPr>
                            <m:num>
                              <m:d>
                                <m:dPr>
                                  <m:begChr m:val="|"/>
                                  <m:endChr m:val="|"/>
                                  <m:ctrlPr>
                                    <a:rPr lang="zh-CN" altLang="zh-CN" b="1" i="1" kern="100">
                                      <a:solidFill>
                                        <a:srgbClr val="FF0000"/>
                                      </a:solidFill>
                                      <a:latin typeface="Cambria Math" panose="02040503050406030204" pitchFamily="18" charset="0"/>
                                      <a:ea typeface="+mj-ea"/>
                                      <a:cs typeface="Times New Roman" panose="02020603050405020304" pitchFamily="18" charset="0"/>
                                    </a:rPr>
                                  </m:ctrlPr>
                                </m:dPr>
                                <m:e>
                                  <m:sSub>
                                    <m:sSubPr>
                                      <m:ctrlPr>
                                        <a:rPr lang="zh-CN" altLang="zh-CN" b="1" i="1" kern="100">
                                          <a:solidFill>
                                            <a:srgbClr val="FF0000"/>
                                          </a:solidFill>
                                          <a:latin typeface="Cambria Math" panose="02040503050406030204" pitchFamily="18" charset="0"/>
                                          <a:ea typeface="+mj-ea"/>
                                          <a:cs typeface="Times New Roman" panose="02020603050405020304" pitchFamily="18" charset="0"/>
                                        </a:rPr>
                                      </m:ctrlPr>
                                    </m:sSubPr>
                                    <m:e>
                                      <m:r>
                                        <a:rPr lang="en-US" altLang="zh-CN" b="1" i="1" kern="100">
                                          <a:solidFill>
                                            <a:srgbClr val="FF0000"/>
                                          </a:solidFill>
                                          <a:latin typeface="Cambria Math" panose="02040503050406030204" pitchFamily="18" charset="0"/>
                                          <a:ea typeface="+mj-ea"/>
                                          <a:cs typeface="Times New Roman" panose="02020603050405020304" pitchFamily="18" charset="0"/>
                                        </a:rPr>
                                        <m:t>𝑫</m:t>
                                      </m:r>
                                    </m:e>
                                    <m:sub>
                                      <m:r>
                                        <a:rPr lang="en-US" altLang="zh-CN" b="1" i="1" kern="100">
                                          <a:solidFill>
                                            <a:srgbClr val="FF0000"/>
                                          </a:solidFill>
                                          <a:latin typeface="Cambria Math" panose="02040503050406030204" pitchFamily="18" charset="0"/>
                                          <a:ea typeface="+mj-ea"/>
                                          <a:cs typeface="Times New Roman" panose="02020603050405020304" pitchFamily="18" charset="0"/>
                                        </a:rPr>
                                        <m:t>𝒊</m:t>
                                      </m:r>
                                    </m:sub>
                                  </m:sSub>
                                </m:e>
                              </m:d>
                            </m:num>
                            <m:den>
                              <m:d>
                                <m:dPr>
                                  <m:begChr m:val="|"/>
                                  <m:endChr m:val="|"/>
                                  <m:ctrlPr>
                                    <a:rPr lang="zh-CN" altLang="zh-CN" b="1" i="1" kern="100">
                                      <a:solidFill>
                                        <a:srgbClr val="FF0000"/>
                                      </a:solidFill>
                                      <a:latin typeface="Cambria Math" panose="02040503050406030204" pitchFamily="18" charset="0"/>
                                      <a:ea typeface="+mj-ea"/>
                                      <a:cs typeface="Times New Roman" panose="02020603050405020304" pitchFamily="18" charset="0"/>
                                    </a:rPr>
                                  </m:ctrlPr>
                                </m:dPr>
                                <m:e>
                                  <m:r>
                                    <a:rPr lang="en-US" altLang="zh-CN" b="1" i="1" kern="100">
                                      <a:solidFill>
                                        <a:srgbClr val="FF0000"/>
                                      </a:solidFill>
                                      <a:latin typeface="Cambria Math" panose="02040503050406030204" pitchFamily="18" charset="0"/>
                                      <a:ea typeface="+mj-ea"/>
                                      <a:cs typeface="Times New Roman" panose="02020603050405020304" pitchFamily="18" charset="0"/>
                                    </a:rPr>
                                    <m:t>𝑫</m:t>
                                  </m:r>
                                </m:e>
                              </m:d>
                            </m:den>
                          </m:f>
                          <m:r>
                            <a:rPr lang="en-US" altLang="zh-CN" b="1" i="1" kern="100">
                              <a:solidFill>
                                <a:srgbClr val="FF0000"/>
                              </a:solidFill>
                              <a:latin typeface="Cambria Math" panose="02040503050406030204" pitchFamily="18" charset="0"/>
                              <a:ea typeface="+mj-ea"/>
                              <a:cs typeface="Times New Roman" panose="02020603050405020304" pitchFamily="18" charset="0"/>
                            </a:rPr>
                            <m:t>𝑬𝒏𝒕</m:t>
                          </m:r>
                          <m:r>
                            <a:rPr lang="en-US" altLang="zh-CN" b="1" i="1" kern="100">
                              <a:solidFill>
                                <a:srgbClr val="FF0000"/>
                              </a:solidFill>
                              <a:latin typeface="Cambria Math" panose="02040503050406030204" pitchFamily="18" charset="0"/>
                              <a:ea typeface="+mj-ea"/>
                              <a:cs typeface="Times New Roman" panose="02020603050405020304" pitchFamily="18" charset="0"/>
                            </a:rPr>
                            <m:t>(</m:t>
                          </m:r>
                          <m:sSub>
                            <m:sSubPr>
                              <m:ctrlPr>
                                <a:rPr lang="zh-CN" altLang="zh-CN" b="1" i="1" kern="100">
                                  <a:solidFill>
                                    <a:srgbClr val="FF0000"/>
                                  </a:solidFill>
                                  <a:latin typeface="Cambria Math" panose="02040503050406030204" pitchFamily="18" charset="0"/>
                                  <a:ea typeface="+mj-ea"/>
                                  <a:cs typeface="Times New Roman" panose="02020603050405020304" pitchFamily="18" charset="0"/>
                                </a:rPr>
                              </m:ctrlPr>
                            </m:sSubPr>
                            <m:e>
                              <m:r>
                                <a:rPr lang="en-US" altLang="zh-CN" b="1" i="1" kern="100">
                                  <a:solidFill>
                                    <a:srgbClr val="FF0000"/>
                                  </a:solidFill>
                                  <a:latin typeface="Cambria Math" panose="02040503050406030204" pitchFamily="18" charset="0"/>
                                  <a:ea typeface="+mj-ea"/>
                                  <a:cs typeface="Times New Roman" panose="02020603050405020304" pitchFamily="18" charset="0"/>
                                </a:rPr>
                                <m:t>𝑫</m:t>
                              </m:r>
                            </m:e>
                            <m:sub>
                              <m:r>
                                <a:rPr lang="en-US" altLang="zh-CN" b="1" i="1" kern="100">
                                  <a:solidFill>
                                    <a:srgbClr val="FF0000"/>
                                  </a:solidFill>
                                  <a:latin typeface="Cambria Math" panose="02040503050406030204" pitchFamily="18" charset="0"/>
                                  <a:ea typeface="+mj-ea"/>
                                  <a:cs typeface="Times New Roman" panose="02020603050405020304" pitchFamily="18" charset="0"/>
                                </a:rPr>
                                <m:t>𝒊</m:t>
                              </m:r>
                            </m:sub>
                          </m:sSub>
                          <m:r>
                            <a:rPr lang="en-US" altLang="zh-CN" b="1" i="1" kern="100">
                              <a:solidFill>
                                <a:srgbClr val="FF0000"/>
                              </a:solidFill>
                              <a:latin typeface="Cambria Math" panose="02040503050406030204" pitchFamily="18" charset="0"/>
                              <a:ea typeface="+mj-ea"/>
                              <a:cs typeface="Times New Roman" panose="02020603050405020304" pitchFamily="18" charset="0"/>
                            </a:rPr>
                            <m:t>)</m:t>
                          </m:r>
                        </m:e>
                      </m:nary>
                      <m:r>
                        <a:rPr lang="en-US" altLang="zh-CN" i="1" kern="100">
                          <a:latin typeface="Cambria Math" panose="02040503050406030204" pitchFamily="18" charset="0"/>
                          <a:ea typeface="+mj-ea"/>
                          <a:cs typeface="Times New Roman" panose="02020603050405020304" pitchFamily="18" charset="0"/>
                        </a:rPr>
                        <m:t> </m:t>
                      </m:r>
                    </m:oMath>
                  </m:oMathPara>
                </a14:m>
                <a:endParaRPr lang="zh-CN" altLang="zh-CN" kern="100" dirty="0">
                  <a:latin typeface="+mj-ea"/>
                  <a:ea typeface="+mj-ea"/>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mj-ea"/>
                    <a:ea typeface="+mj-ea"/>
                    <a:cs typeface="Times New Roman" panose="02020603050405020304" pitchFamily="18" charset="0"/>
                  </a:rPr>
                  <a:t>将 </a:t>
                </a:r>
                <a14:m>
                  <m:oMath xmlns:m="http://schemas.openxmlformats.org/officeDocument/2006/math">
                    <m:r>
                      <a:rPr lang="en-US" altLang="zh-CN" i="1" smtClean="0">
                        <a:solidFill>
                          <a:srgbClr val="FF0000"/>
                        </a:solidFill>
                        <a:latin typeface="Cambria Math" panose="02040503050406030204" pitchFamily="18" charset="0"/>
                        <a:ea typeface="+mj-ea"/>
                        <a:cs typeface="Times New Roman" panose="02020603050405020304" pitchFamily="18" charset="0"/>
                      </a:rPr>
                      <m:t>𝐴</m:t>
                    </m:r>
                    <m:r>
                      <a:rPr lang="en-US" altLang="zh-CN" i="1" smtClean="0">
                        <a:solidFill>
                          <a:srgbClr val="FF0000"/>
                        </a:solidFill>
                        <a:latin typeface="Cambria Math" panose="02040503050406030204" pitchFamily="18" charset="0"/>
                        <a:ea typeface="+mj-ea"/>
                        <a:cs typeface="Times New Roman" panose="02020603050405020304" pitchFamily="18" charset="0"/>
                      </a:rPr>
                      <m:t>=</m:t>
                    </m:r>
                    <m:r>
                      <a:rPr lang="zh-CN" altLang="zh-CN">
                        <a:solidFill>
                          <a:srgbClr val="FF0000"/>
                        </a:solidFill>
                        <a:latin typeface="Cambria Math" panose="02040503050406030204" pitchFamily="18" charset="0"/>
                        <a:ea typeface="+mj-ea"/>
                        <a:cs typeface="Times New Roman" panose="02020603050405020304" pitchFamily="18" charset="0"/>
                      </a:rPr>
                      <m:t>年龄</m:t>
                    </m:r>
                  </m:oMath>
                </a14:m>
                <a:r>
                  <a:rPr lang="zh-CN" altLang="zh-CN" dirty="0">
                    <a:solidFill>
                      <a:srgbClr val="FF0000"/>
                    </a:solidFill>
                    <a:latin typeface="+mj-ea"/>
                    <a:ea typeface="+mj-ea"/>
                    <a:cs typeface="Times New Roman" panose="02020603050405020304" pitchFamily="18" charset="0"/>
                  </a:rPr>
                  <a:t> </a:t>
                </a:r>
                <a:r>
                  <a:rPr lang="zh-CN" altLang="zh-CN" dirty="0">
                    <a:solidFill>
                      <a:srgbClr val="000000"/>
                    </a:solidFill>
                    <a:latin typeface="+mj-ea"/>
                    <a:ea typeface="+mj-ea"/>
                    <a:cs typeface="Times New Roman" panose="02020603050405020304" pitchFamily="18" charset="0"/>
                  </a:rPr>
                  <a:t>代入。于是选择年龄这一属性划分后的信息增益为：</a:t>
                </a:r>
              </a:p>
              <a:p>
                <a:pPr algn="just">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cs typeface="Times New Roman" panose="02020603050405020304" pitchFamily="18" charset="0"/>
                        </a:rPr>
                        <m:t>𝐺𝑎𝑖𝑛</m:t>
                      </m:r>
                      <m:d>
                        <m:dPr>
                          <m:ctrlPr>
                            <a:rPr lang="zh-CN" altLang="zh-CN" i="1" kern="100">
                              <a:latin typeface="Cambria Math" panose="02040503050406030204" pitchFamily="18" charset="0"/>
                              <a:ea typeface="+mj-ea"/>
                              <a:cs typeface="Times New Roman" panose="02020603050405020304" pitchFamily="18" charset="0"/>
                            </a:rPr>
                          </m:ctrlPr>
                        </m:dPr>
                        <m:e>
                          <m:r>
                            <a:rPr lang="en-US" altLang="zh-CN" i="1" kern="100">
                              <a:latin typeface="Cambria Math" panose="02040503050406030204" pitchFamily="18" charset="0"/>
                              <a:ea typeface="+mj-ea"/>
                              <a:cs typeface="Times New Roman" panose="02020603050405020304" pitchFamily="18" charset="0"/>
                            </a:rPr>
                            <m:t>𝐷</m:t>
                          </m:r>
                          <m:r>
                            <a:rPr lang="en-US" altLang="zh-CN" i="1" kern="100">
                              <a:latin typeface="Cambria Math" panose="02040503050406030204" pitchFamily="18" charset="0"/>
                              <a:ea typeface="+mj-ea"/>
                              <a:cs typeface="Times New Roman" panose="02020603050405020304" pitchFamily="18" charset="0"/>
                            </a:rPr>
                            <m:t>,</m:t>
                          </m:r>
                          <m:r>
                            <a:rPr lang="zh-CN" altLang="zh-CN" kern="100">
                              <a:latin typeface="Cambria Math" panose="02040503050406030204" pitchFamily="18" charset="0"/>
                              <a:ea typeface="+mj-ea"/>
                              <a:cs typeface="Times New Roman" panose="02020603050405020304" pitchFamily="18" charset="0"/>
                            </a:rPr>
                            <m:t>年龄</m:t>
                          </m:r>
                        </m:e>
                      </m:d>
                      <m:r>
                        <a:rPr lang="en-US" altLang="zh-CN" i="1" kern="100">
                          <a:latin typeface="Cambria Math" panose="02040503050406030204" pitchFamily="18" charset="0"/>
                          <a:ea typeface="+mj-ea"/>
                          <a:cs typeface="Times New Roman" panose="02020603050405020304" pitchFamily="18" charset="0"/>
                        </a:rPr>
                        <m:t>=0.940−</m:t>
                      </m:r>
                      <m:d>
                        <m:dPr>
                          <m:ctrlPr>
                            <a:rPr lang="zh-CN" altLang="zh-CN" i="1" kern="100">
                              <a:latin typeface="Cambria Math" panose="02040503050406030204" pitchFamily="18" charset="0"/>
                              <a:ea typeface="+mj-ea"/>
                              <a:cs typeface="Times New Roman" panose="02020603050405020304" pitchFamily="18" charset="0"/>
                            </a:rPr>
                          </m:ctrlPr>
                        </m:dPr>
                        <m:e>
                          <m:f>
                            <m:fPr>
                              <m:ctrlPr>
                                <a:rPr lang="zh-CN" altLang="zh-CN" i="1" kern="100">
                                  <a:latin typeface="Cambria Math" panose="02040503050406030204" pitchFamily="18" charset="0"/>
                                  <a:ea typeface="+mj-ea"/>
                                  <a:cs typeface="Times New Roman" panose="02020603050405020304" pitchFamily="18" charset="0"/>
                                </a:rPr>
                              </m:ctrlPr>
                            </m:fPr>
                            <m:num>
                              <m:r>
                                <a:rPr lang="en-US" altLang="zh-CN" i="1" kern="100">
                                  <a:latin typeface="Cambria Math" panose="02040503050406030204" pitchFamily="18" charset="0"/>
                                  <a:ea typeface="+mj-ea"/>
                                  <a:cs typeface="Times New Roman" panose="02020603050405020304" pitchFamily="18" charset="0"/>
                                </a:rPr>
                                <m:t>5</m:t>
                              </m:r>
                            </m:num>
                            <m:den>
                              <m:r>
                                <a:rPr lang="en-US" altLang="zh-CN" i="1" kern="100">
                                  <a:latin typeface="Cambria Math" panose="02040503050406030204" pitchFamily="18" charset="0"/>
                                  <a:ea typeface="+mj-ea"/>
                                  <a:cs typeface="Times New Roman" panose="02020603050405020304" pitchFamily="18" charset="0"/>
                                </a:rPr>
                                <m:t>14</m:t>
                              </m:r>
                            </m:den>
                          </m:f>
                          <m:r>
                            <a:rPr lang="en-US" altLang="zh-CN" i="1" kern="100">
                              <a:latin typeface="Cambria Math" panose="02040503050406030204" pitchFamily="18" charset="0"/>
                              <a:ea typeface="+mj-ea"/>
                              <a:cs typeface="Times New Roman" panose="02020603050405020304" pitchFamily="18" charset="0"/>
                            </a:rPr>
                            <m:t>×0.971+</m:t>
                          </m:r>
                          <m:f>
                            <m:fPr>
                              <m:ctrlPr>
                                <a:rPr lang="zh-CN" altLang="zh-CN" i="1" kern="100">
                                  <a:latin typeface="Cambria Math" panose="02040503050406030204" pitchFamily="18" charset="0"/>
                                  <a:ea typeface="+mj-ea"/>
                                  <a:cs typeface="Times New Roman" panose="02020603050405020304" pitchFamily="18" charset="0"/>
                                </a:rPr>
                              </m:ctrlPr>
                            </m:fPr>
                            <m:num>
                              <m:r>
                                <a:rPr lang="en-US" altLang="zh-CN" i="1" kern="100">
                                  <a:latin typeface="Cambria Math" panose="02040503050406030204" pitchFamily="18" charset="0"/>
                                  <a:ea typeface="+mj-ea"/>
                                  <a:cs typeface="Times New Roman" panose="02020603050405020304" pitchFamily="18" charset="0"/>
                                </a:rPr>
                                <m:t>4</m:t>
                              </m:r>
                            </m:num>
                            <m:den>
                              <m:r>
                                <a:rPr lang="en-US" altLang="zh-CN" i="1" kern="100">
                                  <a:latin typeface="Cambria Math" panose="02040503050406030204" pitchFamily="18" charset="0"/>
                                  <a:ea typeface="+mj-ea"/>
                                  <a:cs typeface="Times New Roman" panose="02020603050405020304" pitchFamily="18" charset="0"/>
                                </a:rPr>
                                <m:t>14</m:t>
                              </m:r>
                            </m:den>
                          </m:f>
                          <m:r>
                            <a:rPr lang="en-US" altLang="zh-CN" i="1" kern="100">
                              <a:latin typeface="Cambria Math" panose="02040503050406030204" pitchFamily="18" charset="0"/>
                              <a:ea typeface="+mj-ea"/>
                              <a:cs typeface="Times New Roman" panose="02020603050405020304" pitchFamily="18" charset="0"/>
                            </a:rPr>
                            <m:t>×0+</m:t>
                          </m:r>
                          <m:f>
                            <m:fPr>
                              <m:ctrlPr>
                                <a:rPr lang="zh-CN" altLang="zh-CN" i="1" kern="100">
                                  <a:latin typeface="Cambria Math" panose="02040503050406030204" pitchFamily="18" charset="0"/>
                                  <a:ea typeface="+mj-ea"/>
                                  <a:cs typeface="Times New Roman" panose="02020603050405020304" pitchFamily="18" charset="0"/>
                                </a:rPr>
                              </m:ctrlPr>
                            </m:fPr>
                            <m:num>
                              <m:r>
                                <a:rPr lang="en-US" altLang="zh-CN" i="1" kern="100">
                                  <a:latin typeface="Cambria Math" panose="02040503050406030204" pitchFamily="18" charset="0"/>
                                  <a:ea typeface="+mj-ea"/>
                                  <a:cs typeface="Times New Roman" panose="02020603050405020304" pitchFamily="18" charset="0"/>
                                </a:rPr>
                                <m:t>5</m:t>
                              </m:r>
                            </m:num>
                            <m:den>
                              <m:r>
                                <a:rPr lang="en-US" altLang="zh-CN" i="1" kern="100">
                                  <a:latin typeface="Cambria Math" panose="02040503050406030204" pitchFamily="18" charset="0"/>
                                  <a:ea typeface="+mj-ea"/>
                                  <a:cs typeface="Times New Roman" panose="02020603050405020304" pitchFamily="18" charset="0"/>
                                </a:rPr>
                                <m:t>14</m:t>
                              </m:r>
                            </m:den>
                          </m:f>
                          <m:r>
                            <a:rPr lang="en-US" altLang="zh-CN" i="1" kern="100">
                              <a:latin typeface="Cambria Math" panose="02040503050406030204" pitchFamily="18" charset="0"/>
                              <a:ea typeface="+mj-ea"/>
                              <a:cs typeface="Times New Roman" panose="02020603050405020304" pitchFamily="18" charset="0"/>
                            </a:rPr>
                            <m:t>×0.971</m:t>
                          </m:r>
                        </m:e>
                      </m:d>
                      <m:r>
                        <a:rPr lang="en-US" altLang="zh-CN" i="1" kern="100">
                          <a:latin typeface="Cambria Math" panose="02040503050406030204" pitchFamily="18" charset="0"/>
                          <a:ea typeface="+mj-ea"/>
                          <a:cs typeface="Times New Roman" panose="02020603050405020304" pitchFamily="18" charset="0"/>
                        </a:rPr>
                        <m:t>=0.246</m:t>
                      </m:r>
                    </m:oMath>
                  </m:oMathPara>
                </a14:m>
                <a:endParaRPr lang="zh-CN" altLang="zh-CN" kern="100" dirty="0">
                  <a:latin typeface="+mj-ea"/>
                  <a:ea typeface="+mj-ea"/>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198245" y="1439862"/>
                <a:ext cx="11038620" cy="2101850"/>
              </a:xfrm>
              <a:prstGeom prst="rect">
                <a:avLst/>
              </a:prstGeom>
              <a:blipFill>
                <a:blip r:embed="rId3"/>
                <a:stretch>
                  <a:fillRect t="-2029" r="-2541" b="-290"/>
                </a:stretch>
              </a:blipFill>
            </p:spPr>
            <p:txBody>
              <a:bodyPr/>
              <a:lstStyle/>
              <a:p>
                <a:r>
                  <a:rPr lang="zh-CN" altLang="en-US">
                    <a:noFill/>
                  </a:rPr>
                  <a:t> </a:t>
                </a:r>
              </a:p>
            </p:txBody>
          </p:sp>
        </mc:Fallback>
      </mc:AlternateContent>
      <p:pic>
        <p:nvPicPr>
          <p:cNvPr id="10" name="图片 9"/>
          <p:cNvPicPr>
            <a:picLocks noChangeAspect="1"/>
          </p:cNvPicPr>
          <p:nvPr/>
        </p:nvPicPr>
        <p:blipFill>
          <a:blip r:embed="rId4"/>
          <a:stretch>
            <a:fillRect/>
          </a:stretch>
        </p:blipFill>
        <p:spPr>
          <a:xfrm>
            <a:off x="1767840" y="5210810"/>
            <a:ext cx="7219950" cy="1647190"/>
          </a:xfrm>
          <a:prstGeom prst="rect">
            <a:avLst/>
          </a:prstGeom>
        </p:spPr>
      </p:pic>
      <p:sp>
        <p:nvSpPr>
          <p:cNvPr id="2" name="矩形标注 1"/>
          <p:cNvSpPr/>
          <p:nvPr/>
        </p:nvSpPr>
        <p:spPr>
          <a:xfrm>
            <a:off x="2661466" y="4236699"/>
            <a:ext cx="1707514" cy="706754"/>
          </a:xfrm>
          <a:prstGeom prst="wedgeRectCallout">
            <a:avLst>
              <a:gd name="adj1" fmla="val 38773"/>
              <a:gd name="adj2" fmla="val -165819"/>
            </a:avLst>
          </a:prstGeom>
          <a:solidFill>
            <a:srgbClr val="24569D"/>
          </a:solidFill>
        </p:spPr>
        <p:style>
          <a:lnRef idx="2">
            <a:schemeClr val="accent2">
              <a:shade val="15000"/>
            </a:schemeClr>
          </a:lnRef>
          <a:fillRef idx="1">
            <a:schemeClr val="accent2"/>
          </a:fillRef>
          <a:effectRef idx="0">
            <a:schemeClr val="accent2"/>
          </a:effectRef>
          <a:fontRef idx="minor">
            <a:schemeClr val="lt1"/>
          </a:fontRef>
        </p:style>
        <p:txBody>
          <a:bodyPr wrap="none" rtlCol="0" anchor="ctr">
            <a:spAutoFit/>
          </a:bodyPr>
          <a:lstStyle/>
          <a:p>
            <a:pPr algn="ctr"/>
            <a:r>
              <a:rPr kumimoji="1" lang="zh-CN" altLang="en-US" sz="2000" dirty="0">
                <a:latin typeface="+mj-ea"/>
                <a:ea typeface="+mj-ea"/>
              </a:rPr>
              <a:t>按年龄划分</a:t>
            </a:r>
            <a:r>
              <a:rPr kumimoji="1" lang="zh-CN" altLang="en-US" sz="2000" b="1" u="sng" dirty="0">
                <a:latin typeface="+mj-ea"/>
                <a:ea typeface="+mj-ea"/>
              </a:rPr>
              <a:t>前</a:t>
            </a:r>
            <a:endParaRPr kumimoji="1" lang="en-US" altLang="zh-CN" sz="2000" b="1" u="sng" dirty="0">
              <a:latin typeface="+mj-ea"/>
              <a:ea typeface="+mj-ea"/>
            </a:endParaRPr>
          </a:p>
          <a:p>
            <a:pPr algn="ctr"/>
            <a:r>
              <a:rPr kumimoji="1" lang="zh-CN" altLang="en-US" sz="2000" dirty="0">
                <a:latin typeface="+mj-ea"/>
                <a:ea typeface="+mj-ea"/>
              </a:rPr>
              <a:t>的信息熵</a:t>
            </a:r>
          </a:p>
        </p:txBody>
      </p:sp>
      <p:sp>
        <p:nvSpPr>
          <p:cNvPr id="7" name="矩形标注 6"/>
          <p:cNvSpPr/>
          <p:nvPr/>
        </p:nvSpPr>
        <p:spPr>
          <a:xfrm>
            <a:off x="5536739" y="4388782"/>
            <a:ext cx="2031325" cy="706754"/>
          </a:xfrm>
          <a:prstGeom prst="wedgeRectCallout">
            <a:avLst>
              <a:gd name="adj1" fmla="val -81"/>
              <a:gd name="adj2" fmla="val -121773"/>
            </a:avLst>
          </a:prstGeom>
          <a:solidFill>
            <a:srgbClr val="24569D"/>
          </a:solidFill>
        </p:spPr>
        <p:style>
          <a:lnRef idx="2">
            <a:schemeClr val="accent2">
              <a:shade val="15000"/>
            </a:schemeClr>
          </a:lnRef>
          <a:fillRef idx="1">
            <a:schemeClr val="accent2"/>
          </a:fillRef>
          <a:effectRef idx="0">
            <a:schemeClr val="accent2"/>
          </a:effectRef>
          <a:fontRef idx="minor">
            <a:schemeClr val="lt1"/>
          </a:fontRef>
        </p:style>
        <p:txBody>
          <a:bodyPr wrap="square" rtlCol="0" anchor="ctr">
            <a:spAutoFit/>
          </a:bodyPr>
          <a:lstStyle/>
          <a:p>
            <a:pPr algn="ctr"/>
            <a:r>
              <a:rPr kumimoji="1" lang="zh-CN" altLang="en-US" sz="2000" dirty="0">
                <a:latin typeface="+mj-ea"/>
                <a:ea typeface="+mj-ea"/>
              </a:rPr>
              <a:t>按年龄划分</a:t>
            </a:r>
            <a:r>
              <a:rPr kumimoji="1" lang="zh-CN" altLang="en-US" sz="2000" b="1" u="sng" dirty="0">
                <a:latin typeface="+mj-ea"/>
                <a:ea typeface="+mj-ea"/>
              </a:rPr>
              <a:t>后</a:t>
            </a:r>
            <a:endParaRPr kumimoji="1" lang="en-US" altLang="zh-CN" sz="2000" b="1" u="sng" dirty="0">
              <a:latin typeface="+mj-ea"/>
              <a:ea typeface="+mj-ea"/>
            </a:endParaRPr>
          </a:p>
          <a:p>
            <a:pPr algn="ctr"/>
            <a:r>
              <a:rPr kumimoji="1" lang="zh-CN" altLang="en-US" sz="2000" dirty="0">
                <a:latin typeface="+mj-ea"/>
                <a:ea typeface="+mj-ea"/>
              </a:rPr>
              <a:t>的信息熵</a:t>
            </a:r>
          </a:p>
        </p:txBody>
      </p:sp>
      <p:sp>
        <p:nvSpPr>
          <p:cNvPr id="8" name="左大括号 7"/>
          <p:cNvSpPr/>
          <p:nvPr/>
        </p:nvSpPr>
        <p:spPr>
          <a:xfrm rot="16200000">
            <a:off x="6403781" y="2007681"/>
            <a:ext cx="318770" cy="3265805"/>
          </a:xfrm>
          <a:prstGeom prst="leftBrace">
            <a:avLst>
              <a:gd name="adj1" fmla="val 30138"/>
              <a:gd name="adj2" fmla="val 50000"/>
            </a:avLst>
          </a:prstGeom>
          <a:ln w="38100">
            <a:solidFill>
              <a:srgbClr val="24569D"/>
            </a:solidFill>
            <a:headEnd type="none" w="lg" len="med"/>
            <a:tailEnd type="none" w="lg" len="med"/>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zh-CN" altLang="en-US">
              <a:latin typeface="+mj-ea"/>
              <a:ea typeface="+mj-ea"/>
            </a:endParaRPr>
          </a:p>
        </p:txBody>
      </p:sp>
      <p:sp>
        <p:nvSpPr>
          <p:cNvPr id="4" name="矩形标注 3"/>
          <p:cNvSpPr/>
          <p:nvPr/>
        </p:nvSpPr>
        <p:spPr>
          <a:xfrm>
            <a:off x="8196069" y="4273507"/>
            <a:ext cx="1856105" cy="706754"/>
          </a:xfrm>
          <a:prstGeom prst="wedgeRectCallout">
            <a:avLst>
              <a:gd name="adj1" fmla="val -10732"/>
              <a:gd name="adj2" fmla="val -158194"/>
            </a:avLst>
          </a:prstGeom>
          <a:solidFill>
            <a:srgbClr val="24569D"/>
          </a:solidFill>
        </p:spPr>
        <p:style>
          <a:lnRef idx="2">
            <a:schemeClr val="accent2">
              <a:shade val="15000"/>
            </a:schemeClr>
          </a:lnRef>
          <a:fillRef idx="1">
            <a:schemeClr val="accent2"/>
          </a:fillRef>
          <a:effectRef idx="0">
            <a:schemeClr val="accent2"/>
          </a:effectRef>
          <a:fontRef idx="minor">
            <a:schemeClr val="lt1"/>
          </a:fontRef>
        </p:style>
        <p:txBody>
          <a:bodyPr wrap="square" rtlCol="0" anchor="ctr">
            <a:spAutoFit/>
          </a:bodyPr>
          <a:lstStyle/>
          <a:p>
            <a:pPr algn="ctr"/>
            <a:r>
              <a:rPr kumimoji="1" lang="zh-CN" altLang="en-US" sz="2000" dirty="0">
                <a:latin typeface="+mj-ea"/>
                <a:ea typeface="+mj-ea"/>
              </a:rPr>
              <a:t>减少了多少信息熵</a:t>
            </a:r>
          </a:p>
        </p:txBody>
      </p:sp>
    </p:spTree>
    <p:extLst>
      <p:ext uri="{BB962C8B-B14F-4D97-AF65-F5344CB8AC3E}">
        <p14:creationId xmlns:p14="http://schemas.microsoft.com/office/powerpoint/2010/main" val="36107197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773415" y="600277"/>
            <a:ext cx="4944140" cy="497934"/>
            <a:chOff x="4099943" y="2819853"/>
            <a:chExt cx="2570275" cy="497934"/>
          </a:xfrm>
        </p:grpSpPr>
        <p:sp>
          <p:nvSpPr>
            <p:cNvPr id="22" name="平行四边形 21"/>
            <p:cNvSpPr/>
            <p:nvPr/>
          </p:nvSpPr>
          <p:spPr bwMode="auto">
            <a:xfrm>
              <a:off x="4099943" y="2849787"/>
              <a:ext cx="2547685" cy="468000"/>
            </a:xfrm>
            <a:prstGeom prst="parallelogram">
              <a:avLst/>
            </a:prstGeom>
            <a:solidFill>
              <a:srgbClr val="016773"/>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3" name="平行四边形 22"/>
            <p:cNvSpPr/>
            <p:nvPr/>
          </p:nvSpPr>
          <p:spPr bwMode="auto">
            <a:xfrm>
              <a:off x="4122533" y="2819853"/>
              <a:ext cx="2547685" cy="468000"/>
            </a:xfrm>
            <a:prstGeom prst="parallelogram">
              <a:avLst/>
            </a:prstGeom>
            <a:solidFill>
              <a:srgbClr val="FAFAFA"/>
            </a:solidFill>
            <a:ln w="19050">
              <a:solidFill>
                <a:schemeClr val="accent1"/>
              </a:soli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mj-ea"/>
                <a:ea typeface="+mj-ea"/>
              </a:endParaRPr>
            </a:p>
          </p:txBody>
        </p:sp>
        <p:sp>
          <p:nvSpPr>
            <p:cNvPr id="24" name="矩形 23"/>
            <p:cNvSpPr/>
            <p:nvPr/>
          </p:nvSpPr>
          <p:spPr>
            <a:xfrm>
              <a:off x="4216534" y="2853798"/>
              <a:ext cx="2359684" cy="398780"/>
            </a:xfrm>
            <a:prstGeom prst="rect">
              <a:avLst/>
            </a:prstGeom>
            <a:ln>
              <a:noFill/>
            </a:ln>
          </p:spPr>
          <p:txBody>
            <a:bodyPr wrap="square">
              <a:spAutoFit/>
            </a:bodyPr>
            <a:lstStyle/>
            <a:p>
              <a:pPr algn="ctr">
                <a:spcBef>
                  <a:spcPct val="50000"/>
                </a:spcBef>
              </a:pPr>
              <a:r>
                <a:rPr lang="zh-CN" altLang="en-US" sz="2000" b="1" dirty="0">
                  <a:solidFill>
                    <a:schemeClr val="tx1">
                      <a:lumMod val="95000"/>
                      <a:lumOff val="5000"/>
                    </a:schemeClr>
                  </a:solidFill>
                  <a:latin typeface="+mj-ea"/>
                  <a:ea typeface="+mj-ea"/>
                  <a:cs typeface="Times New Roman" panose="02020603050405020304" pitchFamily="18" charset="0"/>
                  <a:sym typeface="+mn-ea"/>
                </a:rPr>
                <a:t>构建决策树</a:t>
              </a:r>
            </a:p>
          </p:txBody>
        </p:sp>
      </p:grpSp>
      <p:sp>
        <p:nvSpPr>
          <p:cNvPr id="3" name="内容占位符 2"/>
          <p:cNvSpPr>
            <a:spLocks noGrp="1"/>
          </p:cNvSpPr>
          <p:nvPr>
            <p:ph idx="4294967295"/>
          </p:nvPr>
        </p:nvSpPr>
        <p:spPr>
          <a:xfrm>
            <a:off x="576943" y="1629682"/>
            <a:ext cx="5625465" cy="4351655"/>
          </a:xfrm>
        </p:spPr>
        <p:txBody>
          <a:bodyPr/>
          <a:lstStyle/>
          <a:p>
            <a:pPr marL="547370" indent="-342900" algn="just">
              <a:lnSpc>
                <a:spcPct val="150000"/>
              </a:lnSpc>
              <a:spcAft>
                <a:spcPts val="0"/>
              </a:spcAft>
            </a:pPr>
            <a:r>
              <a:rPr lang="zh-CN" altLang="en-US" sz="2000" dirty="0">
                <a:solidFill>
                  <a:srgbClr val="000000"/>
                </a:solidFill>
                <a:latin typeface="+mj-ea"/>
                <a:ea typeface="+mj-ea"/>
                <a:cs typeface="Times New Roman" panose="02020603050405020304" pitchFamily="18" charset="0"/>
              </a:rPr>
              <a:t>分别计算每种属性划分后带来的信息增益</a:t>
            </a:r>
            <a:endParaRPr lang="en-US" altLang="zh-CN" sz="2000" dirty="0">
              <a:solidFill>
                <a:srgbClr val="000000"/>
              </a:solidFill>
              <a:latin typeface="+mj-ea"/>
              <a:ea typeface="+mj-ea"/>
              <a:cs typeface="Times New Roman" panose="02020603050405020304" pitchFamily="18" charset="0"/>
            </a:endParaRPr>
          </a:p>
          <a:p>
            <a:pPr marL="547370" indent="-342900" algn="just">
              <a:lnSpc>
                <a:spcPct val="150000"/>
              </a:lnSpc>
              <a:spcAft>
                <a:spcPts val="0"/>
              </a:spcAft>
            </a:pPr>
            <a:r>
              <a:rPr lang="zh-CN" altLang="en-US" sz="2000" dirty="0">
                <a:solidFill>
                  <a:srgbClr val="000000"/>
                </a:solidFill>
                <a:latin typeface="+mj-ea"/>
                <a:ea typeface="+mj-ea"/>
                <a:cs typeface="Times New Roman" panose="02020603050405020304" pitchFamily="18" charset="0"/>
              </a:rPr>
              <a:t>比较信息增益的高低，选择最佳属性（</a:t>
            </a:r>
            <a:r>
              <a:rPr lang="zh-CN" altLang="en-US" sz="2000" dirty="0">
                <a:solidFill>
                  <a:srgbClr val="FF0000"/>
                </a:solidFill>
                <a:latin typeface="+mj-ea"/>
                <a:ea typeface="+mj-ea"/>
                <a:cs typeface="Times New Roman" panose="02020603050405020304" pitchFamily="18" charset="0"/>
              </a:rPr>
              <a:t>划分后带来信息增益最大的属性</a:t>
            </a:r>
            <a:r>
              <a:rPr lang="zh-CN" altLang="en-US" sz="2000" dirty="0">
                <a:solidFill>
                  <a:srgbClr val="000000"/>
                </a:solidFill>
                <a:latin typeface="+mj-ea"/>
                <a:ea typeface="+mj-ea"/>
                <a:cs typeface="Times New Roman" panose="02020603050405020304" pitchFamily="18" charset="0"/>
              </a:rPr>
              <a:t>）对原样本集进行划分</a:t>
            </a:r>
            <a:endParaRPr lang="en-US" altLang="zh-CN" sz="2000" dirty="0">
              <a:solidFill>
                <a:srgbClr val="000000"/>
              </a:solidFill>
              <a:latin typeface="+mj-ea"/>
              <a:ea typeface="+mj-ea"/>
              <a:cs typeface="Times New Roman" panose="02020603050405020304" pitchFamily="18" charset="0"/>
            </a:endParaRPr>
          </a:p>
          <a:p>
            <a:pPr marL="547370" indent="-342900" algn="just">
              <a:lnSpc>
                <a:spcPct val="150000"/>
              </a:lnSpc>
              <a:spcAft>
                <a:spcPts val="0"/>
              </a:spcAft>
            </a:pPr>
            <a:r>
              <a:rPr lang="zh-CN" altLang="en-US" sz="2000" dirty="0">
                <a:solidFill>
                  <a:srgbClr val="000000"/>
                </a:solidFill>
                <a:latin typeface="+mj-ea"/>
                <a:ea typeface="+mj-ea"/>
                <a:cs typeface="Times New Roman" panose="02020603050405020304" pitchFamily="18" charset="0"/>
              </a:rPr>
              <a:t>如果划分后的不同子样本集都只存在同类样本，那么停止划分</a:t>
            </a:r>
            <a:endParaRPr lang="en-US" altLang="zh-CN" sz="2000" dirty="0">
              <a:solidFill>
                <a:srgbClr val="000000"/>
              </a:solidFill>
              <a:latin typeface="+mj-ea"/>
              <a:ea typeface="+mj-ea"/>
              <a:cs typeface="Times New Roman" panose="02020603050405020304" pitchFamily="18" charset="0"/>
            </a:endParaRPr>
          </a:p>
          <a:p>
            <a:pPr marL="547370" indent="-342900" algn="just">
              <a:lnSpc>
                <a:spcPct val="150000"/>
              </a:lnSpc>
              <a:spcAft>
                <a:spcPts val="0"/>
              </a:spcAft>
            </a:pPr>
            <a:r>
              <a:rPr lang="zh-CN" altLang="en-US" sz="2000" dirty="0">
                <a:solidFill>
                  <a:srgbClr val="000000"/>
                </a:solidFill>
                <a:latin typeface="+mj-ea"/>
                <a:ea typeface="+mj-ea"/>
                <a:cs typeface="Times New Roman" panose="02020603050405020304" pitchFamily="18" charset="0"/>
              </a:rPr>
              <a:t>在该案例中，最终可构建如右图决策树</a:t>
            </a:r>
          </a:p>
          <a:p>
            <a:pPr marL="547370" indent="-342900" algn="just">
              <a:lnSpc>
                <a:spcPct val="150000"/>
              </a:lnSpc>
              <a:spcAft>
                <a:spcPts val="0"/>
              </a:spcAft>
            </a:pPr>
            <a:endParaRPr lang="zh-CN" altLang="en-US" sz="2000" dirty="0">
              <a:solidFill>
                <a:srgbClr val="000000"/>
              </a:solidFill>
              <a:latin typeface="+mj-ea"/>
              <a:ea typeface="+mj-ea"/>
              <a:cs typeface="Times New Roman" panose="02020603050405020304" pitchFamily="18" charset="0"/>
            </a:endParaRPr>
          </a:p>
        </p:txBody>
      </p:sp>
      <p:pic>
        <p:nvPicPr>
          <p:cNvPr id="9" name="内容占位符 11"/>
          <p:cNvPicPr>
            <a:picLocks noGrp="1" noChangeAspect="1"/>
          </p:cNvPicPr>
          <p:nvPr>
            <p:ph idx="4294967295"/>
          </p:nvPr>
        </p:nvPicPr>
        <p:blipFill rotWithShape="1">
          <a:blip r:embed="rId3"/>
          <a:srcRect b="15670"/>
          <a:stretch>
            <a:fillRect/>
          </a:stretch>
        </p:blipFill>
        <p:spPr>
          <a:xfrm>
            <a:off x="6536427" y="1853512"/>
            <a:ext cx="5499352" cy="3042743"/>
          </a:xfrm>
          <a:prstGeom prst="rect">
            <a:avLst/>
          </a:prstGeom>
        </p:spPr>
      </p:pic>
    </p:spTree>
    <p:extLst>
      <p:ext uri="{BB962C8B-B14F-4D97-AF65-F5344CB8AC3E}">
        <p14:creationId xmlns:p14="http://schemas.microsoft.com/office/powerpoint/2010/main" val="41799392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049050" y="2390634"/>
            <a:ext cx="7615126" cy="2219691"/>
          </a:xfrm>
        </p:spPr>
        <p:txBody>
          <a:bodyPr/>
          <a:lstStyle/>
          <a:p>
            <a:r>
              <a:rPr lang="en-US" altLang="zh-CN" dirty="0"/>
              <a:t>Thanks</a:t>
            </a:r>
            <a:r>
              <a:rPr lang="zh-CN" altLang="en-US" dirty="0"/>
              <a:t>！ </a:t>
            </a:r>
            <a:r>
              <a:rPr lang="en-US" altLang="zh-CN" dirty="0"/>
              <a:t/>
            </a:r>
            <a:br>
              <a:rPr lang="en-US" altLang="zh-CN" dirty="0"/>
            </a:br>
            <a:r>
              <a:rPr lang="en-US" altLang="zh-CN" dirty="0"/>
              <a:t/>
            </a:r>
            <a:br>
              <a:rPr lang="en-US" altLang="zh-CN" dirty="0"/>
            </a:br>
            <a:r>
              <a:rPr lang="en-US" altLang="zh-CN" dirty="0"/>
              <a:t>Question?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5AA561-4F7B-43CA-AC59-CED98901C2B4}"/>
              </a:ext>
            </a:extLst>
          </p:cNvPr>
          <p:cNvSpPr>
            <a:spLocks noGrp="1"/>
          </p:cNvSpPr>
          <p:nvPr>
            <p:ph type="title"/>
          </p:nvPr>
        </p:nvSpPr>
        <p:spPr>
          <a:xfrm>
            <a:off x="604982" y="120073"/>
            <a:ext cx="12192000" cy="1143000"/>
          </a:xfrm>
        </p:spPr>
        <p:txBody>
          <a:bodyPr/>
          <a:lstStyle/>
          <a:p>
            <a:pPr algn="l"/>
            <a:r>
              <a:rPr lang="zh-CN" altLang="en-US" dirty="0"/>
              <a:t>课后作业：打球决策树 </a:t>
            </a:r>
          </a:p>
        </p:txBody>
      </p:sp>
      <p:pic>
        <p:nvPicPr>
          <p:cNvPr id="3" name="图片 2">
            <a:extLst>
              <a:ext uri="{FF2B5EF4-FFF2-40B4-BE49-F238E27FC236}">
                <a16:creationId xmlns:a16="http://schemas.microsoft.com/office/drawing/2014/main" id="{6D52BF10-AEEE-4545-BC4C-B07C6B694E06}"/>
              </a:ext>
            </a:extLst>
          </p:cNvPr>
          <p:cNvPicPr>
            <a:picLocks noChangeAspect="1"/>
          </p:cNvPicPr>
          <p:nvPr/>
        </p:nvPicPr>
        <p:blipFill>
          <a:blip r:embed="rId2"/>
          <a:stretch>
            <a:fillRect/>
          </a:stretch>
        </p:blipFill>
        <p:spPr>
          <a:xfrm>
            <a:off x="7803134" y="201597"/>
            <a:ext cx="4245506" cy="6451130"/>
          </a:xfrm>
          <a:prstGeom prst="rect">
            <a:avLst/>
          </a:prstGeom>
        </p:spPr>
      </p:pic>
      <p:sp>
        <p:nvSpPr>
          <p:cNvPr id="5" name="矩形 4">
            <a:extLst>
              <a:ext uri="{FF2B5EF4-FFF2-40B4-BE49-F238E27FC236}">
                <a16:creationId xmlns:a16="http://schemas.microsoft.com/office/drawing/2014/main" id="{955141B6-59EC-49B5-A4CE-0657C648D5F4}"/>
              </a:ext>
            </a:extLst>
          </p:cNvPr>
          <p:cNvSpPr/>
          <p:nvPr/>
        </p:nvSpPr>
        <p:spPr>
          <a:xfrm>
            <a:off x="539039" y="1780888"/>
            <a:ext cx="7136654" cy="3970318"/>
          </a:xfrm>
          <a:prstGeom prst="rect">
            <a:avLst/>
          </a:prstGeom>
        </p:spPr>
        <p:txBody>
          <a:bodyPr wrap="square">
            <a:spAutoFit/>
          </a:bodyPr>
          <a:lstStyle/>
          <a:p>
            <a:pPr>
              <a:lnSpc>
                <a:spcPct val="200000"/>
              </a:lnSpc>
            </a:pPr>
            <a:r>
              <a:rPr lang="zh-CN" altLang="en-US" dirty="0">
                <a:solidFill>
                  <a:srgbClr val="444444"/>
                </a:solidFill>
                <a:latin typeface="Tahoma" panose="020B0604030504040204" pitchFamily="34" charset="0"/>
              </a:rPr>
              <a:t>数据：</a:t>
            </a:r>
            <a:endParaRPr lang="en-US" altLang="zh-CN" dirty="0">
              <a:solidFill>
                <a:srgbClr val="444444"/>
              </a:solidFill>
              <a:latin typeface="Tahoma" panose="020B0604030504040204" pitchFamily="34" charset="0"/>
            </a:endParaRPr>
          </a:p>
          <a:p>
            <a:pPr>
              <a:lnSpc>
                <a:spcPct val="200000"/>
              </a:lnSpc>
            </a:pPr>
            <a:r>
              <a:rPr lang="en-US" altLang="zh-CN" dirty="0">
                <a:solidFill>
                  <a:srgbClr val="444444"/>
                </a:solidFill>
                <a:latin typeface="Tahoma" panose="020B0604030504040204" pitchFamily="34" charset="0"/>
              </a:rPr>
              <a:t>14</a:t>
            </a:r>
            <a:r>
              <a:rPr lang="zh-CN" altLang="en-US" dirty="0">
                <a:solidFill>
                  <a:srgbClr val="444444"/>
                </a:solidFill>
                <a:latin typeface="Tahoma" panose="020B0604030504040204" pitchFamily="34" charset="0"/>
              </a:rPr>
              <a:t>天的气象数据</a:t>
            </a:r>
            <a:r>
              <a:rPr lang="en-US" altLang="zh-CN" dirty="0">
                <a:solidFill>
                  <a:srgbClr val="444444"/>
                </a:solidFill>
                <a:latin typeface="Tahoma" panose="020B0604030504040204" pitchFamily="34" charset="0"/>
              </a:rPr>
              <a:t>(</a:t>
            </a:r>
            <a:r>
              <a:rPr lang="zh-CN" altLang="en-US" dirty="0">
                <a:solidFill>
                  <a:srgbClr val="444444"/>
                </a:solidFill>
                <a:latin typeface="Tahoma" panose="020B0604030504040204" pitchFamily="34" charset="0"/>
              </a:rPr>
              <a:t>属性：</a:t>
            </a:r>
            <a:r>
              <a:rPr lang="en-US" altLang="zh-CN" dirty="0">
                <a:solidFill>
                  <a:srgbClr val="444444"/>
                </a:solidFill>
                <a:latin typeface="Tahoma" panose="020B0604030504040204" pitchFamily="34" charset="0"/>
              </a:rPr>
              <a:t>outlook</a:t>
            </a:r>
            <a:r>
              <a:rPr lang="zh-CN" altLang="en-US" dirty="0">
                <a:solidFill>
                  <a:srgbClr val="444444"/>
                </a:solidFill>
                <a:latin typeface="Tahoma" panose="020B0604030504040204" pitchFamily="34" charset="0"/>
              </a:rPr>
              <a:t>，</a:t>
            </a:r>
            <a:r>
              <a:rPr lang="en-US" altLang="zh-CN" dirty="0">
                <a:solidFill>
                  <a:srgbClr val="444444"/>
                </a:solidFill>
                <a:latin typeface="Tahoma" panose="020B0604030504040204" pitchFamily="34" charset="0"/>
              </a:rPr>
              <a:t>temperature</a:t>
            </a:r>
            <a:r>
              <a:rPr lang="zh-CN" altLang="en-US" dirty="0">
                <a:solidFill>
                  <a:srgbClr val="444444"/>
                </a:solidFill>
                <a:latin typeface="Tahoma" panose="020B0604030504040204" pitchFamily="34" charset="0"/>
              </a:rPr>
              <a:t>，</a:t>
            </a:r>
            <a:r>
              <a:rPr lang="en-US" altLang="zh-CN" dirty="0">
                <a:solidFill>
                  <a:srgbClr val="444444"/>
                </a:solidFill>
                <a:latin typeface="Tahoma" panose="020B0604030504040204" pitchFamily="34" charset="0"/>
              </a:rPr>
              <a:t>humidity</a:t>
            </a:r>
            <a:r>
              <a:rPr lang="zh-CN" altLang="en-US" dirty="0">
                <a:solidFill>
                  <a:srgbClr val="444444"/>
                </a:solidFill>
                <a:latin typeface="Tahoma" panose="020B0604030504040204" pitchFamily="34" charset="0"/>
              </a:rPr>
              <a:t>，</a:t>
            </a:r>
            <a:r>
              <a:rPr lang="en-US" altLang="zh-CN" dirty="0">
                <a:solidFill>
                  <a:srgbClr val="444444"/>
                </a:solidFill>
                <a:latin typeface="Tahoma" panose="020B0604030504040204" pitchFamily="34" charset="0"/>
              </a:rPr>
              <a:t>windy)</a:t>
            </a:r>
            <a:r>
              <a:rPr lang="zh-CN" altLang="en-US" dirty="0">
                <a:solidFill>
                  <a:srgbClr val="444444"/>
                </a:solidFill>
                <a:latin typeface="Tahoma" panose="020B0604030504040204" pitchFamily="34" charset="0"/>
              </a:rPr>
              <a:t>，并已知这些天气是否打球</a:t>
            </a:r>
            <a:r>
              <a:rPr lang="en-US" altLang="zh-CN" dirty="0">
                <a:solidFill>
                  <a:srgbClr val="444444"/>
                </a:solidFill>
                <a:latin typeface="Tahoma" panose="020B0604030504040204" pitchFamily="34" charset="0"/>
              </a:rPr>
              <a:t>(play)</a:t>
            </a:r>
            <a:r>
              <a:rPr lang="zh-CN" altLang="en-US" dirty="0">
                <a:solidFill>
                  <a:srgbClr val="444444"/>
                </a:solidFill>
                <a:latin typeface="Tahoma" panose="020B0604030504040204" pitchFamily="34" charset="0"/>
              </a:rPr>
              <a:t>。</a:t>
            </a:r>
            <a:endParaRPr lang="en-US" altLang="zh-CN" dirty="0">
              <a:solidFill>
                <a:srgbClr val="444444"/>
              </a:solidFill>
              <a:latin typeface="Tahoma" panose="020B0604030504040204" pitchFamily="34" charset="0"/>
            </a:endParaRPr>
          </a:p>
          <a:p>
            <a:pPr>
              <a:lnSpc>
                <a:spcPct val="200000"/>
              </a:lnSpc>
            </a:pPr>
            <a:endParaRPr lang="en-US" altLang="zh-CN" dirty="0">
              <a:solidFill>
                <a:srgbClr val="444444"/>
              </a:solidFill>
              <a:latin typeface="Tahoma" panose="020B0604030504040204" pitchFamily="34" charset="0"/>
            </a:endParaRPr>
          </a:p>
          <a:p>
            <a:pPr>
              <a:lnSpc>
                <a:spcPct val="200000"/>
              </a:lnSpc>
            </a:pPr>
            <a:r>
              <a:rPr lang="zh-CN" altLang="en-US" dirty="0">
                <a:solidFill>
                  <a:srgbClr val="444444"/>
                </a:solidFill>
                <a:latin typeface="Tahoma" panose="020B0604030504040204" pitchFamily="34" charset="0"/>
              </a:rPr>
              <a:t>问题：</a:t>
            </a:r>
            <a:endParaRPr lang="en-US" altLang="zh-CN" dirty="0">
              <a:solidFill>
                <a:srgbClr val="444444"/>
              </a:solidFill>
              <a:latin typeface="Tahoma" panose="020B0604030504040204" pitchFamily="34" charset="0"/>
            </a:endParaRPr>
          </a:p>
          <a:p>
            <a:pPr>
              <a:lnSpc>
                <a:spcPct val="200000"/>
              </a:lnSpc>
            </a:pPr>
            <a:r>
              <a:rPr lang="zh-CN" altLang="en-US" dirty="0"/>
              <a:t>根据决策树算法，构建一棵是否打球的决策树。并给出每个结点选择划分属性时所作的计算。</a:t>
            </a:r>
          </a:p>
        </p:txBody>
      </p:sp>
    </p:spTree>
    <p:extLst>
      <p:ext uri="{BB962C8B-B14F-4D97-AF65-F5344CB8AC3E}">
        <p14:creationId xmlns:p14="http://schemas.microsoft.com/office/powerpoint/2010/main" val="18445810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29484" y="507492"/>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参数优化：损失函数</a:t>
              </a:r>
            </a:p>
          </p:txBody>
        </p:sp>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15CC129-5086-4774-84D7-68BD1FC82AFB}"/>
                  </a:ext>
                </a:extLst>
              </p:cNvPr>
              <p:cNvSpPr/>
              <p:nvPr/>
            </p:nvSpPr>
            <p:spPr>
              <a:xfrm>
                <a:off x="559028" y="1627883"/>
                <a:ext cx="11026420" cy="3323987"/>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熵</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被用来表示热力学系统所呈现的无序程度。香农将这一概念引入信息论领域，提出了</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信息熵</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概念，通过对数函数来测量信息的不确定性。</a:t>
                </a:r>
              </a:p>
              <a:p>
                <a:pPr marL="285750" indent="-285750">
                  <a:lnSpc>
                    <a:spcPct val="150000"/>
                  </a:lnSpc>
                  <a:buFont typeface="Wingdings" panose="05000000000000000000" pitchFamily="2" charset="2"/>
                  <a:buChar char="l"/>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交叉熵（</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cross entropy</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）是信息论中的重要概念，主要用来度量两个概率分布间的差异。</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是样本</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分类的真实概率、</a:t>
                </a:r>
                <a14:m>
                  <m:oMath xmlns:m="http://schemas.openxmlformats.org/officeDocument/2006/math">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𝑦</m:t>
                            </m:r>
                          </m:e>
                        </m:acc>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是模型预测概率</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交叉熵刻画了两个概率分布之间的距离，旨在描绘通过概率分布</a:t>
                </a:r>
                <a14:m>
                  <m:oMath xmlns:m="http://schemas.openxmlformats.org/officeDocument/2006/math">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𝑦</m:t>
                            </m:r>
                          </m:e>
                        </m:acc>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来表达概率分布</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的困难程度。根据公式不难理解，两个概率分布</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2000" i="1">
                            <a:latin typeface="Cambria Math" panose="02040503050406030204" pitchFamily="18" charset="0"/>
                          </a:rPr>
                        </m:ctrlPr>
                      </m:sSub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𝑦</m:t>
                            </m:r>
                          </m:e>
                        </m:acc>
                      </m:e>
                      <m:sub>
                        <m:r>
                          <a:rPr lang="en-US" altLang="zh-CN" sz="2000" i="1">
                            <a:latin typeface="Cambria Math" panose="02040503050406030204" pitchFamily="18" charset="0"/>
                          </a:rPr>
                          <m:t>𝑖</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越接近，交叉熵越小。也就是说，预测类别分布概率与实际类别分布概率之间的差距越小，交叉熵就越小。</a:t>
                </a:r>
              </a:p>
            </p:txBody>
          </p:sp>
        </mc:Choice>
        <mc:Fallback xmlns="">
          <p:sp>
            <p:nvSpPr>
              <p:cNvPr id="7" name="矩形 6">
                <a:extLst>
                  <a:ext uri="{FF2B5EF4-FFF2-40B4-BE49-F238E27FC236}">
                    <a16:creationId xmlns:a16="http://schemas.microsoft.com/office/drawing/2014/main" id="{E15CC129-5086-4774-84D7-68BD1FC82AFB}"/>
                  </a:ext>
                </a:extLst>
              </p:cNvPr>
              <p:cNvSpPr>
                <a:spLocks noRot="1" noChangeAspect="1" noMove="1" noResize="1" noEditPoints="1" noAdjustHandles="1" noChangeArrowheads="1" noChangeShapeType="1" noTextEdit="1"/>
              </p:cNvSpPr>
              <p:nvPr/>
            </p:nvSpPr>
            <p:spPr>
              <a:xfrm>
                <a:off x="559028" y="1627883"/>
                <a:ext cx="11026420" cy="3323987"/>
              </a:xfrm>
              <a:prstGeom prst="rect">
                <a:avLst/>
              </a:prstGeom>
              <a:blipFill>
                <a:blip r:embed="rId3"/>
                <a:stretch>
                  <a:fillRect l="-498" r="-166" b="-7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7E100FF-3842-4754-AAF8-3772C92FD9F0}"/>
                  </a:ext>
                </a:extLst>
              </p:cNvPr>
              <p:cNvSpPr/>
              <p:nvPr/>
            </p:nvSpPr>
            <p:spPr>
              <a:xfrm>
                <a:off x="4160520" y="5284689"/>
                <a:ext cx="32648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rPr>
                        <m:t>H</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𝑖</m:t>
                              </m:r>
                            </m:sub>
                          </m:sSub>
                        </m:e>
                      </m:d>
                      <m:r>
                        <a:rPr lang="en-US" altLang="zh-CN" sz="2400">
                          <a:latin typeface="Cambria Math" panose="02040503050406030204" pitchFamily="18" charset="0"/>
                        </a:rPr>
                        <m:t>=</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r>
                        <a:rPr lang="en-US" altLang="zh-CN" sz="2400" i="1">
                          <a:latin typeface="Cambria Math" panose="02040503050406030204" pitchFamily="18" charset="0"/>
                        </a:rPr>
                        <m:t>𝑙𝑜𝑔</m:t>
                      </m:r>
                      <m:sSub>
                        <m:sSubPr>
                          <m:ctrlPr>
                            <a:rPr lang="zh-CN" altLang="zh-CN" sz="2400" i="1">
                              <a:latin typeface="Cambria Math" panose="02040503050406030204" pitchFamily="18" charset="0"/>
                            </a:rPr>
                          </m:ctrlPr>
                        </m:sSubPr>
                        <m:e>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𝑦</m:t>
                              </m:r>
                            </m:e>
                          </m:acc>
                        </m:e>
                        <m:sub>
                          <m:r>
                            <a:rPr lang="en-US" altLang="zh-CN" sz="2400" i="1">
                              <a:latin typeface="Cambria Math" panose="02040503050406030204" pitchFamily="18" charset="0"/>
                            </a:rPr>
                            <m:t>𝑖</m:t>
                          </m:r>
                        </m:sub>
                      </m:sSub>
                    </m:oMath>
                  </m:oMathPara>
                </a14:m>
                <a:endParaRPr lang="zh-CN" altLang="en-US" sz="2400" dirty="0"/>
              </a:p>
            </p:txBody>
          </p:sp>
        </mc:Choice>
        <mc:Fallback xmlns="">
          <p:sp>
            <p:nvSpPr>
              <p:cNvPr id="11" name="矩形 10">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4160520" y="5284689"/>
                <a:ext cx="3264805" cy="461665"/>
              </a:xfrm>
              <a:prstGeom prst="rect">
                <a:avLst/>
              </a:prstGeom>
              <a:blipFill>
                <a:blip r:embed="rId4"/>
                <a:stretch>
                  <a:fillRect t="-1316" r="-7290" b="-19737"/>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717B4BB-9F00-4E05-8674-F55C75CADA00}"/>
              </a:ext>
            </a:extLst>
          </p:cNvPr>
          <p:cNvSpPr/>
          <p:nvPr/>
        </p:nvSpPr>
        <p:spPr>
          <a:xfrm>
            <a:off x="1445702" y="5284690"/>
            <a:ext cx="2339102" cy="461665"/>
          </a:xfrm>
          <a:prstGeom prst="rect">
            <a:avLst/>
          </a:prstGeom>
        </p:spPr>
        <p:txBody>
          <a:bodyPr wrap="none">
            <a:spAutoFit/>
          </a:bodyPr>
          <a:lstStyle/>
          <a:p>
            <a:r>
              <a:rPr lang="zh-CN" altLang="en-US" sz="2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sz="2400" b="1" dirty="0">
              <a:solidFill>
                <a:srgbClr val="C00000"/>
              </a:solidFill>
            </a:endParaRPr>
          </a:p>
        </p:txBody>
      </p:sp>
    </p:spTree>
    <p:extLst>
      <p:ext uri="{BB962C8B-B14F-4D97-AF65-F5344CB8AC3E}">
        <p14:creationId xmlns:p14="http://schemas.microsoft.com/office/powerpoint/2010/main" val="20272471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28900" y="627984"/>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参数优化：损失函数</a:t>
              </a:r>
            </a:p>
          </p:txBody>
        </p:sp>
      </p:grpSp>
      <p:pic>
        <p:nvPicPr>
          <p:cNvPr id="2" name="图片 1">
            <a:extLst>
              <a:ext uri="{FF2B5EF4-FFF2-40B4-BE49-F238E27FC236}">
                <a16:creationId xmlns:a16="http://schemas.microsoft.com/office/drawing/2014/main" id="{C2B9FEA3-3F1C-4017-9FA1-98627DF08645}"/>
              </a:ext>
            </a:extLst>
          </p:cNvPr>
          <p:cNvPicPr>
            <a:picLocks noChangeAspect="1"/>
          </p:cNvPicPr>
          <p:nvPr/>
        </p:nvPicPr>
        <p:blipFill rotWithShape="1">
          <a:blip r:embed="rId3"/>
          <a:srcRect b="58522"/>
          <a:stretch/>
        </p:blipFill>
        <p:spPr>
          <a:xfrm>
            <a:off x="894056" y="2415527"/>
            <a:ext cx="10255500" cy="3793249"/>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7E100FF-3842-4754-AAF8-3772C92FD9F0}"/>
                  </a:ext>
                </a:extLst>
              </p:cNvPr>
              <p:cNvSpPr/>
              <p:nvPr/>
            </p:nvSpPr>
            <p:spPr>
              <a:xfrm>
                <a:off x="4083642" y="1730006"/>
                <a:ext cx="249427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H</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a:latin typeface="Cambria Math" panose="02040503050406030204" pitchFamily="18" charset="0"/>
                            </a:rPr>
                            <m:t>, </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e>
                      </m:d>
                      <m:r>
                        <a:rPr lang="en-US" altLang="zh-CN">
                          <a:latin typeface="Cambria Math" panose="02040503050406030204" pitchFamily="18" charset="0"/>
                        </a:rPr>
                        <m:t>=</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𝑙𝑜𝑔</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m:oMathPara>
                </a14:m>
                <a:endParaRPr lang="zh-CN" altLang="en-US" dirty="0"/>
              </a:p>
            </p:txBody>
          </p:sp>
        </mc:Choice>
        <mc:Fallback xmlns="">
          <p:sp>
            <p:nvSpPr>
              <p:cNvPr id="11" name="矩形 10">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4083642" y="1730006"/>
                <a:ext cx="2494273" cy="369332"/>
              </a:xfrm>
              <a:prstGeom prst="rect">
                <a:avLst/>
              </a:prstGeom>
              <a:blipFill>
                <a:blip r:embed="rId4"/>
                <a:stretch>
                  <a:fillRect t="-5000" r="-6601" b="-15000"/>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717B4BB-9F00-4E05-8674-F55C75CADA00}"/>
              </a:ext>
            </a:extLst>
          </p:cNvPr>
          <p:cNvSpPr/>
          <p:nvPr/>
        </p:nvSpPr>
        <p:spPr>
          <a:xfrm>
            <a:off x="2155208" y="1654522"/>
            <a:ext cx="1800493"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b="1" dirty="0">
              <a:solidFill>
                <a:srgbClr val="C00000"/>
              </a:solidFill>
            </a:endParaRPr>
          </a:p>
        </p:txBody>
      </p:sp>
    </p:spTree>
    <p:extLst>
      <p:ext uri="{BB962C8B-B14F-4D97-AF65-F5344CB8AC3E}">
        <p14:creationId xmlns:p14="http://schemas.microsoft.com/office/powerpoint/2010/main" val="31222586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28900" y="627984"/>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参数优化：损失函数</a:t>
              </a:r>
            </a:p>
          </p:txBody>
        </p:sp>
      </p:grpSp>
      <p:pic>
        <p:nvPicPr>
          <p:cNvPr id="2" name="图片 1">
            <a:extLst>
              <a:ext uri="{FF2B5EF4-FFF2-40B4-BE49-F238E27FC236}">
                <a16:creationId xmlns:a16="http://schemas.microsoft.com/office/drawing/2014/main" id="{C2B9FEA3-3F1C-4017-9FA1-98627DF08645}"/>
              </a:ext>
            </a:extLst>
          </p:cNvPr>
          <p:cNvPicPr>
            <a:picLocks noChangeAspect="1"/>
          </p:cNvPicPr>
          <p:nvPr/>
        </p:nvPicPr>
        <p:blipFill rotWithShape="1">
          <a:blip r:embed="rId3"/>
          <a:srcRect t="41780"/>
          <a:stretch/>
        </p:blipFill>
        <p:spPr>
          <a:xfrm>
            <a:off x="1094504" y="1971390"/>
            <a:ext cx="9365512" cy="4862354"/>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7E100FF-3842-4754-AAF8-3772C92FD9F0}"/>
                  </a:ext>
                </a:extLst>
              </p:cNvPr>
              <p:cNvSpPr/>
              <p:nvPr/>
            </p:nvSpPr>
            <p:spPr>
              <a:xfrm>
                <a:off x="3022938" y="1473974"/>
                <a:ext cx="249427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H</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a:latin typeface="Cambria Math" panose="02040503050406030204" pitchFamily="18" charset="0"/>
                            </a:rPr>
                            <m:t>, </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e>
                      </m:d>
                      <m:r>
                        <a:rPr lang="en-US" altLang="zh-CN">
                          <a:latin typeface="Cambria Math" panose="02040503050406030204" pitchFamily="18" charset="0"/>
                        </a:rPr>
                        <m:t>=</m:t>
                      </m:r>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𝑙𝑜𝑔</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oMath>
                  </m:oMathPara>
                </a14:m>
                <a:endParaRPr lang="zh-CN" altLang="en-US" dirty="0"/>
              </a:p>
            </p:txBody>
          </p:sp>
        </mc:Choice>
        <mc:Fallback xmlns="">
          <p:sp>
            <p:nvSpPr>
              <p:cNvPr id="11" name="矩形 10">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3022938" y="1473974"/>
                <a:ext cx="2494273" cy="369332"/>
              </a:xfrm>
              <a:prstGeom prst="rect">
                <a:avLst/>
              </a:prstGeom>
              <a:blipFill>
                <a:blip r:embed="rId4"/>
                <a:stretch>
                  <a:fillRect t="-5000" r="-6601" b="-15000"/>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717B4BB-9F00-4E05-8674-F55C75CADA00}"/>
              </a:ext>
            </a:extLst>
          </p:cNvPr>
          <p:cNvSpPr/>
          <p:nvPr/>
        </p:nvSpPr>
        <p:spPr>
          <a:xfrm>
            <a:off x="1094504" y="1398490"/>
            <a:ext cx="1800493"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b="1" dirty="0">
              <a:solidFill>
                <a:srgbClr val="C00000"/>
              </a:solidFill>
            </a:endParaRPr>
          </a:p>
        </p:txBody>
      </p:sp>
      <p:pic>
        <p:nvPicPr>
          <p:cNvPr id="9" name="图片 8">
            <a:extLst>
              <a:ext uri="{FF2B5EF4-FFF2-40B4-BE49-F238E27FC236}">
                <a16:creationId xmlns:a16="http://schemas.microsoft.com/office/drawing/2014/main" id="{C2B9FEA3-3F1C-4017-9FA1-98627DF08645}"/>
              </a:ext>
            </a:extLst>
          </p:cNvPr>
          <p:cNvPicPr>
            <a:picLocks noChangeAspect="1"/>
          </p:cNvPicPr>
          <p:nvPr/>
        </p:nvPicPr>
        <p:blipFill rotWithShape="1">
          <a:blip r:embed="rId3"/>
          <a:srcRect t="13619" b="58523"/>
          <a:stretch/>
        </p:blipFill>
        <p:spPr>
          <a:xfrm>
            <a:off x="6062500" y="100634"/>
            <a:ext cx="6129500" cy="1522700"/>
          </a:xfrm>
          <a:prstGeom prst="rect">
            <a:avLst/>
          </a:prstGeom>
        </p:spPr>
      </p:pic>
    </p:spTree>
    <p:extLst>
      <p:ext uri="{BB962C8B-B14F-4D97-AF65-F5344CB8AC3E}">
        <p14:creationId xmlns:p14="http://schemas.microsoft.com/office/powerpoint/2010/main" val="8648565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M0NmVlNzkzY2M2NjI5YWQxOGQ2OThjN2RlNzIwYTM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xml><?xml version="1.0" encoding="utf-8"?>
<p:tagLst xmlns:a="http://schemas.openxmlformats.org/drawingml/2006/main" xmlns:r="http://schemas.openxmlformats.org/officeDocument/2006/relationships" xmlns:p="http://schemas.openxmlformats.org/presentationml/2006/main">
  <p:tag name="PA" val="v4.0.0"/>
  <p:tag name="KSO_WM_DIAGRAM_VIRTUALLY_FRAME" val="{&quot;height&quot;:353.37385826771646,&quot;left&quot;:113.8115748031496,&quot;top&quot;:125.55188976377954,&quot;width&quot;:709.099291338582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6.xml><?xml version="1.0" encoding="utf-8"?>
<p:tagLst xmlns:a="http://schemas.openxmlformats.org/drawingml/2006/main" xmlns:r="http://schemas.openxmlformats.org/officeDocument/2006/relationships" xmlns:p="http://schemas.openxmlformats.org/presentationml/2006/main">
  <p:tag name="PA" val="v4.0.0"/>
  <p:tag name="KSO_WM_DIAGRAM_VIRTUALLY_FRAME" val="{&quot;height&quot;:353.37385826771646,&quot;left&quot;:113.8115748031496,&quot;top&quot;:125.55188976377954,&quot;width&quot;:709.099291338582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49.xml><?xml version="1.0" encoding="utf-8"?>
<p:tagLst xmlns:a="http://schemas.openxmlformats.org/drawingml/2006/main" xmlns:r="http://schemas.openxmlformats.org/officeDocument/2006/relationships" xmlns:p="http://schemas.openxmlformats.org/presentationml/2006/main">
  <p:tag name="PA" val="v4.0.0"/>
  <p:tag name="KSO_WM_DIAGRAM_VIRTUALLY_FRAME" val="{&quot;height&quot;:353.37385826771646,&quot;left&quot;:113.8115748031496,&quot;top&quot;:125.55188976377954,&quot;width&quot;:693.899291338582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693.899291338582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2.xml><?xml version="1.0" encoding="utf-8"?>
<p:tagLst xmlns:a="http://schemas.openxmlformats.org/drawingml/2006/main" xmlns:r="http://schemas.openxmlformats.org/officeDocument/2006/relationships" xmlns:p="http://schemas.openxmlformats.org/presentationml/2006/main">
  <p:tag name="PA" val="v4.0.0"/>
  <p:tag name="KSO_WM_DIAGRAM_VIRTUALLY_FRAME" val="{&quot;height&quot;:353.37385826771646,&quot;left&quot;:113.8115748031496,&quot;top&quot;:125.55188976377954,&quot;width&quot;:709.099291338582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736</TotalTime>
  <Words>7960</Words>
  <Application>Microsoft Office PowerPoint</Application>
  <PresentationFormat>宽屏</PresentationFormat>
  <Paragraphs>539</Paragraphs>
  <Slides>65</Slides>
  <Notes>51</Notes>
  <HiddenSlides>3</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1</vt:i4>
      </vt:variant>
      <vt:variant>
        <vt:lpstr>幻灯片标题</vt:lpstr>
      </vt:variant>
      <vt:variant>
        <vt:i4>65</vt:i4>
      </vt:variant>
    </vt:vector>
  </HeadingPairs>
  <TitlesOfParts>
    <vt:vector size="87" baseType="lpstr">
      <vt:lpstr>MS Mincho</vt:lpstr>
      <vt:lpstr>等线</vt:lpstr>
      <vt:lpstr>等线 Light</vt:lpstr>
      <vt:lpstr>汉仪玄宋±.</vt:lpstr>
      <vt:lpstr>黑体</vt:lpstr>
      <vt:lpstr>华文楷体</vt:lpstr>
      <vt:lpstr>楷体</vt:lpstr>
      <vt:lpstr>楷体_GB2312</vt:lpstr>
      <vt:lpstr>宋体</vt:lpstr>
      <vt:lpstr>微软雅黑</vt:lpstr>
      <vt:lpstr>微软雅黑</vt:lpstr>
      <vt:lpstr>Arial</vt:lpstr>
      <vt:lpstr>Blackadder ITC</vt:lpstr>
      <vt:lpstr>Calibri</vt:lpstr>
      <vt:lpstr>Cambria Math</vt:lpstr>
      <vt:lpstr>Tahoma</vt:lpstr>
      <vt:lpstr>Times New Roman</vt:lpstr>
      <vt:lpstr>Wingdings</vt:lpstr>
      <vt:lpstr>Wingdings 3</vt:lpstr>
      <vt:lpstr>Office 主题​​</vt:lpstr>
      <vt:lpstr>1_Office 主题​​</vt:lpstr>
      <vt:lpstr>方程式</vt:lpstr>
      <vt:lpstr>课程《人工智能原理与技术》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基于最小二乘法计算线性回归模型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Question?</vt:lpstr>
      <vt:lpstr>课后作业：打球决策树 </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课程《人工智能原理与技术》</dc:title>
  <dc:creator>8618017028101</dc:creator>
  <cp:lastModifiedBy>WJL</cp:lastModifiedBy>
  <cp:revision>53</cp:revision>
  <dcterms:created xsi:type="dcterms:W3CDTF">2025-03-02T03:24:00Z</dcterms:created>
  <dcterms:modified xsi:type="dcterms:W3CDTF">2026-04-28T14:03:48Z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AF6E96A017AD4BDF98F4F4565249FF8B_12</vt:lpwstr>
  </property>
  <property fmtid="{D5CDD505-2E9C-101B-9397-08002B2CF9AE}" pid="3" name="KSOProductBuildVer">
    <vt:lpwstr>2052-12.1.0.17133</vt:lpwstr>
  </property>
</Properties>
</file>