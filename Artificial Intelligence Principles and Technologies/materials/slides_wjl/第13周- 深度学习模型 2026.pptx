
<file path=[Content_Types].xml><?xml version="1.0" encoding="utf-8"?>
<Types xmlns="http://schemas.openxmlformats.org/package/2006/content-types">
  <Default Extension="png" ContentType="image/png"/>
  <Default Extension="jpeg" ContentType="image/jpeg"/>
  <Default Extension="webp" ContentType="image/webp"/>
  <Default Extension="rels" ContentType="application/vnd.openxmlformats-package.relationships+xml"/>
  <Default Extension="xml" ContentType="application/xml"/>
  <Default Extension="wdp" ContentType="image/vnd.ms-photo"/>
  <Default Extension="gif" ContentType="image/gif"/>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4.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5.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media/image43.jpg" ContentType="image/jpeg"/>
  <Override PartName="/ppt/media/image44.jpg" ContentType="image/jpeg"/>
  <Override PartName="/ppt/notesSlides/notesSlide24.xml" ContentType="application/vnd.openxmlformats-officedocument.presentationml.notesSlide+xml"/>
  <Override PartName="/ppt/media/image46.jpg" ContentType="image/jpeg"/>
  <Override PartName="/ppt/media/image47.jpg" ContentType="image/jpeg"/>
  <Override PartName="/ppt/media/image48.jpg" ContentType="image/jpeg"/>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9" r:id="rId1"/>
    <p:sldMasterId id="2147483845" r:id="rId2"/>
  </p:sldMasterIdLst>
  <p:notesMasterIdLst>
    <p:notesMasterId r:id="rId38"/>
  </p:notesMasterIdLst>
  <p:handoutMasterIdLst>
    <p:handoutMasterId r:id="rId39"/>
  </p:handoutMasterIdLst>
  <p:sldIdLst>
    <p:sldId id="1373" r:id="rId3"/>
    <p:sldId id="1226" r:id="rId4"/>
    <p:sldId id="1372" r:id="rId5"/>
    <p:sldId id="1179" r:id="rId6"/>
    <p:sldId id="1273" r:id="rId7"/>
    <p:sldId id="1275" r:id="rId8"/>
    <p:sldId id="1313" r:id="rId9"/>
    <p:sldId id="1193" r:id="rId10"/>
    <p:sldId id="1194" r:id="rId11"/>
    <p:sldId id="1196" r:id="rId12"/>
    <p:sldId id="1197" r:id="rId13"/>
    <p:sldId id="1198" r:id="rId14"/>
    <p:sldId id="1305" r:id="rId15"/>
    <p:sldId id="1374" r:id="rId16"/>
    <p:sldId id="1316" r:id="rId17"/>
    <p:sldId id="1367" r:id="rId18"/>
    <p:sldId id="1368" r:id="rId19"/>
    <p:sldId id="1370" r:id="rId20"/>
    <p:sldId id="1369" r:id="rId21"/>
    <p:sldId id="1375" r:id="rId22"/>
    <p:sldId id="1318" r:id="rId23"/>
    <p:sldId id="1319" r:id="rId24"/>
    <p:sldId id="1320" r:id="rId25"/>
    <p:sldId id="1321" r:id="rId26"/>
    <p:sldId id="1324" r:id="rId27"/>
    <p:sldId id="1376" r:id="rId28"/>
    <p:sldId id="1335" r:id="rId29"/>
    <p:sldId id="1336" r:id="rId30"/>
    <p:sldId id="1342" r:id="rId31"/>
    <p:sldId id="1343" r:id="rId32"/>
    <p:sldId id="1344" r:id="rId33"/>
    <p:sldId id="1349" r:id="rId34"/>
    <p:sldId id="1350" r:id="rId35"/>
    <p:sldId id="1351" r:id="rId36"/>
    <p:sldId id="1225" r:id="rId37"/>
  </p:sldIdLst>
  <p:sldSz cx="12192000" cy="6858000"/>
  <p:notesSz cx="7099300" cy="10234613"/>
  <p:custDataLst>
    <p:tags r:id="rId40"/>
  </p:custDataLst>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00"/>
    <a:srgbClr val="FFFF00"/>
    <a:srgbClr val="BBE0E3"/>
    <a:srgbClr val="3333FF"/>
    <a:srgbClr val="EEEB60"/>
    <a:srgbClr val="EAE636"/>
    <a:srgbClr val="CC00CC"/>
    <a:srgbClr val="6699FF"/>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318" autoAdjust="0"/>
    <p:restoredTop sz="96751" autoAdjust="0"/>
  </p:normalViewPr>
  <p:slideViewPr>
    <p:cSldViewPr>
      <p:cViewPr varScale="1">
        <p:scale>
          <a:sx n="86" d="100"/>
          <a:sy n="86" d="100"/>
        </p:scale>
        <p:origin x="66" y="9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651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tags" Target="tags/tag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9378" name="Rectangle 2"/>
          <p:cNvSpPr>
            <a:spLocks noGrp="1" noChangeArrowheads="1"/>
          </p:cNvSpPr>
          <p:nvPr>
            <p:ph type="hdr" sz="quarter"/>
          </p:nvPr>
        </p:nvSpPr>
        <p:spPr bwMode="auto">
          <a:xfrm>
            <a:off x="0" y="0"/>
            <a:ext cx="3076672" cy="511054"/>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vl1pPr>
          </a:lstStyle>
          <a:p>
            <a:pPr>
              <a:defRPr/>
            </a:pPr>
            <a:endParaRPr lang="en-US"/>
          </a:p>
        </p:txBody>
      </p:sp>
      <p:sp>
        <p:nvSpPr>
          <p:cNvPr id="229379" name="Rectangle 3"/>
          <p:cNvSpPr>
            <a:spLocks noGrp="1" noChangeArrowheads="1"/>
          </p:cNvSpPr>
          <p:nvPr>
            <p:ph type="dt" sz="quarter" idx="1"/>
          </p:nvPr>
        </p:nvSpPr>
        <p:spPr bwMode="auto">
          <a:xfrm>
            <a:off x="4021088" y="0"/>
            <a:ext cx="3076672" cy="511054"/>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vl1pPr>
          </a:lstStyle>
          <a:p>
            <a:pPr>
              <a:defRPr/>
            </a:pPr>
            <a:endParaRPr lang="en-US"/>
          </a:p>
        </p:txBody>
      </p:sp>
      <p:sp>
        <p:nvSpPr>
          <p:cNvPr id="229380" name="Rectangle 4"/>
          <p:cNvSpPr>
            <a:spLocks noGrp="1" noChangeArrowheads="1"/>
          </p:cNvSpPr>
          <p:nvPr>
            <p:ph type="ftr" sz="quarter" idx="2"/>
          </p:nvPr>
        </p:nvSpPr>
        <p:spPr bwMode="auto">
          <a:xfrm>
            <a:off x="0" y="9721868"/>
            <a:ext cx="3076672" cy="511054"/>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vl1pPr>
          </a:lstStyle>
          <a:p>
            <a:pPr>
              <a:defRPr/>
            </a:pPr>
            <a:endParaRPr lang="en-US"/>
          </a:p>
        </p:txBody>
      </p:sp>
      <p:sp>
        <p:nvSpPr>
          <p:cNvPr id="229381" name="Rectangle 5"/>
          <p:cNvSpPr>
            <a:spLocks noGrp="1" noChangeArrowheads="1"/>
          </p:cNvSpPr>
          <p:nvPr>
            <p:ph type="sldNum" sz="quarter" idx="3"/>
          </p:nvPr>
        </p:nvSpPr>
        <p:spPr bwMode="auto">
          <a:xfrm>
            <a:off x="4021088" y="9721868"/>
            <a:ext cx="3076672" cy="511054"/>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pPr>
              <a:defRPr/>
            </a:pPr>
            <a:fld id="{0C1A9D02-DD21-4898-A59D-07F6DF83026B}" type="slidenum">
              <a:rPr lang="en-US"/>
              <a:pPr>
                <a:defRPr/>
              </a:pPr>
              <a:t>‹#›</a:t>
            </a:fld>
            <a:endParaRPr lang="en-US"/>
          </a:p>
        </p:txBody>
      </p:sp>
    </p:spTree>
    <p:extLst>
      <p:ext uri="{BB962C8B-B14F-4D97-AF65-F5344CB8AC3E}">
        <p14:creationId xmlns:p14="http://schemas.microsoft.com/office/powerpoint/2010/main" val="36021273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3058" name="Rectangle 2"/>
          <p:cNvSpPr>
            <a:spLocks noGrp="1" noChangeArrowheads="1"/>
          </p:cNvSpPr>
          <p:nvPr>
            <p:ph type="hdr" sz="quarter"/>
          </p:nvPr>
        </p:nvSpPr>
        <p:spPr bwMode="auto">
          <a:xfrm>
            <a:off x="0" y="0"/>
            <a:ext cx="3076672" cy="511054"/>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vl1pPr>
          </a:lstStyle>
          <a:p>
            <a:pPr>
              <a:defRPr/>
            </a:pPr>
            <a:endParaRPr lang="en-US"/>
          </a:p>
        </p:txBody>
      </p:sp>
      <p:sp>
        <p:nvSpPr>
          <p:cNvPr id="173059" name="Rectangle 3"/>
          <p:cNvSpPr>
            <a:spLocks noGrp="1" noChangeArrowheads="1"/>
          </p:cNvSpPr>
          <p:nvPr>
            <p:ph type="dt" idx="1"/>
          </p:nvPr>
        </p:nvSpPr>
        <p:spPr bwMode="auto">
          <a:xfrm>
            <a:off x="4021088" y="0"/>
            <a:ext cx="3076672" cy="511054"/>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r" defTabSz="966788">
              <a:defRPr sz="1300"/>
            </a:lvl1pPr>
          </a:lstStyle>
          <a:p>
            <a:pPr>
              <a:defRPr/>
            </a:pPr>
            <a:endParaRPr lang="en-US"/>
          </a:p>
        </p:txBody>
      </p:sp>
      <p:sp>
        <p:nvSpPr>
          <p:cNvPr id="72708" name="Rectangle 4"/>
          <p:cNvSpPr>
            <a:spLocks noGrp="1" noRot="1" noChangeAspect="1" noChangeArrowheads="1" noTextEdit="1"/>
          </p:cNvSpPr>
          <p:nvPr>
            <p:ph type="sldImg" idx="2"/>
          </p:nvPr>
        </p:nvSpPr>
        <p:spPr bwMode="auto">
          <a:xfrm>
            <a:off x="138113" y="768350"/>
            <a:ext cx="6823075" cy="3838575"/>
          </a:xfrm>
          <a:prstGeom prst="rect">
            <a:avLst/>
          </a:prstGeom>
          <a:noFill/>
          <a:ln w="9525">
            <a:solidFill>
              <a:srgbClr val="000000"/>
            </a:solidFill>
            <a:miter lim="800000"/>
            <a:headEnd/>
            <a:tailEnd/>
          </a:ln>
        </p:spPr>
      </p:sp>
      <p:sp>
        <p:nvSpPr>
          <p:cNvPr id="173061" name="Rectangle 5"/>
          <p:cNvSpPr>
            <a:spLocks noGrp="1" noChangeArrowheads="1"/>
          </p:cNvSpPr>
          <p:nvPr>
            <p:ph type="body" sz="quarter" idx="3"/>
          </p:nvPr>
        </p:nvSpPr>
        <p:spPr bwMode="auto">
          <a:xfrm>
            <a:off x="710239" y="4861781"/>
            <a:ext cx="5678824" cy="4604560"/>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73062" name="Rectangle 6"/>
          <p:cNvSpPr>
            <a:spLocks noGrp="1" noChangeArrowheads="1"/>
          </p:cNvSpPr>
          <p:nvPr>
            <p:ph type="ftr" sz="quarter" idx="4"/>
          </p:nvPr>
        </p:nvSpPr>
        <p:spPr bwMode="auto">
          <a:xfrm>
            <a:off x="0" y="9721868"/>
            <a:ext cx="3076672" cy="511054"/>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vl1pPr>
          </a:lstStyle>
          <a:p>
            <a:pPr>
              <a:defRPr/>
            </a:pPr>
            <a:endParaRPr lang="en-US"/>
          </a:p>
        </p:txBody>
      </p:sp>
      <p:sp>
        <p:nvSpPr>
          <p:cNvPr id="173063" name="Rectangle 7"/>
          <p:cNvSpPr>
            <a:spLocks noGrp="1" noChangeArrowheads="1"/>
          </p:cNvSpPr>
          <p:nvPr>
            <p:ph type="sldNum" sz="quarter" idx="5"/>
          </p:nvPr>
        </p:nvSpPr>
        <p:spPr bwMode="auto">
          <a:xfrm>
            <a:off x="4021088" y="9721868"/>
            <a:ext cx="3076672" cy="511054"/>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r" defTabSz="966788">
              <a:defRPr sz="1300"/>
            </a:lvl1pPr>
          </a:lstStyle>
          <a:p>
            <a:pPr>
              <a:defRPr/>
            </a:pPr>
            <a:fld id="{3656C15A-65A9-4188-BE47-91B53ACA740E}" type="slidenum">
              <a:rPr lang="en-US"/>
              <a:pPr>
                <a:defRPr/>
              </a:pPr>
              <a:t>‹#›</a:t>
            </a:fld>
            <a:endParaRPr lang="en-US"/>
          </a:p>
        </p:txBody>
      </p:sp>
    </p:spTree>
    <p:extLst>
      <p:ext uri="{BB962C8B-B14F-4D97-AF65-F5344CB8AC3E}">
        <p14:creationId xmlns:p14="http://schemas.microsoft.com/office/powerpoint/2010/main" val="27160138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zhida.zhihu.com/search?content_id=178142968&amp;content_type=Article&amp;match_order=1&amp;q=%E5%9B%BE%E5%83%8F%E5%88%86%E7%B1%BB&amp;zhida_source=entity"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s://zhida.zhihu.com/search?content_id=178142968&amp;content_type=Article&amp;match_order=6&amp;q=%E8%AE%A1%E7%AE%97%E6%9C%BA%E8%A7%86%E8%A7%89&amp;zhida_source=entity" TargetMode="External"/><Relationship Id="rId5" Type="http://schemas.openxmlformats.org/officeDocument/2006/relationships/hyperlink" Target="https://zhida.zhihu.com/search?content_id=178142968&amp;content_type=Article&amp;match_order=1&amp;q=%E6%95%B0%E6%8D%AE%E5%BA%93&amp;zhida_source=entity" TargetMode="External"/><Relationship Id="rId4" Type="http://schemas.openxmlformats.org/officeDocument/2006/relationships/hyperlink" Target="https://zhida.zhihu.com/search?content_id=178142968&amp;content_type=Article&amp;match_order=1&amp;q=%E5%8D%B7%E7%A7%AF%E7%A5%9E%E7%BB%8F%E7%BD%91%E7%BB%9C&amp;zhida_source=entity"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2F97FE7-9E44-4705-9F7F-2B1202D9D669}" type="slidenum">
              <a:rPr lang="zh-CN" altLang="en-US" smtClean="0"/>
              <a:t>1</a:t>
            </a:fld>
            <a:endParaRPr lang="zh-CN" altLang="en-US"/>
          </a:p>
        </p:txBody>
      </p:sp>
    </p:spTree>
    <p:extLst>
      <p:ext uri="{BB962C8B-B14F-4D97-AF65-F5344CB8AC3E}">
        <p14:creationId xmlns:p14="http://schemas.microsoft.com/office/powerpoint/2010/main" val="2865488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effectLst/>
              </a:rPr>
              <a:t>MLP</a:t>
            </a:r>
            <a:r>
              <a:rPr lang="zh-CN" altLang="en-US" dirty="0" smtClean="0">
                <a:effectLst/>
              </a:rPr>
              <a:t>的输入是向量；</a:t>
            </a:r>
            <a:r>
              <a:rPr lang="en-US" altLang="zh-CN" dirty="0" smtClean="0">
                <a:effectLst/>
              </a:rPr>
              <a:t>CNN</a:t>
            </a:r>
            <a:r>
              <a:rPr lang="zh-CN" altLang="en-US" dirty="0" smtClean="0">
                <a:effectLst/>
              </a:rPr>
              <a:t>是矩阵；</a:t>
            </a:r>
            <a:r>
              <a:rPr lang="en-US" altLang="zh-CN" dirty="0" smtClean="0">
                <a:effectLst/>
              </a:rPr>
              <a:t>RNN</a:t>
            </a:r>
            <a:r>
              <a:rPr lang="zh-CN" altLang="en-US" dirty="0" smtClean="0">
                <a:effectLst/>
              </a:rPr>
              <a:t>是时序向量；</a:t>
            </a:r>
            <a:r>
              <a:rPr lang="en-US" altLang="zh-CN" dirty="0" smtClean="0">
                <a:effectLst/>
              </a:rPr>
              <a:t>GNN</a:t>
            </a:r>
            <a:r>
              <a:rPr lang="zh-CN" altLang="en-US" dirty="0" smtClean="0">
                <a:effectLst/>
              </a:rPr>
              <a:t>图数据；</a:t>
            </a:r>
            <a:endParaRPr lang="en-US" altLang="zh-CN" dirty="0" smtClean="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effectLst/>
              </a:rPr>
              <a:t>GAN</a:t>
            </a:r>
            <a:r>
              <a:rPr lang="zh-CN" altLang="en-US" dirty="0" smtClean="0">
                <a:effectLst/>
              </a:rPr>
              <a:t>是生成式</a:t>
            </a:r>
            <a:endParaRPr lang="en-US" altLang="zh-CN" dirty="0" smtClean="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effectLst/>
              </a:rPr>
              <a:t>打开两类模型的黑盒子。</a:t>
            </a:r>
            <a:endParaRPr lang="en-US" altLang="zh-CN" dirty="0" smtClean="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smtClean="0"/>
              <a:t>扩散模型通常被视为无监督生成式模型。它们在训练过程中不需要标签数据，而是通过对大量未标记数据进行建模来学习数据分布。具体来说，扩散模型通过逐步添加噪声到训练数据中，然后训练模型去除这些噪声，最终实现从随机噪声生成高质量样本的过程。</a:t>
            </a:r>
            <a:endParaRPr lang="en-US" altLang="zh-CN"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smtClean="0"/>
          </a:p>
          <a:p>
            <a:r>
              <a:rPr lang="zh-CN" altLang="en-US" dirty="0" smtClean="0"/>
              <a:t>虽然</a:t>
            </a:r>
            <a:r>
              <a:rPr lang="en-US" altLang="zh-CN" dirty="0" smtClean="0"/>
              <a:t>GAN</a:t>
            </a:r>
            <a:r>
              <a:rPr lang="zh-CN" altLang="en-US" dirty="0" smtClean="0"/>
              <a:t>（生成对抗网络）、</a:t>
            </a:r>
            <a:r>
              <a:rPr lang="en-US" altLang="zh-CN" dirty="0" smtClean="0"/>
              <a:t>VAE</a:t>
            </a:r>
            <a:r>
              <a:rPr lang="zh-CN" altLang="en-US" dirty="0" smtClean="0"/>
              <a:t>（变分自编码器）和扩散模型（</a:t>
            </a:r>
            <a:r>
              <a:rPr lang="en-US" altLang="zh-CN" dirty="0" smtClean="0"/>
              <a:t>DM</a:t>
            </a:r>
            <a:r>
              <a:rPr lang="zh-CN" altLang="en-US" dirty="0" smtClean="0"/>
              <a:t>）等无监督生成式模型不需要标签数据，但它们的训练确实依赖于反向传播算法。具体来说：</a:t>
            </a:r>
          </a:p>
          <a:p>
            <a:r>
              <a:rPr lang="en-US" altLang="zh-CN" b="1" dirty="0" smtClean="0"/>
              <a:t>GAN</a:t>
            </a:r>
            <a:r>
              <a:rPr lang="zh-CN" altLang="en-US" dirty="0" smtClean="0"/>
              <a:t>：</a:t>
            </a:r>
          </a:p>
          <a:p>
            <a:pPr lvl="1"/>
            <a:r>
              <a:rPr lang="en-US" altLang="zh-CN" dirty="0" smtClean="0"/>
              <a:t>GAN</a:t>
            </a:r>
            <a:r>
              <a:rPr lang="zh-CN" altLang="en-US" dirty="0" smtClean="0"/>
              <a:t>的训练涉及生成器和判别器的对抗过程。生成器通过反向传播优化生成的样本，而判别器则优化其对真实样本和生成样本的判别能力。</a:t>
            </a:r>
          </a:p>
          <a:p>
            <a:r>
              <a:rPr lang="en-US" altLang="zh-CN" b="1" dirty="0" smtClean="0"/>
              <a:t>VAE</a:t>
            </a:r>
            <a:r>
              <a:rPr lang="zh-CN" altLang="en-US" dirty="0" smtClean="0"/>
              <a:t>：</a:t>
            </a:r>
          </a:p>
          <a:p>
            <a:pPr lvl="1"/>
            <a:r>
              <a:rPr lang="en-US" altLang="zh-CN" dirty="0" smtClean="0"/>
              <a:t>VAE</a:t>
            </a:r>
            <a:r>
              <a:rPr lang="zh-CN" altLang="en-US" dirty="0" smtClean="0"/>
              <a:t>使用重构误差和</a:t>
            </a:r>
            <a:r>
              <a:rPr lang="en-US" altLang="zh-CN" dirty="0" smtClean="0"/>
              <a:t>KL</a:t>
            </a:r>
            <a:r>
              <a:rPr lang="zh-CN" altLang="en-US" dirty="0" smtClean="0"/>
              <a:t>散度作为损失函数，通过反向传播优化模型的编码器和解码器，以学习数据的潜在表示。</a:t>
            </a:r>
          </a:p>
          <a:p>
            <a:r>
              <a:rPr lang="zh-CN" altLang="en-US" b="1" dirty="0" smtClean="0"/>
              <a:t>扩散模型</a:t>
            </a:r>
            <a:r>
              <a:rPr lang="zh-CN" altLang="en-US" dirty="0" smtClean="0"/>
              <a:t>：</a:t>
            </a:r>
          </a:p>
          <a:p>
            <a:pPr lvl="1"/>
            <a:r>
              <a:rPr lang="zh-CN" altLang="en-US" dirty="0" smtClean="0"/>
              <a:t>扩散模型在去噪过程中计算损失函数（如均方误差），并通过反向传播更新网络参数，从而提高生成样本的质量。</a:t>
            </a:r>
          </a:p>
          <a:p>
            <a:r>
              <a:rPr lang="zh-CN" altLang="en-US" dirty="0" smtClean="0"/>
              <a:t>通过反向传播，模型能够根据输出与目标之间的误差来调整权重，以学习数据的内在分布。</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04E38CB4-828F-40FF-BE17-2D7D0C79C431}" type="slidenum">
              <a:rPr lang="zh-CN" altLang="en-US" smtClean="0"/>
              <a:t>2</a:t>
            </a:fld>
            <a:endParaRPr lang="zh-CN" altLang="en-US"/>
          </a:p>
        </p:txBody>
      </p:sp>
    </p:spTree>
    <p:extLst>
      <p:ext uri="{BB962C8B-B14F-4D97-AF65-F5344CB8AC3E}">
        <p14:creationId xmlns:p14="http://schemas.microsoft.com/office/powerpoint/2010/main" val="185681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参数太多：如果输入图像大小为</a:t>
            </a:r>
            <a:r>
              <a:rPr lang="en-US" altLang="zh-CN" dirty="0"/>
              <a:t>100 × 100 × 3</a:t>
            </a:r>
            <a:r>
              <a:rPr lang="zh-CN" altLang="en-US" dirty="0"/>
              <a:t>（即图像高度为</a:t>
            </a:r>
            <a:r>
              <a:rPr lang="en-US" altLang="zh-CN" dirty="0"/>
              <a:t>100</a:t>
            </a:r>
            <a:r>
              <a:rPr lang="zh-CN" altLang="en-US" dirty="0"/>
              <a:t>，宽 度为 </a:t>
            </a:r>
            <a:r>
              <a:rPr lang="en-US" altLang="zh-CN" dirty="0"/>
              <a:t>100 </a:t>
            </a:r>
            <a:r>
              <a:rPr lang="zh-CN" altLang="en-US" dirty="0"/>
              <a:t>以及 </a:t>
            </a:r>
            <a:r>
              <a:rPr lang="en-US" altLang="zh-CN" dirty="0"/>
              <a:t>RGB 3 </a:t>
            </a:r>
            <a:r>
              <a:rPr lang="zh-CN" altLang="en-US" dirty="0"/>
              <a:t>个颜色通道），在全连接前馈网络中，第一个隐藏层的每个 神经元到输入层都有 </a:t>
            </a:r>
            <a:r>
              <a:rPr lang="en-US" altLang="zh-CN" dirty="0"/>
              <a:t>100 × 100 × 3 = 30 000 </a:t>
            </a:r>
            <a:r>
              <a:rPr lang="zh-CN" altLang="en-US" dirty="0"/>
              <a:t>个互相独立的连接，每个连接都对 应一个权重参数．随着隐藏层神经元数量的增多，参数的规模也会急剧增加．这 会导致整个神经网络的训练效率非常低，也很容易出现过拟合。</a:t>
            </a:r>
            <a:endParaRPr lang="en-US" altLang="zh-CN" dirty="0"/>
          </a:p>
          <a:p>
            <a:r>
              <a:rPr lang="en-US" altLang="zh-CN" dirty="0"/>
              <a:t>2.</a:t>
            </a:r>
            <a:r>
              <a:rPr lang="zh-CN" altLang="en-US" dirty="0"/>
              <a:t>局部不变性特征：自然图像中的物体都具有局部不变性特征，比如尺 度缩放、平移、旋转等操作不影响其语义信息．而全连接前馈网络很难提取这些 局部不变性特征</a:t>
            </a:r>
          </a:p>
          <a:p>
            <a:endParaRPr lang="zh-CN" altLang="en-US" dirty="0"/>
          </a:p>
        </p:txBody>
      </p:sp>
      <p:sp>
        <p:nvSpPr>
          <p:cNvPr id="4" name="灯片编号占位符 3"/>
          <p:cNvSpPr>
            <a:spLocks noGrp="1"/>
          </p:cNvSpPr>
          <p:nvPr>
            <p:ph type="sldNum" sz="quarter" idx="5"/>
          </p:nvPr>
        </p:nvSpPr>
        <p:spPr/>
        <p:txBody>
          <a:bodyPr/>
          <a:lstStyle/>
          <a:p>
            <a:fld id="{0FA7FB16-436E-4C3A-AC93-D953BF9B5BF3}" type="slidenum">
              <a:rPr lang="zh-CN" altLang="en-US" smtClean="0"/>
              <a:t>4</a:t>
            </a:fld>
            <a:endParaRPr lang="zh-CN" altLang="en-US"/>
          </a:p>
        </p:txBody>
      </p:sp>
    </p:spTree>
    <p:extLst>
      <p:ext uri="{BB962C8B-B14F-4D97-AF65-F5344CB8AC3E}">
        <p14:creationId xmlns:p14="http://schemas.microsoft.com/office/powerpoint/2010/main" val="1701615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800" dirty="0"/>
              <a:t>共有</a:t>
            </a:r>
            <a:r>
              <a:rPr lang="en-US" altLang="zh-CN" sz="1800" dirty="0"/>
              <a:t>7</a:t>
            </a:r>
            <a:r>
              <a:rPr lang="zh-CN" altLang="en-US" sz="1800" dirty="0"/>
              <a:t>层，输入大小为</a:t>
            </a:r>
            <a:r>
              <a:rPr lang="en-US" altLang="zh-CN" sz="1800" dirty="0"/>
              <a:t>32 × 32</a:t>
            </a:r>
            <a:r>
              <a:rPr lang="zh-CN" altLang="en-US" sz="1800" dirty="0"/>
              <a:t>的图像，输出对应 </a:t>
            </a:r>
            <a:r>
              <a:rPr lang="en-US" altLang="zh-CN" sz="1800" dirty="0"/>
              <a:t>10</a:t>
            </a:r>
            <a:r>
              <a:rPr lang="zh-CN" altLang="en-US" sz="1800" dirty="0" smtClean="0"/>
              <a:t>个类别</a:t>
            </a:r>
            <a:r>
              <a:rPr lang="zh-CN" altLang="en-US" sz="1800" dirty="0"/>
              <a:t>的得分。第一个卷积层使用了</a:t>
            </a:r>
            <a:r>
              <a:rPr lang="en-US" altLang="zh-CN" sz="1800" dirty="0"/>
              <a:t>6</a:t>
            </a:r>
            <a:r>
              <a:rPr lang="zh-CN" altLang="en-US" sz="1800" dirty="0"/>
              <a:t>个</a:t>
            </a:r>
            <a:r>
              <a:rPr lang="en-US" altLang="zh-CN" sz="1800" dirty="0"/>
              <a:t>5×5</a:t>
            </a:r>
            <a:r>
              <a:rPr lang="zh-CN" altLang="en-US" sz="1800" dirty="0"/>
              <a:t>的卷积核，得到</a:t>
            </a:r>
            <a:r>
              <a:rPr lang="en-US" altLang="zh-CN" sz="1800" dirty="0"/>
              <a:t>28×28</a:t>
            </a:r>
            <a:r>
              <a:rPr lang="zh-CN" altLang="en-US" sz="1800" dirty="0"/>
              <a:t>的特征，再</a:t>
            </a:r>
            <a:r>
              <a:rPr lang="zh-CN" altLang="en-US" sz="1800" dirty="0" smtClean="0"/>
              <a:t>应用</a:t>
            </a:r>
            <a:r>
              <a:rPr lang="en-US" altLang="zh-CN" sz="1800" dirty="0" smtClean="0"/>
              <a:t>2×2</a:t>
            </a:r>
            <a:r>
              <a:rPr lang="zh-CN" altLang="en-US" sz="1800" dirty="0" smtClean="0"/>
              <a:t>的</a:t>
            </a:r>
            <a:r>
              <a:rPr lang="zh-CN" altLang="en-US" sz="1800" b="0" i="0" dirty="0" smtClean="0">
                <a:solidFill>
                  <a:srgbClr val="4D4D4D"/>
                </a:solidFill>
                <a:effectLst/>
                <a:latin typeface="-apple-system"/>
              </a:rPr>
              <a:t>平均池化层</a:t>
            </a:r>
            <a:r>
              <a:rPr lang="zh-CN" altLang="en-US" sz="1800" b="0" i="0" dirty="0">
                <a:solidFill>
                  <a:srgbClr val="4D4D4D"/>
                </a:solidFill>
                <a:effectLst/>
                <a:latin typeface="-apple-system"/>
              </a:rPr>
              <a:t>将特征减少到</a:t>
            </a:r>
            <a:r>
              <a:rPr lang="en-US" altLang="zh-CN" sz="1800" b="0" i="0" dirty="0">
                <a:solidFill>
                  <a:srgbClr val="4D4D4D"/>
                </a:solidFill>
                <a:effectLst/>
                <a:latin typeface="-apple-system"/>
              </a:rPr>
              <a:t>14×14</a:t>
            </a:r>
            <a:r>
              <a:rPr lang="zh-CN" altLang="en-US" sz="1800" b="0" i="0" dirty="0">
                <a:solidFill>
                  <a:srgbClr val="4D4D4D"/>
                </a:solidFill>
                <a:effectLst/>
                <a:latin typeface="-apple-system"/>
              </a:rPr>
              <a:t>。其中第三层的卷积层并没有使输入和输出的特征全连接，而是定义了一个连接表，使每个输出特征依赖于部分输入特征，将卷积核的数量从</a:t>
            </a:r>
            <a:r>
              <a:rPr lang="en-US" altLang="zh-CN" sz="1800" b="0" i="0" dirty="0">
                <a:solidFill>
                  <a:srgbClr val="4D4D4D"/>
                </a:solidFill>
                <a:effectLst/>
                <a:latin typeface="-apple-system"/>
              </a:rPr>
              <a:t>6×16=96</a:t>
            </a:r>
            <a:r>
              <a:rPr lang="zh-CN" altLang="en-US" sz="1800" b="0" i="0" dirty="0">
                <a:solidFill>
                  <a:srgbClr val="4D4D4D"/>
                </a:solidFill>
                <a:effectLst/>
                <a:latin typeface="-apple-system"/>
              </a:rPr>
              <a:t>个减少到了</a:t>
            </a:r>
            <a:r>
              <a:rPr lang="en-US" altLang="zh-CN" sz="1800" b="0" i="0" dirty="0">
                <a:solidFill>
                  <a:srgbClr val="4D4D4D"/>
                </a:solidFill>
                <a:effectLst/>
                <a:latin typeface="-apple-system"/>
              </a:rPr>
              <a:t>60</a:t>
            </a:r>
            <a:r>
              <a:rPr lang="zh-CN" altLang="en-US" sz="1800" b="0" i="0" dirty="0">
                <a:solidFill>
                  <a:srgbClr val="4D4D4D"/>
                </a:solidFill>
                <a:effectLst/>
                <a:latin typeface="-apple-system"/>
              </a:rPr>
              <a:t>个，同时这种不对称的组合连接的方式有利于提取多种组合特征。</a:t>
            </a:r>
            <a:endParaRPr lang="en-US" altLang="zh-CN" sz="1800" b="0" i="0" dirty="0">
              <a:solidFill>
                <a:srgbClr val="4D4D4D"/>
              </a:solidFill>
              <a:effectLst/>
              <a:latin typeface="-apple-system"/>
            </a:endParaRPr>
          </a:p>
          <a:p>
            <a:r>
              <a:rPr lang="en-US" altLang="zh-CN" sz="1800" b="0" i="0" dirty="0">
                <a:solidFill>
                  <a:srgbClr val="4D4D4D"/>
                </a:solidFill>
                <a:effectLst/>
                <a:latin typeface="-apple-system"/>
              </a:rPr>
              <a:t>4</a:t>
            </a:r>
            <a:endParaRPr lang="zh-CN" altLang="en-US" sz="1800" dirty="0"/>
          </a:p>
          <a:p>
            <a:endParaRPr lang="zh-CN" altLang="en-US" sz="1800" dirty="0"/>
          </a:p>
        </p:txBody>
      </p:sp>
      <p:sp>
        <p:nvSpPr>
          <p:cNvPr id="4" name="灯片编号占位符 3"/>
          <p:cNvSpPr>
            <a:spLocks noGrp="1"/>
          </p:cNvSpPr>
          <p:nvPr>
            <p:ph type="sldNum" sz="quarter" idx="5"/>
          </p:nvPr>
        </p:nvSpPr>
        <p:spPr/>
        <p:txBody>
          <a:bodyPr/>
          <a:lstStyle/>
          <a:p>
            <a:fld id="{0FA7FB16-436E-4C3A-AC93-D953BF9B5BF3}" type="slidenum">
              <a:rPr lang="zh-CN" altLang="en-US" smtClean="0"/>
              <a:t>7</a:t>
            </a:fld>
            <a:endParaRPr lang="zh-CN" altLang="en-US"/>
          </a:p>
        </p:txBody>
      </p:sp>
    </p:spTree>
    <p:extLst>
      <p:ext uri="{BB962C8B-B14F-4D97-AF65-F5344CB8AC3E}">
        <p14:creationId xmlns:p14="http://schemas.microsoft.com/office/powerpoint/2010/main" val="24819857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0FA7FB16-436E-4C3A-AC93-D953BF9B5BF3}" type="slidenum">
              <a:rPr lang="zh-CN" altLang="en-US" smtClean="0"/>
              <a:t>8</a:t>
            </a:fld>
            <a:endParaRPr lang="zh-CN" altLang="en-US"/>
          </a:p>
        </p:txBody>
      </p:sp>
    </p:spTree>
    <p:extLst>
      <p:ext uri="{BB962C8B-B14F-4D97-AF65-F5344CB8AC3E}">
        <p14:creationId xmlns:p14="http://schemas.microsoft.com/office/powerpoint/2010/main" val="20710537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charset="0"/>
                <a:ea typeface="+mn-ea"/>
                <a:cs typeface="+mn-cs"/>
              </a:rPr>
              <a:t>ImageNet</a:t>
            </a:r>
            <a:r>
              <a:rPr lang="zh-CN" altLang="en-US" sz="1200" b="0" i="0" kern="1200" dirty="0" smtClean="0">
                <a:solidFill>
                  <a:schemeClr val="tx1"/>
                </a:solidFill>
                <a:effectLst/>
                <a:latin typeface="Arial" charset="0"/>
                <a:ea typeface="+mn-ea"/>
                <a:cs typeface="+mn-cs"/>
              </a:rPr>
              <a:t>数据集的出现被广泛认为是深度学习革命的关键时刻，这场革命彻底改变了计算机视觉</a:t>
            </a:r>
            <a:r>
              <a:rPr lang="en-US" altLang="zh-CN" sz="1200" b="0" i="0" kern="1200" dirty="0" smtClean="0">
                <a:solidFill>
                  <a:schemeClr val="tx1"/>
                </a:solidFill>
                <a:effectLst/>
                <a:latin typeface="Arial" charset="0"/>
                <a:ea typeface="+mn-ea"/>
                <a:cs typeface="+mn-cs"/>
              </a:rPr>
              <a:t>(CV)</a:t>
            </a:r>
            <a:r>
              <a:rPr lang="zh-CN" altLang="en-US" sz="1200" b="0" i="0" kern="1200" dirty="0" smtClean="0">
                <a:solidFill>
                  <a:schemeClr val="tx1"/>
                </a:solidFill>
                <a:effectLst/>
                <a:latin typeface="Arial" charset="0"/>
                <a:ea typeface="+mn-ea"/>
                <a:cs typeface="+mn-cs"/>
              </a:rPr>
              <a:t>和人工智能</a:t>
            </a:r>
            <a:r>
              <a:rPr lang="en-US" altLang="zh-CN" sz="1200" b="0" i="0" kern="1200" dirty="0" smtClean="0">
                <a:solidFill>
                  <a:schemeClr val="tx1"/>
                </a:solidFill>
                <a:effectLst/>
                <a:latin typeface="Arial" charset="0"/>
                <a:ea typeface="+mn-ea"/>
                <a:cs typeface="+mn-cs"/>
              </a:rPr>
              <a:t>(AI)</a:t>
            </a:r>
            <a:r>
              <a:rPr lang="zh-CN" altLang="en-US" sz="1200" b="0" i="0" kern="1200" dirty="0" smtClean="0">
                <a:solidFill>
                  <a:schemeClr val="tx1"/>
                </a:solidFill>
                <a:effectLst/>
                <a:latin typeface="Arial" charset="0"/>
                <a:ea typeface="+mn-ea"/>
                <a:cs typeface="+mn-cs"/>
              </a:rPr>
              <a:t>。</a:t>
            </a:r>
          </a:p>
          <a:p>
            <a:r>
              <a:rPr lang="zh-CN" altLang="en-US" sz="1200" b="0" i="0" kern="1200" dirty="0" smtClean="0">
                <a:solidFill>
                  <a:schemeClr val="tx1"/>
                </a:solidFill>
                <a:effectLst/>
                <a:latin typeface="Arial" charset="0"/>
                <a:ea typeface="+mn-ea"/>
                <a:cs typeface="+mn-cs"/>
              </a:rPr>
              <a:t>在</a:t>
            </a:r>
            <a:r>
              <a:rPr lang="en-US" altLang="zh-CN" sz="1200" b="0" i="0" kern="1200" dirty="0" smtClean="0">
                <a:solidFill>
                  <a:schemeClr val="tx1"/>
                </a:solidFill>
                <a:effectLst/>
                <a:latin typeface="Arial" charset="0"/>
                <a:ea typeface="+mn-ea"/>
                <a:cs typeface="+mn-cs"/>
              </a:rPr>
              <a:t>ImageNet</a:t>
            </a:r>
            <a:r>
              <a:rPr lang="zh-CN" altLang="en-US" sz="1200" b="0" i="0" kern="1200" dirty="0" smtClean="0">
                <a:solidFill>
                  <a:schemeClr val="tx1"/>
                </a:solidFill>
                <a:effectLst/>
                <a:latin typeface="Arial" charset="0"/>
                <a:ea typeface="+mn-ea"/>
                <a:cs typeface="+mn-cs"/>
              </a:rPr>
              <a:t>之前，计算机视觉和图像处理研究人员在小数据集上训练</a:t>
            </a:r>
            <a:r>
              <a:rPr lang="zh-CN" altLang="en-US" sz="1200" b="0" i="0" u="none" strike="noStrike" kern="1200" dirty="0" smtClean="0">
                <a:solidFill>
                  <a:schemeClr val="tx1"/>
                </a:solidFill>
                <a:effectLst/>
                <a:latin typeface="Arial" charset="0"/>
                <a:ea typeface="+mn-ea"/>
                <a:cs typeface="+mn-cs"/>
                <a:hlinkClick r:id="rId3"/>
              </a:rPr>
              <a:t>图像分类</a:t>
            </a:r>
            <a:r>
              <a:rPr lang="zh-CN" altLang="en-US" sz="1200" b="0" i="0" kern="1200" dirty="0" smtClean="0">
                <a:solidFill>
                  <a:schemeClr val="tx1"/>
                </a:solidFill>
                <a:effectLst/>
                <a:latin typeface="Arial" charset="0"/>
                <a:ea typeface="+mn-ea"/>
                <a:cs typeface="+mn-cs"/>
              </a:rPr>
              <a:t>模型，如</a:t>
            </a:r>
            <a:r>
              <a:rPr lang="en-US" altLang="zh-CN" sz="1200" b="0" i="0" kern="1200" dirty="0" smtClean="0">
                <a:solidFill>
                  <a:schemeClr val="tx1"/>
                </a:solidFill>
                <a:effectLst/>
                <a:latin typeface="Arial" charset="0"/>
                <a:ea typeface="+mn-ea"/>
                <a:cs typeface="+mn-cs"/>
              </a:rPr>
              <a:t>CalTech101 (9k</a:t>
            </a:r>
            <a:r>
              <a:rPr lang="zh-CN" altLang="en-US" sz="1200" b="0" i="0" kern="1200" dirty="0" smtClean="0">
                <a:solidFill>
                  <a:schemeClr val="tx1"/>
                </a:solidFill>
                <a:effectLst/>
                <a:latin typeface="Arial" charset="0"/>
                <a:ea typeface="+mn-ea"/>
                <a:cs typeface="+mn-cs"/>
              </a:rPr>
              <a:t>图像</a:t>
            </a:r>
            <a:r>
              <a:rPr lang="en-US" altLang="zh-CN" sz="1200" b="0" i="0" kern="1200" dirty="0" smtClean="0">
                <a:solidFill>
                  <a:schemeClr val="tx1"/>
                </a:solidFill>
                <a:effectLst/>
                <a:latin typeface="Arial" charset="0"/>
                <a:ea typeface="+mn-ea"/>
                <a:cs typeface="+mn-cs"/>
              </a:rPr>
              <a:t>)</a:t>
            </a:r>
            <a:r>
              <a:rPr lang="zh-CN" altLang="en-US" sz="1200" b="0" i="0" kern="1200" dirty="0" smtClean="0">
                <a:solidFill>
                  <a:schemeClr val="tx1"/>
                </a:solidFill>
                <a:effectLst/>
                <a:latin typeface="Arial" charset="0"/>
                <a:ea typeface="+mn-ea"/>
                <a:cs typeface="+mn-cs"/>
              </a:rPr>
              <a:t>、</a:t>
            </a:r>
            <a:r>
              <a:rPr lang="en-US" altLang="zh-CN" sz="1200" b="0" i="0" kern="1200" dirty="0" smtClean="0">
                <a:solidFill>
                  <a:schemeClr val="tx1"/>
                </a:solidFill>
                <a:effectLst/>
                <a:latin typeface="Arial" charset="0"/>
                <a:ea typeface="+mn-ea"/>
                <a:cs typeface="+mn-cs"/>
              </a:rPr>
              <a:t>PASCAL-VOC (30k</a:t>
            </a:r>
            <a:r>
              <a:rPr lang="zh-CN" altLang="en-US" sz="1200" b="0" i="0" kern="1200" dirty="0" smtClean="0">
                <a:solidFill>
                  <a:schemeClr val="tx1"/>
                </a:solidFill>
                <a:effectLst/>
                <a:latin typeface="Arial" charset="0"/>
                <a:ea typeface="+mn-ea"/>
                <a:cs typeface="+mn-cs"/>
              </a:rPr>
              <a:t>图像</a:t>
            </a:r>
            <a:r>
              <a:rPr lang="en-US" altLang="zh-CN" sz="1200" b="0" i="0" kern="1200" dirty="0" smtClean="0">
                <a:solidFill>
                  <a:schemeClr val="tx1"/>
                </a:solidFill>
                <a:effectLst/>
                <a:latin typeface="Arial" charset="0"/>
                <a:ea typeface="+mn-ea"/>
                <a:cs typeface="+mn-cs"/>
              </a:rPr>
              <a:t>)</a:t>
            </a:r>
            <a:r>
              <a:rPr lang="zh-CN" altLang="en-US" sz="1200" b="0" i="0" kern="1200" dirty="0" smtClean="0">
                <a:solidFill>
                  <a:schemeClr val="tx1"/>
                </a:solidFill>
                <a:effectLst/>
                <a:latin typeface="Arial" charset="0"/>
                <a:ea typeface="+mn-ea"/>
                <a:cs typeface="+mn-cs"/>
              </a:rPr>
              <a:t>、</a:t>
            </a:r>
            <a:r>
              <a:rPr lang="en-US" altLang="zh-CN" sz="1200" b="0" i="0" kern="1200" dirty="0" err="1" smtClean="0">
                <a:solidFill>
                  <a:schemeClr val="tx1"/>
                </a:solidFill>
                <a:effectLst/>
                <a:latin typeface="Arial" charset="0"/>
                <a:ea typeface="+mn-ea"/>
                <a:cs typeface="+mn-cs"/>
              </a:rPr>
              <a:t>LabelMe</a:t>
            </a:r>
            <a:r>
              <a:rPr lang="en-US" altLang="zh-CN" sz="1200" b="0" i="0" kern="1200" dirty="0" smtClean="0">
                <a:solidFill>
                  <a:schemeClr val="tx1"/>
                </a:solidFill>
                <a:effectLst/>
                <a:latin typeface="Arial" charset="0"/>
                <a:ea typeface="+mn-ea"/>
                <a:cs typeface="+mn-cs"/>
              </a:rPr>
              <a:t> (37k</a:t>
            </a:r>
            <a:r>
              <a:rPr lang="zh-CN" altLang="en-US" sz="1200" b="0" i="0" kern="1200" dirty="0" smtClean="0">
                <a:solidFill>
                  <a:schemeClr val="tx1"/>
                </a:solidFill>
                <a:effectLst/>
                <a:latin typeface="Arial" charset="0"/>
                <a:ea typeface="+mn-ea"/>
                <a:cs typeface="+mn-cs"/>
              </a:rPr>
              <a:t>图像</a:t>
            </a:r>
            <a:r>
              <a:rPr lang="en-US" altLang="zh-CN" sz="1200" b="0" i="0" kern="1200" dirty="0" smtClean="0">
                <a:solidFill>
                  <a:schemeClr val="tx1"/>
                </a:solidFill>
                <a:effectLst/>
                <a:latin typeface="Arial" charset="0"/>
                <a:ea typeface="+mn-ea"/>
                <a:cs typeface="+mn-cs"/>
              </a:rPr>
              <a:t>)</a:t>
            </a:r>
            <a:r>
              <a:rPr lang="zh-CN" altLang="en-US" sz="1200" b="0" i="0" kern="1200" dirty="0" smtClean="0">
                <a:solidFill>
                  <a:schemeClr val="tx1"/>
                </a:solidFill>
                <a:effectLst/>
                <a:latin typeface="Arial" charset="0"/>
                <a:ea typeface="+mn-ea"/>
                <a:cs typeface="+mn-cs"/>
              </a:rPr>
              <a:t>和</a:t>
            </a:r>
            <a:r>
              <a:rPr lang="en-US" altLang="zh-CN" sz="1200" b="0" i="0" kern="1200" dirty="0" smtClean="0">
                <a:solidFill>
                  <a:schemeClr val="tx1"/>
                </a:solidFill>
                <a:effectLst/>
                <a:latin typeface="Arial" charset="0"/>
                <a:ea typeface="+mn-ea"/>
                <a:cs typeface="+mn-cs"/>
              </a:rPr>
              <a:t>SUN (131k</a:t>
            </a:r>
            <a:r>
              <a:rPr lang="zh-CN" altLang="en-US" sz="1200" b="0" i="0" kern="1200" dirty="0" smtClean="0">
                <a:solidFill>
                  <a:schemeClr val="tx1"/>
                </a:solidFill>
                <a:effectLst/>
                <a:latin typeface="Arial" charset="0"/>
                <a:ea typeface="+mn-ea"/>
                <a:cs typeface="+mn-cs"/>
              </a:rPr>
              <a:t>图像</a:t>
            </a:r>
            <a:r>
              <a:rPr lang="en-US" altLang="zh-CN" sz="1200" b="0" i="0" kern="1200" dirty="0" smtClean="0">
                <a:solidFill>
                  <a:schemeClr val="tx1"/>
                </a:solidFill>
                <a:effectLst/>
                <a:latin typeface="Arial" charset="0"/>
                <a:ea typeface="+mn-ea"/>
                <a:cs typeface="+mn-cs"/>
              </a:rPr>
              <a:t>)</a:t>
            </a:r>
            <a:r>
              <a:rPr lang="zh-CN" altLang="en-US" sz="1200" b="0" i="0" kern="1200" dirty="0" smtClean="0">
                <a:solidFill>
                  <a:schemeClr val="tx1"/>
                </a:solidFill>
                <a:effectLst/>
                <a:latin typeface="Arial" charset="0"/>
                <a:ea typeface="+mn-ea"/>
                <a:cs typeface="+mn-cs"/>
              </a:rPr>
              <a:t>数据集。</a:t>
            </a:r>
          </a:p>
          <a:p>
            <a:r>
              <a:rPr lang="en-US" altLang="zh-CN" sz="1200" b="0" i="0" kern="1200" dirty="0" smtClean="0">
                <a:solidFill>
                  <a:schemeClr val="tx1"/>
                </a:solidFill>
                <a:effectLst/>
                <a:latin typeface="Arial" charset="0"/>
                <a:ea typeface="+mn-ea"/>
                <a:cs typeface="+mn-cs"/>
              </a:rPr>
              <a:t>ImageNet</a:t>
            </a:r>
            <a:r>
              <a:rPr lang="zh-CN" altLang="en-US" sz="1200" b="0" i="0" kern="1200" dirty="0" smtClean="0">
                <a:solidFill>
                  <a:schemeClr val="tx1"/>
                </a:solidFill>
                <a:effectLst/>
                <a:latin typeface="Arial" charset="0"/>
                <a:ea typeface="+mn-ea"/>
                <a:cs typeface="+mn-cs"/>
              </a:rPr>
              <a:t>拥有超过</a:t>
            </a:r>
            <a:r>
              <a:rPr lang="en-US" altLang="zh-CN" sz="1200" b="0" i="0" kern="1200" dirty="0" smtClean="0">
                <a:solidFill>
                  <a:schemeClr val="tx1"/>
                </a:solidFill>
                <a:effectLst/>
                <a:latin typeface="Arial" charset="0"/>
                <a:ea typeface="+mn-ea"/>
                <a:cs typeface="+mn-cs"/>
              </a:rPr>
              <a:t>1400</a:t>
            </a:r>
            <a:r>
              <a:rPr lang="zh-CN" altLang="en-US" sz="1200" b="0" i="0" kern="1200" dirty="0" smtClean="0">
                <a:solidFill>
                  <a:schemeClr val="tx1"/>
                </a:solidFill>
                <a:effectLst/>
                <a:latin typeface="Arial" charset="0"/>
                <a:ea typeface="+mn-ea"/>
                <a:cs typeface="+mn-cs"/>
              </a:rPr>
              <a:t>万张图像，分布在</a:t>
            </a:r>
            <a:r>
              <a:rPr lang="en-US" altLang="zh-CN" sz="1200" b="0" i="0" kern="1200" dirty="0" smtClean="0">
                <a:solidFill>
                  <a:schemeClr val="tx1"/>
                </a:solidFill>
                <a:effectLst/>
                <a:latin typeface="Arial" charset="0"/>
                <a:ea typeface="+mn-ea"/>
                <a:cs typeface="+mn-cs"/>
              </a:rPr>
              <a:t>21,841</a:t>
            </a:r>
            <a:r>
              <a:rPr lang="zh-CN" altLang="en-US" sz="1200" b="0" i="0" kern="1200" dirty="0" smtClean="0">
                <a:solidFill>
                  <a:schemeClr val="tx1"/>
                </a:solidFill>
                <a:effectLst/>
                <a:latin typeface="Arial" charset="0"/>
                <a:ea typeface="+mn-ea"/>
                <a:cs typeface="+mn-cs"/>
              </a:rPr>
              <a:t>个</a:t>
            </a:r>
            <a:r>
              <a:rPr lang="en-US" altLang="zh-CN" sz="1200" b="0" i="0" kern="1200" dirty="0" err="1" smtClean="0">
                <a:solidFill>
                  <a:schemeClr val="tx1"/>
                </a:solidFill>
                <a:effectLst/>
                <a:latin typeface="Arial" charset="0"/>
                <a:ea typeface="+mn-ea"/>
                <a:cs typeface="+mn-cs"/>
              </a:rPr>
              <a:t>synsets</a:t>
            </a:r>
            <a:r>
              <a:rPr lang="zh-CN" altLang="en-US" sz="1200" b="0" i="0" kern="1200" dirty="0" smtClean="0">
                <a:solidFill>
                  <a:schemeClr val="tx1"/>
                </a:solidFill>
                <a:effectLst/>
                <a:latin typeface="Arial" charset="0"/>
                <a:ea typeface="+mn-ea"/>
                <a:cs typeface="+mn-cs"/>
              </a:rPr>
              <a:t>中，包含</a:t>
            </a:r>
            <a:r>
              <a:rPr lang="en-US" altLang="zh-CN" sz="1200" b="0" i="0" kern="1200" dirty="0" smtClean="0">
                <a:solidFill>
                  <a:schemeClr val="tx1"/>
                </a:solidFill>
                <a:effectLst/>
                <a:latin typeface="Arial" charset="0"/>
                <a:ea typeface="+mn-ea"/>
                <a:cs typeface="+mn-cs"/>
              </a:rPr>
              <a:t>1,034,908</a:t>
            </a:r>
            <a:r>
              <a:rPr lang="zh-CN" altLang="en-US" sz="1200" b="0" i="0" kern="1200" dirty="0" smtClean="0">
                <a:solidFill>
                  <a:schemeClr val="tx1"/>
                </a:solidFill>
                <a:effectLst/>
                <a:latin typeface="Arial" charset="0"/>
                <a:ea typeface="+mn-ea"/>
                <a:cs typeface="+mn-cs"/>
              </a:rPr>
              <a:t>个边界框注释，弥补了以前规模方面的缺失，主导了曾经的计算机视觉奥运会，拥有</a:t>
            </a:r>
            <a:r>
              <a:rPr lang="en-US" altLang="zh-CN" sz="1200" b="0" i="0" kern="1200" dirty="0" smtClean="0">
                <a:solidFill>
                  <a:schemeClr val="tx1"/>
                </a:solidFill>
                <a:effectLst/>
                <a:latin typeface="Arial" charset="0"/>
                <a:ea typeface="+mn-ea"/>
                <a:cs typeface="+mn-cs"/>
              </a:rPr>
              <a:t>6000</a:t>
            </a:r>
            <a:r>
              <a:rPr lang="zh-CN" altLang="en-US" sz="1200" b="0" i="0" kern="1200" dirty="0" smtClean="0">
                <a:solidFill>
                  <a:schemeClr val="tx1"/>
                </a:solidFill>
                <a:effectLst/>
                <a:latin typeface="Arial" charset="0"/>
                <a:ea typeface="+mn-ea"/>
                <a:cs typeface="+mn-cs"/>
              </a:rPr>
              <a:t>万个参数的</a:t>
            </a:r>
            <a:r>
              <a:rPr lang="zh-CN" altLang="en-US" sz="1200" b="0" i="0" u="none" strike="noStrike" kern="1200" dirty="0" smtClean="0">
                <a:solidFill>
                  <a:schemeClr val="tx1"/>
                </a:solidFill>
                <a:effectLst/>
                <a:latin typeface="Arial" charset="0"/>
                <a:ea typeface="+mn-ea"/>
                <a:cs typeface="+mn-cs"/>
                <a:hlinkClick r:id="rId4"/>
              </a:rPr>
              <a:t>卷积神经网络</a:t>
            </a:r>
            <a:r>
              <a:rPr lang="en-US" altLang="zh-CN" sz="1200" b="0" i="0" kern="1200" dirty="0" smtClean="0">
                <a:solidFill>
                  <a:schemeClr val="tx1"/>
                </a:solidFill>
                <a:effectLst/>
                <a:latin typeface="Arial" charset="0"/>
                <a:ea typeface="+mn-ea"/>
                <a:cs typeface="+mn-cs"/>
              </a:rPr>
              <a:t>(CNN)</a:t>
            </a:r>
            <a:r>
              <a:rPr lang="zh-CN" altLang="en-US" sz="1200" b="0" i="0" kern="1200" dirty="0" smtClean="0">
                <a:solidFill>
                  <a:schemeClr val="tx1"/>
                </a:solidFill>
                <a:effectLst/>
                <a:latin typeface="Arial" charset="0"/>
                <a:ea typeface="+mn-ea"/>
                <a:cs typeface="+mn-cs"/>
              </a:rPr>
              <a:t>在这个数据集中大放异彩。</a:t>
            </a:r>
          </a:p>
          <a:p>
            <a:r>
              <a:rPr lang="en-US" altLang="zh-CN" sz="1200" b="0" i="0" kern="1200" dirty="0" smtClean="0">
                <a:solidFill>
                  <a:schemeClr val="tx1"/>
                </a:solidFill>
                <a:effectLst/>
                <a:latin typeface="Arial" charset="0"/>
                <a:ea typeface="+mn-ea"/>
                <a:cs typeface="+mn-cs"/>
              </a:rPr>
              <a:t>ImageNet</a:t>
            </a:r>
            <a:r>
              <a:rPr lang="zh-CN" altLang="en-US" sz="1200" b="0" i="0" kern="1200" dirty="0" smtClean="0">
                <a:solidFill>
                  <a:schemeClr val="tx1"/>
                </a:solidFill>
                <a:effectLst/>
                <a:latin typeface="Arial" charset="0"/>
                <a:ea typeface="+mn-ea"/>
                <a:cs typeface="+mn-cs"/>
              </a:rPr>
              <a:t>创建于十多年前，迄今仍是最具影响力和最强大的图像</a:t>
            </a:r>
            <a:r>
              <a:rPr lang="zh-CN" altLang="en-US" sz="1200" b="0" i="0" u="none" strike="noStrike" kern="1200" dirty="0" smtClean="0">
                <a:solidFill>
                  <a:schemeClr val="tx1"/>
                </a:solidFill>
                <a:effectLst/>
                <a:latin typeface="Arial" charset="0"/>
                <a:ea typeface="+mn-ea"/>
                <a:cs typeface="+mn-cs"/>
                <a:hlinkClick r:id="rId5"/>
              </a:rPr>
              <a:t>数据库</a:t>
            </a:r>
            <a:r>
              <a:rPr lang="zh-CN" altLang="en-US" sz="1200" b="0" i="0" kern="1200" dirty="0" smtClean="0">
                <a:solidFill>
                  <a:schemeClr val="tx1"/>
                </a:solidFill>
                <a:effectLst/>
                <a:latin typeface="Arial" charset="0"/>
                <a:ea typeface="+mn-ea"/>
                <a:cs typeface="+mn-cs"/>
              </a:rPr>
              <a:t>之一。</a:t>
            </a:r>
            <a:r>
              <a:rPr lang="en-US" altLang="zh-CN" sz="1200" b="0" i="0" kern="1200" dirty="0" smtClean="0">
                <a:solidFill>
                  <a:schemeClr val="tx1"/>
                </a:solidFill>
                <a:effectLst/>
                <a:latin typeface="Arial" charset="0"/>
                <a:ea typeface="+mn-ea"/>
                <a:cs typeface="+mn-cs"/>
              </a:rPr>
              <a:t>ImageNet</a:t>
            </a:r>
            <a:r>
              <a:rPr lang="zh-CN" altLang="en-US" sz="1200" b="0" i="0" kern="1200" dirty="0" smtClean="0">
                <a:solidFill>
                  <a:schemeClr val="tx1"/>
                </a:solidFill>
                <a:effectLst/>
                <a:latin typeface="Arial" charset="0"/>
                <a:ea typeface="+mn-ea"/>
                <a:cs typeface="+mn-cs"/>
              </a:rPr>
              <a:t>确实对其他大规模数据集的持续性和</a:t>
            </a:r>
            <a:r>
              <a:rPr lang="zh-CN" altLang="en-US" sz="1200" b="0" i="0" u="none" strike="noStrike" kern="1200" dirty="0" smtClean="0">
                <a:solidFill>
                  <a:schemeClr val="tx1"/>
                </a:solidFill>
                <a:effectLst/>
                <a:latin typeface="Arial" charset="0"/>
                <a:ea typeface="+mn-ea"/>
                <a:cs typeface="+mn-cs"/>
                <a:hlinkClick r:id="rId6"/>
              </a:rPr>
              <a:t>计算机视觉</a:t>
            </a:r>
            <a:r>
              <a:rPr lang="zh-CN" altLang="en-US" sz="1200" b="0" i="0" kern="1200" dirty="0" smtClean="0">
                <a:solidFill>
                  <a:schemeClr val="tx1"/>
                </a:solidFill>
                <a:effectLst/>
                <a:latin typeface="Arial" charset="0"/>
                <a:ea typeface="+mn-ea"/>
                <a:cs typeface="+mn-cs"/>
              </a:rPr>
              <a:t>领域的文化培养起到了关键作用。</a:t>
            </a:r>
          </a:p>
          <a:p>
            <a:endParaRPr lang="zh-CN" altLang="en-US" sz="1800" dirty="0"/>
          </a:p>
        </p:txBody>
      </p:sp>
      <p:sp>
        <p:nvSpPr>
          <p:cNvPr id="4" name="灯片编号占位符 3"/>
          <p:cNvSpPr>
            <a:spLocks noGrp="1"/>
          </p:cNvSpPr>
          <p:nvPr>
            <p:ph type="sldNum" sz="quarter" idx="5"/>
          </p:nvPr>
        </p:nvSpPr>
        <p:spPr/>
        <p:txBody>
          <a:bodyPr/>
          <a:lstStyle/>
          <a:p>
            <a:fld id="{0FA7FB16-436E-4C3A-AC93-D953BF9B5BF3}" type="slidenum">
              <a:rPr lang="zh-CN" altLang="en-US" smtClean="0"/>
              <a:t>9</a:t>
            </a:fld>
            <a:endParaRPr lang="zh-CN" altLang="en-US"/>
          </a:p>
        </p:txBody>
      </p:sp>
    </p:spTree>
    <p:extLst>
      <p:ext uri="{BB962C8B-B14F-4D97-AF65-F5344CB8AC3E}">
        <p14:creationId xmlns:p14="http://schemas.microsoft.com/office/powerpoint/2010/main" val="4091421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800" dirty="0"/>
              <a:t>2012</a:t>
            </a:r>
            <a:r>
              <a:rPr lang="zh-CN" altLang="en-US" sz="1800" dirty="0"/>
              <a:t>年</a:t>
            </a:r>
            <a:r>
              <a:rPr lang="en-US" altLang="zh-CN" sz="1800" dirty="0"/>
              <a:t>ImageNet</a:t>
            </a:r>
            <a:r>
              <a:rPr lang="zh-CN" altLang="en-US" sz="1800" dirty="0"/>
              <a:t>图像分类比赛冠军，第一个现代深度</a:t>
            </a:r>
            <a:r>
              <a:rPr lang="en-US" altLang="zh-CN" sz="1800" dirty="0"/>
              <a:t>CNN</a:t>
            </a:r>
            <a:r>
              <a:rPr lang="zh-CN" altLang="en-US" sz="1800" dirty="0"/>
              <a:t>模型，引起了深度学习的热潮。</a:t>
            </a:r>
          </a:p>
        </p:txBody>
      </p:sp>
      <p:sp>
        <p:nvSpPr>
          <p:cNvPr id="4" name="灯片编号占位符 3"/>
          <p:cNvSpPr>
            <a:spLocks noGrp="1"/>
          </p:cNvSpPr>
          <p:nvPr>
            <p:ph type="sldNum" sz="quarter" idx="5"/>
          </p:nvPr>
        </p:nvSpPr>
        <p:spPr/>
        <p:txBody>
          <a:bodyPr/>
          <a:lstStyle/>
          <a:p>
            <a:fld id="{0FA7FB16-436E-4C3A-AC93-D953BF9B5BF3}" type="slidenum">
              <a:rPr lang="zh-CN" altLang="en-US" smtClean="0"/>
              <a:t>10</a:t>
            </a:fld>
            <a:endParaRPr lang="zh-CN" altLang="en-US"/>
          </a:p>
        </p:txBody>
      </p:sp>
    </p:spTree>
    <p:extLst>
      <p:ext uri="{BB962C8B-B14F-4D97-AF65-F5344CB8AC3E}">
        <p14:creationId xmlns:p14="http://schemas.microsoft.com/office/powerpoint/2010/main" val="41449129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charset="0"/>
                <a:ea typeface="+mn-ea"/>
                <a:cs typeface="+mn-cs"/>
              </a:rPr>
              <a:t>5</a:t>
            </a:r>
            <a:r>
              <a:rPr lang="zh-CN" altLang="en-US" sz="1200" b="0" i="0" kern="1200" dirty="0" smtClean="0">
                <a:solidFill>
                  <a:schemeClr val="tx1"/>
                </a:solidFill>
                <a:effectLst/>
                <a:latin typeface="Arial" charset="0"/>
                <a:ea typeface="+mn-ea"/>
                <a:cs typeface="+mn-cs"/>
              </a:rPr>
              <a:t>层卷积 </a:t>
            </a:r>
            <a:r>
              <a:rPr lang="en-US" altLang="zh-CN" sz="1200" b="0" i="0" kern="1200" dirty="0" smtClean="0">
                <a:solidFill>
                  <a:schemeClr val="tx1"/>
                </a:solidFill>
                <a:effectLst/>
                <a:latin typeface="Arial" charset="0"/>
                <a:ea typeface="+mn-ea"/>
                <a:cs typeface="+mn-cs"/>
              </a:rPr>
              <a:t>+ 3</a:t>
            </a:r>
            <a:r>
              <a:rPr lang="zh-CN" altLang="en-US" sz="1200" b="0" i="0" kern="1200" dirty="0" smtClean="0">
                <a:solidFill>
                  <a:schemeClr val="tx1"/>
                </a:solidFill>
                <a:effectLst/>
                <a:latin typeface="Arial" charset="0"/>
                <a:ea typeface="+mn-ea"/>
                <a:cs typeface="+mn-cs"/>
              </a:rPr>
              <a:t>层全连接的深层架构（</a:t>
            </a:r>
            <a:r>
              <a:rPr lang="en-US" altLang="zh-CN" sz="1200" b="0" i="0" kern="1200" dirty="0" err="1" smtClean="0">
                <a:solidFill>
                  <a:schemeClr val="tx1"/>
                </a:solidFill>
                <a:effectLst/>
                <a:latin typeface="Arial" charset="0"/>
                <a:ea typeface="+mn-ea"/>
                <a:cs typeface="+mn-cs"/>
              </a:rPr>
              <a:t>AlexNet</a:t>
            </a:r>
            <a:r>
              <a:rPr lang="zh-CN" altLang="en-US" sz="1200" b="0" i="0" kern="1200" dirty="0" smtClean="0">
                <a:solidFill>
                  <a:schemeClr val="tx1"/>
                </a:solidFill>
                <a:effectLst/>
                <a:latin typeface="Arial" charset="0"/>
                <a:ea typeface="+mn-ea"/>
                <a:cs typeface="+mn-cs"/>
              </a:rPr>
              <a:t>）</a:t>
            </a:r>
            <a:endParaRPr lang="zh-CN" altLang="en-US" dirty="0"/>
          </a:p>
        </p:txBody>
      </p:sp>
      <p:sp>
        <p:nvSpPr>
          <p:cNvPr id="4" name="灯片编号占位符 3"/>
          <p:cNvSpPr>
            <a:spLocks noGrp="1"/>
          </p:cNvSpPr>
          <p:nvPr>
            <p:ph type="sldNum" sz="quarter" idx="10"/>
          </p:nvPr>
        </p:nvSpPr>
        <p:spPr/>
        <p:txBody>
          <a:bodyPr/>
          <a:lstStyle/>
          <a:p>
            <a:pPr>
              <a:defRPr/>
            </a:pPr>
            <a:fld id="{3656C15A-65A9-4188-BE47-91B53ACA740E}" type="slidenum">
              <a:rPr lang="en-US" smtClean="0"/>
              <a:pPr>
                <a:defRPr/>
              </a:pPr>
              <a:t>11</a:t>
            </a:fld>
            <a:endParaRPr lang="en-US"/>
          </a:p>
        </p:txBody>
      </p:sp>
    </p:spTree>
    <p:extLst>
      <p:ext uri="{BB962C8B-B14F-4D97-AF65-F5344CB8AC3E}">
        <p14:creationId xmlns:p14="http://schemas.microsoft.com/office/powerpoint/2010/main" val="1129928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800" dirty="0"/>
          </a:p>
        </p:txBody>
      </p:sp>
      <p:sp>
        <p:nvSpPr>
          <p:cNvPr id="4" name="灯片编号占位符 3"/>
          <p:cNvSpPr>
            <a:spLocks noGrp="1"/>
          </p:cNvSpPr>
          <p:nvPr>
            <p:ph type="sldNum" sz="quarter" idx="5"/>
          </p:nvPr>
        </p:nvSpPr>
        <p:spPr/>
        <p:txBody>
          <a:bodyPr/>
          <a:lstStyle/>
          <a:p>
            <a:fld id="{0FA7FB16-436E-4C3A-AC93-D953BF9B5BF3}" type="slidenum">
              <a:rPr lang="zh-CN" altLang="en-US" smtClean="0"/>
              <a:t>12</a:t>
            </a:fld>
            <a:endParaRPr lang="zh-CN" altLang="en-US"/>
          </a:p>
        </p:txBody>
      </p:sp>
    </p:spTree>
    <p:extLst>
      <p:ext uri="{BB962C8B-B14F-4D97-AF65-F5344CB8AC3E}">
        <p14:creationId xmlns:p14="http://schemas.microsoft.com/office/powerpoint/2010/main" val="14078965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一个</a:t>
            </a:r>
            <a:r>
              <a:rPr lang="en-US" altLang="zh-CN" sz="1200" b="0" i="0" kern="1200" dirty="0" err="1" smtClean="0">
                <a:solidFill>
                  <a:schemeClr val="tx1"/>
                </a:solidFill>
                <a:effectLst/>
                <a:latin typeface="+mn-lt"/>
                <a:ea typeface="+mn-ea"/>
                <a:cs typeface="+mn-cs"/>
              </a:rPr>
              <a:t>dw</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深度卷积</a:t>
            </a:r>
            <a:r>
              <a:rPr lang="en-US" altLang="zh-CN" sz="1200" b="0" i="0" kern="1200" dirty="0" smtClean="0">
                <a:solidFill>
                  <a:schemeClr val="tx1"/>
                </a:solidFill>
                <a:effectLst/>
                <a:latin typeface="+mn-lt"/>
                <a:ea typeface="+mn-ea"/>
                <a:cs typeface="+mn-cs"/>
              </a:rPr>
              <a:t>)+pw(</a:t>
            </a:r>
            <a:r>
              <a:rPr lang="zh-CN" altLang="en-US" sz="1200" b="0" i="0" kern="1200" dirty="0" smtClean="0">
                <a:solidFill>
                  <a:schemeClr val="tx1"/>
                </a:solidFill>
                <a:effectLst/>
                <a:latin typeface="+mn-lt"/>
                <a:ea typeface="+mn-ea"/>
                <a:cs typeface="+mn-cs"/>
              </a:rPr>
              <a:t>逐点卷积</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组成了一个深度可分离卷积层。整个</a:t>
            </a:r>
            <a:r>
              <a:rPr lang="en-US" altLang="zh-CN" sz="1200" b="0" i="0" kern="1200" dirty="0" err="1" smtClean="0">
                <a:solidFill>
                  <a:schemeClr val="tx1"/>
                </a:solidFill>
                <a:effectLst/>
                <a:latin typeface="+mn-lt"/>
                <a:ea typeface="+mn-ea"/>
                <a:cs typeface="+mn-cs"/>
              </a:rPr>
              <a:t>MobileNet</a:t>
            </a:r>
            <a:r>
              <a:rPr lang="zh-CN" altLang="en-US" sz="1200" b="0" i="0" kern="1200" dirty="0" smtClean="0">
                <a:solidFill>
                  <a:schemeClr val="tx1"/>
                </a:solidFill>
                <a:effectLst/>
                <a:latin typeface="+mn-lt"/>
                <a:ea typeface="+mn-ea"/>
                <a:cs typeface="+mn-cs"/>
              </a:rPr>
              <a:t>由多个深度可分离卷积层构成</a:t>
            </a:r>
            <a:endParaRPr lang="zh-CN" altLang="en-US" sz="1800" dirty="0"/>
          </a:p>
        </p:txBody>
      </p:sp>
      <p:sp>
        <p:nvSpPr>
          <p:cNvPr id="4" name="灯片编号占位符 3"/>
          <p:cNvSpPr>
            <a:spLocks noGrp="1"/>
          </p:cNvSpPr>
          <p:nvPr>
            <p:ph type="sldNum" sz="quarter" idx="5"/>
          </p:nvPr>
        </p:nvSpPr>
        <p:spPr/>
        <p:txBody>
          <a:bodyPr/>
          <a:lstStyle/>
          <a:p>
            <a:fld id="{0FA7FB16-436E-4C3A-AC93-D953BF9B5BF3}" type="slidenum">
              <a:rPr lang="zh-CN" altLang="en-US" smtClean="0"/>
              <a:t>13</a:t>
            </a:fld>
            <a:endParaRPr lang="zh-CN" altLang="en-US"/>
          </a:p>
        </p:txBody>
      </p:sp>
    </p:spTree>
    <p:extLst>
      <p:ext uri="{BB962C8B-B14F-4D97-AF65-F5344CB8AC3E}">
        <p14:creationId xmlns:p14="http://schemas.microsoft.com/office/powerpoint/2010/main" val="3944078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德语</a:t>
            </a:r>
            <a:endParaRPr lang="zh-CN" altLang="en-US" dirty="0"/>
          </a:p>
        </p:txBody>
      </p:sp>
      <p:sp>
        <p:nvSpPr>
          <p:cNvPr id="4" name="灯片编号占位符 3"/>
          <p:cNvSpPr>
            <a:spLocks noGrp="1"/>
          </p:cNvSpPr>
          <p:nvPr>
            <p:ph type="sldNum" sz="quarter" idx="10"/>
          </p:nvPr>
        </p:nvSpPr>
        <p:spPr/>
        <p:txBody>
          <a:bodyPr/>
          <a:lstStyle/>
          <a:p>
            <a:fld id="{0FA7FB16-436E-4C3A-AC93-D953BF9B5BF3}" type="slidenum">
              <a:rPr lang="zh-CN" altLang="en-US" smtClean="0"/>
              <a:t>15</a:t>
            </a:fld>
            <a:endParaRPr lang="zh-CN" altLang="en-US"/>
          </a:p>
        </p:txBody>
      </p:sp>
    </p:spTree>
    <p:extLst>
      <p:ext uri="{BB962C8B-B14F-4D97-AF65-F5344CB8AC3E}">
        <p14:creationId xmlns:p14="http://schemas.microsoft.com/office/powerpoint/2010/main" val="19702147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dirty="0" smtClean="0">
                <a:solidFill>
                  <a:schemeClr val="tx1"/>
                </a:solidFill>
                <a:effectLst/>
                <a:latin typeface="+mn-lt"/>
                <a:ea typeface="+mn-ea"/>
                <a:cs typeface="+mn-cs"/>
              </a:rPr>
              <a:t>V={</a:t>
            </a:r>
            <a:r>
              <a:rPr lang="en-US" altLang="zh-CN" sz="1200" b="0" i="0" u="none" strike="noStrike" kern="1200" dirty="0" err="1" smtClean="0">
                <a:solidFill>
                  <a:schemeClr val="tx1"/>
                </a:solidFill>
                <a:effectLst/>
                <a:latin typeface="+mn-lt"/>
                <a:ea typeface="+mn-ea"/>
                <a:cs typeface="+mn-cs"/>
              </a:rPr>
              <a:t>ate,ball,cheese,mouse,the</a:t>
            </a:r>
            <a:r>
              <a:rPr lang="en-US" altLang="zh-CN" sz="1200" b="0" i="0" u="none" strike="noStrike" kern="1200" dirty="0" smtClean="0">
                <a:solidFill>
                  <a:schemeClr val="tx1"/>
                </a:solidFill>
                <a:effectLst/>
                <a:latin typeface="+mn-lt"/>
                <a:ea typeface="+mn-ea"/>
                <a:cs typeface="+mn-cs"/>
              </a:rPr>
              <a:t>} </a:t>
            </a:r>
            <a:endParaRPr lang="zh-CN" altLang="en-US" dirty="0"/>
          </a:p>
        </p:txBody>
      </p:sp>
      <p:sp>
        <p:nvSpPr>
          <p:cNvPr id="4" name="灯片编号占位符 3"/>
          <p:cNvSpPr>
            <a:spLocks noGrp="1"/>
          </p:cNvSpPr>
          <p:nvPr>
            <p:ph type="sldNum" sz="quarter" idx="10"/>
          </p:nvPr>
        </p:nvSpPr>
        <p:spPr/>
        <p:txBody>
          <a:bodyPr/>
          <a:lstStyle/>
          <a:p>
            <a:fld id="{0FA7FB16-436E-4C3A-AC93-D953BF9B5BF3}" type="slidenum">
              <a:rPr lang="zh-CN" altLang="en-US" smtClean="0"/>
              <a:t>16</a:t>
            </a:fld>
            <a:endParaRPr lang="zh-CN" altLang="en-US"/>
          </a:p>
        </p:txBody>
      </p:sp>
    </p:spTree>
    <p:extLst>
      <p:ext uri="{BB962C8B-B14F-4D97-AF65-F5344CB8AC3E}">
        <p14:creationId xmlns:p14="http://schemas.microsoft.com/office/powerpoint/2010/main" val="30624370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smtClean="0">
                <a:solidFill>
                  <a:schemeClr val="tx1"/>
                </a:solidFill>
                <a:effectLst/>
                <a:latin typeface="Arial" charset="0"/>
                <a:ea typeface="+mn-ea"/>
                <a:cs typeface="+mn-cs"/>
              </a:rPr>
              <a:t>香农的论文</a:t>
            </a:r>
            <a:r>
              <a:rPr lang="zh-CN" altLang="en-US" sz="1200" b="1" i="0" kern="1200" dirty="0" smtClean="0">
                <a:solidFill>
                  <a:schemeClr val="tx1"/>
                </a:solidFill>
                <a:effectLst/>
                <a:latin typeface="Arial" charset="0"/>
                <a:ea typeface="+mn-ea"/>
                <a:cs typeface="+mn-cs"/>
              </a:rPr>
              <a:t>未直接研究语言模型</a:t>
            </a:r>
            <a:r>
              <a:rPr lang="zh-CN" altLang="en-US" sz="1200" b="0" i="0" kern="1200" dirty="0" smtClean="0">
                <a:solidFill>
                  <a:schemeClr val="tx1"/>
                </a:solidFill>
                <a:effectLst/>
                <a:latin typeface="Arial" charset="0"/>
                <a:ea typeface="+mn-ea"/>
                <a:cs typeface="+mn-cs"/>
              </a:rPr>
              <a:t>，但其熵和编码解码理论为后来的统计语言模型（</a:t>
            </a:r>
            <a:r>
              <a:rPr lang="en-US" altLang="zh-CN" sz="1200" b="0" i="0" kern="1200" dirty="0" smtClean="0">
                <a:solidFill>
                  <a:schemeClr val="tx1"/>
                </a:solidFill>
                <a:effectLst/>
                <a:latin typeface="Arial" charset="0"/>
                <a:ea typeface="+mn-ea"/>
                <a:cs typeface="+mn-cs"/>
              </a:rPr>
              <a:t>n-gram</a:t>
            </a:r>
            <a:r>
              <a:rPr lang="zh-CN" altLang="en-US" sz="1200" b="0" i="0" kern="1200" dirty="0" smtClean="0">
                <a:solidFill>
                  <a:schemeClr val="tx1"/>
                </a:solidFill>
                <a:effectLst/>
                <a:latin typeface="Arial" charset="0"/>
                <a:ea typeface="+mn-ea"/>
                <a:cs typeface="+mn-cs"/>
              </a:rPr>
              <a:t>、神经网络）提供了概率框架。</a:t>
            </a: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几乎在同一时代，乔姆斯基在</a:t>
            </a:r>
            <a:r>
              <a:rPr lang="en-US" altLang="zh-CN" sz="1200" b="0" i="0" kern="1200" dirty="0" smtClean="0">
                <a:solidFill>
                  <a:schemeClr val="tx1"/>
                </a:solidFill>
                <a:effectLst/>
                <a:latin typeface="+mn-lt"/>
                <a:ea typeface="+mn-ea"/>
                <a:cs typeface="+mn-cs"/>
              </a:rPr>
              <a:t>1956</a:t>
            </a:r>
            <a:r>
              <a:rPr lang="zh-CN" altLang="en-US" sz="1200" b="0" i="0" kern="1200" dirty="0" smtClean="0">
                <a:solidFill>
                  <a:schemeClr val="tx1"/>
                </a:solidFill>
                <a:effectLst/>
                <a:latin typeface="+mn-lt"/>
                <a:ea typeface="+mn-ea"/>
                <a:cs typeface="+mn-cs"/>
              </a:rPr>
              <a:t>年提出了语法的乔姆斯基谱系，用来表示语言的句法。他指出，有限状态语法</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也称为了 </a:t>
            </a:r>
            <a:r>
              <a:rPr lang="en-US" altLang="zh-CN" sz="1200" b="0" i="0" kern="1200" dirty="0" smtClean="0">
                <a:solidFill>
                  <a:schemeClr val="tx1"/>
                </a:solidFill>
                <a:effectLst/>
                <a:latin typeface="+mn-lt"/>
                <a:ea typeface="+mn-ea"/>
                <a:cs typeface="+mn-cs"/>
              </a:rPr>
              <a:t>n-gram </a:t>
            </a:r>
            <a:r>
              <a:rPr lang="zh-CN" altLang="en-US" sz="1200" b="0" i="0" kern="1200" dirty="0" smtClean="0">
                <a:solidFill>
                  <a:schemeClr val="tx1"/>
                </a:solidFill>
                <a:effectLst/>
                <a:latin typeface="+mn-lt"/>
                <a:ea typeface="+mn-ea"/>
                <a:cs typeface="+mn-cs"/>
              </a:rPr>
              <a:t>模型</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在描述自然语言方面存在局限性。</a:t>
            </a:r>
          </a:p>
          <a:p>
            <a:r>
              <a:rPr lang="zh-CN" altLang="en-US" sz="1200" b="0" i="0" kern="1200" dirty="0" smtClean="0">
                <a:solidFill>
                  <a:schemeClr val="tx1"/>
                </a:solidFill>
                <a:effectLst/>
                <a:latin typeface="+mn-lt"/>
                <a:ea typeface="+mn-ea"/>
                <a:cs typeface="+mn-cs"/>
              </a:rPr>
              <a:t>乔姆斯基的理论断言，一种语言由一组有限或无限的句子组成，每个句子是一组有限长度的单词，单词来自一个有限的词汇，语法是一组生成规则，可以生成语言中的所有句子。不同的语法可以产生不同复杂度的语言，并形成层次结构。</a:t>
            </a:r>
          </a:p>
          <a:p>
            <a:r>
              <a:rPr lang="zh-CN" altLang="en-US" sz="1200" b="0" i="0" kern="1200" dirty="0" smtClean="0">
                <a:solidFill>
                  <a:schemeClr val="tx1"/>
                </a:solidFill>
                <a:effectLst/>
                <a:latin typeface="+mn-lt"/>
                <a:ea typeface="+mn-ea"/>
                <a:cs typeface="+mn-cs"/>
              </a:rPr>
              <a:t>能够生成有限状态机可以接受的句子的语法是有限状态文法或正则文法，而能够生成非确定性下推自动机可以接受的句子的语法是上下文无关文法。有限状态文法被恰当地包含在无上下文文法中。</a:t>
            </a:r>
          </a:p>
          <a:p>
            <a:r>
              <a:rPr lang="zh-CN" altLang="en-US" sz="1200" b="0" i="0" kern="1200" dirty="0" smtClean="0">
                <a:solidFill>
                  <a:schemeClr val="tx1"/>
                </a:solidFill>
                <a:effectLst/>
                <a:latin typeface="+mn-lt"/>
                <a:ea typeface="+mn-ea"/>
                <a:cs typeface="+mn-cs"/>
              </a:rPr>
              <a:t>有限马尔可夫链</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或 </a:t>
            </a:r>
            <a:r>
              <a:rPr lang="en-US" altLang="zh-CN" sz="1200" b="0" i="0" kern="1200" dirty="0" smtClean="0">
                <a:solidFill>
                  <a:schemeClr val="tx1"/>
                </a:solidFill>
                <a:effectLst/>
                <a:latin typeface="+mn-lt"/>
                <a:ea typeface="+mn-ea"/>
                <a:cs typeface="+mn-cs"/>
              </a:rPr>
              <a:t>n-gram </a:t>
            </a:r>
            <a:r>
              <a:rPr lang="zh-CN" altLang="en-US" sz="1200" b="0" i="0" kern="1200" dirty="0" smtClean="0">
                <a:solidFill>
                  <a:schemeClr val="tx1"/>
                </a:solidFill>
                <a:effectLst/>
                <a:latin typeface="+mn-lt"/>
                <a:ea typeface="+mn-ea"/>
                <a:cs typeface="+mn-cs"/>
              </a:rPr>
              <a:t>模型</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的“文法”是有限状态文法。有限状态文法在生成英语句子方面确实有局限性。例如，英语表达式之间存在着语法关系，例如</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i</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(ii)</a:t>
            </a:r>
            <a:r>
              <a:rPr lang="zh-CN" altLang="en-US" sz="1200" b="0" i="0" kern="1200" dirty="0" smtClean="0">
                <a:solidFill>
                  <a:schemeClr val="tx1"/>
                </a:solidFill>
                <a:effectLst/>
                <a:latin typeface="+mn-lt"/>
                <a:ea typeface="+mn-ea"/>
                <a:cs typeface="+mn-cs"/>
              </a:rPr>
              <a:t>中的下列关系。 </a:t>
            </a:r>
          </a:p>
          <a:p>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i</a:t>
            </a:r>
            <a:r>
              <a:rPr lang="en-US" altLang="zh-CN" sz="1200" b="0" i="0" kern="1200" dirty="0" smtClean="0">
                <a:solidFill>
                  <a:schemeClr val="tx1"/>
                </a:solidFill>
                <a:effectLst/>
                <a:latin typeface="+mn-lt"/>
                <a:ea typeface="+mn-ea"/>
                <a:cs typeface="+mn-cs"/>
              </a:rPr>
              <a:t>) If S1, then S2. </a:t>
            </a:r>
          </a:p>
          <a:p>
            <a:r>
              <a:rPr lang="en-US" altLang="zh-CN" sz="1200" b="0" i="0" kern="1200" dirty="0" smtClean="0">
                <a:solidFill>
                  <a:schemeClr val="tx1"/>
                </a:solidFill>
                <a:effectLst/>
                <a:latin typeface="+mn-lt"/>
                <a:ea typeface="+mn-ea"/>
                <a:cs typeface="+mn-cs"/>
              </a:rPr>
              <a:t>(ii) Either S3, or S4. </a:t>
            </a:r>
          </a:p>
          <a:p>
            <a:r>
              <a:rPr lang="en-US" altLang="zh-CN" sz="1200" b="0" i="0" kern="1200" dirty="0" smtClean="0">
                <a:solidFill>
                  <a:schemeClr val="tx1"/>
                </a:solidFill>
                <a:effectLst/>
                <a:latin typeface="+mn-lt"/>
                <a:ea typeface="+mn-ea"/>
                <a:cs typeface="+mn-cs"/>
              </a:rPr>
              <a:t>(iii) Either if S5, then S6, or if S7, then S8</a:t>
            </a:r>
          </a:p>
          <a:p>
            <a:r>
              <a:rPr lang="zh-CN" altLang="en-US" sz="1200" b="0" i="0" kern="1200" dirty="0" smtClean="0">
                <a:solidFill>
                  <a:schemeClr val="tx1"/>
                </a:solidFill>
                <a:effectLst/>
                <a:latin typeface="+mn-lt"/>
                <a:ea typeface="+mn-ea"/>
                <a:cs typeface="+mn-cs"/>
              </a:rPr>
              <a:t>原则上，这些关系可以无限期地组合在一起，以产生正确的英语表达方式</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例如，示例 </a:t>
            </a:r>
            <a:r>
              <a:rPr lang="en-US" altLang="zh-CN" sz="1200" b="0" i="0" kern="1200" dirty="0" smtClean="0">
                <a:solidFill>
                  <a:schemeClr val="tx1"/>
                </a:solidFill>
                <a:effectLst/>
                <a:latin typeface="+mn-lt"/>
                <a:ea typeface="+mn-ea"/>
                <a:cs typeface="+mn-cs"/>
              </a:rPr>
              <a:t>iii )</a:t>
            </a:r>
            <a:r>
              <a:rPr lang="zh-CN" altLang="en-US" sz="1200" b="0" i="0" kern="1200" dirty="0" smtClean="0">
                <a:solidFill>
                  <a:schemeClr val="tx1"/>
                </a:solidFill>
                <a:effectLst/>
                <a:latin typeface="+mn-lt"/>
                <a:ea typeface="+mn-ea"/>
                <a:cs typeface="+mn-cs"/>
              </a:rPr>
              <a:t>。然而，有限状态文法不能描述所有的组合，并且，在理论上，有些英语句子不能被覆盖。因此，乔姆斯基认为用有限状态文法</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包括 </a:t>
            </a:r>
            <a:r>
              <a:rPr lang="en-US" altLang="zh-CN" sz="1200" b="0" i="0" kern="1200" dirty="0" smtClean="0">
                <a:solidFill>
                  <a:schemeClr val="tx1"/>
                </a:solidFill>
                <a:effectLst/>
                <a:latin typeface="+mn-lt"/>
                <a:ea typeface="+mn-ea"/>
                <a:cs typeface="+mn-cs"/>
              </a:rPr>
              <a:t>n-gram </a:t>
            </a:r>
            <a:r>
              <a:rPr lang="zh-CN" altLang="en-US" sz="1200" b="0" i="0" kern="1200" dirty="0" smtClean="0">
                <a:solidFill>
                  <a:schemeClr val="tx1"/>
                </a:solidFill>
                <a:effectLst/>
                <a:latin typeface="+mn-lt"/>
                <a:ea typeface="+mn-ea"/>
                <a:cs typeface="+mn-cs"/>
              </a:rPr>
              <a:t>模型</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描述语言有很大的局限性。相反，他指出，上下文无关文法可以更有效地为语言建模。在他的影响下，在接下来的几十年里，无上下文的文法在自然语言处理中得到了广泛的应用。尽管乔姆斯基的理论现在对自然语言处理没有太大的影响，但是它仍然具有重要的科学价值。</a:t>
            </a:r>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0FA7FB16-436E-4C3A-AC93-D953BF9B5BF3}" type="slidenum">
              <a:rPr lang="zh-CN" altLang="en-US" smtClean="0"/>
              <a:t>17</a:t>
            </a:fld>
            <a:endParaRPr lang="zh-CN" altLang="en-US"/>
          </a:p>
        </p:txBody>
      </p:sp>
    </p:spTree>
    <p:extLst>
      <p:ext uri="{BB962C8B-B14F-4D97-AF65-F5344CB8AC3E}">
        <p14:creationId xmlns:p14="http://schemas.microsoft.com/office/powerpoint/2010/main" val="5209617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kern="1200" dirty="0" smtClean="0">
                <a:solidFill>
                  <a:schemeClr val="tx1"/>
                </a:solidFill>
                <a:effectLst/>
                <a:latin typeface="Arial" charset="0"/>
                <a:ea typeface="+mn-ea"/>
                <a:cs typeface="+mn-cs"/>
              </a:rPr>
              <a:t>香农的论文</a:t>
            </a:r>
            <a:r>
              <a:rPr lang="zh-CN" altLang="en-US" sz="1200" b="1" i="0" kern="1200" dirty="0" smtClean="0">
                <a:solidFill>
                  <a:schemeClr val="tx1"/>
                </a:solidFill>
                <a:effectLst/>
                <a:latin typeface="Arial" charset="0"/>
                <a:ea typeface="+mn-ea"/>
                <a:cs typeface="+mn-cs"/>
              </a:rPr>
              <a:t>未直接研究语言模型</a:t>
            </a:r>
            <a:r>
              <a:rPr lang="zh-CN" altLang="en-US" sz="1200" b="0" i="0" kern="1200" dirty="0" smtClean="0">
                <a:solidFill>
                  <a:schemeClr val="tx1"/>
                </a:solidFill>
                <a:effectLst/>
                <a:latin typeface="Arial" charset="0"/>
                <a:ea typeface="+mn-ea"/>
                <a:cs typeface="+mn-cs"/>
              </a:rPr>
              <a:t>，但其熵和编码解码理论为后来的统计语言模型（</a:t>
            </a:r>
            <a:r>
              <a:rPr lang="en-US" altLang="zh-CN" sz="1200" b="0" i="0" kern="1200" dirty="0" smtClean="0">
                <a:solidFill>
                  <a:schemeClr val="tx1"/>
                </a:solidFill>
                <a:effectLst/>
                <a:latin typeface="Arial" charset="0"/>
                <a:ea typeface="+mn-ea"/>
                <a:cs typeface="+mn-cs"/>
              </a:rPr>
              <a:t>n-gram</a:t>
            </a:r>
            <a:r>
              <a:rPr lang="zh-CN" altLang="en-US" sz="1200" b="0" i="0" kern="1200" dirty="0" smtClean="0">
                <a:solidFill>
                  <a:schemeClr val="tx1"/>
                </a:solidFill>
                <a:effectLst/>
                <a:latin typeface="Arial" charset="0"/>
                <a:ea typeface="+mn-ea"/>
                <a:cs typeface="+mn-cs"/>
              </a:rPr>
              <a:t>、神经网络）提供了概率框架。</a:t>
            </a: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几乎在同一时代，乔姆斯基在</a:t>
            </a:r>
            <a:r>
              <a:rPr lang="en-US" altLang="zh-CN" sz="1200" b="0" i="0" kern="1200" dirty="0" smtClean="0">
                <a:solidFill>
                  <a:schemeClr val="tx1"/>
                </a:solidFill>
                <a:effectLst/>
                <a:latin typeface="+mn-lt"/>
                <a:ea typeface="+mn-ea"/>
                <a:cs typeface="+mn-cs"/>
              </a:rPr>
              <a:t>1956</a:t>
            </a:r>
            <a:r>
              <a:rPr lang="zh-CN" altLang="en-US" sz="1200" b="0" i="0" kern="1200" dirty="0" smtClean="0">
                <a:solidFill>
                  <a:schemeClr val="tx1"/>
                </a:solidFill>
                <a:effectLst/>
                <a:latin typeface="+mn-lt"/>
                <a:ea typeface="+mn-ea"/>
                <a:cs typeface="+mn-cs"/>
              </a:rPr>
              <a:t>年提出了语法的乔姆斯基谱系，用来表示语言的句法。他指出，有限状态语法</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也称为了 </a:t>
            </a:r>
            <a:r>
              <a:rPr lang="en-US" altLang="zh-CN" sz="1200" b="0" i="0" kern="1200" dirty="0" smtClean="0">
                <a:solidFill>
                  <a:schemeClr val="tx1"/>
                </a:solidFill>
                <a:effectLst/>
                <a:latin typeface="+mn-lt"/>
                <a:ea typeface="+mn-ea"/>
                <a:cs typeface="+mn-cs"/>
              </a:rPr>
              <a:t>n-gram </a:t>
            </a:r>
            <a:r>
              <a:rPr lang="zh-CN" altLang="en-US" sz="1200" b="0" i="0" kern="1200" dirty="0" smtClean="0">
                <a:solidFill>
                  <a:schemeClr val="tx1"/>
                </a:solidFill>
                <a:effectLst/>
                <a:latin typeface="+mn-lt"/>
                <a:ea typeface="+mn-ea"/>
                <a:cs typeface="+mn-cs"/>
              </a:rPr>
              <a:t>模型</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在描述自然语言方面存在局限性。</a:t>
            </a:r>
          </a:p>
          <a:p>
            <a:r>
              <a:rPr lang="zh-CN" altLang="en-US" sz="1200" b="0" i="0" kern="1200" dirty="0" smtClean="0">
                <a:solidFill>
                  <a:schemeClr val="tx1"/>
                </a:solidFill>
                <a:effectLst/>
                <a:latin typeface="+mn-lt"/>
                <a:ea typeface="+mn-ea"/>
                <a:cs typeface="+mn-cs"/>
              </a:rPr>
              <a:t>乔姆斯基的理论断言，一种语言由一组有限或无限的句子组成，每个句子是一组有限长度的单词，单词来自一个有限的词汇，语法是一组生成规则，可以生成语言中的所有句子。不同的语法可以产生不同复杂度的语言，并形成层次结构。</a:t>
            </a:r>
          </a:p>
          <a:p>
            <a:r>
              <a:rPr lang="zh-CN" altLang="en-US" sz="1200" b="0" i="0" kern="1200" dirty="0" smtClean="0">
                <a:solidFill>
                  <a:schemeClr val="tx1"/>
                </a:solidFill>
                <a:effectLst/>
                <a:latin typeface="+mn-lt"/>
                <a:ea typeface="+mn-ea"/>
                <a:cs typeface="+mn-cs"/>
              </a:rPr>
              <a:t>能够生成有限状态机可以接受的句子的语法是有限状态文法或正则文法，而能够生成非确定性下推自动机可以接受的句子的语法是上下文无关文法。有限状态文法被恰当地包含在无上下文文法中。</a:t>
            </a:r>
          </a:p>
          <a:p>
            <a:r>
              <a:rPr lang="zh-CN" altLang="en-US" sz="1200" b="0" i="0" kern="1200" dirty="0" smtClean="0">
                <a:solidFill>
                  <a:schemeClr val="tx1"/>
                </a:solidFill>
                <a:effectLst/>
                <a:latin typeface="+mn-lt"/>
                <a:ea typeface="+mn-ea"/>
                <a:cs typeface="+mn-cs"/>
              </a:rPr>
              <a:t>有限马尔可夫链</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或 </a:t>
            </a:r>
            <a:r>
              <a:rPr lang="en-US" altLang="zh-CN" sz="1200" b="0" i="0" kern="1200" dirty="0" smtClean="0">
                <a:solidFill>
                  <a:schemeClr val="tx1"/>
                </a:solidFill>
                <a:effectLst/>
                <a:latin typeface="+mn-lt"/>
                <a:ea typeface="+mn-ea"/>
                <a:cs typeface="+mn-cs"/>
              </a:rPr>
              <a:t>n-gram </a:t>
            </a:r>
            <a:r>
              <a:rPr lang="zh-CN" altLang="en-US" sz="1200" b="0" i="0" kern="1200" dirty="0" smtClean="0">
                <a:solidFill>
                  <a:schemeClr val="tx1"/>
                </a:solidFill>
                <a:effectLst/>
                <a:latin typeface="+mn-lt"/>
                <a:ea typeface="+mn-ea"/>
                <a:cs typeface="+mn-cs"/>
              </a:rPr>
              <a:t>模型</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的“文法”是有限状态文法。有限状态文法在生成英语句子方面确实有局限性。例如，英语表达式之间存在着语法关系，例如</a:t>
            </a:r>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i</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(ii)</a:t>
            </a:r>
            <a:r>
              <a:rPr lang="zh-CN" altLang="en-US" sz="1200" b="0" i="0" kern="1200" dirty="0" smtClean="0">
                <a:solidFill>
                  <a:schemeClr val="tx1"/>
                </a:solidFill>
                <a:effectLst/>
                <a:latin typeface="+mn-lt"/>
                <a:ea typeface="+mn-ea"/>
                <a:cs typeface="+mn-cs"/>
              </a:rPr>
              <a:t>中的下列关系。 </a:t>
            </a:r>
          </a:p>
          <a:p>
            <a:r>
              <a:rPr lang="en-US" altLang="zh-CN" sz="1200" b="0" i="0" kern="1200" dirty="0" smtClean="0">
                <a:solidFill>
                  <a:schemeClr val="tx1"/>
                </a:solidFill>
                <a:effectLst/>
                <a:latin typeface="+mn-lt"/>
                <a:ea typeface="+mn-ea"/>
                <a:cs typeface="+mn-cs"/>
              </a:rPr>
              <a:t>(</a:t>
            </a:r>
            <a:r>
              <a:rPr lang="en-US" altLang="zh-CN" sz="1200" b="0" i="0" kern="1200" dirty="0" err="1" smtClean="0">
                <a:solidFill>
                  <a:schemeClr val="tx1"/>
                </a:solidFill>
                <a:effectLst/>
                <a:latin typeface="+mn-lt"/>
                <a:ea typeface="+mn-ea"/>
                <a:cs typeface="+mn-cs"/>
              </a:rPr>
              <a:t>i</a:t>
            </a:r>
            <a:r>
              <a:rPr lang="en-US" altLang="zh-CN" sz="1200" b="0" i="0" kern="1200" dirty="0" smtClean="0">
                <a:solidFill>
                  <a:schemeClr val="tx1"/>
                </a:solidFill>
                <a:effectLst/>
                <a:latin typeface="+mn-lt"/>
                <a:ea typeface="+mn-ea"/>
                <a:cs typeface="+mn-cs"/>
              </a:rPr>
              <a:t>) If S1, then S2. </a:t>
            </a:r>
          </a:p>
          <a:p>
            <a:r>
              <a:rPr lang="en-US" altLang="zh-CN" sz="1200" b="0" i="0" kern="1200" dirty="0" smtClean="0">
                <a:solidFill>
                  <a:schemeClr val="tx1"/>
                </a:solidFill>
                <a:effectLst/>
                <a:latin typeface="+mn-lt"/>
                <a:ea typeface="+mn-ea"/>
                <a:cs typeface="+mn-cs"/>
              </a:rPr>
              <a:t>(ii) Either S3, or S4. </a:t>
            </a:r>
          </a:p>
          <a:p>
            <a:r>
              <a:rPr lang="en-US" altLang="zh-CN" sz="1200" b="0" i="0" kern="1200" dirty="0" smtClean="0">
                <a:solidFill>
                  <a:schemeClr val="tx1"/>
                </a:solidFill>
                <a:effectLst/>
                <a:latin typeface="+mn-lt"/>
                <a:ea typeface="+mn-ea"/>
                <a:cs typeface="+mn-cs"/>
              </a:rPr>
              <a:t>(iii) Either if S5, then S6, or if S7, then S8</a:t>
            </a:r>
          </a:p>
          <a:p>
            <a:r>
              <a:rPr lang="zh-CN" altLang="en-US" sz="1200" b="0" i="0" kern="1200" dirty="0" smtClean="0">
                <a:solidFill>
                  <a:schemeClr val="tx1"/>
                </a:solidFill>
                <a:effectLst/>
                <a:latin typeface="+mn-lt"/>
                <a:ea typeface="+mn-ea"/>
                <a:cs typeface="+mn-cs"/>
              </a:rPr>
              <a:t>原则上，这些关系可以无限期地组合在一起，以产生正确的英语表达方式</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例如，示例 </a:t>
            </a:r>
            <a:r>
              <a:rPr lang="en-US" altLang="zh-CN" sz="1200" b="0" i="0" kern="1200" dirty="0" smtClean="0">
                <a:solidFill>
                  <a:schemeClr val="tx1"/>
                </a:solidFill>
                <a:effectLst/>
                <a:latin typeface="+mn-lt"/>
                <a:ea typeface="+mn-ea"/>
                <a:cs typeface="+mn-cs"/>
              </a:rPr>
              <a:t>iii )</a:t>
            </a:r>
            <a:r>
              <a:rPr lang="zh-CN" altLang="en-US" sz="1200" b="0" i="0" kern="1200" dirty="0" smtClean="0">
                <a:solidFill>
                  <a:schemeClr val="tx1"/>
                </a:solidFill>
                <a:effectLst/>
                <a:latin typeface="+mn-lt"/>
                <a:ea typeface="+mn-ea"/>
                <a:cs typeface="+mn-cs"/>
              </a:rPr>
              <a:t>。然而，有限状态文法不能描述所有的组合，并且，在理论上，有些英语句子不能被覆盖。因此，乔姆斯基认为用有限状态文法</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包括 </a:t>
            </a:r>
            <a:r>
              <a:rPr lang="en-US" altLang="zh-CN" sz="1200" b="0" i="0" kern="1200" dirty="0" smtClean="0">
                <a:solidFill>
                  <a:schemeClr val="tx1"/>
                </a:solidFill>
                <a:effectLst/>
                <a:latin typeface="+mn-lt"/>
                <a:ea typeface="+mn-ea"/>
                <a:cs typeface="+mn-cs"/>
              </a:rPr>
              <a:t>n-gram </a:t>
            </a:r>
            <a:r>
              <a:rPr lang="zh-CN" altLang="en-US" sz="1200" b="0" i="0" kern="1200" dirty="0" smtClean="0">
                <a:solidFill>
                  <a:schemeClr val="tx1"/>
                </a:solidFill>
                <a:effectLst/>
                <a:latin typeface="+mn-lt"/>
                <a:ea typeface="+mn-ea"/>
                <a:cs typeface="+mn-cs"/>
              </a:rPr>
              <a:t>模型</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描述语言有很大的局限性。相反，他指出，上下文无关文法可以更有效地为语言建模。在他的影响下，在接下来的几十年里，无上下文的文法在自然语言处理中得到了广泛的应用。尽管乔姆斯基的理论现在对自然语言处理没有太大的影响，但是它仍然具有重要的科学价值。</a:t>
            </a:r>
            <a:endParaRPr lang="zh-CN" altLang="en-US" sz="1200" b="0" i="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0FA7FB16-436E-4C3A-AC93-D953BF9B5BF3}" type="slidenum">
              <a:rPr lang="zh-CN" altLang="en-US" smtClean="0"/>
              <a:t>18</a:t>
            </a:fld>
            <a:endParaRPr lang="zh-CN" altLang="en-US"/>
          </a:p>
        </p:txBody>
      </p:sp>
    </p:spTree>
    <p:extLst>
      <p:ext uri="{BB962C8B-B14F-4D97-AF65-F5344CB8AC3E}">
        <p14:creationId xmlns:p14="http://schemas.microsoft.com/office/powerpoint/2010/main" val="3925903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Arial" charset="0"/>
                <a:ea typeface="+mn-ea"/>
                <a:cs typeface="+mn-cs"/>
              </a:rPr>
              <a:t>直接计算长序列的联合概率极其困难（维度灾难）</a:t>
            </a:r>
            <a:endParaRPr lang="en-US" altLang="zh-CN" sz="1200" b="0" i="0" kern="1200" dirty="0" smtClean="0">
              <a:solidFill>
                <a:schemeClr val="tx1"/>
              </a:solidFill>
              <a:effectLst/>
              <a:latin typeface="Arial" charset="0"/>
              <a:ea typeface="+mn-ea"/>
              <a:cs typeface="+mn-cs"/>
            </a:endParaRPr>
          </a:p>
          <a:p>
            <a:endParaRPr lang="en-US" altLang="zh-CN" sz="1200" b="0" i="0" kern="1200" dirty="0" smtClean="0">
              <a:solidFill>
                <a:schemeClr val="tx1"/>
              </a:solidFill>
              <a:effectLst/>
              <a:latin typeface="+mn-lt"/>
              <a:ea typeface="+mn-ea"/>
              <a:cs typeface="+mn-cs"/>
            </a:endParaRPr>
          </a:p>
          <a:p>
            <a:r>
              <a:rPr lang="en-US" altLang="zh-CN" sz="1200" b="0" i="0" kern="1200" dirty="0" smtClean="0">
                <a:solidFill>
                  <a:schemeClr val="tx1"/>
                </a:solidFill>
                <a:effectLst/>
                <a:latin typeface="+mn-lt"/>
                <a:ea typeface="+mn-ea"/>
                <a:cs typeface="+mn-cs"/>
              </a:rPr>
              <a:t>Nice</a:t>
            </a:r>
            <a:r>
              <a:rPr lang="en-US" altLang="zh-CN" sz="1200" b="0" i="0" kern="1200" baseline="0" dirty="0" smtClean="0">
                <a:solidFill>
                  <a:schemeClr val="tx1"/>
                </a:solidFill>
                <a:effectLst/>
                <a:latin typeface="+mn-lt"/>
                <a:ea typeface="+mn-ea"/>
                <a:cs typeface="+mn-cs"/>
              </a:rPr>
              <a:t> to meet you.</a:t>
            </a:r>
          </a:p>
          <a:p>
            <a:endParaRPr lang="en-US" altLang="zh-CN" sz="1200" b="0" i="0" kern="1200" baseline="0" dirty="0" smtClean="0">
              <a:solidFill>
                <a:schemeClr val="tx1"/>
              </a:solidFill>
              <a:effectLst/>
              <a:latin typeface="+mn-lt"/>
              <a:ea typeface="+mn-ea"/>
              <a:cs typeface="+mn-cs"/>
            </a:endParaRPr>
          </a:p>
          <a:p>
            <a:r>
              <a:rPr lang="en-US" altLang="zh-CN" sz="1200" b="0" i="0" kern="1200" baseline="0" dirty="0" smtClean="0">
                <a:solidFill>
                  <a:schemeClr val="tx1"/>
                </a:solidFill>
                <a:effectLst/>
                <a:latin typeface="+mn-lt"/>
                <a:ea typeface="+mn-ea"/>
                <a:cs typeface="+mn-cs"/>
              </a:rPr>
              <a:t>MLP</a:t>
            </a:r>
            <a:r>
              <a:rPr lang="zh-CN" altLang="en-US" sz="1200" b="0" i="0" kern="1200" baseline="0" dirty="0" smtClean="0">
                <a:solidFill>
                  <a:schemeClr val="tx1"/>
                </a:solidFill>
                <a:effectLst/>
                <a:latin typeface="+mn-lt"/>
                <a:ea typeface="+mn-ea"/>
                <a:cs typeface="+mn-cs"/>
              </a:rPr>
              <a:t>（前馈神经网络）</a:t>
            </a:r>
            <a:endParaRPr lang="en-US" altLang="zh-CN" sz="1200" b="0" i="0" kern="1200" baseline="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sz="1200" b="0" i="0" kern="1200" dirty="0" smtClean="0">
                <a:solidFill>
                  <a:schemeClr val="tx1"/>
                </a:solidFill>
                <a:effectLst/>
                <a:latin typeface="+mn-lt"/>
                <a:ea typeface="+mn-ea"/>
                <a:cs typeface="+mn-cs"/>
              </a:rPr>
              <a:t>先给每个词在连续空间中赋予一个向量</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词向量</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，再通过神经网络去学习这种分布式表征。</a:t>
            </a:r>
            <a:endParaRPr lang="en-US" altLang="zh-CN" sz="1200" b="0" i="0" kern="1200" dirty="0" smtClean="0">
              <a:solidFill>
                <a:schemeClr val="tx1"/>
              </a:solidFill>
              <a:effectLst/>
              <a:latin typeface="+mn-lt"/>
              <a:ea typeface="+mn-ea"/>
              <a:cs typeface="+mn-cs"/>
            </a:endParaRPr>
          </a:p>
          <a:p>
            <a:endParaRPr lang="en-US" altLang="zh-CN" sz="1200" b="0" i="0" kern="1200" dirty="0" smtClean="0">
              <a:solidFill>
                <a:schemeClr val="tx1"/>
              </a:solidFill>
              <a:effectLst/>
              <a:latin typeface="+mn-lt"/>
              <a:ea typeface="+mn-ea"/>
              <a:cs typeface="+mn-cs"/>
            </a:endParaRPr>
          </a:p>
          <a:p>
            <a:r>
              <a:rPr lang="zh-CN" altLang="en-US" dirty="0" smtClean="0"/>
              <a:t>目标</a:t>
            </a:r>
            <a:r>
              <a:rPr lang="en-US" altLang="zh-CN" dirty="0" smtClean="0"/>
              <a:t>:</a:t>
            </a:r>
            <a:r>
              <a:rPr lang="zh-CN" altLang="en-US" dirty="0" smtClean="0"/>
              <a:t>上图中最下方的</a:t>
            </a:r>
            <a:r>
              <a:rPr lang="en-US" altLang="zh-CN" dirty="0" smtClean="0"/>
              <a:t>wt-n+1..,wt-2,wt-1</a:t>
            </a:r>
            <a:r>
              <a:rPr lang="zh-CN" altLang="en-US" dirty="0" smtClean="0"/>
              <a:t>就是前</a:t>
            </a:r>
            <a:r>
              <a:rPr lang="en-US" altLang="zh-CN" dirty="0" smtClean="0"/>
              <a:t>n-1</a:t>
            </a:r>
            <a:r>
              <a:rPr lang="zh-CN" altLang="en-US" dirty="0" smtClean="0"/>
              <a:t>个单词，现在根据这已知的</a:t>
            </a:r>
            <a:r>
              <a:rPr lang="en-US" altLang="zh-CN" dirty="0" smtClean="0"/>
              <a:t>n-1</a:t>
            </a:r>
            <a:r>
              <a:rPr lang="zh-CN" altLang="en-US" dirty="0" smtClean="0"/>
              <a:t>个单词预测下一个单词</a:t>
            </a:r>
            <a:r>
              <a:rPr lang="en-US" altLang="zh-CN" dirty="0" err="1" smtClean="0"/>
              <a:t>wt</a:t>
            </a:r>
            <a:r>
              <a:rPr lang="zh-CN" altLang="en-US" dirty="0" smtClean="0"/>
              <a:t>。数学符号说明</a:t>
            </a:r>
            <a:r>
              <a:rPr lang="en-US" altLang="zh-CN" dirty="0" smtClean="0"/>
              <a:t>:C(w):</a:t>
            </a:r>
            <a:r>
              <a:rPr lang="zh-CN" altLang="en-US" dirty="0" smtClean="0"/>
              <a:t>表示单词</a:t>
            </a:r>
            <a:r>
              <a:rPr lang="en-US" altLang="zh-CN" dirty="0" smtClean="0"/>
              <a:t>w</a:t>
            </a:r>
            <a:r>
              <a:rPr lang="zh-CN" altLang="en-US" dirty="0" smtClean="0"/>
              <a:t>对应的词向量，整个模型中使用一套唯一的词向量</a:t>
            </a:r>
            <a:r>
              <a:rPr lang="en-US" altLang="zh-CN" dirty="0" smtClean="0"/>
              <a:t>C:</a:t>
            </a:r>
            <a:r>
              <a:rPr lang="zh-CN" altLang="en-US" dirty="0" smtClean="0"/>
              <a:t>词向量</a:t>
            </a:r>
            <a:r>
              <a:rPr lang="en-US" altLang="zh-CN" dirty="0" smtClean="0"/>
              <a:t>C(w)</a:t>
            </a:r>
            <a:r>
              <a:rPr lang="zh-CN" altLang="en-US" dirty="0" smtClean="0"/>
              <a:t>存在于矩阵</a:t>
            </a:r>
            <a:r>
              <a:rPr lang="en-US" altLang="zh-CN" dirty="0" smtClean="0"/>
              <a:t>C(V*m)</a:t>
            </a:r>
            <a:r>
              <a:rPr lang="zh-CN" altLang="en-US" dirty="0" smtClean="0"/>
              <a:t>中，矩阵</a:t>
            </a:r>
            <a:r>
              <a:rPr lang="en-US" altLang="zh-CN" dirty="0" smtClean="0"/>
              <a:t>C</a:t>
            </a:r>
            <a:r>
              <a:rPr lang="zh-CN" altLang="en-US" dirty="0" smtClean="0"/>
              <a:t>的行数表示词汇表的大小</a:t>
            </a:r>
            <a:r>
              <a:rPr lang="en-US" altLang="zh-CN" dirty="0" smtClean="0"/>
              <a:t>;</a:t>
            </a:r>
            <a:r>
              <a:rPr lang="zh-CN" altLang="en-US" dirty="0" smtClean="0"/>
              <a:t>列数表示词向量</a:t>
            </a:r>
            <a:r>
              <a:rPr lang="en-US" altLang="zh-CN" dirty="0" smtClean="0"/>
              <a:t>C(w)</a:t>
            </a:r>
            <a:r>
              <a:rPr lang="zh-CN" altLang="en-US" dirty="0" smtClean="0"/>
              <a:t>的维度。矩阵</a:t>
            </a:r>
            <a:r>
              <a:rPr lang="en-US" altLang="zh-CN" dirty="0" smtClean="0"/>
              <a:t>C</a:t>
            </a:r>
            <a:r>
              <a:rPr lang="zh-CN" altLang="en-US" dirty="0" smtClean="0"/>
              <a:t>的某一行对应一个单词的词向量表示</a:t>
            </a:r>
            <a:r>
              <a:rPr lang="en-US" altLang="zh-CN" dirty="0" smtClean="0"/>
              <a:t>V1:</a:t>
            </a:r>
            <a:r>
              <a:rPr lang="zh-CN" altLang="en-US" dirty="0" smtClean="0"/>
              <a:t>表示词汇表的大小，即语料库中的单词总数</a:t>
            </a:r>
            <a:r>
              <a:rPr lang="en-US" altLang="zh-CN" dirty="0" smtClean="0"/>
              <a:t>m:</a:t>
            </a:r>
            <a:r>
              <a:rPr lang="zh-CN" altLang="en-US" dirty="0" smtClean="0"/>
              <a:t>表示词向量</a:t>
            </a:r>
            <a:r>
              <a:rPr lang="en-US" altLang="zh-CN" dirty="0" smtClean="0"/>
              <a:t>C(w)</a:t>
            </a:r>
            <a:r>
              <a:rPr lang="zh-CN" altLang="en-US" dirty="0" smtClean="0"/>
              <a:t>的维度，一般是</a:t>
            </a:r>
            <a:r>
              <a:rPr lang="en-US" altLang="zh-CN" dirty="0" smtClean="0"/>
              <a:t>50</a:t>
            </a:r>
            <a:r>
              <a:rPr lang="zh-CN" altLang="en-US" dirty="0" smtClean="0"/>
              <a:t>到</a:t>
            </a:r>
            <a:r>
              <a:rPr lang="en-US" altLang="zh-CN" dirty="0" smtClean="0"/>
              <a:t>100”w</a:t>
            </a:r>
            <a:r>
              <a:rPr lang="zh-CN" altLang="en-US" dirty="0" smtClean="0"/>
              <a:t>到</a:t>
            </a:r>
            <a:r>
              <a:rPr lang="en-US" altLang="zh-CN" dirty="0" smtClean="0"/>
              <a:t>C(w)</a:t>
            </a:r>
            <a:r>
              <a:rPr lang="zh-CN" altLang="en-US" dirty="0" smtClean="0"/>
              <a:t>的转化</a:t>
            </a:r>
            <a:r>
              <a:rPr lang="en-US" altLang="zh-CN" dirty="0" smtClean="0"/>
              <a:t>:</a:t>
            </a:r>
            <a:r>
              <a:rPr lang="zh-CN" altLang="en-US" dirty="0" smtClean="0"/>
              <a:t>从矩阵</a:t>
            </a:r>
            <a:r>
              <a:rPr lang="en-US" altLang="zh-CN" dirty="0" smtClean="0"/>
              <a:t>C</a:t>
            </a:r>
            <a:r>
              <a:rPr lang="zh-CN" altLang="en-US" dirty="0" smtClean="0"/>
              <a:t>中取出一行</a:t>
            </a:r>
            <a:r>
              <a:rPr lang="en-US" altLang="zh-CN" dirty="0" smtClean="0"/>
              <a:t>d:</a:t>
            </a:r>
            <a:r>
              <a:rPr lang="zh-CN" altLang="en-US" dirty="0" smtClean="0"/>
              <a:t>隐藏层偏置</a:t>
            </a:r>
            <a:r>
              <a:rPr lang="en-US" altLang="zh-CN" dirty="0" smtClean="0"/>
              <a:t>bias(h)H: </a:t>
            </a:r>
            <a:r>
              <a:rPr lang="zh-CN" altLang="en-US" dirty="0" smtClean="0"/>
              <a:t>隐藏层的权重</a:t>
            </a:r>
            <a:r>
              <a:rPr lang="en-US" altLang="zh-CN" dirty="0" smtClean="0"/>
              <a:t>(h*(n-1)m)U:</a:t>
            </a:r>
            <a:r>
              <a:rPr lang="zh-CN" altLang="en-US" dirty="0" smtClean="0"/>
              <a:t>隐藏层到输出层的权重</a:t>
            </a:r>
            <a:r>
              <a:rPr lang="en-US" altLang="zh-CN" dirty="0" smtClean="0"/>
              <a:t>(IV|*h)”b:</a:t>
            </a:r>
            <a:r>
              <a:rPr lang="zh-CN" altLang="en-US" dirty="0" smtClean="0"/>
              <a:t>输出层的偏置</a:t>
            </a:r>
            <a:r>
              <a:rPr lang="en-US" altLang="zh-CN" dirty="0" smtClean="0"/>
              <a:t>bias(</a:t>
            </a:r>
            <a:r>
              <a:rPr lang="en-US" altLang="zh-CN" dirty="0" err="1" smtClean="0"/>
              <a:t>Vl</a:t>
            </a:r>
            <a:r>
              <a:rPr lang="en-US" altLang="zh-CN" dirty="0" smtClean="0"/>
              <a:t>)W:</a:t>
            </a:r>
            <a:r>
              <a:rPr lang="zh-CN" altLang="en-US" dirty="0" smtClean="0"/>
              <a:t>输入层到输出层权重</a:t>
            </a:r>
            <a:r>
              <a:rPr lang="en-US" altLang="zh-CN" dirty="0" smtClean="0"/>
              <a:t>(IV*(n-1)m)·h:</a:t>
            </a:r>
            <a:r>
              <a:rPr lang="zh-CN" altLang="en-US" dirty="0" smtClean="0"/>
              <a:t>隐藏层神经元的数量网络的第一层</a:t>
            </a:r>
            <a:r>
              <a:rPr lang="en-US" altLang="zh-CN" dirty="0" smtClean="0"/>
              <a:t>(</a:t>
            </a:r>
            <a:r>
              <a:rPr lang="zh-CN" altLang="en-US" dirty="0" smtClean="0"/>
              <a:t>输入层</a:t>
            </a:r>
            <a:r>
              <a:rPr lang="en-US" altLang="zh-CN" dirty="0" smtClean="0"/>
              <a:t>)</a:t>
            </a:r>
            <a:r>
              <a:rPr lang="zh-CN" altLang="en-US" dirty="0" smtClean="0"/>
              <a:t>是将</a:t>
            </a:r>
            <a:r>
              <a:rPr lang="en-US" altLang="zh-CN" dirty="0" smtClean="0"/>
              <a:t>C(wtn+1)..C(wt2),.C(wt1)</a:t>
            </a:r>
            <a:r>
              <a:rPr lang="zh-CN" altLang="en-US" dirty="0" smtClean="0"/>
              <a:t>这已知的</a:t>
            </a:r>
            <a:r>
              <a:rPr lang="en-US" altLang="zh-CN" dirty="0" smtClean="0"/>
              <a:t>n-1</a:t>
            </a:r>
            <a:r>
              <a:rPr lang="zh-CN" altLang="en-US" dirty="0" smtClean="0"/>
              <a:t>和单词的词向是首尾相连拼接起来，形成</a:t>
            </a:r>
            <a:r>
              <a:rPr lang="en-US" altLang="zh-CN" dirty="0" smtClean="0"/>
              <a:t>(n-1w</a:t>
            </a:r>
            <a:r>
              <a:rPr lang="zh-CN" altLang="en-US" dirty="0" smtClean="0"/>
              <a:t>的向量，下面用</a:t>
            </a:r>
            <a:r>
              <a:rPr lang="en-US" altLang="zh-CN" dirty="0" smtClean="0"/>
              <a:t>x</a:t>
            </a:r>
            <a:r>
              <a:rPr lang="zh-CN" altLang="en-US" dirty="0" smtClean="0"/>
              <a:t>表示网络的第二层</a:t>
            </a:r>
            <a:r>
              <a:rPr lang="en-US" altLang="zh-CN" dirty="0" smtClean="0"/>
              <a:t>(</a:t>
            </a:r>
            <a:r>
              <a:rPr lang="zh-CN" altLang="en-US" dirty="0" smtClean="0"/>
              <a:t>隐藏层</a:t>
            </a:r>
            <a:r>
              <a:rPr lang="en-US" altLang="zh-CN" dirty="0" smtClean="0"/>
              <a:t>)</a:t>
            </a:r>
            <a:r>
              <a:rPr lang="zh-CN" altLang="en-US" dirty="0" smtClean="0"/>
              <a:t>直接用</a:t>
            </a:r>
            <a:r>
              <a:rPr lang="en-US" altLang="zh-CN" dirty="0" err="1" smtClean="0"/>
              <a:t>d+Hx</a:t>
            </a:r>
            <a:r>
              <a:rPr lang="zh-CN" altLang="en-US" dirty="0" smtClean="0"/>
              <a:t>计算得到，</a:t>
            </a:r>
            <a:r>
              <a:rPr lang="en-US" altLang="zh-CN" dirty="0" smtClean="0"/>
              <a:t>d</a:t>
            </a:r>
            <a:r>
              <a:rPr lang="zh-CN" altLang="en-US" dirty="0" smtClean="0"/>
              <a:t>是一个偏置项。之后，用</a:t>
            </a:r>
            <a:r>
              <a:rPr lang="en-US" altLang="zh-CN" dirty="0" err="1" smtClean="0"/>
              <a:t>tanh</a:t>
            </a:r>
            <a:r>
              <a:rPr lang="zh-CN" altLang="en-US" dirty="0" smtClean="0"/>
              <a:t>作为激活函数。网络的第三层</a:t>
            </a:r>
            <a:r>
              <a:rPr lang="en-US" altLang="zh-CN" dirty="0" smtClean="0"/>
              <a:t>(</a:t>
            </a:r>
            <a:r>
              <a:rPr lang="zh-CN" altLang="en-US" dirty="0" smtClean="0"/>
              <a:t>输出层</a:t>
            </a:r>
            <a:r>
              <a:rPr lang="en-US" altLang="zh-CN" dirty="0" smtClean="0"/>
              <a:t>)</a:t>
            </a:r>
            <a:r>
              <a:rPr lang="zh-CN" altLang="en-US" dirty="0" smtClean="0"/>
              <a:t>一共有</a:t>
            </a:r>
            <a:r>
              <a:rPr lang="en-US" altLang="zh-CN" dirty="0" smtClean="0"/>
              <a:t>M</a:t>
            </a:r>
            <a:r>
              <a:rPr lang="zh-CN" altLang="en-US" dirty="0" smtClean="0"/>
              <a:t>个节点，每个节点</a:t>
            </a:r>
            <a:r>
              <a:rPr lang="en-US" altLang="zh-CN" dirty="0" smtClean="0"/>
              <a:t>y</a:t>
            </a:r>
            <a:r>
              <a:rPr lang="zh-CN" altLang="en-US" dirty="0" smtClean="0"/>
              <a:t>表示下一个单词</a:t>
            </a:r>
            <a:r>
              <a:rPr lang="en-US" altLang="zh-CN" dirty="0" smtClean="0"/>
              <a:t>(</a:t>
            </a:r>
            <a:r>
              <a:rPr lang="zh-CN" altLang="en-US" dirty="0" smtClean="0"/>
              <a:t>的未归一化</a:t>
            </a:r>
            <a:r>
              <a:rPr lang="en-US" altLang="zh-CN" dirty="0" smtClean="0"/>
              <a:t>10g</a:t>
            </a:r>
            <a:r>
              <a:rPr lang="zh-CN" altLang="en-US" dirty="0" smtClean="0"/>
              <a:t>概率。最后使用</a:t>
            </a:r>
            <a:r>
              <a:rPr lang="en-US" altLang="zh-CN" dirty="0" err="1" smtClean="0"/>
              <a:t>softmax</a:t>
            </a:r>
            <a:r>
              <a:rPr lang="zh-CN" altLang="en-US" dirty="0" smtClean="0"/>
              <a:t>函数将输出值</a:t>
            </a:r>
            <a:r>
              <a:rPr lang="en-US" altLang="zh-CN" dirty="0" smtClean="0"/>
              <a:t>y</a:t>
            </a:r>
            <a:r>
              <a:rPr lang="zh-CN" altLang="en-US" dirty="0" smtClean="0"/>
              <a:t>归一化成概率，</a:t>
            </a:r>
            <a:endParaRPr lang="zh-CN" altLang="en-US" dirty="0"/>
          </a:p>
        </p:txBody>
      </p:sp>
      <p:sp>
        <p:nvSpPr>
          <p:cNvPr id="4" name="灯片编号占位符 3"/>
          <p:cNvSpPr>
            <a:spLocks noGrp="1"/>
          </p:cNvSpPr>
          <p:nvPr>
            <p:ph type="sldNum" sz="quarter" idx="10"/>
          </p:nvPr>
        </p:nvSpPr>
        <p:spPr/>
        <p:txBody>
          <a:bodyPr/>
          <a:lstStyle/>
          <a:p>
            <a:fld id="{0FA7FB16-436E-4C3A-AC93-D953BF9B5BF3}" type="slidenum">
              <a:rPr lang="zh-CN" altLang="en-US" smtClean="0"/>
              <a:t>19</a:t>
            </a:fld>
            <a:endParaRPr lang="zh-CN" altLang="en-US"/>
          </a:p>
        </p:txBody>
      </p:sp>
    </p:spTree>
    <p:extLst>
      <p:ext uri="{BB962C8B-B14F-4D97-AF65-F5344CB8AC3E}">
        <p14:creationId xmlns:p14="http://schemas.microsoft.com/office/powerpoint/2010/main" val="27113002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循环神经网络之所以被称之为“循环”，就是因为它的网络表现形式有循环结构，从而使得过去输出的信息作为记忆而被保留下来，并可应用于当前输出的计算中。也就是说，</a:t>
            </a:r>
            <a:r>
              <a:rPr lang="en-US" altLang="zh-CN" dirty="0"/>
              <a:t>RNN</a:t>
            </a:r>
            <a:r>
              <a:rPr lang="zh-CN" altLang="en-US" dirty="0"/>
              <a:t>的同一隐层之间的节点是有连接的。图</a:t>
            </a:r>
            <a:r>
              <a:rPr lang="en-US" altLang="zh-CN" dirty="0"/>
              <a:t>13-3</a:t>
            </a:r>
            <a:r>
              <a:rPr lang="zh-CN" altLang="en-US" dirty="0"/>
              <a:t>是传统的</a:t>
            </a:r>
            <a:r>
              <a:rPr lang="en-US" altLang="zh-CN" dirty="0"/>
              <a:t>Elman RNN</a:t>
            </a:r>
            <a:r>
              <a:rPr lang="zh-CN" altLang="en-US" dirty="0"/>
              <a:t>网络模型的展开结构图。无论是循环图，还是展开图，都有其作用。循环图（左图）比较简洁，而展开图则能表明其中的计算流程。</a:t>
            </a:r>
            <a:endParaRPr lang="en-US" altLang="zh-CN" dirty="0"/>
          </a:p>
          <a:p>
            <a:endParaRPr lang="en-US" altLang="zh-CN" dirty="0"/>
          </a:p>
          <a:p>
            <a:r>
              <a:rPr lang="en-US" altLang="zh-CN" dirty="0"/>
              <a:t>Elman RNN</a:t>
            </a:r>
            <a:r>
              <a:rPr lang="zh-CN" altLang="en-US" dirty="0"/>
              <a:t>网络模型除了</a:t>
            </a:r>
            <a:r>
              <a:rPr lang="en-US" altLang="zh-CN" dirty="0"/>
              <a:t>X</a:t>
            </a:r>
            <a:r>
              <a:rPr lang="zh-CN" altLang="en-US" dirty="0"/>
              <a:t>向量表示输入层的值，</a:t>
            </a:r>
            <a:r>
              <a:rPr lang="en-US" altLang="zh-CN" dirty="0"/>
              <a:t>O</a:t>
            </a:r>
            <a:r>
              <a:rPr lang="zh-CN" altLang="en-US" dirty="0"/>
              <a:t>向量表示输出层的值之外，一共就有三类参数值，分别是</a:t>
            </a:r>
            <a:r>
              <a:rPr lang="en-US" altLang="zh-CN" dirty="0"/>
              <a:t>U</a:t>
            </a:r>
            <a:r>
              <a:rPr lang="zh-CN" altLang="en-US" dirty="0"/>
              <a:t>、</a:t>
            </a:r>
            <a:r>
              <a:rPr lang="en-US" altLang="zh-CN" dirty="0"/>
              <a:t>V</a:t>
            </a:r>
            <a:r>
              <a:rPr lang="zh-CN" altLang="en-US" dirty="0"/>
              <a:t>和 </a:t>
            </a:r>
            <a:r>
              <a:rPr lang="en-US" altLang="zh-CN" dirty="0"/>
              <a:t>W</a:t>
            </a:r>
            <a:r>
              <a:rPr lang="zh-CN" altLang="en-US" dirty="0"/>
              <a:t>。假设输入层神经元个数为</a:t>
            </a:r>
            <a:r>
              <a:rPr lang="en-US" altLang="zh-CN" dirty="0"/>
              <a:t>n</a:t>
            </a:r>
            <a:r>
              <a:rPr lang="zh-CN" altLang="en-US" dirty="0"/>
              <a:t>个，隐层的神经元个数为</a:t>
            </a:r>
            <a:r>
              <a:rPr lang="en-US" altLang="zh-CN" dirty="0"/>
              <a:t>m</a:t>
            </a:r>
            <a:r>
              <a:rPr lang="zh-CN" altLang="en-US" dirty="0"/>
              <a:t>个，输出层的神经元个数为</a:t>
            </a:r>
            <a:r>
              <a:rPr lang="en-US" altLang="zh-CN" dirty="0"/>
              <a:t>r</a:t>
            </a:r>
            <a:r>
              <a:rPr lang="zh-CN" altLang="en-US" dirty="0"/>
              <a:t>，那么</a:t>
            </a:r>
            <a:r>
              <a:rPr lang="en-US" altLang="zh-CN" dirty="0"/>
              <a:t>U</a:t>
            </a:r>
            <a:r>
              <a:rPr lang="zh-CN" altLang="en-US" dirty="0"/>
              <a:t>是输入层到隐藏层的权重矩阵，大小为（</a:t>
            </a:r>
            <a:r>
              <a:rPr lang="en-US" altLang="zh-CN" dirty="0" err="1"/>
              <a:t>n×m</a:t>
            </a:r>
            <a:r>
              <a:rPr lang="zh-CN" altLang="en-US" dirty="0"/>
              <a:t>）维；</a:t>
            </a:r>
            <a:r>
              <a:rPr lang="en-US" altLang="zh-CN" dirty="0"/>
              <a:t>V</a:t>
            </a:r>
            <a:r>
              <a:rPr lang="zh-CN" altLang="en-US" dirty="0"/>
              <a:t>是隐层到输出层的权重矩阵，大小为（</a:t>
            </a:r>
            <a:r>
              <a:rPr lang="en-US" altLang="zh-CN" dirty="0" err="1"/>
              <a:t>m×r</a:t>
            </a:r>
            <a:r>
              <a:rPr lang="zh-CN" altLang="en-US" dirty="0"/>
              <a:t>）维。前面这两个参数矩阵和前馈神经网络的完全一样。</a:t>
            </a:r>
            <a:br>
              <a:rPr lang="zh-CN" altLang="en-US" dirty="0"/>
            </a:br>
            <a:r>
              <a:rPr lang="zh-CN" altLang="en-US" dirty="0"/>
              <a:t>那么，</a:t>
            </a:r>
            <a:r>
              <a:rPr lang="en-US" altLang="zh-CN" dirty="0"/>
              <a:t>W</a:t>
            </a:r>
            <a:r>
              <a:rPr lang="zh-CN" altLang="en-US" dirty="0"/>
              <a:t>又是什么呢？通过前面的介绍我们知道，</a:t>
            </a:r>
            <a:r>
              <a:rPr lang="en-US" altLang="zh-CN" dirty="0"/>
              <a:t>RNN</a:t>
            </a:r>
            <a:r>
              <a:rPr lang="zh-CN" altLang="en-US" dirty="0"/>
              <a:t>中隐层</a:t>
            </a:r>
            <a:r>
              <a:rPr lang="zh-CN" altLang="en-US" sz="1200" i="0" kern="1200" dirty="0">
                <a:solidFill>
                  <a:schemeClr val="tx1"/>
                </a:solidFill>
                <a:effectLst/>
                <a:latin typeface="微软雅黑" panose="020B0503020204020204" pitchFamily="34" charset="-122"/>
                <a:ea typeface="微软雅黑" panose="020B0503020204020204" pitchFamily="34" charset="-122"/>
                <a:cs typeface="+mn-cs"/>
              </a:rPr>
              <a:t>   </a:t>
            </a:r>
            <a:r>
              <a:rPr lang="en-US" altLang="zh-CN" sz="1200" i="0" kern="1200" dirty="0">
                <a:solidFill>
                  <a:schemeClr val="tx1"/>
                </a:solidFill>
                <a:effectLst/>
                <a:latin typeface="微软雅黑" panose="020B0503020204020204" pitchFamily="34" charset="-122"/>
                <a:ea typeface="微软雅黑" panose="020B0503020204020204" pitchFamily="34" charset="-122"/>
                <a:cs typeface="+mn-cs"/>
              </a:rPr>
              <a:t>s(t)</a:t>
            </a:r>
            <a:r>
              <a:rPr lang="zh-CN" altLang="en-US" dirty="0"/>
              <a:t> 的值，不仅仅取决于当前输入</a:t>
            </a:r>
            <a:r>
              <a:rPr lang="zh-CN" altLang="en-US" sz="1200" i="0" kern="1200" dirty="0">
                <a:solidFill>
                  <a:schemeClr val="tx1"/>
                </a:solidFill>
                <a:effectLst/>
                <a:latin typeface="微软雅黑" panose="020B0503020204020204" pitchFamily="34" charset="-122"/>
                <a:ea typeface="微软雅黑" panose="020B0503020204020204" pitchFamily="34" charset="-122"/>
                <a:cs typeface="+mn-cs"/>
              </a:rPr>
              <a:t> </a:t>
            </a:r>
            <a:r>
              <a:rPr lang="en-US" altLang="zh-CN" sz="1200" i="0" kern="1200" dirty="0">
                <a:solidFill>
                  <a:schemeClr val="tx1"/>
                </a:solidFill>
                <a:effectLst/>
                <a:latin typeface="微软雅黑" panose="020B0503020204020204" pitchFamily="34" charset="-122"/>
                <a:ea typeface="微软雅黑" panose="020B0503020204020204" pitchFamily="34" charset="-122"/>
                <a:cs typeface="+mn-cs"/>
              </a:rPr>
              <a:t>x</a:t>
            </a:r>
            <a:r>
              <a:rPr lang="zh-CN" altLang="en-US" dirty="0"/>
              <a:t> ，还取决于上一次隐层的值</a:t>
            </a:r>
            <a:r>
              <a:rPr lang="zh-CN" altLang="en-US" sz="1200" i="0" kern="1200" dirty="0">
                <a:solidFill>
                  <a:schemeClr val="tx1"/>
                </a:solidFill>
                <a:effectLst/>
                <a:latin typeface="微软雅黑" panose="020B0503020204020204" pitchFamily="34" charset="-122"/>
                <a:ea typeface="微软雅黑" panose="020B0503020204020204" pitchFamily="34" charset="-122"/>
                <a:cs typeface="+mn-cs"/>
              </a:rPr>
              <a:t>   </a:t>
            </a:r>
            <a:r>
              <a:rPr lang="en-US" altLang="zh-CN" sz="1200" i="0" kern="1200" dirty="0">
                <a:solidFill>
                  <a:schemeClr val="tx1"/>
                </a:solidFill>
                <a:effectLst/>
                <a:latin typeface="微软雅黑" panose="020B0503020204020204" pitchFamily="34" charset="-122"/>
                <a:ea typeface="微软雅黑" panose="020B0503020204020204" pitchFamily="34" charset="-122"/>
                <a:cs typeface="+mn-cs"/>
              </a:rPr>
              <a:t>s(t−1)</a:t>
            </a:r>
            <a:r>
              <a:rPr lang="zh-CN" altLang="en-US" dirty="0"/>
              <a:t> 。如此一来，</a:t>
            </a:r>
            <a:r>
              <a:rPr lang="en-US" altLang="zh-CN" dirty="0"/>
              <a:t>W</a:t>
            </a:r>
            <a:r>
              <a:rPr lang="zh-CN" altLang="en-US" dirty="0"/>
              <a:t>表示的就是隐藏层上一次输出值而作为本次输入的权重矩阵，大小为（</a:t>
            </a:r>
            <a:r>
              <a:rPr lang="en-US" altLang="zh-CN" dirty="0" err="1"/>
              <a:t>m×m</a:t>
            </a:r>
            <a:r>
              <a:rPr lang="zh-CN" altLang="en-US" dirty="0"/>
              <a:t>）维。</a:t>
            </a:r>
          </a:p>
          <a:p>
            <a:r>
              <a:rPr lang="zh-CN" altLang="en-US" dirty="0"/>
              <a:t>从图</a:t>
            </a:r>
            <a:r>
              <a:rPr lang="en-US" altLang="zh-CN" dirty="0"/>
              <a:t>13-3</a:t>
            </a:r>
            <a:r>
              <a:rPr lang="zh-CN" altLang="en-US" dirty="0"/>
              <a:t>中可以看到，在理论上，这个模型可以扩展到无限维，也就是可以支撑无限的时间序列，但实际并非如此，就如同人脑的记忆力是有限的一样。</a:t>
            </a:r>
          </a:p>
          <a:p>
            <a:endParaRPr lang="zh-CN" altLang="en-US" dirty="0"/>
          </a:p>
        </p:txBody>
      </p:sp>
      <p:sp>
        <p:nvSpPr>
          <p:cNvPr id="4" name="灯片编号占位符 3"/>
          <p:cNvSpPr>
            <a:spLocks noGrp="1"/>
          </p:cNvSpPr>
          <p:nvPr>
            <p:ph type="sldNum" sz="quarter" idx="5"/>
          </p:nvPr>
        </p:nvSpPr>
        <p:spPr/>
        <p:txBody>
          <a:bodyPr/>
          <a:lstStyle/>
          <a:p>
            <a:fld id="{0A3C37BE-C303-496D-B5CD-85F2937540FC}" type="slidenum">
              <a:rPr lang="en-US" altLang="zh-CN" smtClean="0"/>
              <a:pPr/>
              <a:t>21</a:t>
            </a:fld>
            <a:endParaRPr lang="en-US" altLang="zh-CN" dirty="0"/>
          </a:p>
        </p:txBody>
      </p:sp>
    </p:spTree>
    <p:extLst>
      <p:ext uri="{BB962C8B-B14F-4D97-AF65-F5344CB8AC3E}">
        <p14:creationId xmlns:p14="http://schemas.microsoft.com/office/powerpoint/2010/main" val="24363274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循环神经网络之所以被称之为“循环”，就是因为它的网络表现形式有循环结构，从而使得过去输出的信息作为记忆而被保留下来，并可应用于当前输出的计算中。也就是说，</a:t>
            </a:r>
            <a:r>
              <a:rPr lang="en-US" altLang="zh-CN" dirty="0"/>
              <a:t>RNN</a:t>
            </a:r>
            <a:r>
              <a:rPr lang="zh-CN" altLang="en-US" dirty="0"/>
              <a:t>的同一隐层之间的节点是有连接的。图</a:t>
            </a:r>
            <a:r>
              <a:rPr lang="en-US" altLang="zh-CN" dirty="0"/>
              <a:t>13-3</a:t>
            </a:r>
            <a:r>
              <a:rPr lang="zh-CN" altLang="en-US" dirty="0"/>
              <a:t>是传统的</a:t>
            </a:r>
            <a:r>
              <a:rPr lang="en-US" altLang="zh-CN" dirty="0"/>
              <a:t>Elman RNN</a:t>
            </a:r>
            <a:r>
              <a:rPr lang="zh-CN" altLang="en-US" dirty="0"/>
              <a:t>网络模型的展开结构图。无论是循环图，还是展开图，都有其作用。循环图（左图）比较简洁，而展开图则能表明其中的计算流程。</a:t>
            </a:r>
            <a:endParaRPr lang="en-US" altLang="zh-CN" dirty="0"/>
          </a:p>
          <a:p>
            <a:endParaRPr lang="en-US" altLang="zh-CN" dirty="0"/>
          </a:p>
          <a:p>
            <a:r>
              <a:rPr lang="en-US" altLang="zh-CN" dirty="0"/>
              <a:t>Elman RNN</a:t>
            </a:r>
            <a:r>
              <a:rPr lang="zh-CN" altLang="en-US" dirty="0"/>
              <a:t>网络模型除了</a:t>
            </a:r>
            <a:r>
              <a:rPr lang="en-US" altLang="zh-CN" dirty="0"/>
              <a:t>X</a:t>
            </a:r>
            <a:r>
              <a:rPr lang="zh-CN" altLang="en-US" dirty="0"/>
              <a:t>向量表示输入层的值，</a:t>
            </a:r>
            <a:r>
              <a:rPr lang="en-US" altLang="zh-CN" dirty="0"/>
              <a:t>O</a:t>
            </a:r>
            <a:r>
              <a:rPr lang="zh-CN" altLang="en-US" dirty="0"/>
              <a:t>向量表示输出层的值之外，一共就有三类参数值，分别是</a:t>
            </a:r>
            <a:r>
              <a:rPr lang="en-US" altLang="zh-CN" dirty="0"/>
              <a:t>U</a:t>
            </a:r>
            <a:r>
              <a:rPr lang="zh-CN" altLang="en-US" dirty="0"/>
              <a:t>、</a:t>
            </a:r>
            <a:r>
              <a:rPr lang="en-US" altLang="zh-CN" dirty="0"/>
              <a:t>V</a:t>
            </a:r>
            <a:r>
              <a:rPr lang="zh-CN" altLang="en-US" dirty="0"/>
              <a:t>和 </a:t>
            </a:r>
            <a:r>
              <a:rPr lang="en-US" altLang="zh-CN" dirty="0"/>
              <a:t>W</a:t>
            </a:r>
            <a:r>
              <a:rPr lang="zh-CN" altLang="en-US" dirty="0"/>
              <a:t>。假设输入层神经元个数为</a:t>
            </a:r>
            <a:r>
              <a:rPr lang="en-US" altLang="zh-CN" dirty="0"/>
              <a:t>n</a:t>
            </a:r>
            <a:r>
              <a:rPr lang="zh-CN" altLang="en-US" dirty="0"/>
              <a:t>个，隐层的神经元个数为</a:t>
            </a:r>
            <a:r>
              <a:rPr lang="en-US" altLang="zh-CN" dirty="0"/>
              <a:t>m</a:t>
            </a:r>
            <a:r>
              <a:rPr lang="zh-CN" altLang="en-US" dirty="0"/>
              <a:t>个，输出层的神经元个数为</a:t>
            </a:r>
            <a:r>
              <a:rPr lang="en-US" altLang="zh-CN" dirty="0"/>
              <a:t>r</a:t>
            </a:r>
            <a:r>
              <a:rPr lang="zh-CN" altLang="en-US" dirty="0"/>
              <a:t>，那么</a:t>
            </a:r>
            <a:r>
              <a:rPr lang="en-US" altLang="zh-CN" dirty="0"/>
              <a:t>U</a:t>
            </a:r>
            <a:r>
              <a:rPr lang="zh-CN" altLang="en-US" dirty="0"/>
              <a:t>是输入层到隐藏层的权重矩阵，大小为（</a:t>
            </a:r>
            <a:r>
              <a:rPr lang="en-US" altLang="zh-CN" dirty="0" err="1"/>
              <a:t>n×m</a:t>
            </a:r>
            <a:r>
              <a:rPr lang="zh-CN" altLang="en-US" dirty="0"/>
              <a:t>）维；</a:t>
            </a:r>
            <a:r>
              <a:rPr lang="en-US" altLang="zh-CN" dirty="0"/>
              <a:t>V</a:t>
            </a:r>
            <a:r>
              <a:rPr lang="zh-CN" altLang="en-US" dirty="0"/>
              <a:t>是隐层到输出层的权重矩阵，大小为（</a:t>
            </a:r>
            <a:r>
              <a:rPr lang="en-US" altLang="zh-CN" dirty="0" err="1"/>
              <a:t>m×r</a:t>
            </a:r>
            <a:r>
              <a:rPr lang="zh-CN" altLang="en-US" dirty="0"/>
              <a:t>）维。前面这两个参数矩阵和前馈神经网络的完全一样。</a:t>
            </a:r>
            <a:br>
              <a:rPr lang="zh-CN" altLang="en-US" dirty="0"/>
            </a:br>
            <a:r>
              <a:rPr lang="zh-CN" altLang="en-US" dirty="0"/>
              <a:t>那么，</a:t>
            </a:r>
            <a:r>
              <a:rPr lang="en-US" altLang="zh-CN" dirty="0"/>
              <a:t>W</a:t>
            </a:r>
            <a:r>
              <a:rPr lang="zh-CN" altLang="en-US" dirty="0"/>
              <a:t>又是什么呢？通过前面的介绍我们知道，</a:t>
            </a:r>
            <a:r>
              <a:rPr lang="en-US" altLang="zh-CN" dirty="0"/>
              <a:t>RNN</a:t>
            </a:r>
            <a:r>
              <a:rPr lang="zh-CN" altLang="en-US" dirty="0"/>
              <a:t>中隐层</a:t>
            </a:r>
            <a:r>
              <a:rPr lang="zh-CN" altLang="en-US" sz="1200" i="0" kern="1200" dirty="0">
                <a:solidFill>
                  <a:schemeClr val="tx1"/>
                </a:solidFill>
                <a:effectLst/>
                <a:latin typeface="微软雅黑" panose="020B0503020204020204" pitchFamily="34" charset="-122"/>
                <a:ea typeface="微软雅黑" panose="020B0503020204020204" pitchFamily="34" charset="-122"/>
                <a:cs typeface="+mn-cs"/>
              </a:rPr>
              <a:t>   </a:t>
            </a:r>
            <a:r>
              <a:rPr lang="en-US" altLang="zh-CN" sz="1200" i="0" kern="1200" dirty="0">
                <a:solidFill>
                  <a:schemeClr val="tx1"/>
                </a:solidFill>
                <a:effectLst/>
                <a:latin typeface="微软雅黑" panose="020B0503020204020204" pitchFamily="34" charset="-122"/>
                <a:ea typeface="微软雅黑" panose="020B0503020204020204" pitchFamily="34" charset="-122"/>
                <a:cs typeface="+mn-cs"/>
              </a:rPr>
              <a:t>s(t)</a:t>
            </a:r>
            <a:r>
              <a:rPr lang="zh-CN" altLang="en-US" dirty="0"/>
              <a:t> 的值，不仅仅取决于当前输入</a:t>
            </a:r>
            <a:r>
              <a:rPr lang="zh-CN" altLang="en-US" sz="1200" i="0" kern="1200" dirty="0">
                <a:solidFill>
                  <a:schemeClr val="tx1"/>
                </a:solidFill>
                <a:effectLst/>
                <a:latin typeface="微软雅黑" panose="020B0503020204020204" pitchFamily="34" charset="-122"/>
                <a:ea typeface="微软雅黑" panose="020B0503020204020204" pitchFamily="34" charset="-122"/>
                <a:cs typeface="+mn-cs"/>
              </a:rPr>
              <a:t> </a:t>
            </a:r>
            <a:r>
              <a:rPr lang="en-US" altLang="zh-CN" sz="1200" i="0" kern="1200" dirty="0">
                <a:solidFill>
                  <a:schemeClr val="tx1"/>
                </a:solidFill>
                <a:effectLst/>
                <a:latin typeface="微软雅黑" panose="020B0503020204020204" pitchFamily="34" charset="-122"/>
                <a:ea typeface="微软雅黑" panose="020B0503020204020204" pitchFamily="34" charset="-122"/>
                <a:cs typeface="+mn-cs"/>
              </a:rPr>
              <a:t>x</a:t>
            </a:r>
            <a:r>
              <a:rPr lang="zh-CN" altLang="en-US" dirty="0"/>
              <a:t> ，还取决于上一次隐层的值</a:t>
            </a:r>
            <a:r>
              <a:rPr lang="zh-CN" altLang="en-US" sz="1200" i="0" kern="1200" dirty="0">
                <a:solidFill>
                  <a:schemeClr val="tx1"/>
                </a:solidFill>
                <a:effectLst/>
                <a:latin typeface="微软雅黑" panose="020B0503020204020204" pitchFamily="34" charset="-122"/>
                <a:ea typeface="微软雅黑" panose="020B0503020204020204" pitchFamily="34" charset="-122"/>
                <a:cs typeface="+mn-cs"/>
              </a:rPr>
              <a:t>   </a:t>
            </a:r>
            <a:r>
              <a:rPr lang="en-US" altLang="zh-CN" sz="1200" i="0" kern="1200" dirty="0">
                <a:solidFill>
                  <a:schemeClr val="tx1"/>
                </a:solidFill>
                <a:effectLst/>
                <a:latin typeface="微软雅黑" panose="020B0503020204020204" pitchFamily="34" charset="-122"/>
                <a:ea typeface="微软雅黑" panose="020B0503020204020204" pitchFamily="34" charset="-122"/>
                <a:cs typeface="+mn-cs"/>
              </a:rPr>
              <a:t>s(t−1)</a:t>
            </a:r>
            <a:r>
              <a:rPr lang="zh-CN" altLang="en-US" dirty="0"/>
              <a:t> 。如此一来，</a:t>
            </a:r>
            <a:r>
              <a:rPr lang="en-US" altLang="zh-CN" dirty="0"/>
              <a:t>W</a:t>
            </a:r>
            <a:r>
              <a:rPr lang="zh-CN" altLang="en-US" dirty="0"/>
              <a:t>表示的就是隐藏层上一次输出值而作为本次输入的权重矩阵，大小为（</a:t>
            </a:r>
            <a:r>
              <a:rPr lang="en-US" altLang="zh-CN" dirty="0" err="1"/>
              <a:t>m×m</a:t>
            </a:r>
            <a:r>
              <a:rPr lang="zh-CN" altLang="en-US" dirty="0"/>
              <a:t>）维。</a:t>
            </a:r>
          </a:p>
          <a:p>
            <a:r>
              <a:rPr lang="zh-CN" altLang="en-US" dirty="0"/>
              <a:t>从图</a:t>
            </a:r>
            <a:r>
              <a:rPr lang="en-US" altLang="zh-CN" dirty="0"/>
              <a:t>13-3</a:t>
            </a:r>
            <a:r>
              <a:rPr lang="zh-CN" altLang="en-US" dirty="0"/>
              <a:t>中可以看到，在理论上，这个模型可以扩展到无限维，也就是可以支撑无限的时间序列，但实际并非如此，就如同人脑的记忆力是有限的一样。</a:t>
            </a:r>
          </a:p>
          <a:p>
            <a:endParaRPr lang="zh-CN" altLang="en-US" dirty="0"/>
          </a:p>
        </p:txBody>
      </p:sp>
      <p:sp>
        <p:nvSpPr>
          <p:cNvPr id="4" name="灯片编号占位符 3"/>
          <p:cNvSpPr>
            <a:spLocks noGrp="1"/>
          </p:cNvSpPr>
          <p:nvPr>
            <p:ph type="sldNum" sz="quarter" idx="5"/>
          </p:nvPr>
        </p:nvSpPr>
        <p:spPr/>
        <p:txBody>
          <a:bodyPr/>
          <a:lstStyle/>
          <a:p>
            <a:fld id="{0A3C37BE-C303-496D-B5CD-85F2937540FC}" type="slidenum">
              <a:rPr lang="en-US" altLang="zh-CN" smtClean="0"/>
              <a:pPr/>
              <a:t>22</a:t>
            </a:fld>
            <a:endParaRPr lang="en-US" altLang="zh-CN" dirty="0"/>
          </a:p>
        </p:txBody>
      </p:sp>
    </p:spTree>
    <p:extLst>
      <p:ext uri="{BB962C8B-B14F-4D97-AF65-F5344CB8AC3E}">
        <p14:creationId xmlns:p14="http://schemas.microsoft.com/office/powerpoint/2010/main" val="25325250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名字很有意思，又长又短的记忆？其实不是，注意“</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Short-term”</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中间有一个“</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连接。代表</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LSTM</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本质上还是短期记忆</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(short-term memory)</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，只是它是比较长一点的</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short-term memory</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a:t>
            </a:r>
            <a:endParaRPr lang="zh-CN" altLang="en-US" dirty="0"/>
          </a:p>
        </p:txBody>
      </p:sp>
      <p:sp>
        <p:nvSpPr>
          <p:cNvPr id="4" name="灯片编号占位符 3"/>
          <p:cNvSpPr>
            <a:spLocks noGrp="1"/>
          </p:cNvSpPr>
          <p:nvPr>
            <p:ph type="sldNum" sz="quarter" idx="5"/>
          </p:nvPr>
        </p:nvSpPr>
        <p:spPr/>
        <p:txBody>
          <a:bodyPr/>
          <a:lstStyle/>
          <a:p>
            <a:fld id="{0A3C37BE-C303-496D-B5CD-85F2937540FC}" type="slidenum">
              <a:rPr lang="en-US" altLang="zh-CN" smtClean="0"/>
              <a:pPr/>
              <a:t>23</a:t>
            </a:fld>
            <a:endParaRPr lang="en-US" altLang="zh-CN" dirty="0"/>
          </a:p>
        </p:txBody>
      </p:sp>
    </p:spTree>
    <p:extLst>
      <p:ext uri="{BB962C8B-B14F-4D97-AF65-F5344CB8AC3E}">
        <p14:creationId xmlns:p14="http://schemas.microsoft.com/office/powerpoint/2010/main" val="24674067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可以看到，一个</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output</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受到三个</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gate</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的影响，首先是</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input gate</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决定一个</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input</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是否可以进入</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memory cell</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forget gate</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决定是否要忘记之前的</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memory</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，而</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output gate</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决定最后是否可以输出。这样一个非常复杂的</a:t>
            </a:r>
            <a:r>
              <a:rPr lang="en-US" altLang="zh-CN" sz="1200" b="0" i="0" kern="1200" dirty="0">
                <a:solidFill>
                  <a:schemeClr val="tx1"/>
                </a:solidFill>
                <a:effectLst/>
                <a:latin typeface="微软雅黑" panose="020B0503020204020204" pitchFamily="34" charset="-122"/>
                <a:ea typeface="微软雅黑" panose="020B0503020204020204" pitchFamily="34" charset="-122"/>
                <a:cs typeface="+mn-cs"/>
              </a:rPr>
              <a:t>neuron</a:t>
            </a:r>
            <a:r>
              <a:rPr lang="zh-CN" altLang="en-US" sz="1200" b="0" i="0" kern="1200" dirty="0">
                <a:solidFill>
                  <a:schemeClr val="tx1"/>
                </a:solidFill>
                <a:effectLst/>
                <a:latin typeface="微软雅黑" panose="020B0503020204020204" pitchFamily="34" charset="-122"/>
                <a:ea typeface="微软雅黑" panose="020B0503020204020204" pitchFamily="34" charset="-122"/>
                <a:cs typeface="+mn-cs"/>
              </a:rPr>
              <a:t>。</a:t>
            </a:r>
            <a:endParaRPr lang="zh-CN" altLang="en-US" dirty="0"/>
          </a:p>
        </p:txBody>
      </p:sp>
      <p:sp>
        <p:nvSpPr>
          <p:cNvPr id="4" name="灯片编号占位符 3"/>
          <p:cNvSpPr>
            <a:spLocks noGrp="1"/>
          </p:cNvSpPr>
          <p:nvPr>
            <p:ph type="sldNum" sz="quarter" idx="5"/>
          </p:nvPr>
        </p:nvSpPr>
        <p:spPr/>
        <p:txBody>
          <a:bodyPr/>
          <a:lstStyle/>
          <a:p>
            <a:fld id="{0A3C37BE-C303-496D-B5CD-85F2937540FC}" type="slidenum">
              <a:rPr lang="en-US" altLang="zh-CN" smtClean="0"/>
              <a:pPr/>
              <a:t>24</a:t>
            </a:fld>
            <a:endParaRPr lang="en-US" altLang="zh-CN" dirty="0"/>
          </a:p>
        </p:txBody>
      </p:sp>
    </p:spTree>
    <p:extLst>
      <p:ext uri="{BB962C8B-B14F-4D97-AF65-F5344CB8AC3E}">
        <p14:creationId xmlns:p14="http://schemas.microsoft.com/office/powerpoint/2010/main" val="28287013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Arial" charset="0"/>
                <a:ea typeface="+mn-ea"/>
                <a:cs typeface="+mn-cs"/>
              </a:rPr>
              <a:t>点乘</a:t>
            </a:r>
            <a:r>
              <a:rPr lang="en-US" altLang="zh-CN" sz="1200" b="0" i="0" kern="1200" dirty="0" smtClean="0">
                <a:solidFill>
                  <a:schemeClr val="tx1"/>
                </a:solidFill>
                <a:effectLst/>
                <a:latin typeface="Arial" charset="0"/>
                <a:ea typeface="+mn-ea"/>
                <a:cs typeface="+mn-cs"/>
              </a:rPr>
              <a:t>:</a:t>
            </a:r>
            <a:r>
              <a:rPr lang="zh-CN" altLang="en-US" sz="1200" b="0" i="0" kern="1200" dirty="0" smtClean="0">
                <a:solidFill>
                  <a:schemeClr val="tx1"/>
                </a:solidFill>
                <a:effectLst/>
                <a:latin typeface="Arial" charset="0"/>
                <a:ea typeface="+mn-ea"/>
                <a:cs typeface="+mn-cs"/>
              </a:rPr>
              <a:t>操作矩阵中对应的元素相乘</a:t>
            </a:r>
            <a:r>
              <a:rPr lang="en-US" altLang="zh-CN" sz="1200" b="0" i="0" kern="1200" dirty="0" smtClean="0">
                <a:solidFill>
                  <a:schemeClr val="tx1"/>
                </a:solidFill>
                <a:effectLst/>
                <a:latin typeface="Arial" charset="0"/>
                <a:ea typeface="+mn-ea"/>
                <a:cs typeface="+mn-cs"/>
              </a:rPr>
              <a:t>,</a:t>
            </a:r>
            <a:r>
              <a:rPr lang="zh-CN" altLang="en-US" sz="1200" b="0" i="0" kern="1200" dirty="0" smtClean="0">
                <a:solidFill>
                  <a:schemeClr val="tx1"/>
                </a:solidFill>
                <a:effectLst/>
                <a:latin typeface="Arial" charset="0"/>
                <a:ea typeface="+mn-ea"/>
                <a:cs typeface="+mn-cs"/>
              </a:rPr>
              <a:t>因此要求两个相乘矩阵是同型的</a:t>
            </a:r>
            <a:endParaRPr lang="en-US" altLang="zh-CN" sz="1200" b="0" i="0" kern="1200" dirty="0" smtClean="0">
              <a:solidFill>
                <a:schemeClr val="tx1"/>
              </a:solidFill>
              <a:effectLst/>
              <a:latin typeface="Arial" charset="0"/>
              <a:ea typeface="+mn-ea"/>
              <a:cs typeface="+mn-cs"/>
            </a:endParaRPr>
          </a:p>
          <a:p>
            <a:endParaRPr lang="en-US" altLang="zh-CN" sz="1200" b="0" i="0" kern="1200" dirty="0" smtClean="0">
              <a:solidFill>
                <a:schemeClr val="tx1"/>
              </a:solidFill>
              <a:effectLst/>
              <a:latin typeface="Arial" charset="0"/>
              <a:ea typeface="+mn-ea"/>
              <a:cs typeface="+mn-cs"/>
            </a:endParaRPr>
          </a:p>
          <a:p>
            <a:r>
              <a:rPr lang="zh-CN" altLang="en-US" sz="1200" b="0" i="0" kern="1200" dirty="0" smtClean="0">
                <a:solidFill>
                  <a:schemeClr val="tx1"/>
                </a:solidFill>
                <a:effectLst/>
                <a:latin typeface="Arial" charset="0"/>
                <a:ea typeface="+mn-ea"/>
                <a:cs typeface="+mn-cs"/>
              </a:rPr>
              <a:t>激活函数：双曲正切</a:t>
            </a:r>
            <a:r>
              <a:rPr lang="en-US" altLang="zh-CN" sz="1200" b="0" i="0" kern="1200" dirty="0" err="1" smtClean="0">
                <a:solidFill>
                  <a:schemeClr val="tx1"/>
                </a:solidFill>
                <a:effectLst/>
                <a:latin typeface="Arial" charset="0"/>
                <a:ea typeface="+mn-ea"/>
                <a:cs typeface="+mn-cs"/>
              </a:rPr>
              <a:t>tanh</a:t>
            </a:r>
            <a:r>
              <a:rPr lang="zh-CN" altLang="en-US" sz="1200" b="0" i="0" kern="1200" dirty="0" smtClean="0">
                <a:solidFill>
                  <a:schemeClr val="tx1"/>
                </a:solidFill>
                <a:effectLst/>
                <a:latin typeface="Arial" charset="0"/>
                <a:ea typeface="+mn-ea"/>
                <a:cs typeface="+mn-cs"/>
              </a:rPr>
              <a:t>读作</a:t>
            </a:r>
            <a:r>
              <a:rPr lang="en-US" altLang="zh-CN" sz="1200" b="0" i="0" kern="1200" dirty="0" smtClean="0">
                <a:solidFill>
                  <a:schemeClr val="tx1"/>
                </a:solidFill>
                <a:effectLst/>
                <a:latin typeface="Arial" charset="0"/>
                <a:ea typeface="+mn-ea"/>
                <a:cs typeface="+mn-cs"/>
              </a:rPr>
              <a:t>/</a:t>
            </a:r>
            <a:r>
              <a:rPr lang="en-US" altLang="zh-CN" sz="1200" b="0" i="0" kern="1200" dirty="0" err="1" smtClean="0">
                <a:solidFill>
                  <a:schemeClr val="tx1"/>
                </a:solidFill>
                <a:effectLst/>
                <a:latin typeface="Arial" charset="0"/>
                <a:ea typeface="+mn-ea"/>
                <a:cs typeface="+mn-cs"/>
              </a:rPr>
              <a:t>tæntʃ</a:t>
            </a:r>
            <a:r>
              <a:rPr lang="en-US" altLang="zh-CN" sz="1200" b="0" i="0" kern="1200" dirty="0" smtClean="0">
                <a:solidFill>
                  <a:schemeClr val="tx1"/>
                </a:solidFill>
                <a:effectLst/>
                <a:latin typeface="Arial" charset="0"/>
                <a:ea typeface="+mn-ea"/>
                <a:cs typeface="+mn-cs"/>
              </a:rPr>
              <a:t>/</a:t>
            </a:r>
            <a:endParaRPr lang="zh-CN" altLang="en-US" dirty="0"/>
          </a:p>
        </p:txBody>
      </p:sp>
      <p:sp>
        <p:nvSpPr>
          <p:cNvPr id="4" name="灯片编号占位符 3"/>
          <p:cNvSpPr>
            <a:spLocks noGrp="1"/>
          </p:cNvSpPr>
          <p:nvPr>
            <p:ph type="sldNum" sz="quarter" idx="10"/>
          </p:nvPr>
        </p:nvSpPr>
        <p:spPr/>
        <p:txBody>
          <a:bodyPr/>
          <a:lstStyle/>
          <a:p>
            <a:pPr>
              <a:defRPr/>
            </a:pPr>
            <a:fld id="{3656C15A-65A9-4188-BE47-91B53ACA740E}" type="slidenum">
              <a:rPr lang="en-US" smtClean="0"/>
              <a:pPr>
                <a:defRPr/>
              </a:pPr>
              <a:t>25</a:t>
            </a:fld>
            <a:endParaRPr lang="en-US"/>
          </a:p>
        </p:txBody>
      </p:sp>
    </p:spTree>
    <p:extLst>
      <p:ext uri="{BB962C8B-B14F-4D97-AF65-F5344CB8AC3E}">
        <p14:creationId xmlns:p14="http://schemas.microsoft.com/office/powerpoint/2010/main" val="7454242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微软雅黑" panose="020B0503020204020204" pitchFamily="34" charset="-122"/>
                <a:ea typeface="微软雅黑" panose="020B0503020204020204" pitchFamily="34" charset="-122"/>
                <a:cs typeface="+mn-cs"/>
              </a:rPr>
              <a:t>首先将这个模型看成是一个黑箱操作。在机器翻译中，就是输入一种语言，输出另一种语言。那么拆开这个黑箱，我们可以看到它是由编码组件、解码组件和它们之间的连接组成。</a:t>
            </a:r>
            <a:endParaRPr lang="en-US" altLang="zh-CN" sz="1200" b="0" i="0" kern="1200" dirty="0" smtClean="0">
              <a:solidFill>
                <a:schemeClr val="tx1"/>
              </a:solidFill>
              <a:effectLst/>
              <a:latin typeface="微软雅黑" panose="020B0503020204020204" pitchFamily="34" charset="-122"/>
              <a:ea typeface="微软雅黑" panose="020B0503020204020204" pitchFamily="34"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smtClean="0"/>
              <a:t>Transformer</a:t>
            </a:r>
            <a:r>
              <a:rPr lang="zh-CN" altLang="en-US" dirty="0" smtClean="0"/>
              <a:t>由论文</a:t>
            </a:r>
            <a:r>
              <a:rPr lang="en-US" altLang="zh-CN" dirty="0" smtClean="0"/>
              <a:t>《Attention is All You Need》</a:t>
            </a:r>
            <a:r>
              <a:rPr lang="zh-CN" altLang="en-US" dirty="0" smtClean="0"/>
              <a:t>提出，现在是谷歌云</a:t>
            </a:r>
            <a:r>
              <a:rPr lang="en-US" altLang="zh-CN" dirty="0" smtClean="0"/>
              <a:t>TPU</a:t>
            </a:r>
            <a:r>
              <a:rPr lang="zh-CN" altLang="en-US" dirty="0" smtClean="0"/>
              <a:t>推荐的参考模型</a:t>
            </a:r>
          </a:p>
          <a:p>
            <a:endParaRPr lang="zh-CN" altLang="en-US" dirty="0"/>
          </a:p>
        </p:txBody>
      </p:sp>
      <p:sp>
        <p:nvSpPr>
          <p:cNvPr id="4" name="灯片编号占位符 3"/>
          <p:cNvSpPr>
            <a:spLocks noGrp="1"/>
          </p:cNvSpPr>
          <p:nvPr>
            <p:ph type="sldNum" sz="quarter" idx="10"/>
          </p:nvPr>
        </p:nvSpPr>
        <p:spPr/>
        <p:txBody>
          <a:bodyPr/>
          <a:lstStyle/>
          <a:p>
            <a:fld id="{0A3C37BE-C303-496D-B5CD-85F2937540FC}" type="slidenum">
              <a:rPr lang="en-US" altLang="zh-CN" smtClean="0"/>
              <a:pPr/>
              <a:t>27</a:t>
            </a:fld>
            <a:endParaRPr lang="en-US" altLang="zh-CN" dirty="0"/>
          </a:p>
        </p:txBody>
      </p:sp>
    </p:spTree>
    <p:extLst>
      <p:ext uri="{BB962C8B-B14F-4D97-AF65-F5344CB8AC3E}">
        <p14:creationId xmlns:p14="http://schemas.microsoft.com/office/powerpoint/2010/main" val="391312704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smtClean="0">
                <a:solidFill>
                  <a:srgbClr val="121212"/>
                </a:solidFill>
                <a:effectLst/>
                <a:latin typeface="-apple-system"/>
              </a:rPr>
              <a:t>分训练过程和预测过程</a:t>
            </a:r>
            <a:endParaRPr lang="en-US" altLang="zh-CN" b="0" i="0" dirty="0" smtClean="0">
              <a:solidFill>
                <a:srgbClr val="121212"/>
              </a:solidFill>
              <a:effectLst/>
              <a:latin typeface="-apple-system"/>
            </a:endParaRPr>
          </a:p>
          <a:p>
            <a:endParaRPr lang="en-US" altLang="zh-CN" b="0" i="0" dirty="0" smtClean="0">
              <a:solidFill>
                <a:srgbClr val="121212"/>
              </a:solidFill>
              <a:effectLst/>
              <a:latin typeface="-apple-system"/>
            </a:endParaRPr>
          </a:p>
          <a:p>
            <a:r>
              <a:rPr lang="zh-CN" altLang="en-US" b="0" i="0" dirty="0" smtClean="0">
                <a:solidFill>
                  <a:srgbClr val="121212"/>
                </a:solidFill>
                <a:effectLst/>
                <a:latin typeface="-apple-system"/>
              </a:rPr>
              <a:t>可以</a:t>
            </a:r>
            <a:r>
              <a:rPr lang="zh-CN" altLang="en-US" b="0" i="0" dirty="0">
                <a:solidFill>
                  <a:srgbClr val="121212"/>
                </a:solidFill>
                <a:effectLst/>
                <a:latin typeface="-apple-system"/>
              </a:rPr>
              <a:t>看到 </a:t>
            </a:r>
            <a:r>
              <a:rPr lang="en-US" altLang="zh-CN" b="1" i="0" dirty="0">
                <a:solidFill>
                  <a:srgbClr val="121212"/>
                </a:solidFill>
                <a:effectLst/>
                <a:latin typeface="-apple-system"/>
              </a:rPr>
              <a:t>Transformer </a:t>
            </a:r>
            <a:r>
              <a:rPr lang="zh-CN" altLang="en-US" b="1" i="0" dirty="0">
                <a:solidFill>
                  <a:srgbClr val="121212"/>
                </a:solidFill>
                <a:effectLst/>
                <a:latin typeface="-apple-system"/>
              </a:rPr>
              <a:t>由 </a:t>
            </a:r>
            <a:r>
              <a:rPr lang="en-US" altLang="zh-CN" b="1" i="0" dirty="0">
                <a:solidFill>
                  <a:srgbClr val="121212"/>
                </a:solidFill>
                <a:effectLst/>
                <a:latin typeface="-apple-system"/>
              </a:rPr>
              <a:t>Encoder </a:t>
            </a:r>
            <a:r>
              <a:rPr lang="zh-CN" altLang="en-US" b="1" i="0" dirty="0">
                <a:solidFill>
                  <a:srgbClr val="121212"/>
                </a:solidFill>
                <a:effectLst/>
                <a:latin typeface="-apple-system"/>
              </a:rPr>
              <a:t>和 </a:t>
            </a:r>
            <a:r>
              <a:rPr lang="en-US" altLang="zh-CN" b="1" i="0" dirty="0">
                <a:solidFill>
                  <a:srgbClr val="121212"/>
                </a:solidFill>
                <a:effectLst/>
                <a:latin typeface="-apple-system"/>
              </a:rPr>
              <a:t>Decoder </a:t>
            </a:r>
            <a:r>
              <a:rPr lang="zh-CN" altLang="en-US" b="1" i="0" dirty="0">
                <a:solidFill>
                  <a:srgbClr val="121212"/>
                </a:solidFill>
                <a:effectLst/>
                <a:latin typeface="-apple-system"/>
              </a:rPr>
              <a:t>两个部分组成</a:t>
            </a:r>
            <a:r>
              <a:rPr lang="zh-CN" altLang="en-US" b="0" i="0" dirty="0">
                <a:solidFill>
                  <a:srgbClr val="121212"/>
                </a:solidFill>
                <a:effectLst/>
                <a:latin typeface="-apple-system"/>
              </a:rPr>
              <a:t>，</a:t>
            </a:r>
            <a:r>
              <a:rPr lang="en-US" altLang="zh-CN" b="0" i="0" dirty="0">
                <a:solidFill>
                  <a:srgbClr val="121212"/>
                </a:solidFill>
                <a:effectLst/>
                <a:latin typeface="-apple-system"/>
              </a:rPr>
              <a:t>Encoder </a:t>
            </a:r>
            <a:r>
              <a:rPr lang="zh-CN" altLang="en-US" b="0" i="0" dirty="0">
                <a:solidFill>
                  <a:srgbClr val="121212"/>
                </a:solidFill>
                <a:effectLst/>
                <a:latin typeface="-apple-system"/>
              </a:rPr>
              <a:t>和 </a:t>
            </a:r>
            <a:r>
              <a:rPr lang="en-US" altLang="zh-CN" b="0" i="0" dirty="0">
                <a:solidFill>
                  <a:srgbClr val="121212"/>
                </a:solidFill>
                <a:effectLst/>
                <a:latin typeface="-apple-system"/>
              </a:rPr>
              <a:t>Decoder </a:t>
            </a:r>
            <a:r>
              <a:rPr lang="zh-CN" altLang="en-US" b="0" i="0" dirty="0">
                <a:solidFill>
                  <a:srgbClr val="121212"/>
                </a:solidFill>
                <a:effectLst/>
                <a:latin typeface="-apple-system"/>
              </a:rPr>
              <a:t>都包含 </a:t>
            </a:r>
            <a:r>
              <a:rPr lang="en-US" altLang="zh-CN" b="0" i="0" dirty="0">
                <a:solidFill>
                  <a:srgbClr val="121212"/>
                </a:solidFill>
                <a:effectLst/>
                <a:latin typeface="-apple-system"/>
              </a:rPr>
              <a:t>6 </a:t>
            </a:r>
            <a:r>
              <a:rPr lang="zh-CN" altLang="en-US" b="0" i="0" dirty="0">
                <a:solidFill>
                  <a:srgbClr val="121212"/>
                </a:solidFill>
                <a:effectLst/>
                <a:latin typeface="-apple-system"/>
              </a:rPr>
              <a:t>个 </a:t>
            </a:r>
            <a:r>
              <a:rPr lang="en-US" altLang="zh-CN" b="0" i="0" dirty="0">
                <a:solidFill>
                  <a:srgbClr val="121212"/>
                </a:solidFill>
                <a:effectLst/>
                <a:latin typeface="-apple-system"/>
              </a:rPr>
              <a:t>block</a:t>
            </a:r>
            <a:r>
              <a:rPr lang="zh-CN" altLang="en-US" b="0" i="0" dirty="0" smtClean="0">
                <a:solidFill>
                  <a:srgbClr val="121212"/>
                </a:solidFill>
                <a:effectLst/>
                <a:latin typeface="-apple-system"/>
              </a:rPr>
              <a:t>。</a:t>
            </a:r>
            <a:endParaRPr lang="en-US" altLang="zh-CN" b="0" i="0" dirty="0" smtClean="0">
              <a:solidFill>
                <a:srgbClr val="121212"/>
              </a:solidFill>
              <a:effectLst/>
              <a:latin typeface="-apple-system"/>
            </a:endParaRPr>
          </a:p>
          <a:p>
            <a:endParaRPr lang="en-US" altLang="zh-TW" sz="1200" b="0" i="0" kern="0" dirty="0" smtClean="0">
              <a:solidFill>
                <a:srgbClr val="121212"/>
              </a:solidFill>
              <a:effectLst/>
              <a:latin typeface="-apple-system"/>
            </a:endParaRPr>
          </a:p>
          <a:p>
            <a:r>
              <a:rPr lang="zh-CN" altLang="en-US" dirty="0" smtClean="0"/>
              <a:t>在</a:t>
            </a:r>
            <a:r>
              <a:rPr lang="en-US" altLang="zh-CN" dirty="0" smtClean="0"/>
              <a:t>Transformer</a:t>
            </a:r>
            <a:r>
              <a:rPr lang="zh-CN" altLang="en-US" dirty="0" smtClean="0"/>
              <a:t>模型中，</a:t>
            </a:r>
            <a:r>
              <a:rPr lang="en-US" altLang="zh-CN" b="1" dirty="0" smtClean="0"/>
              <a:t>shifted right</a:t>
            </a:r>
            <a:r>
              <a:rPr lang="zh-CN" altLang="en-US" dirty="0" smtClean="0"/>
              <a:t>（右移）通常指的是在训练生成式模型（如</a:t>
            </a:r>
            <a:r>
              <a:rPr lang="en-US" altLang="zh-CN" dirty="0" smtClean="0"/>
              <a:t>GPT</a:t>
            </a:r>
            <a:r>
              <a:rPr lang="zh-CN" altLang="en-US" dirty="0" smtClean="0"/>
              <a:t>系列）时，对输入序列的处理方式。具体来说，这种方法用于准备模型的输入，以便在预测下一个词时，能够有效地利用上下文信息。</a:t>
            </a:r>
            <a:endParaRPr lang="en-US" altLang="zh-CN" dirty="0" smtClean="0"/>
          </a:p>
          <a:p>
            <a:endParaRPr lang="en-US" altLang="zh-TW" sz="1200" kern="0" dirty="0" smtClean="0"/>
          </a:p>
          <a:p>
            <a:r>
              <a:rPr lang="zh-CN" altLang="en-US" dirty="0" smtClean="0">
                <a:effectLst/>
              </a:rPr>
              <a:t>在 </a:t>
            </a:r>
            <a:r>
              <a:rPr lang="en-US" altLang="zh-CN" dirty="0" smtClean="0">
                <a:effectLst/>
              </a:rPr>
              <a:t>Transformer </a:t>
            </a:r>
            <a:r>
              <a:rPr lang="zh-CN" altLang="en-US" dirty="0" smtClean="0">
                <a:effectLst/>
              </a:rPr>
              <a:t>模型中，特别是在解码器部分，输出通常会进行右移（</a:t>
            </a:r>
            <a:r>
              <a:rPr lang="en-US" altLang="zh-CN" dirty="0" smtClean="0">
                <a:effectLst/>
              </a:rPr>
              <a:t>shifted right</a:t>
            </a:r>
            <a:r>
              <a:rPr lang="zh-CN" altLang="en-US" dirty="0" smtClean="0">
                <a:effectLst/>
              </a:rPr>
              <a:t>）操作。这是一个重要的设计选择，主要有以下几个原因：</a:t>
            </a:r>
          </a:p>
          <a:p>
            <a:r>
              <a:rPr lang="zh-CN" altLang="en-US" sz="1200" b="0" i="0" kern="1200" dirty="0" smtClean="0">
                <a:solidFill>
                  <a:schemeClr val="tx1"/>
                </a:solidFill>
                <a:effectLst/>
                <a:latin typeface="+mn-lt"/>
                <a:ea typeface="+mn-ea"/>
                <a:cs typeface="+mn-cs"/>
              </a:rPr>
              <a:t>自回归生成</a:t>
            </a:r>
          </a:p>
          <a:p>
            <a:pPr lvl="1"/>
            <a:r>
              <a:rPr lang="en-US" altLang="zh-CN" sz="1200" b="0" i="0" kern="1200" dirty="0" smtClean="0">
                <a:solidFill>
                  <a:schemeClr val="tx1"/>
                </a:solidFill>
                <a:effectLst/>
                <a:latin typeface="+mn-lt"/>
                <a:ea typeface="+mn-ea"/>
                <a:cs typeface="+mn-cs"/>
              </a:rPr>
              <a:t>Transformer </a:t>
            </a:r>
            <a:r>
              <a:rPr lang="zh-CN" altLang="en-US" sz="1200" b="0" i="0" kern="1200" dirty="0" smtClean="0">
                <a:solidFill>
                  <a:schemeClr val="tx1"/>
                </a:solidFill>
                <a:effectLst/>
                <a:latin typeface="+mn-lt"/>
                <a:ea typeface="+mn-ea"/>
                <a:cs typeface="+mn-cs"/>
              </a:rPr>
              <a:t>解码器是自回归的，即在生成每个单词时，只能看到之前生成的单词。</a:t>
            </a:r>
          </a:p>
          <a:p>
            <a:pPr lvl="1"/>
            <a:r>
              <a:rPr lang="zh-CN" altLang="en-US" sz="1200" b="0" i="0" kern="1200" dirty="0" smtClean="0">
                <a:solidFill>
                  <a:schemeClr val="tx1"/>
                </a:solidFill>
                <a:effectLst/>
                <a:latin typeface="+mn-lt"/>
                <a:ea typeface="+mn-ea"/>
                <a:cs typeface="+mn-cs"/>
              </a:rPr>
              <a:t>右移确保模型在预测下一个单词时，不会</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看到</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当前位置或未来位置的单词。</a:t>
            </a:r>
          </a:p>
          <a:p>
            <a:r>
              <a:rPr lang="zh-CN" altLang="en-US" sz="1200" b="0" i="0" kern="1200" dirty="0" smtClean="0">
                <a:solidFill>
                  <a:schemeClr val="tx1"/>
                </a:solidFill>
                <a:effectLst/>
                <a:latin typeface="+mn-lt"/>
                <a:ea typeface="+mn-ea"/>
                <a:cs typeface="+mn-cs"/>
              </a:rPr>
              <a:t>避免信息泄露</a:t>
            </a:r>
          </a:p>
          <a:p>
            <a:pPr lvl="1"/>
            <a:r>
              <a:rPr lang="zh-CN" altLang="en-US" sz="1200" b="0" i="0" kern="1200" dirty="0" smtClean="0">
                <a:solidFill>
                  <a:schemeClr val="tx1"/>
                </a:solidFill>
                <a:effectLst/>
                <a:latin typeface="+mn-lt"/>
                <a:ea typeface="+mn-ea"/>
                <a:cs typeface="+mn-cs"/>
              </a:rPr>
              <a:t>如果不进行右移，模型可能会直接复制输入，而不是学习预测下一个单词。</a:t>
            </a:r>
          </a:p>
          <a:p>
            <a:pPr lvl="1"/>
            <a:r>
              <a:rPr lang="zh-CN" altLang="en-US" sz="1200" b="0" i="0" kern="1200" dirty="0" smtClean="0">
                <a:solidFill>
                  <a:schemeClr val="tx1"/>
                </a:solidFill>
                <a:effectLst/>
                <a:latin typeface="+mn-lt"/>
                <a:ea typeface="+mn-ea"/>
                <a:cs typeface="+mn-cs"/>
              </a:rPr>
              <a:t>右移创建了一个时间步的延迟，防止模型在训练时访问未来信息。</a:t>
            </a:r>
          </a:p>
          <a:p>
            <a:r>
              <a:rPr lang="zh-CN" altLang="en-US" sz="1200" b="0" i="0" kern="1200" dirty="0" smtClean="0">
                <a:solidFill>
                  <a:schemeClr val="tx1"/>
                </a:solidFill>
                <a:effectLst/>
                <a:latin typeface="+mn-lt"/>
                <a:ea typeface="+mn-ea"/>
                <a:cs typeface="+mn-cs"/>
              </a:rPr>
              <a:t>训练和推理一致性</a:t>
            </a:r>
          </a:p>
          <a:p>
            <a:pPr lvl="1"/>
            <a:r>
              <a:rPr lang="zh-CN" altLang="en-US" sz="1200" b="0" i="0" kern="1200" dirty="0" smtClean="0">
                <a:solidFill>
                  <a:schemeClr val="tx1"/>
                </a:solidFill>
                <a:effectLst/>
                <a:latin typeface="+mn-lt"/>
                <a:ea typeface="+mn-ea"/>
                <a:cs typeface="+mn-cs"/>
              </a:rPr>
              <a:t>在训练时使用右移，使得模型学习到在每个时间步只依赖于先前的输出。</a:t>
            </a:r>
          </a:p>
          <a:p>
            <a:pPr lvl="1"/>
            <a:r>
              <a:rPr lang="zh-CN" altLang="en-US" sz="1200" b="0" i="0" kern="1200" dirty="0" smtClean="0">
                <a:solidFill>
                  <a:schemeClr val="tx1"/>
                </a:solidFill>
                <a:effectLst/>
                <a:latin typeface="+mn-lt"/>
                <a:ea typeface="+mn-ea"/>
                <a:cs typeface="+mn-cs"/>
              </a:rPr>
              <a:t>这与推理时的行为一致，因为在推理时，模型只能使用已生成的部分来预测下一个单词。</a:t>
            </a:r>
          </a:p>
          <a:p>
            <a:r>
              <a:rPr lang="zh-CN" altLang="en-US" sz="1200" b="0" i="0" kern="1200" dirty="0" smtClean="0">
                <a:solidFill>
                  <a:schemeClr val="tx1"/>
                </a:solidFill>
                <a:effectLst/>
                <a:latin typeface="+mn-lt"/>
                <a:ea typeface="+mn-ea"/>
                <a:cs typeface="+mn-cs"/>
              </a:rPr>
              <a:t/>
            </a:r>
            <a:br>
              <a:rPr lang="zh-CN" altLang="en-US" sz="1200" b="0" i="0" kern="1200" dirty="0" smtClean="0">
                <a:solidFill>
                  <a:schemeClr val="tx1"/>
                </a:solidFill>
                <a:effectLst/>
                <a:latin typeface="+mn-lt"/>
                <a:ea typeface="+mn-ea"/>
                <a:cs typeface="+mn-cs"/>
              </a:rPr>
            </a:br>
            <a:endParaRPr lang="zh-TW" altLang="en-US" sz="1200" kern="0" dirty="0"/>
          </a:p>
        </p:txBody>
      </p:sp>
      <p:sp>
        <p:nvSpPr>
          <p:cNvPr id="4" name="灯片编号占位符 3"/>
          <p:cNvSpPr>
            <a:spLocks noGrp="1"/>
          </p:cNvSpPr>
          <p:nvPr>
            <p:ph type="sldNum" sz="quarter" idx="5"/>
          </p:nvPr>
        </p:nvSpPr>
        <p:spPr/>
        <p:txBody>
          <a:bodyPr/>
          <a:lstStyle/>
          <a:p>
            <a:pPr marL="0" marR="0" lvl="0" indent="0" algn="r" defTabSz="966788" rtl="0" eaLnBrk="1" fontAlgn="base" latinLnBrk="0" hangingPunct="1">
              <a:lnSpc>
                <a:spcPct val="100000"/>
              </a:lnSpc>
              <a:spcBef>
                <a:spcPct val="0"/>
              </a:spcBef>
              <a:spcAft>
                <a:spcPct val="0"/>
              </a:spcAft>
              <a:buClrTx/>
              <a:buSzTx/>
              <a:buFontTx/>
              <a:buNone/>
              <a:tabLst/>
              <a:defRPr/>
            </a:pPr>
            <a:fld id="{0A3C37BE-C303-496D-B5CD-85F2937540FC}" type="slidenum">
              <a:rPr kumimoji="0" lang="en-US" altLang="zh-CN" sz="1300" b="0" i="0" u="none" strike="noStrike" kern="1200" cap="none" spc="0" normalizeH="0" baseline="0" noProof="0" smtClean="0">
                <a:ln>
                  <a:noFill/>
                </a:ln>
                <a:solidFill>
                  <a:srgbClr val="000000"/>
                </a:solidFill>
                <a:effectLst/>
                <a:uLnTx/>
                <a:uFillTx/>
                <a:latin typeface="Arial" charset="0"/>
                <a:ea typeface="宋体" panose="02010600030101010101" pitchFamily="2" charset="-122"/>
                <a:cs typeface="+mn-cs"/>
              </a:rPr>
              <a:pPr marL="0" marR="0" lvl="0" indent="0" algn="r" defTabSz="966788" rtl="0" eaLnBrk="1" fontAlgn="base" latinLnBrk="0" hangingPunct="1">
                <a:lnSpc>
                  <a:spcPct val="100000"/>
                </a:lnSpc>
                <a:spcBef>
                  <a:spcPct val="0"/>
                </a:spcBef>
                <a:spcAft>
                  <a:spcPct val="0"/>
                </a:spcAft>
                <a:buClrTx/>
                <a:buSzTx/>
                <a:buFontTx/>
                <a:buNone/>
                <a:tabLst/>
                <a:defRPr/>
              </a:pPr>
              <a:t>28</a:t>
            </a:fld>
            <a:endParaRPr kumimoji="0" lang="en-US" altLang="zh-CN" sz="1300" b="0" i="0" u="none" strike="noStrike" kern="1200" cap="none" spc="0" normalizeH="0" baseline="0" noProof="0" dirty="0">
              <a:ln>
                <a:noFill/>
              </a:ln>
              <a:solidFill>
                <a:srgbClr val="000000"/>
              </a:solidFill>
              <a:effectLst/>
              <a:uLnTx/>
              <a:uFillTx/>
              <a:latin typeface="Arial" charset="0"/>
              <a:ea typeface="宋体" panose="02010600030101010101" pitchFamily="2" charset="-122"/>
              <a:cs typeface="+mn-cs"/>
            </a:endParaRPr>
          </a:p>
        </p:txBody>
      </p:sp>
    </p:spTree>
    <p:extLst>
      <p:ext uri="{BB962C8B-B14F-4D97-AF65-F5344CB8AC3E}">
        <p14:creationId xmlns:p14="http://schemas.microsoft.com/office/powerpoint/2010/main" val="6359725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charset="0"/>
                <a:ea typeface="+mn-ea"/>
                <a:cs typeface="+mn-cs"/>
              </a:rPr>
              <a:t>attention</a:t>
            </a:r>
            <a:r>
              <a:rPr lang="zh-CN" altLang="en-US" sz="1200" b="0" i="0" kern="1200" dirty="0" smtClean="0">
                <a:solidFill>
                  <a:schemeClr val="tx1"/>
                </a:solidFill>
                <a:effectLst/>
                <a:latin typeface="Arial" charset="0"/>
                <a:ea typeface="+mn-ea"/>
                <a:cs typeface="+mn-cs"/>
              </a:rPr>
              <a:t>的图示，表示的是</a:t>
            </a:r>
            <a:r>
              <a:rPr lang="en-US" altLang="zh-CN" sz="1200" b="0" i="0" kern="1200" dirty="0" smtClean="0">
                <a:solidFill>
                  <a:schemeClr val="tx1"/>
                </a:solidFill>
                <a:effectLst/>
                <a:latin typeface="Arial" charset="0"/>
                <a:ea typeface="+mn-ea"/>
                <a:cs typeface="+mn-cs"/>
              </a:rPr>
              <a:t>it</a:t>
            </a:r>
            <a:r>
              <a:rPr lang="zh-CN" altLang="en-US" sz="1200" b="0" i="0" kern="1200" dirty="0" smtClean="0">
                <a:solidFill>
                  <a:schemeClr val="tx1"/>
                </a:solidFill>
                <a:effectLst/>
                <a:latin typeface="Arial" charset="0"/>
                <a:ea typeface="+mn-ea"/>
                <a:cs typeface="+mn-cs"/>
              </a:rPr>
              <a:t>对应的</a:t>
            </a:r>
            <a:r>
              <a:rPr lang="en-US" altLang="zh-CN" sz="1200" b="0" i="0" kern="1200" dirty="0" smtClean="0">
                <a:solidFill>
                  <a:schemeClr val="tx1"/>
                </a:solidFill>
                <a:effectLst/>
                <a:latin typeface="Arial" charset="0"/>
                <a:ea typeface="+mn-ea"/>
                <a:cs typeface="+mn-cs"/>
              </a:rPr>
              <a:t>attention</a:t>
            </a:r>
            <a:r>
              <a:rPr lang="zh-CN" altLang="en-US" sz="1200" b="0" i="0" kern="1200" dirty="0" smtClean="0">
                <a:solidFill>
                  <a:schemeClr val="tx1"/>
                </a:solidFill>
                <a:effectLst/>
                <a:latin typeface="Arial" charset="0"/>
                <a:ea typeface="+mn-ea"/>
                <a:cs typeface="+mn-cs"/>
              </a:rPr>
              <a:t>，可以看到</a:t>
            </a:r>
            <a:r>
              <a:rPr lang="en-US" altLang="zh-CN" sz="1200" b="0" i="0" kern="1200" dirty="0" smtClean="0">
                <a:solidFill>
                  <a:schemeClr val="tx1"/>
                </a:solidFill>
                <a:effectLst/>
                <a:latin typeface="Arial" charset="0"/>
                <a:ea typeface="+mn-ea"/>
                <a:cs typeface="+mn-cs"/>
              </a:rPr>
              <a:t>the animal</a:t>
            </a:r>
            <a:r>
              <a:rPr lang="zh-CN" altLang="en-US" sz="1200" b="0" i="0" kern="1200" dirty="0" smtClean="0">
                <a:solidFill>
                  <a:schemeClr val="tx1"/>
                </a:solidFill>
                <a:effectLst/>
                <a:latin typeface="Arial" charset="0"/>
                <a:ea typeface="+mn-ea"/>
                <a:cs typeface="+mn-cs"/>
              </a:rPr>
              <a:t>是高亮的，表示</a:t>
            </a:r>
            <a:r>
              <a:rPr lang="en-US" altLang="zh-CN" sz="1200" b="0" i="0" kern="1200" dirty="0" smtClean="0">
                <a:solidFill>
                  <a:schemeClr val="tx1"/>
                </a:solidFill>
                <a:effectLst/>
                <a:latin typeface="Arial" charset="0"/>
                <a:ea typeface="+mn-ea"/>
                <a:cs typeface="+mn-cs"/>
              </a:rPr>
              <a:t>it</a:t>
            </a:r>
            <a:r>
              <a:rPr lang="zh-CN" altLang="en-US" sz="1200" b="0" i="0" kern="1200" dirty="0" smtClean="0">
                <a:solidFill>
                  <a:schemeClr val="tx1"/>
                </a:solidFill>
                <a:effectLst/>
                <a:latin typeface="Arial" charset="0"/>
                <a:ea typeface="+mn-ea"/>
                <a:cs typeface="+mn-cs"/>
              </a:rPr>
              <a:t>指代的是</a:t>
            </a:r>
            <a:r>
              <a:rPr lang="en-US" altLang="zh-CN" sz="1200" b="0" i="0" kern="1200" dirty="0" smtClean="0">
                <a:solidFill>
                  <a:schemeClr val="tx1"/>
                </a:solidFill>
                <a:effectLst/>
                <a:latin typeface="Arial" charset="0"/>
                <a:ea typeface="+mn-ea"/>
                <a:cs typeface="+mn-cs"/>
              </a:rPr>
              <a:t>the animal!</a:t>
            </a:r>
            <a:endParaRPr lang="zh-CN" altLang="en-US" dirty="0"/>
          </a:p>
        </p:txBody>
      </p:sp>
      <p:sp>
        <p:nvSpPr>
          <p:cNvPr id="4" name="灯片编号占位符 3"/>
          <p:cNvSpPr>
            <a:spLocks noGrp="1"/>
          </p:cNvSpPr>
          <p:nvPr>
            <p:ph type="sldNum" sz="quarter" idx="10"/>
          </p:nvPr>
        </p:nvSpPr>
        <p:spPr/>
        <p:txBody>
          <a:bodyPr/>
          <a:lstStyle/>
          <a:p>
            <a:pPr>
              <a:defRPr/>
            </a:pPr>
            <a:fld id="{3656C15A-65A9-4188-BE47-91B53ACA740E}" type="slidenum">
              <a:rPr lang="en-US" smtClean="0"/>
              <a:pPr>
                <a:defRPr/>
              </a:pPr>
              <a:t>29</a:t>
            </a:fld>
            <a:endParaRPr lang="en-US"/>
          </a:p>
        </p:txBody>
      </p:sp>
    </p:spTree>
    <p:extLst>
      <p:ext uri="{BB962C8B-B14F-4D97-AF65-F5344CB8AC3E}">
        <p14:creationId xmlns:p14="http://schemas.microsoft.com/office/powerpoint/2010/main" val="28287381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8113" y="768350"/>
            <a:ext cx="6823075" cy="3838575"/>
          </a:xfrm>
        </p:spPr>
      </p:sp>
      <p:sp>
        <p:nvSpPr>
          <p:cNvPr id="3" name="备注占位符 2"/>
          <p:cNvSpPr>
            <a:spLocks noGrp="1"/>
          </p:cNvSpPr>
          <p:nvPr>
            <p:ph type="body" idx="1"/>
          </p:nvPr>
        </p:nvSpPr>
        <p:spPr/>
        <p:txBody>
          <a:bodyPr/>
          <a:lstStyle/>
          <a:p>
            <a:r>
              <a:rPr lang="en-US" altLang="zh-CN" dirty="0" err="1" smtClean="0"/>
              <a:t>dk</a:t>
            </a:r>
            <a:r>
              <a:rPr lang="zh-CN" altLang="en-US" dirty="0" smtClean="0"/>
              <a:t>是</a:t>
            </a:r>
            <a:r>
              <a:rPr lang="en-US" altLang="zh-CN" dirty="0" smtClean="0"/>
              <a:t>Q</a:t>
            </a:r>
            <a:r>
              <a:rPr lang="zh-CN" altLang="en-US" dirty="0" smtClean="0"/>
              <a:t>、</a:t>
            </a:r>
            <a:r>
              <a:rPr lang="en-US" altLang="zh-CN" dirty="0" smtClean="0"/>
              <a:t>K</a:t>
            </a:r>
            <a:r>
              <a:rPr lang="zh-CN" altLang="en-US" dirty="0" smtClean="0"/>
              <a:t>、</a:t>
            </a:r>
            <a:r>
              <a:rPr lang="en-US" altLang="zh-CN" dirty="0" smtClean="0"/>
              <a:t>V</a:t>
            </a:r>
            <a:r>
              <a:rPr lang="zh-CN" altLang="en-US" dirty="0" smtClean="0"/>
              <a:t>的向量长度，</a:t>
            </a:r>
            <a:r>
              <a:rPr lang="en-US" altLang="zh-CN" dirty="0" smtClean="0"/>
              <a:t>=64</a:t>
            </a:r>
          </a:p>
          <a:p>
            <a:endParaRPr lang="en-US" altLang="zh-CN" dirty="0" smtClean="0"/>
          </a:p>
          <a:p>
            <a:r>
              <a:rPr lang="zh-CN" altLang="en-US" sz="1200" b="0" i="0" kern="1200" dirty="0" smtClean="0">
                <a:solidFill>
                  <a:schemeClr val="tx1"/>
                </a:solidFill>
                <a:effectLst/>
                <a:latin typeface="Arial" charset="0"/>
                <a:ea typeface="+mn-ea"/>
                <a:cs typeface="+mn-cs"/>
              </a:rPr>
              <a:t>其中</a:t>
            </a:r>
            <a:r>
              <a:rPr lang="en-US" altLang="zh-CN" sz="1200" b="0" i="0" kern="1200" dirty="0" smtClean="0">
                <a:solidFill>
                  <a:schemeClr val="tx1"/>
                </a:solidFill>
                <a:effectLst/>
                <a:latin typeface="Arial" charset="0"/>
                <a:ea typeface="+mn-ea"/>
                <a:cs typeface="+mn-cs"/>
              </a:rPr>
              <a:t>Q,K,V</a:t>
            </a:r>
            <a:r>
              <a:rPr lang="zh-CN" altLang="en-US" sz="1200" b="0" i="0" kern="1200" dirty="0" smtClean="0">
                <a:solidFill>
                  <a:schemeClr val="tx1"/>
                </a:solidFill>
                <a:effectLst/>
                <a:latin typeface="Arial" charset="0"/>
                <a:ea typeface="+mn-ea"/>
                <a:cs typeface="+mn-cs"/>
              </a:rPr>
              <a:t>分表表示</a:t>
            </a:r>
            <a:r>
              <a:rPr lang="en-US" altLang="zh-CN" sz="1200" b="0" i="0" kern="1200" dirty="0" smtClean="0">
                <a:solidFill>
                  <a:schemeClr val="tx1"/>
                </a:solidFill>
                <a:effectLst/>
                <a:latin typeface="Arial" charset="0"/>
                <a:ea typeface="+mn-ea"/>
                <a:cs typeface="+mn-cs"/>
              </a:rPr>
              <a:t>queries, keys, values</a:t>
            </a:r>
            <a:r>
              <a:rPr lang="zh-CN" altLang="en-US" sz="1200" b="0" i="0" kern="1200" dirty="0" smtClean="0">
                <a:solidFill>
                  <a:schemeClr val="tx1"/>
                </a:solidFill>
                <a:effectLst/>
                <a:latin typeface="Arial" charset="0"/>
                <a:ea typeface="+mn-ea"/>
                <a:cs typeface="+mn-cs"/>
              </a:rPr>
              <a:t>，  。 本质上就是对每个</a:t>
            </a:r>
            <a:r>
              <a:rPr lang="en-US" altLang="zh-CN" sz="1200" b="0" i="0" kern="1200" dirty="0" smtClean="0">
                <a:solidFill>
                  <a:schemeClr val="tx1"/>
                </a:solidFill>
                <a:effectLst/>
                <a:latin typeface="Arial" charset="0"/>
                <a:ea typeface="+mn-ea"/>
                <a:cs typeface="+mn-cs"/>
              </a:rPr>
              <a:t>query</a:t>
            </a:r>
            <a:r>
              <a:rPr lang="zh-CN" altLang="en-US" sz="1200" b="0" i="0" kern="1200" dirty="0" smtClean="0">
                <a:solidFill>
                  <a:schemeClr val="tx1"/>
                </a:solidFill>
                <a:effectLst/>
                <a:latin typeface="Arial" charset="0"/>
                <a:ea typeface="+mn-ea"/>
                <a:cs typeface="+mn-cs"/>
              </a:rPr>
              <a:t>和</a:t>
            </a:r>
            <a:r>
              <a:rPr lang="en-US" altLang="zh-CN" sz="1200" b="0" i="0" kern="1200" dirty="0" smtClean="0">
                <a:solidFill>
                  <a:schemeClr val="tx1"/>
                </a:solidFill>
                <a:effectLst/>
                <a:latin typeface="Arial" charset="0"/>
                <a:ea typeface="+mn-ea"/>
                <a:cs typeface="+mn-cs"/>
              </a:rPr>
              <a:t>keys</a:t>
            </a:r>
            <a:r>
              <a:rPr lang="zh-CN" altLang="en-US" sz="1200" b="0" i="0" kern="1200" dirty="0" smtClean="0">
                <a:solidFill>
                  <a:schemeClr val="tx1"/>
                </a:solidFill>
                <a:effectLst/>
                <a:latin typeface="Arial" charset="0"/>
                <a:ea typeface="+mn-ea"/>
                <a:cs typeface="+mn-cs"/>
              </a:rPr>
              <a:t>分别做点积，然后对</a:t>
            </a:r>
            <a:r>
              <a:rPr lang="en-US" altLang="zh-CN" sz="1200" b="0" i="0" kern="1200" dirty="0" smtClean="0">
                <a:solidFill>
                  <a:schemeClr val="tx1"/>
                </a:solidFill>
                <a:effectLst/>
                <a:latin typeface="Arial" charset="0"/>
                <a:ea typeface="+mn-ea"/>
                <a:cs typeface="+mn-cs"/>
              </a:rPr>
              <a:t>values</a:t>
            </a:r>
            <a:r>
              <a:rPr lang="zh-CN" altLang="en-US" sz="1200" b="0" i="0" kern="1200" dirty="0" smtClean="0">
                <a:solidFill>
                  <a:schemeClr val="tx1"/>
                </a:solidFill>
                <a:effectLst/>
                <a:latin typeface="Arial" charset="0"/>
                <a:ea typeface="+mn-ea"/>
                <a:cs typeface="+mn-cs"/>
              </a:rPr>
              <a:t>加权求和，权值是对应的</a:t>
            </a:r>
            <a:r>
              <a:rPr lang="en-US" altLang="zh-CN" sz="1200" b="0" i="0" kern="1200" dirty="0" smtClean="0">
                <a:solidFill>
                  <a:schemeClr val="tx1"/>
                </a:solidFill>
                <a:effectLst/>
                <a:latin typeface="Arial" charset="0"/>
                <a:ea typeface="+mn-ea"/>
                <a:cs typeface="+mn-cs"/>
              </a:rPr>
              <a:t>queries</a:t>
            </a:r>
            <a:r>
              <a:rPr lang="zh-CN" altLang="en-US" sz="1200" b="0" i="0" kern="1200" dirty="0" smtClean="0">
                <a:solidFill>
                  <a:schemeClr val="tx1"/>
                </a:solidFill>
                <a:effectLst/>
                <a:latin typeface="Arial" charset="0"/>
                <a:ea typeface="+mn-ea"/>
                <a:cs typeface="+mn-cs"/>
              </a:rPr>
              <a:t>和</a:t>
            </a:r>
            <a:r>
              <a:rPr lang="en-US" altLang="zh-CN" sz="1200" b="0" i="0" kern="1200" dirty="0" smtClean="0">
                <a:solidFill>
                  <a:schemeClr val="tx1"/>
                </a:solidFill>
                <a:effectLst/>
                <a:latin typeface="Arial" charset="0"/>
                <a:ea typeface="+mn-ea"/>
                <a:cs typeface="+mn-cs"/>
              </a:rPr>
              <a:t>keys</a:t>
            </a:r>
            <a:r>
              <a:rPr lang="zh-CN" altLang="en-US" sz="1200" b="0" i="0" kern="1200" dirty="0" smtClean="0">
                <a:solidFill>
                  <a:schemeClr val="tx1"/>
                </a:solidFill>
                <a:effectLst/>
                <a:latin typeface="Arial" charset="0"/>
                <a:ea typeface="+mn-ea"/>
                <a:cs typeface="+mn-cs"/>
              </a:rPr>
              <a:t>的计算结果。</a:t>
            </a:r>
            <a:endParaRPr lang="en-US" altLang="zh-CN" sz="1200" b="0" i="0" kern="1200" dirty="0" smtClean="0">
              <a:solidFill>
                <a:schemeClr val="tx1"/>
              </a:solidFill>
              <a:effectLst/>
              <a:latin typeface="Arial" charset="0"/>
              <a:ea typeface="+mn-ea"/>
              <a:cs typeface="+mn-cs"/>
            </a:endParaRPr>
          </a:p>
          <a:p>
            <a:endParaRPr lang="en-US" altLang="zh-CN" sz="1200" b="0" i="0" kern="1200" dirty="0" smtClean="0">
              <a:solidFill>
                <a:schemeClr val="tx1"/>
              </a:solidFill>
              <a:effectLst/>
              <a:latin typeface="Arial" charset="0"/>
              <a:ea typeface="+mn-ea"/>
              <a:cs typeface="+mn-cs"/>
            </a:endParaRPr>
          </a:p>
          <a:p>
            <a:r>
              <a:rPr lang="zh-CN" altLang="en-US" sz="1200" b="0" i="0" kern="1200" dirty="0" smtClean="0">
                <a:solidFill>
                  <a:schemeClr val="tx1"/>
                </a:solidFill>
                <a:effectLst/>
                <a:latin typeface="Arial" charset="0"/>
                <a:ea typeface="+mn-ea"/>
                <a:cs typeface="+mn-cs"/>
              </a:rPr>
              <a:t>首先要计算</a:t>
            </a:r>
            <a:r>
              <a:rPr lang="en-US" altLang="zh-CN" sz="1200" b="0" i="0" kern="1200" dirty="0" smtClean="0">
                <a:solidFill>
                  <a:schemeClr val="tx1"/>
                </a:solidFill>
                <a:effectLst/>
                <a:latin typeface="Arial" charset="0"/>
                <a:ea typeface="+mn-ea"/>
                <a:cs typeface="+mn-cs"/>
              </a:rPr>
              <a:t>Q</a:t>
            </a:r>
            <a:r>
              <a:rPr lang="zh-CN" altLang="en-US" sz="1200" b="0" i="0" kern="1200" dirty="0" smtClean="0">
                <a:solidFill>
                  <a:schemeClr val="tx1"/>
                </a:solidFill>
                <a:effectLst/>
                <a:latin typeface="Arial" charset="0"/>
                <a:ea typeface="+mn-ea"/>
                <a:cs typeface="+mn-cs"/>
              </a:rPr>
              <a:t>与</a:t>
            </a:r>
            <a:r>
              <a:rPr lang="en-US" altLang="zh-CN" sz="1200" b="0" i="0" kern="1200" dirty="0" smtClean="0">
                <a:solidFill>
                  <a:schemeClr val="tx1"/>
                </a:solidFill>
                <a:effectLst/>
                <a:latin typeface="Arial" charset="0"/>
                <a:ea typeface="+mn-ea"/>
                <a:cs typeface="+mn-cs"/>
              </a:rPr>
              <a:t>K</a:t>
            </a:r>
            <a:r>
              <a:rPr lang="zh-CN" altLang="en-US" sz="1200" b="0" i="0" kern="1200" dirty="0" smtClean="0">
                <a:solidFill>
                  <a:schemeClr val="tx1"/>
                </a:solidFill>
                <a:effectLst/>
                <a:latin typeface="Arial" charset="0"/>
                <a:ea typeface="+mn-ea"/>
                <a:cs typeface="+mn-cs"/>
              </a:rPr>
              <a:t>之间的点乘，然后为了防止其结果过大，会除以一个尺度标度 ，维度过大可能导致方差较大，较小的值相比较大的值能更快的收敛和学习效果。然后再乘以矩阵</a:t>
            </a:r>
            <a:r>
              <a:rPr lang="en-US" altLang="zh-CN" sz="1200" b="0" i="0" kern="1200" dirty="0" smtClean="0">
                <a:solidFill>
                  <a:schemeClr val="tx1"/>
                </a:solidFill>
                <a:effectLst/>
                <a:latin typeface="Arial" charset="0"/>
                <a:ea typeface="+mn-ea"/>
                <a:cs typeface="+mn-cs"/>
              </a:rPr>
              <a:t>V</a:t>
            </a:r>
            <a:r>
              <a:rPr lang="zh-CN" altLang="en-US" sz="1200" b="0" i="0" kern="1200" dirty="0" smtClean="0">
                <a:solidFill>
                  <a:schemeClr val="tx1"/>
                </a:solidFill>
                <a:effectLst/>
                <a:latin typeface="Arial" charset="0"/>
                <a:ea typeface="+mn-ea"/>
                <a:cs typeface="+mn-cs"/>
              </a:rPr>
              <a:t>就得到权重求和的表示。</a:t>
            </a:r>
            <a:endParaRPr lang="en-US" altLang="zh-CN" sz="1200" b="0" i="0" kern="1200" dirty="0" smtClean="0">
              <a:solidFill>
                <a:schemeClr val="tx1"/>
              </a:solidFill>
              <a:effectLst/>
              <a:latin typeface="Arial" charset="0"/>
              <a:ea typeface="+mn-ea"/>
              <a:cs typeface="+mn-cs"/>
            </a:endParaRPr>
          </a:p>
          <a:p>
            <a:endParaRPr lang="en-US" altLang="zh-CN" sz="1200" b="0" i="0" kern="1200" dirty="0" smtClean="0">
              <a:solidFill>
                <a:schemeClr val="tx1"/>
              </a:solidFill>
              <a:effectLst/>
              <a:latin typeface="Arial" charset="0"/>
              <a:ea typeface="+mn-ea"/>
              <a:cs typeface="+mn-cs"/>
            </a:endParaRPr>
          </a:p>
          <a:p>
            <a:r>
              <a:rPr lang="en-US" altLang="zh-CN" sz="1200" b="0" i="0" kern="1200" dirty="0" err="1" smtClean="0">
                <a:solidFill>
                  <a:schemeClr val="tx1"/>
                </a:solidFill>
                <a:effectLst/>
                <a:latin typeface="Arial" charset="0"/>
                <a:ea typeface="+mn-ea"/>
                <a:cs typeface="+mn-cs"/>
              </a:rPr>
              <a:t>Softmax</a:t>
            </a:r>
            <a:r>
              <a:rPr lang="en-US" altLang="zh-CN" sz="1200" b="0" i="0" kern="1200" dirty="0" smtClean="0">
                <a:solidFill>
                  <a:schemeClr val="tx1"/>
                </a:solidFill>
                <a:effectLst/>
                <a:latin typeface="Arial" charset="0"/>
                <a:ea typeface="+mn-ea"/>
                <a:cs typeface="+mn-cs"/>
              </a:rPr>
              <a:t>: (e^14)/(e^14+e^12)</a:t>
            </a:r>
            <a:endParaRPr lang="zh-CN" altLang="en-US" dirty="0"/>
          </a:p>
        </p:txBody>
      </p:sp>
      <p:sp>
        <p:nvSpPr>
          <p:cNvPr id="4" name="灯片编号占位符 3"/>
          <p:cNvSpPr>
            <a:spLocks noGrp="1"/>
          </p:cNvSpPr>
          <p:nvPr>
            <p:ph type="sldNum" sz="quarter" idx="10"/>
          </p:nvPr>
        </p:nvSpPr>
        <p:spPr/>
        <p:txBody>
          <a:bodyPr/>
          <a:lstStyle/>
          <a:p>
            <a:pPr>
              <a:defRPr/>
            </a:pPr>
            <a:fld id="{3656C15A-65A9-4188-BE47-91B53ACA740E}" type="slidenum">
              <a:rPr lang="en-US" smtClean="0"/>
              <a:pPr>
                <a:defRPr/>
              </a:pPr>
              <a:t>30</a:t>
            </a:fld>
            <a:endParaRPr lang="en-US"/>
          </a:p>
        </p:txBody>
      </p:sp>
    </p:spTree>
    <p:extLst>
      <p:ext uri="{BB962C8B-B14F-4D97-AF65-F5344CB8AC3E}">
        <p14:creationId xmlns:p14="http://schemas.microsoft.com/office/powerpoint/2010/main" val="8868004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FA7FB16-436E-4C3A-AC93-D953BF9B5BF3}" type="slidenum">
              <a:rPr lang="zh-CN" altLang="en-US" smtClean="0"/>
              <a:t>35</a:t>
            </a:fld>
            <a:endParaRPr lang="zh-CN" altLang="en-US"/>
          </a:p>
        </p:txBody>
      </p:sp>
    </p:spTree>
    <p:extLst>
      <p:ext uri="{BB962C8B-B14F-4D97-AF65-F5344CB8AC3E}">
        <p14:creationId xmlns:p14="http://schemas.microsoft.com/office/powerpoint/2010/main" val="872704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0" y="1044578"/>
            <a:ext cx="12192000" cy="1470025"/>
          </a:xfrm>
        </p:spPr>
        <p:txBody>
          <a:bodyPr/>
          <a:lstStyle>
            <a:lvl1pPr>
              <a:defRPr>
                <a:solidFill>
                  <a:schemeClr val="accent2"/>
                </a:solidFill>
              </a:defRPr>
            </a:lvl1pPr>
          </a:lstStyle>
          <a:p>
            <a:r>
              <a:rPr lang="en-US"/>
              <a:t>Click to edit Master title style</a:t>
            </a:r>
          </a:p>
        </p:txBody>
      </p:sp>
      <p:sp>
        <p:nvSpPr>
          <p:cNvPr id="5123" name="Rectangle 3"/>
          <p:cNvSpPr>
            <a:spLocks noGrp="1" noChangeArrowheads="1"/>
          </p:cNvSpPr>
          <p:nvPr>
            <p:ph type="subTitle" idx="1"/>
          </p:nvPr>
        </p:nvSpPr>
        <p:spPr>
          <a:xfrm>
            <a:off x="0" y="3657600"/>
            <a:ext cx="12192000" cy="1524000"/>
          </a:xfrm>
        </p:spPr>
        <p:txBody>
          <a:bodyPr/>
          <a:lstStyle>
            <a:lvl1pPr marL="0" indent="0" algn="ctr">
              <a:buFont typeface="Wingdings" pitchFamily="2" charset="2"/>
              <a:buNone/>
              <a:defRPr>
                <a:solidFill>
                  <a:schemeClr val="tx1"/>
                </a:solidFill>
              </a:defRPr>
            </a:lvl1pPr>
          </a:lstStyle>
          <a:p>
            <a:r>
              <a:rPr lang="en-US"/>
              <a:t>Click to edit Master subtitle style</a:t>
            </a:r>
            <a:endParaRPr lang="en-US" dirty="0"/>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pPr>
              <a:defRPr/>
            </a:pPr>
            <a:fld id="{21A8DC11-8EFA-4DB0-87BB-57578885DC12}"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BABA664-188E-4D15-A720-E7568CF80E35}"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178" indent="0">
              <a:buNone/>
              <a:defRPr sz="1900"/>
            </a:lvl2pPr>
            <a:lvl3pPr marL="914354" indent="0">
              <a:buNone/>
              <a:defRPr sz="1600"/>
            </a:lvl3pPr>
            <a:lvl4pPr marL="1371532" indent="0">
              <a:buNone/>
              <a:defRPr sz="1500"/>
            </a:lvl4pPr>
            <a:lvl5pPr marL="1828709" indent="0">
              <a:buNone/>
              <a:defRPr sz="1500"/>
            </a:lvl5pPr>
            <a:lvl6pPr marL="2285886" indent="0">
              <a:buNone/>
              <a:defRPr sz="1500"/>
            </a:lvl6pPr>
            <a:lvl7pPr marL="2743062" indent="0">
              <a:buNone/>
              <a:defRPr sz="1500"/>
            </a:lvl7pPr>
            <a:lvl8pPr marL="3200240" indent="0">
              <a:buNone/>
              <a:defRPr sz="1500"/>
            </a:lvl8pPr>
            <a:lvl9pPr marL="3657418" indent="0">
              <a:buNone/>
              <a:defRPr sz="15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BABBBF8-8C7C-468A-A607-4A79223C5BBC}"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900"/>
            </a:lvl4pPr>
            <a:lvl5pPr>
              <a:defRPr sz="1900"/>
            </a:lvl5pPr>
            <a:lvl6pPr>
              <a:defRPr sz="1900"/>
            </a:lvl6pPr>
            <a:lvl7pPr>
              <a:defRPr sz="1900"/>
            </a:lvl7pPr>
            <a:lvl8pPr>
              <a:defRPr sz="1900"/>
            </a:lvl8pPr>
            <a:lvl9pPr>
              <a:defRPr sz="1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FDB447F-1489-40A1-8505-7B2E946D4D4C}"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3"/>
            <a:ext cx="4040188" cy="639763"/>
          </a:xfrm>
        </p:spPr>
        <p:txBody>
          <a:bodyPr anchor="b"/>
          <a:lstStyle>
            <a:lvl1pPr marL="0" indent="0">
              <a:buNone/>
              <a:defRPr sz="2400" b="1"/>
            </a:lvl1pPr>
            <a:lvl2pPr marL="457178" indent="0">
              <a:buNone/>
              <a:defRPr sz="2000" b="1"/>
            </a:lvl2pPr>
            <a:lvl3pPr marL="914354" indent="0">
              <a:buNone/>
              <a:defRPr sz="19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5"/>
            <a:ext cx="4040188" cy="3951288"/>
          </a:xfrm>
        </p:spPr>
        <p:txBody>
          <a:bodyPr/>
          <a:lstStyle>
            <a:lvl1pPr>
              <a:defRPr sz="2400"/>
            </a:lvl1pPr>
            <a:lvl2pPr>
              <a:defRPr sz="2000"/>
            </a:lvl2pPr>
            <a:lvl3pPr>
              <a:defRPr sz="19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178" indent="0">
              <a:buNone/>
              <a:defRPr sz="2000" b="1"/>
            </a:lvl2pPr>
            <a:lvl3pPr marL="914354" indent="0">
              <a:buNone/>
              <a:defRPr sz="1900" b="1"/>
            </a:lvl3pPr>
            <a:lvl4pPr marL="1371532" indent="0">
              <a:buNone/>
              <a:defRPr sz="1600" b="1"/>
            </a:lvl4pPr>
            <a:lvl5pPr marL="1828709" indent="0">
              <a:buNone/>
              <a:defRPr sz="1600" b="1"/>
            </a:lvl5pPr>
            <a:lvl6pPr marL="2285886" indent="0">
              <a:buNone/>
              <a:defRPr sz="1600" b="1"/>
            </a:lvl6pPr>
            <a:lvl7pPr marL="2743062" indent="0">
              <a:buNone/>
              <a:defRPr sz="1600" b="1"/>
            </a:lvl7pPr>
            <a:lvl8pPr marL="3200240" indent="0">
              <a:buNone/>
              <a:defRPr sz="1600" b="1"/>
            </a:lvl8pPr>
            <a:lvl9pPr marL="3657418"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9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0D6EAE0D-0584-46A6-858B-7BBA3266028D}"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8E30F6D5-C5C6-48F0-B3FD-F4C936872960}"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448BB04D-0C1C-4B1B-B2D0-898EDBE9C15A}"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1" y="273053"/>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2" y="1435103"/>
            <a:ext cx="3008313" cy="4691063"/>
          </a:xfrm>
        </p:spPr>
        <p:txBody>
          <a:bodyPr/>
          <a:lstStyle>
            <a:lvl1pPr marL="0" indent="0">
              <a:buNone/>
              <a:defRPr sz="1500"/>
            </a:lvl1pPr>
            <a:lvl2pPr marL="457178" indent="0">
              <a:buNone/>
              <a:defRPr sz="1200"/>
            </a:lvl2pPr>
            <a:lvl3pPr marL="914354" indent="0">
              <a:buNone/>
              <a:defRPr sz="11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86F9B20-1798-443C-80EC-8A3FB7CF1F4E}"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9"/>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178" indent="0">
              <a:buNone/>
              <a:defRPr sz="2800"/>
            </a:lvl2pPr>
            <a:lvl3pPr marL="914354" indent="0">
              <a:buNone/>
              <a:defRPr sz="2400"/>
            </a:lvl3pPr>
            <a:lvl4pPr marL="1371532" indent="0">
              <a:buNone/>
              <a:defRPr sz="2000"/>
            </a:lvl4pPr>
            <a:lvl5pPr marL="1828709" indent="0">
              <a:buNone/>
              <a:defRPr sz="2000"/>
            </a:lvl5pPr>
            <a:lvl6pPr marL="2285886" indent="0">
              <a:buNone/>
              <a:defRPr sz="2000"/>
            </a:lvl6pPr>
            <a:lvl7pPr marL="2743062" indent="0">
              <a:buNone/>
              <a:defRPr sz="2000"/>
            </a:lvl7pPr>
            <a:lvl8pPr marL="3200240" indent="0">
              <a:buNone/>
              <a:defRPr sz="2000"/>
            </a:lvl8pPr>
            <a:lvl9pPr marL="3657418"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9"/>
            <a:ext cx="5486400" cy="804863"/>
          </a:xfrm>
        </p:spPr>
        <p:txBody>
          <a:bodyPr/>
          <a:lstStyle>
            <a:lvl1pPr marL="0" indent="0">
              <a:buNone/>
              <a:defRPr sz="1500"/>
            </a:lvl1pPr>
            <a:lvl2pPr marL="457178" indent="0">
              <a:buNone/>
              <a:defRPr sz="1200"/>
            </a:lvl2pPr>
            <a:lvl3pPr marL="914354" indent="0">
              <a:buNone/>
              <a:defRPr sz="1100"/>
            </a:lvl3pPr>
            <a:lvl4pPr marL="1371532" indent="0">
              <a:buNone/>
              <a:defRPr sz="900"/>
            </a:lvl4pPr>
            <a:lvl5pPr marL="1828709" indent="0">
              <a:buNone/>
              <a:defRPr sz="900"/>
            </a:lvl5pPr>
            <a:lvl6pPr marL="2285886" indent="0">
              <a:buNone/>
              <a:defRPr sz="900"/>
            </a:lvl6pPr>
            <a:lvl7pPr marL="2743062" indent="0">
              <a:buNone/>
              <a:defRPr sz="900"/>
            </a:lvl7pPr>
            <a:lvl8pPr marL="3200240" indent="0">
              <a:buNone/>
              <a:defRPr sz="900"/>
            </a:lvl8pPr>
            <a:lvl9pPr marL="3657418"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D38F80A-C317-4557-8A62-ED43EB137ECD}"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AAFC7BAE-4B66-4EEC-B79A-1A698F219526}"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7CE1271A-B7D9-48EC-BE1B-7049E40E98C9}" type="slidenum">
              <a:rPr lang="en-US" smtClean="0"/>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rtl="0"/>
            <a:r>
              <a:rPr lang="zh-CN" altLang="en-US" sz="1200" b="1" i="1" noProof="0" dirty="0">
                <a:latin typeface="微软雅黑" panose="020B0503020204020204" pitchFamily="34" charset="-122"/>
                <a:ea typeface="微软雅黑" panose="020B0503020204020204" pitchFamily="34" charset="-122"/>
                <a:cs typeface="Arial" pitchFamily="34" charset="0"/>
              </a:rPr>
              <a:t>注意：</a:t>
            </a:r>
          </a:p>
          <a:p>
            <a:pPr rtl="0"/>
            <a:r>
              <a:rPr lang="zh-CN" altLang="en-US" sz="1200" i="1" noProof="0" dirty="0">
                <a:latin typeface="微软雅黑" panose="020B0503020204020204" pitchFamily="34" charset="-122"/>
                <a:ea typeface="微软雅黑" panose="020B0503020204020204" pitchFamily="34" charset="-122"/>
                <a:cs typeface="Arial" pitchFamily="34" charset="0"/>
              </a:rPr>
              <a:t>若要更改此幻灯片上的图像，请选择该图片，并将其删除。然后单击占位符中的图片图标以插入自己的图像。</a:t>
            </a:r>
          </a:p>
        </p:txBody>
      </p:sp>
    </p:spTree>
    <p:extLst>
      <p:ext uri="{BB962C8B-B14F-4D97-AF65-F5344CB8AC3E}">
        <p14:creationId xmlns:p14="http://schemas.microsoft.com/office/powerpoint/2010/main" val="1988098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和竖排文字">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438744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EE186934-B08C-4A9C-8006-BC2DAD34E9E6}" type="datetimeFigureOut">
              <a:rPr lang="zh-CN" altLang="en-US" smtClean="0"/>
              <a:t>2026-5-26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9B84B4-DE79-4A9C-98C9-5A25EBE529A8}" type="slidenum">
              <a:rPr lang="zh-CN" altLang="en-US" smtClean="0"/>
              <a:t>‹#›</a:t>
            </a:fld>
            <a:endParaRPr lang="zh-CN" altLang="en-US"/>
          </a:p>
        </p:txBody>
      </p:sp>
      <p:pic>
        <p:nvPicPr>
          <p:cNvPr id="8"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05705" y="143179"/>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98726873"/>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E186934-B08C-4A9C-8006-BC2DAD34E9E6}" type="datetimeFigureOut">
              <a:rPr lang="zh-CN" altLang="en-US" smtClean="0"/>
              <a:t>2026-5-26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9B84B4-DE79-4A9C-98C9-5A25EBE529A8}" type="slidenum">
              <a:rPr lang="zh-CN" altLang="en-US" smtClean="0"/>
              <a:t>‹#›</a:t>
            </a:fld>
            <a:endParaRPr lang="zh-CN" altLang="en-US"/>
          </a:p>
        </p:txBody>
      </p:sp>
      <p:cxnSp>
        <p:nvCxnSpPr>
          <p:cNvPr id="8" name="直接连接符 7"/>
          <p:cNvCxnSpPr/>
          <p:nvPr userDrawn="1"/>
        </p:nvCxnSpPr>
        <p:spPr>
          <a:xfrm flipH="1" flipV="1">
            <a:off x="838201" y="1702090"/>
            <a:ext cx="10515599" cy="5916"/>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flipH="1" flipV="1">
            <a:off x="854364" y="1790411"/>
            <a:ext cx="10515599" cy="591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2" name="图片 24"/>
          <p:cNvPicPr>
            <a:picLocks noChangeAspect="1" noChangeArrowheads="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05705" y="143179"/>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7757250"/>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EE186934-B08C-4A9C-8006-BC2DAD34E9E6}" type="datetimeFigureOut">
              <a:rPr lang="zh-CN" altLang="en-US" smtClean="0"/>
              <a:t>2026-5-26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9B84B4-DE79-4A9C-98C9-5A25EBE529A8}" type="slidenum">
              <a:rPr lang="zh-CN" altLang="en-US" smtClean="0"/>
              <a:t>‹#›</a:t>
            </a:fld>
            <a:endParaRPr lang="zh-CN" altLang="en-US"/>
          </a:p>
        </p:txBody>
      </p:sp>
    </p:spTree>
    <p:extLst>
      <p:ext uri="{BB962C8B-B14F-4D97-AF65-F5344CB8AC3E}">
        <p14:creationId xmlns:p14="http://schemas.microsoft.com/office/powerpoint/2010/main" val="350174078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E186934-B08C-4A9C-8006-BC2DAD34E9E6}" type="datetimeFigureOut">
              <a:rPr lang="zh-CN" altLang="en-US" smtClean="0"/>
              <a:t>2026-5-26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9B84B4-DE79-4A9C-98C9-5A25EBE529A8}" type="slidenum">
              <a:rPr lang="zh-CN" altLang="en-US" smtClean="0"/>
              <a:t>‹#›</a:t>
            </a:fld>
            <a:endParaRPr lang="zh-CN" altLang="en-US"/>
          </a:p>
        </p:txBody>
      </p:sp>
    </p:spTree>
    <p:extLst>
      <p:ext uri="{BB962C8B-B14F-4D97-AF65-F5344CB8AC3E}">
        <p14:creationId xmlns:p14="http://schemas.microsoft.com/office/powerpoint/2010/main" val="3051005593"/>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E186934-B08C-4A9C-8006-BC2DAD34E9E6}" type="datetimeFigureOut">
              <a:rPr lang="zh-CN" altLang="en-US" smtClean="0"/>
              <a:t>2026-5-26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69B84B4-DE79-4A9C-98C9-5A25EBE529A8}" type="slidenum">
              <a:rPr lang="zh-CN" altLang="en-US" smtClean="0"/>
              <a:t>‹#›</a:t>
            </a:fld>
            <a:endParaRPr lang="zh-CN" altLang="en-US"/>
          </a:p>
        </p:txBody>
      </p:sp>
    </p:spTree>
    <p:extLst>
      <p:ext uri="{BB962C8B-B14F-4D97-AF65-F5344CB8AC3E}">
        <p14:creationId xmlns:p14="http://schemas.microsoft.com/office/powerpoint/2010/main" val="2655920048"/>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E186934-B08C-4A9C-8006-BC2DAD34E9E6}" type="datetimeFigureOut">
              <a:rPr lang="zh-CN" altLang="en-US" smtClean="0"/>
              <a:t>2026-5-26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69B84B4-DE79-4A9C-98C9-5A25EBE529A8}" type="slidenum">
              <a:rPr lang="zh-CN" altLang="en-US" smtClean="0"/>
              <a:t>‹#›</a:t>
            </a:fld>
            <a:endParaRPr lang="zh-CN" altLang="en-US"/>
          </a:p>
        </p:txBody>
      </p:sp>
    </p:spTree>
    <p:extLst>
      <p:ext uri="{BB962C8B-B14F-4D97-AF65-F5344CB8AC3E}">
        <p14:creationId xmlns:p14="http://schemas.microsoft.com/office/powerpoint/2010/main" val="34448105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E186934-B08C-4A9C-8006-BC2DAD34E9E6}" type="datetimeFigureOut">
              <a:rPr lang="zh-CN" altLang="en-US" smtClean="0"/>
              <a:t>2026-5-26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69B84B4-DE79-4A9C-98C9-5A25EBE529A8}" type="slidenum">
              <a:rPr lang="zh-CN" altLang="en-US" smtClean="0"/>
              <a:t>‹#›</a:t>
            </a:fld>
            <a:endParaRPr lang="zh-CN" altLang="en-US"/>
          </a:p>
        </p:txBody>
      </p:sp>
    </p:spTree>
    <p:extLst>
      <p:ext uri="{BB962C8B-B14F-4D97-AF65-F5344CB8AC3E}">
        <p14:creationId xmlns:p14="http://schemas.microsoft.com/office/powerpoint/2010/main" val="1837164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EE186934-B08C-4A9C-8006-BC2DAD34E9E6}" type="datetimeFigureOut">
              <a:rPr lang="zh-CN" altLang="en-US" smtClean="0"/>
              <a:t>2026-5-26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9B84B4-DE79-4A9C-98C9-5A25EBE529A8}" type="slidenum">
              <a:rPr lang="zh-CN" altLang="en-US" smtClean="0"/>
              <a:t>‹#›</a:t>
            </a:fld>
            <a:endParaRPr lang="zh-CN" altLang="en-US"/>
          </a:p>
        </p:txBody>
      </p:sp>
    </p:spTree>
    <p:extLst>
      <p:ext uri="{BB962C8B-B14F-4D97-AF65-F5344CB8AC3E}">
        <p14:creationId xmlns:p14="http://schemas.microsoft.com/office/powerpoint/2010/main" val="202303112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EE186934-B08C-4A9C-8006-BC2DAD34E9E6}" type="datetimeFigureOut">
              <a:rPr lang="zh-CN" altLang="en-US" smtClean="0"/>
              <a:t>2026-5-26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69B84B4-DE79-4A9C-98C9-5A25EBE529A8}" type="slidenum">
              <a:rPr lang="zh-CN" altLang="en-US" smtClean="0"/>
              <a:t>‹#›</a:t>
            </a:fld>
            <a:endParaRPr lang="zh-CN" altLang="en-US"/>
          </a:p>
        </p:txBody>
      </p:sp>
    </p:spTree>
    <p:extLst>
      <p:ext uri="{BB962C8B-B14F-4D97-AF65-F5344CB8AC3E}">
        <p14:creationId xmlns:p14="http://schemas.microsoft.com/office/powerpoint/2010/main" val="342135887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E186934-B08C-4A9C-8006-BC2DAD34E9E6}" type="datetimeFigureOut">
              <a:rPr lang="zh-CN" altLang="en-US" smtClean="0"/>
              <a:t>2026-5-26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9B84B4-DE79-4A9C-98C9-5A25EBE529A8}" type="slidenum">
              <a:rPr lang="zh-CN" altLang="en-US" smtClean="0"/>
              <a:t>‹#›</a:t>
            </a:fld>
            <a:endParaRPr lang="zh-CN" altLang="en-US"/>
          </a:p>
        </p:txBody>
      </p:sp>
    </p:spTree>
    <p:extLst>
      <p:ext uri="{BB962C8B-B14F-4D97-AF65-F5344CB8AC3E}">
        <p14:creationId xmlns:p14="http://schemas.microsoft.com/office/powerpoint/2010/main" val="21082591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E186934-B08C-4A9C-8006-BC2DAD34E9E6}" type="datetimeFigureOut">
              <a:rPr lang="zh-CN" altLang="en-US" smtClean="0"/>
              <a:t>2026-5-26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69B84B4-DE79-4A9C-98C9-5A25EBE529A8}" type="slidenum">
              <a:rPr lang="zh-CN" altLang="en-US" smtClean="0"/>
              <a:t>‹#›</a:t>
            </a:fld>
            <a:endParaRPr lang="zh-CN" altLang="en-US"/>
          </a:p>
        </p:txBody>
      </p:sp>
    </p:spTree>
    <p:extLst>
      <p:ext uri="{BB962C8B-B14F-4D97-AF65-F5344CB8AC3E}">
        <p14:creationId xmlns:p14="http://schemas.microsoft.com/office/powerpoint/2010/main" val="31989301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604433" y="360364"/>
            <a:ext cx="10390717" cy="769937"/>
          </a:xfrm>
        </p:spPr>
        <p:txBody>
          <a:bodyPr/>
          <a:lstStyle/>
          <a:p>
            <a:r>
              <a:rPr lang="zh-CN" altLang="en-US"/>
              <a:t>单击此处编辑母版标题样式</a:t>
            </a:r>
          </a:p>
        </p:txBody>
      </p:sp>
      <p:sp>
        <p:nvSpPr>
          <p:cNvPr id="3" name="文本占位符 2"/>
          <p:cNvSpPr>
            <a:spLocks noGrp="1"/>
          </p:cNvSpPr>
          <p:nvPr>
            <p:ph type="body" sz="half" idx="1"/>
          </p:nvPr>
        </p:nvSpPr>
        <p:spPr>
          <a:xfrm>
            <a:off x="1284817" y="1557338"/>
            <a:ext cx="508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568017" y="1557338"/>
            <a:ext cx="508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6568017" y="3690938"/>
            <a:ext cx="508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1">
            <a:extLst>
              <a:ext uri="{FF2B5EF4-FFF2-40B4-BE49-F238E27FC236}">
                <a16:creationId xmlns:a16="http://schemas.microsoft.com/office/drawing/2014/main" id="{9816ECD6-CDFE-4443-A2B8-C2AD6F0AB42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12">
            <a:extLst>
              <a:ext uri="{FF2B5EF4-FFF2-40B4-BE49-F238E27FC236}">
                <a16:creationId xmlns:a16="http://schemas.microsoft.com/office/drawing/2014/main" id="{29E5E4AF-93D0-4507-B069-2BA4FD33582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13">
            <a:extLst>
              <a:ext uri="{FF2B5EF4-FFF2-40B4-BE49-F238E27FC236}">
                <a16:creationId xmlns:a16="http://schemas.microsoft.com/office/drawing/2014/main" id="{F4A47FCC-29E3-41C5-917E-A39937F4CB96}"/>
              </a:ext>
            </a:extLst>
          </p:cNvPr>
          <p:cNvSpPr>
            <a:spLocks noGrp="1" noChangeArrowheads="1"/>
          </p:cNvSpPr>
          <p:nvPr>
            <p:ph type="sldNum" sz="quarter" idx="12"/>
          </p:nvPr>
        </p:nvSpPr>
        <p:spPr>
          <a:ln/>
        </p:spPr>
        <p:txBody>
          <a:bodyPr/>
          <a:lstStyle>
            <a:lvl1pPr>
              <a:defRPr/>
            </a:lvl1pPr>
          </a:lstStyle>
          <a:p>
            <a:fld id="{95642744-50BA-49D4-B14D-7862BE121CA1}" type="slidenum">
              <a:rPr lang="zh-CN" altLang="en-US"/>
              <a:pPr/>
              <a:t>‹#›</a:t>
            </a:fld>
            <a:endParaRPr lang="en-US" altLang="zh-CN"/>
          </a:p>
        </p:txBody>
      </p:sp>
    </p:spTree>
    <p:extLst>
      <p:ext uri="{BB962C8B-B14F-4D97-AF65-F5344CB8AC3E}">
        <p14:creationId xmlns:p14="http://schemas.microsoft.com/office/powerpoint/2010/main" val="55599604"/>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0" y="-25400"/>
            <a:ext cx="12192000" cy="1143000"/>
          </a:xfrm>
          <a:prstGeom prst="rect">
            <a:avLst/>
          </a:prstGeom>
          <a:noFill/>
          <a:ln w="9525">
            <a:noFill/>
            <a:miter lim="800000"/>
            <a:headEnd/>
            <a:tailEnd/>
          </a:ln>
        </p:spPr>
        <p:txBody>
          <a:bodyPr vert="horz" wrap="square" lIns="91436" tIns="45718" rIns="91436" bIns="45718" numCol="1" anchor="ctr" anchorCtr="0" compatLnSpc="1">
            <a:prstTxWarp prst="textNoShape">
              <a:avLst/>
            </a:prstTxWarp>
          </a:bodyPr>
          <a:lstStyle/>
          <a:p>
            <a:pPr lvl="0"/>
            <a:r>
              <a:rPr lang="en-US"/>
              <a:t>Click to edit Master title style</a:t>
            </a:r>
            <a:endParaRPr lang="en-US" dirty="0"/>
          </a:p>
        </p:txBody>
      </p:sp>
      <p:sp>
        <p:nvSpPr>
          <p:cNvPr id="3075" name="Rectangle 3"/>
          <p:cNvSpPr>
            <a:spLocks noGrp="1" noChangeArrowheads="1"/>
          </p:cNvSpPr>
          <p:nvPr>
            <p:ph type="body" idx="1"/>
          </p:nvPr>
        </p:nvSpPr>
        <p:spPr bwMode="auto">
          <a:xfrm>
            <a:off x="406400" y="1397001"/>
            <a:ext cx="11379200" cy="4729164"/>
          </a:xfrm>
          <a:prstGeom prst="rect">
            <a:avLst/>
          </a:prstGeom>
          <a:noFill/>
          <a:ln w="9525">
            <a:noFill/>
            <a:miter lim="800000"/>
            <a:headEnd/>
            <a:tailEnd/>
          </a:ln>
        </p:spPr>
        <p:txBody>
          <a:bodyPr vert="horz" wrap="square" lIns="91436" tIns="45718" rIns="91436" bIns="45718"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00" name="Rectangle 4"/>
          <p:cNvSpPr>
            <a:spLocks noGrp="1" noChangeArrowheads="1"/>
          </p:cNvSpPr>
          <p:nvPr>
            <p:ph type="dt" sz="half" idx="2"/>
          </p:nvPr>
        </p:nvSpPr>
        <p:spPr bwMode="auto">
          <a:xfrm>
            <a:off x="457200" y="6245225"/>
            <a:ext cx="2133600" cy="476251"/>
          </a:xfrm>
          <a:prstGeom prst="rect">
            <a:avLst/>
          </a:prstGeom>
          <a:noFill/>
          <a:ln w="9525">
            <a:noFill/>
            <a:miter lim="800000"/>
            <a:headEnd/>
            <a:tailEnd/>
          </a:ln>
          <a:effectLst/>
        </p:spPr>
        <p:txBody>
          <a:bodyPr vert="horz" wrap="square" lIns="91436" tIns="45718" rIns="91436" bIns="45718" numCol="1" anchor="t" anchorCtr="0" compatLnSpc="1">
            <a:prstTxWarp prst="textNoShape">
              <a:avLst/>
            </a:prstTxWarp>
          </a:bodyPr>
          <a:lstStyle>
            <a:lvl1pPr>
              <a:defRPr sz="1500"/>
            </a:lvl1pPr>
          </a:lstStyle>
          <a:p>
            <a:pPr>
              <a:defRPr/>
            </a:pPr>
            <a:endParaRPr lang="en-US"/>
          </a:p>
        </p:txBody>
      </p:sp>
      <p:sp>
        <p:nvSpPr>
          <p:cNvPr id="4101" name="Rectangle 5"/>
          <p:cNvSpPr>
            <a:spLocks noGrp="1" noChangeArrowheads="1"/>
          </p:cNvSpPr>
          <p:nvPr>
            <p:ph type="ftr" sz="quarter" idx="3"/>
          </p:nvPr>
        </p:nvSpPr>
        <p:spPr bwMode="auto">
          <a:xfrm>
            <a:off x="3124200" y="6245225"/>
            <a:ext cx="2895600" cy="476251"/>
          </a:xfrm>
          <a:prstGeom prst="rect">
            <a:avLst/>
          </a:prstGeom>
          <a:noFill/>
          <a:ln w="9525">
            <a:noFill/>
            <a:miter lim="800000"/>
            <a:headEnd/>
            <a:tailEnd/>
          </a:ln>
          <a:effectLst/>
        </p:spPr>
        <p:txBody>
          <a:bodyPr vert="horz" wrap="square" lIns="91436" tIns="45718" rIns="91436" bIns="45718" numCol="1" anchor="t" anchorCtr="0" compatLnSpc="1">
            <a:prstTxWarp prst="textNoShape">
              <a:avLst/>
            </a:prstTxWarp>
          </a:bodyPr>
          <a:lstStyle>
            <a:lvl1pPr algn="ctr">
              <a:defRPr sz="1500"/>
            </a:lvl1pPr>
          </a:lstStyle>
          <a:p>
            <a:pPr>
              <a:defRPr/>
            </a:pPr>
            <a:endParaRPr lang="en-US"/>
          </a:p>
        </p:txBody>
      </p:sp>
      <p:sp>
        <p:nvSpPr>
          <p:cNvPr id="4102" name="Rectangle 6"/>
          <p:cNvSpPr>
            <a:spLocks noGrp="1" noChangeArrowheads="1"/>
          </p:cNvSpPr>
          <p:nvPr>
            <p:ph type="sldNum" sz="quarter" idx="4"/>
          </p:nvPr>
        </p:nvSpPr>
        <p:spPr bwMode="auto">
          <a:xfrm>
            <a:off x="6553200" y="6245225"/>
            <a:ext cx="2133600" cy="476251"/>
          </a:xfrm>
          <a:prstGeom prst="rect">
            <a:avLst/>
          </a:prstGeom>
          <a:noFill/>
          <a:ln w="9525">
            <a:noFill/>
            <a:miter lim="800000"/>
            <a:headEnd/>
            <a:tailEnd/>
          </a:ln>
          <a:effectLst/>
        </p:spPr>
        <p:txBody>
          <a:bodyPr vert="horz" wrap="square" lIns="91436" tIns="45718" rIns="91436" bIns="45718" numCol="1" anchor="t" anchorCtr="0" compatLnSpc="1">
            <a:prstTxWarp prst="textNoShape">
              <a:avLst/>
            </a:prstTxWarp>
          </a:bodyPr>
          <a:lstStyle>
            <a:lvl1pPr algn="r">
              <a:defRPr sz="1500"/>
            </a:lvl1pPr>
          </a:lstStyle>
          <a:p>
            <a:pPr>
              <a:defRPr/>
            </a:pPr>
            <a:fld id="{62A4B744-0245-4492-B137-6352EFB250E7}" type="slidenum">
              <a:rPr lang="en-US" smtClean="0"/>
              <a:pPr>
                <a:defRPr/>
              </a:pPr>
              <a:t>‹#›</a:t>
            </a:fld>
            <a:endParaRPr lang="en-US"/>
          </a:p>
        </p:txBody>
      </p:sp>
      <p:sp>
        <p:nvSpPr>
          <p:cNvPr id="4103" name="Rectangle 7"/>
          <p:cNvSpPr>
            <a:spLocks noChangeArrowheads="1"/>
          </p:cNvSpPr>
          <p:nvPr/>
        </p:nvSpPr>
        <p:spPr bwMode="auto">
          <a:xfrm>
            <a:off x="0" y="1031242"/>
            <a:ext cx="12192000" cy="60959"/>
          </a:xfrm>
          <a:prstGeom prst="rect">
            <a:avLst/>
          </a:prstGeom>
          <a:gradFill rotWithShape="1">
            <a:gsLst>
              <a:gs pos="0">
                <a:srgbClr val="0000CC"/>
              </a:gs>
              <a:gs pos="100000">
                <a:schemeClr val="tx1"/>
              </a:gs>
            </a:gsLst>
            <a:lin ang="0" scaled="1"/>
          </a:gradFill>
          <a:ln w="9525">
            <a:solidFill>
              <a:schemeClr val="tx1"/>
            </a:solidFill>
            <a:miter lim="800000"/>
            <a:headEnd/>
            <a:tailEnd/>
          </a:ln>
          <a:effectLst/>
        </p:spPr>
        <p:txBody>
          <a:bodyPr wrap="none" lIns="91436" tIns="45718" rIns="91436" bIns="45718" anchor="ctr"/>
          <a:lstStyle/>
          <a:p>
            <a:pPr>
              <a:defRPr/>
            </a:pPr>
            <a:endParaRPr lang="en-US"/>
          </a:p>
        </p:txBody>
      </p:sp>
      <p:pic>
        <p:nvPicPr>
          <p:cNvPr id="8" name="图片 24"/>
          <p:cNvPicPr>
            <a:picLocks noChangeAspect="1" noChangeArrowheads="1"/>
          </p:cNvPicPr>
          <p:nvPr userDrawn="1"/>
        </p:nvPicPr>
        <p:blipFill>
          <a:blip r:embed="rId1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705705" y="-76200"/>
            <a:ext cx="3227677" cy="1379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59" r:id="rId12"/>
    <p:sldLayoutId id="2147483861" r:id="rId13"/>
  </p:sldLayoutIdLst>
  <p:timing>
    <p:tnLst>
      <p:par>
        <p:cTn id="1" dur="indefinite" restart="never" nodeType="tmRoot"/>
      </p:par>
    </p:tnLst>
  </p:timing>
  <p:txStyles>
    <p:titleStyle>
      <a:lvl1pPr algn="ctr" rtl="0" eaLnBrk="1" fontAlgn="base" hangingPunct="1">
        <a:spcBef>
          <a:spcPct val="0"/>
        </a:spcBef>
        <a:spcAft>
          <a:spcPct val="0"/>
        </a:spcAft>
        <a:defRPr sz="4400">
          <a:solidFill>
            <a:schemeClr val="tx2"/>
          </a:solidFill>
          <a:latin typeface="Calibri" pitchFamily="34" charset="0"/>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178" algn="ctr" rtl="0" eaLnBrk="1" fontAlgn="base" hangingPunct="1">
        <a:spcBef>
          <a:spcPct val="0"/>
        </a:spcBef>
        <a:spcAft>
          <a:spcPct val="0"/>
        </a:spcAft>
        <a:defRPr sz="4400">
          <a:solidFill>
            <a:schemeClr val="tx2"/>
          </a:solidFill>
          <a:latin typeface="Arial" charset="0"/>
        </a:defRPr>
      </a:lvl6pPr>
      <a:lvl7pPr marL="914354" algn="ctr" rtl="0" eaLnBrk="1" fontAlgn="base" hangingPunct="1">
        <a:spcBef>
          <a:spcPct val="0"/>
        </a:spcBef>
        <a:spcAft>
          <a:spcPct val="0"/>
        </a:spcAft>
        <a:defRPr sz="4400">
          <a:solidFill>
            <a:schemeClr val="tx2"/>
          </a:solidFill>
          <a:latin typeface="Arial" charset="0"/>
        </a:defRPr>
      </a:lvl7pPr>
      <a:lvl8pPr marL="1371532" algn="ctr" rtl="0" eaLnBrk="1" fontAlgn="base" hangingPunct="1">
        <a:spcBef>
          <a:spcPct val="0"/>
        </a:spcBef>
        <a:spcAft>
          <a:spcPct val="0"/>
        </a:spcAft>
        <a:defRPr sz="4400">
          <a:solidFill>
            <a:schemeClr val="tx2"/>
          </a:solidFill>
          <a:latin typeface="Arial" charset="0"/>
        </a:defRPr>
      </a:lvl8pPr>
      <a:lvl9pPr marL="1828709" algn="ctr" rtl="0" eaLnBrk="1" fontAlgn="base" hangingPunct="1">
        <a:spcBef>
          <a:spcPct val="0"/>
        </a:spcBef>
        <a:spcAft>
          <a:spcPct val="0"/>
        </a:spcAft>
        <a:defRPr sz="4400">
          <a:solidFill>
            <a:schemeClr val="tx2"/>
          </a:solidFill>
          <a:latin typeface="Arial" charset="0"/>
        </a:defRPr>
      </a:lvl9pPr>
    </p:titleStyle>
    <p:bodyStyle>
      <a:lvl1pPr marL="342882" indent="-342882" algn="l" rtl="0" eaLnBrk="1" fontAlgn="base" hangingPunct="1">
        <a:spcBef>
          <a:spcPct val="20000"/>
        </a:spcBef>
        <a:spcAft>
          <a:spcPct val="0"/>
        </a:spcAft>
        <a:buClr>
          <a:schemeClr val="accent2"/>
        </a:buClr>
        <a:buFont typeface="Wingdings" pitchFamily="2" charset="2"/>
        <a:buChar char="§"/>
        <a:defRPr sz="3200">
          <a:solidFill>
            <a:schemeClr val="accent2"/>
          </a:solidFill>
          <a:latin typeface="Calibri" pitchFamily="34" charset="0"/>
          <a:ea typeface="+mn-ea"/>
          <a:cs typeface="+mn-cs"/>
        </a:defRPr>
      </a:lvl1pPr>
      <a:lvl2pPr marL="742913" indent="-285737" algn="l" rtl="0" eaLnBrk="1" fontAlgn="base" hangingPunct="1">
        <a:spcBef>
          <a:spcPct val="20000"/>
        </a:spcBef>
        <a:spcAft>
          <a:spcPct val="0"/>
        </a:spcAft>
        <a:buClr>
          <a:schemeClr val="tx1"/>
        </a:buClr>
        <a:buFont typeface="Wingdings" pitchFamily="2" charset="2"/>
        <a:buChar char="§"/>
        <a:defRPr sz="2800">
          <a:solidFill>
            <a:schemeClr val="tx1"/>
          </a:solidFill>
          <a:latin typeface="Calibri" pitchFamily="34" charset="0"/>
        </a:defRPr>
      </a:lvl2pPr>
      <a:lvl3pPr marL="1142942" indent="-228589" algn="l" rtl="0" eaLnBrk="1" fontAlgn="base" hangingPunct="1">
        <a:spcBef>
          <a:spcPct val="20000"/>
        </a:spcBef>
        <a:spcAft>
          <a:spcPct val="0"/>
        </a:spcAft>
        <a:buClr>
          <a:schemeClr val="accent2"/>
        </a:buClr>
        <a:buFont typeface="Wingdings" pitchFamily="2" charset="2"/>
        <a:buChar char="§"/>
        <a:defRPr sz="2400">
          <a:solidFill>
            <a:schemeClr val="tx1"/>
          </a:solidFill>
          <a:latin typeface="Calibri" pitchFamily="34" charset="0"/>
        </a:defRPr>
      </a:lvl3pPr>
      <a:lvl4pPr marL="1600120" indent="-228589" algn="l" rtl="0" eaLnBrk="1" fontAlgn="base" hangingPunct="1">
        <a:spcBef>
          <a:spcPct val="20000"/>
        </a:spcBef>
        <a:spcAft>
          <a:spcPct val="0"/>
        </a:spcAft>
        <a:buClr>
          <a:schemeClr val="tx1"/>
        </a:buClr>
        <a:buFont typeface="Wingdings" pitchFamily="2" charset="2"/>
        <a:buChar char="§"/>
        <a:defRPr sz="2000">
          <a:solidFill>
            <a:schemeClr val="tx1"/>
          </a:solidFill>
          <a:latin typeface="Calibri" pitchFamily="34" charset="0"/>
        </a:defRPr>
      </a:lvl4pPr>
      <a:lvl5pPr marL="2057298"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Calibri" pitchFamily="34" charset="0"/>
        </a:defRPr>
      </a:lvl5pPr>
      <a:lvl6pPr marL="2514474"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354" rtl="0" eaLnBrk="1" latinLnBrk="0" hangingPunct="1">
        <a:defRPr sz="1900" kern="1200">
          <a:solidFill>
            <a:schemeClr val="tx1"/>
          </a:solidFill>
          <a:latin typeface="+mn-lt"/>
          <a:ea typeface="+mn-ea"/>
          <a:cs typeface="+mn-cs"/>
        </a:defRPr>
      </a:lvl1pPr>
      <a:lvl2pPr marL="457178" algn="l" defTabSz="914354" rtl="0" eaLnBrk="1" latinLnBrk="0" hangingPunct="1">
        <a:defRPr sz="1900" kern="1200">
          <a:solidFill>
            <a:schemeClr val="tx1"/>
          </a:solidFill>
          <a:latin typeface="+mn-lt"/>
          <a:ea typeface="+mn-ea"/>
          <a:cs typeface="+mn-cs"/>
        </a:defRPr>
      </a:lvl2pPr>
      <a:lvl3pPr marL="914354" algn="l" defTabSz="914354" rtl="0" eaLnBrk="1" latinLnBrk="0" hangingPunct="1">
        <a:defRPr sz="1900" kern="1200">
          <a:solidFill>
            <a:schemeClr val="tx1"/>
          </a:solidFill>
          <a:latin typeface="+mn-lt"/>
          <a:ea typeface="+mn-ea"/>
          <a:cs typeface="+mn-cs"/>
        </a:defRPr>
      </a:lvl3pPr>
      <a:lvl4pPr marL="1371532" algn="l" defTabSz="914354" rtl="0" eaLnBrk="1" latinLnBrk="0" hangingPunct="1">
        <a:defRPr sz="1900" kern="1200">
          <a:solidFill>
            <a:schemeClr val="tx1"/>
          </a:solidFill>
          <a:latin typeface="+mn-lt"/>
          <a:ea typeface="+mn-ea"/>
          <a:cs typeface="+mn-cs"/>
        </a:defRPr>
      </a:lvl4pPr>
      <a:lvl5pPr marL="1828709" algn="l" defTabSz="914354" rtl="0" eaLnBrk="1" latinLnBrk="0" hangingPunct="1">
        <a:defRPr sz="1900" kern="1200">
          <a:solidFill>
            <a:schemeClr val="tx1"/>
          </a:solidFill>
          <a:latin typeface="+mn-lt"/>
          <a:ea typeface="+mn-ea"/>
          <a:cs typeface="+mn-cs"/>
        </a:defRPr>
      </a:lvl5pPr>
      <a:lvl6pPr marL="2285886" algn="l" defTabSz="914354" rtl="0" eaLnBrk="1" latinLnBrk="0" hangingPunct="1">
        <a:defRPr sz="1900" kern="1200">
          <a:solidFill>
            <a:schemeClr val="tx1"/>
          </a:solidFill>
          <a:latin typeface="+mn-lt"/>
          <a:ea typeface="+mn-ea"/>
          <a:cs typeface="+mn-cs"/>
        </a:defRPr>
      </a:lvl6pPr>
      <a:lvl7pPr marL="2743062" algn="l" defTabSz="914354" rtl="0" eaLnBrk="1" latinLnBrk="0" hangingPunct="1">
        <a:defRPr sz="1900" kern="1200">
          <a:solidFill>
            <a:schemeClr val="tx1"/>
          </a:solidFill>
          <a:latin typeface="+mn-lt"/>
          <a:ea typeface="+mn-ea"/>
          <a:cs typeface="+mn-cs"/>
        </a:defRPr>
      </a:lvl7pPr>
      <a:lvl8pPr marL="3200240" algn="l" defTabSz="914354" rtl="0" eaLnBrk="1" latinLnBrk="0" hangingPunct="1">
        <a:defRPr sz="1900" kern="1200">
          <a:solidFill>
            <a:schemeClr val="tx1"/>
          </a:solidFill>
          <a:latin typeface="+mn-lt"/>
          <a:ea typeface="+mn-ea"/>
          <a:cs typeface="+mn-cs"/>
        </a:defRPr>
      </a:lvl8pPr>
      <a:lvl9pPr marL="3657418" algn="l" defTabSz="914354" rtl="0" eaLnBrk="1" latinLnBrk="0" hangingPunct="1">
        <a:defRPr sz="19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smtClean="0"/>
              <a:t>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186934-B08C-4A9C-8006-BC2DAD34E9E6}" type="datetimeFigureOut">
              <a:rPr lang="zh-CN" altLang="en-US" smtClean="0"/>
              <a:t>2026-5-26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9B84B4-DE79-4A9C-98C9-5A25EBE529A8}" type="slidenum">
              <a:rPr lang="zh-CN" altLang="en-US" smtClean="0"/>
              <a:t>‹#›</a:t>
            </a:fld>
            <a:endParaRPr lang="zh-CN" altLang="en-US"/>
          </a:p>
        </p:txBody>
      </p:sp>
    </p:spTree>
    <p:extLst>
      <p:ext uri="{BB962C8B-B14F-4D97-AF65-F5344CB8AC3E}">
        <p14:creationId xmlns:p14="http://schemas.microsoft.com/office/powerpoint/2010/main" val="1337859753"/>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49" r:id="rId4"/>
    <p:sldLayoutId id="2147483850" r:id="rId5"/>
    <p:sldLayoutId id="2147483851" r:id="rId6"/>
    <p:sldLayoutId id="2147483852" r:id="rId7"/>
    <p:sldLayoutId id="2147483853" r:id="rId8"/>
    <p:sldLayoutId id="2147483854" r:id="rId9"/>
    <p:sldLayoutId id="2147483855" r:id="rId10"/>
    <p:sldLayoutId id="2147483856" r:id="rId11"/>
    <p:sldLayoutId id="214748385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0.webp"/><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arxiv.org/pdf/1512.03385.pdf" TargetMode="Externa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140.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jpg"/></Relationships>
</file>

<file path=ppt/slides/_rels/slide30.xml.rels><?xml version="1.0" encoding="UTF-8" standalone="yes"?>
<Relationships xmlns="http://schemas.openxmlformats.org/package/2006/relationships"><Relationship Id="rId3" Type="http://schemas.openxmlformats.org/officeDocument/2006/relationships/image" Target="../media/image46.jp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jpg"/><Relationship Id="rId4" Type="http://schemas.openxmlformats.org/officeDocument/2006/relationships/image" Target="../media/image47.jpg"/></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5" Type="http://schemas.openxmlformats.org/officeDocument/2006/relationships/image" Target="../media/image53.jpeg"/><Relationship Id="rId4" Type="http://schemas.openxmlformats.org/officeDocument/2006/relationships/image" Target="../media/image52.png"/></Relationships>
</file>

<file path=ppt/slides/_rels/slide32.xml.rels><?xml version="1.0" encoding="UTF-8" standalone="yes"?>
<Relationships xmlns="http://schemas.openxmlformats.org/package/2006/relationships"><Relationship Id="rId3" Type="http://schemas.openxmlformats.org/officeDocument/2006/relationships/image" Target="../media/image55.gif"/><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56.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a:spLocks/>
          </p:cNvSpPr>
          <p:nvPr/>
        </p:nvSpPr>
        <p:spPr>
          <a:xfrm>
            <a:off x="1370590" y="2465979"/>
            <a:ext cx="9673232" cy="1282576"/>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zh-CN" altLang="en-US" b="1" dirty="0" smtClean="0">
                <a:ln w="22225">
                  <a:solidFill>
                    <a:schemeClr val="accent2"/>
                  </a:solidFill>
                  <a:prstDash val="solid"/>
                </a:ln>
                <a:solidFill>
                  <a:schemeClr val="accent2">
                    <a:lumMod val="40000"/>
                    <a:lumOff val="60000"/>
                  </a:schemeClr>
                </a:solidFill>
              </a:rPr>
              <a:t>第十三周 深度学习模型</a:t>
            </a:r>
            <a:endParaRPr lang="zh-CN" altLang="en-US" sz="5300" b="1" dirty="0">
              <a:ln w="22225">
                <a:solidFill>
                  <a:schemeClr val="accent2"/>
                </a:solidFill>
                <a:prstDash val="solid"/>
              </a:ln>
              <a:solidFill>
                <a:schemeClr val="accent2">
                  <a:lumMod val="40000"/>
                  <a:lumOff val="60000"/>
                </a:schemeClr>
              </a:solidFill>
            </a:endParaRPr>
          </a:p>
        </p:txBody>
      </p:sp>
      <p:sp>
        <p:nvSpPr>
          <p:cNvPr id="8" name="Rectangle 4"/>
          <p:cNvSpPr>
            <a:spLocks noGrp="1" noChangeArrowheads="1"/>
          </p:cNvSpPr>
          <p:nvPr>
            <p:ph type="ctrTitle"/>
          </p:nvPr>
        </p:nvSpPr>
        <p:spPr>
          <a:xfrm>
            <a:off x="498235" y="791671"/>
            <a:ext cx="5410200" cy="589165"/>
          </a:xfrm>
        </p:spPr>
        <p:txBody>
          <a:bodyPr>
            <a:normAutofit/>
          </a:bodyPr>
          <a:lstStyle/>
          <a:p>
            <a:pPr algn="l"/>
            <a:r>
              <a:rPr lang="zh-CN" altLang="en-US" sz="3000" dirty="0">
                <a:ea typeface="宋体" panose="02010600030101010101" pitchFamily="2" charset="-122"/>
              </a:rPr>
              <a:t>课程</a:t>
            </a:r>
            <a:r>
              <a:rPr lang="en-US" altLang="zh-CN" sz="3000" dirty="0">
                <a:ea typeface="宋体" panose="02010600030101010101" pitchFamily="2" charset="-122"/>
              </a:rPr>
              <a:t>《</a:t>
            </a:r>
            <a:r>
              <a:rPr lang="zh-CN" altLang="en-US" sz="3200" dirty="0">
                <a:latin typeface="Times New Roman" panose="02020603050405020304" pitchFamily="18" charset="0"/>
                <a:ea typeface="黑体" panose="02010609060101010101" pitchFamily="49" charset="-122"/>
                <a:cs typeface="Times New Roman" panose="02020603050405020304" pitchFamily="18" charset="0"/>
              </a:rPr>
              <a:t>人工智能原理与技术</a:t>
            </a:r>
            <a:r>
              <a:rPr lang="en-US" altLang="zh-CN" sz="3000" i="0" dirty="0">
                <a:ea typeface="宋体" panose="02010600030101010101" pitchFamily="2" charset="-122"/>
              </a:rPr>
              <a:t>》</a:t>
            </a:r>
          </a:p>
        </p:txBody>
      </p:sp>
    </p:spTree>
    <p:extLst>
      <p:ext uri="{BB962C8B-B14F-4D97-AF65-F5344CB8AC3E}">
        <p14:creationId xmlns:p14="http://schemas.microsoft.com/office/powerpoint/2010/main" val="1786576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深度学习模型</a:t>
            </a:r>
            <a:endParaRPr lang="zh-CN" altLang="en-US" dirty="0"/>
          </a:p>
        </p:txBody>
      </p:sp>
      <p:sp>
        <p:nvSpPr>
          <p:cNvPr id="3" name="内容占位符 2"/>
          <p:cNvSpPr>
            <a:spLocks noGrp="1"/>
          </p:cNvSpPr>
          <p:nvPr>
            <p:ph idx="1"/>
          </p:nvPr>
        </p:nvSpPr>
        <p:spPr>
          <a:xfrm>
            <a:off x="435796" y="1471612"/>
            <a:ext cx="10515600" cy="4351338"/>
          </a:xfrm>
        </p:spPr>
        <p:txBody>
          <a:bodyPr>
            <a:normAutofit fontScale="92500" lnSpcReduction="20000"/>
          </a:bodyPr>
          <a:lstStyle/>
          <a:p>
            <a:r>
              <a:rPr lang="zh-CN" altLang="en-US" dirty="0" smtClean="0"/>
              <a:t>深度学习模型</a:t>
            </a:r>
            <a:endParaRPr lang="en-US" altLang="zh-CN" dirty="0" smtClean="0"/>
          </a:p>
          <a:p>
            <a:pPr lvl="1"/>
            <a:endParaRPr lang="en-US" altLang="zh-CN" dirty="0" smtClean="0"/>
          </a:p>
          <a:p>
            <a:pPr lvl="1"/>
            <a:r>
              <a:rPr lang="zh-CN" altLang="en-US" sz="2400" dirty="0" smtClean="0"/>
              <a:t>有监督（判别式</a:t>
            </a:r>
            <a:r>
              <a:rPr lang="zh-CN" altLang="en-US" sz="2400" dirty="0"/>
              <a:t>模型</a:t>
            </a:r>
            <a:r>
              <a:rPr lang="zh-CN" altLang="en-US" sz="2400" dirty="0" smtClean="0"/>
              <a:t>）</a:t>
            </a:r>
            <a:endParaRPr lang="en-US" altLang="zh-CN" sz="2400" dirty="0" smtClean="0"/>
          </a:p>
          <a:p>
            <a:pPr lvl="2">
              <a:lnSpc>
                <a:spcPct val="200000"/>
              </a:lnSpc>
            </a:pPr>
            <a:r>
              <a:rPr lang="en-US" altLang="zh-CN" sz="2000" dirty="0" smtClean="0"/>
              <a:t>MLP/</a:t>
            </a:r>
            <a:r>
              <a:rPr lang="en-US" altLang="zh-CN" sz="2000" dirty="0" smtClean="0">
                <a:solidFill>
                  <a:srgbClr val="FF0000"/>
                </a:solidFill>
              </a:rPr>
              <a:t>CNN</a:t>
            </a:r>
            <a:r>
              <a:rPr lang="en-US" altLang="zh-CN" sz="2000" dirty="0" smtClean="0"/>
              <a:t>/</a:t>
            </a:r>
            <a:r>
              <a:rPr lang="en-US" altLang="zh-CN" sz="2000" dirty="0" smtClean="0">
                <a:solidFill>
                  <a:srgbClr val="FF0000"/>
                </a:solidFill>
              </a:rPr>
              <a:t>RNN</a:t>
            </a:r>
            <a:r>
              <a:rPr lang="en-US" altLang="zh-CN" sz="2000" dirty="0" smtClean="0"/>
              <a:t>/</a:t>
            </a:r>
            <a:r>
              <a:rPr lang="en-US" altLang="zh-CN" sz="2000" dirty="0" smtClean="0">
                <a:solidFill>
                  <a:srgbClr val="FF0000"/>
                </a:solidFill>
              </a:rPr>
              <a:t>Transformer</a:t>
            </a:r>
          </a:p>
          <a:p>
            <a:pPr lvl="1"/>
            <a:endParaRPr lang="en-US" altLang="zh-CN" sz="2400" dirty="0" smtClean="0">
              <a:solidFill>
                <a:srgbClr val="FF0000"/>
              </a:solidFill>
            </a:endParaRPr>
          </a:p>
          <a:p>
            <a:pPr lvl="1"/>
            <a:r>
              <a:rPr lang="zh-CN" altLang="en-US" sz="2400" dirty="0" smtClean="0"/>
              <a:t>无监督（生成式模型）</a:t>
            </a:r>
            <a:endParaRPr lang="en-US" altLang="zh-CN" sz="2400" dirty="0" smtClean="0"/>
          </a:p>
          <a:p>
            <a:pPr lvl="2">
              <a:lnSpc>
                <a:spcPct val="200000"/>
              </a:lnSpc>
            </a:pPr>
            <a:r>
              <a:rPr lang="en-US" altLang="zh-CN" sz="2000" dirty="0" smtClean="0"/>
              <a:t>AE/VAE/GAN/DM</a:t>
            </a:r>
            <a:endParaRPr lang="zh-CN" altLang="en-US" sz="2000" dirty="0"/>
          </a:p>
          <a:p>
            <a:pPr lvl="1"/>
            <a:endParaRPr lang="en-US" altLang="zh-CN" sz="2400" dirty="0" smtClean="0"/>
          </a:p>
          <a:p>
            <a:pPr lvl="1"/>
            <a:r>
              <a:rPr lang="zh-CN" altLang="en-US" sz="2400" dirty="0" smtClean="0"/>
              <a:t>自监督</a:t>
            </a:r>
            <a:r>
              <a:rPr lang="en-US" altLang="zh-CN" sz="2400" dirty="0" smtClean="0"/>
              <a:t>(</a:t>
            </a:r>
            <a:r>
              <a:rPr lang="zh-CN" altLang="en-US" sz="2400" dirty="0" smtClean="0"/>
              <a:t>预训练模型</a:t>
            </a:r>
            <a:r>
              <a:rPr lang="en-US" altLang="zh-CN" sz="2400" dirty="0" smtClean="0"/>
              <a:t>)</a:t>
            </a:r>
          </a:p>
          <a:p>
            <a:pPr marL="457176" lvl="1" indent="0">
              <a:buNone/>
            </a:pPr>
            <a:endParaRPr lang="zh-CN" altLang="en-US" sz="2400" dirty="0"/>
          </a:p>
          <a:p>
            <a:pPr lvl="2"/>
            <a:r>
              <a:rPr lang="en-US" altLang="zh-CN" sz="2000" dirty="0" smtClean="0"/>
              <a:t>BERT/GPT</a:t>
            </a:r>
          </a:p>
        </p:txBody>
      </p:sp>
      <p:sp>
        <p:nvSpPr>
          <p:cNvPr id="5" name="Rectangle: Rounded Corners 13">
            <a:extLst>
              <a:ext uri="{FF2B5EF4-FFF2-40B4-BE49-F238E27FC236}">
                <a16:creationId xmlns:a16="http://schemas.microsoft.com/office/drawing/2014/main" id="{AA088C33-EA28-4ACC-B529-D92D4F74D133}"/>
              </a:ext>
            </a:extLst>
          </p:cNvPr>
          <p:cNvSpPr/>
          <p:nvPr/>
        </p:nvSpPr>
        <p:spPr>
          <a:xfrm>
            <a:off x="9387653" y="1687082"/>
            <a:ext cx="561975" cy="352425"/>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6" name="Rectangle 3">
            <a:extLst>
              <a:ext uri="{FF2B5EF4-FFF2-40B4-BE49-F238E27FC236}">
                <a16:creationId xmlns:a16="http://schemas.microsoft.com/office/drawing/2014/main" id="{0EB782B1-2314-449E-A3A3-D13A271F981A}"/>
              </a:ext>
            </a:extLst>
          </p:cNvPr>
          <p:cNvSpPr/>
          <p:nvPr/>
        </p:nvSpPr>
        <p:spPr>
          <a:xfrm>
            <a:off x="7620000" y="2000748"/>
            <a:ext cx="2547700" cy="1097280"/>
          </a:xfrm>
          <a:prstGeom prst="rect">
            <a:avLst/>
          </a:prstGeom>
          <a:solidFill>
            <a:schemeClr val="accent5">
              <a:lumMod val="75000"/>
            </a:schemeClr>
          </a:solidFill>
          <a:ln>
            <a:noFill/>
          </a:ln>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cxnSp>
        <p:nvCxnSpPr>
          <p:cNvPr id="7" name="Straight Arrow Connector 5">
            <a:extLst>
              <a:ext uri="{FF2B5EF4-FFF2-40B4-BE49-F238E27FC236}">
                <a16:creationId xmlns:a16="http://schemas.microsoft.com/office/drawing/2014/main" id="{9698B1A2-35FC-40E8-8CD4-E029ED643372}"/>
              </a:ext>
            </a:extLst>
          </p:cNvPr>
          <p:cNvCxnSpPr>
            <a:cxnSpLocks/>
            <a:endCxn id="6" idx="1"/>
          </p:cNvCxnSpPr>
          <p:nvPr/>
        </p:nvCxnSpPr>
        <p:spPr>
          <a:xfrm>
            <a:off x="6467856" y="2549388"/>
            <a:ext cx="1152144" cy="0"/>
          </a:xfrm>
          <a:prstGeom prst="straightConnector1">
            <a:avLst/>
          </a:prstGeom>
          <a:ln w="412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BC2A9F0-2FEB-4CF4-BEDA-801187FA8D4D}"/>
              </a:ext>
            </a:extLst>
          </p:cNvPr>
          <p:cNvCxnSpPr>
            <a:cxnSpLocks/>
            <a:stCxn id="6" idx="3"/>
          </p:cNvCxnSpPr>
          <p:nvPr/>
        </p:nvCxnSpPr>
        <p:spPr>
          <a:xfrm>
            <a:off x="10167700" y="2549388"/>
            <a:ext cx="868680" cy="0"/>
          </a:xfrm>
          <a:prstGeom prst="straightConnector1">
            <a:avLst/>
          </a:prstGeom>
          <a:ln w="41275">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11">
                <a:extLst>
                  <a:ext uri="{FF2B5EF4-FFF2-40B4-BE49-F238E27FC236}">
                    <a16:creationId xmlns:a16="http://schemas.microsoft.com/office/drawing/2014/main" id="{C0EA171A-5CCD-4E43-AA17-1DC55943B8A8}"/>
                  </a:ext>
                </a:extLst>
              </p:cNvPr>
              <p:cNvSpPr txBox="1"/>
              <p:nvPr/>
            </p:nvSpPr>
            <p:spPr>
              <a:xfrm>
                <a:off x="5938199" y="2272389"/>
                <a:ext cx="363433" cy="5539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3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𝑥</m:t>
                      </m:r>
                    </m:oMath>
                  </m:oMathPara>
                </a14:m>
                <a:endParaRPr kumimoji="0" lang="en-US" sz="36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mc:Choice>
        <mc:Fallback xmlns="">
          <p:sp>
            <p:nvSpPr>
              <p:cNvPr id="9" name="TextBox 11">
                <a:extLst>
                  <a:ext uri="{FF2B5EF4-FFF2-40B4-BE49-F238E27FC236}">
                    <a16:creationId xmlns:a16="http://schemas.microsoft.com/office/drawing/2014/main" id="{C0EA171A-5CCD-4E43-AA17-1DC55943B8A8}"/>
                  </a:ext>
                </a:extLst>
              </p:cNvPr>
              <p:cNvSpPr txBox="1">
                <a:spLocks noRot="1" noChangeAspect="1" noMove="1" noResize="1" noEditPoints="1" noAdjustHandles="1" noChangeArrowheads="1" noChangeShapeType="1" noTextEdit="1"/>
              </p:cNvSpPr>
              <p:nvPr/>
            </p:nvSpPr>
            <p:spPr>
              <a:xfrm>
                <a:off x="5938199" y="2272389"/>
                <a:ext cx="363433" cy="55399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TextBox 12">
                <a:extLst>
                  <a:ext uri="{FF2B5EF4-FFF2-40B4-BE49-F238E27FC236}">
                    <a16:creationId xmlns:a16="http://schemas.microsoft.com/office/drawing/2014/main" id="{B31E9383-9E96-4186-9617-BD5F7AA0A64E}"/>
                  </a:ext>
                </a:extLst>
              </p:cNvPr>
              <p:cNvSpPr txBox="1"/>
              <p:nvPr/>
            </p:nvSpPr>
            <p:spPr>
              <a:xfrm>
                <a:off x="11115903" y="2189479"/>
                <a:ext cx="370165" cy="5539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3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𝑦</m:t>
                      </m:r>
                    </m:oMath>
                  </m:oMathPara>
                </a14:m>
                <a:endParaRPr kumimoji="0" lang="en-US" sz="36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mc:Choice>
        <mc:Fallback xmlns="">
          <p:sp>
            <p:nvSpPr>
              <p:cNvPr id="10" name="TextBox 12">
                <a:extLst>
                  <a:ext uri="{FF2B5EF4-FFF2-40B4-BE49-F238E27FC236}">
                    <a16:creationId xmlns:a16="http://schemas.microsoft.com/office/drawing/2014/main" id="{B31E9383-9E96-4186-9617-BD5F7AA0A64E}"/>
                  </a:ext>
                </a:extLst>
              </p:cNvPr>
              <p:cNvSpPr txBox="1">
                <a:spLocks noRot="1" noChangeAspect="1" noMove="1" noResize="1" noEditPoints="1" noAdjustHandles="1" noChangeArrowheads="1" noChangeShapeType="1" noTextEdit="1"/>
              </p:cNvSpPr>
              <p:nvPr/>
            </p:nvSpPr>
            <p:spPr>
              <a:xfrm>
                <a:off x="11115903" y="2189479"/>
                <a:ext cx="370165" cy="55399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TextBox 14">
                <a:extLst>
                  <a:ext uri="{FF2B5EF4-FFF2-40B4-BE49-F238E27FC236}">
                    <a16:creationId xmlns:a16="http://schemas.microsoft.com/office/drawing/2014/main" id="{9C012EFE-F993-49DB-AD68-220B44B7B795}"/>
                  </a:ext>
                </a:extLst>
              </p:cNvPr>
              <p:cNvSpPr txBox="1"/>
              <p:nvPr/>
            </p:nvSpPr>
            <p:spPr>
              <a:xfrm>
                <a:off x="8708350" y="2189479"/>
                <a:ext cx="370999" cy="5539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3600" b="0" i="1" u="none" strike="noStrike" kern="1200" cap="none" spc="0" normalizeH="0" baseline="0" noProof="0" smtClean="0">
                          <a:ln>
                            <a:noFill/>
                          </a:ln>
                          <a:solidFill>
                            <a:schemeClr val="bg1"/>
                          </a:solidFill>
                          <a:effectLst/>
                          <a:uLnTx/>
                          <a:uFillTx/>
                          <a:latin typeface="Cambria Math" panose="02040503050406030204" pitchFamily="18" charset="0"/>
                          <a:ea typeface="+mn-ea"/>
                          <a:cs typeface="+mn-cs"/>
                        </a:rPr>
                        <m:t>𝑓</m:t>
                      </m:r>
                    </m:oMath>
                  </m:oMathPara>
                </a14:m>
                <a:endParaRPr kumimoji="0" lang="en-US" sz="36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mc:Choice>
        <mc:Fallback xmlns="">
          <p:sp>
            <p:nvSpPr>
              <p:cNvPr id="11" name="TextBox 14">
                <a:extLst>
                  <a:ext uri="{FF2B5EF4-FFF2-40B4-BE49-F238E27FC236}">
                    <a16:creationId xmlns:a16="http://schemas.microsoft.com/office/drawing/2014/main" id="{9C012EFE-F993-49DB-AD68-220B44B7B795}"/>
                  </a:ext>
                </a:extLst>
              </p:cNvPr>
              <p:cNvSpPr txBox="1">
                <a:spLocks noRot="1" noChangeAspect="1" noMove="1" noResize="1" noEditPoints="1" noAdjustHandles="1" noChangeArrowheads="1" noChangeShapeType="1" noTextEdit="1"/>
              </p:cNvSpPr>
              <p:nvPr/>
            </p:nvSpPr>
            <p:spPr>
              <a:xfrm>
                <a:off x="8708350" y="2189479"/>
                <a:ext cx="370999" cy="553998"/>
              </a:xfrm>
              <a:prstGeom prst="rect">
                <a:avLst/>
              </a:prstGeom>
              <a:blipFill>
                <a:blip r:embed="rId5"/>
                <a:stretch>
                  <a:fillRect/>
                </a:stretch>
              </a:blipFill>
            </p:spPr>
            <p:txBody>
              <a:bodyPr/>
              <a:lstStyle/>
              <a:p>
                <a:r>
                  <a:rPr lang="zh-CN" altLang="en-US">
                    <a:noFill/>
                  </a:rPr>
                  <a:t> </a:t>
                </a:r>
              </a:p>
            </p:txBody>
          </p:sp>
        </mc:Fallback>
      </mc:AlternateContent>
      <p:sp>
        <p:nvSpPr>
          <p:cNvPr id="18" name="Rectangle: Rounded Corners 13">
            <a:extLst>
              <a:ext uri="{FF2B5EF4-FFF2-40B4-BE49-F238E27FC236}">
                <a16:creationId xmlns:a16="http://schemas.microsoft.com/office/drawing/2014/main" id="{AA088C33-EA28-4ACC-B529-D92D4F74D133}"/>
              </a:ext>
            </a:extLst>
          </p:cNvPr>
          <p:cNvSpPr/>
          <p:nvPr/>
        </p:nvSpPr>
        <p:spPr>
          <a:xfrm>
            <a:off x="9254076" y="3999557"/>
            <a:ext cx="561975" cy="352425"/>
          </a:xfrm>
          <a:prstGeom prst="round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sp>
        <p:nvSpPr>
          <p:cNvPr id="19" name="Rectangle 3">
            <a:extLst>
              <a:ext uri="{FF2B5EF4-FFF2-40B4-BE49-F238E27FC236}">
                <a16:creationId xmlns:a16="http://schemas.microsoft.com/office/drawing/2014/main" id="{0EB782B1-2314-449E-A3A3-D13A271F981A}"/>
              </a:ext>
            </a:extLst>
          </p:cNvPr>
          <p:cNvSpPr/>
          <p:nvPr/>
        </p:nvSpPr>
        <p:spPr>
          <a:xfrm>
            <a:off x="7486423" y="4313223"/>
            <a:ext cx="2547700" cy="1097280"/>
          </a:xfrm>
          <a:prstGeom prst="rect">
            <a:avLst/>
          </a:prstGeom>
          <a:solidFill>
            <a:srgbClr val="92D050"/>
          </a:solidFill>
          <a:ln>
            <a:noFill/>
          </a:ln>
          <a:effectLst/>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Calibri" panose="020F0502020204030204"/>
              <a:ea typeface="+mn-ea"/>
              <a:cs typeface="+mn-cs"/>
            </a:endParaRPr>
          </a:p>
        </p:txBody>
      </p:sp>
      <p:cxnSp>
        <p:nvCxnSpPr>
          <p:cNvPr id="20" name="Straight Arrow Connector 5">
            <a:extLst>
              <a:ext uri="{FF2B5EF4-FFF2-40B4-BE49-F238E27FC236}">
                <a16:creationId xmlns:a16="http://schemas.microsoft.com/office/drawing/2014/main" id="{9698B1A2-35FC-40E8-8CD4-E029ED643372}"/>
              </a:ext>
            </a:extLst>
          </p:cNvPr>
          <p:cNvCxnSpPr>
            <a:cxnSpLocks/>
            <a:endCxn id="19" idx="1"/>
          </p:cNvCxnSpPr>
          <p:nvPr/>
        </p:nvCxnSpPr>
        <p:spPr>
          <a:xfrm>
            <a:off x="6334279" y="4861863"/>
            <a:ext cx="1152144" cy="0"/>
          </a:xfrm>
          <a:prstGeom prst="straightConnector1">
            <a:avLst/>
          </a:prstGeom>
          <a:ln w="412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7">
            <a:extLst>
              <a:ext uri="{FF2B5EF4-FFF2-40B4-BE49-F238E27FC236}">
                <a16:creationId xmlns:a16="http://schemas.microsoft.com/office/drawing/2014/main" id="{2BC2A9F0-2FEB-4CF4-BEDA-801187FA8D4D}"/>
              </a:ext>
            </a:extLst>
          </p:cNvPr>
          <p:cNvCxnSpPr>
            <a:cxnSpLocks/>
            <a:stCxn id="19" idx="3"/>
          </p:cNvCxnSpPr>
          <p:nvPr/>
        </p:nvCxnSpPr>
        <p:spPr>
          <a:xfrm>
            <a:off x="10034123" y="4861863"/>
            <a:ext cx="868680" cy="0"/>
          </a:xfrm>
          <a:prstGeom prst="straightConnector1">
            <a:avLst/>
          </a:prstGeom>
          <a:ln w="412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11">
            <a:extLst>
              <a:ext uri="{FF2B5EF4-FFF2-40B4-BE49-F238E27FC236}">
                <a16:creationId xmlns:a16="http://schemas.microsoft.com/office/drawing/2014/main" id="{C0EA171A-5CCD-4E43-AA17-1DC55943B8A8}"/>
              </a:ext>
            </a:extLst>
          </p:cNvPr>
          <p:cNvSpPr txBox="1"/>
          <p:nvPr/>
        </p:nvSpPr>
        <p:spPr>
          <a:xfrm>
            <a:off x="6016860" y="4584864"/>
            <a:ext cx="201978" cy="5539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dirty="0" smtClean="0">
                <a:ln>
                  <a:noFill/>
                </a:ln>
                <a:solidFill>
                  <a:schemeClr val="tx1"/>
                </a:solidFill>
                <a:effectLst/>
                <a:uLnTx/>
                <a:uFillTx/>
                <a:latin typeface="Calibri" panose="020F0502020204030204"/>
                <a:ea typeface="+mn-ea"/>
                <a:cs typeface="+mn-cs"/>
                <a:sym typeface="Symbol" panose="05050102010706020507" pitchFamily="18" charset="2"/>
              </a:rPr>
              <a:t></a:t>
            </a:r>
            <a:endParaRPr kumimoji="0" lang="en-US" sz="36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23" name="TextBox 12">
                <a:extLst>
                  <a:ext uri="{FF2B5EF4-FFF2-40B4-BE49-F238E27FC236}">
                    <a16:creationId xmlns:a16="http://schemas.microsoft.com/office/drawing/2014/main" id="{B31E9383-9E96-4186-9617-BD5F7AA0A64E}"/>
                  </a:ext>
                </a:extLst>
              </p:cNvPr>
              <p:cNvSpPr txBox="1"/>
              <p:nvPr/>
            </p:nvSpPr>
            <p:spPr>
              <a:xfrm>
                <a:off x="10982326" y="4501954"/>
                <a:ext cx="370165" cy="5539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3600" b="0" i="1" u="none" strike="noStrike" kern="1200" cap="none" spc="0" normalizeH="0" baseline="0" noProof="0" smtClean="0">
                          <a:ln>
                            <a:noFill/>
                          </a:ln>
                          <a:solidFill>
                            <a:schemeClr val="tx1"/>
                          </a:solidFill>
                          <a:effectLst/>
                          <a:uLnTx/>
                          <a:uFillTx/>
                          <a:latin typeface="Cambria Math" panose="02040503050406030204" pitchFamily="18" charset="0"/>
                          <a:ea typeface="+mn-ea"/>
                          <a:cs typeface="+mn-cs"/>
                        </a:rPr>
                        <m:t>𝑦</m:t>
                      </m:r>
                    </m:oMath>
                  </m:oMathPara>
                </a14:m>
                <a:endParaRPr kumimoji="0" lang="en-US" sz="36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mc:Choice>
        <mc:Fallback xmlns="">
          <p:sp>
            <p:nvSpPr>
              <p:cNvPr id="23" name="TextBox 12">
                <a:extLst>
                  <a:ext uri="{FF2B5EF4-FFF2-40B4-BE49-F238E27FC236}">
                    <a16:creationId xmlns:a16="http://schemas.microsoft.com/office/drawing/2014/main" id="{B31E9383-9E96-4186-9617-BD5F7AA0A64E}"/>
                  </a:ext>
                </a:extLst>
              </p:cNvPr>
              <p:cNvSpPr txBox="1">
                <a:spLocks noRot="1" noChangeAspect="1" noMove="1" noResize="1" noEditPoints="1" noAdjustHandles="1" noChangeArrowheads="1" noChangeShapeType="1" noTextEdit="1"/>
              </p:cNvSpPr>
              <p:nvPr/>
            </p:nvSpPr>
            <p:spPr>
              <a:xfrm>
                <a:off x="10982326" y="4501954"/>
                <a:ext cx="370165" cy="553998"/>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TextBox 14">
                <a:extLst>
                  <a:ext uri="{FF2B5EF4-FFF2-40B4-BE49-F238E27FC236}">
                    <a16:creationId xmlns:a16="http://schemas.microsoft.com/office/drawing/2014/main" id="{9C012EFE-F993-49DB-AD68-220B44B7B795}"/>
                  </a:ext>
                </a:extLst>
              </p:cNvPr>
              <p:cNvSpPr txBox="1"/>
              <p:nvPr/>
            </p:nvSpPr>
            <p:spPr>
              <a:xfrm>
                <a:off x="8574773" y="4501954"/>
                <a:ext cx="414601" cy="553998"/>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3600" i="1">
                          <a:solidFill>
                            <a:schemeClr val="bg1"/>
                          </a:solidFill>
                          <a:latin typeface="Cambria Math" panose="02040503050406030204" pitchFamily="18" charset="0"/>
                        </a:rPr>
                        <m:t>𝐺</m:t>
                      </m:r>
                    </m:oMath>
                  </m:oMathPara>
                </a14:m>
                <a:endParaRPr kumimoji="0" lang="en-US" sz="3600" b="0" i="1" u="none" strike="noStrike" kern="1200" cap="none" spc="0" normalizeH="0" baseline="0" noProof="0" dirty="0">
                  <a:ln>
                    <a:noFill/>
                  </a:ln>
                  <a:solidFill>
                    <a:schemeClr val="bg1"/>
                  </a:solidFill>
                  <a:effectLst/>
                  <a:uLnTx/>
                  <a:uFillTx/>
                  <a:latin typeface="Calibri" panose="020F0502020204030204"/>
                </a:endParaRPr>
              </a:p>
            </p:txBody>
          </p:sp>
        </mc:Choice>
        <mc:Fallback xmlns="">
          <p:sp>
            <p:nvSpPr>
              <p:cNvPr id="24" name="TextBox 14">
                <a:extLst>
                  <a:ext uri="{FF2B5EF4-FFF2-40B4-BE49-F238E27FC236}">
                    <a16:creationId xmlns:a16="http://schemas.microsoft.com/office/drawing/2014/main" id="{9C012EFE-F993-49DB-AD68-220B44B7B795}"/>
                  </a:ext>
                </a:extLst>
              </p:cNvPr>
              <p:cNvSpPr txBox="1">
                <a:spLocks noRot="1" noChangeAspect="1" noMove="1" noResize="1" noEditPoints="1" noAdjustHandles="1" noChangeArrowheads="1" noChangeShapeType="1" noTextEdit="1"/>
              </p:cNvSpPr>
              <p:nvPr/>
            </p:nvSpPr>
            <p:spPr>
              <a:xfrm>
                <a:off x="8574773" y="4501954"/>
                <a:ext cx="414601" cy="553998"/>
              </a:xfrm>
              <a:prstGeom prst="rect">
                <a:avLst/>
              </a:prstGeom>
              <a:blipFill>
                <a:blip r:embed="rId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43116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9" grpId="0"/>
      <p:bldP spid="10" grpId="0"/>
      <p:bldP spid="11" grpId="0"/>
      <p:bldP spid="18" grpId="0" animBg="1"/>
      <p:bldP spid="19" grpId="0" animBg="1"/>
      <p:bldP spid="22" grpId="0"/>
      <p:bldP spid="23"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3869989" y="1594509"/>
            <a:ext cx="4452022" cy="4487848"/>
            <a:chOff x="3872379" y="1383943"/>
            <a:chExt cx="4452022" cy="4487848"/>
          </a:xfrm>
        </p:grpSpPr>
        <p:sp>
          <p:nvSpPr>
            <p:cNvPr id="3" name="Freeform 5"/>
            <p:cNvSpPr>
              <a:spLocks/>
            </p:cNvSpPr>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p:cNvSpPr>
              <a:spLocks/>
            </p:cNvSpPr>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p:cNvSpPr>
              <a:spLocks/>
            </p:cNvSpPr>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p:cNvSpPr>
              <a:spLocks/>
            </p:cNvSpPr>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p:cNvGrpSpPr/>
            <p:nvPr/>
          </p:nvGrpSpPr>
          <p:grpSpPr>
            <a:xfrm>
              <a:off x="4569798" y="4627422"/>
              <a:ext cx="527842" cy="535007"/>
              <a:chOff x="3557588" y="3654425"/>
              <a:chExt cx="350838" cy="355600"/>
            </a:xfrm>
          </p:grpSpPr>
          <p:sp>
            <p:nvSpPr>
              <p:cNvPr id="20" name="Freeform 9"/>
              <p:cNvSpPr>
                <a:spLocks noEditPoints="1"/>
              </p:cNvSpPr>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p:cNvSpPr>
                <a:spLocks noEditPoints="1"/>
              </p:cNvSpPr>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p:cNvSpPr>
                <a:spLocks noEditPoints="1"/>
              </p:cNvSpPr>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p:cNvGrpSpPr/>
            <p:nvPr/>
          </p:nvGrpSpPr>
          <p:grpSpPr>
            <a:xfrm>
              <a:off x="7025097" y="2098082"/>
              <a:ext cx="606660" cy="539784"/>
              <a:chOff x="5189538" y="1973263"/>
              <a:chExt cx="403225" cy="358775"/>
            </a:xfrm>
          </p:grpSpPr>
          <p:sp>
            <p:nvSpPr>
              <p:cNvPr id="18" name="Freeform 12"/>
              <p:cNvSpPr>
                <a:spLocks noEditPoints="1"/>
              </p:cNvSpPr>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p:cNvSpPr>
                <a:spLocks noEditPoints="1"/>
              </p:cNvSpPr>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p:cNvGrpSpPr/>
            <p:nvPr/>
          </p:nvGrpSpPr>
          <p:grpSpPr>
            <a:xfrm>
              <a:off x="6984495" y="4601150"/>
              <a:ext cx="599495" cy="587552"/>
              <a:chOff x="5162551" y="3636963"/>
              <a:chExt cx="398463" cy="390525"/>
            </a:xfrm>
          </p:grpSpPr>
          <p:sp>
            <p:nvSpPr>
              <p:cNvPr id="15" name="Freeform 14"/>
              <p:cNvSpPr>
                <a:spLocks noEditPoints="1"/>
              </p:cNvSpPr>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p:cNvSpPr>
                <a:spLocks noEditPoints="1"/>
              </p:cNvSpPr>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p:cNvSpPr>
                <a:spLocks noEditPoints="1"/>
              </p:cNvSpPr>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p:cNvSpPr>
              <a:spLocks noEditPoints="1"/>
            </p:cNvSpPr>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p:cNvSpPr txBox="1"/>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p:cNvSpPr txBox="1"/>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p:cNvSpPr txBox="1"/>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smtClean="0">
                  <a:ln>
                    <a:noFill/>
                  </a:ln>
                  <a:solidFill>
                    <a:prstClr val="white"/>
                  </a:solidFill>
                  <a:effectLst/>
                  <a:uLnTx/>
                  <a:uFillTx/>
                  <a:latin typeface="Calibri" panose="020F0502020204030204"/>
                  <a:sym typeface="+mn-lt"/>
                </a:rPr>
                <a:t>03</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p:cNvSpPr txBox="1"/>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smtClean="0">
                  <a:ln>
                    <a:noFill/>
                  </a:ln>
                  <a:solidFill>
                    <a:prstClr val="white"/>
                  </a:solidFill>
                  <a:effectLst/>
                  <a:uLnTx/>
                  <a:uFillTx/>
                  <a:latin typeface="Calibri" panose="020F0502020204030204"/>
                  <a:sym typeface="+mn-lt"/>
                </a:rPr>
                <a:t>04</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p:cNvGrpSpPr/>
          <p:nvPr>
            <p:custDataLst>
              <p:tags r:id="rId1"/>
            </p:custDataLst>
          </p:nvPr>
        </p:nvGrpSpPr>
        <p:grpSpPr>
          <a:xfrm>
            <a:off x="196965" y="2655495"/>
            <a:ext cx="3901118" cy="810092"/>
            <a:chOff x="656868" y="2394767"/>
            <a:chExt cx="3901118" cy="810092"/>
          </a:xfrm>
        </p:grpSpPr>
        <p:sp>
          <p:nvSpPr>
            <p:cNvPr id="24" name="文本框 23"/>
            <p:cNvSpPr txBox="1"/>
            <p:nvPr/>
          </p:nvSpPr>
          <p:spPr>
            <a:xfrm>
              <a:off x="2517043" y="2394767"/>
              <a:ext cx="2040943" cy="461665"/>
            </a:xfrm>
            <a:prstGeom prst="rect">
              <a:avLst/>
            </a:prstGeom>
            <a:noFill/>
          </p:spPr>
          <p:txBody>
            <a:bodyPr wrap="none" rtlCol="0">
              <a:spAutoFit/>
            </a:bodyPr>
            <a:lstStyle>
              <a:defPPr>
                <a:defRPr lang="zh-CN"/>
              </a:defPPr>
              <a:lvl1pPr>
                <a:defRPr sz="2400" b="1">
                  <a:solidFill>
                    <a:srgbClr val="24569D"/>
                  </a:solidFill>
                </a:defRPr>
              </a:lvl1pPr>
            </a:lstStyle>
            <a:p>
              <a:r>
                <a:rPr lang="zh-CN" altLang="en-US" dirty="0" smtClean="0">
                  <a:solidFill>
                    <a:srgbClr val="FF0000"/>
                  </a:solidFill>
                </a:rPr>
                <a:t>卷积神经网络</a:t>
              </a:r>
              <a:endParaRPr lang="zh-CN" altLang="en-US" dirty="0">
                <a:solidFill>
                  <a:srgbClr val="FF0000"/>
                </a:solidFill>
              </a:endParaRPr>
            </a:p>
          </p:txBody>
        </p:sp>
        <p:sp>
          <p:nvSpPr>
            <p:cNvPr id="25" name="文本框 24"/>
            <p:cNvSpPr txBox="1"/>
            <p:nvPr/>
          </p:nvSpPr>
          <p:spPr>
            <a:xfrm>
              <a:off x="656868" y="2743194"/>
              <a:ext cx="2855980" cy="461665"/>
            </a:xfrm>
            <a:prstGeom prst="rect">
              <a:avLst/>
            </a:prstGeom>
            <a:noFill/>
          </p:spPr>
          <p:txBody>
            <a:bodyPr wrap="square" rtlCol="0">
              <a:spAutoFit/>
            </a:bodyPr>
            <a:lstStyle/>
            <a:p>
              <a:endParaRPr lang="en-US" altLang="zh-CN" sz="2400" dirty="0">
                <a:latin typeface="微软雅黑" panose="020B0503020204020204" pitchFamily="34" charset="-122"/>
              </a:endParaRPr>
            </a:p>
          </p:txBody>
        </p:sp>
      </p:grpSp>
      <p:sp>
        <p:nvSpPr>
          <p:cNvPr id="31" name="文本框 30"/>
          <p:cNvSpPr txBox="1"/>
          <p:nvPr/>
        </p:nvSpPr>
        <p:spPr>
          <a:xfrm>
            <a:off x="2098323" y="4787132"/>
            <a:ext cx="2040943" cy="461665"/>
          </a:xfrm>
          <a:prstGeom prst="rect">
            <a:avLst/>
          </a:prstGeom>
          <a:noFill/>
        </p:spPr>
        <p:txBody>
          <a:bodyPr wrap="none" rtlCol="0">
            <a:spAutoFit/>
          </a:bodyPr>
          <a:lstStyle>
            <a:defPPr>
              <a:defRPr lang="zh-CN"/>
            </a:defPPr>
            <a:lvl1pPr>
              <a:defRPr sz="2400" b="1">
                <a:solidFill>
                  <a:srgbClr val="24569D"/>
                </a:solidFill>
              </a:defRPr>
            </a:lvl1pPr>
          </a:lstStyle>
          <a:p>
            <a:r>
              <a:rPr lang="zh-CN" altLang="en-US" dirty="0" smtClean="0"/>
              <a:t>循环神经网络</a:t>
            </a:r>
            <a:endParaRPr lang="zh-CN" altLang="en-US" dirty="0"/>
          </a:p>
        </p:txBody>
      </p:sp>
      <p:sp>
        <p:nvSpPr>
          <p:cNvPr id="34" name="文本框 33"/>
          <p:cNvSpPr txBox="1"/>
          <p:nvPr/>
        </p:nvSpPr>
        <p:spPr>
          <a:xfrm>
            <a:off x="8473636" y="2779912"/>
            <a:ext cx="1422184" cy="461665"/>
          </a:xfrm>
          <a:prstGeom prst="rect">
            <a:avLst/>
          </a:prstGeom>
          <a:noFill/>
        </p:spPr>
        <p:txBody>
          <a:bodyPr wrap="none" rtlCol="0">
            <a:spAutoFit/>
          </a:bodyPr>
          <a:lstStyle/>
          <a:p>
            <a:r>
              <a:rPr lang="zh-CN" altLang="en-US" sz="2400" b="1" dirty="0">
                <a:solidFill>
                  <a:srgbClr val="24569D"/>
                </a:solidFill>
              </a:rPr>
              <a:t>语言模型</a:t>
            </a:r>
          </a:p>
        </p:txBody>
      </p:sp>
      <p:sp>
        <p:nvSpPr>
          <p:cNvPr id="2" name="矩形 1"/>
          <p:cNvSpPr/>
          <p:nvPr/>
        </p:nvSpPr>
        <p:spPr>
          <a:xfrm>
            <a:off x="573660" y="445426"/>
            <a:ext cx="902811" cy="523220"/>
          </a:xfrm>
          <a:prstGeom prst="rect">
            <a:avLst/>
          </a:prstGeom>
        </p:spPr>
        <p:txBody>
          <a:bodyPr wrap="none">
            <a:spAutoFit/>
          </a:bodyPr>
          <a:lstStyle/>
          <a:p>
            <a:r>
              <a:rPr lang="zh-CN" altLang="en-US" sz="2800" dirty="0"/>
              <a:t>目录</a:t>
            </a:r>
          </a:p>
        </p:txBody>
      </p:sp>
      <p:sp>
        <p:nvSpPr>
          <p:cNvPr id="30" name="文本框 29"/>
          <p:cNvSpPr txBox="1"/>
          <p:nvPr/>
        </p:nvSpPr>
        <p:spPr>
          <a:xfrm>
            <a:off x="8529747" y="4787132"/>
            <a:ext cx="1982274" cy="461665"/>
          </a:xfrm>
          <a:prstGeom prst="rect">
            <a:avLst/>
          </a:prstGeom>
          <a:noFill/>
        </p:spPr>
        <p:txBody>
          <a:bodyPr wrap="none" rtlCol="0">
            <a:spAutoFit/>
          </a:bodyPr>
          <a:lstStyle>
            <a:defPPr>
              <a:defRPr lang="zh-CN"/>
            </a:defPPr>
            <a:lvl1pPr>
              <a:defRPr sz="2400" b="1">
                <a:solidFill>
                  <a:srgbClr val="24569D"/>
                </a:solidFill>
              </a:defRPr>
            </a:lvl1pPr>
          </a:lstStyle>
          <a:p>
            <a:r>
              <a:rPr lang="en-US" altLang="zh-CN" dirty="0" smtClean="0"/>
              <a:t>Transformer</a:t>
            </a:r>
            <a:endParaRPr lang="zh-CN" altLang="en-US" dirty="0"/>
          </a:p>
        </p:txBody>
      </p:sp>
    </p:spTree>
    <p:extLst>
      <p:ext uri="{BB962C8B-B14F-4D97-AF65-F5344CB8AC3E}">
        <p14:creationId xmlns:p14="http://schemas.microsoft.com/office/powerpoint/2010/main" val="4020267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E3EDD1FE-97AE-33C1-2CA8-42902B94D6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7118" y="2771480"/>
            <a:ext cx="10269889" cy="3856101"/>
          </a:xfrm>
          <a:prstGeom prst="rect">
            <a:avLst/>
          </a:prstGeom>
        </p:spPr>
      </p:pic>
      <p:sp>
        <p:nvSpPr>
          <p:cNvPr id="2" name="标题 1"/>
          <p:cNvSpPr>
            <a:spLocks noGrp="1"/>
          </p:cNvSpPr>
          <p:nvPr>
            <p:ph type="title"/>
          </p:nvPr>
        </p:nvSpPr>
        <p:spPr/>
        <p:txBody>
          <a:bodyPr/>
          <a:lstStyle/>
          <a:p>
            <a:r>
              <a:rPr lang="zh-CN" altLang="en-US" dirty="0" smtClean="0"/>
              <a:t>动机</a:t>
            </a:r>
            <a:endParaRPr lang="zh-CN" altLang="en-US" dirty="0"/>
          </a:p>
        </p:txBody>
      </p:sp>
      <p:sp>
        <p:nvSpPr>
          <p:cNvPr id="4" name="矩形 3"/>
          <p:cNvSpPr/>
          <p:nvPr/>
        </p:nvSpPr>
        <p:spPr>
          <a:xfrm>
            <a:off x="5750803" y="5695720"/>
            <a:ext cx="5883007" cy="3976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9" name="文本占位符 2">
            <a:extLst>
              <a:ext uri="{FF2B5EF4-FFF2-40B4-BE49-F238E27FC236}">
                <a16:creationId xmlns:a16="http://schemas.microsoft.com/office/drawing/2014/main" id="{A95D9338-D30F-9379-701C-68DB7D8E4556}"/>
              </a:ext>
            </a:extLst>
          </p:cNvPr>
          <p:cNvSpPr txBox="1">
            <a:spLocks/>
          </p:cNvSpPr>
          <p:nvPr/>
        </p:nvSpPr>
        <p:spPr>
          <a:xfrm>
            <a:off x="342900" y="1524000"/>
            <a:ext cx="11506200" cy="457200"/>
          </a:xfrm>
          <a:prstGeom prst="rect">
            <a:avLst/>
          </a:prstGeom>
        </p:spPr>
        <p:txBody>
          <a:bodyPr>
            <a:normAutofit fontScale="85000" lnSpcReduction="20000"/>
          </a:bodyPr>
          <a:lstStyle>
            <a:lvl1pPr marL="342882" indent="-342882" algn="l" rtl="0" eaLnBrk="1" fontAlgn="base" hangingPunct="1">
              <a:spcBef>
                <a:spcPct val="20000"/>
              </a:spcBef>
              <a:spcAft>
                <a:spcPct val="0"/>
              </a:spcAft>
              <a:buClr>
                <a:schemeClr val="accent2"/>
              </a:buClr>
              <a:buFont typeface="Wingdings" pitchFamily="2" charset="2"/>
              <a:buChar char="§"/>
              <a:defRPr sz="3200">
                <a:solidFill>
                  <a:schemeClr val="accent2"/>
                </a:solidFill>
                <a:latin typeface="Calibri" pitchFamily="34" charset="0"/>
                <a:ea typeface="+mn-ea"/>
                <a:cs typeface="+mn-cs"/>
              </a:defRPr>
            </a:lvl1pPr>
            <a:lvl2pPr marL="742913" indent="-285737" algn="l" rtl="0" eaLnBrk="1" fontAlgn="base" hangingPunct="1">
              <a:spcBef>
                <a:spcPct val="20000"/>
              </a:spcBef>
              <a:spcAft>
                <a:spcPct val="0"/>
              </a:spcAft>
              <a:buClr>
                <a:schemeClr val="tx1"/>
              </a:buClr>
              <a:buFont typeface="Wingdings" pitchFamily="2" charset="2"/>
              <a:buChar char="§"/>
              <a:defRPr sz="2800">
                <a:solidFill>
                  <a:schemeClr val="tx1"/>
                </a:solidFill>
                <a:latin typeface="Calibri" pitchFamily="34" charset="0"/>
              </a:defRPr>
            </a:lvl2pPr>
            <a:lvl3pPr marL="1142942" indent="-228589" algn="l" rtl="0" eaLnBrk="1" fontAlgn="base" hangingPunct="1">
              <a:spcBef>
                <a:spcPct val="20000"/>
              </a:spcBef>
              <a:spcAft>
                <a:spcPct val="0"/>
              </a:spcAft>
              <a:buClr>
                <a:schemeClr val="accent2"/>
              </a:buClr>
              <a:buFont typeface="Wingdings" pitchFamily="2" charset="2"/>
              <a:buChar char="§"/>
              <a:defRPr sz="2400">
                <a:solidFill>
                  <a:schemeClr val="tx1"/>
                </a:solidFill>
                <a:latin typeface="Calibri" pitchFamily="34" charset="0"/>
              </a:defRPr>
            </a:lvl3pPr>
            <a:lvl4pPr marL="1600120" indent="-228589" algn="l" rtl="0" eaLnBrk="1" fontAlgn="base" hangingPunct="1">
              <a:spcBef>
                <a:spcPct val="20000"/>
              </a:spcBef>
              <a:spcAft>
                <a:spcPct val="0"/>
              </a:spcAft>
              <a:buClr>
                <a:schemeClr val="tx1"/>
              </a:buClr>
              <a:buFont typeface="Wingdings" pitchFamily="2" charset="2"/>
              <a:buChar char="§"/>
              <a:defRPr sz="2000">
                <a:solidFill>
                  <a:schemeClr val="tx1"/>
                </a:solidFill>
                <a:latin typeface="Calibri" pitchFamily="34" charset="0"/>
              </a:defRPr>
            </a:lvl4pPr>
            <a:lvl5pPr marL="2057298"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Calibri" pitchFamily="34" charset="0"/>
              </a:defRPr>
            </a:lvl5pPr>
            <a:lvl6pPr marL="2514474"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9pPr>
          </a:lstStyle>
          <a:p>
            <a:r>
              <a:rPr lang="en-US" altLang="zh-CN" kern="0" dirty="0"/>
              <a:t>FNN</a:t>
            </a:r>
            <a:r>
              <a:rPr lang="zh-CN" altLang="en-US" kern="0" dirty="0"/>
              <a:t>的局限性</a:t>
            </a:r>
          </a:p>
        </p:txBody>
      </p:sp>
      <p:sp>
        <p:nvSpPr>
          <p:cNvPr id="10" name="内容占位符 3">
            <a:extLst>
              <a:ext uri="{FF2B5EF4-FFF2-40B4-BE49-F238E27FC236}">
                <a16:creationId xmlns:a16="http://schemas.microsoft.com/office/drawing/2014/main" id="{92463C19-7CBB-C4D0-A565-01FF14D6DCEA}"/>
              </a:ext>
            </a:extLst>
          </p:cNvPr>
          <p:cNvSpPr txBox="1">
            <a:spLocks/>
          </p:cNvSpPr>
          <p:nvPr/>
        </p:nvSpPr>
        <p:spPr>
          <a:xfrm>
            <a:off x="342900" y="1836406"/>
            <a:ext cx="11506200" cy="4343400"/>
          </a:xfrm>
          <a:prstGeom prst="rect">
            <a:avLst/>
          </a:prstGeom>
        </p:spPr>
        <p:txBody>
          <a:bodyPr/>
          <a:lstStyle>
            <a:lvl1pPr marL="342882" indent="-342882" algn="l" rtl="0" eaLnBrk="1" fontAlgn="base" hangingPunct="1">
              <a:spcBef>
                <a:spcPct val="20000"/>
              </a:spcBef>
              <a:spcAft>
                <a:spcPct val="0"/>
              </a:spcAft>
              <a:buClr>
                <a:schemeClr val="accent2"/>
              </a:buClr>
              <a:buFont typeface="Wingdings" pitchFamily="2" charset="2"/>
              <a:buChar char="§"/>
              <a:defRPr sz="3200">
                <a:solidFill>
                  <a:schemeClr val="accent2"/>
                </a:solidFill>
                <a:latin typeface="Calibri" pitchFamily="34" charset="0"/>
                <a:ea typeface="+mn-ea"/>
                <a:cs typeface="+mn-cs"/>
              </a:defRPr>
            </a:lvl1pPr>
            <a:lvl2pPr marL="742913" indent="-285737" algn="l" rtl="0" eaLnBrk="1" fontAlgn="base" hangingPunct="1">
              <a:spcBef>
                <a:spcPct val="20000"/>
              </a:spcBef>
              <a:spcAft>
                <a:spcPct val="0"/>
              </a:spcAft>
              <a:buClr>
                <a:schemeClr val="tx1"/>
              </a:buClr>
              <a:buFont typeface="Wingdings" pitchFamily="2" charset="2"/>
              <a:buChar char="§"/>
              <a:defRPr sz="2800">
                <a:solidFill>
                  <a:schemeClr val="tx1"/>
                </a:solidFill>
                <a:latin typeface="Calibri" pitchFamily="34" charset="0"/>
              </a:defRPr>
            </a:lvl2pPr>
            <a:lvl3pPr marL="1142942" indent="-228589" algn="l" rtl="0" eaLnBrk="1" fontAlgn="base" hangingPunct="1">
              <a:spcBef>
                <a:spcPct val="20000"/>
              </a:spcBef>
              <a:spcAft>
                <a:spcPct val="0"/>
              </a:spcAft>
              <a:buClr>
                <a:schemeClr val="accent2"/>
              </a:buClr>
              <a:buFont typeface="Wingdings" pitchFamily="2" charset="2"/>
              <a:buChar char="§"/>
              <a:defRPr sz="2400">
                <a:solidFill>
                  <a:schemeClr val="tx1"/>
                </a:solidFill>
                <a:latin typeface="Calibri" pitchFamily="34" charset="0"/>
              </a:defRPr>
            </a:lvl3pPr>
            <a:lvl4pPr marL="1600120" indent="-228589" algn="l" rtl="0" eaLnBrk="1" fontAlgn="base" hangingPunct="1">
              <a:spcBef>
                <a:spcPct val="20000"/>
              </a:spcBef>
              <a:spcAft>
                <a:spcPct val="0"/>
              </a:spcAft>
              <a:buClr>
                <a:schemeClr val="tx1"/>
              </a:buClr>
              <a:buFont typeface="Wingdings" pitchFamily="2" charset="2"/>
              <a:buChar char="§"/>
              <a:defRPr sz="2000">
                <a:solidFill>
                  <a:schemeClr val="tx1"/>
                </a:solidFill>
                <a:latin typeface="Calibri" pitchFamily="34" charset="0"/>
              </a:defRPr>
            </a:lvl4pPr>
            <a:lvl5pPr marL="2057298"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Calibri" pitchFamily="34" charset="0"/>
              </a:defRPr>
            </a:lvl5pPr>
            <a:lvl6pPr marL="2514474"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9pPr>
          </a:lstStyle>
          <a:p>
            <a:pPr marL="342900" indent="-342900">
              <a:lnSpc>
                <a:spcPct val="200000"/>
              </a:lnSpc>
            </a:pPr>
            <a:r>
              <a:rPr lang="zh-CN" altLang="en-US" sz="2000" kern="0" dirty="0">
                <a:solidFill>
                  <a:srgbClr val="C00000"/>
                </a:solidFill>
              </a:rPr>
              <a:t>全连接：</a:t>
            </a:r>
            <a:r>
              <a:rPr lang="zh-CN" altLang="en-US" sz="2000" kern="0" dirty="0"/>
              <a:t>权重过多</a:t>
            </a:r>
            <a:endParaRPr lang="en-US" altLang="zh-CN" sz="2000" kern="0" dirty="0"/>
          </a:p>
          <a:p>
            <a:pPr marL="742931" lvl="1" indent="-342900">
              <a:lnSpc>
                <a:spcPct val="200000"/>
              </a:lnSpc>
            </a:pPr>
            <a:r>
              <a:rPr lang="zh-CN" altLang="en-US" sz="1600" kern="0" dirty="0"/>
              <a:t>像素行数 </a:t>
            </a:r>
            <a:r>
              <a:rPr lang="en-US" altLang="zh-CN" sz="1600" kern="0" dirty="0"/>
              <a:t>× </a:t>
            </a:r>
            <a:r>
              <a:rPr lang="zh-CN" altLang="en-US" sz="1600" kern="0" dirty="0"/>
              <a:t>列数 </a:t>
            </a:r>
            <a:r>
              <a:rPr lang="en-US" altLang="zh-CN" sz="1600" kern="0" dirty="0"/>
              <a:t>× </a:t>
            </a:r>
            <a:r>
              <a:rPr lang="zh-CN" altLang="en-US" sz="1600" kern="0" dirty="0"/>
              <a:t>通道数 </a:t>
            </a:r>
            <a:r>
              <a:rPr lang="en-US" altLang="zh-CN" sz="1600" kern="0" dirty="0"/>
              <a:t>× </a:t>
            </a:r>
            <a:r>
              <a:rPr lang="zh-CN" altLang="en-US" sz="1600" kern="0" dirty="0"/>
              <a:t>神经元个数</a:t>
            </a:r>
            <a:endParaRPr lang="en-US" altLang="zh-CN" sz="1600" kern="0" dirty="0"/>
          </a:p>
          <a:p>
            <a:pPr marL="342900" indent="-342900">
              <a:lnSpc>
                <a:spcPct val="200000"/>
              </a:lnSpc>
            </a:pPr>
            <a:r>
              <a:rPr lang="zh-CN" altLang="en-US" sz="2000" kern="0" dirty="0">
                <a:solidFill>
                  <a:srgbClr val="C00000"/>
                </a:solidFill>
              </a:rPr>
              <a:t>输入一维</a:t>
            </a:r>
            <a:r>
              <a:rPr lang="zh-CN" altLang="en-US" sz="2000" kern="0" dirty="0" smtClean="0">
                <a:solidFill>
                  <a:srgbClr val="C00000"/>
                </a:solidFill>
              </a:rPr>
              <a:t>向量</a:t>
            </a:r>
            <a:endParaRPr lang="en-US" altLang="zh-CN" sz="2000" kern="0" dirty="0" smtClean="0">
              <a:solidFill>
                <a:srgbClr val="C00000"/>
              </a:solidFill>
            </a:endParaRPr>
          </a:p>
          <a:p>
            <a:pPr marL="742931" lvl="1" indent="-342900">
              <a:lnSpc>
                <a:spcPct val="200000"/>
              </a:lnSpc>
            </a:pPr>
            <a:r>
              <a:rPr lang="zh-CN" altLang="en-US" sz="1600" dirty="0" smtClean="0"/>
              <a:t>忽略</a:t>
            </a:r>
            <a:r>
              <a:rPr lang="zh-CN" altLang="en-US" sz="1600" dirty="0"/>
              <a:t>空间关系</a:t>
            </a:r>
          </a:p>
          <a:p>
            <a:pPr marL="342900" indent="-342900">
              <a:lnSpc>
                <a:spcPct val="200000"/>
              </a:lnSpc>
            </a:pPr>
            <a:endParaRPr lang="zh-CN" altLang="en-US" sz="2000" kern="0" dirty="0"/>
          </a:p>
          <a:p>
            <a:pPr marL="742931" lvl="1" indent="-342900">
              <a:lnSpc>
                <a:spcPct val="200000"/>
              </a:lnSpc>
            </a:pPr>
            <a:endParaRPr lang="en-US" altLang="zh-CN" sz="1600" kern="0" dirty="0"/>
          </a:p>
          <a:p>
            <a:pPr marL="742931" lvl="1" indent="-342900">
              <a:lnSpc>
                <a:spcPct val="200000"/>
              </a:lnSpc>
            </a:pPr>
            <a:endParaRPr lang="en-US" altLang="zh-CN" sz="1600" kern="0" dirty="0"/>
          </a:p>
          <a:p>
            <a:pPr marL="742931" lvl="1" indent="-342900">
              <a:lnSpc>
                <a:spcPct val="200000"/>
              </a:lnSpc>
            </a:pPr>
            <a:endParaRPr lang="en-US" altLang="zh-CN" sz="1600" kern="0" dirty="0"/>
          </a:p>
          <a:p>
            <a:pPr marL="742931" lvl="1" indent="-342900">
              <a:lnSpc>
                <a:spcPct val="200000"/>
              </a:lnSpc>
            </a:pPr>
            <a:endParaRPr lang="zh-CN" altLang="en-US" sz="1600" kern="0" dirty="0"/>
          </a:p>
          <a:p>
            <a:pPr marL="342900" indent="-342900">
              <a:lnSpc>
                <a:spcPct val="150000"/>
              </a:lnSpc>
            </a:pPr>
            <a:endParaRPr lang="en-US" altLang="zh-CN" sz="2000" kern="0" dirty="0"/>
          </a:p>
        </p:txBody>
      </p:sp>
    </p:spTree>
    <p:extLst>
      <p:ext uri="{BB962C8B-B14F-4D97-AF65-F5344CB8AC3E}">
        <p14:creationId xmlns:p14="http://schemas.microsoft.com/office/powerpoint/2010/main" val="33509179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spc="-40" dirty="0">
                <a:solidFill>
                  <a:srgbClr val="0000A0"/>
                </a:solidFill>
                <a:latin typeface="Trebuchet MS"/>
                <a:cs typeface="Trebuchet MS"/>
              </a:rPr>
              <a:t>Idea:</a:t>
            </a:r>
            <a:r>
              <a:rPr lang="en-US" altLang="zh-CN" spc="10" dirty="0">
                <a:solidFill>
                  <a:srgbClr val="0000A0"/>
                </a:solidFill>
                <a:latin typeface="Trebuchet MS"/>
                <a:cs typeface="Trebuchet MS"/>
              </a:rPr>
              <a:t> </a:t>
            </a:r>
            <a:r>
              <a:rPr lang="en-US" altLang="zh-CN" spc="-40" dirty="0">
                <a:solidFill>
                  <a:srgbClr val="0000A0"/>
                </a:solidFill>
                <a:latin typeface="Trebuchet MS"/>
                <a:cs typeface="Trebuchet MS"/>
              </a:rPr>
              <a:t>Convolutions</a:t>
            </a:r>
            <a:endParaRPr lang="zh-CN" altLang="en-US" dirty="0"/>
          </a:p>
        </p:txBody>
      </p:sp>
      <p:pic>
        <p:nvPicPr>
          <p:cNvPr id="4" name="object 34"/>
          <p:cNvPicPr/>
          <p:nvPr/>
        </p:nvPicPr>
        <p:blipFill>
          <a:blip r:embed="rId2" cstate="print"/>
          <a:stretch>
            <a:fillRect/>
          </a:stretch>
        </p:blipFill>
        <p:spPr>
          <a:xfrm>
            <a:off x="1981200" y="1371600"/>
            <a:ext cx="5791200" cy="5410200"/>
          </a:xfrm>
          <a:prstGeom prst="rect">
            <a:avLst/>
          </a:prstGeom>
        </p:spPr>
      </p:pic>
      <p:sp>
        <p:nvSpPr>
          <p:cNvPr id="3" name="文本框 2"/>
          <p:cNvSpPr txBox="1"/>
          <p:nvPr/>
        </p:nvSpPr>
        <p:spPr>
          <a:xfrm>
            <a:off x="9067800" y="3276600"/>
            <a:ext cx="2819400" cy="1111907"/>
          </a:xfrm>
          <a:prstGeom prst="rect">
            <a:avLst/>
          </a:prstGeom>
          <a:noFill/>
        </p:spPr>
        <p:txBody>
          <a:bodyPr wrap="square" rtlCol="0">
            <a:spAutoFit/>
          </a:bodyPr>
          <a:lstStyle/>
          <a:p>
            <a:pPr>
              <a:lnSpc>
                <a:spcPct val="200000"/>
              </a:lnSpc>
            </a:pPr>
            <a:r>
              <a:rPr lang="en-US" altLang="zh-CN" dirty="0" smtClean="0"/>
              <a:t>Filter</a:t>
            </a:r>
            <a:r>
              <a:rPr lang="zh-CN" altLang="en-US" dirty="0" smtClean="0"/>
              <a:t>的大小可以改变、</a:t>
            </a:r>
            <a:endParaRPr lang="en-US" altLang="zh-CN" dirty="0" smtClean="0"/>
          </a:p>
          <a:p>
            <a:pPr>
              <a:lnSpc>
                <a:spcPct val="200000"/>
              </a:lnSpc>
            </a:pPr>
            <a:r>
              <a:rPr lang="zh-CN" altLang="en-US" dirty="0" smtClean="0"/>
              <a:t>移动的步长也可以改变</a:t>
            </a:r>
            <a:endParaRPr lang="zh-CN" altLang="en-US" dirty="0"/>
          </a:p>
        </p:txBody>
      </p:sp>
    </p:spTree>
    <p:extLst>
      <p:ext uri="{BB962C8B-B14F-4D97-AF65-F5344CB8AC3E}">
        <p14:creationId xmlns:p14="http://schemas.microsoft.com/office/powerpoint/2010/main" val="41057329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0000A0"/>
                </a:solidFill>
                <a:latin typeface="Trebuchet MS"/>
                <a:cs typeface="Trebuchet MS"/>
              </a:rPr>
              <a:t>Max-</a:t>
            </a:r>
            <a:r>
              <a:rPr lang="en-US" altLang="zh-CN" spc="-25" dirty="0">
                <a:solidFill>
                  <a:srgbClr val="0000A0"/>
                </a:solidFill>
                <a:latin typeface="Trebuchet MS"/>
                <a:cs typeface="Trebuchet MS"/>
              </a:rPr>
              <a:t>pooling</a:t>
            </a:r>
            <a:endParaRPr lang="zh-CN" altLang="en-US" dirty="0"/>
          </a:p>
        </p:txBody>
      </p:sp>
      <p:pic>
        <p:nvPicPr>
          <p:cNvPr id="5" name="object 14"/>
          <p:cNvPicPr/>
          <p:nvPr/>
        </p:nvPicPr>
        <p:blipFill>
          <a:blip r:embed="rId2" cstate="print"/>
          <a:stretch>
            <a:fillRect/>
          </a:stretch>
        </p:blipFill>
        <p:spPr>
          <a:xfrm>
            <a:off x="2362200" y="1489528"/>
            <a:ext cx="7696200" cy="4038600"/>
          </a:xfrm>
          <a:prstGeom prst="rect">
            <a:avLst/>
          </a:prstGeom>
        </p:spPr>
      </p:pic>
      <p:sp>
        <p:nvSpPr>
          <p:cNvPr id="6" name="object 15"/>
          <p:cNvSpPr txBox="1"/>
          <p:nvPr/>
        </p:nvSpPr>
        <p:spPr>
          <a:xfrm>
            <a:off x="1524000" y="6019800"/>
            <a:ext cx="8877300" cy="630942"/>
          </a:xfrm>
          <a:prstGeom prst="rect">
            <a:avLst/>
          </a:prstGeom>
        </p:spPr>
        <p:txBody>
          <a:bodyPr vert="horz" wrap="square" lIns="0" tIns="15240" rIns="0" bIns="0" rtlCol="0">
            <a:spAutoFit/>
          </a:bodyPr>
          <a:lstStyle/>
          <a:p>
            <a:pPr marL="12065">
              <a:lnSpc>
                <a:spcPct val="100000"/>
              </a:lnSpc>
              <a:spcBef>
                <a:spcPts val="120"/>
              </a:spcBef>
              <a:tabLst>
                <a:tab pos="136525" algn="l"/>
              </a:tabLst>
            </a:pPr>
            <a:r>
              <a:rPr lang="zh-CN" altLang="en-US" sz="2000" dirty="0"/>
              <a:t>提取一定区域的主要特征，并减少参数数量，防止模型过拟合。</a:t>
            </a:r>
            <a:br>
              <a:rPr lang="zh-CN" altLang="en-US" sz="2000" dirty="0"/>
            </a:br>
            <a:endParaRPr lang="en-US" altLang="zh-CN" sz="2000" dirty="0" smtClean="0"/>
          </a:p>
        </p:txBody>
      </p:sp>
    </p:spTree>
    <p:extLst>
      <p:ext uri="{BB962C8B-B14F-4D97-AF65-F5344CB8AC3E}">
        <p14:creationId xmlns:p14="http://schemas.microsoft.com/office/powerpoint/2010/main" val="41887591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dirty="0"/>
              <a:t>经典</a:t>
            </a:r>
            <a:r>
              <a:rPr lang="en-US" altLang="zh-CN" sz="4400" dirty="0"/>
              <a:t>CNN</a:t>
            </a:r>
            <a:r>
              <a:rPr lang="zh-CN" altLang="en-US" sz="4400" dirty="0"/>
              <a:t>模型</a:t>
            </a:r>
            <a:endParaRPr lang="zh-CN" altLang="en-US" dirty="0"/>
          </a:p>
        </p:txBody>
      </p:sp>
      <p:sp>
        <p:nvSpPr>
          <p:cNvPr id="4" name="内容占位符 3">
            <a:extLst>
              <a:ext uri="{FF2B5EF4-FFF2-40B4-BE49-F238E27FC236}">
                <a16:creationId xmlns:a16="http://schemas.microsoft.com/office/drawing/2014/main" id="{3DD1CD28-10C9-E6B5-D260-83D18BF89B0F}"/>
              </a:ext>
            </a:extLst>
          </p:cNvPr>
          <p:cNvSpPr txBox="1">
            <a:spLocks/>
          </p:cNvSpPr>
          <p:nvPr/>
        </p:nvSpPr>
        <p:spPr>
          <a:xfrm>
            <a:off x="342900" y="1287407"/>
            <a:ext cx="11506200" cy="4343400"/>
          </a:xfrm>
          <a:prstGeom prst="rect">
            <a:avLst/>
          </a:prstGeom>
        </p:spPr>
        <p:txBody>
          <a:bodyPr/>
          <a:lstStyle>
            <a:lvl1pPr marL="342882" indent="-342882" algn="l" rtl="0" eaLnBrk="1" fontAlgn="base" hangingPunct="1">
              <a:spcBef>
                <a:spcPct val="20000"/>
              </a:spcBef>
              <a:spcAft>
                <a:spcPct val="0"/>
              </a:spcAft>
              <a:buClr>
                <a:schemeClr val="accent2"/>
              </a:buClr>
              <a:buFont typeface="Wingdings" pitchFamily="2" charset="2"/>
              <a:buChar char="§"/>
              <a:defRPr sz="3200">
                <a:solidFill>
                  <a:schemeClr val="accent2"/>
                </a:solidFill>
                <a:latin typeface="Calibri" pitchFamily="34" charset="0"/>
                <a:ea typeface="+mn-ea"/>
                <a:cs typeface="+mn-cs"/>
              </a:defRPr>
            </a:lvl1pPr>
            <a:lvl2pPr marL="742913" indent="-285737" algn="l" rtl="0" eaLnBrk="1" fontAlgn="base" hangingPunct="1">
              <a:spcBef>
                <a:spcPct val="20000"/>
              </a:spcBef>
              <a:spcAft>
                <a:spcPct val="0"/>
              </a:spcAft>
              <a:buClr>
                <a:schemeClr val="tx1"/>
              </a:buClr>
              <a:buFont typeface="Wingdings" pitchFamily="2" charset="2"/>
              <a:buChar char="§"/>
              <a:defRPr sz="2800">
                <a:solidFill>
                  <a:schemeClr val="tx1"/>
                </a:solidFill>
                <a:latin typeface="Calibri" pitchFamily="34" charset="0"/>
              </a:defRPr>
            </a:lvl2pPr>
            <a:lvl3pPr marL="1142942" indent="-228589" algn="l" rtl="0" eaLnBrk="1" fontAlgn="base" hangingPunct="1">
              <a:spcBef>
                <a:spcPct val="20000"/>
              </a:spcBef>
              <a:spcAft>
                <a:spcPct val="0"/>
              </a:spcAft>
              <a:buClr>
                <a:schemeClr val="accent2"/>
              </a:buClr>
              <a:buFont typeface="Wingdings" pitchFamily="2" charset="2"/>
              <a:buChar char="§"/>
              <a:defRPr sz="2400">
                <a:solidFill>
                  <a:schemeClr val="tx1"/>
                </a:solidFill>
                <a:latin typeface="Calibri" pitchFamily="34" charset="0"/>
              </a:defRPr>
            </a:lvl3pPr>
            <a:lvl4pPr marL="1600120" indent="-228589" algn="l" rtl="0" eaLnBrk="1" fontAlgn="base" hangingPunct="1">
              <a:spcBef>
                <a:spcPct val="20000"/>
              </a:spcBef>
              <a:spcAft>
                <a:spcPct val="0"/>
              </a:spcAft>
              <a:buClr>
                <a:schemeClr val="tx1"/>
              </a:buClr>
              <a:buFont typeface="Wingdings" pitchFamily="2" charset="2"/>
              <a:buChar char="§"/>
              <a:defRPr sz="2000">
                <a:solidFill>
                  <a:schemeClr val="tx1"/>
                </a:solidFill>
                <a:latin typeface="Calibri" pitchFamily="34" charset="0"/>
              </a:defRPr>
            </a:lvl4pPr>
            <a:lvl5pPr marL="2057298"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Calibri" pitchFamily="34" charset="0"/>
              </a:defRPr>
            </a:lvl5pPr>
            <a:lvl6pPr marL="2514474"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9pPr>
          </a:lstStyle>
          <a:p>
            <a:pPr marL="342900" indent="-342900">
              <a:lnSpc>
                <a:spcPct val="200000"/>
              </a:lnSpc>
            </a:pPr>
            <a:r>
              <a:rPr lang="en-US" altLang="zh-CN" sz="2800" b="1" dirty="0" smtClean="0"/>
              <a:t>LeNet-5</a:t>
            </a:r>
            <a:r>
              <a:rPr lang="zh-CN" altLang="en-US" sz="2800" dirty="0" smtClean="0"/>
              <a:t>（</a:t>
            </a:r>
            <a:r>
              <a:rPr lang="en-US" altLang="zh-CN" sz="2800" dirty="0" smtClean="0"/>
              <a:t>1998</a:t>
            </a:r>
            <a:r>
              <a:rPr lang="zh-CN" altLang="en-US" sz="2800" dirty="0" smtClean="0"/>
              <a:t>）</a:t>
            </a:r>
            <a:endParaRPr lang="zh-CN" altLang="en-US" sz="2800" kern="0" dirty="0"/>
          </a:p>
          <a:p>
            <a:pPr marL="0" indent="0">
              <a:lnSpc>
                <a:spcPct val="150000"/>
              </a:lnSpc>
              <a:buNone/>
            </a:pPr>
            <a:endParaRPr lang="en-US" altLang="zh-CN" sz="2400" kern="0" dirty="0"/>
          </a:p>
        </p:txBody>
      </p:sp>
      <p:pic>
        <p:nvPicPr>
          <p:cNvPr id="6" name="图片 5">
            <a:extLst>
              <a:ext uri="{FF2B5EF4-FFF2-40B4-BE49-F238E27FC236}">
                <a16:creationId xmlns:a16="http://schemas.microsoft.com/office/drawing/2014/main" id="{0EB7D18D-D593-8797-24B4-33C69FEA6984}"/>
              </a:ext>
            </a:extLst>
          </p:cNvPr>
          <p:cNvPicPr>
            <a:picLocks noChangeAspect="1"/>
          </p:cNvPicPr>
          <p:nvPr/>
        </p:nvPicPr>
        <p:blipFill>
          <a:blip r:embed="rId3"/>
          <a:stretch>
            <a:fillRect/>
          </a:stretch>
        </p:blipFill>
        <p:spPr>
          <a:xfrm>
            <a:off x="1185116" y="2415545"/>
            <a:ext cx="9821767" cy="4213855"/>
          </a:xfrm>
          <a:prstGeom prst="rect">
            <a:avLst/>
          </a:prstGeom>
        </p:spPr>
      </p:pic>
      <p:sp>
        <p:nvSpPr>
          <p:cNvPr id="9" name="矩形 8"/>
          <p:cNvSpPr/>
          <p:nvPr/>
        </p:nvSpPr>
        <p:spPr>
          <a:xfrm>
            <a:off x="6077812" y="4839552"/>
            <a:ext cx="354584" cy="276999"/>
          </a:xfrm>
          <a:prstGeom prst="rect">
            <a:avLst/>
          </a:prstGeom>
          <a:solidFill>
            <a:schemeClr val="bg1"/>
          </a:solidFill>
        </p:spPr>
        <p:txBody>
          <a:bodyPr wrap="none">
            <a:spAutoFit/>
          </a:bodyPr>
          <a:lstStyle/>
          <a:p>
            <a:r>
              <a:rPr lang="en-US" altLang="zh-CN" sz="1200" dirty="0" smtClean="0"/>
              <a:t>24</a:t>
            </a:r>
            <a:endParaRPr lang="zh-CN" altLang="en-US" sz="1200" dirty="0"/>
          </a:p>
        </p:txBody>
      </p:sp>
      <p:sp>
        <p:nvSpPr>
          <p:cNvPr id="10" name="矩形 9"/>
          <p:cNvSpPr/>
          <p:nvPr/>
        </p:nvSpPr>
        <p:spPr>
          <a:xfrm>
            <a:off x="7417816" y="4828401"/>
            <a:ext cx="354584" cy="276999"/>
          </a:xfrm>
          <a:prstGeom prst="rect">
            <a:avLst/>
          </a:prstGeom>
          <a:solidFill>
            <a:schemeClr val="bg1"/>
          </a:solidFill>
        </p:spPr>
        <p:txBody>
          <a:bodyPr wrap="none">
            <a:spAutoFit/>
          </a:bodyPr>
          <a:lstStyle/>
          <a:p>
            <a:r>
              <a:rPr lang="en-US" altLang="zh-CN" sz="1200" dirty="0" smtClean="0"/>
              <a:t>24</a:t>
            </a:r>
            <a:endParaRPr lang="zh-CN" altLang="en-US" sz="1200" dirty="0"/>
          </a:p>
        </p:txBody>
      </p:sp>
      <p:pic>
        <p:nvPicPr>
          <p:cNvPr id="1026" name="Picture 2" descr="https://img2.baidu.com/it/u=3181946177,3712076030&amp;fm=253&amp;fmt=auto&amp;app=138&amp;f=JPEG?w=2000&amp;h=50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589" y="2286000"/>
            <a:ext cx="12496801" cy="3124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58803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CNN</a:t>
            </a:r>
            <a:r>
              <a:rPr lang="zh-CN" altLang="en-US" dirty="0"/>
              <a:t>解释器</a:t>
            </a:r>
          </a:p>
        </p:txBody>
      </p:sp>
      <p:pic>
        <p:nvPicPr>
          <p:cNvPr id="3" name="图片 2">
            <a:extLst>
              <a:ext uri="{FF2B5EF4-FFF2-40B4-BE49-F238E27FC236}">
                <a16:creationId xmlns:a16="http://schemas.microsoft.com/office/drawing/2014/main" id="{D0F7267E-78A7-4B89-8E8E-831DF7023E21}"/>
              </a:ext>
            </a:extLst>
          </p:cNvPr>
          <p:cNvPicPr>
            <a:picLocks noChangeAspect="1"/>
          </p:cNvPicPr>
          <p:nvPr/>
        </p:nvPicPr>
        <p:blipFill>
          <a:blip r:embed="rId3"/>
          <a:stretch>
            <a:fillRect/>
          </a:stretch>
        </p:blipFill>
        <p:spPr>
          <a:xfrm>
            <a:off x="536513" y="1270961"/>
            <a:ext cx="11118973" cy="4957811"/>
          </a:xfrm>
          <a:prstGeom prst="rect">
            <a:avLst/>
          </a:prstGeom>
        </p:spPr>
      </p:pic>
      <p:sp>
        <p:nvSpPr>
          <p:cNvPr id="5" name="文本框 4">
            <a:extLst>
              <a:ext uri="{FF2B5EF4-FFF2-40B4-BE49-F238E27FC236}">
                <a16:creationId xmlns:a16="http://schemas.microsoft.com/office/drawing/2014/main" id="{F055EB4B-7A56-3A51-226A-1AD48A9EB456}"/>
              </a:ext>
            </a:extLst>
          </p:cNvPr>
          <p:cNvSpPr txBox="1"/>
          <p:nvPr/>
        </p:nvSpPr>
        <p:spPr>
          <a:xfrm>
            <a:off x="7944592" y="6488668"/>
            <a:ext cx="4247408" cy="369332"/>
          </a:xfrm>
          <a:prstGeom prst="rect">
            <a:avLst/>
          </a:prstGeom>
          <a:noFill/>
        </p:spPr>
        <p:txBody>
          <a:bodyPr wrap="square">
            <a:spAutoFit/>
          </a:bodyPr>
          <a:lstStyle/>
          <a:p>
            <a:r>
              <a:rPr lang="zh-CN" altLang="en-US" dirty="0"/>
              <a:t>https://poloclub.github.io/cnn-explainer/</a:t>
            </a:r>
          </a:p>
        </p:txBody>
      </p:sp>
    </p:spTree>
    <p:extLst>
      <p:ext uri="{BB962C8B-B14F-4D97-AF65-F5344CB8AC3E}">
        <p14:creationId xmlns:p14="http://schemas.microsoft.com/office/powerpoint/2010/main" val="420488337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93494"/>
            <a:ext cx="12192000" cy="1143000"/>
          </a:xfrm>
        </p:spPr>
        <p:txBody>
          <a:bodyPr/>
          <a:lstStyle/>
          <a:p>
            <a:r>
              <a:rPr lang="en-US" altLang="zh-CN" sz="4400" dirty="0"/>
              <a:t>CNN</a:t>
            </a:r>
            <a:r>
              <a:rPr lang="zh-CN" altLang="en-US" sz="4400" dirty="0"/>
              <a:t>与图像数据库</a:t>
            </a:r>
            <a:endParaRPr lang="zh-CN" altLang="en-US" dirty="0"/>
          </a:p>
        </p:txBody>
      </p:sp>
      <p:sp>
        <p:nvSpPr>
          <p:cNvPr id="4" name="内容占位符 2">
            <a:extLst>
              <a:ext uri="{FF2B5EF4-FFF2-40B4-BE49-F238E27FC236}">
                <a16:creationId xmlns:a16="http://schemas.microsoft.com/office/drawing/2014/main" id="{7574EFB8-EBA0-AAF3-0B4F-E0EA6A27715D}"/>
              </a:ext>
            </a:extLst>
          </p:cNvPr>
          <p:cNvSpPr>
            <a:spLocks noGrp="1"/>
          </p:cNvSpPr>
          <p:nvPr>
            <p:ph idx="1"/>
          </p:nvPr>
        </p:nvSpPr>
        <p:spPr>
          <a:xfrm>
            <a:off x="685800" y="1537821"/>
            <a:ext cx="3319594" cy="4572000"/>
          </a:xfrm>
        </p:spPr>
        <p:txBody>
          <a:bodyPr/>
          <a:lstStyle/>
          <a:p>
            <a:pPr>
              <a:lnSpc>
                <a:spcPct val="150000"/>
              </a:lnSpc>
            </a:pPr>
            <a:r>
              <a:rPr lang="en-US" altLang="zh-CN" sz="2400" dirty="0">
                <a:solidFill>
                  <a:schemeClr val="tx1"/>
                </a:solidFill>
              </a:rPr>
              <a:t>2007</a:t>
            </a:r>
            <a:r>
              <a:rPr lang="zh-CN" altLang="en-US" sz="2400" dirty="0">
                <a:solidFill>
                  <a:schemeClr val="tx1"/>
                </a:solidFill>
              </a:rPr>
              <a:t>年初，李飞飞开始了</a:t>
            </a:r>
            <a:r>
              <a:rPr lang="en-US" altLang="zh-CN" sz="2400" dirty="0">
                <a:solidFill>
                  <a:schemeClr val="tx1"/>
                </a:solidFill>
              </a:rPr>
              <a:t>ImageNet</a:t>
            </a:r>
            <a:r>
              <a:rPr lang="zh-CN" altLang="en-US" sz="2400" dirty="0">
                <a:solidFill>
                  <a:schemeClr val="tx1"/>
                </a:solidFill>
              </a:rPr>
              <a:t>项目</a:t>
            </a:r>
            <a:r>
              <a:rPr lang="zh-CN" altLang="en-US" sz="2400" dirty="0" smtClean="0">
                <a:solidFill>
                  <a:schemeClr val="tx1"/>
                </a:solidFill>
              </a:rPr>
              <a:t>，组织了</a:t>
            </a:r>
            <a:r>
              <a:rPr lang="zh-CN" altLang="en-US" sz="2400" dirty="0">
                <a:solidFill>
                  <a:schemeClr val="tx1"/>
                </a:solidFill>
              </a:rPr>
              <a:t>图像分类挑战</a:t>
            </a:r>
            <a:r>
              <a:rPr lang="en-US" altLang="zh-CN" sz="2400" dirty="0" smtClean="0">
                <a:solidFill>
                  <a:schemeClr val="tx1"/>
                </a:solidFill>
              </a:rPr>
              <a:t>ILSVRC </a:t>
            </a:r>
            <a:r>
              <a:rPr lang="zh-CN" altLang="en-US" sz="2400" dirty="0" smtClean="0">
                <a:solidFill>
                  <a:schemeClr val="tx1"/>
                </a:solidFill>
              </a:rPr>
              <a:t>竞赛。</a:t>
            </a:r>
            <a:endParaRPr lang="en-US" altLang="zh-CN" sz="2400" dirty="0" smtClean="0">
              <a:solidFill>
                <a:schemeClr val="tx1"/>
              </a:solidFill>
            </a:endParaRPr>
          </a:p>
          <a:p>
            <a:pPr>
              <a:lnSpc>
                <a:spcPct val="150000"/>
              </a:lnSpc>
            </a:pPr>
            <a:r>
              <a:rPr lang="zh-CN" altLang="en-US" sz="2400" dirty="0" smtClean="0">
                <a:solidFill>
                  <a:schemeClr val="tx1"/>
                </a:solidFill>
              </a:rPr>
              <a:t>图像规模已</a:t>
            </a:r>
            <a:r>
              <a:rPr lang="zh-CN" altLang="en-US" sz="2400" dirty="0">
                <a:solidFill>
                  <a:schemeClr val="tx1"/>
                </a:solidFill>
              </a:rPr>
              <a:t>超过</a:t>
            </a:r>
            <a:r>
              <a:rPr lang="en-US" altLang="zh-CN" sz="2400" dirty="0" smtClean="0">
                <a:solidFill>
                  <a:schemeClr val="tx1"/>
                </a:solidFill>
              </a:rPr>
              <a:t>1500</a:t>
            </a:r>
            <a:r>
              <a:rPr lang="zh-CN" altLang="en-US" sz="2400" dirty="0">
                <a:solidFill>
                  <a:schemeClr val="tx1"/>
                </a:solidFill>
              </a:rPr>
              <a:t>万张</a:t>
            </a:r>
            <a:r>
              <a:rPr lang="zh-CN" altLang="en-US" sz="2400" dirty="0" smtClean="0">
                <a:solidFill>
                  <a:schemeClr val="tx1"/>
                </a:solidFill>
              </a:rPr>
              <a:t>。</a:t>
            </a:r>
            <a:endParaRPr lang="en-US" altLang="zh-CN" sz="2400" dirty="0" smtClean="0">
              <a:solidFill>
                <a:schemeClr val="tx1"/>
              </a:solidFill>
            </a:endParaRPr>
          </a:p>
          <a:p>
            <a:pPr>
              <a:lnSpc>
                <a:spcPct val="150000"/>
              </a:lnSpc>
            </a:pPr>
            <a:r>
              <a:rPr lang="zh-CN" altLang="en-US" sz="2400" dirty="0" smtClean="0">
                <a:solidFill>
                  <a:schemeClr val="tx1"/>
                </a:solidFill>
              </a:rPr>
              <a:t>最新更新</a:t>
            </a:r>
            <a:r>
              <a:rPr lang="en-US" altLang="zh-CN" sz="2400" dirty="0" smtClean="0">
                <a:solidFill>
                  <a:schemeClr val="tx1"/>
                </a:solidFill>
              </a:rPr>
              <a:t>3/11/2021</a:t>
            </a:r>
          </a:p>
          <a:p>
            <a:pPr>
              <a:lnSpc>
                <a:spcPct val="150000"/>
              </a:lnSpc>
            </a:pPr>
            <a:endParaRPr lang="en-US" altLang="zh-CN" sz="2400" dirty="0">
              <a:solidFill>
                <a:schemeClr val="tx1"/>
              </a:solidFill>
            </a:endParaRPr>
          </a:p>
        </p:txBody>
      </p:sp>
      <p:pic>
        <p:nvPicPr>
          <p:cNvPr id="5" name="图片 4"/>
          <p:cNvPicPr>
            <a:picLocks noChangeAspect="1"/>
          </p:cNvPicPr>
          <p:nvPr/>
        </p:nvPicPr>
        <p:blipFill>
          <a:blip r:embed="rId3"/>
          <a:stretch>
            <a:fillRect/>
          </a:stretch>
        </p:blipFill>
        <p:spPr>
          <a:xfrm>
            <a:off x="4606382" y="1559777"/>
            <a:ext cx="7327042" cy="4150757"/>
          </a:xfrm>
          <a:prstGeom prst="rect">
            <a:avLst/>
          </a:prstGeom>
        </p:spPr>
      </p:pic>
      <p:pic>
        <p:nvPicPr>
          <p:cNvPr id="10" name="图片 9"/>
          <p:cNvPicPr>
            <a:picLocks noChangeAspect="1"/>
          </p:cNvPicPr>
          <p:nvPr/>
        </p:nvPicPr>
        <p:blipFill>
          <a:blip r:embed="rId4"/>
          <a:stretch>
            <a:fillRect/>
          </a:stretch>
        </p:blipFill>
        <p:spPr>
          <a:xfrm>
            <a:off x="4606382" y="1203098"/>
            <a:ext cx="7474769" cy="5412371"/>
          </a:xfrm>
          <a:prstGeom prst="rect">
            <a:avLst/>
          </a:prstGeom>
        </p:spPr>
      </p:pic>
      <p:sp>
        <p:nvSpPr>
          <p:cNvPr id="12" name="矩形 11"/>
          <p:cNvSpPr/>
          <p:nvPr/>
        </p:nvSpPr>
        <p:spPr>
          <a:xfrm>
            <a:off x="7696200" y="6513938"/>
            <a:ext cx="3365024" cy="369332"/>
          </a:xfrm>
          <a:prstGeom prst="rect">
            <a:avLst/>
          </a:prstGeom>
        </p:spPr>
        <p:txBody>
          <a:bodyPr wrap="none">
            <a:spAutoFit/>
          </a:bodyPr>
          <a:lstStyle/>
          <a:p>
            <a:r>
              <a:rPr lang="zh-CN" altLang="en-US" dirty="0"/>
              <a:t>https://image-net.org/index.php</a:t>
            </a:r>
          </a:p>
        </p:txBody>
      </p:sp>
    </p:spTree>
    <p:extLst>
      <p:ext uri="{BB962C8B-B14F-4D97-AF65-F5344CB8AC3E}">
        <p14:creationId xmlns:p14="http://schemas.microsoft.com/office/powerpoint/2010/main" val="29848626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dirty="0"/>
              <a:t>经典</a:t>
            </a:r>
            <a:r>
              <a:rPr lang="en-US" altLang="zh-CN" sz="4400" dirty="0"/>
              <a:t>CNN</a:t>
            </a:r>
            <a:r>
              <a:rPr lang="zh-CN" altLang="en-US" sz="4400" dirty="0"/>
              <a:t>模型</a:t>
            </a:r>
            <a:endParaRPr lang="zh-CN" altLang="en-US" dirty="0"/>
          </a:p>
        </p:txBody>
      </p:sp>
      <p:sp>
        <p:nvSpPr>
          <p:cNvPr id="4" name="内容占位符 3">
            <a:extLst>
              <a:ext uri="{FF2B5EF4-FFF2-40B4-BE49-F238E27FC236}">
                <a16:creationId xmlns:a16="http://schemas.microsoft.com/office/drawing/2014/main" id="{3DD1CD28-10C9-E6B5-D260-83D18BF89B0F}"/>
              </a:ext>
            </a:extLst>
          </p:cNvPr>
          <p:cNvSpPr txBox="1">
            <a:spLocks/>
          </p:cNvSpPr>
          <p:nvPr/>
        </p:nvSpPr>
        <p:spPr>
          <a:xfrm>
            <a:off x="342900" y="1287407"/>
            <a:ext cx="11506200" cy="4343400"/>
          </a:xfrm>
          <a:prstGeom prst="rect">
            <a:avLst/>
          </a:prstGeom>
        </p:spPr>
        <p:txBody>
          <a:bodyPr/>
          <a:lstStyle>
            <a:lvl1pPr marL="342882" indent="-342882" algn="l" rtl="0" eaLnBrk="1" fontAlgn="base" hangingPunct="1">
              <a:spcBef>
                <a:spcPct val="20000"/>
              </a:spcBef>
              <a:spcAft>
                <a:spcPct val="0"/>
              </a:spcAft>
              <a:buClr>
                <a:schemeClr val="accent2"/>
              </a:buClr>
              <a:buFont typeface="Wingdings" pitchFamily="2" charset="2"/>
              <a:buChar char="§"/>
              <a:defRPr sz="3200">
                <a:solidFill>
                  <a:schemeClr val="accent2"/>
                </a:solidFill>
                <a:latin typeface="Calibri" pitchFamily="34" charset="0"/>
                <a:ea typeface="+mn-ea"/>
                <a:cs typeface="+mn-cs"/>
              </a:defRPr>
            </a:lvl1pPr>
            <a:lvl2pPr marL="742913" indent="-285737" algn="l" rtl="0" eaLnBrk="1" fontAlgn="base" hangingPunct="1">
              <a:spcBef>
                <a:spcPct val="20000"/>
              </a:spcBef>
              <a:spcAft>
                <a:spcPct val="0"/>
              </a:spcAft>
              <a:buClr>
                <a:schemeClr val="tx1"/>
              </a:buClr>
              <a:buFont typeface="Wingdings" pitchFamily="2" charset="2"/>
              <a:buChar char="§"/>
              <a:defRPr sz="2800">
                <a:solidFill>
                  <a:schemeClr val="tx1"/>
                </a:solidFill>
                <a:latin typeface="Calibri" pitchFamily="34" charset="0"/>
              </a:defRPr>
            </a:lvl2pPr>
            <a:lvl3pPr marL="1142942" indent="-228589" algn="l" rtl="0" eaLnBrk="1" fontAlgn="base" hangingPunct="1">
              <a:spcBef>
                <a:spcPct val="20000"/>
              </a:spcBef>
              <a:spcAft>
                <a:spcPct val="0"/>
              </a:spcAft>
              <a:buClr>
                <a:schemeClr val="accent2"/>
              </a:buClr>
              <a:buFont typeface="Wingdings" pitchFamily="2" charset="2"/>
              <a:buChar char="§"/>
              <a:defRPr sz="2400">
                <a:solidFill>
                  <a:schemeClr val="tx1"/>
                </a:solidFill>
                <a:latin typeface="Calibri" pitchFamily="34" charset="0"/>
              </a:defRPr>
            </a:lvl3pPr>
            <a:lvl4pPr marL="1600120" indent="-228589" algn="l" rtl="0" eaLnBrk="1" fontAlgn="base" hangingPunct="1">
              <a:spcBef>
                <a:spcPct val="20000"/>
              </a:spcBef>
              <a:spcAft>
                <a:spcPct val="0"/>
              </a:spcAft>
              <a:buClr>
                <a:schemeClr val="tx1"/>
              </a:buClr>
              <a:buFont typeface="Wingdings" pitchFamily="2" charset="2"/>
              <a:buChar char="§"/>
              <a:defRPr sz="2000">
                <a:solidFill>
                  <a:schemeClr val="tx1"/>
                </a:solidFill>
                <a:latin typeface="Calibri" pitchFamily="34" charset="0"/>
              </a:defRPr>
            </a:lvl4pPr>
            <a:lvl5pPr marL="2057298"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Calibri" pitchFamily="34" charset="0"/>
              </a:defRPr>
            </a:lvl5pPr>
            <a:lvl6pPr marL="2514474"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9pPr>
          </a:lstStyle>
          <a:p>
            <a:pPr marL="342900" indent="-342900">
              <a:lnSpc>
                <a:spcPct val="200000"/>
              </a:lnSpc>
            </a:pPr>
            <a:r>
              <a:rPr lang="en-US" altLang="zh-CN" sz="2800" b="1" dirty="0" err="1" smtClean="0"/>
              <a:t>AlexNet</a:t>
            </a:r>
            <a:r>
              <a:rPr lang="zh-CN" altLang="en-US" sz="2800" dirty="0" smtClean="0"/>
              <a:t>（</a:t>
            </a:r>
            <a:r>
              <a:rPr lang="en-US" altLang="zh-CN" sz="2800" dirty="0" smtClean="0"/>
              <a:t>2012</a:t>
            </a:r>
            <a:r>
              <a:rPr lang="zh-CN" altLang="en-US" sz="2800" dirty="0" smtClean="0"/>
              <a:t>）</a:t>
            </a:r>
            <a:endParaRPr lang="en-US" altLang="zh-CN" sz="2800" dirty="0"/>
          </a:p>
          <a:p>
            <a:pPr marL="0" indent="0">
              <a:lnSpc>
                <a:spcPct val="150000"/>
              </a:lnSpc>
              <a:buNone/>
            </a:pPr>
            <a:endParaRPr lang="en-US" altLang="zh-CN" sz="2400" kern="0" dirty="0"/>
          </a:p>
        </p:txBody>
      </p:sp>
      <p:pic>
        <p:nvPicPr>
          <p:cNvPr id="3" name="图片 2">
            <a:extLst>
              <a:ext uri="{FF2B5EF4-FFF2-40B4-BE49-F238E27FC236}">
                <a16:creationId xmlns:a16="http://schemas.microsoft.com/office/drawing/2014/main" id="{EB4E92E0-B685-C83A-C5E1-2222337AFA71}"/>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862522" y="1287407"/>
            <a:ext cx="5986578" cy="1927429"/>
          </a:xfrm>
          <a:prstGeom prst="rect">
            <a:avLst/>
          </a:prstGeom>
        </p:spPr>
      </p:pic>
      <p:sp>
        <p:nvSpPr>
          <p:cNvPr id="5" name="内容占位符 2">
            <a:extLst>
              <a:ext uri="{FF2B5EF4-FFF2-40B4-BE49-F238E27FC236}">
                <a16:creationId xmlns:a16="http://schemas.microsoft.com/office/drawing/2014/main" id="{2F33F61E-724E-B80D-8C31-B266B0E3370F}"/>
              </a:ext>
            </a:extLst>
          </p:cNvPr>
          <p:cNvSpPr>
            <a:spLocks noGrp="1"/>
          </p:cNvSpPr>
          <p:nvPr>
            <p:ph idx="1"/>
          </p:nvPr>
        </p:nvSpPr>
        <p:spPr>
          <a:xfrm>
            <a:off x="838200" y="2068749"/>
            <a:ext cx="10515600" cy="1325563"/>
          </a:xfrm>
        </p:spPr>
        <p:txBody>
          <a:bodyPr>
            <a:normAutofit/>
          </a:bodyPr>
          <a:lstStyle/>
          <a:p>
            <a:pPr>
              <a:lnSpc>
                <a:spcPct val="150000"/>
              </a:lnSpc>
            </a:pPr>
            <a:r>
              <a:rPr lang="en-US" altLang="zh-CN" sz="2000" dirty="0">
                <a:solidFill>
                  <a:srgbClr val="FF0000"/>
                </a:solidFill>
              </a:rPr>
              <a:t>5</a:t>
            </a:r>
            <a:r>
              <a:rPr lang="zh-CN" altLang="en-US" sz="2000" dirty="0"/>
              <a:t>个卷积层、</a:t>
            </a:r>
            <a:r>
              <a:rPr lang="en-US" altLang="zh-CN" sz="2000" dirty="0"/>
              <a:t>3</a:t>
            </a:r>
            <a:r>
              <a:rPr lang="zh-CN" altLang="en-US" sz="2000" dirty="0"/>
              <a:t>个池化层、</a:t>
            </a:r>
            <a:r>
              <a:rPr lang="en-US" altLang="zh-CN" sz="2000" dirty="0">
                <a:solidFill>
                  <a:srgbClr val="FF0000"/>
                </a:solidFill>
              </a:rPr>
              <a:t>3</a:t>
            </a:r>
            <a:r>
              <a:rPr lang="zh-CN" altLang="en-US" sz="2000" dirty="0"/>
              <a:t>个全连接</a:t>
            </a:r>
            <a:r>
              <a:rPr lang="zh-CN" altLang="en-US" sz="2000" dirty="0" smtClean="0"/>
              <a:t>层</a:t>
            </a:r>
            <a:endParaRPr lang="en-US" altLang="zh-CN" sz="2000" dirty="0"/>
          </a:p>
        </p:txBody>
      </p:sp>
      <p:sp>
        <p:nvSpPr>
          <p:cNvPr id="6" name="矩形 5"/>
          <p:cNvSpPr/>
          <p:nvPr/>
        </p:nvSpPr>
        <p:spPr>
          <a:xfrm>
            <a:off x="666667" y="3015707"/>
            <a:ext cx="10858665" cy="3416320"/>
          </a:xfrm>
          <a:prstGeom prst="rect">
            <a:avLst/>
          </a:prstGeom>
        </p:spPr>
        <p:txBody>
          <a:bodyPr wrap="square">
            <a:spAutoFit/>
          </a:bodyPr>
          <a:lstStyle/>
          <a:p>
            <a:pPr>
              <a:lnSpc>
                <a:spcPct val="150000"/>
              </a:lnSpc>
            </a:pPr>
            <a:r>
              <a:rPr lang="zh-CN" altLang="en-US" b="1" dirty="0" smtClean="0">
                <a:solidFill>
                  <a:srgbClr val="000000"/>
                </a:solidFill>
                <a:latin typeface="PingFang SC"/>
              </a:rPr>
              <a:t>创新</a:t>
            </a:r>
            <a:r>
              <a:rPr lang="en-US" altLang="zh-CN" b="1" dirty="0" smtClean="0">
                <a:solidFill>
                  <a:srgbClr val="000000"/>
                </a:solidFill>
                <a:latin typeface="PingFang SC"/>
              </a:rPr>
              <a:t>:</a:t>
            </a:r>
            <a:r>
              <a:rPr lang="zh-CN" altLang="en-US" b="1" dirty="0" smtClean="0">
                <a:solidFill>
                  <a:srgbClr val="000000"/>
                </a:solidFill>
                <a:latin typeface="PingFang SC"/>
              </a:rPr>
              <a:t> </a:t>
            </a:r>
            <a:endParaRPr lang="zh-CN" altLang="en-US" dirty="0">
              <a:latin typeface="PingFang SC"/>
            </a:endParaRPr>
          </a:p>
          <a:p>
            <a:pPr>
              <a:lnSpc>
                <a:spcPct val="150000"/>
              </a:lnSpc>
              <a:buFont typeface="+mj-lt"/>
              <a:buAutoNum type="arabicPeriod"/>
            </a:pPr>
            <a:r>
              <a:rPr lang="en-US" altLang="zh-CN" dirty="0" err="1" smtClean="0">
                <a:solidFill>
                  <a:srgbClr val="FF0000"/>
                </a:solidFill>
                <a:latin typeface="PingFang SC"/>
              </a:rPr>
              <a:t>ReLU</a:t>
            </a:r>
            <a:r>
              <a:rPr lang="zh-CN" altLang="en-US" dirty="0">
                <a:solidFill>
                  <a:srgbClr val="000000"/>
                </a:solidFill>
                <a:latin typeface="PingFang SC"/>
              </a:rPr>
              <a:t>作为</a:t>
            </a:r>
            <a:r>
              <a:rPr lang="en-US" altLang="zh-CN" dirty="0">
                <a:solidFill>
                  <a:srgbClr val="000000"/>
                </a:solidFill>
                <a:latin typeface="PingFang SC"/>
              </a:rPr>
              <a:t>CNN</a:t>
            </a:r>
            <a:r>
              <a:rPr lang="zh-CN" altLang="en-US" dirty="0">
                <a:solidFill>
                  <a:srgbClr val="000000"/>
                </a:solidFill>
                <a:latin typeface="PingFang SC"/>
              </a:rPr>
              <a:t>的激活函数，验证了其效果在较深的网络中超过了</a:t>
            </a:r>
            <a:r>
              <a:rPr lang="en-US" altLang="zh-CN" dirty="0">
                <a:solidFill>
                  <a:srgbClr val="000000"/>
                </a:solidFill>
                <a:latin typeface="PingFang SC"/>
              </a:rPr>
              <a:t>Sigmoid</a:t>
            </a:r>
            <a:r>
              <a:rPr lang="zh-CN" altLang="en-US" dirty="0">
                <a:solidFill>
                  <a:srgbClr val="000000"/>
                </a:solidFill>
                <a:latin typeface="PingFang SC"/>
              </a:rPr>
              <a:t>，成功解决了</a:t>
            </a:r>
            <a:r>
              <a:rPr lang="en-US" altLang="zh-CN" dirty="0">
                <a:solidFill>
                  <a:srgbClr val="000000"/>
                </a:solidFill>
                <a:latin typeface="PingFang SC"/>
              </a:rPr>
              <a:t>Sigmoid</a:t>
            </a:r>
            <a:r>
              <a:rPr lang="zh-CN" altLang="en-US" dirty="0">
                <a:solidFill>
                  <a:srgbClr val="000000"/>
                </a:solidFill>
                <a:latin typeface="PingFang SC"/>
              </a:rPr>
              <a:t>在网络较深时的梯度弥散问题。</a:t>
            </a:r>
            <a:endParaRPr lang="zh-CN" altLang="en-US" dirty="0">
              <a:latin typeface="PingFang SC"/>
            </a:endParaRPr>
          </a:p>
          <a:p>
            <a:pPr>
              <a:lnSpc>
                <a:spcPct val="150000"/>
              </a:lnSpc>
              <a:buFont typeface="+mj-lt"/>
              <a:buAutoNum type="arabicPeriod"/>
            </a:pPr>
            <a:r>
              <a:rPr lang="zh-CN" altLang="en-US" dirty="0">
                <a:solidFill>
                  <a:srgbClr val="000000"/>
                </a:solidFill>
                <a:latin typeface="PingFang SC"/>
              </a:rPr>
              <a:t>训练时</a:t>
            </a:r>
            <a:r>
              <a:rPr lang="zh-CN" altLang="en-US" dirty="0" smtClean="0">
                <a:solidFill>
                  <a:srgbClr val="000000"/>
                </a:solidFill>
                <a:latin typeface="PingFang SC"/>
              </a:rPr>
              <a:t>使用</a:t>
            </a:r>
            <a:r>
              <a:rPr lang="zh-CN" altLang="en-US" dirty="0" smtClean="0">
                <a:solidFill>
                  <a:srgbClr val="FF0000"/>
                </a:solidFill>
                <a:latin typeface="PingFang SC"/>
              </a:rPr>
              <a:t>图像数据增强</a:t>
            </a:r>
            <a:r>
              <a:rPr lang="zh-CN" altLang="en-US" dirty="0" smtClean="0">
                <a:solidFill>
                  <a:srgbClr val="000000"/>
                </a:solidFill>
                <a:latin typeface="PingFang SC"/>
              </a:rPr>
              <a:t>、</a:t>
            </a:r>
            <a:r>
              <a:rPr lang="en-US" altLang="zh-CN" dirty="0" smtClean="0">
                <a:solidFill>
                  <a:srgbClr val="FF0000"/>
                </a:solidFill>
                <a:latin typeface="PingFang SC"/>
              </a:rPr>
              <a:t>Dropout</a:t>
            </a:r>
            <a:r>
              <a:rPr lang="zh-CN" altLang="en-US" dirty="0">
                <a:solidFill>
                  <a:srgbClr val="000000"/>
                </a:solidFill>
                <a:latin typeface="PingFang SC"/>
              </a:rPr>
              <a:t>随机忽略一部分神经元，以避免模型过</a:t>
            </a:r>
            <a:r>
              <a:rPr lang="zh-CN" altLang="en-US" dirty="0" smtClean="0">
                <a:solidFill>
                  <a:srgbClr val="000000"/>
                </a:solidFill>
                <a:latin typeface="PingFang SC"/>
              </a:rPr>
              <a:t>拟合。</a:t>
            </a:r>
            <a:endParaRPr lang="en-US" altLang="zh-CN" dirty="0" smtClean="0">
              <a:solidFill>
                <a:srgbClr val="000000"/>
              </a:solidFill>
              <a:latin typeface="PingFang SC"/>
            </a:endParaRPr>
          </a:p>
          <a:p>
            <a:pPr>
              <a:lnSpc>
                <a:spcPct val="150000"/>
              </a:lnSpc>
              <a:buFont typeface="+mj-lt"/>
              <a:buAutoNum type="arabicPeriod"/>
            </a:pPr>
            <a:r>
              <a:rPr lang="zh-CN" altLang="en-US" dirty="0" smtClean="0">
                <a:solidFill>
                  <a:srgbClr val="000000"/>
                </a:solidFill>
                <a:latin typeface="PingFang SC"/>
              </a:rPr>
              <a:t>使用</a:t>
            </a:r>
            <a:r>
              <a:rPr lang="zh-CN" altLang="en-US" dirty="0">
                <a:solidFill>
                  <a:srgbClr val="FF0000"/>
                </a:solidFill>
                <a:latin typeface="PingFang SC"/>
              </a:rPr>
              <a:t>重叠的最大池化</a:t>
            </a:r>
            <a:r>
              <a:rPr lang="en-US" altLang="zh-CN" dirty="0">
                <a:solidFill>
                  <a:srgbClr val="000000"/>
                </a:solidFill>
                <a:latin typeface="PingFang SC"/>
              </a:rPr>
              <a:t>(</a:t>
            </a:r>
            <a:r>
              <a:rPr lang="zh-CN" altLang="en-US" dirty="0">
                <a:solidFill>
                  <a:srgbClr val="000000"/>
                </a:solidFill>
                <a:latin typeface="PingFang SC"/>
              </a:rPr>
              <a:t>步长小于卷积核</a:t>
            </a:r>
            <a:r>
              <a:rPr lang="en-US" altLang="zh-CN" dirty="0" smtClean="0">
                <a:solidFill>
                  <a:srgbClr val="000000"/>
                </a:solidFill>
                <a:latin typeface="PingFang SC"/>
              </a:rPr>
              <a:t>)</a:t>
            </a:r>
            <a:r>
              <a:rPr lang="zh-CN" altLang="en-US" dirty="0" smtClean="0">
                <a:solidFill>
                  <a:srgbClr val="000000"/>
                </a:solidFill>
                <a:latin typeface="PingFang SC"/>
              </a:rPr>
              <a:t>，可以</a:t>
            </a:r>
            <a:r>
              <a:rPr lang="zh-CN" altLang="en-US" dirty="0">
                <a:solidFill>
                  <a:srgbClr val="000000"/>
                </a:solidFill>
                <a:latin typeface="PingFang SC"/>
              </a:rPr>
              <a:t>提升特征的丰富性。 </a:t>
            </a:r>
            <a:endParaRPr lang="en-US" altLang="zh-CN" dirty="0" smtClean="0">
              <a:solidFill>
                <a:srgbClr val="000000"/>
              </a:solidFill>
              <a:latin typeface="PingFang SC"/>
            </a:endParaRPr>
          </a:p>
          <a:p>
            <a:pPr>
              <a:lnSpc>
                <a:spcPct val="150000"/>
              </a:lnSpc>
              <a:buFont typeface="+mj-lt"/>
              <a:buAutoNum type="arabicPeriod"/>
            </a:pPr>
            <a:r>
              <a:rPr lang="zh-CN" altLang="en-US" dirty="0" smtClean="0">
                <a:solidFill>
                  <a:srgbClr val="000000"/>
                </a:solidFill>
                <a:latin typeface="PingFang SC"/>
              </a:rPr>
              <a:t>提出</a:t>
            </a:r>
            <a:r>
              <a:rPr lang="en-US" altLang="zh-CN" dirty="0">
                <a:solidFill>
                  <a:srgbClr val="000000"/>
                </a:solidFill>
                <a:latin typeface="PingFang SC"/>
              </a:rPr>
              <a:t>LRN</a:t>
            </a:r>
            <a:r>
              <a:rPr lang="zh-CN" altLang="en-US" dirty="0">
                <a:solidFill>
                  <a:srgbClr val="000000"/>
                </a:solidFill>
                <a:latin typeface="PingFang SC"/>
              </a:rPr>
              <a:t>（</a:t>
            </a:r>
            <a:r>
              <a:rPr lang="en-US" altLang="zh-CN" dirty="0">
                <a:solidFill>
                  <a:srgbClr val="000000"/>
                </a:solidFill>
                <a:latin typeface="PingFang SC"/>
              </a:rPr>
              <a:t>Local Response Normalization</a:t>
            </a:r>
            <a:r>
              <a:rPr lang="zh-CN" altLang="en-US" dirty="0">
                <a:solidFill>
                  <a:srgbClr val="000000"/>
                </a:solidFill>
                <a:latin typeface="PingFang SC"/>
              </a:rPr>
              <a:t>，即</a:t>
            </a:r>
            <a:r>
              <a:rPr lang="zh-CN" altLang="en-US" dirty="0">
                <a:solidFill>
                  <a:srgbClr val="FF0000"/>
                </a:solidFill>
                <a:latin typeface="PingFang SC"/>
              </a:rPr>
              <a:t>局部响应归一化</a:t>
            </a:r>
            <a:r>
              <a:rPr lang="zh-CN" altLang="en-US" dirty="0">
                <a:solidFill>
                  <a:srgbClr val="000000"/>
                </a:solidFill>
                <a:latin typeface="PingFang SC"/>
              </a:rPr>
              <a:t>）层，对局部神经元的活动创建竞争机制，使得其中响应比较大的值变得相对更大，并抑制其他反馈较小的神经元，增强了模型的泛化能力。</a:t>
            </a:r>
          </a:p>
          <a:p>
            <a:pPr>
              <a:lnSpc>
                <a:spcPct val="150000"/>
              </a:lnSpc>
              <a:buFont typeface="+mj-lt"/>
              <a:buAutoNum type="arabicPeriod"/>
            </a:pPr>
            <a:r>
              <a:rPr lang="zh-CN" altLang="en-US" dirty="0">
                <a:solidFill>
                  <a:srgbClr val="000000"/>
                </a:solidFill>
                <a:latin typeface="PingFang SC"/>
              </a:rPr>
              <a:t>使用</a:t>
            </a:r>
            <a:r>
              <a:rPr lang="en-US" altLang="zh-CN" dirty="0">
                <a:solidFill>
                  <a:srgbClr val="000000"/>
                </a:solidFill>
                <a:latin typeface="PingFang SC"/>
              </a:rPr>
              <a:t>CUDA</a:t>
            </a:r>
            <a:r>
              <a:rPr lang="zh-CN" altLang="en-US" dirty="0">
                <a:solidFill>
                  <a:srgbClr val="000000"/>
                </a:solidFill>
                <a:latin typeface="PingFang SC"/>
              </a:rPr>
              <a:t>加速神经网络的训练，</a:t>
            </a:r>
            <a:r>
              <a:rPr lang="zh-CN" altLang="en-US" dirty="0">
                <a:solidFill>
                  <a:srgbClr val="FF0000"/>
                </a:solidFill>
                <a:latin typeface="PingFang SC"/>
              </a:rPr>
              <a:t>利用了</a:t>
            </a:r>
            <a:r>
              <a:rPr lang="en-US" altLang="zh-CN" dirty="0">
                <a:solidFill>
                  <a:srgbClr val="FF0000"/>
                </a:solidFill>
                <a:latin typeface="PingFang SC"/>
              </a:rPr>
              <a:t>GPU</a:t>
            </a:r>
            <a:r>
              <a:rPr lang="zh-CN" altLang="en-US" dirty="0">
                <a:solidFill>
                  <a:srgbClr val="FF0000"/>
                </a:solidFill>
                <a:latin typeface="PingFang SC"/>
              </a:rPr>
              <a:t>强大的计算能力</a:t>
            </a:r>
            <a:r>
              <a:rPr lang="zh-CN" altLang="en-US" dirty="0">
                <a:solidFill>
                  <a:srgbClr val="000000"/>
                </a:solidFill>
                <a:latin typeface="PingFang SC"/>
              </a:rPr>
              <a:t>。</a:t>
            </a:r>
          </a:p>
        </p:txBody>
      </p:sp>
      <p:sp>
        <p:nvSpPr>
          <p:cNvPr id="7" name="矩形 6"/>
          <p:cNvSpPr/>
          <p:nvPr/>
        </p:nvSpPr>
        <p:spPr>
          <a:xfrm>
            <a:off x="2448333" y="6561793"/>
            <a:ext cx="11729580" cy="276999"/>
          </a:xfrm>
          <a:prstGeom prst="rect">
            <a:avLst/>
          </a:prstGeom>
        </p:spPr>
        <p:txBody>
          <a:bodyPr wrap="square">
            <a:spAutoFit/>
          </a:bodyPr>
          <a:lstStyle/>
          <a:p>
            <a:r>
              <a:rPr lang="en-US" altLang="zh-CN" sz="1200" dirty="0" err="1">
                <a:solidFill>
                  <a:srgbClr val="333333"/>
                </a:solidFill>
                <a:latin typeface="Arial" panose="020B0604020202020204" pitchFamily="34" charset="0"/>
              </a:rPr>
              <a:t>Krizhevsky</a:t>
            </a:r>
            <a:r>
              <a:rPr lang="en-US" altLang="zh-CN" sz="1200" dirty="0">
                <a:solidFill>
                  <a:srgbClr val="333333"/>
                </a:solidFill>
                <a:latin typeface="Arial" panose="020B0604020202020204" pitchFamily="34" charset="0"/>
              </a:rPr>
              <a:t>, A., </a:t>
            </a:r>
            <a:r>
              <a:rPr lang="en-US" altLang="zh-CN" sz="1200" dirty="0" err="1">
                <a:solidFill>
                  <a:srgbClr val="333333"/>
                </a:solidFill>
                <a:latin typeface="Arial" panose="020B0604020202020204" pitchFamily="34" charset="0"/>
              </a:rPr>
              <a:t>Sutskever</a:t>
            </a:r>
            <a:r>
              <a:rPr lang="en-US" altLang="zh-CN" sz="1200" dirty="0">
                <a:solidFill>
                  <a:srgbClr val="333333"/>
                </a:solidFill>
                <a:latin typeface="Arial" panose="020B0604020202020204" pitchFamily="34" charset="0"/>
              </a:rPr>
              <a:t>, I., and Hinton, G. </a:t>
            </a:r>
            <a:r>
              <a:rPr lang="en-US" altLang="zh-CN" sz="1200" dirty="0" smtClean="0">
                <a:solidFill>
                  <a:srgbClr val="333333"/>
                </a:solidFill>
                <a:latin typeface="Arial" panose="020B0604020202020204" pitchFamily="34" charset="0"/>
              </a:rPr>
              <a:t> (</a:t>
            </a:r>
            <a:r>
              <a:rPr lang="en-US" altLang="zh-CN" sz="1200" dirty="0" smtClean="0">
                <a:solidFill>
                  <a:srgbClr val="F73131"/>
                </a:solidFill>
                <a:latin typeface="Arial" panose="020B0604020202020204" pitchFamily="34" charset="0"/>
              </a:rPr>
              <a:t>2012</a:t>
            </a:r>
            <a:r>
              <a:rPr lang="en-US" altLang="zh-CN" sz="1200" dirty="0" smtClean="0">
                <a:solidFill>
                  <a:srgbClr val="333333"/>
                </a:solidFill>
                <a:latin typeface="Arial" panose="020B0604020202020204" pitchFamily="34" charset="0"/>
              </a:rPr>
              <a:t>) </a:t>
            </a:r>
            <a:r>
              <a:rPr lang="en-US" altLang="zh-CN" sz="1200" dirty="0" smtClean="0">
                <a:solidFill>
                  <a:srgbClr val="F73131"/>
                </a:solidFill>
                <a:latin typeface="Arial" panose="020B0604020202020204" pitchFamily="34" charset="0"/>
              </a:rPr>
              <a:t>ImageNet classification with</a:t>
            </a:r>
            <a:r>
              <a:rPr lang="en-US" altLang="zh-CN" sz="1200" dirty="0">
                <a:solidFill>
                  <a:srgbClr val="333333"/>
                </a:solidFill>
                <a:latin typeface="Arial" panose="020B0604020202020204" pitchFamily="34" charset="0"/>
              </a:rPr>
              <a:t> </a:t>
            </a:r>
            <a:r>
              <a:rPr lang="en-US" altLang="zh-CN" sz="1200" dirty="0">
                <a:solidFill>
                  <a:srgbClr val="F73131"/>
                </a:solidFill>
                <a:latin typeface="Arial" panose="020B0604020202020204" pitchFamily="34" charset="0"/>
              </a:rPr>
              <a:t>deep</a:t>
            </a:r>
            <a:r>
              <a:rPr lang="en-US" altLang="zh-CN" sz="1200" dirty="0">
                <a:solidFill>
                  <a:srgbClr val="333333"/>
                </a:solidFill>
                <a:latin typeface="Arial" panose="020B0604020202020204" pitchFamily="34" charset="0"/>
              </a:rPr>
              <a:t> </a:t>
            </a:r>
            <a:r>
              <a:rPr lang="en-US" altLang="zh-CN" sz="1200" dirty="0">
                <a:solidFill>
                  <a:srgbClr val="F73131"/>
                </a:solidFill>
                <a:latin typeface="Arial" panose="020B0604020202020204" pitchFamily="34" charset="0"/>
              </a:rPr>
              <a:t>convolutional</a:t>
            </a:r>
            <a:r>
              <a:rPr lang="en-US" altLang="zh-CN" sz="1200" dirty="0">
                <a:solidFill>
                  <a:srgbClr val="333333"/>
                </a:solidFill>
                <a:latin typeface="Arial" panose="020B0604020202020204" pitchFamily="34" charset="0"/>
              </a:rPr>
              <a:t> </a:t>
            </a:r>
            <a:r>
              <a:rPr lang="en-US" altLang="zh-CN" sz="1200" dirty="0">
                <a:solidFill>
                  <a:srgbClr val="F73131"/>
                </a:solidFill>
                <a:latin typeface="Arial" panose="020B0604020202020204" pitchFamily="34" charset="0"/>
              </a:rPr>
              <a:t>neural</a:t>
            </a:r>
            <a:r>
              <a:rPr lang="en-US" altLang="zh-CN" sz="1200" dirty="0">
                <a:solidFill>
                  <a:srgbClr val="333333"/>
                </a:solidFill>
                <a:latin typeface="Arial" panose="020B0604020202020204" pitchFamily="34" charset="0"/>
              </a:rPr>
              <a:t> </a:t>
            </a:r>
            <a:r>
              <a:rPr lang="en-US" altLang="zh-CN" sz="1200" dirty="0">
                <a:solidFill>
                  <a:srgbClr val="F73131"/>
                </a:solidFill>
                <a:latin typeface="Arial" panose="020B0604020202020204" pitchFamily="34" charset="0"/>
              </a:rPr>
              <a:t>networks</a:t>
            </a:r>
            <a:r>
              <a:rPr lang="en-US" altLang="zh-CN" sz="1200" dirty="0">
                <a:solidFill>
                  <a:srgbClr val="333333"/>
                </a:solidFill>
                <a:latin typeface="Arial" panose="020B0604020202020204" pitchFamily="34" charset="0"/>
              </a:rPr>
              <a:t>. In </a:t>
            </a:r>
            <a:r>
              <a:rPr lang="en-US" altLang="zh-CN" sz="1200" dirty="0" smtClean="0">
                <a:solidFill>
                  <a:srgbClr val="333333"/>
                </a:solidFill>
                <a:latin typeface="Arial" panose="020B0604020202020204" pitchFamily="34" charset="0"/>
              </a:rPr>
              <a:t>NeurIPS’</a:t>
            </a:r>
            <a:r>
              <a:rPr lang="en-US" altLang="zh-CN" sz="1200" dirty="0" smtClean="0">
                <a:solidFill>
                  <a:srgbClr val="F73131"/>
                </a:solidFill>
                <a:latin typeface="Arial" panose="020B0604020202020204" pitchFamily="34" charset="0"/>
              </a:rPr>
              <a:t>2012</a:t>
            </a:r>
            <a:endParaRPr lang="zh-CN" altLang="en-US" sz="1200" dirty="0"/>
          </a:p>
        </p:txBody>
      </p:sp>
    </p:spTree>
    <p:extLst>
      <p:ext uri="{BB962C8B-B14F-4D97-AF65-F5344CB8AC3E}">
        <p14:creationId xmlns:p14="http://schemas.microsoft.com/office/powerpoint/2010/main" val="1271856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图片 3"/>
          <p:cNvPicPr>
            <a:picLocks noChangeAspect="1"/>
          </p:cNvPicPr>
          <p:nvPr/>
        </p:nvPicPr>
        <p:blipFill rotWithShape="1">
          <a:blip r:embed="rId3"/>
          <a:srcRect r="27697"/>
          <a:stretch/>
        </p:blipFill>
        <p:spPr>
          <a:xfrm>
            <a:off x="-57165" y="-25400"/>
            <a:ext cx="7758112" cy="6577496"/>
          </a:xfrm>
          <a:prstGeom prst="rect">
            <a:avLst/>
          </a:prstGeom>
        </p:spPr>
      </p:pic>
      <p:pic>
        <p:nvPicPr>
          <p:cNvPr id="5" name="图片 4">
            <a:extLst>
              <a:ext uri="{FF2B5EF4-FFF2-40B4-BE49-F238E27FC236}">
                <a16:creationId xmlns:a16="http://schemas.microsoft.com/office/drawing/2014/main" id="{0174DC68-A149-467F-B632-BE8CA2B9BF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 y="381000"/>
            <a:ext cx="6467665" cy="3137819"/>
          </a:xfrm>
          <a:prstGeom prst="rect">
            <a:avLst/>
          </a:prstGeom>
          <a:ln w="190500" cap="sq">
            <a:solidFill>
              <a:srgbClr val="C8C6BD"/>
            </a:solidFill>
            <a:prstDash val="solid"/>
            <a:miter lim="800000"/>
          </a:ln>
          <a:effectLst>
            <a:outerShdw blurRad="254000" algn="bl" rotWithShape="0">
              <a:srgbClr val="000000">
                <a:alpha val="43000"/>
              </a:srgbClr>
            </a:outerShdw>
          </a:effectLst>
          <a:scene3d>
            <a:camera prst="perspectiveFront" fov="5400000"/>
            <a:lightRig rig="threePt" dir="t">
              <a:rot lat="0" lon="0" rev="2100000"/>
            </a:lightRig>
          </a:scene3d>
          <a:sp3d extrusionH="25400">
            <a:bevelT w="304800" h="152400" prst="hardEdge"/>
            <a:extrusionClr>
              <a:srgbClr val="000000"/>
            </a:extrusionClr>
          </a:sp3d>
        </p:spPr>
      </p:pic>
      <p:pic>
        <p:nvPicPr>
          <p:cNvPr id="3" name="图片 2"/>
          <p:cNvPicPr>
            <a:picLocks noChangeAspect="1"/>
          </p:cNvPicPr>
          <p:nvPr/>
        </p:nvPicPr>
        <p:blipFill>
          <a:blip r:embed="rId5"/>
          <a:stretch>
            <a:fillRect/>
          </a:stretch>
        </p:blipFill>
        <p:spPr>
          <a:xfrm>
            <a:off x="7169132" y="2514600"/>
            <a:ext cx="5022868" cy="2743200"/>
          </a:xfrm>
          <a:prstGeom prst="rect">
            <a:avLst/>
          </a:prstGeom>
        </p:spPr>
      </p:pic>
    </p:spTree>
    <p:extLst>
      <p:ext uri="{BB962C8B-B14F-4D97-AF65-F5344CB8AC3E}">
        <p14:creationId xmlns:p14="http://schemas.microsoft.com/office/powerpoint/2010/main" val="19958241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866A4D61-5A64-096A-63EA-E7EE9A1CAF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3259588"/>
            <a:ext cx="6036589" cy="2901306"/>
          </a:xfrm>
          <a:prstGeom prst="rect">
            <a:avLst/>
          </a:prstGeom>
        </p:spPr>
      </p:pic>
      <p:sp>
        <p:nvSpPr>
          <p:cNvPr id="2" name="标题 1"/>
          <p:cNvSpPr>
            <a:spLocks noGrp="1"/>
          </p:cNvSpPr>
          <p:nvPr>
            <p:ph type="title"/>
          </p:nvPr>
        </p:nvSpPr>
        <p:spPr/>
        <p:txBody>
          <a:bodyPr/>
          <a:lstStyle/>
          <a:p>
            <a:r>
              <a:rPr lang="zh-CN" altLang="en-US" sz="4400" dirty="0"/>
              <a:t>经典</a:t>
            </a:r>
            <a:r>
              <a:rPr lang="en-US" altLang="zh-CN" sz="4400" dirty="0"/>
              <a:t>CNN</a:t>
            </a:r>
            <a:r>
              <a:rPr lang="zh-CN" altLang="en-US" sz="4400" dirty="0"/>
              <a:t>模型</a:t>
            </a:r>
            <a:endParaRPr lang="zh-CN" altLang="en-US" dirty="0"/>
          </a:p>
        </p:txBody>
      </p:sp>
      <p:sp>
        <p:nvSpPr>
          <p:cNvPr id="4" name="内容占位符 3">
            <a:extLst>
              <a:ext uri="{FF2B5EF4-FFF2-40B4-BE49-F238E27FC236}">
                <a16:creationId xmlns:a16="http://schemas.microsoft.com/office/drawing/2014/main" id="{3DD1CD28-10C9-E6B5-D260-83D18BF89B0F}"/>
              </a:ext>
            </a:extLst>
          </p:cNvPr>
          <p:cNvSpPr txBox="1">
            <a:spLocks/>
          </p:cNvSpPr>
          <p:nvPr/>
        </p:nvSpPr>
        <p:spPr>
          <a:xfrm>
            <a:off x="342900" y="1094875"/>
            <a:ext cx="11506200" cy="4343400"/>
          </a:xfrm>
          <a:prstGeom prst="rect">
            <a:avLst/>
          </a:prstGeom>
        </p:spPr>
        <p:txBody>
          <a:bodyPr/>
          <a:lstStyle>
            <a:lvl1pPr marL="342882" indent="-342882" algn="l" rtl="0" eaLnBrk="1" fontAlgn="base" hangingPunct="1">
              <a:spcBef>
                <a:spcPct val="20000"/>
              </a:spcBef>
              <a:spcAft>
                <a:spcPct val="0"/>
              </a:spcAft>
              <a:buClr>
                <a:schemeClr val="accent2"/>
              </a:buClr>
              <a:buFont typeface="Wingdings" pitchFamily="2" charset="2"/>
              <a:buChar char="§"/>
              <a:defRPr sz="3200">
                <a:solidFill>
                  <a:schemeClr val="accent2"/>
                </a:solidFill>
                <a:latin typeface="Calibri" pitchFamily="34" charset="0"/>
                <a:ea typeface="+mn-ea"/>
                <a:cs typeface="+mn-cs"/>
              </a:defRPr>
            </a:lvl1pPr>
            <a:lvl2pPr marL="742913" indent="-285737" algn="l" rtl="0" eaLnBrk="1" fontAlgn="base" hangingPunct="1">
              <a:spcBef>
                <a:spcPct val="20000"/>
              </a:spcBef>
              <a:spcAft>
                <a:spcPct val="0"/>
              </a:spcAft>
              <a:buClr>
                <a:schemeClr val="tx1"/>
              </a:buClr>
              <a:buFont typeface="Wingdings" pitchFamily="2" charset="2"/>
              <a:buChar char="§"/>
              <a:defRPr sz="2800">
                <a:solidFill>
                  <a:schemeClr val="tx1"/>
                </a:solidFill>
                <a:latin typeface="Calibri" pitchFamily="34" charset="0"/>
              </a:defRPr>
            </a:lvl2pPr>
            <a:lvl3pPr marL="1142942" indent="-228589" algn="l" rtl="0" eaLnBrk="1" fontAlgn="base" hangingPunct="1">
              <a:spcBef>
                <a:spcPct val="20000"/>
              </a:spcBef>
              <a:spcAft>
                <a:spcPct val="0"/>
              </a:spcAft>
              <a:buClr>
                <a:schemeClr val="accent2"/>
              </a:buClr>
              <a:buFont typeface="Wingdings" pitchFamily="2" charset="2"/>
              <a:buChar char="§"/>
              <a:defRPr sz="2400">
                <a:solidFill>
                  <a:schemeClr val="tx1"/>
                </a:solidFill>
                <a:latin typeface="Calibri" pitchFamily="34" charset="0"/>
              </a:defRPr>
            </a:lvl3pPr>
            <a:lvl4pPr marL="1600120" indent="-228589" algn="l" rtl="0" eaLnBrk="1" fontAlgn="base" hangingPunct="1">
              <a:spcBef>
                <a:spcPct val="20000"/>
              </a:spcBef>
              <a:spcAft>
                <a:spcPct val="0"/>
              </a:spcAft>
              <a:buClr>
                <a:schemeClr val="tx1"/>
              </a:buClr>
              <a:buFont typeface="Wingdings" pitchFamily="2" charset="2"/>
              <a:buChar char="§"/>
              <a:defRPr sz="2000">
                <a:solidFill>
                  <a:schemeClr val="tx1"/>
                </a:solidFill>
                <a:latin typeface="Calibri" pitchFamily="34" charset="0"/>
              </a:defRPr>
            </a:lvl4pPr>
            <a:lvl5pPr marL="2057298"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Calibri" pitchFamily="34" charset="0"/>
              </a:defRPr>
            </a:lvl5pPr>
            <a:lvl6pPr marL="2514474"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9pPr>
          </a:lstStyle>
          <a:p>
            <a:pPr marL="342900" indent="-342900">
              <a:lnSpc>
                <a:spcPct val="200000"/>
              </a:lnSpc>
            </a:pPr>
            <a:r>
              <a:rPr lang="en-US" altLang="zh-CN" sz="2800" b="1" dirty="0" err="1"/>
              <a:t>ResNet</a:t>
            </a:r>
            <a:r>
              <a:rPr lang="zh-CN" altLang="en-US" sz="2800" b="1" dirty="0" smtClean="0"/>
              <a:t>（</a:t>
            </a:r>
            <a:r>
              <a:rPr lang="en-US" altLang="zh-CN" sz="2800" b="1" dirty="0" smtClean="0"/>
              <a:t>2015</a:t>
            </a:r>
            <a:r>
              <a:rPr lang="zh-CN" altLang="en-US" sz="2800" b="1" dirty="0" smtClean="0"/>
              <a:t>）</a:t>
            </a:r>
            <a:endParaRPr lang="en-US" altLang="zh-CN" sz="2400" kern="0" dirty="0"/>
          </a:p>
        </p:txBody>
      </p:sp>
      <p:sp>
        <p:nvSpPr>
          <p:cNvPr id="5" name="内容占位符 2">
            <a:extLst>
              <a:ext uri="{FF2B5EF4-FFF2-40B4-BE49-F238E27FC236}">
                <a16:creationId xmlns:a16="http://schemas.microsoft.com/office/drawing/2014/main" id="{2F33F61E-724E-B80D-8C31-B266B0E3370F}"/>
              </a:ext>
            </a:extLst>
          </p:cNvPr>
          <p:cNvSpPr>
            <a:spLocks noGrp="1"/>
          </p:cNvSpPr>
          <p:nvPr>
            <p:ph idx="1"/>
          </p:nvPr>
        </p:nvSpPr>
        <p:spPr>
          <a:xfrm>
            <a:off x="820503" y="2114838"/>
            <a:ext cx="7239000" cy="2235256"/>
          </a:xfrm>
        </p:spPr>
        <p:txBody>
          <a:bodyPr>
            <a:normAutofit/>
          </a:bodyPr>
          <a:lstStyle/>
          <a:p>
            <a:pPr>
              <a:lnSpc>
                <a:spcPct val="150000"/>
              </a:lnSpc>
            </a:pPr>
            <a:r>
              <a:rPr lang="en-US" altLang="zh-CN" sz="1800" dirty="0">
                <a:solidFill>
                  <a:schemeClr val="tx1"/>
                </a:solidFill>
              </a:rPr>
              <a:t>2015</a:t>
            </a:r>
            <a:r>
              <a:rPr lang="zh-CN" altLang="en-US" sz="1800" dirty="0">
                <a:solidFill>
                  <a:schemeClr val="tx1"/>
                </a:solidFill>
              </a:rPr>
              <a:t>年由微软亚洲研究院的学者们提出。</a:t>
            </a:r>
          </a:p>
          <a:p>
            <a:pPr>
              <a:lnSpc>
                <a:spcPct val="150000"/>
              </a:lnSpc>
            </a:pPr>
            <a:r>
              <a:rPr lang="en-US" altLang="zh-CN" sz="1800" dirty="0">
                <a:solidFill>
                  <a:schemeClr val="tx1"/>
                </a:solidFill>
              </a:rPr>
              <a:t>ResNet</a:t>
            </a:r>
            <a:r>
              <a:rPr lang="zh-CN" altLang="en-US" sz="1800" dirty="0">
                <a:solidFill>
                  <a:schemeClr val="tx1"/>
                </a:solidFill>
              </a:rPr>
              <a:t>引入了一个</a:t>
            </a:r>
            <a:r>
              <a:rPr lang="en-US" altLang="zh-CN" sz="1800" b="1" dirty="0">
                <a:solidFill>
                  <a:schemeClr val="tx1"/>
                </a:solidFill>
              </a:rPr>
              <a:t>residual block</a:t>
            </a:r>
            <a:r>
              <a:rPr lang="zh-CN" altLang="en-US" sz="1800" b="1" dirty="0">
                <a:solidFill>
                  <a:schemeClr val="tx1"/>
                </a:solidFill>
              </a:rPr>
              <a:t>（残差块）</a:t>
            </a:r>
          </a:p>
          <a:p>
            <a:pPr>
              <a:lnSpc>
                <a:spcPct val="150000"/>
              </a:lnSpc>
            </a:pPr>
            <a:r>
              <a:rPr lang="zh-CN" altLang="en-US" sz="1800" dirty="0">
                <a:solidFill>
                  <a:schemeClr val="tx1"/>
                </a:solidFill>
              </a:rPr>
              <a:t>通过这种</a:t>
            </a:r>
            <a:r>
              <a:rPr lang="en-US" altLang="zh-CN" sz="1800" dirty="0">
                <a:solidFill>
                  <a:schemeClr val="tx1"/>
                </a:solidFill>
              </a:rPr>
              <a:t>residual block</a:t>
            </a:r>
            <a:r>
              <a:rPr lang="zh-CN" altLang="en-US" sz="1800" dirty="0">
                <a:solidFill>
                  <a:schemeClr val="tx1"/>
                </a:solidFill>
              </a:rPr>
              <a:t>，成功地搭建了一个拥有</a:t>
            </a:r>
            <a:r>
              <a:rPr lang="en-US" altLang="zh-CN" sz="1800" b="1" dirty="0">
                <a:solidFill>
                  <a:schemeClr val="tx1"/>
                </a:solidFill>
              </a:rPr>
              <a:t>152</a:t>
            </a:r>
            <a:r>
              <a:rPr lang="zh-CN" altLang="en-US" sz="1800" b="1" dirty="0">
                <a:solidFill>
                  <a:schemeClr val="tx1"/>
                </a:solidFill>
              </a:rPr>
              <a:t>层的</a:t>
            </a:r>
            <a:r>
              <a:rPr lang="en-US" altLang="zh-CN" sz="1800" b="1" dirty="0">
                <a:solidFill>
                  <a:schemeClr val="tx1"/>
                </a:solidFill>
              </a:rPr>
              <a:t>CNN</a:t>
            </a:r>
            <a:r>
              <a:rPr lang="zh-CN" altLang="en-US" sz="1800" b="1" dirty="0">
                <a:solidFill>
                  <a:schemeClr val="tx1"/>
                </a:solidFill>
              </a:rPr>
              <a:t>！</a:t>
            </a:r>
          </a:p>
        </p:txBody>
      </p:sp>
      <p:pic>
        <p:nvPicPr>
          <p:cNvPr id="7" name="图片 6">
            <a:extLst>
              <a:ext uri="{FF2B5EF4-FFF2-40B4-BE49-F238E27FC236}">
                <a16:creationId xmlns:a16="http://schemas.microsoft.com/office/drawing/2014/main" id="{1CA69C41-2E99-8993-ADE6-AF876126426D}"/>
              </a:ext>
            </a:extLst>
          </p:cNvPr>
          <p:cNvPicPr>
            <a:picLocks noChangeAspect="1"/>
          </p:cNvPicPr>
          <p:nvPr/>
        </p:nvPicPr>
        <p:blipFill>
          <a:blip r:embed="rId4"/>
          <a:stretch>
            <a:fillRect/>
          </a:stretch>
        </p:blipFill>
        <p:spPr>
          <a:xfrm>
            <a:off x="8537106" y="1263634"/>
            <a:ext cx="3435146" cy="5521087"/>
          </a:xfrm>
          <a:prstGeom prst="rect">
            <a:avLst/>
          </a:prstGeom>
        </p:spPr>
      </p:pic>
      <p:sp>
        <p:nvSpPr>
          <p:cNvPr id="8" name="矩形 7">
            <a:extLst>
              <a:ext uri="{FF2B5EF4-FFF2-40B4-BE49-F238E27FC236}">
                <a16:creationId xmlns:a16="http://schemas.microsoft.com/office/drawing/2014/main" id="{D44A6B80-4877-1049-47CD-1735956319DC}"/>
              </a:ext>
            </a:extLst>
          </p:cNvPr>
          <p:cNvSpPr/>
          <p:nvPr/>
        </p:nvSpPr>
        <p:spPr>
          <a:xfrm>
            <a:off x="69330" y="6476944"/>
            <a:ext cx="6884705" cy="307777"/>
          </a:xfrm>
          <a:prstGeom prst="rect">
            <a:avLst/>
          </a:prstGeom>
        </p:spPr>
        <p:txBody>
          <a:bodyPr wrap="none">
            <a:spAutoFit/>
          </a:bodyPr>
          <a:lstStyle/>
          <a:p>
            <a:r>
              <a:rPr lang="en-US" altLang="zh-CN" sz="1400" dirty="0" smtClean="0"/>
              <a:t>Deep </a:t>
            </a:r>
            <a:r>
              <a:rPr lang="en-US" altLang="zh-CN" sz="1400" dirty="0"/>
              <a:t>Residual Learning for Image </a:t>
            </a:r>
            <a:r>
              <a:rPr lang="en-US" altLang="zh-CN" sz="1400" dirty="0" smtClean="0"/>
              <a:t>Recognition, </a:t>
            </a:r>
            <a:r>
              <a:rPr lang="en-US" altLang="zh-CN" sz="1400" dirty="0" smtClean="0">
                <a:hlinkClick r:id="rId5"/>
              </a:rPr>
              <a:t>https</a:t>
            </a:r>
            <a:r>
              <a:rPr lang="en-US" altLang="zh-CN" sz="1400" dirty="0">
                <a:hlinkClick r:id="rId5"/>
              </a:rPr>
              <a:t>://arxiv.org/pdf/1512.03385.pdf</a:t>
            </a:r>
            <a:endParaRPr lang="en-US" altLang="zh-CN" sz="1400" dirty="0"/>
          </a:p>
        </p:txBody>
      </p:sp>
    </p:spTree>
    <p:extLst>
      <p:ext uri="{BB962C8B-B14F-4D97-AF65-F5344CB8AC3E}">
        <p14:creationId xmlns:p14="http://schemas.microsoft.com/office/powerpoint/2010/main" val="2292724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z="4400" dirty="0">
                <a:latin typeface="+mj-ea"/>
              </a:rPr>
              <a:t>经典</a:t>
            </a:r>
            <a:r>
              <a:rPr lang="en-US" altLang="zh-CN" sz="4400" dirty="0">
                <a:latin typeface="+mj-ea"/>
              </a:rPr>
              <a:t>CNN</a:t>
            </a:r>
            <a:r>
              <a:rPr lang="zh-CN" altLang="en-US" sz="4400" dirty="0">
                <a:latin typeface="+mj-ea"/>
              </a:rPr>
              <a:t>模型</a:t>
            </a:r>
            <a:endParaRPr lang="zh-CN" altLang="en-US" dirty="0">
              <a:latin typeface="+mj-ea"/>
            </a:endParaRPr>
          </a:p>
        </p:txBody>
      </p:sp>
      <p:sp>
        <p:nvSpPr>
          <p:cNvPr id="9" name="内容占位符 3">
            <a:extLst>
              <a:ext uri="{FF2B5EF4-FFF2-40B4-BE49-F238E27FC236}">
                <a16:creationId xmlns:a16="http://schemas.microsoft.com/office/drawing/2014/main" id="{3C4CB5A0-E351-1AA3-42B8-E523BF8014A6}"/>
              </a:ext>
            </a:extLst>
          </p:cNvPr>
          <p:cNvSpPr txBox="1">
            <a:spLocks/>
          </p:cNvSpPr>
          <p:nvPr/>
        </p:nvSpPr>
        <p:spPr>
          <a:xfrm>
            <a:off x="342900" y="1287407"/>
            <a:ext cx="11506200" cy="4343400"/>
          </a:xfrm>
          <a:prstGeom prst="rect">
            <a:avLst/>
          </a:prstGeom>
        </p:spPr>
        <p:txBody>
          <a:bodyPr/>
          <a:lstStyle>
            <a:lvl1pPr marL="342882" indent="-342882" algn="l" rtl="0" eaLnBrk="1" fontAlgn="base" hangingPunct="1">
              <a:spcBef>
                <a:spcPct val="20000"/>
              </a:spcBef>
              <a:spcAft>
                <a:spcPct val="0"/>
              </a:spcAft>
              <a:buClr>
                <a:schemeClr val="accent2"/>
              </a:buClr>
              <a:buFont typeface="Wingdings" pitchFamily="2" charset="2"/>
              <a:buChar char="§"/>
              <a:defRPr sz="3200">
                <a:solidFill>
                  <a:schemeClr val="accent2"/>
                </a:solidFill>
                <a:latin typeface="Calibri" pitchFamily="34" charset="0"/>
                <a:ea typeface="+mn-ea"/>
                <a:cs typeface="+mn-cs"/>
              </a:defRPr>
            </a:lvl1pPr>
            <a:lvl2pPr marL="742913" indent="-285737" algn="l" rtl="0" eaLnBrk="1" fontAlgn="base" hangingPunct="1">
              <a:spcBef>
                <a:spcPct val="20000"/>
              </a:spcBef>
              <a:spcAft>
                <a:spcPct val="0"/>
              </a:spcAft>
              <a:buClr>
                <a:schemeClr val="tx1"/>
              </a:buClr>
              <a:buFont typeface="Wingdings" pitchFamily="2" charset="2"/>
              <a:buChar char="§"/>
              <a:defRPr sz="2800">
                <a:solidFill>
                  <a:schemeClr val="tx1"/>
                </a:solidFill>
                <a:latin typeface="Calibri" pitchFamily="34" charset="0"/>
              </a:defRPr>
            </a:lvl2pPr>
            <a:lvl3pPr marL="1142942" indent="-228589" algn="l" rtl="0" eaLnBrk="1" fontAlgn="base" hangingPunct="1">
              <a:spcBef>
                <a:spcPct val="20000"/>
              </a:spcBef>
              <a:spcAft>
                <a:spcPct val="0"/>
              </a:spcAft>
              <a:buClr>
                <a:schemeClr val="accent2"/>
              </a:buClr>
              <a:buFont typeface="Wingdings" pitchFamily="2" charset="2"/>
              <a:buChar char="§"/>
              <a:defRPr sz="2400">
                <a:solidFill>
                  <a:schemeClr val="tx1"/>
                </a:solidFill>
                <a:latin typeface="Calibri" pitchFamily="34" charset="0"/>
              </a:defRPr>
            </a:lvl3pPr>
            <a:lvl4pPr marL="1600120" indent="-228589" algn="l" rtl="0" eaLnBrk="1" fontAlgn="base" hangingPunct="1">
              <a:spcBef>
                <a:spcPct val="20000"/>
              </a:spcBef>
              <a:spcAft>
                <a:spcPct val="0"/>
              </a:spcAft>
              <a:buClr>
                <a:schemeClr val="tx1"/>
              </a:buClr>
              <a:buFont typeface="Wingdings" pitchFamily="2" charset="2"/>
              <a:buChar char="§"/>
              <a:defRPr sz="2000">
                <a:solidFill>
                  <a:schemeClr val="tx1"/>
                </a:solidFill>
                <a:latin typeface="Calibri" pitchFamily="34" charset="0"/>
              </a:defRPr>
            </a:lvl4pPr>
            <a:lvl5pPr marL="2057298"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Calibri" pitchFamily="34" charset="0"/>
              </a:defRPr>
            </a:lvl5pPr>
            <a:lvl6pPr marL="2514474"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accent2"/>
              </a:buClr>
              <a:buFont typeface="Wingdings" pitchFamily="2" charset="2"/>
              <a:buChar char="§"/>
              <a:defRPr sz="2000">
                <a:solidFill>
                  <a:schemeClr val="tx1"/>
                </a:solidFill>
                <a:latin typeface="+mn-lt"/>
              </a:defRPr>
            </a:lvl9pPr>
          </a:lstStyle>
          <a:p>
            <a:pPr marL="342900" indent="-342900">
              <a:lnSpc>
                <a:spcPct val="200000"/>
              </a:lnSpc>
            </a:pPr>
            <a:r>
              <a:rPr lang="en-US" altLang="zh-CN" sz="2800" b="1" dirty="0" err="1">
                <a:latin typeface="+mj-ea"/>
                <a:ea typeface="+mj-ea"/>
              </a:rPr>
              <a:t>MobileNet</a:t>
            </a:r>
            <a:endParaRPr lang="en-US" altLang="zh-CN" sz="2400" kern="0" dirty="0">
              <a:latin typeface="+mj-ea"/>
              <a:ea typeface="+mj-ea"/>
            </a:endParaRPr>
          </a:p>
        </p:txBody>
      </p:sp>
      <p:sp>
        <p:nvSpPr>
          <p:cNvPr id="10" name="内容占位符 2">
            <a:extLst>
              <a:ext uri="{FF2B5EF4-FFF2-40B4-BE49-F238E27FC236}">
                <a16:creationId xmlns:a16="http://schemas.microsoft.com/office/drawing/2014/main" id="{9AC7F5A2-DA11-D685-932A-C6DF73FBFC76}"/>
              </a:ext>
            </a:extLst>
          </p:cNvPr>
          <p:cNvSpPr>
            <a:spLocks noGrp="1"/>
          </p:cNvSpPr>
          <p:nvPr>
            <p:ph idx="1"/>
          </p:nvPr>
        </p:nvSpPr>
        <p:spPr>
          <a:xfrm>
            <a:off x="838200" y="2133544"/>
            <a:ext cx="3623360" cy="2235256"/>
          </a:xfrm>
        </p:spPr>
        <p:txBody>
          <a:bodyPr>
            <a:normAutofit/>
          </a:bodyPr>
          <a:lstStyle/>
          <a:p>
            <a:pPr>
              <a:lnSpc>
                <a:spcPct val="200000"/>
              </a:lnSpc>
            </a:pPr>
            <a:r>
              <a:rPr lang="zh-CN" altLang="en-US" sz="1400" dirty="0">
                <a:solidFill>
                  <a:schemeClr val="tx1"/>
                </a:solidFill>
                <a:latin typeface="+mj-ea"/>
                <a:ea typeface="+mj-ea"/>
              </a:rPr>
              <a:t>由</a:t>
            </a:r>
            <a:r>
              <a:rPr lang="en-US" altLang="zh-CN" sz="1400" dirty="0">
                <a:solidFill>
                  <a:schemeClr val="tx1"/>
                </a:solidFill>
                <a:latin typeface="+mj-ea"/>
                <a:ea typeface="+mj-ea"/>
              </a:rPr>
              <a:t>Google</a:t>
            </a:r>
            <a:r>
              <a:rPr lang="zh-CN" altLang="en-US" sz="1400" dirty="0">
                <a:solidFill>
                  <a:schemeClr val="tx1"/>
                </a:solidFill>
                <a:latin typeface="+mj-ea"/>
                <a:ea typeface="+mj-ea"/>
              </a:rPr>
              <a:t>团队在</a:t>
            </a:r>
            <a:r>
              <a:rPr lang="en-US" altLang="zh-CN" sz="1400" dirty="0">
                <a:solidFill>
                  <a:schemeClr val="tx1"/>
                </a:solidFill>
                <a:latin typeface="+mj-ea"/>
                <a:ea typeface="+mj-ea"/>
              </a:rPr>
              <a:t>2017</a:t>
            </a:r>
            <a:r>
              <a:rPr lang="zh-CN" altLang="en-US" sz="1400" dirty="0">
                <a:solidFill>
                  <a:schemeClr val="tx1"/>
                </a:solidFill>
                <a:latin typeface="+mj-ea"/>
                <a:ea typeface="+mj-ea"/>
              </a:rPr>
              <a:t>年提出，专注于在移动端或者嵌入式设备中使用的轻量级</a:t>
            </a:r>
            <a:r>
              <a:rPr lang="en-US" altLang="zh-CN" sz="1400" dirty="0">
                <a:solidFill>
                  <a:schemeClr val="tx1"/>
                </a:solidFill>
                <a:latin typeface="+mj-ea"/>
                <a:ea typeface="+mj-ea"/>
              </a:rPr>
              <a:t>CNN</a:t>
            </a:r>
            <a:r>
              <a:rPr lang="zh-CN" altLang="en-US" sz="1400" dirty="0">
                <a:solidFill>
                  <a:schemeClr val="tx1"/>
                </a:solidFill>
                <a:latin typeface="+mj-ea"/>
                <a:ea typeface="+mj-ea"/>
              </a:rPr>
              <a:t>网络。相比</a:t>
            </a:r>
            <a:r>
              <a:rPr lang="en-US" altLang="zh-CN" sz="1400" dirty="0">
                <a:solidFill>
                  <a:schemeClr val="tx1"/>
                </a:solidFill>
                <a:latin typeface="+mj-ea"/>
                <a:ea typeface="+mj-ea"/>
              </a:rPr>
              <a:t>VGG16</a:t>
            </a:r>
            <a:r>
              <a:rPr lang="zh-CN" altLang="en-US" sz="1400" dirty="0">
                <a:solidFill>
                  <a:schemeClr val="tx1"/>
                </a:solidFill>
                <a:latin typeface="+mj-ea"/>
                <a:ea typeface="+mj-ea"/>
              </a:rPr>
              <a:t>准确率减少了</a:t>
            </a:r>
            <a:r>
              <a:rPr lang="en-US" altLang="zh-CN" sz="1400" dirty="0">
                <a:solidFill>
                  <a:schemeClr val="tx1"/>
                </a:solidFill>
                <a:latin typeface="+mj-ea"/>
                <a:ea typeface="+mj-ea"/>
              </a:rPr>
              <a:t>0.9%</a:t>
            </a:r>
            <a:r>
              <a:rPr lang="zh-CN" altLang="en-US" sz="1400" dirty="0">
                <a:solidFill>
                  <a:schemeClr val="tx1"/>
                </a:solidFill>
                <a:latin typeface="+mj-ea"/>
                <a:ea typeface="+mj-ea"/>
              </a:rPr>
              <a:t>，但是模型参数只有</a:t>
            </a:r>
            <a:r>
              <a:rPr lang="en-US" altLang="zh-CN" sz="1400" dirty="0">
                <a:solidFill>
                  <a:schemeClr val="tx1"/>
                </a:solidFill>
                <a:latin typeface="+mj-ea"/>
                <a:ea typeface="+mj-ea"/>
              </a:rPr>
              <a:t>VGG</a:t>
            </a:r>
            <a:r>
              <a:rPr lang="zh-CN" altLang="en-US" sz="1400" dirty="0">
                <a:solidFill>
                  <a:schemeClr val="tx1"/>
                </a:solidFill>
                <a:latin typeface="+mj-ea"/>
                <a:ea typeface="+mj-ea"/>
              </a:rPr>
              <a:t>的</a:t>
            </a:r>
            <a:r>
              <a:rPr lang="en-US" altLang="zh-CN" sz="1400" dirty="0">
                <a:solidFill>
                  <a:schemeClr val="tx1"/>
                </a:solidFill>
                <a:latin typeface="+mj-ea"/>
                <a:ea typeface="+mj-ea"/>
              </a:rPr>
              <a:t>1/32</a:t>
            </a:r>
            <a:r>
              <a:rPr lang="zh-CN" altLang="en-US" sz="1400" dirty="0">
                <a:solidFill>
                  <a:schemeClr val="tx1"/>
                </a:solidFill>
                <a:latin typeface="+mj-ea"/>
                <a:ea typeface="+mj-ea"/>
              </a:rPr>
              <a:t>，</a:t>
            </a:r>
            <a:r>
              <a:rPr kumimoji="1" lang="zh-CN" altLang="en-US" sz="1400" dirty="0">
                <a:solidFill>
                  <a:schemeClr val="tx1"/>
                </a:solidFill>
                <a:latin typeface="+mj-ea"/>
                <a:ea typeface="+mj-ea"/>
              </a:rPr>
              <a:t>大大减少了运算量和参数数量。</a:t>
            </a:r>
            <a:endParaRPr lang="zh-CN" altLang="en-US" sz="2400" b="1" dirty="0">
              <a:solidFill>
                <a:schemeClr val="tx1"/>
              </a:solidFill>
              <a:latin typeface="+mj-ea"/>
              <a:ea typeface="+mj-ea"/>
            </a:endParaRPr>
          </a:p>
        </p:txBody>
      </p:sp>
      <p:pic>
        <p:nvPicPr>
          <p:cNvPr id="12" name="图片 11">
            <a:extLst>
              <a:ext uri="{FF2B5EF4-FFF2-40B4-BE49-F238E27FC236}">
                <a16:creationId xmlns:a16="http://schemas.microsoft.com/office/drawing/2014/main" id="{AEA79E40-7C23-4D07-EF63-FEB0CDB2D1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6520" y="1384666"/>
            <a:ext cx="4353527" cy="2608280"/>
          </a:xfrm>
          <a:prstGeom prst="rect">
            <a:avLst/>
          </a:prstGeom>
        </p:spPr>
      </p:pic>
      <p:sp>
        <p:nvSpPr>
          <p:cNvPr id="13" name="文本框 12">
            <a:extLst>
              <a:ext uri="{FF2B5EF4-FFF2-40B4-BE49-F238E27FC236}">
                <a16:creationId xmlns:a16="http://schemas.microsoft.com/office/drawing/2014/main" id="{57A022B2-14B0-7C68-517A-7E56DB9B039A}"/>
              </a:ext>
            </a:extLst>
          </p:cNvPr>
          <p:cNvSpPr txBox="1"/>
          <p:nvPr/>
        </p:nvSpPr>
        <p:spPr>
          <a:xfrm>
            <a:off x="8991600" y="2452303"/>
            <a:ext cx="3200400" cy="923330"/>
          </a:xfrm>
          <a:prstGeom prst="rect">
            <a:avLst/>
          </a:prstGeom>
          <a:noFill/>
        </p:spPr>
        <p:txBody>
          <a:bodyPr wrap="square" rtlCol="0">
            <a:spAutoFit/>
          </a:bodyPr>
          <a:lstStyle/>
          <a:p>
            <a:pPr>
              <a:lnSpc>
                <a:spcPct val="150000"/>
              </a:lnSpc>
            </a:pPr>
            <a:r>
              <a:rPr kumimoji="1" lang="zh-CN" altLang="en-US" sz="1200" b="1" dirty="0">
                <a:latin typeface="+mj-ea"/>
                <a:ea typeface="+mj-ea"/>
              </a:rPr>
              <a:t>传统卷积：</a:t>
            </a:r>
            <a:endParaRPr kumimoji="1" lang="en-US" altLang="zh-CN" sz="1200" b="1" dirty="0">
              <a:latin typeface="+mj-ea"/>
              <a:ea typeface="+mj-ea"/>
            </a:endParaRPr>
          </a:p>
          <a:p>
            <a:pPr marL="285750" indent="-285750">
              <a:lnSpc>
                <a:spcPct val="150000"/>
              </a:lnSpc>
              <a:buFont typeface="Arial" panose="020B0604020202020204" pitchFamily="34" charset="0"/>
              <a:buChar char="•"/>
            </a:pPr>
            <a:r>
              <a:rPr kumimoji="1" lang="zh-CN" altLang="en-US" sz="1200" dirty="0">
                <a:latin typeface="+mj-ea"/>
                <a:ea typeface="+mj-ea"/>
              </a:rPr>
              <a:t>卷积核</a:t>
            </a:r>
            <a:r>
              <a:rPr kumimoji="1" lang="en-US" altLang="zh-CN" sz="1200" dirty="0">
                <a:latin typeface="+mj-ea"/>
                <a:ea typeface="+mj-ea"/>
              </a:rPr>
              <a:t>channel</a:t>
            </a:r>
            <a:r>
              <a:rPr kumimoji="1" lang="zh-CN" altLang="en-US" sz="1200" dirty="0">
                <a:latin typeface="+mj-ea"/>
                <a:ea typeface="+mj-ea"/>
              </a:rPr>
              <a:t> </a:t>
            </a:r>
            <a:r>
              <a:rPr kumimoji="1" lang="en-US" altLang="zh-CN" sz="1200" dirty="0">
                <a:latin typeface="+mj-ea"/>
                <a:ea typeface="+mj-ea"/>
              </a:rPr>
              <a:t>=</a:t>
            </a:r>
            <a:r>
              <a:rPr kumimoji="1" lang="zh-CN" altLang="en-US" sz="1200" dirty="0">
                <a:latin typeface="+mj-ea"/>
                <a:ea typeface="+mj-ea"/>
              </a:rPr>
              <a:t> 输入特征矩阵</a:t>
            </a:r>
            <a:r>
              <a:rPr kumimoji="1" lang="en-US" altLang="zh-CN" sz="1200" dirty="0">
                <a:latin typeface="+mj-ea"/>
                <a:ea typeface="+mj-ea"/>
              </a:rPr>
              <a:t>channel</a:t>
            </a:r>
          </a:p>
          <a:p>
            <a:pPr marL="285750" indent="-285750">
              <a:lnSpc>
                <a:spcPct val="150000"/>
              </a:lnSpc>
              <a:buFont typeface="Arial" panose="020B0604020202020204" pitchFamily="34" charset="0"/>
              <a:buChar char="•"/>
            </a:pPr>
            <a:r>
              <a:rPr kumimoji="1" lang="zh-CN" altLang="en-US" sz="1200" dirty="0">
                <a:latin typeface="+mj-ea"/>
                <a:ea typeface="+mj-ea"/>
              </a:rPr>
              <a:t>输出特征矩阵</a:t>
            </a:r>
            <a:r>
              <a:rPr kumimoji="1" lang="en-US" altLang="zh-CN" sz="1200" dirty="0">
                <a:latin typeface="+mj-ea"/>
                <a:ea typeface="+mj-ea"/>
              </a:rPr>
              <a:t>channel</a:t>
            </a:r>
            <a:r>
              <a:rPr kumimoji="1" lang="zh-CN" altLang="en-US" sz="1200" dirty="0">
                <a:latin typeface="+mj-ea"/>
                <a:ea typeface="+mj-ea"/>
              </a:rPr>
              <a:t> </a:t>
            </a:r>
            <a:r>
              <a:rPr kumimoji="1" lang="en-US" altLang="zh-CN" sz="1200" dirty="0">
                <a:latin typeface="+mj-ea"/>
                <a:ea typeface="+mj-ea"/>
              </a:rPr>
              <a:t>=</a:t>
            </a:r>
            <a:r>
              <a:rPr kumimoji="1" lang="zh-CN" altLang="en-US" sz="1200" dirty="0">
                <a:latin typeface="+mj-ea"/>
                <a:ea typeface="+mj-ea"/>
              </a:rPr>
              <a:t> 卷积核个数</a:t>
            </a:r>
          </a:p>
        </p:txBody>
      </p:sp>
      <p:pic>
        <p:nvPicPr>
          <p:cNvPr id="7" name="图片 6">
            <a:extLst>
              <a:ext uri="{FF2B5EF4-FFF2-40B4-BE49-F238E27FC236}">
                <a16:creationId xmlns:a16="http://schemas.microsoft.com/office/drawing/2014/main" id="{54D6652D-63DE-8B9B-6473-7CF287A16198}"/>
              </a:ext>
            </a:extLst>
          </p:cNvPr>
          <p:cNvPicPr>
            <a:picLocks noChangeAspect="1"/>
          </p:cNvPicPr>
          <p:nvPr/>
        </p:nvPicPr>
        <p:blipFill rotWithShape="1">
          <a:blip r:embed="rId4">
            <a:extLst>
              <a:ext uri="{28A0092B-C50C-407E-A947-70E740481C1C}">
                <a14:useLocalDpi xmlns:a14="http://schemas.microsoft.com/office/drawing/2010/main" val="0"/>
              </a:ext>
            </a:extLst>
          </a:blip>
          <a:srcRect t="-1" b="3660"/>
          <a:stretch/>
        </p:blipFill>
        <p:spPr>
          <a:xfrm>
            <a:off x="18661" y="4440485"/>
            <a:ext cx="9427499" cy="1908235"/>
          </a:xfrm>
          <a:prstGeom prst="rect">
            <a:avLst/>
          </a:prstGeom>
        </p:spPr>
      </p:pic>
      <p:sp>
        <p:nvSpPr>
          <p:cNvPr id="8" name="文本框 7">
            <a:extLst>
              <a:ext uri="{FF2B5EF4-FFF2-40B4-BE49-F238E27FC236}">
                <a16:creationId xmlns:a16="http://schemas.microsoft.com/office/drawing/2014/main" id="{906FBE4C-20DF-82E8-2E9E-A949C52B5060}"/>
              </a:ext>
            </a:extLst>
          </p:cNvPr>
          <p:cNvSpPr txBox="1"/>
          <p:nvPr/>
        </p:nvSpPr>
        <p:spPr>
          <a:xfrm>
            <a:off x="9570141" y="4503591"/>
            <a:ext cx="2573497" cy="1477328"/>
          </a:xfrm>
          <a:prstGeom prst="rect">
            <a:avLst/>
          </a:prstGeom>
          <a:noFill/>
        </p:spPr>
        <p:txBody>
          <a:bodyPr wrap="square" rtlCol="0">
            <a:spAutoFit/>
          </a:bodyPr>
          <a:lstStyle/>
          <a:p>
            <a:pPr>
              <a:lnSpc>
                <a:spcPct val="150000"/>
              </a:lnSpc>
            </a:pPr>
            <a:r>
              <a:rPr kumimoji="1" lang="en-US" altLang="zh-CN" sz="1200" b="1" dirty="0">
                <a:latin typeface="+mj-ea"/>
                <a:ea typeface="+mj-ea"/>
              </a:rPr>
              <a:t>DW(</a:t>
            </a:r>
            <a:r>
              <a:rPr kumimoji="1" lang="en-US" altLang="zh-CN" sz="1200" b="1" dirty="0" err="1">
                <a:latin typeface="+mj-ea"/>
                <a:ea typeface="+mj-ea"/>
              </a:rPr>
              <a:t>Depthwise</a:t>
            </a:r>
            <a:r>
              <a:rPr kumimoji="1" lang="en-US" altLang="zh-CN" sz="1200" b="1" dirty="0" smtClean="0">
                <a:latin typeface="+mj-ea"/>
                <a:ea typeface="+mj-ea"/>
              </a:rPr>
              <a:t>)</a:t>
            </a:r>
            <a:r>
              <a:rPr kumimoji="1" lang="zh-CN" altLang="en-US" sz="1200" b="1" dirty="0" smtClean="0">
                <a:latin typeface="+mj-ea"/>
                <a:ea typeface="+mj-ea"/>
              </a:rPr>
              <a:t>深度卷积</a:t>
            </a:r>
            <a:r>
              <a:rPr kumimoji="1" lang="zh-CN" altLang="en-US" sz="1200" b="1" dirty="0">
                <a:latin typeface="+mj-ea"/>
                <a:ea typeface="+mj-ea"/>
              </a:rPr>
              <a:t>：</a:t>
            </a:r>
            <a:endParaRPr kumimoji="1" lang="en-US" altLang="zh-CN" sz="1200" b="1" dirty="0">
              <a:latin typeface="+mj-ea"/>
              <a:ea typeface="+mj-ea"/>
            </a:endParaRPr>
          </a:p>
          <a:p>
            <a:pPr marL="285750" indent="-285750">
              <a:lnSpc>
                <a:spcPct val="150000"/>
              </a:lnSpc>
              <a:buFont typeface="Arial" panose="020B0604020202020204" pitchFamily="34" charset="0"/>
              <a:buChar char="•"/>
            </a:pPr>
            <a:r>
              <a:rPr kumimoji="1" lang="zh-CN" altLang="en-US" sz="1200" dirty="0">
                <a:latin typeface="+mj-ea"/>
                <a:ea typeface="+mj-ea"/>
              </a:rPr>
              <a:t>卷积核</a:t>
            </a:r>
            <a:r>
              <a:rPr kumimoji="1" lang="en-US" altLang="zh-CN" sz="1200" dirty="0">
                <a:latin typeface="+mj-ea"/>
                <a:ea typeface="+mj-ea"/>
              </a:rPr>
              <a:t>channel</a:t>
            </a:r>
            <a:r>
              <a:rPr kumimoji="1" lang="zh-CN" altLang="en-US" sz="1200" dirty="0">
                <a:latin typeface="+mj-ea"/>
                <a:ea typeface="+mj-ea"/>
              </a:rPr>
              <a:t> </a:t>
            </a:r>
            <a:r>
              <a:rPr kumimoji="1" lang="en-US" altLang="zh-CN" sz="1200" dirty="0">
                <a:latin typeface="+mj-ea"/>
                <a:ea typeface="+mj-ea"/>
              </a:rPr>
              <a:t>=</a:t>
            </a:r>
            <a:r>
              <a:rPr kumimoji="1" lang="zh-CN" altLang="en-US" sz="1200" dirty="0">
                <a:latin typeface="+mj-ea"/>
                <a:ea typeface="+mj-ea"/>
              </a:rPr>
              <a:t> </a:t>
            </a:r>
            <a:r>
              <a:rPr kumimoji="1" lang="en-US" altLang="zh-CN" sz="1200" dirty="0">
                <a:latin typeface="+mj-ea"/>
                <a:ea typeface="+mj-ea"/>
              </a:rPr>
              <a:t>1</a:t>
            </a:r>
          </a:p>
          <a:p>
            <a:pPr marL="285750" indent="-285750">
              <a:lnSpc>
                <a:spcPct val="150000"/>
              </a:lnSpc>
              <a:buFont typeface="Arial" panose="020B0604020202020204" pitchFamily="34" charset="0"/>
              <a:buChar char="•"/>
            </a:pPr>
            <a:r>
              <a:rPr kumimoji="1" lang="zh-CN" altLang="en-US" sz="1200" dirty="0">
                <a:latin typeface="+mj-ea"/>
                <a:ea typeface="+mj-ea"/>
              </a:rPr>
              <a:t>输入特征矩阵</a:t>
            </a:r>
            <a:r>
              <a:rPr kumimoji="1" lang="en-US" altLang="zh-CN" sz="1200" dirty="0">
                <a:latin typeface="+mj-ea"/>
                <a:ea typeface="+mj-ea"/>
              </a:rPr>
              <a:t>channel</a:t>
            </a:r>
            <a:r>
              <a:rPr kumimoji="1" lang="zh-CN" altLang="en-US" sz="1200" dirty="0">
                <a:latin typeface="+mj-ea"/>
                <a:ea typeface="+mj-ea"/>
              </a:rPr>
              <a:t> </a:t>
            </a:r>
            <a:r>
              <a:rPr kumimoji="1" lang="en-US" altLang="zh-CN" sz="1200" dirty="0">
                <a:latin typeface="+mj-ea"/>
                <a:ea typeface="+mj-ea"/>
              </a:rPr>
              <a:t>= </a:t>
            </a:r>
            <a:r>
              <a:rPr kumimoji="1" lang="zh-CN" altLang="en-US" sz="1200" dirty="0">
                <a:latin typeface="+mj-ea"/>
                <a:ea typeface="+mj-ea"/>
              </a:rPr>
              <a:t>输出特征矩阵</a:t>
            </a:r>
            <a:r>
              <a:rPr kumimoji="1" lang="en-US" altLang="zh-CN" sz="1200" dirty="0">
                <a:latin typeface="+mj-ea"/>
                <a:ea typeface="+mj-ea"/>
              </a:rPr>
              <a:t>channel</a:t>
            </a:r>
            <a:r>
              <a:rPr kumimoji="1" lang="zh-CN" altLang="en-US" sz="1200" dirty="0">
                <a:latin typeface="+mj-ea"/>
                <a:ea typeface="+mj-ea"/>
              </a:rPr>
              <a:t> </a:t>
            </a:r>
            <a:r>
              <a:rPr kumimoji="1" lang="en-US" altLang="zh-CN" sz="1200" dirty="0">
                <a:latin typeface="+mj-ea"/>
                <a:ea typeface="+mj-ea"/>
              </a:rPr>
              <a:t>=</a:t>
            </a:r>
            <a:r>
              <a:rPr kumimoji="1" lang="zh-CN" altLang="en-US" sz="1200" dirty="0">
                <a:latin typeface="+mj-ea"/>
                <a:ea typeface="+mj-ea"/>
              </a:rPr>
              <a:t> 卷积核个数</a:t>
            </a:r>
            <a:endParaRPr kumimoji="1" lang="en-US" altLang="zh-CN" sz="1200" dirty="0">
              <a:latin typeface="+mj-ea"/>
              <a:ea typeface="+mj-ea"/>
            </a:endParaRPr>
          </a:p>
        </p:txBody>
      </p:sp>
      <p:sp>
        <p:nvSpPr>
          <p:cNvPr id="11" name="文本框 10">
            <a:extLst>
              <a:ext uri="{FF2B5EF4-FFF2-40B4-BE49-F238E27FC236}">
                <a16:creationId xmlns:a16="http://schemas.microsoft.com/office/drawing/2014/main" id="{DFCA671A-B441-834B-D2F8-456D91748D92}"/>
              </a:ext>
            </a:extLst>
          </p:cNvPr>
          <p:cNvSpPr txBox="1"/>
          <p:nvPr/>
        </p:nvSpPr>
        <p:spPr>
          <a:xfrm>
            <a:off x="9570141" y="5838294"/>
            <a:ext cx="6101080" cy="646331"/>
          </a:xfrm>
          <a:prstGeom prst="rect">
            <a:avLst/>
          </a:prstGeom>
          <a:noFill/>
        </p:spPr>
        <p:txBody>
          <a:bodyPr wrap="square">
            <a:spAutoFit/>
          </a:bodyPr>
          <a:lstStyle/>
          <a:p>
            <a:pPr>
              <a:lnSpc>
                <a:spcPct val="150000"/>
              </a:lnSpc>
            </a:pPr>
            <a:r>
              <a:rPr kumimoji="1" lang="en-US" altLang="zh-CN" sz="1200" b="1" dirty="0">
                <a:latin typeface="+mj-ea"/>
                <a:ea typeface="+mj-ea"/>
              </a:rPr>
              <a:t>PW (</a:t>
            </a:r>
            <a:r>
              <a:rPr kumimoji="1" lang="en-US" altLang="zh-CN" sz="1200" b="1" dirty="0" smtClean="0">
                <a:latin typeface="+mj-ea"/>
                <a:ea typeface="+mj-ea"/>
              </a:rPr>
              <a:t>Pointwise)</a:t>
            </a:r>
            <a:r>
              <a:rPr kumimoji="1" lang="zh-CN" altLang="en-US" sz="1200" b="1" dirty="0" smtClean="0">
                <a:latin typeface="+mj-ea"/>
                <a:ea typeface="+mj-ea"/>
              </a:rPr>
              <a:t>逐点卷积</a:t>
            </a:r>
            <a:r>
              <a:rPr kumimoji="1" lang="zh-CN" altLang="en-US" sz="1200" dirty="0">
                <a:latin typeface="+mj-ea"/>
                <a:ea typeface="+mj-ea"/>
              </a:rPr>
              <a:t>：</a:t>
            </a:r>
            <a:endParaRPr kumimoji="1" lang="en-US" altLang="zh-CN" sz="1200" dirty="0">
              <a:latin typeface="+mj-ea"/>
              <a:ea typeface="+mj-ea"/>
            </a:endParaRPr>
          </a:p>
          <a:p>
            <a:pPr marL="285750" indent="-285750">
              <a:lnSpc>
                <a:spcPct val="150000"/>
              </a:lnSpc>
              <a:buFont typeface="Arial" panose="020B0604020202020204" pitchFamily="34" charset="0"/>
              <a:buChar char="•"/>
            </a:pPr>
            <a:r>
              <a:rPr kumimoji="1" lang="zh-CN" altLang="en-US" sz="1200" dirty="0">
                <a:latin typeface="+mj-ea"/>
                <a:ea typeface="+mj-ea"/>
              </a:rPr>
              <a:t>卷积核大小 </a:t>
            </a:r>
            <a:r>
              <a:rPr kumimoji="1" lang="en-US" altLang="zh-CN" sz="1200" dirty="0">
                <a:latin typeface="+mj-ea"/>
                <a:ea typeface="+mj-ea"/>
              </a:rPr>
              <a:t>=</a:t>
            </a:r>
            <a:r>
              <a:rPr kumimoji="1" lang="zh-CN" altLang="en-US" sz="1200" dirty="0">
                <a:latin typeface="+mj-ea"/>
                <a:ea typeface="+mj-ea"/>
              </a:rPr>
              <a:t> </a:t>
            </a:r>
            <a:r>
              <a:rPr kumimoji="1" lang="en-US" altLang="zh-CN" sz="1200" dirty="0">
                <a:latin typeface="+mj-ea"/>
                <a:ea typeface="+mj-ea"/>
              </a:rPr>
              <a:t>1</a:t>
            </a:r>
          </a:p>
        </p:txBody>
      </p:sp>
      <p:sp>
        <p:nvSpPr>
          <p:cNvPr id="3" name="矩形 2"/>
          <p:cNvSpPr/>
          <p:nvPr/>
        </p:nvSpPr>
        <p:spPr>
          <a:xfrm>
            <a:off x="9295630" y="4130954"/>
            <a:ext cx="1800493" cy="369332"/>
          </a:xfrm>
          <a:prstGeom prst="rect">
            <a:avLst/>
          </a:prstGeom>
        </p:spPr>
        <p:txBody>
          <a:bodyPr wrap="none">
            <a:spAutoFit/>
          </a:bodyPr>
          <a:lstStyle/>
          <a:p>
            <a:r>
              <a:rPr lang="zh-CN" altLang="en-US" dirty="0">
                <a:solidFill>
                  <a:srgbClr val="FF0000"/>
                </a:solidFill>
                <a:latin typeface="+mj-ea"/>
                <a:ea typeface="+mj-ea"/>
              </a:rPr>
              <a:t>深度可分离卷积</a:t>
            </a:r>
          </a:p>
        </p:txBody>
      </p:sp>
      <p:sp>
        <p:nvSpPr>
          <p:cNvPr id="4" name="矩形 3"/>
          <p:cNvSpPr/>
          <p:nvPr/>
        </p:nvSpPr>
        <p:spPr>
          <a:xfrm>
            <a:off x="381000" y="6553200"/>
            <a:ext cx="11724967" cy="276999"/>
          </a:xfrm>
          <a:prstGeom prst="rect">
            <a:avLst/>
          </a:prstGeom>
        </p:spPr>
        <p:txBody>
          <a:bodyPr wrap="square">
            <a:spAutoFit/>
          </a:bodyPr>
          <a:lstStyle/>
          <a:p>
            <a:r>
              <a:rPr lang="en-US" altLang="zh-CN" sz="1200" dirty="0">
                <a:latin typeface="+mj-ea"/>
                <a:ea typeface="+mj-ea"/>
              </a:rPr>
              <a:t>Howard, Andrew G., et al. "</a:t>
            </a:r>
            <a:r>
              <a:rPr lang="en-US" altLang="zh-CN" sz="1200" dirty="0" err="1">
                <a:latin typeface="+mj-ea"/>
                <a:ea typeface="+mj-ea"/>
              </a:rPr>
              <a:t>Mobilenets</a:t>
            </a:r>
            <a:r>
              <a:rPr lang="en-US" altLang="zh-CN" sz="1200" dirty="0">
                <a:latin typeface="+mj-ea"/>
                <a:ea typeface="+mj-ea"/>
              </a:rPr>
              <a:t>: Efficient convolutional neural networks for mobile vision applications."</a:t>
            </a:r>
            <a:r>
              <a:rPr lang="en-US" altLang="zh-CN" sz="1200" dirty="0" err="1">
                <a:latin typeface="+mj-ea"/>
                <a:ea typeface="+mj-ea"/>
              </a:rPr>
              <a:t>arXiv</a:t>
            </a:r>
            <a:r>
              <a:rPr lang="en-US" altLang="zh-CN" sz="1200" dirty="0">
                <a:latin typeface="+mj-ea"/>
                <a:ea typeface="+mj-ea"/>
              </a:rPr>
              <a:t> preprint arXiv:1704.04861(2017)</a:t>
            </a:r>
            <a:endParaRPr lang="zh-CN" altLang="en-US" sz="1200" dirty="0">
              <a:latin typeface="+mj-ea"/>
              <a:ea typeface="+mj-ea"/>
            </a:endParaRPr>
          </a:p>
        </p:txBody>
      </p:sp>
    </p:spTree>
    <p:extLst>
      <p:ext uri="{BB962C8B-B14F-4D97-AF65-F5344CB8AC3E}">
        <p14:creationId xmlns:p14="http://schemas.microsoft.com/office/powerpoint/2010/main" val="23608100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3869989" y="1594509"/>
            <a:ext cx="4452022" cy="4487848"/>
            <a:chOff x="3872379" y="1383943"/>
            <a:chExt cx="4452022" cy="4487848"/>
          </a:xfrm>
        </p:grpSpPr>
        <p:sp>
          <p:nvSpPr>
            <p:cNvPr id="3" name="Freeform 5"/>
            <p:cNvSpPr>
              <a:spLocks/>
            </p:cNvSpPr>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p:cNvSpPr>
              <a:spLocks/>
            </p:cNvSpPr>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p:cNvSpPr>
              <a:spLocks/>
            </p:cNvSpPr>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p:cNvSpPr>
              <a:spLocks/>
            </p:cNvSpPr>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p:cNvGrpSpPr/>
            <p:nvPr/>
          </p:nvGrpSpPr>
          <p:grpSpPr>
            <a:xfrm>
              <a:off x="4569798" y="4627422"/>
              <a:ext cx="527842" cy="535007"/>
              <a:chOff x="3557588" y="3654425"/>
              <a:chExt cx="350838" cy="355600"/>
            </a:xfrm>
          </p:grpSpPr>
          <p:sp>
            <p:nvSpPr>
              <p:cNvPr id="20" name="Freeform 9"/>
              <p:cNvSpPr>
                <a:spLocks noEditPoints="1"/>
              </p:cNvSpPr>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p:cNvSpPr>
                <a:spLocks noEditPoints="1"/>
              </p:cNvSpPr>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p:cNvSpPr>
                <a:spLocks noEditPoints="1"/>
              </p:cNvSpPr>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p:cNvGrpSpPr/>
            <p:nvPr/>
          </p:nvGrpSpPr>
          <p:grpSpPr>
            <a:xfrm>
              <a:off x="7025097" y="2098082"/>
              <a:ext cx="606660" cy="539784"/>
              <a:chOff x="5189538" y="1973263"/>
              <a:chExt cx="403225" cy="358775"/>
            </a:xfrm>
          </p:grpSpPr>
          <p:sp>
            <p:nvSpPr>
              <p:cNvPr id="18" name="Freeform 12"/>
              <p:cNvSpPr>
                <a:spLocks noEditPoints="1"/>
              </p:cNvSpPr>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p:cNvSpPr>
                <a:spLocks noEditPoints="1"/>
              </p:cNvSpPr>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p:cNvGrpSpPr/>
            <p:nvPr/>
          </p:nvGrpSpPr>
          <p:grpSpPr>
            <a:xfrm>
              <a:off x="6984495" y="4601150"/>
              <a:ext cx="599495" cy="587552"/>
              <a:chOff x="5162551" y="3636963"/>
              <a:chExt cx="398463" cy="390525"/>
            </a:xfrm>
          </p:grpSpPr>
          <p:sp>
            <p:nvSpPr>
              <p:cNvPr id="15" name="Freeform 14"/>
              <p:cNvSpPr>
                <a:spLocks noEditPoints="1"/>
              </p:cNvSpPr>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p:cNvSpPr>
                <a:spLocks noEditPoints="1"/>
              </p:cNvSpPr>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p:cNvSpPr>
                <a:spLocks noEditPoints="1"/>
              </p:cNvSpPr>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p:cNvSpPr>
              <a:spLocks noEditPoints="1"/>
            </p:cNvSpPr>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p:cNvSpPr txBox="1"/>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p:cNvSpPr txBox="1"/>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p:cNvSpPr txBox="1"/>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smtClean="0">
                  <a:ln>
                    <a:noFill/>
                  </a:ln>
                  <a:solidFill>
                    <a:prstClr val="white"/>
                  </a:solidFill>
                  <a:effectLst/>
                  <a:uLnTx/>
                  <a:uFillTx/>
                  <a:latin typeface="Calibri" panose="020F0502020204030204"/>
                  <a:sym typeface="+mn-lt"/>
                </a:rPr>
                <a:t>03</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p:cNvSpPr txBox="1"/>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smtClean="0">
                  <a:ln>
                    <a:noFill/>
                  </a:ln>
                  <a:solidFill>
                    <a:prstClr val="white"/>
                  </a:solidFill>
                  <a:effectLst/>
                  <a:uLnTx/>
                  <a:uFillTx/>
                  <a:latin typeface="Calibri" panose="020F0502020204030204"/>
                  <a:sym typeface="+mn-lt"/>
                </a:rPr>
                <a:t>04</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p:cNvGrpSpPr/>
          <p:nvPr>
            <p:custDataLst>
              <p:tags r:id="rId1"/>
            </p:custDataLst>
          </p:nvPr>
        </p:nvGrpSpPr>
        <p:grpSpPr>
          <a:xfrm>
            <a:off x="196965" y="2655495"/>
            <a:ext cx="3901118" cy="810092"/>
            <a:chOff x="656868" y="2394767"/>
            <a:chExt cx="3901118" cy="810092"/>
          </a:xfrm>
        </p:grpSpPr>
        <p:sp>
          <p:nvSpPr>
            <p:cNvPr id="24" name="文本框 23"/>
            <p:cNvSpPr txBox="1"/>
            <p:nvPr/>
          </p:nvSpPr>
          <p:spPr>
            <a:xfrm>
              <a:off x="2517043" y="2394767"/>
              <a:ext cx="2040943" cy="461665"/>
            </a:xfrm>
            <a:prstGeom prst="rect">
              <a:avLst/>
            </a:prstGeom>
            <a:noFill/>
          </p:spPr>
          <p:txBody>
            <a:bodyPr wrap="none" rtlCol="0">
              <a:spAutoFit/>
            </a:bodyPr>
            <a:lstStyle>
              <a:defPPr>
                <a:defRPr lang="zh-CN"/>
              </a:defPPr>
              <a:lvl1pPr>
                <a:defRPr sz="2400" b="1">
                  <a:solidFill>
                    <a:srgbClr val="24569D"/>
                  </a:solidFill>
                </a:defRPr>
              </a:lvl1pPr>
            </a:lstStyle>
            <a:p>
              <a:r>
                <a:rPr lang="zh-CN" altLang="en-US" dirty="0"/>
                <a:t>卷积神经网络</a:t>
              </a:r>
            </a:p>
          </p:txBody>
        </p:sp>
        <p:sp>
          <p:nvSpPr>
            <p:cNvPr id="25" name="文本框 24"/>
            <p:cNvSpPr txBox="1"/>
            <p:nvPr/>
          </p:nvSpPr>
          <p:spPr>
            <a:xfrm>
              <a:off x="656868" y="2743194"/>
              <a:ext cx="2855980" cy="461665"/>
            </a:xfrm>
            <a:prstGeom prst="rect">
              <a:avLst/>
            </a:prstGeom>
            <a:noFill/>
          </p:spPr>
          <p:txBody>
            <a:bodyPr wrap="square" rtlCol="0">
              <a:spAutoFit/>
            </a:bodyPr>
            <a:lstStyle/>
            <a:p>
              <a:endParaRPr lang="en-US" altLang="zh-CN" sz="2400" dirty="0">
                <a:latin typeface="微软雅黑" panose="020B0503020204020204" pitchFamily="34" charset="-122"/>
              </a:endParaRPr>
            </a:p>
          </p:txBody>
        </p:sp>
      </p:grpSp>
      <p:sp>
        <p:nvSpPr>
          <p:cNvPr id="31" name="文本框 30"/>
          <p:cNvSpPr txBox="1"/>
          <p:nvPr/>
        </p:nvSpPr>
        <p:spPr>
          <a:xfrm>
            <a:off x="2098323" y="4787132"/>
            <a:ext cx="2040943" cy="461665"/>
          </a:xfrm>
          <a:prstGeom prst="rect">
            <a:avLst/>
          </a:prstGeom>
          <a:noFill/>
        </p:spPr>
        <p:txBody>
          <a:bodyPr wrap="none" rtlCol="0">
            <a:spAutoFit/>
          </a:bodyPr>
          <a:lstStyle>
            <a:defPPr>
              <a:defRPr lang="zh-CN"/>
            </a:defPPr>
            <a:lvl1pPr>
              <a:defRPr sz="2400" b="1">
                <a:solidFill>
                  <a:srgbClr val="24569D"/>
                </a:solidFill>
              </a:defRPr>
            </a:lvl1pPr>
          </a:lstStyle>
          <a:p>
            <a:r>
              <a:rPr lang="zh-CN" altLang="en-US" dirty="0" smtClean="0"/>
              <a:t>循环神经网络</a:t>
            </a:r>
            <a:endParaRPr lang="zh-CN" altLang="en-US" dirty="0"/>
          </a:p>
        </p:txBody>
      </p:sp>
      <p:sp>
        <p:nvSpPr>
          <p:cNvPr id="34" name="文本框 33"/>
          <p:cNvSpPr txBox="1"/>
          <p:nvPr/>
        </p:nvSpPr>
        <p:spPr>
          <a:xfrm>
            <a:off x="8473636" y="2779912"/>
            <a:ext cx="1422184" cy="461665"/>
          </a:xfrm>
          <a:prstGeom prst="rect">
            <a:avLst/>
          </a:prstGeom>
          <a:noFill/>
        </p:spPr>
        <p:txBody>
          <a:bodyPr wrap="none" rtlCol="0">
            <a:spAutoFit/>
          </a:bodyPr>
          <a:lstStyle/>
          <a:p>
            <a:r>
              <a:rPr lang="zh-CN" altLang="en-US" sz="2400" b="1" dirty="0">
                <a:solidFill>
                  <a:srgbClr val="FF0000"/>
                </a:solidFill>
              </a:rPr>
              <a:t>语言模型</a:t>
            </a:r>
          </a:p>
        </p:txBody>
      </p:sp>
      <p:sp>
        <p:nvSpPr>
          <p:cNvPr id="2" name="矩形 1"/>
          <p:cNvSpPr/>
          <p:nvPr/>
        </p:nvSpPr>
        <p:spPr>
          <a:xfrm>
            <a:off x="573660" y="445426"/>
            <a:ext cx="902811" cy="523220"/>
          </a:xfrm>
          <a:prstGeom prst="rect">
            <a:avLst/>
          </a:prstGeom>
        </p:spPr>
        <p:txBody>
          <a:bodyPr wrap="none">
            <a:spAutoFit/>
          </a:bodyPr>
          <a:lstStyle/>
          <a:p>
            <a:r>
              <a:rPr lang="zh-CN" altLang="en-US" sz="2800" dirty="0"/>
              <a:t>目录</a:t>
            </a:r>
          </a:p>
        </p:txBody>
      </p:sp>
      <p:sp>
        <p:nvSpPr>
          <p:cNvPr id="30" name="文本框 29"/>
          <p:cNvSpPr txBox="1"/>
          <p:nvPr/>
        </p:nvSpPr>
        <p:spPr>
          <a:xfrm>
            <a:off x="8529747" y="4787132"/>
            <a:ext cx="1982274" cy="461665"/>
          </a:xfrm>
          <a:prstGeom prst="rect">
            <a:avLst/>
          </a:prstGeom>
          <a:noFill/>
        </p:spPr>
        <p:txBody>
          <a:bodyPr wrap="none" rtlCol="0">
            <a:spAutoFit/>
          </a:bodyPr>
          <a:lstStyle>
            <a:defPPr>
              <a:defRPr lang="zh-CN"/>
            </a:defPPr>
            <a:lvl1pPr>
              <a:defRPr sz="2400" b="1">
                <a:solidFill>
                  <a:srgbClr val="24569D"/>
                </a:solidFill>
              </a:defRPr>
            </a:lvl1pPr>
          </a:lstStyle>
          <a:p>
            <a:r>
              <a:rPr lang="en-US" altLang="zh-CN" dirty="0" smtClean="0"/>
              <a:t>Transformer</a:t>
            </a:r>
            <a:endParaRPr lang="zh-CN" altLang="en-US" dirty="0"/>
          </a:p>
        </p:txBody>
      </p:sp>
    </p:spTree>
    <p:extLst>
      <p:ext uri="{BB962C8B-B14F-4D97-AF65-F5344CB8AC3E}">
        <p14:creationId xmlns:p14="http://schemas.microsoft.com/office/powerpoint/2010/main" val="32570149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spc="-20" dirty="0">
                <a:solidFill>
                  <a:srgbClr val="0000A0"/>
                </a:solidFill>
                <a:latin typeface="Trebuchet MS"/>
                <a:cs typeface="Trebuchet MS"/>
              </a:rPr>
              <a:t>Motivation:</a:t>
            </a:r>
            <a:r>
              <a:rPr lang="en-US" altLang="zh-CN" spc="70" dirty="0">
                <a:solidFill>
                  <a:srgbClr val="0000A0"/>
                </a:solidFill>
                <a:latin typeface="Trebuchet MS"/>
                <a:cs typeface="Trebuchet MS"/>
              </a:rPr>
              <a:t> </a:t>
            </a:r>
            <a:r>
              <a:rPr lang="en-US" altLang="zh-CN" spc="-45" dirty="0">
                <a:solidFill>
                  <a:srgbClr val="0000A0"/>
                </a:solidFill>
                <a:latin typeface="Trebuchet MS"/>
                <a:cs typeface="Trebuchet MS"/>
              </a:rPr>
              <a:t>modeling</a:t>
            </a:r>
            <a:r>
              <a:rPr lang="en-US" altLang="zh-CN" spc="-60" dirty="0">
                <a:solidFill>
                  <a:srgbClr val="0000A0"/>
                </a:solidFill>
                <a:latin typeface="Trebuchet MS"/>
                <a:cs typeface="Trebuchet MS"/>
              </a:rPr>
              <a:t> </a:t>
            </a:r>
            <a:r>
              <a:rPr lang="en-US" altLang="zh-CN" spc="-75" dirty="0" smtClean="0">
                <a:solidFill>
                  <a:srgbClr val="0000A0"/>
                </a:solidFill>
                <a:latin typeface="Trebuchet MS"/>
                <a:cs typeface="Trebuchet MS"/>
              </a:rPr>
              <a:t>sequences</a:t>
            </a:r>
            <a:endParaRPr lang="zh-CN" altLang="en-US" dirty="0"/>
          </a:p>
        </p:txBody>
      </p:sp>
      <p:sp>
        <p:nvSpPr>
          <p:cNvPr id="7" name="object 19"/>
          <p:cNvSpPr txBox="1"/>
          <p:nvPr/>
        </p:nvSpPr>
        <p:spPr>
          <a:xfrm>
            <a:off x="990600" y="1651707"/>
            <a:ext cx="8991600" cy="323165"/>
          </a:xfrm>
          <a:prstGeom prst="rect">
            <a:avLst/>
          </a:prstGeom>
        </p:spPr>
        <p:txBody>
          <a:bodyPr vert="horz" wrap="square" lIns="0" tIns="15240" rIns="0" bIns="0" rtlCol="0">
            <a:spAutoFit/>
          </a:bodyPr>
          <a:lstStyle/>
          <a:p>
            <a:pPr marL="12700">
              <a:lnSpc>
                <a:spcPct val="100000"/>
              </a:lnSpc>
              <a:spcBef>
                <a:spcPts val="120"/>
              </a:spcBef>
            </a:pPr>
            <a:r>
              <a:rPr sz="2000" spc="-10" dirty="0">
                <a:solidFill>
                  <a:srgbClr val="0000A0"/>
                </a:solidFill>
                <a:latin typeface="Trebuchet MS"/>
                <a:cs typeface="Trebuchet MS"/>
              </a:rPr>
              <a:t>Motivation</a:t>
            </a:r>
            <a:r>
              <a:rPr sz="2000" spc="-10" dirty="0">
                <a:latin typeface="Trebuchet MS"/>
                <a:cs typeface="Trebuchet MS"/>
              </a:rPr>
              <a:t>:</a:t>
            </a:r>
            <a:r>
              <a:rPr sz="2000" spc="75" dirty="0">
                <a:latin typeface="Trebuchet MS"/>
                <a:cs typeface="Trebuchet MS"/>
              </a:rPr>
              <a:t> </a:t>
            </a:r>
            <a:r>
              <a:rPr sz="2000" dirty="0">
                <a:latin typeface="Trebuchet MS"/>
                <a:cs typeface="Trebuchet MS"/>
              </a:rPr>
              <a:t>long</a:t>
            </a:r>
            <a:r>
              <a:rPr sz="2000" spc="-10" dirty="0">
                <a:latin typeface="Trebuchet MS"/>
                <a:cs typeface="Trebuchet MS"/>
              </a:rPr>
              <a:t> </a:t>
            </a:r>
            <a:r>
              <a:rPr sz="2000" spc="-40" dirty="0" smtClean="0">
                <a:latin typeface="Trebuchet MS"/>
                <a:cs typeface="Trebuchet MS"/>
              </a:rPr>
              <a:t>sentence</a:t>
            </a:r>
            <a:r>
              <a:rPr lang="en-US" sz="2000" spc="-40" dirty="0" smtClean="0">
                <a:latin typeface="Trebuchet MS"/>
                <a:cs typeface="Trebuchet MS"/>
              </a:rPr>
              <a:t>/time</a:t>
            </a:r>
            <a:r>
              <a:rPr sz="2000" spc="-10" dirty="0" smtClean="0">
                <a:latin typeface="Trebuchet MS"/>
                <a:cs typeface="Trebuchet MS"/>
              </a:rPr>
              <a:t> </a:t>
            </a:r>
            <a:r>
              <a:rPr lang="en-US" altLang="zh-CN" sz="2000" spc="-75" dirty="0" smtClean="0">
                <a:solidFill>
                  <a:srgbClr val="0000A0"/>
                </a:solidFill>
                <a:latin typeface="Trebuchet MS"/>
                <a:cs typeface="Trebuchet MS"/>
              </a:rPr>
              <a:t>sequence </a:t>
            </a:r>
            <a:r>
              <a:rPr sz="2000" spc="-35" dirty="0" smtClean="0">
                <a:latin typeface="Trebuchet MS"/>
                <a:cs typeface="Trebuchet MS"/>
              </a:rPr>
              <a:t>compress</a:t>
            </a:r>
            <a:r>
              <a:rPr sz="2000" spc="-10" dirty="0" smtClean="0">
                <a:latin typeface="Trebuchet MS"/>
                <a:cs typeface="Trebuchet MS"/>
              </a:rPr>
              <a:t> </a:t>
            </a:r>
            <a:r>
              <a:rPr sz="2000" dirty="0">
                <a:latin typeface="Trebuchet MS"/>
                <a:cs typeface="Trebuchet MS"/>
              </a:rPr>
              <a:t>to</a:t>
            </a:r>
            <a:r>
              <a:rPr sz="2000" spc="-10" dirty="0">
                <a:latin typeface="Trebuchet MS"/>
                <a:cs typeface="Trebuchet MS"/>
              </a:rPr>
              <a:t> </a:t>
            </a:r>
            <a:r>
              <a:rPr sz="2000" spc="-35" dirty="0">
                <a:solidFill>
                  <a:srgbClr val="FF0000"/>
                </a:solidFill>
                <a:latin typeface="Trebuchet MS"/>
                <a:cs typeface="Trebuchet MS"/>
              </a:rPr>
              <a:t>finite</a:t>
            </a:r>
            <a:r>
              <a:rPr sz="2000" spc="-10" dirty="0">
                <a:solidFill>
                  <a:srgbClr val="FF0000"/>
                </a:solidFill>
                <a:latin typeface="Trebuchet MS"/>
                <a:cs typeface="Trebuchet MS"/>
              </a:rPr>
              <a:t> </a:t>
            </a:r>
            <a:r>
              <a:rPr sz="2000" spc="-35" dirty="0">
                <a:solidFill>
                  <a:srgbClr val="FF0000"/>
                </a:solidFill>
                <a:latin typeface="Trebuchet MS"/>
                <a:cs typeface="Trebuchet MS"/>
              </a:rPr>
              <a:t>dimensional</a:t>
            </a:r>
            <a:r>
              <a:rPr sz="2000" spc="-15" dirty="0">
                <a:solidFill>
                  <a:srgbClr val="FF0000"/>
                </a:solidFill>
                <a:latin typeface="Trebuchet MS"/>
                <a:cs typeface="Trebuchet MS"/>
              </a:rPr>
              <a:t> </a:t>
            </a:r>
            <a:r>
              <a:rPr sz="2000" spc="-10" dirty="0" smtClean="0">
                <a:solidFill>
                  <a:srgbClr val="FF0000"/>
                </a:solidFill>
                <a:latin typeface="Trebuchet MS"/>
                <a:cs typeface="Trebuchet MS"/>
              </a:rPr>
              <a:t>vector</a:t>
            </a:r>
            <a:endParaRPr sz="2000" dirty="0">
              <a:solidFill>
                <a:srgbClr val="FF0000"/>
              </a:solidFill>
              <a:latin typeface="Trebuchet MS"/>
              <a:cs typeface="Trebuchet MS"/>
            </a:endParaRPr>
          </a:p>
        </p:txBody>
      </p:sp>
      <p:sp>
        <p:nvSpPr>
          <p:cNvPr id="3" name="矩形 2"/>
          <p:cNvSpPr/>
          <p:nvPr/>
        </p:nvSpPr>
        <p:spPr>
          <a:xfrm>
            <a:off x="6858000" y="3276600"/>
            <a:ext cx="5168203" cy="263149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a:lnSpc>
                <a:spcPct val="150000"/>
              </a:lnSpc>
            </a:pPr>
            <a:r>
              <a:rPr lang="zh-CN" altLang="en-US" sz="2200" b="1" dirty="0"/>
              <a:t>时间依赖性</a:t>
            </a:r>
            <a:r>
              <a:rPr lang="zh-CN" altLang="en-US" sz="2200" dirty="0"/>
              <a:t>：如何</a:t>
            </a:r>
            <a:r>
              <a:rPr lang="zh-CN" altLang="en-US" sz="2200" dirty="0" smtClean="0"/>
              <a:t>捕捉序列数据中前后</a:t>
            </a:r>
            <a:r>
              <a:rPr lang="zh-CN" altLang="en-US" sz="2200" dirty="0"/>
              <a:t>元素之间存在时间或顺序的依赖</a:t>
            </a:r>
            <a:r>
              <a:rPr lang="zh-CN" altLang="en-US" sz="2200" dirty="0" smtClean="0"/>
              <a:t>关系？</a:t>
            </a:r>
            <a:endParaRPr lang="en-US" altLang="zh-CN" sz="2200" dirty="0" smtClean="0"/>
          </a:p>
          <a:p>
            <a:pPr>
              <a:lnSpc>
                <a:spcPct val="150000"/>
              </a:lnSpc>
            </a:pPr>
            <a:endParaRPr lang="en-US" altLang="zh-CN" sz="2200" dirty="0"/>
          </a:p>
          <a:p>
            <a:pPr>
              <a:lnSpc>
                <a:spcPct val="150000"/>
              </a:lnSpc>
            </a:pPr>
            <a:r>
              <a:rPr lang="zh-CN" altLang="en-US" sz="2200" b="1" dirty="0"/>
              <a:t>变长序列</a:t>
            </a:r>
            <a:r>
              <a:rPr lang="zh-CN" altLang="en-US" sz="2200" dirty="0"/>
              <a:t>：序列的</a:t>
            </a:r>
            <a:r>
              <a:rPr lang="zh-CN" altLang="en-US" sz="2200" dirty="0" smtClean="0"/>
              <a:t>长度不一致，如何处理</a:t>
            </a:r>
            <a:r>
              <a:rPr lang="zh-CN" altLang="en-US" sz="2200" dirty="0"/>
              <a:t>可变长度的</a:t>
            </a:r>
            <a:r>
              <a:rPr lang="zh-CN" altLang="en-US" sz="2200" dirty="0" smtClean="0"/>
              <a:t>输入？</a:t>
            </a:r>
            <a:endParaRPr lang="zh-CN" altLang="en-US" sz="2200" dirty="0"/>
          </a:p>
        </p:txBody>
      </p:sp>
      <p:pic>
        <p:nvPicPr>
          <p:cNvPr id="9" name="图片 8"/>
          <p:cNvPicPr>
            <a:picLocks noChangeAspect="1"/>
          </p:cNvPicPr>
          <p:nvPr/>
        </p:nvPicPr>
        <p:blipFill>
          <a:blip r:embed="rId3"/>
          <a:stretch>
            <a:fillRect/>
          </a:stretch>
        </p:blipFill>
        <p:spPr>
          <a:xfrm>
            <a:off x="609600" y="2427749"/>
            <a:ext cx="6155347" cy="3693208"/>
          </a:xfrm>
          <a:prstGeom prst="rect">
            <a:avLst/>
          </a:prstGeom>
        </p:spPr>
      </p:pic>
    </p:spTree>
    <p:extLst>
      <p:ext uri="{BB962C8B-B14F-4D97-AF65-F5344CB8AC3E}">
        <p14:creationId xmlns:p14="http://schemas.microsoft.com/office/powerpoint/2010/main" val="839777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What is a </a:t>
            </a:r>
            <a:r>
              <a:rPr lang="en-US" altLang="zh-CN" dirty="0">
                <a:solidFill>
                  <a:srgbClr val="FF0000"/>
                </a:solidFill>
              </a:rPr>
              <a:t>language model</a:t>
            </a:r>
            <a:r>
              <a:rPr lang="en-US" altLang="zh-CN" dirty="0" smtClean="0"/>
              <a:t>?</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406400" y="1397001"/>
                <a:ext cx="11099800" cy="4729164"/>
              </a:xfrm>
            </p:spPr>
            <p:txBody>
              <a:bodyPr/>
              <a:lstStyle/>
              <a:p>
                <a:pPr>
                  <a:lnSpc>
                    <a:spcPct val="150000"/>
                  </a:lnSpc>
                </a:pPr>
                <a:r>
                  <a:rPr lang="zh-CN" altLang="en-US" sz="2400" b="1" dirty="0" smtClean="0">
                    <a:solidFill>
                      <a:schemeClr val="tx1"/>
                    </a:solidFill>
                  </a:rPr>
                  <a:t>最早的语言模型</a:t>
                </a:r>
                <a:r>
                  <a:rPr lang="zh-CN" altLang="en-US" sz="2400" dirty="0">
                    <a:solidFill>
                      <a:schemeClr val="tx1"/>
                    </a:solidFill>
                  </a:rPr>
                  <a:t>可以追溯到</a:t>
                </a:r>
                <a:r>
                  <a:rPr lang="en-US" altLang="zh-CN" sz="2400" dirty="0">
                    <a:solidFill>
                      <a:schemeClr val="tx1"/>
                    </a:solidFill>
                  </a:rPr>
                  <a:t>20</a:t>
                </a:r>
                <a:r>
                  <a:rPr lang="zh-CN" altLang="en-US" sz="2400" dirty="0">
                    <a:solidFill>
                      <a:schemeClr val="tx1"/>
                    </a:solidFill>
                  </a:rPr>
                  <a:t>世纪</a:t>
                </a:r>
                <a:r>
                  <a:rPr lang="en-US" altLang="zh-CN" sz="2400" dirty="0" smtClean="0">
                    <a:solidFill>
                      <a:schemeClr val="tx1"/>
                    </a:solidFill>
                  </a:rPr>
                  <a:t>50-60</a:t>
                </a:r>
                <a:r>
                  <a:rPr lang="zh-CN" altLang="en-US" sz="2400" dirty="0">
                    <a:solidFill>
                      <a:schemeClr val="tx1"/>
                    </a:solidFill>
                  </a:rPr>
                  <a:t>年代。当时的语言模型主要基于统计方法和早期符号逻辑</a:t>
                </a:r>
                <a:r>
                  <a:rPr lang="zh-CN" altLang="en-US" sz="2400" dirty="0" smtClean="0">
                    <a:solidFill>
                      <a:schemeClr val="tx1"/>
                    </a:solidFill>
                  </a:rPr>
                  <a:t>，通过</a:t>
                </a:r>
                <a:r>
                  <a:rPr lang="zh-CN" altLang="en-US" sz="2400" dirty="0">
                    <a:solidFill>
                      <a:schemeClr val="tx1"/>
                    </a:solidFill>
                  </a:rPr>
                  <a:t>学习大量文本数据，理解词汇之间的关系和上下文，从而生成或理解自然语言。</a:t>
                </a:r>
                <a:endParaRPr lang="en-US" altLang="zh-CN" sz="2400" dirty="0" smtClean="0">
                  <a:solidFill>
                    <a:schemeClr val="tx1"/>
                  </a:solidFill>
                </a:endParaRPr>
              </a:p>
              <a:p>
                <a:pPr>
                  <a:lnSpc>
                    <a:spcPct val="150000"/>
                  </a:lnSpc>
                </a:pPr>
                <a:endParaRPr lang="en-US" altLang="zh-CN" sz="2400" dirty="0">
                  <a:solidFill>
                    <a:schemeClr val="tx1"/>
                  </a:solidFill>
                </a:endParaRPr>
              </a:p>
              <a:p>
                <a:pPr>
                  <a:lnSpc>
                    <a:spcPct val="150000"/>
                  </a:lnSpc>
                </a:pPr>
                <a:r>
                  <a:rPr lang="zh-CN" altLang="en-US" sz="2400" dirty="0" smtClean="0">
                    <a:solidFill>
                      <a:schemeClr val="tx1"/>
                    </a:solidFill>
                  </a:rPr>
                  <a:t>基本原理</a:t>
                </a:r>
                <a:r>
                  <a:rPr lang="en-US" altLang="zh-CN" sz="2400" dirty="0" smtClean="0">
                    <a:solidFill>
                      <a:schemeClr val="tx1"/>
                    </a:solidFill>
                  </a:rPr>
                  <a:t>(</a:t>
                </a:r>
                <a:r>
                  <a:rPr lang="zh-CN" altLang="en-US" sz="2400" dirty="0" smtClean="0">
                    <a:solidFill>
                      <a:schemeClr val="tx1"/>
                    </a:solidFill>
                  </a:rPr>
                  <a:t>对语句</a:t>
                </a:r>
                <a:r>
                  <a:rPr lang="zh-CN" altLang="en-US" sz="2400" dirty="0">
                    <a:solidFill>
                      <a:schemeClr val="tx1"/>
                    </a:solidFill>
                  </a:rPr>
                  <a:t>的</a:t>
                </a:r>
                <a:r>
                  <a:rPr lang="zh-CN" altLang="en-US" sz="2400" b="1" dirty="0">
                    <a:solidFill>
                      <a:schemeClr val="tx1"/>
                    </a:solidFill>
                  </a:rPr>
                  <a:t>概率分布</a:t>
                </a:r>
                <a:r>
                  <a:rPr lang="zh-CN" altLang="en-US" sz="2400" dirty="0" smtClean="0">
                    <a:solidFill>
                      <a:schemeClr val="tx1"/>
                    </a:solidFill>
                  </a:rPr>
                  <a:t>建模</a:t>
                </a:r>
                <a:r>
                  <a:rPr lang="en-US" altLang="zh-CN" sz="2400" dirty="0" smtClean="0">
                    <a:solidFill>
                      <a:schemeClr val="tx1"/>
                    </a:solidFill>
                  </a:rPr>
                  <a:t>)</a:t>
                </a:r>
                <a:r>
                  <a:rPr lang="zh-CN" altLang="en-US" sz="2400" dirty="0" smtClean="0">
                    <a:solidFill>
                      <a:schemeClr val="tx1"/>
                    </a:solidFill>
                  </a:rPr>
                  <a:t>：计算一个给定序列</a:t>
                </a:r>
                <a:r>
                  <a:rPr lang="zh-CN" altLang="en-US" sz="2400" dirty="0">
                    <a:solidFill>
                      <a:schemeClr val="tx1"/>
                    </a:solidFill>
                  </a:rPr>
                  <a:t>的</a:t>
                </a:r>
                <a:r>
                  <a:rPr lang="zh-CN" altLang="en-US" sz="2400" dirty="0" smtClean="0">
                    <a:solidFill>
                      <a:schemeClr val="tx1"/>
                    </a:solidFill>
                  </a:rPr>
                  <a:t>概率</a:t>
                </a:r>
                <a14:m>
                  <m:oMath xmlns:m="http://schemas.openxmlformats.org/officeDocument/2006/math">
                    <m:r>
                      <a:rPr lang="en-US" altLang="zh-CN" sz="2400" i="1" dirty="0">
                        <a:solidFill>
                          <a:schemeClr val="tx1"/>
                        </a:solidFill>
                        <a:latin typeface="Cambria Math" panose="02040503050406030204" pitchFamily="18" charset="0"/>
                      </a:rPr>
                      <m:t>𝑃</m:t>
                    </m:r>
                    <m:d>
                      <m:dPr>
                        <m:ctrlPr>
                          <a:rPr lang="zh-CN" altLang="zh-CN" sz="2400" i="1">
                            <a:solidFill>
                              <a:schemeClr val="tx1"/>
                            </a:solidFill>
                            <a:latin typeface="Cambria Math" panose="02040503050406030204" pitchFamily="18" charset="0"/>
                          </a:rPr>
                        </m:ctrlPr>
                      </m:dPr>
                      <m:e>
                        <m:sSub>
                          <m:sSubPr>
                            <m:ctrlPr>
                              <a:rPr lang="zh-CN"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𝑤</m:t>
                            </m:r>
                          </m:e>
                          <m:sub>
                            <m:r>
                              <a:rPr lang="en-US" altLang="zh-CN" sz="2400" i="1">
                                <a:solidFill>
                                  <a:schemeClr val="tx1"/>
                                </a:solidFill>
                                <a:latin typeface="Cambria Math" panose="02040503050406030204" pitchFamily="18" charset="0"/>
                              </a:rPr>
                              <m:t>1</m:t>
                            </m:r>
                            <m:r>
                              <a:rPr lang="en-US" altLang="zh-CN" sz="2400" b="0" i="1" smtClean="0">
                                <a:solidFill>
                                  <a:schemeClr val="tx1"/>
                                </a:solidFill>
                                <a:latin typeface="Cambria Math" panose="02040503050406030204" pitchFamily="18" charset="0"/>
                              </a:rPr>
                              <m:t>,</m:t>
                            </m:r>
                          </m:sub>
                        </m:sSub>
                        <m:sSub>
                          <m:sSubPr>
                            <m:ctrlPr>
                              <a:rPr lang="zh-CN"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𝑤</m:t>
                            </m:r>
                          </m:e>
                          <m:sub>
                            <m:r>
                              <a:rPr lang="en-US" altLang="zh-CN" sz="2400" i="1">
                                <a:solidFill>
                                  <a:schemeClr val="tx1"/>
                                </a:solidFill>
                                <a:latin typeface="Cambria Math" panose="02040503050406030204" pitchFamily="18" charset="0"/>
                              </a:rPr>
                              <m:t>2</m:t>
                            </m:r>
                            <m:r>
                              <a:rPr lang="en-US" altLang="zh-CN" sz="2400" b="0" i="1" smtClean="0">
                                <a:solidFill>
                                  <a:schemeClr val="tx1"/>
                                </a:solidFill>
                                <a:latin typeface="Cambria Math" panose="02040503050406030204" pitchFamily="18" charset="0"/>
                              </a:rPr>
                              <m:t>,</m:t>
                            </m:r>
                          </m:sub>
                        </m:sSub>
                        <m:r>
                          <a:rPr lang="en-US" altLang="zh-CN" sz="2400" i="1">
                            <a:solidFill>
                              <a:schemeClr val="tx1"/>
                            </a:solidFill>
                            <a:latin typeface="Cambria Math" panose="02040503050406030204" pitchFamily="18" charset="0"/>
                          </a:rPr>
                          <m:t>…</m:t>
                        </m:r>
                        <m:r>
                          <a:rPr lang="en-US" altLang="zh-CN" sz="2400" b="0" i="1" smtClean="0">
                            <a:solidFill>
                              <a:schemeClr val="tx1"/>
                            </a:solidFill>
                            <a:latin typeface="Cambria Math" panose="02040503050406030204" pitchFamily="18" charset="0"/>
                          </a:rPr>
                          <m:t>,</m:t>
                        </m:r>
                        <m:sSub>
                          <m:sSubPr>
                            <m:ctrlPr>
                              <a:rPr lang="zh-CN" altLang="zh-CN" sz="2400" i="1">
                                <a:solidFill>
                                  <a:schemeClr val="tx1"/>
                                </a:solidFill>
                                <a:latin typeface="Cambria Math" panose="02040503050406030204" pitchFamily="18" charset="0"/>
                              </a:rPr>
                            </m:ctrlPr>
                          </m:sSubPr>
                          <m:e>
                            <m:r>
                              <a:rPr lang="en-US" altLang="zh-CN" sz="2400" i="1">
                                <a:solidFill>
                                  <a:schemeClr val="tx1"/>
                                </a:solidFill>
                                <a:latin typeface="Cambria Math" panose="02040503050406030204" pitchFamily="18" charset="0"/>
                              </a:rPr>
                              <m:t>𝑤</m:t>
                            </m:r>
                          </m:e>
                          <m:sub>
                            <m:r>
                              <a:rPr lang="en-US" altLang="zh-CN" sz="2400" i="1">
                                <a:solidFill>
                                  <a:schemeClr val="tx1"/>
                                </a:solidFill>
                                <a:latin typeface="Cambria Math" panose="02040503050406030204" pitchFamily="18" charset="0"/>
                              </a:rPr>
                              <m:t>𝑛</m:t>
                            </m:r>
                          </m:sub>
                        </m:sSub>
                      </m:e>
                    </m:d>
                  </m:oMath>
                </a14:m>
                <a:r>
                  <a:rPr lang="zh-CN" altLang="en-US" sz="2400" dirty="0" smtClean="0">
                    <a:solidFill>
                      <a:schemeClr val="tx1"/>
                    </a:solidFill>
                  </a:rPr>
                  <a:t>，其中</a:t>
                </a:r>
                <a14:m>
                  <m:oMath xmlns:m="http://schemas.openxmlformats.org/officeDocument/2006/math">
                    <m:sSub>
                      <m:sSubPr>
                        <m:ctrlPr>
                          <a:rPr lang="zh-CN" altLang="zh-CN" sz="2400" i="1">
                            <a:solidFill>
                              <a:schemeClr val="tx1"/>
                            </a:solidFill>
                            <a:latin typeface="Cambria Math" panose="02040503050406030204" pitchFamily="18" charset="0"/>
                          </a:rPr>
                        </m:ctrlPr>
                      </m:sSubPr>
                      <m:e>
                        <m:r>
                          <a:rPr lang="en-US" altLang="zh-CN" sz="2400">
                            <a:solidFill>
                              <a:schemeClr val="tx1"/>
                            </a:solidFill>
                            <a:latin typeface="Cambria Math" panose="02040503050406030204" pitchFamily="18" charset="0"/>
                          </a:rPr>
                          <m:t>𝑤</m:t>
                        </m:r>
                      </m:e>
                      <m:sub>
                        <m:r>
                          <a:rPr lang="en-US" altLang="zh-CN" sz="2400">
                            <a:solidFill>
                              <a:schemeClr val="tx1"/>
                            </a:solidFill>
                            <a:latin typeface="Cambria Math" panose="02040503050406030204" pitchFamily="18" charset="0"/>
                          </a:rPr>
                          <m:t>𝑖</m:t>
                        </m:r>
                      </m:sub>
                    </m:sSub>
                    <m:r>
                      <a:rPr lang="zh-CN" altLang="en-US" sz="2400">
                        <a:solidFill>
                          <a:schemeClr val="tx1"/>
                        </a:solidFill>
                        <a:latin typeface="Cambria Math" panose="02040503050406030204" pitchFamily="18" charset="0"/>
                      </a:rPr>
                      <m:t>是</m:t>
                    </m:r>
                  </m:oMath>
                </a14:m>
                <a:r>
                  <a:rPr lang="zh-CN" altLang="en-US" sz="2400" dirty="0">
                    <a:solidFill>
                      <a:schemeClr val="tx1"/>
                    </a:solidFill>
                  </a:rPr>
                  <a:t>文本中</a:t>
                </a:r>
                <a:r>
                  <a:rPr lang="zh-CN" altLang="en-US" sz="2400" dirty="0" smtClean="0">
                    <a:solidFill>
                      <a:schemeClr val="tx1"/>
                    </a:solidFill>
                  </a:rPr>
                  <a:t>的第</a:t>
                </a:r>
                <a:r>
                  <a:rPr lang="en-US" altLang="zh-CN" sz="2400" dirty="0" err="1" smtClean="0">
                    <a:solidFill>
                      <a:schemeClr val="tx1"/>
                    </a:solidFill>
                  </a:rPr>
                  <a:t>i</a:t>
                </a:r>
                <a:r>
                  <a:rPr lang="zh-CN" altLang="en-US" sz="2400" dirty="0" smtClean="0">
                    <a:solidFill>
                      <a:schemeClr val="tx1"/>
                    </a:solidFill>
                  </a:rPr>
                  <a:t>个单词</a:t>
                </a:r>
                <a:endParaRPr lang="zh-CN" altLang="en-US" sz="2400" dirty="0">
                  <a:solidFill>
                    <a:schemeClr val="tx1"/>
                  </a:solidFill>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406400" y="1397001"/>
                <a:ext cx="11099800" cy="4729164"/>
              </a:xfrm>
              <a:blipFill>
                <a:blip r:embed="rId3"/>
                <a:stretch>
                  <a:fillRect l="-769" r="-27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1653632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What is a language model</a:t>
            </a:r>
            <a:r>
              <a:rPr lang="en-US" altLang="zh-CN" dirty="0" smtClean="0"/>
              <a:t>?</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35503" y="1228769"/>
                <a:ext cx="11520993" cy="4729164"/>
              </a:xfrm>
            </p:spPr>
            <p:txBody>
              <a:bodyPr/>
              <a:lstStyle/>
              <a:p>
                <a:pPr>
                  <a:lnSpc>
                    <a:spcPct val="150000"/>
                  </a:lnSpc>
                </a:pPr>
                <a:r>
                  <a:rPr lang="zh-CN" altLang="en-US" sz="2400" dirty="0" smtClean="0"/>
                  <a:t>给定语言</a:t>
                </a:r>
                <a:r>
                  <a:rPr lang="zh-CN" altLang="en-US" sz="2400" dirty="0"/>
                  <a:t>序列 </a:t>
                </a:r>
                <a:r>
                  <a:rPr lang="zh-CN" altLang="zh-CN" sz="2400" dirty="0"/>
                  <a:t> </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𝑛</m:t>
                        </m:r>
                      </m:sub>
                    </m:sSub>
                    <m:r>
                      <a:rPr lang="en-US" altLang="zh-CN" sz="2400" i="1">
                        <a:latin typeface="Cambria Math" panose="02040503050406030204" pitchFamily="18" charset="0"/>
                      </a:rPr>
                      <m:t> </m:t>
                    </m:r>
                  </m:oMath>
                </a14:m>
                <a:r>
                  <a:rPr lang="zh-CN" altLang="en-US" sz="2400" dirty="0" smtClean="0"/>
                  <a:t>，</a:t>
                </a:r>
                <a:r>
                  <a:rPr lang="zh-CN" altLang="en-US" sz="2400" b="1" dirty="0"/>
                  <a:t>语言模型</a:t>
                </a:r>
                <a:r>
                  <a:rPr lang="zh-CN" altLang="en-US" sz="2400" dirty="0"/>
                  <a:t>就是计算该序列的概率</a:t>
                </a:r>
                <a14:m>
                  <m:oMath xmlns:m="http://schemas.openxmlformats.org/officeDocument/2006/math">
                    <m:r>
                      <a:rPr lang="en-US" altLang="zh-CN" sz="2400" i="1">
                        <a:latin typeface="Cambria Math" panose="02040503050406030204" pitchFamily="18" charset="0"/>
                      </a:rPr>
                      <m:t>𝑝</m:t>
                    </m:r>
                    <m:d>
                      <m:dPr>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1,</m:t>
                            </m:r>
                          </m:sub>
                        </m:sSub>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𝑛</m:t>
                            </m:r>
                          </m:sub>
                        </m:sSub>
                      </m:e>
                    </m:d>
                  </m:oMath>
                </a14:m>
                <a:r>
                  <a:rPr lang="zh-CN" altLang="en-US" sz="2400" dirty="0" smtClean="0"/>
                  <a:t>，是对</a:t>
                </a:r>
                <a:r>
                  <a:rPr lang="zh-CN" altLang="en-US" sz="2400" dirty="0"/>
                  <a:t>语句的</a:t>
                </a:r>
                <a:r>
                  <a:rPr lang="zh-CN" altLang="en-US" sz="2400" b="1" dirty="0"/>
                  <a:t>概率分布</a:t>
                </a:r>
                <a:r>
                  <a:rPr lang="zh-CN" altLang="en-US" sz="2400" dirty="0"/>
                  <a:t>的建模</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35503" y="1228769"/>
                <a:ext cx="11520993" cy="4729164"/>
              </a:xfrm>
              <a:blipFill>
                <a:blip r:embed="rId3"/>
                <a:stretch>
                  <a:fillRect l="-688" r="-688"/>
                </a:stretch>
              </a:blipFill>
            </p:spPr>
            <p:txBody>
              <a:bodyPr/>
              <a:lstStyle/>
              <a:p>
                <a:r>
                  <a:rPr lang="zh-CN" altLang="en-US">
                    <a:noFill/>
                  </a:rPr>
                  <a:t> </a:t>
                </a:r>
              </a:p>
            </p:txBody>
          </p:sp>
        </mc:Fallback>
      </mc:AlternateContent>
      <p:sp>
        <p:nvSpPr>
          <p:cNvPr id="7" name="矩形 6"/>
          <p:cNvSpPr/>
          <p:nvPr/>
        </p:nvSpPr>
        <p:spPr>
          <a:xfrm>
            <a:off x="8005301" y="3228361"/>
            <a:ext cx="1107996" cy="369332"/>
          </a:xfrm>
          <a:prstGeom prst="rect">
            <a:avLst/>
          </a:prstGeom>
        </p:spPr>
        <p:txBody>
          <a:bodyPr wrap="none">
            <a:spAutoFit/>
          </a:bodyPr>
          <a:lstStyle/>
          <a:p>
            <a:r>
              <a:rPr lang="zh-CN" altLang="en-US" b="1" dirty="0" smtClean="0">
                <a:solidFill>
                  <a:srgbClr val="121212"/>
                </a:solidFill>
                <a:latin typeface="-apple-system"/>
              </a:rPr>
              <a:t>链式法则</a:t>
            </a:r>
            <a:endParaRPr lang="zh-CN" altLang="en-US" b="1" dirty="0"/>
          </a:p>
        </p:txBody>
      </p:sp>
      <mc:AlternateContent xmlns:mc="http://schemas.openxmlformats.org/markup-compatibility/2006" xmlns:a14="http://schemas.microsoft.com/office/drawing/2010/main">
        <mc:Choice Requires="a14">
          <p:sp>
            <p:nvSpPr>
              <p:cNvPr id="8" name="矩形 7"/>
              <p:cNvSpPr/>
              <p:nvPr/>
            </p:nvSpPr>
            <p:spPr>
              <a:xfrm>
                <a:off x="838200" y="2175426"/>
                <a:ext cx="7772400" cy="2202334"/>
              </a:xfrm>
              <a:prstGeom prst="rect">
                <a:avLst/>
              </a:prstGeom>
            </p:spPr>
            <p:txBody>
              <a:bodyPr wrap="square">
                <a:spAutoFit/>
              </a:bodyPr>
              <a:lstStyle/>
              <a:p>
                <a:pPr>
                  <a:lnSpc>
                    <a:spcPct val="200000"/>
                  </a:lnSpc>
                </a:pPr>
                <a:endParaRPr lang="en-US" altLang="zh-CN" sz="2400" i="1" dirty="0" smtClean="0">
                  <a:latin typeface="Cambria Math" panose="02040503050406030204" pitchFamily="18" charset="0"/>
                  <a:ea typeface="宋体" panose="02010600030101010101" pitchFamily="2" charset="-122"/>
                  <a:cs typeface="Times New Roman" panose="02020603050405020304" pitchFamily="18" charset="0"/>
                </a:endParaRPr>
              </a:p>
              <a:p>
                <a:pPr>
                  <a:lnSpc>
                    <a:spcPct val="200000"/>
                  </a:lnSpc>
                </a:pPr>
                <a14:m>
                  <m:oMath xmlns:m="http://schemas.openxmlformats.org/officeDocument/2006/math">
                    <m:r>
                      <a:rPr lang="en-US" altLang="zh-CN" sz="2400" b="0" i="1" smtClean="0">
                        <a:latin typeface="Cambria Math" panose="02040503050406030204" pitchFamily="18" charset="0"/>
                        <a:ea typeface="宋体" panose="02010600030101010101" pitchFamily="2" charset="-122"/>
                        <a:cs typeface="Times New Roman" panose="02020603050405020304" pitchFamily="18" charset="0"/>
                      </a:rPr>
                      <m:t> </m:t>
                    </m:r>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𝑝</m:t>
                    </m:r>
                    <m:d>
                      <m:dPr>
                        <m:ctrlPr>
                          <a:rPr lang="zh-CN" altLang="zh-CN" sz="2400" i="1">
                            <a:effectLst/>
                            <a:latin typeface="Cambria Math" panose="02040503050406030204" pitchFamily="18" charset="0"/>
                            <a:ea typeface="Cambria Math" panose="02040503050406030204" pitchFamily="18" charset="0"/>
                          </a:rPr>
                        </m:ctrlPr>
                      </m:dP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𝑤</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Sub>
                      </m:e>
                    </m:d>
                    <m:r>
                      <a:rPr lang="en-US" altLang="zh-CN" sz="2400" i="1">
                        <a:latin typeface="Cambria Math" panose="02040503050406030204" pitchFamily="18" charset="0"/>
                        <a:ea typeface="宋体" panose="02010600030101010101" pitchFamily="2" charset="-122"/>
                        <a:cs typeface="Times New Roman" panose="02020603050405020304" pitchFamily="18" charset="0"/>
                      </a:rPr>
                      <m:t>𝑝</m:t>
                    </m:r>
                    <m:d>
                      <m:dPr>
                        <m:ctrlPr>
                          <a:rPr lang="zh-CN" altLang="zh-CN" sz="2400" i="1">
                            <a:effectLst/>
                            <a:latin typeface="Cambria Math" panose="02040503050406030204" pitchFamily="18" charset="0"/>
                            <a:ea typeface="Cambria Math" panose="02040503050406030204" pitchFamily="18" charset="0"/>
                          </a:rPr>
                        </m:ctrlPr>
                      </m:dP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𝑤</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sub>
                        </m:sSub>
                      </m:e>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𝑤</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Sub>
                      </m:e>
                    </m:d>
                    <m:r>
                      <a:rPr lang="en-US" altLang="zh-CN" sz="2400" i="1">
                        <a:latin typeface="Cambria Math" panose="02040503050406030204" pitchFamily="18" charset="0"/>
                        <a:ea typeface="宋体" panose="02010600030101010101" pitchFamily="2" charset="-122"/>
                        <a:cs typeface="Times New Roman" panose="02020603050405020304" pitchFamily="18" charset="0"/>
                      </a:rPr>
                      <m:t>𝑝</m:t>
                    </m:r>
                    <m:d>
                      <m:dPr>
                        <m:ctrlPr>
                          <a:rPr lang="zh-CN" altLang="zh-CN" sz="2400" i="1">
                            <a:effectLst/>
                            <a:latin typeface="Cambria Math" panose="02040503050406030204" pitchFamily="18" charset="0"/>
                            <a:ea typeface="Cambria Math" panose="02040503050406030204" pitchFamily="18" charset="0"/>
                          </a:rPr>
                        </m:ctrlPr>
                      </m:dP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𝑤</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3</m:t>
                            </m:r>
                          </m:sub>
                        </m:sSub>
                      </m:e>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𝑤</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𝑤</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2</m:t>
                            </m:r>
                          </m:sub>
                        </m:sSub>
                      </m:e>
                    </m:d>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r>
                      <a:rPr lang="en-US" altLang="zh-CN" sz="2400" i="1">
                        <a:latin typeface="Cambria Math" panose="02040503050406030204" pitchFamily="18" charset="0"/>
                        <a:ea typeface="宋体" panose="02010600030101010101" pitchFamily="2" charset="-122"/>
                        <a:cs typeface="Times New Roman" panose="02020603050405020304" pitchFamily="18" charset="0"/>
                      </a:rPr>
                      <m:t>𝑝</m:t>
                    </m:r>
                    <m:d>
                      <m:dPr>
                        <m:ctrlPr>
                          <a:rPr lang="zh-CN" altLang="zh-CN" sz="2400" i="1">
                            <a:effectLst/>
                            <a:latin typeface="Cambria Math" panose="02040503050406030204" pitchFamily="18" charset="0"/>
                            <a:ea typeface="Cambria Math" panose="02040503050406030204" pitchFamily="18" charset="0"/>
                          </a:rPr>
                        </m:ctrlPr>
                      </m:dP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𝑤</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𝑛</m:t>
                            </m:r>
                          </m:sub>
                        </m:sSub>
                      </m:e>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𝑤</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𝑤</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𝑛</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Sub>
                      </m:e>
                    </m:d>
                  </m:oMath>
                </a14:m>
                <a:r>
                  <a:rPr lang="en-US" altLang="zh-CN" sz="2400" dirty="0">
                    <a:latin typeface="Times New Roman" panose="02020603050405020304" pitchFamily="18" charset="0"/>
                    <a:ea typeface="宋体" panose="02010600030101010101" pitchFamily="2" charset="-122"/>
                  </a:rPr>
                  <a:t>                </a:t>
                </a:r>
              </a:p>
              <a:p>
                <a:pPr>
                  <a:lnSpc>
                    <a:spcPct val="200000"/>
                  </a:lnSpc>
                </a:pPr>
                <a:r>
                  <a:rPr lang="en-US" altLang="zh-CN" sz="2400" dirty="0" smtClean="0">
                    <a:latin typeface="Times New Roman" panose="02020603050405020304" pitchFamily="18" charset="0"/>
                    <a:ea typeface="宋体" panose="02010600030101010101" pitchFamily="2" charset="-122"/>
                  </a:rPr>
                  <a:t> </a:t>
                </a:r>
                <a14:m>
                  <m:oMath xmlns:m="http://schemas.openxmlformats.org/officeDocument/2006/math">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nary>
                      <m:naryPr>
                        <m:chr m:val="∏"/>
                        <m:limLoc m:val="undOvr"/>
                        <m:ctrlPr>
                          <a:rPr lang="zh-CN" altLang="zh-CN" sz="2400" i="1">
                            <a:effectLst/>
                            <a:latin typeface="Cambria Math" panose="02040503050406030204" pitchFamily="18" charset="0"/>
                            <a:ea typeface="Cambria Math" panose="02040503050406030204" pitchFamily="18" charset="0"/>
                          </a:rPr>
                        </m:ctrlPr>
                      </m:naryPr>
                      <m:sub>
                        <m:r>
                          <a:rPr lang="en-US" altLang="zh-CN" sz="2400" i="1">
                            <a:latin typeface="Cambria Math" panose="02040503050406030204" pitchFamily="18" charset="0"/>
                            <a:ea typeface="宋体" panose="02010600030101010101" pitchFamily="2" charset="-122"/>
                            <a:cs typeface="Times New Roman" panose="02020603050405020304" pitchFamily="18" charset="0"/>
                          </a:rPr>
                          <m:t>𝑖</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2400" i="1">
                            <a:latin typeface="Cambria Math" panose="02040503050406030204" pitchFamily="18" charset="0"/>
                            <a:ea typeface="宋体" panose="02010600030101010101" pitchFamily="2" charset="-122"/>
                            <a:cs typeface="Times New Roman" panose="02020603050405020304" pitchFamily="18" charset="0"/>
                          </a:rPr>
                          <m:t>𝑛</m:t>
                        </m:r>
                      </m:sup>
                      <m:e>
                        <m:r>
                          <a:rPr lang="en-US" altLang="zh-CN" sz="2400" i="1">
                            <a:latin typeface="Cambria Math" panose="02040503050406030204" pitchFamily="18" charset="0"/>
                            <a:ea typeface="宋体" panose="02010600030101010101" pitchFamily="2" charset="-122"/>
                            <a:cs typeface="Times New Roman" panose="02020603050405020304" pitchFamily="18" charset="0"/>
                          </a:rPr>
                          <m:t>𝑝</m:t>
                        </m:r>
                        <m:d>
                          <m:dPr>
                            <m:ctrlPr>
                              <a:rPr lang="zh-CN" altLang="zh-CN" sz="2400" i="1">
                                <a:effectLst/>
                                <a:latin typeface="Cambria Math" panose="02040503050406030204" pitchFamily="18" charset="0"/>
                                <a:ea typeface="Cambria Math" panose="02040503050406030204" pitchFamily="18" charset="0"/>
                              </a:rPr>
                            </m:ctrlPr>
                          </m:dPr>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𝑤</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𝑖</m:t>
                                </m:r>
                              </m:sub>
                            </m:sSub>
                          </m:e>
                          <m:e>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𝑤</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400" i="1">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a:latin typeface="Cambria Math" panose="02040503050406030204" pitchFamily="18" charset="0"/>
                                    <a:ea typeface="宋体" panose="02010600030101010101" pitchFamily="2" charset="-122"/>
                                    <a:cs typeface="Times New Roman" panose="02020603050405020304" pitchFamily="18" charset="0"/>
                                  </a:rPr>
                                  <m:t>𝑤</m:t>
                                </m:r>
                              </m:e>
                              <m:sub>
                                <m:r>
                                  <a:rPr lang="en-US" altLang="zh-CN" sz="2400" i="1">
                                    <a:latin typeface="Cambria Math" panose="02040503050406030204" pitchFamily="18" charset="0"/>
                                    <a:ea typeface="宋体" panose="02010600030101010101" pitchFamily="2" charset="-122"/>
                                    <a:cs typeface="Times New Roman" panose="02020603050405020304" pitchFamily="18" charset="0"/>
                                  </a:rPr>
                                  <m:t>𝑖</m:t>
                                </m:r>
                                <m:r>
                                  <a:rPr lang="en-US" altLang="zh-CN" sz="2400" i="1">
                                    <a:latin typeface="Cambria Math" panose="02040503050406030204" pitchFamily="18" charset="0"/>
                                    <a:ea typeface="宋体" panose="02010600030101010101" pitchFamily="2" charset="-122"/>
                                    <a:cs typeface="Times New Roman" panose="02020603050405020304" pitchFamily="18" charset="0"/>
                                  </a:rPr>
                                  <m:t>−1</m:t>
                                </m:r>
                              </m:sub>
                            </m:sSub>
                          </m:e>
                        </m:d>
                      </m:e>
                    </m:nary>
                  </m:oMath>
                </a14:m>
                <a:endParaRPr lang="zh-CN" altLang="en-US" sz="2400" dirty="0"/>
              </a:p>
            </p:txBody>
          </p:sp>
        </mc:Choice>
        <mc:Fallback xmlns="">
          <p:sp>
            <p:nvSpPr>
              <p:cNvPr id="8" name="矩形 7"/>
              <p:cNvSpPr>
                <a:spLocks noRot="1" noChangeAspect="1" noMove="1" noResize="1" noEditPoints="1" noAdjustHandles="1" noChangeArrowheads="1" noChangeShapeType="1" noTextEdit="1"/>
              </p:cNvSpPr>
              <p:nvPr/>
            </p:nvSpPr>
            <p:spPr>
              <a:xfrm>
                <a:off x="838200" y="2175426"/>
                <a:ext cx="7772400" cy="2202334"/>
              </a:xfrm>
              <a:prstGeom prst="rect">
                <a:avLst/>
              </a:prstGeom>
              <a:blipFill>
                <a:blip r:embed="rId4"/>
                <a:stretch>
                  <a:fillRect l="-1176" b="-404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1176688" y="2591007"/>
                <a:ext cx="262161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ea typeface="宋体" panose="02010600030101010101" pitchFamily="2" charset="-122"/>
                          <a:cs typeface="Times New Roman" panose="02020603050405020304" pitchFamily="18" charset="0"/>
                        </a:rPr>
                        <m:t>𝒑</m:t>
                      </m:r>
                      <m:d>
                        <m:dPr>
                          <m:ctrlPr>
                            <a:rPr lang="zh-CN" altLang="zh-CN" sz="2400" b="1" i="1">
                              <a:latin typeface="Cambria Math" panose="02040503050406030204" pitchFamily="18" charset="0"/>
                              <a:ea typeface="Cambria Math" panose="02040503050406030204" pitchFamily="18" charset="0"/>
                            </a:rPr>
                          </m:ctrlPr>
                        </m:dPr>
                        <m:e>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a:latin typeface="Cambria Math" panose="02040503050406030204" pitchFamily="18" charset="0"/>
                                  <a:ea typeface="宋体" panose="02010600030101010101" pitchFamily="2" charset="-122"/>
                                  <a:cs typeface="Times New Roman" panose="02020603050405020304" pitchFamily="18" charset="0"/>
                                </a:rPr>
                                <m:t>𝒘</m:t>
                              </m:r>
                            </m:e>
                            <m:sub>
                              <m:r>
                                <a:rPr lang="en-US" altLang="zh-CN" sz="2400" b="1" i="1">
                                  <a:latin typeface="Cambria Math" panose="02040503050406030204" pitchFamily="18" charset="0"/>
                                  <a:ea typeface="宋体" panose="02010600030101010101" pitchFamily="2" charset="-122"/>
                                  <a:cs typeface="Times New Roman" panose="02020603050405020304" pitchFamily="18" charset="0"/>
                                </a:rPr>
                                <m:t>𝟏</m:t>
                              </m:r>
                            </m:sub>
                          </m:sSub>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smtClean="0">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ea typeface="宋体" panose="02010600030101010101" pitchFamily="2" charset="-122"/>
                                  <a:cs typeface="Times New Roman" panose="02020603050405020304" pitchFamily="18" charset="0"/>
                                </a:rPr>
                                <m:t>𝒘</m:t>
                              </m:r>
                            </m:e>
                            <m:sub>
                              <m:r>
                                <a:rPr lang="en-US" altLang="zh-CN" sz="2400" b="1" i="1">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400" b="1"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smtClean="0">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ea typeface="宋体" panose="02010600030101010101" pitchFamily="2" charset="-122"/>
                                  <a:cs typeface="Times New Roman" panose="02020603050405020304" pitchFamily="18" charset="0"/>
                                </a:rPr>
                                <m:t>𝒘</m:t>
                              </m:r>
                            </m:e>
                            <m:sub>
                              <m:r>
                                <a:rPr lang="en-US" altLang="zh-CN" sz="2400" b="1" i="1">
                                  <a:latin typeface="Cambria Math" panose="02040503050406030204" pitchFamily="18" charset="0"/>
                                  <a:ea typeface="宋体" panose="02010600030101010101" pitchFamily="2" charset="-122"/>
                                  <a:cs typeface="Times New Roman" panose="02020603050405020304" pitchFamily="18" charset="0"/>
                                </a:rPr>
                                <m:t>𝒏</m:t>
                              </m:r>
                            </m:sub>
                          </m:sSub>
                        </m:e>
                      </m:d>
                    </m:oMath>
                  </m:oMathPara>
                </a14:m>
                <a:endParaRPr lang="zh-CN" altLang="en-US" sz="2400" b="1" dirty="0"/>
              </a:p>
            </p:txBody>
          </p:sp>
        </mc:Choice>
        <mc:Fallback xmlns="">
          <p:sp>
            <p:nvSpPr>
              <p:cNvPr id="9" name="矩形 8"/>
              <p:cNvSpPr>
                <a:spLocks noRot="1" noChangeAspect="1" noMove="1" noResize="1" noEditPoints="1" noAdjustHandles="1" noChangeArrowheads="1" noChangeShapeType="1" noTextEdit="1"/>
              </p:cNvSpPr>
              <p:nvPr/>
            </p:nvSpPr>
            <p:spPr>
              <a:xfrm>
                <a:off x="1176688" y="2591007"/>
                <a:ext cx="2621615" cy="461665"/>
              </a:xfrm>
              <a:prstGeom prst="rect">
                <a:avLst/>
              </a:prstGeom>
              <a:blipFill>
                <a:blip r:embed="rId5"/>
                <a:stretch>
                  <a:fillRect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838200" y="4547027"/>
                <a:ext cx="4073551" cy="10988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ea typeface="宋体" panose="02010600030101010101" pitchFamily="2" charset="-122"/>
                          <a:cs typeface="Times New Roman" panose="02020603050405020304" pitchFamily="18" charset="0"/>
                        </a:rPr>
                        <m:t>=</m:t>
                      </m:r>
                      <m:nary>
                        <m:naryPr>
                          <m:chr m:val="∏"/>
                          <m:limLoc m:val="undOvr"/>
                          <m:ctrlPr>
                            <a:rPr lang="zh-CN" altLang="zh-CN" sz="2400" b="1" i="1">
                              <a:latin typeface="Cambria Math" panose="02040503050406030204" pitchFamily="18" charset="0"/>
                              <a:ea typeface="Cambria Math" panose="02040503050406030204" pitchFamily="18" charset="0"/>
                            </a:rPr>
                          </m:ctrlPr>
                        </m:naryPr>
                        <m:sub>
                          <m:r>
                            <a:rPr lang="en-US" altLang="zh-CN" sz="2400" b="1" i="1">
                              <a:latin typeface="Cambria Math" panose="02040503050406030204" pitchFamily="18" charset="0"/>
                              <a:ea typeface="宋体" panose="02010600030101010101" pitchFamily="2" charset="-122"/>
                              <a:cs typeface="Times New Roman" panose="02020603050405020304" pitchFamily="18" charset="0"/>
                            </a:rPr>
                            <m:t>𝒊</m:t>
                          </m:r>
                          <m:r>
                            <a:rPr lang="en-US" altLang="zh-CN" sz="2400" b="1"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latin typeface="Cambria Math" panose="02040503050406030204" pitchFamily="18" charset="0"/>
                              <a:ea typeface="宋体" panose="02010600030101010101" pitchFamily="2" charset="-122"/>
                              <a:cs typeface="Times New Roman" panose="02020603050405020304" pitchFamily="18" charset="0"/>
                            </a:rPr>
                            <m:t>𝟏</m:t>
                          </m:r>
                        </m:sub>
                        <m:sup>
                          <m:r>
                            <a:rPr lang="en-US" altLang="zh-CN" sz="2400" b="1" i="1">
                              <a:latin typeface="Cambria Math" panose="02040503050406030204" pitchFamily="18" charset="0"/>
                              <a:ea typeface="宋体" panose="02010600030101010101" pitchFamily="2" charset="-122"/>
                              <a:cs typeface="Times New Roman" panose="02020603050405020304" pitchFamily="18" charset="0"/>
                            </a:rPr>
                            <m:t>𝒏</m:t>
                          </m:r>
                        </m:sup>
                        <m:e>
                          <m:r>
                            <a:rPr lang="en-US" altLang="zh-CN" sz="2400" b="1" i="1">
                              <a:latin typeface="Cambria Math" panose="02040503050406030204" pitchFamily="18" charset="0"/>
                              <a:ea typeface="宋体" panose="02010600030101010101" pitchFamily="2" charset="-122"/>
                              <a:cs typeface="Times New Roman" panose="02020603050405020304" pitchFamily="18" charset="0"/>
                            </a:rPr>
                            <m:t>𝒑</m:t>
                          </m:r>
                          <m:d>
                            <m:dPr>
                              <m:ctrlPr>
                                <a:rPr lang="zh-CN" altLang="zh-CN" sz="2400" b="1" i="1">
                                  <a:latin typeface="Cambria Math" panose="02040503050406030204" pitchFamily="18" charset="0"/>
                                  <a:ea typeface="Cambria Math" panose="02040503050406030204" pitchFamily="18" charset="0"/>
                                </a:rPr>
                              </m:ctrlPr>
                            </m:dPr>
                            <m:e>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a:latin typeface="Cambria Math" panose="02040503050406030204" pitchFamily="18" charset="0"/>
                                      <a:ea typeface="宋体" panose="02010600030101010101" pitchFamily="2" charset="-122"/>
                                      <a:cs typeface="Times New Roman" panose="02020603050405020304" pitchFamily="18" charset="0"/>
                                    </a:rPr>
                                    <m:t>𝒘</m:t>
                                  </m:r>
                                </m:e>
                                <m:sub>
                                  <m:r>
                                    <a:rPr lang="en-US" altLang="zh-CN" sz="2400" b="1" i="1">
                                      <a:latin typeface="Cambria Math" panose="02040503050406030204" pitchFamily="18" charset="0"/>
                                      <a:ea typeface="宋体" panose="02010600030101010101" pitchFamily="2" charset="-122"/>
                                      <a:cs typeface="Times New Roman" panose="02020603050405020304" pitchFamily="18" charset="0"/>
                                    </a:rPr>
                                    <m:t>𝒊</m:t>
                                  </m:r>
                                </m:sub>
                              </m:sSub>
                            </m:e>
                            <m:e>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a:latin typeface="Cambria Math" panose="02040503050406030204" pitchFamily="18" charset="0"/>
                                      <a:ea typeface="宋体" panose="02010600030101010101" pitchFamily="2" charset="-122"/>
                                      <a:cs typeface="Times New Roman" panose="02020603050405020304" pitchFamily="18" charset="0"/>
                                    </a:rPr>
                                    <m:t>𝒘</m:t>
                                  </m:r>
                                </m:e>
                                <m:sub>
                                  <m:r>
                                    <a:rPr lang="en-US" altLang="zh-CN" sz="2400" b="1"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𝒊</m:t>
                                  </m:r>
                                  <m:r>
                                    <a:rPr lang="en-US" altLang="zh-CN" sz="2400" b="1"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𝒏</m:t>
                                  </m:r>
                                  <m:r>
                                    <a:rPr lang="en-US" altLang="zh-CN" sz="2400" b="1"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a:latin typeface="Cambria Math" panose="02040503050406030204" pitchFamily="18" charset="0"/>
                                      <a:ea typeface="宋体" panose="02010600030101010101" pitchFamily="2" charset="-122"/>
                                      <a:cs typeface="Times New Roman" panose="02020603050405020304" pitchFamily="18" charset="0"/>
                                    </a:rPr>
                                    <m:t>𝒘</m:t>
                                  </m:r>
                                </m:e>
                                <m:sub>
                                  <m:r>
                                    <a:rPr lang="en-US" altLang="zh-CN" sz="2400" b="1" i="1">
                                      <a:latin typeface="Cambria Math" panose="02040503050406030204" pitchFamily="18" charset="0"/>
                                      <a:ea typeface="宋体" panose="02010600030101010101" pitchFamily="2" charset="-122"/>
                                      <a:cs typeface="Times New Roman" panose="02020603050405020304" pitchFamily="18" charset="0"/>
                                    </a:rPr>
                                    <m:t>𝒊</m:t>
                                  </m:r>
                                  <m:r>
                                    <a:rPr lang="en-US" altLang="zh-CN" sz="2400" b="1"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latin typeface="Cambria Math" panose="02040503050406030204" pitchFamily="18" charset="0"/>
                                      <a:ea typeface="宋体" panose="02010600030101010101" pitchFamily="2" charset="-122"/>
                                      <a:cs typeface="Times New Roman" panose="02020603050405020304" pitchFamily="18" charset="0"/>
                                    </a:rPr>
                                    <m:t>𝟏</m:t>
                                  </m:r>
                                </m:sub>
                              </m:sSub>
                            </m:e>
                          </m:d>
                        </m:e>
                      </m:nary>
                    </m:oMath>
                  </m:oMathPara>
                </a14:m>
                <a:endParaRPr lang="zh-CN" altLang="en-US" sz="2400" b="1" dirty="0"/>
              </a:p>
            </p:txBody>
          </p:sp>
        </mc:Choice>
        <mc:Fallback xmlns="">
          <p:sp>
            <p:nvSpPr>
              <p:cNvPr id="11" name="矩形 10"/>
              <p:cNvSpPr>
                <a:spLocks noRot="1" noChangeAspect="1" noMove="1" noResize="1" noEditPoints="1" noAdjustHandles="1" noChangeArrowheads="1" noChangeShapeType="1" noTextEdit="1"/>
              </p:cNvSpPr>
              <p:nvPr/>
            </p:nvSpPr>
            <p:spPr>
              <a:xfrm>
                <a:off x="838200" y="4547027"/>
                <a:ext cx="4073551" cy="1098891"/>
              </a:xfrm>
              <a:prstGeom prst="rect">
                <a:avLst/>
              </a:prstGeom>
              <a:blipFill>
                <a:blip r:embed="rId6"/>
                <a:stretch>
                  <a:fillRect/>
                </a:stretch>
              </a:blipFill>
            </p:spPr>
            <p:txBody>
              <a:bodyPr/>
              <a:lstStyle/>
              <a:p>
                <a:r>
                  <a:rPr lang="zh-CN" altLang="en-US">
                    <a:noFill/>
                  </a:rPr>
                  <a:t> </a:t>
                </a:r>
              </a:p>
            </p:txBody>
          </p:sp>
        </mc:Fallback>
      </mc:AlternateContent>
      <p:sp>
        <p:nvSpPr>
          <p:cNvPr id="4" name="矩形 3"/>
          <p:cNvSpPr/>
          <p:nvPr/>
        </p:nvSpPr>
        <p:spPr>
          <a:xfrm>
            <a:off x="990600" y="5815186"/>
            <a:ext cx="7212100" cy="454035"/>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nSpc>
                <a:spcPct val="150000"/>
              </a:lnSpc>
            </a:pPr>
            <a:r>
              <a:rPr lang="en-US" altLang="zh-CN" dirty="0">
                <a:solidFill>
                  <a:srgbClr val="FF0000"/>
                </a:solidFill>
                <a:latin typeface="-apple-system"/>
              </a:rPr>
              <a:t>n-gram</a:t>
            </a:r>
            <a:r>
              <a:rPr lang="zh-CN" altLang="en-US" dirty="0" smtClean="0">
                <a:solidFill>
                  <a:srgbClr val="FF0000"/>
                </a:solidFill>
                <a:latin typeface="-apple-system"/>
              </a:rPr>
              <a:t>模型：</a:t>
            </a:r>
            <a:r>
              <a:rPr lang="zh-CN" altLang="en-US" dirty="0" smtClean="0"/>
              <a:t>最</a:t>
            </a:r>
            <a:r>
              <a:rPr lang="zh-CN" altLang="en-US" dirty="0"/>
              <a:t>简单的语言模型之一，</a:t>
            </a:r>
            <a:r>
              <a:rPr lang="zh-CN" altLang="en-US" b="1" dirty="0"/>
              <a:t>基于前 </a:t>
            </a:r>
            <a:r>
              <a:rPr lang="en-US" altLang="zh-CN" b="1" dirty="0" smtClean="0"/>
              <a:t>n</a:t>
            </a:r>
            <a:r>
              <a:rPr lang="en-US" altLang="zh-CN" b="1" dirty="0"/>
              <a:t>−1 </a:t>
            </a:r>
            <a:r>
              <a:rPr lang="zh-CN" altLang="en-US" b="1" dirty="0"/>
              <a:t>个词来</a:t>
            </a:r>
            <a:r>
              <a:rPr lang="zh-CN" altLang="en-US" b="1" dirty="0" smtClean="0"/>
              <a:t>预测当前词</a:t>
            </a:r>
            <a:endParaRPr lang="zh-CN" altLang="en-US" b="1" dirty="0"/>
          </a:p>
        </p:txBody>
      </p:sp>
      <p:sp>
        <p:nvSpPr>
          <p:cNvPr id="13" name="矩形 12"/>
          <p:cNvSpPr/>
          <p:nvPr/>
        </p:nvSpPr>
        <p:spPr>
          <a:xfrm>
            <a:off x="95251" y="6427662"/>
            <a:ext cx="12433300" cy="338554"/>
          </a:xfrm>
          <a:prstGeom prst="rect">
            <a:avLst/>
          </a:prstGeom>
        </p:spPr>
        <p:txBody>
          <a:bodyPr wrap="square">
            <a:spAutoFit/>
          </a:bodyPr>
          <a:lstStyle/>
          <a:p>
            <a:r>
              <a:rPr lang="en-US" altLang="zh-CN" sz="1600" dirty="0">
                <a:latin typeface="Arial" panose="020B0604020202020204" pitchFamily="34" charset="0"/>
              </a:rPr>
              <a:t>Shannon, C. E.,&amp; Weaver, W. (1949). The Mathematical Theory of Communication. Urbana, IL: The University of Illinois Press, 1-117.</a:t>
            </a:r>
            <a:endParaRPr lang="zh-CN" altLang="en-US" sz="1600" dirty="0"/>
          </a:p>
        </p:txBody>
      </p:sp>
    </p:spTree>
    <p:extLst>
      <p:ext uri="{BB962C8B-B14F-4D97-AF65-F5344CB8AC3E}">
        <p14:creationId xmlns:p14="http://schemas.microsoft.com/office/powerpoint/2010/main" val="1737001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What is a language model</a:t>
            </a:r>
            <a:r>
              <a:rPr lang="en-US" altLang="zh-CN" dirty="0" smtClean="0"/>
              <a:t>?</a:t>
            </a:r>
            <a:endParaRPr lang="zh-CN" altLang="en-US" dirty="0"/>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335503" y="1228769"/>
                <a:ext cx="11520993" cy="4729164"/>
              </a:xfrm>
            </p:spPr>
            <p:txBody>
              <a:bodyPr/>
              <a:lstStyle/>
              <a:p>
                <a:pPr>
                  <a:lnSpc>
                    <a:spcPct val="150000"/>
                  </a:lnSpc>
                </a:pPr>
                <a:r>
                  <a:rPr lang="zh-CN" altLang="en-US" sz="2400" dirty="0" smtClean="0"/>
                  <a:t>给定语言</a:t>
                </a:r>
                <a:r>
                  <a:rPr lang="zh-CN" altLang="en-US" sz="2400" dirty="0"/>
                  <a:t>序列 </a:t>
                </a:r>
                <a:r>
                  <a:rPr lang="zh-CN" altLang="zh-CN" sz="2400" dirty="0"/>
                  <a:t> </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𝑛</m:t>
                        </m:r>
                      </m:sub>
                    </m:sSub>
                    <m:r>
                      <a:rPr lang="en-US" altLang="zh-CN" sz="2400" i="1">
                        <a:latin typeface="Cambria Math" panose="02040503050406030204" pitchFamily="18" charset="0"/>
                      </a:rPr>
                      <m:t> </m:t>
                    </m:r>
                  </m:oMath>
                </a14:m>
                <a:r>
                  <a:rPr lang="zh-CN" altLang="en-US" sz="2400" dirty="0" smtClean="0"/>
                  <a:t>，</a:t>
                </a:r>
                <a:r>
                  <a:rPr lang="zh-CN" altLang="en-US" sz="2400" b="1" dirty="0"/>
                  <a:t>语言模型</a:t>
                </a:r>
                <a:r>
                  <a:rPr lang="zh-CN" altLang="en-US" sz="2400" dirty="0"/>
                  <a:t>就是计算该序列的概率</a:t>
                </a:r>
                <a14:m>
                  <m:oMath xmlns:m="http://schemas.openxmlformats.org/officeDocument/2006/math">
                    <m:r>
                      <a:rPr lang="en-US" altLang="zh-CN" sz="2400" i="1">
                        <a:latin typeface="Cambria Math" panose="02040503050406030204" pitchFamily="18" charset="0"/>
                      </a:rPr>
                      <m:t>𝑝</m:t>
                    </m:r>
                    <m:d>
                      <m:dPr>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1,</m:t>
                            </m:r>
                          </m:sub>
                        </m:sSub>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𝑛</m:t>
                            </m:r>
                          </m:sub>
                        </m:sSub>
                      </m:e>
                    </m:d>
                  </m:oMath>
                </a14:m>
                <a:r>
                  <a:rPr lang="zh-CN" altLang="en-US" sz="2400" dirty="0" smtClean="0"/>
                  <a:t>，是对</a:t>
                </a:r>
                <a:r>
                  <a:rPr lang="zh-CN" altLang="en-US" sz="2400" dirty="0"/>
                  <a:t>语句的</a:t>
                </a:r>
                <a:r>
                  <a:rPr lang="zh-CN" altLang="en-US" sz="2400" b="1" dirty="0"/>
                  <a:t>概率分布</a:t>
                </a:r>
                <a:r>
                  <a:rPr lang="zh-CN" altLang="en-US" sz="2400" dirty="0"/>
                  <a:t>的建模</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335503" y="1228769"/>
                <a:ext cx="11520993" cy="4729164"/>
              </a:xfrm>
              <a:blipFill>
                <a:blip r:embed="rId3"/>
                <a:stretch>
                  <a:fillRect l="-688" r="-68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p:cNvSpPr/>
              <p:nvPr/>
            </p:nvSpPr>
            <p:spPr>
              <a:xfrm>
                <a:off x="2728851" y="2601702"/>
                <a:ext cx="262161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ea typeface="宋体" panose="02010600030101010101" pitchFamily="2" charset="-122"/>
                          <a:cs typeface="Times New Roman" panose="02020603050405020304" pitchFamily="18" charset="0"/>
                        </a:rPr>
                        <m:t>𝒑</m:t>
                      </m:r>
                      <m:d>
                        <m:dPr>
                          <m:ctrlPr>
                            <a:rPr lang="zh-CN" altLang="zh-CN" sz="2400" b="1" i="1">
                              <a:latin typeface="Cambria Math" panose="02040503050406030204" pitchFamily="18" charset="0"/>
                              <a:ea typeface="Cambria Math" panose="02040503050406030204" pitchFamily="18" charset="0"/>
                            </a:rPr>
                          </m:ctrlPr>
                        </m:dPr>
                        <m:e>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a:latin typeface="Cambria Math" panose="02040503050406030204" pitchFamily="18" charset="0"/>
                                  <a:ea typeface="宋体" panose="02010600030101010101" pitchFamily="2" charset="-122"/>
                                  <a:cs typeface="Times New Roman" panose="02020603050405020304" pitchFamily="18" charset="0"/>
                                </a:rPr>
                                <m:t>𝒘</m:t>
                              </m:r>
                            </m:e>
                            <m:sub>
                              <m:r>
                                <a:rPr lang="en-US" altLang="zh-CN" sz="2400" b="1" i="1">
                                  <a:latin typeface="Cambria Math" panose="02040503050406030204" pitchFamily="18" charset="0"/>
                                  <a:ea typeface="宋体" panose="02010600030101010101" pitchFamily="2" charset="-122"/>
                                  <a:cs typeface="Times New Roman" panose="02020603050405020304" pitchFamily="18" charset="0"/>
                                </a:rPr>
                                <m:t>𝟏</m:t>
                              </m:r>
                            </m:sub>
                          </m:sSub>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smtClean="0">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ea typeface="宋体" panose="02010600030101010101" pitchFamily="2" charset="-122"/>
                                  <a:cs typeface="Times New Roman" panose="02020603050405020304" pitchFamily="18" charset="0"/>
                                </a:rPr>
                                <m:t>𝒘</m:t>
                              </m:r>
                            </m:e>
                            <m:sub>
                              <m:r>
                                <a:rPr lang="en-US" altLang="zh-CN" sz="2400" b="1" i="1">
                                  <a:latin typeface="Cambria Math" panose="02040503050406030204" pitchFamily="18" charset="0"/>
                                  <a:ea typeface="宋体" panose="02010600030101010101" pitchFamily="2" charset="-122"/>
                                  <a:cs typeface="Times New Roman" panose="02020603050405020304" pitchFamily="18" charset="0"/>
                                </a:rPr>
                                <m:t>𝟐</m:t>
                              </m:r>
                            </m:sub>
                          </m:sSub>
                          <m:r>
                            <a:rPr lang="en-US" altLang="zh-CN" sz="2400" b="1" i="1" smtClean="0">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smtClean="0">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ea typeface="宋体" panose="02010600030101010101" pitchFamily="2" charset="-122"/>
                                  <a:cs typeface="Times New Roman" panose="02020603050405020304" pitchFamily="18" charset="0"/>
                                </a:rPr>
                                <m:t>𝒘</m:t>
                              </m:r>
                            </m:e>
                            <m:sub>
                              <m:r>
                                <a:rPr lang="en-US" altLang="zh-CN" sz="2400" b="1" i="1">
                                  <a:latin typeface="Cambria Math" panose="02040503050406030204" pitchFamily="18" charset="0"/>
                                  <a:ea typeface="宋体" panose="02010600030101010101" pitchFamily="2" charset="-122"/>
                                  <a:cs typeface="Times New Roman" panose="02020603050405020304" pitchFamily="18" charset="0"/>
                                </a:rPr>
                                <m:t>𝒏</m:t>
                              </m:r>
                            </m:sub>
                          </m:sSub>
                        </m:e>
                      </m:d>
                    </m:oMath>
                  </m:oMathPara>
                </a14:m>
                <a:endParaRPr lang="zh-CN" altLang="en-US" sz="2400" b="1" dirty="0"/>
              </a:p>
            </p:txBody>
          </p:sp>
        </mc:Choice>
        <mc:Fallback xmlns="">
          <p:sp>
            <p:nvSpPr>
              <p:cNvPr id="9" name="矩形 8"/>
              <p:cNvSpPr>
                <a:spLocks noRot="1" noChangeAspect="1" noMove="1" noResize="1" noEditPoints="1" noAdjustHandles="1" noChangeArrowheads="1" noChangeShapeType="1" noTextEdit="1"/>
              </p:cNvSpPr>
              <p:nvPr/>
            </p:nvSpPr>
            <p:spPr>
              <a:xfrm>
                <a:off x="2728851" y="2601702"/>
                <a:ext cx="2621615" cy="461665"/>
              </a:xfrm>
              <a:prstGeom prst="rect">
                <a:avLst/>
              </a:prstGeom>
              <a:blipFill>
                <a:blip r:embed="rId4"/>
                <a:stretch>
                  <a:fillRect b="-1315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5181600" y="2283090"/>
                <a:ext cx="4073551" cy="109889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ea typeface="宋体" panose="02010600030101010101" pitchFamily="2" charset="-122"/>
                          <a:cs typeface="Times New Roman" panose="02020603050405020304" pitchFamily="18" charset="0"/>
                        </a:rPr>
                        <m:t>=</m:t>
                      </m:r>
                      <m:nary>
                        <m:naryPr>
                          <m:chr m:val="∏"/>
                          <m:limLoc m:val="undOvr"/>
                          <m:ctrlPr>
                            <a:rPr lang="zh-CN" altLang="zh-CN" sz="2400" b="1" i="1">
                              <a:latin typeface="Cambria Math" panose="02040503050406030204" pitchFamily="18" charset="0"/>
                              <a:ea typeface="Cambria Math" panose="02040503050406030204" pitchFamily="18" charset="0"/>
                            </a:rPr>
                          </m:ctrlPr>
                        </m:naryPr>
                        <m:sub>
                          <m:r>
                            <a:rPr lang="en-US" altLang="zh-CN" sz="2400" b="1" i="1">
                              <a:latin typeface="Cambria Math" panose="02040503050406030204" pitchFamily="18" charset="0"/>
                              <a:ea typeface="宋体" panose="02010600030101010101" pitchFamily="2" charset="-122"/>
                              <a:cs typeface="Times New Roman" panose="02020603050405020304" pitchFamily="18" charset="0"/>
                            </a:rPr>
                            <m:t>𝒊</m:t>
                          </m:r>
                          <m:r>
                            <a:rPr lang="en-US" altLang="zh-CN" sz="2400" b="1"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latin typeface="Cambria Math" panose="02040503050406030204" pitchFamily="18" charset="0"/>
                              <a:ea typeface="宋体" panose="02010600030101010101" pitchFamily="2" charset="-122"/>
                              <a:cs typeface="Times New Roman" panose="02020603050405020304" pitchFamily="18" charset="0"/>
                            </a:rPr>
                            <m:t>𝟏</m:t>
                          </m:r>
                        </m:sub>
                        <m:sup>
                          <m:r>
                            <a:rPr lang="en-US" altLang="zh-CN" sz="2400" b="1" i="1">
                              <a:latin typeface="Cambria Math" panose="02040503050406030204" pitchFamily="18" charset="0"/>
                              <a:ea typeface="宋体" panose="02010600030101010101" pitchFamily="2" charset="-122"/>
                              <a:cs typeface="Times New Roman" panose="02020603050405020304" pitchFamily="18" charset="0"/>
                            </a:rPr>
                            <m:t>𝒏</m:t>
                          </m:r>
                        </m:sup>
                        <m:e>
                          <m:r>
                            <a:rPr lang="en-US" altLang="zh-CN" sz="2400" b="1" i="1">
                              <a:latin typeface="Cambria Math" panose="02040503050406030204" pitchFamily="18" charset="0"/>
                              <a:ea typeface="宋体" panose="02010600030101010101" pitchFamily="2" charset="-122"/>
                              <a:cs typeface="Times New Roman" panose="02020603050405020304" pitchFamily="18" charset="0"/>
                            </a:rPr>
                            <m:t>𝒑</m:t>
                          </m:r>
                          <m:d>
                            <m:dPr>
                              <m:ctrlPr>
                                <a:rPr lang="zh-CN" altLang="zh-CN" sz="2400" b="1" i="1">
                                  <a:latin typeface="Cambria Math" panose="02040503050406030204" pitchFamily="18" charset="0"/>
                                  <a:ea typeface="Cambria Math" panose="02040503050406030204" pitchFamily="18" charset="0"/>
                                </a:rPr>
                              </m:ctrlPr>
                            </m:dPr>
                            <m:e>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a:latin typeface="Cambria Math" panose="02040503050406030204" pitchFamily="18" charset="0"/>
                                      <a:ea typeface="宋体" panose="02010600030101010101" pitchFamily="2" charset="-122"/>
                                      <a:cs typeface="Times New Roman" panose="02020603050405020304" pitchFamily="18" charset="0"/>
                                    </a:rPr>
                                    <m:t>𝒘</m:t>
                                  </m:r>
                                </m:e>
                                <m:sub>
                                  <m:r>
                                    <a:rPr lang="en-US" altLang="zh-CN" sz="2400" b="1" i="1">
                                      <a:latin typeface="Cambria Math" panose="02040503050406030204" pitchFamily="18" charset="0"/>
                                      <a:ea typeface="宋体" panose="02010600030101010101" pitchFamily="2" charset="-122"/>
                                      <a:cs typeface="Times New Roman" panose="02020603050405020304" pitchFamily="18" charset="0"/>
                                    </a:rPr>
                                    <m:t>𝒊</m:t>
                                  </m:r>
                                </m:sub>
                              </m:sSub>
                            </m:e>
                            <m:e>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a:latin typeface="Cambria Math" panose="02040503050406030204" pitchFamily="18" charset="0"/>
                                      <a:ea typeface="宋体" panose="02010600030101010101" pitchFamily="2" charset="-122"/>
                                      <a:cs typeface="Times New Roman" panose="02020603050405020304" pitchFamily="18" charset="0"/>
                                    </a:rPr>
                                    <m:t>𝒘</m:t>
                                  </m:r>
                                </m:e>
                                <m:sub>
                                  <m:r>
                                    <a:rPr lang="en-US" altLang="zh-CN" sz="2400" b="1"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𝒊</m:t>
                                  </m:r>
                                  <m:r>
                                    <a:rPr lang="en-US" altLang="zh-CN" sz="2400" b="1"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𝒏</m:t>
                                  </m:r>
                                  <m:r>
                                    <a:rPr lang="en-US" altLang="zh-CN" sz="2400" b="1"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400" b="1" i="1">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b="1" i="1">
                                      <a:latin typeface="Cambria Math" panose="02040503050406030204" pitchFamily="18" charset="0"/>
                                      <a:ea typeface="Cambria Math" panose="02040503050406030204" pitchFamily="18" charset="0"/>
                                    </a:rPr>
                                  </m:ctrlPr>
                                </m:sSubPr>
                                <m:e>
                                  <m:r>
                                    <a:rPr lang="en-US" altLang="zh-CN" sz="2400" b="1" i="1">
                                      <a:latin typeface="Cambria Math" panose="02040503050406030204" pitchFamily="18" charset="0"/>
                                      <a:ea typeface="宋体" panose="02010600030101010101" pitchFamily="2" charset="-122"/>
                                      <a:cs typeface="Times New Roman" panose="02020603050405020304" pitchFamily="18" charset="0"/>
                                    </a:rPr>
                                    <m:t>𝒘</m:t>
                                  </m:r>
                                </m:e>
                                <m:sub>
                                  <m:r>
                                    <a:rPr lang="en-US" altLang="zh-CN" sz="2400" b="1" i="1">
                                      <a:latin typeface="Cambria Math" panose="02040503050406030204" pitchFamily="18" charset="0"/>
                                      <a:ea typeface="宋体" panose="02010600030101010101" pitchFamily="2" charset="-122"/>
                                      <a:cs typeface="Times New Roman" panose="02020603050405020304" pitchFamily="18" charset="0"/>
                                    </a:rPr>
                                    <m:t>𝒊</m:t>
                                  </m:r>
                                  <m:r>
                                    <a:rPr lang="en-US" altLang="zh-CN" sz="2400" b="1" i="1">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a:latin typeface="Cambria Math" panose="02040503050406030204" pitchFamily="18" charset="0"/>
                                      <a:ea typeface="宋体" panose="02010600030101010101" pitchFamily="2" charset="-122"/>
                                      <a:cs typeface="Times New Roman" panose="02020603050405020304" pitchFamily="18" charset="0"/>
                                    </a:rPr>
                                    <m:t>𝟏</m:t>
                                  </m:r>
                                </m:sub>
                              </m:sSub>
                            </m:e>
                          </m:d>
                        </m:e>
                      </m:nary>
                    </m:oMath>
                  </m:oMathPara>
                </a14:m>
                <a:endParaRPr lang="zh-CN" altLang="en-US" sz="2400" b="1" dirty="0"/>
              </a:p>
            </p:txBody>
          </p:sp>
        </mc:Choice>
        <mc:Fallback xmlns="">
          <p:sp>
            <p:nvSpPr>
              <p:cNvPr id="11" name="矩形 10"/>
              <p:cNvSpPr>
                <a:spLocks noRot="1" noChangeAspect="1" noMove="1" noResize="1" noEditPoints="1" noAdjustHandles="1" noChangeArrowheads="1" noChangeShapeType="1" noTextEdit="1"/>
              </p:cNvSpPr>
              <p:nvPr/>
            </p:nvSpPr>
            <p:spPr>
              <a:xfrm>
                <a:off x="5181600" y="2283090"/>
                <a:ext cx="4073551" cy="1098891"/>
              </a:xfrm>
              <a:prstGeom prst="rect">
                <a:avLst/>
              </a:prstGeom>
              <a:blipFill>
                <a:blip r:embed="rId5"/>
                <a:stretch>
                  <a:fillRect/>
                </a:stretch>
              </a:blipFill>
            </p:spPr>
            <p:txBody>
              <a:bodyPr/>
              <a:lstStyle/>
              <a:p>
                <a:r>
                  <a:rPr lang="zh-CN" altLang="en-US">
                    <a:noFill/>
                  </a:rPr>
                  <a:t> </a:t>
                </a:r>
              </a:p>
            </p:txBody>
          </p:sp>
        </mc:Fallback>
      </mc:AlternateContent>
      <p:sp>
        <p:nvSpPr>
          <p:cNvPr id="4" name="矩形 3"/>
          <p:cNvSpPr/>
          <p:nvPr/>
        </p:nvSpPr>
        <p:spPr>
          <a:xfrm>
            <a:off x="1018966" y="2598974"/>
            <a:ext cx="1524000" cy="507831"/>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pPr>
              <a:lnSpc>
                <a:spcPct val="150000"/>
              </a:lnSpc>
            </a:pPr>
            <a:r>
              <a:rPr lang="en-US" altLang="zh-CN" dirty="0">
                <a:solidFill>
                  <a:srgbClr val="FF0000"/>
                </a:solidFill>
                <a:latin typeface="-apple-system"/>
              </a:rPr>
              <a:t>n-gram</a:t>
            </a:r>
            <a:r>
              <a:rPr lang="zh-CN" altLang="en-US" dirty="0" smtClean="0">
                <a:solidFill>
                  <a:srgbClr val="FF0000"/>
                </a:solidFill>
                <a:latin typeface="-apple-system"/>
              </a:rPr>
              <a:t>模型</a:t>
            </a:r>
            <a:endParaRPr lang="zh-CN" altLang="en-US" dirty="0"/>
          </a:p>
        </p:txBody>
      </p:sp>
      <p:sp>
        <p:nvSpPr>
          <p:cNvPr id="10" name="矩形 9"/>
          <p:cNvSpPr/>
          <p:nvPr/>
        </p:nvSpPr>
        <p:spPr>
          <a:xfrm>
            <a:off x="716261" y="3853313"/>
            <a:ext cx="4812536" cy="369332"/>
          </a:xfrm>
          <a:prstGeom prst="rect">
            <a:avLst/>
          </a:prstGeom>
        </p:spPr>
        <p:txBody>
          <a:bodyPr wrap="none">
            <a:spAutoFit/>
          </a:bodyPr>
          <a:lstStyle/>
          <a:p>
            <a:r>
              <a:rPr lang="zh-CN" altLang="en-US" b="1" dirty="0" smtClean="0">
                <a:latin typeface="DeepSeek-CJK-patch"/>
              </a:rPr>
              <a:t>早期的计算</a:t>
            </a:r>
            <a:r>
              <a:rPr lang="zh-CN" altLang="en-US" b="1" dirty="0">
                <a:latin typeface="DeepSeek-CJK-patch"/>
              </a:rPr>
              <a:t>方式</a:t>
            </a:r>
            <a:r>
              <a:rPr lang="zh-CN" altLang="en-US" dirty="0">
                <a:latin typeface="DeepSeek-CJK-patch"/>
              </a:rPr>
              <a:t>：统计语料库中词序列的频率</a:t>
            </a:r>
            <a:endParaRPr lang="zh-CN" altLang="en-US" dirty="0"/>
          </a:p>
        </p:txBody>
      </p:sp>
      <p:pic>
        <p:nvPicPr>
          <p:cNvPr id="14" name="图片 13"/>
          <p:cNvPicPr>
            <a:picLocks noChangeAspect="1"/>
          </p:cNvPicPr>
          <p:nvPr/>
        </p:nvPicPr>
        <p:blipFill>
          <a:blip r:embed="rId6"/>
          <a:stretch>
            <a:fillRect/>
          </a:stretch>
        </p:blipFill>
        <p:spPr>
          <a:xfrm>
            <a:off x="5901449" y="3593351"/>
            <a:ext cx="3446728" cy="817182"/>
          </a:xfrm>
          <a:prstGeom prst="rect">
            <a:avLst/>
          </a:prstGeom>
        </p:spPr>
      </p:pic>
      <p:sp>
        <p:nvSpPr>
          <p:cNvPr id="16" name="矩形 15"/>
          <p:cNvSpPr/>
          <p:nvPr/>
        </p:nvSpPr>
        <p:spPr>
          <a:xfrm>
            <a:off x="838200" y="4859456"/>
            <a:ext cx="4907113" cy="461665"/>
          </a:xfrm>
          <a:prstGeom prst="rect">
            <a:avLst/>
          </a:prstGeom>
        </p:spPr>
        <p:txBody>
          <a:bodyPr wrap="none">
            <a:spAutoFit/>
          </a:bodyPr>
          <a:lstStyle/>
          <a:p>
            <a:r>
              <a:rPr lang="zh-CN" altLang="en-US" sz="2400" dirty="0" smtClean="0">
                <a:latin typeface="+mj-ea"/>
                <a:ea typeface="+mj-ea"/>
              </a:rPr>
              <a:t>例如：词汇表 </a:t>
            </a:r>
            <a:r>
              <a:rPr lang="en-US" altLang="zh-CN" sz="2400" i="1" dirty="0" smtClean="0">
                <a:latin typeface="+mj-ea"/>
                <a:ea typeface="+mj-ea"/>
              </a:rPr>
              <a:t>V</a:t>
            </a:r>
            <a:r>
              <a:rPr lang="en-US" altLang="zh-CN" sz="2400" dirty="0" smtClean="0">
                <a:latin typeface="+mj-ea"/>
                <a:ea typeface="+mj-ea"/>
              </a:rPr>
              <a:t>={ </a:t>
            </a:r>
            <a:r>
              <a:rPr lang="zh-CN" altLang="en-US" sz="2400" dirty="0" smtClean="0">
                <a:latin typeface="+mj-ea"/>
                <a:ea typeface="+mj-ea"/>
              </a:rPr>
              <a:t>天气</a:t>
            </a:r>
            <a:r>
              <a:rPr lang="en-US" altLang="zh-CN" sz="2400" dirty="0" smtClean="0">
                <a:latin typeface="+mj-ea"/>
                <a:ea typeface="+mj-ea"/>
              </a:rPr>
              <a:t>, </a:t>
            </a:r>
            <a:r>
              <a:rPr lang="zh-CN" altLang="en-US" sz="2400" dirty="0" smtClean="0">
                <a:latin typeface="+mj-ea"/>
                <a:ea typeface="+mj-ea"/>
              </a:rPr>
              <a:t>好</a:t>
            </a:r>
            <a:r>
              <a:rPr lang="en-US" altLang="zh-CN" sz="2400" dirty="0" smtClean="0">
                <a:latin typeface="+mj-ea"/>
                <a:ea typeface="+mj-ea"/>
              </a:rPr>
              <a:t>, </a:t>
            </a:r>
            <a:r>
              <a:rPr lang="zh-CN" altLang="en-US" sz="2400" dirty="0" smtClean="0">
                <a:latin typeface="+mj-ea"/>
                <a:ea typeface="+mj-ea"/>
              </a:rPr>
              <a:t>今天 </a:t>
            </a:r>
            <a:r>
              <a:rPr lang="en-US" altLang="zh-CN" sz="2400" dirty="0" smtClean="0">
                <a:latin typeface="+mj-ea"/>
                <a:ea typeface="+mj-ea"/>
              </a:rPr>
              <a:t>} </a:t>
            </a:r>
            <a:endParaRPr lang="zh-CN" altLang="en-US" sz="2400" dirty="0">
              <a:latin typeface="+mj-ea"/>
              <a:ea typeface="+mj-ea"/>
            </a:endParaRPr>
          </a:p>
        </p:txBody>
      </p:sp>
      <p:sp>
        <p:nvSpPr>
          <p:cNvPr id="5" name="矩形 4"/>
          <p:cNvSpPr/>
          <p:nvPr/>
        </p:nvSpPr>
        <p:spPr>
          <a:xfrm>
            <a:off x="1531151" y="5814673"/>
            <a:ext cx="7638630" cy="461665"/>
          </a:xfrm>
          <a:prstGeom prst="rect">
            <a:avLst/>
          </a:prstGeom>
        </p:spPr>
        <p:txBody>
          <a:bodyPr wrap="none">
            <a:spAutoFit/>
          </a:bodyPr>
          <a:lstStyle/>
          <a:p>
            <a:r>
              <a:rPr lang="en-US" altLang="zh-CN" sz="2400" b="1" i="1" dirty="0">
                <a:latin typeface="KaTeX_Math"/>
              </a:rPr>
              <a:t>P</a:t>
            </a:r>
            <a:r>
              <a:rPr lang="en-US" altLang="zh-CN" sz="2400" dirty="0">
                <a:latin typeface="KaTeX_Main"/>
              </a:rPr>
              <a:t>(</a:t>
            </a:r>
            <a:r>
              <a:rPr lang="zh-CN" altLang="en-US" sz="2400" dirty="0">
                <a:latin typeface="Times New Roman" panose="02020603050405020304" pitchFamily="18" charset="0"/>
              </a:rPr>
              <a:t>今天</a:t>
            </a:r>
            <a:r>
              <a:rPr lang="en-US" altLang="zh-CN" sz="2400" dirty="0">
                <a:latin typeface="Times New Roman" panose="02020603050405020304" pitchFamily="18" charset="0"/>
              </a:rPr>
              <a:t>, </a:t>
            </a:r>
            <a:r>
              <a:rPr lang="zh-CN" altLang="en-US" sz="2400" dirty="0">
                <a:latin typeface="Times New Roman" panose="02020603050405020304" pitchFamily="18" charset="0"/>
              </a:rPr>
              <a:t>天气</a:t>
            </a:r>
            <a:r>
              <a:rPr lang="en-US" altLang="zh-CN" sz="2400" dirty="0">
                <a:latin typeface="KaTeX_Main"/>
              </a:rPr>
              <a:t>,</a:t>
            </a:r>
            <a:r>
              <a:rPr lang="zh-CN" altLang="en-US" sz="2400" dirty="0">
                <a:latin typeface="Times New Roman" panose="02020603050405020304" pitchFamily="18" charset="0"/>
              </a:rPr>
              <a:t>好</a:t>
            </a:r>
            <a:r>
              <a:rPr lang="en-US" altLang="zh-CN" sz="2400" dirty="0" smtClean="0">
                <a:latin typeface="KaTeX_Main"/>
              </a:rPr>
              <a:t>)= </a:t>
            </a:r>
            <a:r>
              <a:rPr lang="en-US" altLang="zh-CN" sz="2400" b="1" i="1" dirty="0">
                <a:latin typeface="KaTeX_Math"/>
              </a:rPr>
              <a:t>P</a:t>
            </a:r>
            <a:r>
              <a:rPr lang="en-US" altLang="zh-CN" sz="2400" dirty="0">
                <a:latin typeface="KaTeX_Main"/>
              </a:rPr>
              <a:t>(</a:t>
            </a:r>
            <a:r>
              <a:rPr lang="zh-CN" altLang="en-US" sz="2400" dirty="0" smtClean="0">
                <a:latin typeface="Times New Roman" panose="02020603050405020304" pitchFamily="18" charset="0"/>
              </a:rPr>
              <a:t>今天</a:t>
            </a:r>
            <a:r>
              <a:rPr lang="en-US" altLang="zh-CN" sz="2400" dirty="0" smtClean="0">
                <a:latin typeface="KaTeX_Main"/>
              </a:rPr>
              <a:t>)*</a:t>
            </a:r>
            <a:r>
              <a:rPr lang="en-US" altLang="zh-CN" sz="2400" b="1" i="1" dirty="0" smtClean="0">
                <a:latin typeface="KaTeX_Math"/>
              </a:rPr>
              <a:t>P</a:t>
            </a:r>
            <a:r>
              <a:rPr lang="en-US" altLang="zh-CN" sz="2400" dirty="0" smtClean="0">
                <a:latin typeface="KaTeX_Main"/>
              </a:rPr>
              <a:t>(</a:t>
            </a:r>
            <a:r>
              <a:rPr lang="zh-CN" altLang="en-US" sz="2400" dirty="0" smtClean="0">
                <a:latin typeface="Times New Roman" panose="02020603050405020304" pitchFamily="18" charset="0"/>
              </a:rPr>
              <a:t>天气</a:t>
            </a:r>
            <a:r>
              <a:rPr lang="en-US" altLang="zh-CN" sz="2400" dirty="0" smtClean="0">
                <a:latin typeface="Times New Roman" panose="02020603050405020304" pitchFamily="18" charset="0"/>
              </a:rPr>
              <a:t>|</a:t>
            </a:r>
            <a:r>
              <a:rPr lang="zh-CN" altLang="en-US" sz="2400" dirty="0" smtClean="0">
                <a:latin typeface="Times New Roman" panose="02020603050405020304" pitchFamily="18" charset="0"/>
              </a:rPr>
              <a:t>今天</a:t>
            </a:r>
            <a:r>
              <a:rPr lang="en-US" altLang="zh-CN" sz="2400" dirty="0" smtClean="0">
                <a:latin typeface="KaTeX_Main"/>
              </a:rPr>
              <a:t>)*</a:t>
            </a:r>
            <a:r>
              <a:rPr lang="en-US" altLang="zh-CN" sz="2400" b="1" i="1" dirty="0" smtClean="0">
                <a:latin typeface="KaTeX_Math"/>
              </a:rPr>
              <a:t>P</a:t>
            </a:r>
            <a:r>
              <a:rPr lang="en-US" altLang="zh-CN" sz="2400" dirty="0" smtClean="0">
                <a:latin typeface="KaTeX_Main"/>
              </a:rPr>
              <a:t>(</a:t>
            </a:r>
            <a:r>
              <a:rPr lang="zh-CN" altLang="en-US" sz="2400" dirty="0" smtClean="0">
                <a:latin typeface="KaTeX_Main"/>
              </a:rPr>
              <a:t>好</a:t>
            </a:r>
            <a:r>
              <a:rPr lang="en-US" altLang="zh-CN" sz="2400" dirty="0" smtClean="0">
                <a:latin typeface="KaTeX_Main"/>
              </a:rPr>
              <a:t>|</a:t>
            </a:r>
            <a:r>
              <a:rPr lang="zh-CN" altLang="en-US" sz="2400" dirty="0" smtClean="0">
                <a:latin typeface="Times New Roman" panose="02020603050405020304" pitchFamily="18" charset="0"/>
              </a:rPr>
              <a:t>天气</a:t>
            </a:r>
            <a:r>
              <a:rPr lang="en-US" altLang="zh-CN" sz="2400" dirty="0" smtClean="0">
                <a:latin typeface="KaTeX_Main"/>
              </a:rPr>
              <a:t>) </a:t>
            </a:r>
            <a:endParaRPr lang="zh-CN" altLang="en-US" sz="2400" dirty="0"/>
          </a:p>
        </p:txBody>
      </p:sp>
    </p:spTree>
    <p:extLst>
      <p:ext uri="{BB962C8B-B14F-4D97-AF65-F5344CB8AC3E}">
        <p14:creationId xmlns:p14="http://schemas.microsoft.com/office/powerpoint/2010/main" val="1482648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3"/>
          <a:stretch>
            <a:fillRect/>
          </a:stretch>
        </p:blipFill>
        <p:spPr>
          <a:xfrm>
            <a:off x="6093189" y="1901347"/>
            <a:ext cx="5167919" cy="4606756"/>
          </a:xfrm>
          <a:prstGeom prst="rect">
            <a:avLst/>
          </a:prstGeom>
        </p:spPr>
      </p:pic>
      <p:sp>
        <p:nvSpPr>
          <p:cNvPr id="2" name="标题 1"/>
          <p:cNvSpPr>
            <a:spLocks noGrp="1"/>
          </p:cNvSpPr>
          <p:nvPr>
            <p:ph type="title"/>
          </p:nvPr>
        </p:nvSpPr>
        <p:spPr/>
        <p:txBody>
          <a:bodyPr/>
          <a:lstStyle/>
          <a:p>
            <a:pPr algn="l"/>
            <a:r>
              <a:rPr lang="zh-CN" altLang="en-US" dirty="0" smtClean="0"/>
              <a:t>              神经</a:t>
            </a:r>
            <a:r>
              <a:rPr lang="zh-CN" altLang="en-US" dirty="0"/>
              <a:t>语言模型</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p:txBody>
              <a:bodyPr/>
              <a:lstStyle/>
              <a:p>
                <a:pPr>
                  <a:lnSpc>
                    <a:spcPct val="150000"/>
                  </a:lnSpc>
                </a:pPr>
                <a:r>
                  <a:rPr lang="zh-CN" altLang="en-US" sz="2400" dirty="0"/>
                  <a:t>对于语言序列 </a:t>
                </a:r>
                <a:r>
                  <a:rPr lang="zh-CN" altLang="zh-CN" sz="2400" dirty="0"/>
                  <a:t> </a:t>
                </a:r>
                <a14:m>
                  <m:oMath xmlns:m="http://schemas.openxmlformats.org/officeDocument/2006/math">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1</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𝑛</m:t>
                        </m:r>
                      </m:sub>
                    </m:sSub>
                    <m:r>
                      <a:rPr lang="en-US" altLang="zh-CN" sz="2400" i="1">
                        <a:latin typeface="Cambria Math" panose="02040503050406030204" pitchFamily="18" charset="0"/>
                      </a:rPr>
                      <m:t> </m:t>
                    </m:r>
                  </m:oMath>
                </a14:m>
                <a:r>
                  <a:rPr lang="zh-CN" altLang="en-US" sz="2400" dirty="0" smtClean="0"/>
                  <a:t>，</a:t>
                </a:r>
                <a:r>
                  <a:rPr lang="zh-CN" altLang="en-US" sz="2400" b="1" dirty="0"/>
                  <a:t>语言模型</a:t>
                </a:r>
                <a:r>
                  <a:rPr lang="zh-CN" altLang="en-US" sz="2400" dirty="0"/>
                  <a:t>就是计算该序列的概率，即</a:t>
                </a:r>
                <a14:m>
                  <m:oMath xmlns:m="http://schemas.openxmlformats.org/officeDocument/2006/math">
                    <m:r>
                      <a:rPr lang="en-US" altLang="zh-CN" sz="2400" i="1">
                        <a:latin typeface="Cambria Math" panose="02040503050406030204" pitchFamily="18" charset="0"/>
                      </a:rPr>
                      <m:t>𝑝</m:t>
                    </m:r>
                    <m:d>
                      <m:dPr>
                        <m:ctrlPr>
                          <a:rPr lang="zh-CN" altLang="zh-CN" sz="2400" i="1">
                            <a:latin typeface="Cambria Math" panose="02040503050406030204" pitchFamily="18" charset="0"/>
                          </a:rPr>
                        </m:ctrlPr>
                      </m:dPr>
                      <m:e>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1</m:t>
                            </m:r>
                          </m:sub>
                        </m:sSub>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2</m:t>
                            </m:r>
                          </m:sub>
                        </m:sSub>
                        <m:r>
                          <a:rPr lang="en-US" altLang="zh-CN" sz="2400" i="1">
                            <a:latin typeface="Cambria Math" panose="02040503050406030204" pitchFamily="18" charset="0"/>
                          </a:rPr>
                          <m:t>…</m:t>
                        </m:r>
                        <m:sSub>
                          <m:sSubPr>
                            <m:ctrlPr>
                              <a:rPr lang="zh-CN" altLang="zh-CN" sz="2400" i="1">
                                <a:latin typeface="Cambria Math" panose="02040503050406030204" pitchFamily="18" charset="0"/>
                              </a:rPr>
                            </m:ctrlPr>
                          </m:sSubPr>
                          <m:e>
                            <m:r>
                              <a:rPr lang="en-US" altLang="zh-CN" sz="2400" i="1">
                                <a:latin typeface="Cambria Math" panose="02040503050406030204" pitchFamily="18" charset="0"/>
                              </a:rPr>
                              <m:t>𝑤</m:t>
                            </m:r>
                          </m:e>
                          <m:sub>
                            <m:r>
                              <a:rPr lang="en-US" altLang="zh-CN" sz="2400" i="1">
                                <a:latin typeface="Cambria Math" panose="02040503050406030204" pitchFamily="18" charset="0"/>
                              </a:rPr>
                              <m:t>𝑛</m:t>
                            </m:r>
                          </m:sub>
                        </m:sSub>
                      </m:e>
                    </m:d>
                  </m:oMath>
                </a14:m>
                <a:r>
                  <a:rPr lang="zh-CN" altLang="en-US" sz="2400" dirty="0" smtClean="0"/>
                  <a:t>，是对</a:t>
                </a:r>
                <a:r>
                  <a:rPr lang="zh-CN" altLang="en-US" sz="2400" dirty="0"/>
                  <a:t>语句的</a:t>
                </a:r>
                <a:r>
                  <a:rPr lang="zh-CN" altLang="en-US" sz="2400" b="1" dirty="0"/>
                  <a:t>概率分布</a:t>
                </a:r>
                <a:r>
                  <a:rPr lang="zh-CN" altLang="en-US" sz="2400" dirty="0"/>
                  <a:t>的建模</a:t>
                </a: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blipFill>
                <a:blip r:embed="rId4"/>
                <a:stretch>
                  <a:fillRect l="-750" r="-3483"/>
                </a:stretch>
              </a:blipFill>
            </p:spPr>
            <p:txBody>
              <a:bodyPr/>
              <a:lstStyle/>
              <a:p>
                <a:r>
                  <a:rPr lang="zh-CN" altLang="en-US">
                    <a:noFill/>
                  </a:rPr>
                  <a:t> </a:t>
                </a:r>
              </a:p>
            </p:txBody>
          </p:sp>
        </mc:Fallback>
      </mc:AlternateContent>
      <p:sp>
        <p:nvSpPr>
          <p:cNvPr id="4" name="矩形 3"/>
          <p:cNvSpPr/>
          <p:nvPr/>
        </p:nvSpPr>
        <p:spPr>
          <a:xfrm>
            <a:off x="685800" y="6498411"/>
            <a:ext cx="10558981" cy="338554"/>
          </a:xfrm>
          <a:prstGeom prst="rect">
            <a:avLst/>
          </a:prstGeom>
        </p:spPr>
        <p:txBody>
          <a:bodyPr wrap="none">
            <a:spAutoFit/>
          </a:bodyPr>
          <a:lstStyle/>
          <a:p>
            <a:r>
              <a:rPr lang="en-US" altLang="zh-CN" sz="1600" dirty="0" err="1"/>
              <a:t>Bengio</a:t>
            </a:r>
            <a:r>
              <a:rPr lang="en-US" altLang="zh-CN" sz="1600" dirty="0"/>
              <a:t> et al., </a:t>
            </a:r>
            <a:r>
              <a:rPr lang="it-IT" altLang="zh-CN" sz="1600" dirty="0" smtClean="0"/>
              <a:t>A </a:t>
            </a:r>
            <a:r>
              <a:rPr lang="it-IT" altLang="zh-CN" sz="1600" dirty="0">
                <a:solidFill>
                  <a:srgbClr val="FF0000"/>
                </a:solidFill>
              </a:rPr>
              <a:t>Neural Probabilistic Language </a:t>
            </a:r>
            <a:r>
              <a:rPr lang="it-IT" altLang="zh-CN" sz="1600" dirty="0" smtClean="0">
                <a:solidFill>
                  <a:srgbClr val="FF0000"/>
                </a:solidFill>
              </a:rPr>
              <a:t>Model</a:t>
            </a:r>
            <a:r>
              <a:rPr lang="zh-CN" altLang="en-US" sz="1600" dirty="0" smtClean="0"/>
              <a:t>，</a:t>
            </a:r>
            <a:r>
              <a:rPr lang="en-US" altLang="zh-CN" sz="1600" dirty="0"/>
              <a:t>Journal of Machine Learning Research 3 (2003) 1137–1155</a:t>
            </a:r>
            <a:endParaRPr lang="zh-CN" altLang="en-US" sz="1600" dirty="0"/>
          </a:p>
        </p:txBody>
      </p:sp>
      <p:sp>
        <p:nvSpPr>
          <p:cNvPr id="6" name="矩形 5"/>
          <p:cNvSpPr/>
          <p:nvPr/>
        </p:nvSpPr>
        <p:spPr>
          <a:xfrm>
            <a:off x="685800" y="3048000"/>
            <a:ext cx="6096000" cy="369332"/>
          </a:xfrm>
          <a:prstGeom prst="rect">
            <a:avLst/>
          </a:prstGeom>
        </p:spPr>
        <p:txBody>
          <a:bodyPr>
            <a:spAutoFit/>
          </a:bodyPr>
          <a:lstStyle/>
          <a:p>
            <a:r>
              <a:rPr lang="zh-CN" altLang="en-US" dirty="0" smtClean="0">
                <a:latin typeface="DeepSeek-CJK-patch"/>
              </a:rPr>
              <a:t>用</a:t>
            </a:r>
            <a:r>
              <a:rPr lang="zh-CN" altLang="en-US" b="1" dirty="0" smtClean="0">
                <a:latin typeface="DeepSeek-CJK-patch"/>
              </a:rPr>
              <a:t>前馈神经网络</a:t>
            </a:r>
            <a:r>
              <a:rPr lang="zh-CN" altLang="en-US" dirty="0">
                <a:latin typeface="DeepSeek-CJK-patch"/>
              </a:rPr>
              <a:t>建模语言概率 </a:t>
            </a:r>
            <a:endParaRPr lang="zh-CN" altLang="en-US" dirty="0"/>
          </a:p>
        </p:txBody>
      </p:sp>
      <mc:AlternateContent xmlns:mc="http://schemas.openxmlformats.org/markup-compatibility/2006" xmlns:a14="http://schemas.microsoft.com/office/drawing/2010/main">
        <mc:Choice Requires="a14">
          <p:sp>
            <p:nvSpPr>
              <p:cNvPr id="10" name="矩形 9"/>
              <p:cNvSpPr/>
              <p:nvPr/>
            </p:nvSpPr>
            <p:spPr>
              <a:xfrm>
                <a:off x="990600" y="3576917"/>
                <a:ext cx="247689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FF0000"/>
                          </a:solidFill>
                          <a:latin typeface="Cambria Math" panose="02040503050406030204" pitchFamily="18" charset="0"/>
                          <a:ea typeface="宋体" panose="02010600030101010101" pitchFamily="2" charset="-122"/>
                          <a:cs typeface="Times New Roman" panose="02020603050405020304" pitchFamily="18" charset="0"/>
                        </a:rPr>
                        <m:t>𝒑</m:t>
                      </m:r>
                      <m:d>
                        <m:dPr>
                          <m:ctrlPr>
                            <a:rPr lang="zh-CN" altLang="zh-CN" b="1" i="1">
                              <a:solidFill>
                                <a:srgbClr val="FF0000"/>
                              </a:solidFill>
                              <a:latin typeface="Cambria Math" panose="02040503050406030204" pitchFamily="18" charset="0"/>
                              <a:ea typeface="Cambria Math" panose="02040503050406030204" pitchFamily="18" charset="0"/>
                            </a:rPr>
                          </m:ctrlPr>
                        </m:dPr>
                        <m:e>
                          <m:sSub>
                            <m:sSubPr>
                              <m:ctrlPr>
                                <a:rPr lang="zh-CN" altLang="zh-CN" b="1" i="1">
                                  <a:solidFill>
                                    <a:srgbClr val="FF0000"/>
                                  </a:solidFill>
                                  <a:latin typeface="Cambria Math" panose="02040503050406030204" pitchFamily="18" charset="0"/>
                                  <a:ea typeface="Cambria Math" panose="02040503050406030204" pitchFamily="18" charset="0"/>
                                </a:rPr>
                              </m:ctrlPr>
                            </m:sSubPr>
                            <m:e>
                              <m:r>
                                <a:rPr lang="en-US" altLang="zh-CN"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𝒘</m:t>
                              </m:r>
                            </m:e>
                            <m:sub>
                              <m:r>
                                <a:rPr lang="en-US" altLang="zh-CN"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𝒊</m:t>
                              </m:r>
                            </m:sub>
                          </m:sSub>
                        </m:e>
                        <m:e>
                          <m:sSub>
                            <m:sSubPr>
                              <m:ctrlPr>
                                <a:rPr lang="zh-CN" altLang="zh-CN" b="1" i="1">
                                  <a:solidFill>
                                    <a:srgbClr val="FF0000"/>
                                  </a:solidFill>
                                  <a:latin typeface="Cambria Math" panose="02040503050406030204" pitchFamily="18" charset="0"/>
                                  <a:ea typeface="Cambria Math" panose="02040503050406030204" pitchFamily="18" charset="0"/>
                                </a:rPr>
                              </m:ctrlPr>
                            </m:sSubPr>
                            <m:e>
                              <m:r>
                                <a:rPr lang="en-US" altLang="zh-CN"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𝒘</m:t>
                              </m:r>
                            </m:e>
                            <m:sub>
                              <m:r>
                                <a:rPr lang="en-US" altLang="zh-CN"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𝒊</m:t>
                              </m:r>
                              <m:r>
                                <a:rPr lang="en-US" altLang="zh-CN"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𝒏</m:t>
                              </m:r>
                              <m:r>
                                <a:rPr lang="en-US" altLang="zh-CN"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b="1" i="1">
                                  <a:solidFill>
                                    <a:srgbClr val="FF0000"/>
                                  </a:solidFill>
                                  <a:latin typeface="Cambria Math" panose="02040503050406030204" pitchFamily="18" charset="0"/>
                                  <a:ea typeface="Cambria Math" panose="02040503050406030204" pitchFamily="18" charset="0"/>
                                </a:rPr>
                              </m:ctrlPr>
                            </m:sSubPr>
                            <m:e>
                              <m:r>
                                <a:rPr lang="en-US" altLang="zh-CN"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𝒘</m:t>
                              </m:r>
                            </m:e>
                            <m:sub>
                              <m:r>
                                <a:rPr lang="en-US" altLang="zh-CN"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𝒊</m:t>
                              </m:r>
                              <m:r>
                                <a:rPr lang="en-US" altLang="zh-CN"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b="1" i="1">
                                  <a:solidFill>
                                    <a:srgbClr val="FF0000"/>
                                  </a:solidFill>
                                  <a:latin typeface="Cambria Math" panose="02040503050406030204" pitchFamily="18" charset="0"/>
                                  <a:ea typeface="宋体" panose="02010600030101010101" pitchFamily="2" charset="-122"/>
                                  <a:cs typeface="Times New Roman" panose="02020603050405020304" pitchFamily="18" charset="0"/>
                                </a:rPr>
                                <m:t>𝟏</m:t>
                              </m:r>
                            </m:sub>
                          </m:sSub>
                        </m:e>
                      </m:d>
                    </m:oMath>
                  </m:oMathPara>
                </a14:m>
                <a:endParaRPr lang="zh-CN" altLang="en-US" dirty="0">
                  <a:solidFill>
                    <a:srgbClr val="FF0000"/>
                  </a:solidFill>
                </a:endParaRPr>
              </a:p>
            </p:txBody>
          </p:sp>
        </mc:Choice>
        <mc:Fallback xmlns="">
          <p:sp>
            <p:nvSpPr>
              <p:cNvPr id="10" name="矩形 9"/>
              <p:cNvSpPr>
                <a:spLocks noRot="1" noChangeAspect="1" noMove="1" noResize="1" noEditPoints="1" noAdjustHandles="1" noChangeArrowheads="1" noChangeShapeType="1" noTextEdit="1"/>
              </p:cNvSpPr>
              <p:nvPr/>
            </p:nvSpPr>
            <p:spPr>
              <a:xfrm>
                <a:off x="990600" y="3576917"/>
                <a:ext cx="2476896" cy="369332"/>
              </a:xfrm>
              <a:prstGeom prst="rect">
                <a:avLst/>
              </a:prstGeom>
              <a:blipFill>
                <a:blip r:embed="rId5"/>
                <a:stretch>
                  <a:fillRect b="-8333"/>
                </a:stretch>
              </a:blipFill>
            </p:spPr>
            <p:txBody>
              <a:bodyPr/>
              <a:lstStyle/>
              <a:p>
                <a:r>
                  <a:rPr lang="zh-CN" altLang="en-US">
                    <a:noFill/>
                  </a:rPr>
                  <a:t> </a:t>
                </a:r>
              </a:p>
            </p:txBody>
          </p:sp>
        </mc:Fallback>
      </mc:AlternateContent>
      <p:sp>
        <p:nvSpPr>
          <p:cNvPr id="13" name="矩形 12"/>
          <p:cNvSpPr/>
          <p:nvPr/>
        </p:nvSpPr>
        <p:spPr>
          <a:xfrm>
            <a:off x="685800" y="4518557"/>
            <a:ext cx="4882898" cy="1200329"/>
          </a:xfrm>
          <a:prstGeom prst="rect">
            <a:avLst/>
          </a:prstGeom>
        </p:spPr>
        <p:txBody>
          <a:bodyPr wrap="square">
            <a:spAutoFit/>
          </a:bodyPr>
          <a:lstStyle/>
          <a:p>
            <a:pPr>
              <a:lnSpc>
                <a:spcPct val="200000"/>
              </a:lnSpc>
            </a:pPr>
            <a:r>
              <a:rPr lang="zh-CN" altLang="en-US" b="1" dirty="0" smtClean="0">
                <a:latin typeface="DeepSeek-CJK-patch"/>
              </a:rPr>
              <a:t>词</a:t>
            </a:r>
            <a:r>
              <a:rPr lang="zh-CN" altLang="en-US" b="1" dirty="0">
                <a:latin typeface="DeepSeek-CJK-patch"/>
              </a:rPr>
              <a:t>嵌入（</a:t>
            </a:r>
            <a:r>
              <a:rPr lang="en-US" altLang="zh-CN" b="1" dirty="0">
                <a:latin typeface="DeepSeek-CJK-patch"/>
              </a:rPr>
              <a:t>Word Embedding</a:t>
            </a:r>
            <a:r>
              <a:rPr lang="zh-CN" altLang="en-US" b="1" dirty="0">
                <a:latin typeface="DeepSeek-CJK-patch"/>
              </a:rPr>
              <a:t>）：</a:t>
            </a:r>
            <a:r>
              <a:rPr lang="zh-CN" altLang="en-US" dirty="0">
                <a:latin typeface="DeepSeek-CJK-patch"/>
              </a:rPr>
              <a:t>将离散词映射为连续向量（低维稠密表示）</a:t>
            </a:r>
          </a:p>
        </p:txBody>
      </p:sp>
    </p:spTree>
    <p:extLst>
      <p:ext uri="{BB962C8B-B14F-4D97-AF65-F5344CB8AC3E}">
        <p14:creationId xmlns:p14="http://schemas.microsoft.com/office/powerpoint/2010/main" val="26766333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3869989" y="1594509"/>
            <a:ext cx="4452022" cy="4487848"/>
            <a:chOff x="3872379" y="1383943"/>
            <a:chExt cx="4452022" cy="4487848"/>
          </a:xfrm>
        </p:grpSpPr>
        <p:sp>
          <p:nvSpPr>
            <p:cNvPr id="3" name="Freeform 5"/>
            <p:cNvSpPr>
              <a:spLocks/>
            </p:cNvSpPr>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p:cNvSpPr>
              <a:spLocks/>
            </p:cNvSpPr>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p:cNvSpPr>
              <a:spLocks/>
            </p:cNvSpPr>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p:cNvSpPr>
              <a:spLocks/>
            </p:cNvSpPr>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p:cNvGrpSpPr/>
            <p:nvPr/>
          </p:nvGrpSpPr>
          <p:grpSpPr>
            <a:xfrm>
              <a:off x="4569798" y="4627422"/>
              <a:ext cx="527842" cy="535007"/>
              <a:chOff x="3557588" y="3654425"/>
              <a:chExt cx="350838" cy="355600"/>
            </a:xfrm>
          </p:grpSpPr>
          <p:sp>
            <p:nvSpPr>
              <p:cNvPr id="20" name="Freeform 9"/>
              <p:cNvSpPr>
                <a:spLocks noEditPoints="1"/>
              </p:cNvSpPr>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p:cNvSpPr>
                <a:spLocks noEditPoints="1"/>
              </p:cNvSpPr>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p:cNvSpPr>
                <a:spLocks noEditPoints="1"/>
              </p:cNvSpPr>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p:cNvGrpSpPr/>
            <p:nvPr/>
          </p:nvGrpSpPr>
          <p:grpSpPr>
            <a:xfrm>
              <a:off x="7025097" y="2098082"/>
              <a:ext cx="606660" cy="539784"/>
              <a:chOff x="5189538" y="1973263"/>
              <a:chExt cx="403225" cy="358775"/>
            </a:xfrm>
          </p:grpSpPr>
          <p:sp>
            <p:nvSpPr>
              <p:cNvPr id="18" name="Freeform 12"/>
              <p:cNvSpPr>
                <a:spLocks noEditPoints="1"/>
              </p:cNvSpPr>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p:cNvSpPr>
                <a:spLocks noEditPoints="1"/>
              </p:cNvSpPr>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p:cNvGrpSpPr/>
            <p:nvPr/>
          </p:nvGrpSpPr>
          <p:grpSpPr>
            <a:xfrm>
              <a:off x="6984495" y="4601150"/>
              <a:ext cx="599495" cy="587552"/>
              <a:chOff x="5162551" y="3636963"/>
              <a:chExt cx="398463" cy="390525"/>
            </a:xfrm>
          </p:grpSpPr>
          <p:sp>
            <p:nvSpPr>
              <p:cNvPr id="15" name="Freeform 14"/>
              <p:cNvSpPr>
                <a:spLocks noEditPoints="1"/>
              </p:cNvSpPr>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p:cNvSpPr>
                <a:spLocks noEditPoints="1"/>
              </p:cNvSpPr>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p:cNvSpPr>
                <a:spLocks noEditPoints="1"/>
              </p:cNvSpPr>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p:cNvSpPr>
              <a:spLocks noEditPoints="1"/>
            </p:cNvSpPr>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p:cNvSpPr txBox="1"/>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p:cNvSpPr txBox="1"/>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p:cNvSpPr txBox="1"/>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smtClean="0">
                  <a:ln>
                    <a:noFill/>
                  </a:ln>
                  <a:solidFill>
                    <a:prstClr val="white"/>
                  </a:solidFill>
                  <a:effectLst/>
                  <a:uLnTx/>
                  <a:uFillTx/>
                  <a:latin typeface="Calibri" panose="020F0502020204030204"/>
                  <a:sym typeface="+mn-lt"/>
                </a:rPr>
                <a:t>03</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p:cNvSpPr txBox="1"/>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smtClean="0">
                  <a:ln>
                    <a:noFill/>
                  </a:ln>
                  <a:solidFill>
                    <a:prstClr val="white"/>
                  </a:solidFill>
                  <a:effectLst/>
                  <a:uLnTx/>
                  <a:uFillTx/>
                  <a:latin typeface="Calibri" panose="020F0502020204030204"/>
                  <a:sym typeface="+mn-lt"/>
                </a:rPr>
                <a:t>04</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p:cNvGrpSpPr/>
          <p:nvPr>
            <p:custDataLst>
              <p:tags r:id="rId1"/>
            </p:custDataLst>
          </p:nvPr>
        </p:nvGrpSpPr>
        <p:grpSpPr>
          <a:xfrm>
            <a:off x="196965" y="2655495"/>
            <a:ext cx="3901118" cy="810092"/>
            <a:chOff x="656868" y="2394767"/>
            <a:chExt cx="3901118" cy="810092"/>
          </a:xfrm>
        </p:grpSpPr>
        <p:sp>
          <p:nvSpPr>
            <p:cNvPr id="24" name="文本框 23"/>
            <p:cNvSpPr txBox="1"/>
            <p:nvPr/>
          </p:nvSpPr>
          <p:spPr>
            <a:xfrm>
              <a:off x="2517043" y="2394767"/>
              <a:ext cx="2040943" cy="461665"/>
            </a:xfrm>
            <a:prstGeom prst="rect">
              <a:avLst/>
            </a:prstGeom>
            <a:noFill/>
          </p:spPr>
          <p:txBody>
            <a:bodyPr wrap="none" rtlCol="0">
              <a:spAutoFit/>
            </a:bodyPr>
            <a:lstStyle>
              <a:defPPr>
                <a:defRPr lang="zh-CN"/>
              </a:defPPr>
              <a:lvl1pPr>
                <a:defRPr sz="2400" b="1">
                  <a:solidFill>
                    <a:srgbClr val="24569D"/>
                  </a:solidFill>
                </a:defRPr>
              </a:lvl1pPr>
            </a:lstStyle>
            <a:p>
              <a:r>
                <a:rPr lang="zh-CN" altLang="en-US" dirty="0"/>
                <a:t>卷积神经网络</a:t>
              </a:r>
            </a:p>
          </p:txBody>
        </p:sp>
        <p:sp>
          <p:nvSpPr>
            <p:cNvPr id="25" name="文本框 24"/>
            <p:cNvSpPr txBox="1"/>
            <p:nvPr/>
          </p:nvSpPr>
          <p:spPr>
            <a:xfrm>
              <a:off x="656868" y="2743194"/>
              <a:ext cx="2855980" cy="461665"/>
            </a:xfrm>
            <a:prstGeom prst="rect">
              <a:avLst/>
            </a:prstGeom>
            <a:noFill/>
          </p:spPr>
          <p:txBody>
            <a:bodyPr wrap="square" rtlCol="0">
              <a:spAutoFit/>
            </a:bodyPr>
            <a:lstStyle/>
            <a:p>
              <a:endParaRPr lang="en-US" altLang="zh-CN" sz="2400" dirty="0">
                <a:latin typeface="微软雅黑" panose="020B0503020204020204" pitchFamily="34" charset="-122"/>
              </a:endParaRPr>
            </a:p>
          </p:txBody>
        </p:sp>
      </p:grpSp>
      <p:sp>
        <p:nvSpPr>
          <p:cNvPr id="31" name="文本框 30"/>
          <p:cNvSpPr txBox="1"/>
          <p:nvPr/>
        </p:nvSpPr>
        <p:spPr>
          <a:xfrm>
            <a:off x="2098323" y="4787132"/>
            <a:ext cx="2040943" cy="461665"/>
          </a:xfrm>
          <a:prstGeom prst="rect">
            <a:avLst/>
          </a:prstGeom>
          <a:noFill/>
        </p:spPr>
        <p:txBody>
          <a:bodyPr wrap="none" rtlCol="0">
            <a:spAutoFit/>
          </a:bodyPr>
          <a:lstStyle>
            <a:defPPr>
              <a:defRPr lang="zh-CN"/>
            </a:defPPr>
            <a:lvl1pPr>
              <a:defRPr sz="2400" b="1">
                <a:solidFill>
                  <a:srgbClr val="24569D"/>
                </a:solidFill>
              </a:defRPr>
            </a:lvl1pPr>
          </a:lstStyle>
          <a:p>
            <a:r>
              <a:rPr lang="zh-CN" altLang="en-US" dirty="0" smtClean="0">
                <a:solidFill>
                  <a:srgbClr val="FF0000"/>
                </a:solidFill>
              </a:rPr>
              <a:t>循环神经网络</a:t>
            </a:r>
            <a:endParaRPr lang="zh-CN" altLang="en-US" dirty="0">
              <a:solidFill>
                <a:srgbClr val="FF0000"/>
              </a:solidFill>
            </a:endParaRPr>
          </a:p>
        </p:txBody>
      </p:sp>
      <p:sp>
        <p:nvSpPr>
          <p:cNvPr id="34" name="文本框 33"/>
          <p:cNvSpPr txBox="1"/>
          <p:nvPr/>
        </p:nvSpPr>
        <p:spPr>
          <a:xfrm>
            <a:off x="8473636" y="2779912"/>
            <a:ext cx="1422184" cy="461665"/>
          </a:xfrm>
          <a:prstGeom prst="rect">
            <a:avLst/>
          </a:prstGeom>
          <a:noFill/>
        </p:spPr>
        <p:txBody>
          <a:bodyPr wrap="none" rtlCol="0">
            <a:spAutoFit/>
          </a:bodyPr>
          <a:lstStyle/>
          <a:p>
            <a:r>
              <a:rPr lang="zh-CN" altLang="en-US" sz="2400" b="1" dirty="0">
                <a:solidFill>
                  <a:srgbClr val="24569D"/>
                </a:solidFill>
              </a:rPr>
              <a:t>语言模型</a:t>
            </a:r>
          </a:p>
        </p:txBody>
      </p:sp>
      <p:sp>
        <p:nvSpPr>
          <p:cNvPr id="2" name="矩形 1"/>
          <p:cNvSpPr/>
          <p:nvPr/>
        </p:nvSpPr>
        <p:spPr>
          <a:xfrm>
            <a:off x="573660" y="445426"/>
            <a:ext cx="902811" cy="523220"/>
          </a:xfrm>
          <a:prstGeom prst="rect">
            <a:avLst/>
          </a:prstGeom>
        </p:spPr>
        <p:txBody>
          <a:bodyPr wrap="none">
            <a:spAutoFit/>
          </a:bodyPr>
          <a:lstStyle/>
          <a:p>
            <a:r>
              <a:rPr lang="zh-CN" altLang="en-US" sz="2800" dirty="0"/>
              <a:t>目录</a:t>
            </a:r>
          </a:p>
        </p:txBody>
      </p:sp>
      <p:sp>
        <p:nvSpPr>
          <p:cNvPr id="30" name="文本框 29"/>
          <p:cNvSpPr txBox="1"/>
          <p:nvPr/>
        </p:nvSpPr>
        <p:spPr>
          <a:xfrm>
            <a:off x="8529747" y="4787132"/>
            <a:ext cx="1982274" cy="461665"/>
          </a:xfrm>
          <a:prstGeom prst="rect">
            <a:avLst/>
          </a:prstGeom>
          <a:noFill/>
        </p:spPr>
        <p:txBody>
          <a:bodyPr wrap="none" rtlCol="0">
            <a:spAutoFit/>
          </a:bodyPr>
          <a:lstStyle>
            <a:defPPr>
              <a:defRPr lang="zh-CN"/>
            </a:defPPr>
            <a:lvl1pPr>
              <a:defRPr sz="2400" b="1">
                <a:solidFill>
                  <a:srgbClr val="24569D"/>
                </a:solidFill>
              </a:defRPr>
            </a:lvl1pPr>
          </a:lstStyle>
          <a:p>
            <a:r>
              <a:rPr lang="en-US" altLang="zh-CN" dirty="0" smtClean="0"/>
              <a:t>Transformer</a:t>
            </a:r>
            <a:endParaRPr lang="zh-CN" altLang="en-US" dirty="0"/>
          </a:p>
        </p:txBody>
      </p:sp>
    </p:spTree>
    <p:extLst>
      <p:ext uri="{BB962C8B-B14F-4D97-AF65-F5344CB8AC3E}">
        <p14:creationId xmlns:p14="http://schemas.microsoft.com/office/powerpoint/2010/main" val="17173544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2925" y="0"/>
            <a:ext cx="12192000" cy="1143000"/>
          </a:xfrm>
        </p:spPr>
        <p:txBody>
          <a:bodyPr rtlCol="0"/>
          <a:lstStyle/>
          <a:p>
            <a:pPr algn="l"/>
            <a:r>
              <a:rPr lang="en-US" altLang="zh-CN" dirty="0">
                <a:latin typeface="微软雅黑" panose="020B0503020204020204" pitchFamily="34" charset="-122"/>
                <a:ea typeface="微软雅黑" panose="020B0503020204020204" pitchFamily="34" charset="-122"/>
              </a:rPr>
              <a:t>RNN</a:t>
            </a:r>
            <a:r>
              <a:rPr lang="zh-CN" altLang="en-US" dirty="0">
                <a:latin typeface="微软雅黑" panose="020B0503020204020204" pitchFamily="34" charset="-122"/>
                <a:ea typeface="微软雅黑" panose="020B0503020204020204" pitchFamily="34" charset="-122"/>
              </a:rPr>
              <a:t>的</a:t>
            </a:r>
            <a:r>
              <a:rPr lang="zh-CN" altLang="en-US" dirty="0" smtClean="0">
                <a:latin typeface="微软雅黑" panose="020B0503020204020204" pitchFamily="34" charset="-122"/>
                <a:ea typeface="微软雅黑" panose="020B0503020204020204" pitchFamily="34" charset="-122"/>
              </a:rPr>
              <a:t>网络结构</a:t>
            </a:r>
            <a:r>
              <a:rPr lang="en-US" altLang="zh-CN" dirty="0" smtClean="0">
                <a:latin typeface="微软雅黑" panose="020B0503020204020204" pitchFamily="34" charset="-122"/>
                <a:ea typeface="微软雅黑" panose="020B0503020204020204" pitchFamily="34" charset="-122"/>
              </a:rPr>
              <a:t> </a:t>
            </a:r>
            <a:endParaRPr lang="en-US" dirty="0">
              <a:latin typeface="微软雅黑" panose="020B0503020204020204" pitchFamily="34" charset="-122"/>
              <a:ea typeface="微软雅黑" panose="020B0503020204020204" pitchFamily="34" charset="-122"/>
            </a:endParaRPr>
          </a:p>
        </p:txBody>
      </p:sp>
      <p:sp>
        <p:nvSpPr>
          <p:cNvPr id="3" name="内容占位符 2"/>
          <p:cNvSpPr>
            <a:spLocks noGrp="1"/>
          </p:cNvSpPr>
          <p:nvPr>
            <p:ph sz="half" idx="1"/>
          </p:nvPr>
        </p:nvSpPr>
        <p:spPr>
          <a:xfrm>
            <a:off x="1158049" y="5008819"/>
            <a:ext cx="9980681" cy="1096962"/>
          </a:xfrm>
        </p:spPr>
        <p:txBody>
          <a:bodyPr rtlCol="0">
            <a:noAutofit/>
          </a:bodyPr>
          <a:lstStyle/>
          <a:p>
            <a:pPr>
              <a:lnSpc>
                <a:spcPct val="200000"/>
              </a:lnSpc>
            </a:pPr>
            <a:r>
              <a:rPr lang="zh-CN" altLang="en-US" sz="1400" dirty="0"/>
              <a:t>每个方框可以看作是一个</a:t>
            </a:r>
            <a:r>
              <a:rPr lang="zh-CN" altLang="en-US" sz="1400" dirty="0" smtClean="0"/>
              <a:t>单元。</a:t>
            </a:r>
            <a:r>
              <a:rPr lang="zh-CN" altLang="en-US" sz="1400" dirty="0">
                <a:solidFill>
                  <a:srgbClr val="000000"/>
                </a:solidFill>
                <a:latin typeface="Verdana" panose="020B0604030504040204" pitchFamily="34" charset="0"/>
              </a:rPr>
              <a:t>从网络结构上，循环神经网络会</a:t>
            </a:r>
            <a:r>
              <a:rPr lang="zh-CN" altLang="en-US" sz="1400" u="sng" dirty="0">
                <a:solidFill>
                  <a:srgbClr val="000000"/>
                </a:solidFill>
                <a:latin typeface="Verdana" panose="020B0604030504040204" pitchFamily="34" charset="0"/>
              </a:rPr>
              <a:t>记忆之前的信息</a:t>
            </a:r>
            <a:r>
              <a:rPr lang="zh-CN" altLang="en-US" sz="1400" dirty="0">
                <a:solidFill>
                  <a:srgbClr val="000000"/>
                </a:solidFill>
                <a:latin typeface="Verdana" panose="020B0604030504040204" pitchFamily="34" charset="0"/>
              </a:rPr>
              <a:t>，并利用之前的信息影响后面节点的输出</a:t>
            </a:r>
            <a:r>
              <a:rPr lang="zh-CN" altLang="en-US" sz="1400" dirty="0" smtClean="0">
                <a:solidFill>
                  <a:srgbClr val="000000"/>
                </a:solidFill>
                <a:latin typeface="Verdana" panose="020B0604030504040204" pitchFamily="34" charset="0"/>
              </a:rPr>
              <a:t>。</a:t>
            </a:r>
            <a:endParaRPr lang="en-US" altLang="zh-CN" sz="1400" dirty="0"/>
          </a:p>
          <a:p>
            <a:pPr>
              <a:lnSpc>
                <a:spcPct val="200000"/>
              </a:lnSpc>
            </a:pPr>
            <a:r>
              <a:rPr lang="zh-CN" altLang="en-US" sz="1400" dirty="0">
                <a:solidFill>
                  <a:srgbClr val="000000"/>
                </a:solidFill>
                <a:latin typeface="Verdana" panose="020B0604030504040204" pitchFamily="34" charset="0"/>
              </a:rPr>
              <a:t>参数</a:t>
            </a:r>
            <a:r>
              <a:rPr lang="zh-CN" altLang="en-US" sz="1400" dirty="0" smtClean="0">
                <a:solidFill>
                  <a:srgbClr val="000000"/>
                </a:solidFill>
                <a:latin typeface="Verdana" panose="020B0604030504040204" pitchFamily="34" charset="0"/>
              </a:rPr>
              <a:t>共享：</a:t>
            </a:r>
            <a:r>
              <a:rPr lang="zh-CN" altLang="en-US" sz="1400" b="1" dirty="0" smtClean="0"/>
              <a:t>一</a:t>
            </a:r>
            <a:r>
              <a:rPr lang="zh-CN" altLang="en-US" sz="1400" b="1" dirty="0"/>
              <a:t>个单元结构重复</a:t>
            </a:r>
            <a:r>
              <a:rPr lang="zh-CN" altLang="en-US" sz="1400" b="1" dirty="0" smtClean="0"/>
              <a:t>使用</a:t>
            </a:r>
            <a:r>
              <a:rPr lang="zh-CN" altLang="en-US" sz="1400" dirty="0" smtClean="0"/>
              <a:t>。</a:t>
            </a:r>
            <a:r>
              <a:rPr lang="zh-CN" altLang="en-US" sz="1400" dirty="0" smtClean="0">
                <a:solidFill>
                  <a:srgbClr val="000000"/>
                </a:solidFill>
                <a:latin typeface="Verdana" panose="020B0604030504040204" pitchFamily="34" charset="0"/>
              </a:rPr>
              <a:t>循环</a:t>
            </a:r>
            <a:r>
              <a:rPr lang="zh-CN" altLang="en-US" sz="1400" dirty="0">
                <a:solidFill>
                  <a:srgbClr val="000000"/>
                </a:solidFill>
                <a:latin typeface="Verdana" panose="020B0604030504040204" pitchFamily="34" charset="0"/>
              </a:rPr>
              <a:t>神经网络在不同的位置共享参数，从而使有限的参数</a:t>
            </a:r>
            <a:r>
              <a:rPr lang="zh-CN" altLang="en-US" sz="1400" dirty="0">
                <a:solidFill>
                  <a:srgbClr val="FF0000"/>
                </a:solidFill>
                <a:latin typeface="Verdana" panose="020B0604030504040204" pitchFamily="34" charset="0"/>
              </a:rPr>
              <a:t>处理任意长度的序列</a:t>
            </a:r>
            <a:r>
              <a:rPr lang="zh-CN" altLang="en-US" sz="1400" dirty="0" smtClean="0">
                <a:solidFill>
                  <a:srgbClr val="000000"/>
                </a:solidFill>
                <a:latin typeface="Verdana" panose="020B0604030504040204" pitchFamily="34" charset="0"/>
              </a:rPr>
              <a:t>。</a:t>
            </a:r>
            <a:endParaRPr lang="en-US" sz="1400"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D19F28D3-4ADE-4748-BE7B-AEB4AA596687}"/>
              </a:ext>
            </a:extLst>
          </p:cNvPr>
          <p:cNvPicPr>
            <a:picLocks noChangeAspect="1"/>
          </p:cNvPicPr>
          <p:nvPr/>
        </p:nvPicPr>
        <p:blipFill>
          <a:blip r:embed="rId3"/>
          <a:stretch>
            <a:fillRect/>
          </a:stretch>
        </p:blipFill>
        <p:spPr>
          <a:xfrm>
            <a:off x="976311" y="2333303"/>
            <a:ext cx="10086980" cy="2637325"/>
          </a:xfrm>
          <a:prstGeom prst="rect">
            <a:avLst/>
          </a:prstGeom>
        </p:spPr>
      </p:pic>
      <p:sp>
        <p:nvSpPr>
          <p:cNvPr id="8" name="矩形 7">
            <a:extLst>
              <a:ext uri="{FF2B5EF4-FFF2-40B4-BE49-F238E27FC236}">
                <a16:creationId xmlns:a16="http://schemas.microsoft.com/office/drawing/2014/main" id="{AC83B55A-EF71-470A-A555-7F926FCE245A}"/>
              </a:ext>
            </a:extLst>
          </p:cNvPr>
          <p:cNvSpPr/>
          <p:nvPr/>
        </p:nvSpPr>
        <p:spPr>
          <a:xfrm>
            <a:off x="1051750" y="1847692"/>
            <a:ext cx="10086980" cy="400110"/>
          </a:xfrm>
          <a:prstGeom prst="rect">
            <a:avLst/>
          </a:prstGeom>
        </p:spPr>
        <p:txBody>
          <a:bodyPr wrap="square">
            <a:spAutoFit/>
          </a:bodyPr>
          <a:lstStyle/>
          <a:p>
            <a:r>
              <a:rPr lang="zh-CN" altLang="en-US" sz="2000" dirty="0">
                <a:solidFill>
                  <a:srgbClr val="000000"/>
                </a:solidFill>
                <a:latin typeface="verdana" panose="020B0604030504040204" pitchFamily="34" charset="0"/>
              </a:rPr>
              <a:t>一</a:t>
            </a:r>
            <a:r>
              <a:rPr lang="zh-CN" altLang="en-US" sz="2000" dirty="0" smtClean="0">
                <a:solidFill>
                  <a:srgbClr val="000000"/>
                </a:solidFill>
                <a:latin typeface="verdana" panose="020B0604030504040204" pitchFamily="34" charset="0"/>
              </a:rPr>
              <a:t>个基本的</a:t>
            </a:r>
            <a:r>
              <a:rPr lang="en-US" altLang="zh-CN" sz="2000" dirty="0">
                <a:solidFill>
                  <a:srgbClr val="000000"/>
                </a:solidFill>
                <a:latin typeface="verdana" panose="020B0604030504040204" pitchFamily="34" charset="0"/>
              </a:rPr>
              <a:t>RNN</a:t>
            </a:r>
            <a:r>
              <a:rPr lang="zh-CN" altLang="en-US" sz="2000" dirty="0">
                <a:solidFill>
                  <a:srgbClr val="000000"/>
                </a:solidFill>
                <a:latin typeface="verdana" panose="020B0604030504040204" pitchFamily="34" charset="0"/>
              </a:rPr>
              <a:t>单元包含三层</a:t>
            </a:r>
            <a:r>
              <a:rPr lang="en-US" altLang="zh-CN" sz="2000" dirty="0">
                <a:solidFill>
                  <a:srgbClr val="000000"/>
                </a:solidFill>
                <a:latin typeface="verdana" panose="020B0604030504040204" pitchFamily="34" charset="0"/>
              </a:rPr>
              <a:t>: </a:t>
            </a:r>
            <a:r>
              <a:rPr lang="zh-CN" altLang="en-US" sz="2000" dirty="0">
                <a:solidFill>
                  <a:srgbClr val="000000"/>
                </a:solidFill>
                <a:latin typeface="verdana" panose="020B0604030504040204" pitchFamily="34" charset="0"/>
              </a:rPr>
              <a:t>输入层</a:t>
            </a:r>
            <a:r>
              <a:rPr lang="en-US" altLang="zh-CN" sz="2000" dirty="0">
                <a:solidFill>
                  <a:srgbClr val="000000"/>
                </a:solidFill>
                <a:latin typeface="verdana" panose="020B0604030504040204" pitchFamily="34" charset="0"/>
              </a:rPr>
              <a:t>,</a:t>
            </a:r>
            <a:r>
              <a:rPr lang="zh-CN" altLang="en-US" sz="2000" dirty="0">
                <a:solidFill>
                  <a:srgbClr val="000000"/>
                </a:solidFill>
                <a:latin typeface="verdana" panose="020B0604030504040204" pitchFamily="34" charset="0"/>
              </a:rPr>
              <a:t>隐藏层和</a:t>
            </a:r>
            <a:r>
              <a:rPr lang="zh-CN" altLang="en-US" sz="2000" dirty="0" smtClean="0">
                <a:solidFill>
                  <a:srgbClr val="000000"/>
                </a:solidFill>
                <a:latin typeface="verdana" panose="020B0604030504040204" pitchFamily="34" charset="0"/>
              </a:rPr>
              <a:t>输出层</a:t>
            </a:r>
            <a:r>
              <a:rPr lang="en-US" altLang="zh-CN" sz="2000" dirty="0" smtClean="0">
                <a:solidFill>
                  <a:srgbClr val="000000"/>
                </a:solidFill>
                <a:latin typeface="verdana" panose="020B0604030504040204" pitchFamily="34" charset="0"/>
              </a:rPr>
              <a:t> </a:t>
            </a:r>
            <a:endParaRPr lang="zh-CN" altLang="en-US" sz="2000" dirty="0"/>
          </a:p>
        </p:txBody>
      </p:sp>
      <p:sp>
        <p:nvSpPr>
          <p:cNvPr id="4" name="矩形 3"/>
          <p:cNvSpPr/>
          <p:nvPr/>
        </p:nvSpPr>
        <p:spPr>
          <a:xfrm>
            <a:off x="4696662" y="6519446"/>
            <a:ext cx="7411601" cy="338554"/>
          </a:xfrm>
          <a:prstGeom prst="rect">
            <a:avLst/>
          </a:prstGeom>
        </p:spPr>
        <p:txBody>
          <a:bodyPr wrap="square">
            <a:spAutoFit/>
          </a:bodyPr>
          <a:lstStyle/>
          <a:p>
            <a:r>
              <a:rPr lang="en-US" altLang="zh-CN" sz="1600" dirty="0" smtClean="0">
                <a:solidFill>
                  <a:srgbClr val="9195A3"/>
                </a:solidFill>
                <a:latin typeface="Arial" panose="020B0604020202020204" pitchFamily="34" charset="0"/>
              </a:rPr>
              <a:t>J</a:t>
            </a:r>
            <a:r>
              <a:rPr lang="en-US" altLang="zh-CN" sz="1600" dirty="0" smtClean="0">
                <a:solidFill>
                  <a:srgbClr val="333333"/>
                </a:solidFill>
                <a:latin typeface="Arial" panose="020B0604020202020204" pitchFamily="34" charset="0"/>
              </a:rPr>
              <a:t>.</a:t>
            </a:r>
            <a:r>
              <a:rPr lang="en-US" altLang="zh-CN" sz="1600" dirty="0">
                <a:solidFill>
                  <a:srgbClr val="333333"/>
                </a:solidFill>
                <a:latin typeface="Arial" panose="020B0604020202020204" pitchFamily="34" charset="0"/>
              </a:rPr>
              <a:t> </a:t>
            </a:r>
            <a:r>
              <a:rPr lang="en-US" altLang="zh-CN" sz="1600" dirty="0" smtClean="0">
                <a:solidFill>
                  <a:srgbClr val="F73131"/>
                </a:solidFill>
                <a:latin typeface="Arial" panose="020B0604020202020204" pitchFamily="34" charset="0"/>
              </a:rPr>
              <a:t>Elman, </a:t>
            </a:r>
            <a:r>
              <a:rPr lang="en-US" altLang="zh-CN" sz="1600" dirty="0" smtClean="0">
                <a:latin typeface="Arial" panose="020B0604020202020204" pitchFamily="34" charset="0"/>
              </a:rPr>
              <a:t>Finding</a:t>
            </a:r>
            <a:r>
              <a:rPr lang="en-US" altLang="zh-CN" sz="1600" dirty="0">
                <a:latin typeface="Arial" panose="020B0604020202020204" pitchFamily="34" charset="0"/>
              </a:rPr>
              <a:t> Structure in </a:t>
            </a:r>
            <a:r>
              <a:rPr lang="en-US" altLang="zh-CN" sz="1600" dirty="0" smtClean="0">
                <a:latin typeface="Arial" panose="020B0604020202020204" pitchFamily="34" charset="0"/>
              </a:rPr>
              <a:t>Time.</a:t>
            </a:r>
            <a:r>
              <a:rPr lang="en-US" altLang="zh-CN" sz="1600" dirty="0">
                <a:latin typeface="Arial" panose="020B0604020202020204" pitchFamily="34" charset="0"/>
              </a:rPr>
              <a:t> </a:t>
            </a:r>
            <a:r>
              <a:rPr lang="en-US" altLang="zh-CN" sz="1600" dirty="0">
                <a:solidFill>
                  <a:srgbClr val="333333"/>
                </a:solidFill>
                <a:latin typeface="Arial" panose="020B0604020202020204" pitchFamily="34" charset="0"/>
              </a:rPr>
              <a:t> Cognitive Science14 (2):179-211 (1990</a:t>
            </a:r>
            <a:r>
              <a:rPr lang="en-US" altLang="zh-CN" sz="1600" dirty="0" smtClean="0">
                <a:solidFill>
                  <a:srgbClr val="333333"/>
                </a:solidFill>
                <a:latin typeface="Arial" panose="020B0604020202020204" pitchFamily="34" charset="0"/>
              </a:rPr>
              <a:t>)</a:t>
            </a:r>
            <a:endParaRPr lang="zh-CN" altLang="en-US" sz="1600" dirty="0"/>
          </a:p>
        </p:txBody>
      </p:sp>
      <p:sp>
        <p:nvSpPr>
          <p:cNvPr id="9" name="矩形 8"/>
          <p:cNvSpPr/>
          <p:nvPr/>
        </p:nvSpPr>
        <p:spPr>
          <a:xfrm>
            <a:off x="338141" y="1018529"/>
            <a:ext cx="10725150" cy="646331"/>
          </a:xfrm>
          <a:prstGeom prst="rect">
            <a:avLst/>
          </a:prstGeom>
        </p:spPr>
        <p:txBody>
          <a:bodyPr wrap="square">
            <a:spAutoFit/>
          </a:bodyPr>
          <a:lstStyle/>
          <a:p>
            <a:pPr>
              <a:lnSpc>
                <a:spcPct val="200000"/>
              </a:lnSpc>
            </a:pPr>
            <a:r>
              <a:rPr lang="zh-CN" altLang="en-US" dirty="0"/>
              <a:t>循环神经网络</a:t>
            </a:r>
            <a:r>
              <a:rPr lang="en-US" altLang="zh-CN" b="1" dirty="0"/>
              <a:t>RNN</a:t>
            </a:r>
            <a:r>
              <a:rPr lang="en-US" altLang="zh-CN" dirty="0"/>
              <a:t> (Recurrent Neural Network)</a:t>
            </a:r>
            <a:r>
              <a:rPr lang="zh-CN" altLang="en-US" dirty="0"/>
              <a:t>是一类用于</a:t>
            </a:r>
            <a:r>
              <a:rPr lang="zh-CN" altLang="en-US" b="1" dirty="0">
                <a:solidFill>
                  <a:srgbClr val="FF0000"/>
                </a:solidFill>
              </a:rPr>
              <a:t>处理序列数据的</a:t>
            </a:r>
            <a:r>
              <a:rPr lang="zh-CN" altLang="en-US" b="1" dirty="0"/>
              <a:t>神经网络</a:t>
            </a:r>
            <a:r>
              <a:rPr lang="zh-CN" altLang="en-US" dirty="0"/>
              <a:t>。</a:t>
            </a:r>
            <a:endParaRPr lang="en-US" altLang="zh-CN" dirty="0"/>
          </a:p>
        </p:txBody>
      </p:sp>
    </p:spTree>
    <p:extLst>
      <p:ext uri="{BB962C8B-B14F-4D97-AF65-F5344CB8AC3E}">
        <p14:creationId xmlns:p14="http://schemas.microsoft.com/office/powerpoint/2010/main" val="3626449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42925" y="0"/>
            <a:ext cx="12192000" cy="1143000"/>
          </a:xfrm>
        </p:spPr>
        <p:txBody>
          <a:bodyPr rtlCol="0"/>
          <a:lstStyle/>
          <a:p>
            <a:pPr algn="l"/>
            <a:r>
              <a:rPr lang="en-US" altLang="zh-CN" dirty="0">
                <a:latin typeface="微软雅黑" panose="020B0503020204020204" pitchFamily="34" charset="-122"/>
                <a:ea typeface="微软雅黑" panose="020B0503020204020204" pitchFamily="34" charset="-122"/>
              </a:rPr>
              <a:t>RNN</a:t>
            </a:r>
            <a:r>
              <a:rPr lang="zh-CN" altLang="en-US" dirty="0">
                <a:latin typeface="微软雅黑" panose="020B0503020204020204" pitchFamily="34" charset="-122"/>
                <a:ea typeface="微软雅黑" panose="020B0503020204020204" pitchFamily="34" charset="-122"/>
              </a:rPr>
              <a:t>的</a:t>
            </a:r>
            <a:r>
              <a:rPr lang="zh-CN" altLang="en-US" dirty="0" smtClean="0">
                <a:latin typeface="微软雅黑" panose="020B0503020204020204" pitchFamily="34" charset="-122"/>
                <a:ea typeface="微软雅黑" panose="020B0503020204020204" pitchFamily="34" charset="-122"/>
              </a:rPr>
              <a:t>网络结构</a:t>
            </a:r>
            <a:r>
              <a:rPr lang="en-US" altLang="zh-CN" dirty="0" smtClean="0">
                <a:latin typeface="微软雅黑" panose="020B0503020204020204" pitchFamily="34" charset="-122"/>
                <a:ea typeface="微软雅黑" panose="020B0503020204020204" pitchFamily="34" charset="-122"/>
              </a:rPr>
              <a:t> </a:t>
            </a:r>
            <a:endParaRPr lang="en-US" dirty="0">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D19F28D3-4ADE-4748-BE7B-AEB4AA596687}"/>
              </a:ext>
            </a:extLst>
          </p:cNvPr>
          <p:cNvPicPr>
            <a:picLocks noChangeAspect="1"/>
          </p:cNvPicPr>
          <p:nvPr/>
        </p:nvPicPr>
        <p:blipFill rotWithShape="1">
          <a:blip r:embed="rId3"/>
          <a:srcRect r="76723"/>
          <a:stretch/>
        </p:blipFill>
        <p:spPr>
          <a:xfrm>
            <a:off x="1204911" y="2769414"/>
            <a:ext cx="2347914" cy="2637325"/>
          </a:xfrm>
          <a:prstGeom prst="rect">
            <a:avLst/>
          </a:prstGeom>
        </p:spPr>
      </p:pic>
      <p:sp>
        <p:nvSpPr>
          <p:cNvPr id="8" name="矩形 7">
            <a:extLst>
              <a:ext uri="{FF2B5EF4-FFF2-40B4-BE49-F238E27FC236}">
                <a16:creationId xmlns:a16="http://schemas.microsoft.com/office/drawing/2014/main" id="{AC83B55A-EF71-470A-A555-7F926FCE245A}"/>
              </a:ext>
            </a:extLst>
          </p:cNvPr>
          <p:cNvSpPr/>
          <p:nvPr/>
        </p:nvSpPr>
        <p:spPr>
          <a:xfrm>
            <a:off x="1051750" y="1847692"/>
            <a:ext cx="10086980" cy="400110"/>
          </a:xfrm>
          <a:prstGeom prst="rect">
            <a:avLst/>
          </a:prstGeom>
        </p:spPr>
        <p:txBody>
          <a:bodyPr wrap="square">
            <a:spAutoFit/>
          </a:bodyPr>
          <a:lstStyle/>
          <a:p>
            <a:r>
              <a:rPr lang="zh-CN" altLang="en-US" sz="2000" dirty="0">
                <a:solidFill>
                  <a:srgbClr val="000000"/>
                </a:solidFill>
                <a:latin typeface="verdana" panose="020B0604030504040204" pitchFamily="34" charset="0"/>
              </a:rPr>
              <a:t>一</a:t>
            </a:r>
            <a:r>
              <a:rPr lang="zh-CN" altLang="en-US" sz="2000" dirty="0" smtClean="0">
                <a:solidFill>
                  <a:srgbClr val="000000"/>
                </a:solidFill>
                <a:latin typeface="verdana" panose="020B0604030504040204" pitchFamily="34" charset="0"/>
              </a:rPr>
              <a:t>个基本的</a:t>
            </a:r>
            <a:r>
              <a:rPr lang="en-US" altLang="zh-CN" sz="2000" dirty="0">
                <a:solidFill>
                  <a:srgbClr val="000000"/>
                </a:solidFill>
                <a:latin typeface="verdana" panose="020B0604030504040204" pitchFamily="34" charset="0"/>
              </a:rPr>
              <a:t>RNN</a:t>
            </a:r>
            <a:r>
              <a:rPr lang="zh-CN" altLang="en-US" sz="2000" dirty="0">
                <a:solidFill>
                  <a:srgbClr val="000000"/>
                </a:solidFill>
                <a:latin typeface="verdana" panose="020B0604030504040204" pitchFamily="34" charset="0"/>
              </a:rPr>
              <a:t>单元包含三层</a:t>
            </a:r>
            <a:r>
              <a:rPr lang="en-US" altLang="zh-CN" sz="2000" dirty="0">
                <a:solidFill>
                  <a:srgbClr val="000000"/>
                </a:solidFill>
                <a:latin typeface="verdana" panose="020B0604030504040204" pitchFamily="34" charset="0"/>
              </a:rPr>
              <a:t>: </a:t>
            </a:r>
            <a:r>
              <a:rPr lang="zh-CN" altLang="en-US" sz="2000" dirty="0">
                <a:solidFill>
                  <a:srgbClr val="000000"/>
                </a:solidFill>
                <a:latin typeface="verdana" panose="020B0604030504040204" pitchFamily="34" charset="0"/>
              </a:rPr>
              <a:t>输入层</a:t>
            </a:r>
            <a:r>
              <a:rPr lang="en-US" altLang="zh-CN" sz="2000" dirty="0">
                <a:solidFill>
                  <a:srgbClr val="000000"/>
                </a:solidFill>
                <a:latin typeface="verdana" panose="020B0604030504040204" pitchFamily="34" charset="0"/>
              </a:rPr>
              <a:t>,</a:t>
            </a:r>
            <a:r>
              <a:rPr lang="zh-CN" altLang="en-US" sz="2000" dirty="0">
                <a:solidFill>
                  <a:srgbClr val="000000"/>
                </a:solidFill>
                <a:latin typeface="verdana" panose="020B0604030504040204" pitchFamily="34" charset="0"/>
              </a:rPr>
              <a:t>隐藏层和</a:t>
            </a:r>
            <a:r>
              <a:rPr lang="zh-CN" altLang="en-US" sz="2000" dirty="0" smtClean="0">
                <a:solidFill>
                  <a:srgbClr val="000000"/>
                </a:solidFill>
                <a:latin typeface="verdana" panose="020B0604030504040204" pitchFamily="34" charset="0"/>
              </a:rPr>
              <a:t>输出层</a:t>
            </a:r>
            <a:r>
              <a:rPr lang="en-US" altLang="zh-CN" sz="2000" dirty="0" smtClean="0">
                <a:solidFill>
                  <a:srgbClr val="000000"/>
                </a:solidFill>
                <a:latin typeface="verdana" panose="020B0604030504040204" pitchFamily="34" charset="0"/>
              </a:rPr>
              <a:t> </a:t>
            </a:r>
            <a:endParaRPr lang="zh-CN" altLang="en-US" sz="2000" dirty="0"/>
          </a:p>
        </p:txBody>
      </p:sp>
      <p:sp>
        <p:nvSpPr>
          <p:cNvPr id="4" name="矩形 3"/>
          <p:cNvSpPr/>
          <p:nvPr/>
        </p:nvSpPr>
        <p:spPr>
          <a:xfrm>
            <a:off x="3400425" y="6488668"/>
            <a:ext cx="9258300" cy="369332"/>
          </a:xfrm>
          <a:prstGeom prst="rect">
            <a:avLst/>
          </a:prstGeom>
        </p:spPr>
        <p:txBody>
          <a:bodyPr wrap="square">
            <a:spAutoFit/>
          </a:bodyPr>
          <a:lstStyle/>
          <a:p>
            <a:r>
              <a:rPr lang="en-US" altLang="zh-CN" dirty="0">
                <a:solidFill>
                  <a:srgbClr val="9195A3"/>
                </a:solidFill>
                <a:latin typeface="Arial" panose="020B0604020202020204" pitchFamily="34" charset="0"/>
              </a:rPr>
              <a:t> </a:t>
            </a:r>
            <a:r>
              <a:rPr lang="en-US" altLang="zh-CN" dirty="0">
                <a:solidFill>
                  <a:srgbClr val="333333"/>
                </a:solidFill>
                <a:latin typeface="Arial" panose="020B0604020202020204" pitchFamily="34" charset="0"/>
              </a:rPr>
              <a:t> L. </a:t>
            </a:r>
            <a:r>
              <a:rPr lang="en-US" altLang="zh-CN" dirty="0" smtClean="0">
                <a:solidFill>
                  <a:srgbClr val="F73131"/>
                </a:solidFill>
                <a:latin typeface="Arial" panose="020B0604020202020204" pitchFamily="34" charset="0"/>
              </a:rPr>
              <a:t>Elman, </a:t>
            </a:r>
            <a:r>
              <a:rPr lang="en-US" altLang="zh-CN" dirty="0" smtClean="0">
                <a:latin typeface="Arial" panose="020B0604020202020204" pitchFamily="34" charset="0"/>
              </a:rPr>
              <a:t>Finding</a:t>
            </a:r>
            <a:r>
              <a:rPr lang="en-US" altLang="zh-CN" dirty="0">
                <a:latin typeface="Arial" panose="020B0604020202020204" pitchFamily="34" charset="0"/>
              </a:rPr>
              <a:t> Structure in Time </a:t>
            </a:r>
            <a:r>
              <a:rPr lang="en-US" altLang="zh-CN" dirty="0" smtClean="0">
                <a:latin typeface="Arial" panose="020B0604020202020204" pitchFamily="34" charset="0"/>
              </a:rPr>
              <a:t>Jeffrey.</a:t>
            </a:r>
            <a:r>
              <a:rPr lang="en-US" altLang="zh-CN" dirty="0">
                <a:latin typeface="Arial" panose="020B0604020202020204" pitchFamily="34" charset="0"/>
              </a:rPr>
              <a:t> </a:t>
            </a:r>
            <a:r>
              <a:rPr lang="en-US" altLang="zh-CN" dirty="0">
                <a:solidFill>
                  <a:srgbClr val="333333"/>
                </a:solidFill>
                <a:latin typeface="Arial" panose="020B0604020202020204" pitchFamily="34" charset="0"/>
              </a:rPr>
              <a:t> Cognitive Science14 (2):179-211 (1990</a:t>
            </a:r>
            <a:r>
              <a:rPr lang="en-US" altLang="zh-CN" dirty="0" smtClean="0">
                <a:solidFill>
                  <a:srgbClr val="333333"/>
                </a:solidFill>
                <a:latin typeface="Arial" panose="020B0604020202020204" pitchFamily="34" charset="0"/>
              </a:rPr>
              <a:t>)</a:t>
            </a:r>
            <a:endParaRPr lang="zh-CN" altLang="en-US" dirty="0"/>
          </a:p>
        </p:txBody>
      </p:sp>
      <p:sp>
        <p:nvSpPr>
          <p:cNvPr id="9" name="矩形 8"/>
          <p:cNvSpPr/>
          <p:nvPr/>
        </p:nvSpPr>
        <p:spPr>
          <a:xfrm>
            <a:off x="338141" y="1018529"/>
            <a:ext cx="10725150" cy="646331"/>
          </a:xfrm>
          <a:prstGeom prst="rect">
            <a:avLst/>
          </a:prstGeom>
        </p:spPr>
        <p:txBody>
          <a:bodyPr wrap="square">
            <a:spAutoFit/>
          </a:bodyPr>
          <a:lstStyle/>
          <a:p>
            <a:pPr>
              <a:lnSpc>
                <a:spcPct val="200000"/>
              </a:lnSpc>
            </a:pPr>
            <a:r>
              <a:rPr lang="zh-CN" altLang="en-US" dirty="0"/>
              <a:t>循环神经网络</a:t>
            </a:r>
            <a:r>
              <a:rPr lang="en-US" altLang="zh-CN" b="1" dirty="0"/>
              <a:t>RNN</a:t>
            </a:r>
            <a:r>
              <a:rPr lang="en-US" altLang="zh-CN" dirty="0"/>
              <a:t> (Recurrent Neural Network)</a:t>
            </a:r>
            <a:r>
              <a:rPr lang="zh-CN" altLang="en-US" dirty="0"/>
              <a:t>是一类用于</a:t>
            </a:r>
            <a:r>
              <a:rPr lang="zh-CN" altLang="en-US" b="1" dirty="0">
                <a:solidFill>
                  <a:srgbClr val="FF0000"/>
                </a:solidFill>
              </a:rPr>
              <a:t>处理序列数据的</a:t>
            </a:r>
            <a:r>
              <a:rPr lang="zh-CN" altLang="en-US" b="1" dirty="0"/>
              <a:t>神经网络</a:t>
            </a:r>
            <a:r>
              <a:rPr lang="zh-CN" altLang="en-US" dirty="0"/>
              <a:t>。</a:t>
            </a:r>
            <a:endParaRPr lang="en-US" altLang="zh-CN" dirty="0"/>
          </a:p>
        </p:txBody>
      </p:sp>
      <p:pic>
        <p:nvPicPr>
          <p:cNvPr id="10" name="图片 9"/>
          <p:cNvPicPr>
            <a:picLocks noChangeAspect="1"/>
          </p:cNvPicPr>
          <p:nvPr/>
        </p:nvPicPr>
        <p:blipFill rotWithShape="1">
          <a:blip r:embed="rId4"/>
          <a:srcRect l="17579" b="51638"/>
          <a:stretch/>
        </p:blipFill>
        <p:spPr>
          <a:xfrm>
            <a:off x="4543425" y="3049572"/>
            <a:ext cx="5753100" cy="1754773"/>
          </a:xfrm>
          <a:prstGeom prst="rect">
            <a:avLst/>
          </a:prstGeom>
        </p:spPr>
      </p:pic>
      <p:sp>
        <p:nvSpPr>
          <p:cNvPr id="5" name="文本框 4"/>
          <p:cNvSpPr txBox="1"/>
          <p:nvPr/>
        </p:nvSpPr>
        <p:spPr>
          <a:xfrm>
            <a:off x="4204871" y="3888858"/>
            <a:ext cx="389850" cy="461665"/>
          </a:xfrm>
          <a:prstGeom prst="rect">
            <a:avLst/>
          </a:prstGeom>
          <a:noFill/>
        </p:spPr>
        <p:txBody>
          <a:bodyPr wrap="none" rtlCol="0">
            <a:spAutoFit/>
          </a:bodyPr>
          <a:lstStyle/>
          <a:p>
            <a:r>
              <a:rPr lang="en-US" altLang="zh-CN" sz="2400" dirty="0" smtClean="0"/>
              <a:t>A</a:t>
            </a:r>
            <a:endParaRPr lang="zh-CN" altLang="en-US" sz="2400" dirty="0"/>
          </a:p>
        </p:txBody>
      </p:sp>
    </p:spTree>
    <p:extLst>
      <p:ext uri="{BB962C8B-B14F-4D97-AF65-F5344CB8AC3E}">
        <p14:creationId xmlns:p14="http://schemas.microsoft.com/office/powerpoint/2010/main" val="4196320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24F4567-0E43-4E45-A138-B7DDF497AFA3}"/>
              </a:ext>
            </a:extLst>
          </p:cNvPr>
          <p:cNvSpPr>
            <a:spLocks noGrp="1"/>
          </p:cNvSpPr>
          <p:nvPr>
            <p:ph type="title"/>
          </p:nvPr>
        </p:nvSpPr>
        <p:spPr/>
        <p:txBody>
          <a:bodyPr/>
          <a:lstStyle/>
          <a:p>
            <a:pPr algn="l"/>
            <a:r>
              <a:rPr lang="en-US" altLang="zh-CN" dirty="0" smtClean="0"/>
              <a:t>LSTM</a:t>
            </a:r>
            <a:r>
              <a:rPr lang="zh-CN" altLang="en-US" dirty="0" smtClean="0"/>
              <a:t>，</a:t>
            </a:r>
            <a:r>
              <a:rPr lang="zh-CN" altLang="en-US" dirty="0"/>
              <a:t>长短期记忆</a:t>
            </a:r>
            <a:r>
              <a:rPr lang="zh-CN" altLang="en-US" dirty="0" smtClean="0"/>
              <a:t>网络</a:t>
            </a:r>
            <a:endParaRPr lang="zh-CN" altLang="en-US" dirty="0"/>
          </a:p>
        </p:txBody>
      </p:sp>
      <p:sp>
        <p:nvSpPr>
          <p:cNvPr id="3" name="内容占位符 2">
            <a:extLst>
              <a:ext uri="{FF2B5EF4-FFF2-40B4-BE49-F238E27FC236}">
                <a16:creationId xmlns:a16="http://schemas.microsoft.com/office/drawing/2014/main" id="{7689E751-DEDC-4617-A782-43B634500B55}"/>
              </a:ext>
            </a:extLst>
          </p:cNvPr>
          <p:cNvSpPr>
            <a:spLocks noGrp="1"/>
          </p:cNvSpPr>
          <p:nvPr>
            <p:ph idx="1"/>
          </p:nvPr>
        </p:nvSpPr>
        <p:spPr>
          <a:xfrm>
            <a:off x="406400" y="1463676"/>
            <a:ext cx="11379200" cy="4729164"/>
          </a:xfrm>
        </p:spPr>
        <p:txBody>
          <a:bodyPr>
            <a:normAutofit/>
          </a:bodyPr>
          <a:lstStyle/>
          <a:p>
            <a:pPr>
              <a:lnSpc>
                <a:spcPct val="200000"/>
              </a:lnSpc>
            </a:pPr>
            <a:r>
              <a:rPr lang="en-US" altLang="zh-CN" sz="2600" dirty="0" smtClean="0">
                <a:solidFill>
                  <a:schemeClr val="tx1"/>
                </a:solidFill>
              </a:rPr>
              <a:t>RNN</a:t>
            </a:r>
            <a:r>
              <a:rPr lang="zh-CN" altLang="en-US" sz="2600" dirty="0">
                <a:solidFill>
                  <a:schemeClr val="tx1"/>
                </a:solidFill>
              </a:rPr>
              <a:t>在利用反向传播调参过程中产生了严重的梯度消失</a:t>
            </a:r>
            <a:r>
              <a:rPr lang="zh-CN" altLang="en-US" sz="2600" dirty="0" smtClean="0">
                <a:solidFill>
                  <a:schemeClr val="tx1"/>
                </a:solidFill>
              </a:rPr>
              <a:t>问题，第</a:t>
            </a:r>
            <a:r>
              <a:rPr lang="zh-CN" altLang="en-US" sz="2600" dirty="0">
                <a:solidFill>
                  <a:schemeClr val="tx1"/>
                </a:solidFill>
              </a:rPr>
              <a:t>一代</a:t>
            </a:r>
            <a:r>
              <a:rPr lang="en-US" altLang="zh-CN" sz="2600" dirty="0">
                <a:solidFill>
                  <a:schemeClr val="tx1"/>
                </a:solidFill>
              </a:rPr>
              <a:t>RNN</a:t>
            </a:r>
            <a:r>
              <a:rPr lang="zh-CN" altLang="en-US" sz="2600" dirty="0">
                <a:solidFill>
                  <a:schemeClr val="tx1"/>
                </a:solidFill>
              </a:rPr>
              <a:t>网络并没有引起世人瞩目。</a:t>
            </a:r>
            <a:endParaRPr lang="en-US" altLang="zh-CN" sz="2600" dirty="0">
              <a:solidFill>
                <a:schemeClr val="tx1"/>
              </a:solidFill>
            </a:endParaRPr>
          </a:p>
          <a:p>
            <a:pPr>
              <a:lnSpc>
                <a:spcPct val="200000"/>
              </a:lnSpc>
            </a:pPr>
            <a:r>
              <a:rPr lang="en-US" altLang="zh-CN" sz="2600" b="1" dirty="0" smtClean="0">
                <a:solidFill>
                  <a:schemeClr val="tx1"/>
                </a:solidFill>
              </a:rPr>
              <a:t>LSTM</a:t>
            </a:r>
            <a:r>
              <a:rPr lang="zh-CN" altLang="en-US" sz="2600" dirty="0">
                <a:solidFill>
                  <a:schemeClr val="tx1"/>
                </a:solidFill>
              </a:rPr>
              <a:t>（</a:t>
            </a:r>
            <a:r>
              <a:rPr lang="en-US" altLang="zh-CN" sz="2600" dirty="0">
                <a:solidFill>
                  <a:schemeClr val="tx1"/>
                </a:solidFill>
              </a:rPr>
              <a:t>Long Short-Term Memory</a:t>
            </a:r>
            <a:r>
              <a:rPr lang="zh-CN" altLang="en-US" sz="2600" dirty="0">
                <a:solidFill>
                  <a:schemeClr val="tx1"/>
                </a:solidFill>
              </a:rPr>
              <a:t>，长短期记忆网络）</a:t>
            </a:r>
            <a:r>
              <a:rPr lang="zh-CN" altLang="en-US" sz="2600" b="1" dirty="0" smtClean="0">
                <a:solidFill>
                  <a:schemeClr val="tx1"/>
                </a:solidFill>
              </a:rPr>
              <a:t>在</a:t>
            </a:r>
            <a:r>
              <a:rPr lang="en-US" altLang="zh-CN" sz="2600" b="1" dirty="0">
                <a:solidFill>
                  <a:schemeClr val="tx1"/>
                </a:solidFill>
              </a:rPr>
              <a:t>1997</a:t>
            </a:r>
            <a:r>
              <a:rPr lang="zh-CN" altLang="en-US" sz="2600" b="1" dirty="0">
                <a:solidFill>
                  <a:schemeClr val="tx1"/>
                </a:solidFill>
              </a:rPr>
              <a:t>年</a:t>
            </a:r>
            <a:r>
              <a:rPr lang="zh-CN" altLang="en-US" sz="2600" dirty="0">
                <a:solidFill>
                  <a:schemeClr val="tx1"/>
                </a:solidFill>
              </a:rPr>
              <a:t>由 </a:t>
            </a:r>
            <a:r>
              <a:rPr lang="en-US" altLang="zh-CN" sz="2600" dirty="0" err="1" smtClean="0">
                <a:solidFill>
                  <a:schemeClr val="tx1"/>
                </a:solidFill>
              </a:rPr>
              <a:t>Hochreiter</a:t>
            </a:r>
            <a:r>
              <a:rPr lang="en-US" altLang="zh-CN" sz="2600" dirty="0" smtClean="0">
                <a:solidFill>
                  <a:schemeClr val="tx1"/>
                </a:solidFill>
              </a:rPr>
              <a:t> &amp;</a:t>
            </a:r>
            <a:r>
              <a:rPr lang="en-US" altLang="zh-CN" sz="2600" dirty="0">
                <a:solidFill>
                  <a:schemeClr val="tx1"/>
                </a:solidFill>
              </a:rPr>
              <a:t> </a:t>
            </a:r>
            <a:r>
              <a:rPr lang="en-US" altLang="zh-CN" sz="2600" dirty="0" err="1">
                <a:solidFill>
                  <a:schemeClr val="tx1"/>
                </a:solidFill>
              </a:rPr>
              <a:t>Schmidhuber</a:t>
            </a:r>
            <a:r>
              <a:rPr lang="en-US" altLang="zh-CN" sz="2600" dirty="0">
                <a:solidFill>
                  <a:schemeClr val="tx1"/>
                </a:solidFill>
              </a:rPr>
              <a:t> </a:t>
            </a:r>
            <a:r>
              <a:rPr lang="zh-CN" altLang="en-US" sz="2600" dirty="0">
                <a:solidFill>
                  <a:schemeClr val="tx1"/>
                </a:solidFill>
              </a:rPr>
              <a:t>提出</a:t>
            </a:r>
            <a:r>
              <a:rPr lang="zh-CN" altLang="en-US" sz="2600" b="1" dirty="0" smtClean="0">
                <a:solidFill>
                  <a:schemeClr val="tx1"/>
                </a:solidFill>
              </a:rPr>
              <a:t>，成为</a:t>
            </a:r>
            <a:r>
              <a:rPr lang="en-US" altLang="zh-CN" sz="2600" b="1" dirty="0" smtClean="0">
                <a:solidFill>
                  <a:schemeClr val="tx1"/>
                </a:solidFill>
              </a:rPr>
              <a:t>RNN</a:t>
            </a:r>
            <a:r>
              <a:rPr lang="zh-CN" altLang="en-US" sz="2600" b="1" dirty="0" smtClean="0">
                <a:solidFill>
                  <a:schemeClr val="tx1"/>
                </a:solidFill>
              </a:rPr>
              <a:t>的</a:t>
            </a:r>
            <a:r>
              <a:rPr lang="zh-CN" altLang="en-US" sz="2600" b="1" dirty="0">
                <a:solidFill>
                  <a:schemeClr val="tx1"/>
                </a:solidFill>
              </a:rPr>
              <a:t>标准形式。</a:t>
            </a:r>
          </a:p>
        </p:txBody>
      </p:sp>
      <p:sp>
        <p:nvSpPr>
          <p:cNvPr id="4" name="矩形 3"/>
          <p:cNvSpPr/>
          <p:nvPr/>
        </p:nvSpPr>
        <p:spPr>
          <a:xfrm>
            <a:off x="447675" y="6192840"/>
            <a:ext cx="11744325" cy="369332"/>
          </a:xfrm>
          <a:prstGeom prst="rect">
            <a:avLst/>
          </a:prstGeom>
        </p:spPr>
        <p:txBody>
          <a:bodyPr wrap="square">
            <a:spAutoFit/>
          </a:bodyPr>
          <a:lstStyle/>
          <a:p>
            <a:r>
              <a:rPr lang="en-US" altLang="zh-CN" dirty="0" err="1">
                <a:solidFill>
                  <a:srgbClr val="121212"/>
                </a:solidFill>
                <a:latin typeface="-apple-system"/>
              </a:rPr>
              <a:t>Hochreiter</a:t>
            </a:r>
            <a:r>
              <a:rPr lang="en-US" altLang="zh-CN" dirty="0">
                <a:solidFill>
                  <a:srgbClr val="121212"/>
                </a:solidFill>
                <a:latin typeface="-apple-system"/>
              </a:rPr>
              <a:t>, S, and J. </a:t>
            </a:r>
            <a:r>
              <a:rPr lang="en-US" altLang="zh-CN" dirty="0" err="1">
                <a:solidFill>
                  <a:srgbClr val="121212"/>
                </a:solidFill>
                <a:latin typeface="-apple-system"/>
              </a:rPr>
              <a:t>Schmidhuber</a:t>
            </a:r>
            <a:r>
              <a:rPr lang="en-US" altLang="zh-CN" dirty="0">
                <a:solidFill>
                  <a:srgbClr val="121212"/>
                </a:solidFill>
                <a:latin typeface="-apple-system"/>
              </a:rPr>
              <a:t>. </a:t>
            </a:r>
            <a:r>
              <a:rPr lang="en-US" altLang="zh-CN" dirty="0" smtClean="0">
                <a:solidFill>
                  <a:srgbClr val="121212"/>
                </a:solidFill>
                <a:latin typeface="-apple-system"/>
              </a:rPr>
              <a:t>Long </a:t>
            </a:r>
            <a:r>
              <a:rPr lang="en-US" altLang="zh-CN" dirty="0">
                <a:solidFill>
                  <a:srgbClr val="121212"/>
                </a:solidFill>
                <a:latin typeface="-apple-system"/>
              </a:rPr>
              <a:t>short-term </a:t>
            </a:r>
            <a:r>
              <a:rPr lang="en-US" altLang="zh-CN" dirty="0" smtClean="0">
                <a:solidFill>
                  <a:srgbClr val="121212"/>
                </a:solidFill>
                <a:latin typeface="-apple-system"/>
              </a:rPr>
              <a:t>memory. Neural Computation 9.8(1997</a:t>
            </a:r>
            <a:r>
              <a:rPr lang="en-US" altLang="zh-CN" dirty="0">
                <a:solidFill>
                  <a:srgbClr val="121212"/>
                </a:solidFill>
                <a:latin typeface="-apple-system"/>
              </a:rPr>
              <a:t>):1735-1780.</a:t>
            </a:r>
            <a:endParaRPr lang="zh-CN" altLang="en-US" dirty="0"/>
          </a:p>
        </p:txBody>
      </p:sp>
    </p:spTree>
    <p:extLst>
      <p:ext uri="{BB962C8B-B14F-4D97-AF65-F5344CB8AC3E}">
        <p14:creationId xmlns:p14="http://schemas.microsoft.com/office/powerpoint/2010/main" val="110408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D19F28D3-4ADE-4748-BE7B-AEB4AA596687}"/>
              </a:ext>
            </a:extLst>
          </p:cNvPr>
          <p:cNvPicPr>
            <a:picLocks noChangeAspect="1"/>
          </p:cNvPicPr>
          <p:nvPr/>
        </p:nvPicPr>
        <p:blipFill rotWithShape="1">
          <a:blip r:embed="rId3"/>
          <a:srcRect l="34986"/>
          <a:stretch/>
        </p:blipFill>
        <p:spPr>
          <a:xfrm>
            <a:off x="1820419" y="1847849"/>
            <a:ext cx="8704706" cy="3819525"/>
          </a:xfrm>
          <a:prstGeom prst="rect">
            <a:avLst/>
          </a:prstGeom>
        </p:spPr>
      </p:pic>
      <p:sp>
        <p:nvSpPr>
          <p:cNvPr id="2" name="标题 1">
            <a:extLst>
              <a:ext uri="{FF2B5EF4-FFF2-40B4-BE49-F238E27FC236}">
                <a16:creationId xmlns:a16="http://schemas.microsoft.com/office/drawing/2014/main" id="{7D7C3DBF-15E5-48E2-9F19-96BA2CD2A835}"/>
              </a:ext>
            </a:extLst>
          </p:cNvPr>
          <p:cNvSpPr>
            <a:spLocks noGrp="1"/>
          </p:cNvSpPr>
          <p:nvPr>
            <p:ph type="title"/>
          </p:nvPr>
        </p:nvSpPr>
        <p:spPr/>
        <p:txBody>
          <a:bodyPr/>
          <a:lstStyle/>
          <a:p>
            <a:pPr algn="l"/>
            <a:r>
              <a:rPr lang="en-US" altLang="zh-CN" dirty="0"/>
              <a:t> LSTM(Long Short-term Memory)</a:t>
            </a:r>
            <a:endParaRPr lang="zh-CN" altLang="en-US" dirty="0"/>
          </a:p>
        </p:txBody>
      </p:sp>
      <p:pic>
        <p:nvPicPr>
          <p:cNvPr id="3" name="图片 2"/>
          <p:cNvPicPr>
            <a:picLocks noChangeAspect="1"/>
          </p:cNvPicPr>
          <p:nvPr/>
        </p:nvPicPr>
        <p:blipFill>
          <a:blip r:embed="rId4"/>
          <a:stretch>
            <a:fillRect/>
          </a:stretch>
        </p:blipFill>
        <p:spPr>
          <a:xfrm>
            <a:off x="1648969" y="3267074"/>
            <a:ext cx="1647514" cy="1076326"/>
          </a:xfrm>
          <a:prstGeom prst="rect">
            <a:avLst/>
          </a:prstGeom>
        </p:spPr>
      </p:pic>
      <p:pic>
        <p:nvPicPr>
          <p:cNvPr id="10" name="图片 9"/>
          <p:cNvPicPr>
            <a:picLocks noChangeAspect="1"/>
          </p:cNvPicPr>
          <p:nvPr/>
        </p:nvPicPr>
        <p:blipFill>
          <a:blip r:embed="rId4"/>
          <a:stretch>
            <a:fillRect/>
          </a:stretch>
        </p:blipFill>
        <p:spPr>
          <a:xfrm>
            <a:off x="3721548" y="3267074"/>
            <a:ext cx="1647514" cy="1076326"/>
          </a:xfrm>
          <a:prstGeom prst="rect">
            <a:avLst/>
          </a:prstGeom>
        </p:spPr>
      </p:pic>
      <p:pic>
        <p:nvPicPr>
          <p:cNvPr id="11" name="图片 10"/>
          <p:cNvPicPr>
            <a:picLocks noChangeAspect="1"/>
          </p:cNvPicPr>
          <p:nvPr/>
        </p:nvPicPr>
        <p:blipFill>
          <a:blip r:embed="rId4"/>
          <a:stretch>
            <a:fillRect/>
          </a:stretch>
        </p:blipFill>
        <p:spPr>
          <a:xfrm>
            <a:off x="5635705" y="3219448"/>
            <a:ext cx="1647514" cy="1076326"/>
          </a:xfrm>
          <a:prstGeom prst="rect">
            <a:avLst/>
          </a:prstGeom>
        </p:spPr>
      </p:pic>
      <p:pic>
        <p:nvPicPr>
          <p:cNvPr id="12" name="图片 11"/>
          <p:cNvPicPr>
            <a:picLocks noChangeAspect="1"/>
          </p:cNvPicPr>
          <p:nvPr/>
        </p:nvPicPr>
        <p:blipFill>
          <a:blip r:embed="rId4"/>
          <a:stretch>
            <a:fillRect/>
          </a:stretch>
        </p:blipFill>
        <p:spPr>
          <a:xfrm>
            <a:off x="8678419" y="3267074"/>
            <a:ext cx="1647514" cy="1076326"/>
          </a:xfrm>
          <a:prstGeom prst="rect">
            <a:avLst/>
          </a:prstGeom>
        </p:spPr>
      </p:pic>
      <p:sp>
        <p:nvSpPr>
          <p:cNvPr id="8" name="矩形 7"/>
          <p:cNvSpPr/>
          <p:nvPr/>
        </p:nvSpPr>
        <p:spPr>
          <a:xfrm>
            <a:off x="251208" y="6397623"/>
            <a:ext cx="12170543" cy="369332"/>
          </a:xfrm>
          <a:prstGeom prst="rect">
            <a:avLst/>
          </a:prstGeom>
        </p:spPr>
        <p:txBody>
          <a:bodyPr wrap="square">
            <a:spAutoFit/>
          </a:bodyPr>
          <a:lstStyle/>
          <a:p>
            <a:r>
              <a:rPr lang="en-US" altLang="zh-CN" dirty="0" err="1">
                <a:solidFill>
                  <a:srgbClr val="121212"/>
                </a:solidFill>
                <a:latin typeface="-apple-system"/>
              </a:rPr>
              <a:t>Hochreiter</a:t>
            </a:r>
            <a:r>
              <a:rPr lang="en-US" altLang="zh-CN" dirty="0">
                <a:solidFill>
                  <a:srgbClr val="121212"/>
                </a:solidFill>
                <a:latin typeface="-apple-system"/>
              </a:rPr>
              <a:t>, S, and J. </a:t>
            </a:r>
            <a:r>
              <a:rPr lang="en-US" altLang="zh-CN" dirty="0" err="1">
                <a:solidFill>
                  <a:srgbClr val="121212"/>
                </a:solidFill>
                <a:latin typeface="-apple-system"/>
              </a:rPr>
              <a:t>Schmidhuber</a:t>
            </a:r>
            <a:r>
              <a:rPr lang="en-US" altLang="zh-CN" dirty="0">
                <a:solidFill>
                  <a:srgbClr val="121212"/>
                </a:solidFill>
                <a:latin typeface="-apple-system"/>
              </a:rPr>
              <a:t>. </a:t>
            </a:r>
            <a:r>
              <a:rPr lang="en-US" altLang="zh-CN" dirty="0" smtClean="0">
                <a:solidFill>
                  <a:srgbClr val="121212"/>
                </a:solidFill>
                <a:latin typeface="-apple-system"/>
              </a:rPr>
              <a:t>Long </a:t>
            </a:r>
            <a:r>
              <a:rPr lang="en-US" altLang="zh-CN" dirty="0">
                <a:solidFill>
                  <a:srgbClr val="121212"/>
                </a:solidFill>
                <a:latin typeface="-apple-system"/>
              </a:rPr>
              <a:t>short-term </a:t>
            </a:r>
            <a:r>
              <a:rPr lang="en-US" altLang="zh-CN" dirty="0" smtClean="0">
                <a:solidFill>
                  <a:srgbClr val="121212"/>
                </a:solidFill>
                <a:latin typeface="-apple-system"/>
              </a:rPr>
              <a:t>memory. Neural Computation 9.8(1997</a:t>
            </a:r>
            <a:r>
              <a:rPr lang="en-US" altLang="zh-CN" dirty="0">
                <a:solidFill>
                  <a:srgbClr val="121212"/>
                </a:solidFill>
                <a:latin typeface="-apple-system"/>
              </a:rPr>
              <a:t>):1735-1780.</a:t>
            </a:r>
            <a:endParaRPr lang="zh-CN" altLang="en-US" dirty="0"/>
          </a:p>
        </p:txBody>
      </p:sp>
      <p:sp>
        <p:nvSpPr>
          <p:cNvPr id="9" name="文本框 8"/>
          <p:cNvSpPr txBox="1"/>
          <p:nvPr/>
        </p:nvSpPr>
        <p:spPr>
          <a:xfrm>
            <a:off x="930873" y="3641208"/>
            <a:ext cx="389850" cy="461665"/>
          </a:xfrm>
          <a:prstGeom prst="rect">
            <a:avLst/>
          </a:prstGeom>
          <a:noFill/>
        </p:spPr>
        <p:txBody>
          <a:bodyPr wrap="none" rtlCol="0">
            <a:spAutoFit/>
          </a:bodyPr>
          <a:lstStyle/>
          <a:p>
            <a:r>
              <a:rPr lang="en-US" altLang="zh-CN" sz="2400" dirty="0" smtClean="0"/>
              <a:t>A</a:t>
            </a:r>
            <a:endParaRPr lang="zh-CN" altLang="en-US" sz="2400" dirty="0"/>
          </a:p>
        </p:txBody>
      </p:sp>
    </p:spTree>
    <p:extLst>
      <p:ext uri="{BB962C8B-B14F-4D97-AF65-F5344CB8AC3E}">
        <p14:creationId xmlns:p14="http://schemas.microsoft.com/office/powerpoint/2010/main" val="3906725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LSTM(Long Short-term Memory)</a:t>
            </a:r>
            <a:endParaRPr lang="zh-CN" altLang="en-US" dirty="0"/>
          </a:p>
        </p:txBody>
      </p:sp>
      <p:sp>
        <p:nvSpPr>
          <p:cNvPr id="3" name="内容占位符 2"/>
          <p:cNvSpPr>
            <a:spLocks noGrp="1"/>
          </p:cNvSpPr>
          <p:nvPr>
            <p:ph idx="1"/>
          </p:nvPr>
        </p:nvSpPr>
        <p:spPr/>
        <p:txBody>
          <a:bodyPr/>
          <a:lstStyle/>
          <a:p>
            <a:endParaRPr lang="zh-CN" altLang="en-US" dirty="0"/>
          </a:p>
        </p:txBody>
      </p:sp>
      <p:pic>
        <p:nvPicPr>
          <p:cNvPr id="19458" name="Picture 2" descr="https://img-blog.csdn.net/20180813152912440?watermark/2/text/aHR0cHM6Ly9ibG9nLmNzZG4ubmV0L3dlaXhpbl80MjQyMTAwMQ==/font/5a6L5L2T/fontsize/400/fill/I0JBQkFCMA==/dissolve/7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092127"/>
            <a:ext cx="11099801" cy="5652677"/>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p:cNvSpPr/>
          <p:nvPr/>
        </p:nvSpPr>
        <p:spPr>
          <a:xfrm>
            <a:off x="6292850" y="5493547"/>
            <a:ext cx="5562600" cy="1265235"/>
          </a:xfrm>
          <a:prstGeom prst="rect">
            <a:avLst/>
          </a:prstGeom>
          <a:ln>
            <a:solidFill>
              <a:schemeClr val="bg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a:p>
        </p:txBody>
      </p:sp>
      <p:sp>
        <p:nvSpPr>
          <p:cNvPr id="5" name="矩形 4"/>
          <p:cNvSpPr/>
          <p:nvPr/>
        </p:nvSpPr>
        <p:spPr>
          <a:xfrm>
            <a:off x="1981200" y="3733800"/>
            <a:ext cx="533400" cy="369332"/>
          </a:xfrm>
          <a:prstGeom prst="rect">
            <a:avLst/>
          </a:prstGeom>
        </p:spPr>
        <p:txBody>
          <a:bodyPr wrap="square">
            <a:spAutoFit/>
          </a:bodyPr>
          <a:lstStyle/>
          <a:p>
            <a:r>
              <a:rPr lang="en-US" altLang="zh-CN" i="1" dirty="0" err="1" smtClean="0">
                <a:solidFill>
                  <a:srgbClr val="2F2F2F"/>
                </a:solidFill>
                <a:latin typeface="-apple-system"/>
              </a:rPr>
              <a:t>f</a:t>
            </a:r>
            <a:r>
              <a:rPr lang="en-US" altLang="zh-CN" i="1" baseline="-25000" dirty="0" err="1" smtClean="0">
                <a:solidFill>
                  <a:srgbClr val="2F2F2F"/>
                </a:solidFill>
                <a:latin typeface="-apple-system"/>
              </a:rPr>
              <a:t>t</a:t>
            </a:r>
            <a:endParaRPr lang="zh-CN" altLang="en-US" i="1" baseline="-25000" dirty="0"/>
          </a:p>
        </p:txBody>
      </p:sp>
      <p:sp>
        <p:nvSpPr>
          <p:cNvPr id="7" name="矩形 6"/>
          <p:cNvSpPr/>
          <p:nvPr/>
        </p:nvSpPr>
        <p:spPr>
          <a:xfrm>
            <a:off x="2667000" y="3886200"/>
            <a:ext cx="533400" cy="369332"/>
          </a:xfrm>
          <a:prstGeom prst="rect">
            <a:avLst/>
          </a:prstGeom>
        </p:spPr>
        <p:txBody>
          <a:bodyPr wrap="square">
            <a:spAutoFit/>
          </a:bodyPr>
          <a:lstStyle/>
          <a:p>
            <a:r>
              <a:rPr lang="en-US" altLang="zh-CN" i="1" dirty="0" smtClean="0">
                <a:solidFill>
                  <a:srgbClr val="2F2F2F"/>
                </a:solidFill>
                <a:latin typeface="-apple-system"/>
              </a:rPr>
              <a:t>i</a:t>
            </a:r>
            <a:r>
              <a:rPr lang="en-US" altLang="zh-CN" i="1" baseline="-25000" dirty="0" smtClean="0">
                <a:solidFill>
                  <a:srgbClr val="2F2F2F"/>
                </a:solidFill>
                <a:latin typeface="-apple-system"/>
              </a:rPr>
              <a:t>t</a:t>
            </a:r>
            <a:endParaRPr lang="zh-CN" altLang="en-US" i="1" baseline="-25000" dirty="0"/>
          </a:p>
        </p:txBody>
      </p:sp>
      <p:sp>
        <p:nvSpPr>
          <p:cNvPr id="8" name="矩形 7"/>
          <p:cNvSpPr/>
          <p:nvPr/>
        </p:nvSpPr>
        <p:spPr>
          <a:xfrm>
            <a:off x="3708401" y="4050108"/>
            <a:ext cx="838200" cy="369332"/>
          </a:xfrm>
          <a:prstGeom prst="rect">
            <a:avLst/>
          </a:prstGeom>
        </p:spPr>
        <p:txBody>
          <a:bodyPr wrap="square">
            <a:spAutoFit/>
          </a:bodyPr>
          <a:lstStyle/>
          <a:p>
            <a:r>
              <a:rPr lang="en-US" altLang="zh-CN" i="1" dirty="0" smtClean="0">
                <a:solidFill>
                  <a:srgbClr val="2F2F2F"/>
                </a:solidFill>
                <a:latin typeface="-apple-system"/>
              </a:rPr>
              <a:t>~</a:t>
            </a:r>
            <a:r>
              <a:rPr lang="en-US" altLang="zh-CN" i="1" dirty="0" err="1" smtClean="0">
                <a:solidFill>
                  <a:srgbClr val="2F2F2F"/>
                </a:solidFill>
                <a:latin typeface="-apple-system"/>
              </a:rPr>
              <a:t>c</a:t>
            </a:r>
            <a:r>
              <a:rPr lang="en-US" altLang="zh-CN" i="1" baseline="-25000" dirty="0" err="1" smtClean="0">
                <a:solidFill>
                  <a:srgbClr val="2F2F2F"/>
                </a:solidFill>
                <a:latin typeface="-apple-system"/>
              </a:rPr>
              <a:t>t</a:t>
            </a:r>
            <a:endParaRPr lang="zh-CN" altLang="en-US" i="1" baseline="-25000" dirty="0"/>
          </a:p>
        </p:txBody>
      </p:sp>
      <p:sp>
        <p:nvSpPr>
          <p:cNvPr id="9" name="矩形 8"/>
          <p:cNvSpPr/>
          <p:nvPr/>
        </p:nvSpPr>
        <p:spPr>
          <a:xfrm>
            <a:off x="4267200" y="3733800"/>
            <a:ext cx="533400" cy="369332"/>
          </a:xfrm>
          <a:prstGeom prst="rect">
            <a:avLst/>
          </a:prstGeom>
        </p:spPr>
        <p:txBody>
          <a:bodyPr wrap="square">
            <a:spAutoFit/>
          </a:bodyPr>
          <a:lstStyle/>
          <a:p>
            <a:r>
              <a:rPr lang="en-US" altLang="zh-CN" i="1" dirty="0" err="1" smtClean="0">
                <a:solidFill>
                  <a:srgbClr val="2F2F2F"/>
                </a:solidFill>
                <a:latin typeface="-apple-system"/>
              </a:rPr>
              <a:t>o</a:t>
            </a:r>
            <a:r>
              <a:rPr lang="en-US" altLang="zh-CN" i="1" baseline="-25000" dirty="0" err="1" smtClean="0">
                <a:solidFill>
                  <a:srgbClr val="2F2F2F"/>
                </a:solidFill>
                <a:latin typeface="-apple-system"/>
              </a:rPr>
              <a:t>t</a:t>
            </a:r>
            <a:endParaRPr lang="zh-CN" altLang="en-US" i="1" baseline="-25000" dirty="0"/>
          </a:p>
        </p:txBody>
      </p:sp>
      <p:sp>
        <p:nvSpPr>
          <p:cNvPr id="6" name="矩形 5"/>
          <p:cNvSpPr/>
          <p:nvPr/>
        </p:nvSpPr>
        <p:spPr>
          <a:xfrm>
            <a:off x="533400" y="1718271"/>
            <a:ext cx="6096000" cy="923330"/>
          </a:xfrm>
          <a:prstGeom prst="rect">
            <a:avLst/>
          </a:prstGeom>
        </p:spPr>
        <p:txBody>
          <a:bodyPr>
            <a:spAutoFit/>
          </a:bodyPr>
          <a:lstStyle/>
          <a:p>
            <a:r>
              <a:rPr lang="en-US" altLang="zh-CN" i="1" dirty="0" err="1" smtClean="0">
                <a:latin typeface="Arial" panose="020B0604020202020204" pitchFamily="34" charset="0"/>
              </a:rPr>
              <a:t>c</a:t>
            </a:r>
            <a:r>
              <a:rPr lang="en-US" altLang="zh-CN" i="1" baseline="-25000" dirty="0" err="1" smtClean="0">
                <a:latin typeface="Arial" panose="020B0604020202020204" pitchFamily="34" charset="0"/>
              </a:rPr>
              <a:t>t</a:t>
            </a:r>
            <a:r>
              <a:rPr lang="en-US" altLang="zh-CN" i="1" baseline="-25000" dirty="0" smtClean="0">
                <a:latin typeface="Arial" panose="020B0604020202020204" pitchFamily="34" charset="0"/>
              </a:rPr>
              <a:t>–1</a:t>
            </a:r>
            <a:r>
              <a:rPr lang="en-US" altLang="zh-CN" dirty="0" smtClean="0">
                <a:latin typeface="Arial" panose="020B0604020202020204" pitchFamily="34" charset="0"/>
              </a:rPr>
              <a:t> </a:t>
            </a:r>
            <a:r>
              <a:rPr lang="zh-CN" altLang="en-US" dirty="0" smtClean="0">
                <a:latin typeface="Arial" panose="020B0604020202020204" pitchFamily="34" charset="0"/>
              </a:rPr>
              <a:t>：</a:t>
            </a:r>
            <a:r>
              <a:rPr lang="en-US" altLang="zh-CN" dirty="0" smtClean="0">
                <a:latin typeface="Arial" panose="020B0604020202020204" pitchFamily="34" charset="0"/>
              </a:rPr>
              <a:t>t-1</a:t>
            </a:r>
            <a:r>
              <a:rPr lang="zh-CN" altLang="en-US" dirty="0" smtClean="0">
                <a:latin typeface="Arial" panose="020B0604020202020204" pitchFamily="34" charset="0"/>
              </a:rPr>
              <a:t>时刻单元的中间状态</a:t>
            </a:r>
            <a:endParaRPr lang="en-US" altLang="zh-CN" dirty="0" smtClean="0">
              <a:latin typeface="Arial" panose="020B0604020202020204" pitchFamily="34" charset="0"/>
            </a:endParaRPr>
          </a:p>
          <a:p>
            <a:endParaRPr lang="en-US" altLang="zh-CN" dirty="0">
              <a:latin typeface="Arial" panose="020B0604020202020204" pitchFamily="34" charset="0"/>
            </a:endParaRPr>
          </a:p>
          <a:p>
            <a:r>
              <a:rPr lang="en-US" altLang="zh-CN" dirty="0" smtClean="0">
                <a:latin typeface="Arial" panose="020B0604020202020204" pitchFamily="34" charset="0"/>
              </a:rPr>
              <a:t> </a:t>
            </a:r>
            <a:r>
              <a:rPr lang="en-US" altLang="zh-CN" i="1" dirty="0" smtClean="0">
                <a:latin typeface="Arial" panose="020B0604020202020204" pitchFamily="34" charset="0"/>
              </a:rPr>
              <a:t>h</a:t>
            </a:r>
            <a:r>
              <a:rPr lang="en-US" altLang="zh-CN" i="1" baseline="-25000" dirty="0" smtClean="0">
                <a:latin typeface="Arial" panose="020B0604020202020204" pitchFamily="34" charset="0"/>
              </a:rPr>
              <a:t>t-1</a:t>
            </a:r>
            <a:r>
              <a:rPr lang="en-US" altLang="zh-CN" dirty="0" smtClean="0">
                <a:latin typeface="Arial" panose="020B0604020202020204" pitchFamily="34" charset="0"/>
              </a:rPr>
              <a:t> </a:t>
            </a:r>
            <a:r>
              <a:rPr lang="zh-CN" altLang="en-US" dirty="0" smtClean="0">
                <a:latin typeface="Arial" panose="020B0604020202020204" pitchFamily="34" charset="0"/>
              </a:rPr>
              <a:t>：</a:t>
            </a:r>
            <a:r>
              <a:rPr lang="en-US" altLang="zh-CN" dirty="0" smtClean="0">
                <a:latin typeface="Arial" panose="020B0604020202020204" pitchFamily="34" charset="0"/>
              </a:rPr>
              <a:t>t-1</a:t>
            </a:r>
            <a:r>
              <a:rPr lang="zh-CN" altLang="en-US" dirty="0" smtClean="0">
                <a:latin typeface="Arial" panose="020B0604020202020204" pitchFamily="34" charset="0"/>
              </a:rPr>
              <a:t>时刻</a:t>
            </a:r>
            <a:r>
              <a:rPr lang="zh-CN" altLang="en-US" dirty="0">
                <a:latin typeface="Arial" panose="020B0604020202020204" pitchFamily="34" charset="0"/>
              </a:rPr>
              <a:t>单元</a:t>
            </a:r>
            <a:r>
              <a:rPr lang="zh-CN" altLang="en-US" dirty="0" smtClean="0">
                <a:latin typeface="Arial" panose="020B0604020202020204" pitchFamily="34" charset="0"/>
              </a:rPr>
              <a:t>的输出</a:t>
            </a:r>
            <a:endParaRPr lang="zh-CN" altLang="en-US" dirty="0"/>
          </a:p>
        </p:txBody>
      </p:sp>
      <p:sp>
        <p:nvSpPr>
          <p:cNvPr id="10" name="矩形 9"/>
          <p:cNvSpPr/>
          <p:nvPr/>
        </p:nvSpPr>
        <p:spPr>
          <a:xfrm>
            <a:off x="6804025" y="4070866"/>
            <a:ext cx="3168650" cy="44013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9395886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3869989" y="1594509"/>
            <a:ext cx="4452022" cy="4487848"/>
            <a:chOff x="3872379" y="1383943"/>
            <a:chExt cx="4452022" cy="4487848"/>
          </a:xfrm>
        </p:grpSpPr>
        <p:sp>
          <p:nvSpPr>
            <p:cNvPr id="3" name="Freeform 5"/>
            <p:cNvSpPr>
              <a:spLocks/>
            </p:cNvSpPr>
            <p:nvPr/>
          </p:nvSpPr>
          <p:spPr bwMode="auto">
            <a:xfrm>
              <a:off x="3872379" y="1383943"/>
              <a:ext cx="2161524" cy="2161524"/>
            </a:xfrm>
            <a:custGeom>
              <a:avLst/>
              <a:gdLst/>
              <a:ahLst/>
              <a:cxnLst>
                <a:cxn ang="0">
                  <a:pos x="673" y="233"/>
                </a:cxn>
                <a:cxn ang="0">
                  <a:pos x="233" y="233"/>
                </a:cxn>
                <a:cxn ang="0">
                  <a:pos x="233" y="673"/>
                </a:cxn>
                <a:cxn ang="0">
                  <a:pos x="0" y="905"/>
                </a:cxn>
                <a:cxn ang="0">
                  <a:pos x="905" y="905"/>
                </a:cxn>
                <a:cxn ang="0">
                  <a:pos x="905" y="0"/>
                </a:cxn>
                <a:cxn ang="0">
                  <a:pos x="673" y="233"/>
                </a:cxn>
              </a:cxnLst>
              <a:rect l="0" t="0" r="r" b="b"/>
              <a:pathLst>
                <a:path w="905" h="905">
                  <a:moveTo>
                    <a:pt x="673" y="233"/>
                  </a:moveTo>
                  <a:lnTo>
                    <a:pt x="233" y="233"/>
                  </a:lnTo>
                  <a:lnTo>
                    <a:pt x="233" y="673"/>
                  </a:lnTo>
                  <a:lnTo>
                    <a:pt x="0" y="905"/>
                  </a:lnTo>
                  <a:lnTo>
                    <a:pt x="905" y="905"/>
                  </a:lnTo>
                  <a:lnTo>
                    <a:pt x="905" y="0"/>
                  </a:lnTo>
                  <a:lnTo>
                    <a:pt x="673" y="233"/>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4" name="Freeform 6"/>
            <p:cNvSpPr>
              <a:spLocks/>
            </p:cNvSpPr>
            <p:nvPr/>
          </p:nvSpPr>
          <p:spPr bwMode="auto">
            <a:xfrm>
              <a:off x="6162877" y="1383943"/>
              <a:ext cx="2161524" cy="2161524"/>
            </a:xfrm>
            <a:custGeom>
              <a:avLst/>
              <a:gdLst/>
              <a:ahLst/>
              <a:cxnLst>
                <a:cxn ang="0">
                  <a:pos x="672" y="673"/>
                </a:cxn>
                <a:cxn ang="0">
                  <a:pos x="672" y="233"/>
                </a:cxn>
                <a:cxn ang="0">
                  <a:pos x="232" y="233"/>
                </a:cxn>
                <a:cxn ang="0">
                  <a:pos x="0" y="0"/>
                </a:cxn>
                <a:cxn ang="0">
                  <a:pos x="0" y="905"/>
                </a:cxn>
                <a:cxn ang="0">
                  <a:pos x="905" y="905"/>
                </a:cxn>
                <a:cxn ang="0">
                  <a:pos x="672" y="673"/>
                </a:cxn>
              </a:cxnLst>
              <a:rect l="0" t="0" r="r" b="b"/>
              <a:pathLst>
                <a:path w="905" h="905">
                  <a:moveTo>
                    <a:pt x="672" y="673"/>
                  </a:moveTo>
                  <a:lnTo>
                    <a:pt x="672" y="233"/>
                  </a:lnTo>
                  <a:lnTo>
                    <a:pt x="232" y="233"/>
                  </a:lnTo>
                  <a:lnTo>
                    <a:pt x="0" y="0"/>
                  </a:lnTo>
                  <a:lnTo>
                    <a:pt x="0" y="905"/>
                  </a:lnTo>
                  <a:lnTo>
                    <a:pt x="905" y="905"/>
                  </a:lnTo>
                  <a:lnTo>
                    <a:pt x="672" y="673"/>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5" name="Freeform 7"/>
            <p:cNvSpPr>
              <a:spLocks/>
            </p:cNvSpPr>
            <p:nvPr/>
          </p:nvSpPr>
          <p:spPr bwMode="auto">
            <a:xfrm>
              <a:off x="3872379" y="3710267"/>
              <a:ext cx="2161524" cy="2161524"/>
            </a:xfrm>
            <a:custGeom>
              <a:avLst/>
              <a:gdLst/>
              <a:ahLst/>
              <a:cxnLst>
                <a:cxn ang="0">
                  <a:pos x="0" y="0"/>
                </a:cxn>
                <a:cxn ang="0">
                  <a:pos x="233" y="232"/>
                </a:cxn>
                <a:cxn ang="0">
                  <a:pos x="233" y="672"/>
                </a:cxn>
                <a:cxn ang="0">
                  <a:pos x="673" y="672"/>
                </a:cxn>
                <a:cxn ang="0">
                  <a:pos x="905" y="905"/>
                </a:cxn>
                <a:cxn ang="0">
                  <a:pos x="905" y="0"/>
                </a:cxn>
                <a:cxn ang="0">
                  <a:pos x="0" y="0"/>
                </a:cxn>
              </a:cxnLst>
              <a:rect l="0" t="0" r="r" b="b"/>
              <a:pathLst>
                <a:path w="905" h="905">
                  <a:moveTo>
                    <a:pt x="0" y="0"/>
                  </a:moveTo>
                  <a:lnTo>
                    <a:pt x="233" y="232"/>
                  </a:lnTo>
                  <a:lnTo>
                    <a:pt x="233" y="672"/>
                  </a:lnTo>
                  <a:lnTo>
                    <a:pt x="673" y="672"/>
                  </a:lnTo>
                  <a:lnTo>
                    <a:pt x="905" y="905"/>
                  </a:lnTo>
                  <a:lnTo>
                    <a:pt x="905" y="0"/>
                  </a:lnTo>
                  <a:lnTo>
                    <a:pt x="0" y="0"/>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6" name="Freeform 8"/>
            <p:cNvSpPr>
              <a:spLocks/>
            </p:cNvSpPr>
            <p:nvPr/>
          </p:nvSpPr>
          <p:spPr bwMode="auto">
            <a:xfrm>
              <a:off x="6162877" y="3710267"/>
              <a:ext cx="2161524" cy="2161524"/>
            </a:xfrm>
            <a:custGeom>
              <a:avLst/>
              <a:gdLst/>
              <a:ahLst/>
              <a:cxnLst>
                <a:cxn ang="0">
                  <a:pos x="0" y="0"/>
                </a:cxn>
                <a:cxn ang="0">
                  <a:pos x="0" y="905"/>
                </a:cxn>
                <a:cxn ang="0">
                  <a:pos x="232" y="672"/>
                </a:cxn>
                <a:cxn ang="0">
                  <a:pos x="672" y="672"/>
                </a:cxn>
                <a:cxn ang="0">
                  <a:pos x="672" y="232"/>
                </a:cxn>
                <a:cxn ang="0">
                  <a:pos x="905" y="0"/>
                </a:cxn>
                <a:cxn ang="0">
                  <a:pos x="0" y="0"/>
                </a:cxn>
              </a:cxnLst>
              <a:rect l="0" t="0" r="r" b="b"/>
              <a:pathLst>
                <a:path w="905" h="905">
                  <a:moveTo>
                    <a:pt x="0" y="0"/>
                  </a:moveTo>
                  <a:lnTo>
                    <a:pt x="0" y="905"/>
                  </a:lnTo>
                  <a:lnTo>
                    <a:pt x="232" y="672"/>
                  </a:lnTo>
                  <a:lnTo>
                    <a:pt x="672" y="672"/>
                  </a:lnTo>
                  <a:lnTo>
                    <a:pt x="672" y="232"/>
                  </a:lnTo>
                  <a:lnTo>
                    <a:pt x="905" y="0"/>
                  </a:lnTo>
                  <a:lnTo>
                    <a:pt x="0" y="0"/>
                  </a:lnTo>
                  <a:close/>
                </a:path>
              </a:pathLst>
            </a:custGeom>
            <a:solidFill>
              <a:srgbClr val="24569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nvGrpSpPr>
            <p:cNvPr id="7" name="Group 44"/>
            <p:cNvGrpSpPr/>
            <p:nvPr/>
          </p:nvGrpSpPr>
          <p:grpSpPr>
            <a:xfrm>
              <a:off x="4569798" y="4627422"/>
              <a:ext cx="527842" cy="535007"/>
              <a:chOff x="3557588" y="3654425"/>
              <a:chExt cx="350838" cy="355600"/>
            </a:xfrm>
          </p:grpSpPr>
          <p:sp>
            <p:nvSpPr>
              <p:cNvPr id="20" name="Freeform 9"/>
              <p:cNvSpPr>
                <a:spLocks noEditPoints="1"/>
              </p:cNvSpPr>
              <p:nvPr/>
            </p:nvSpPr>
            <p:spPr bwMode="auto">
              <a:xfrm>
                <a:off x="3619501" y="3654425"/>
                <a:ext cx="288925" cy="163513"/>
              </a:xfrm>
              <a:custGeom>
                <a:avLst/>
                <a:gdLst/>
                <a:ahLst/>
                <a:cxnLst>
                  <a:cxn ang="0">
                    <a:pos x="40" y="55"/>
                  </a:cxn>
                  <a:cxn ang="0">
                    <a:pos x="41" y="55"/>
                  </a:cxn>
                  <a:cxn ang="0">
                    <a:pos x="95" y="55"/>
                  </a:cxn>
                  <a:cxn ang="0">
                    <a:pos x="97" y="55"/>
                  </a:cxn>
                  <a:cxn ang="0">
                    <a:pos x="97" y="53"/>
                  </a:cxn>
                  <a:cxn ang="0">
                    <a:pos x="78" y="15"/>
                  </a:cxn>
                  <a:cxn ang="0">
                    <a:pos x="38" y="0"/>
                  </a:cxn>
                  <a:cxn ang="0">
                    <a:pos x="1" y="13"/>
                  </a:cxn>
                  <a:cxn ang="0">
                    <a:pos x="0" y="15"/>
                  </a:cxn>
                  <a:cxn ang="0">
                    <a:pos x="1" y="16"/>
                  </a:cxn>
                  <a:cxn ang="0">
                    <a:pos x="40" y="55"/>
                  </a:cxn>
                  <a:cxn ang="0">
                    <a:pos x="32" y="34"/>
                  </a:cxn>
                  <a:cxn ang="0">
                    <a:pos x="48" y="11"/>
                  </a:cxn>
                  <a:cxn ang="0">
                    <a:pos x="53" y="12"/>
                  </a:cxn>
                  <a:cxn ang="0">
                    <a:pos x="36" y="38"/>
                  </a:cxn>
                  <a:cxn ang="0">
                    <a:pos x="32" y="34"/>
                  </a:cxn>
                  <a:cxn ang="0">
                    <a:pos x="38" y="10"/>
                  </a:cxn>
                  <a:cxn ang="0">
                    <a:pos x="40" y="10"/>
                  </a:cxn>
                  <a:cxn ang="0">
                    <a:pos x="27" y="29"/>
                  </a:cxn>
                  <a:cxn ang="0">
                    <a:pos x="23" y="25"/>
                  </a:cxn>
                  <a:cxn ang="0">
                    <a:pos x="33" y="10"/>
                  </a:cxn>
                  <a:cxn ang="0">
                    <a:pos x="38" y="10"/>
                  </a:cxn>
                  <a:cxn ang="0">
                    <a:pos x="23" y="12"/>
                  </a:cxn>
                  <a:cxn ang="0">
                    <a:pos x="18" y="19"/>
                  </a:cxn>
                  <a:cxn ang="0">
                    <a:pos x="14" y="16"/>
                  </a:cxn>
                  <a:cxn ang="0">
                    <a:pos x="21" y="13"/>
                  </a:cxn>
                  <a:cxn ang="0">
                    <a:pos x="23" y="12"/>
                  </a:cxn>
                  <a:cxn ang="0">
                    <a:pos x="69" y="46"/>
                  </a:cxn>
                  <a:cxn ang="0">
                    <a:pos x="79" y="31"/>
                  </a:cxn>
                  <a:cxn ang="0">
                    <a:pos x="81" y="34"/>
                  </a:cxn>
                  <a:cxn ang="0">
                    <a:pos x="73" y="46"/>
                  </a:cxn>
                  <a:cxn ang="0">
                    <a:pos x="69" y="46"/>
                  </a:cxn>
                  <a:cxn ang="0">
                    <a:pos x="82" y="46"/>
                  </a:cxn>
                  <a:cxn ang="0">
                    <a:pos x="85" y="41"/>
                  </a:cxn>
                  <a:cxn ang="0">
                    <a:pos x="86" y="46"/>
                  </a:cxn>
                  <a:cxn ang="0">
                    <a:pos x="82" y="46"/>
                  </a:cxn>
                  <a:cxn ang="0">
                    <a:pos x="54" y="46"/>
                  </a:cxn>
                  <a:cxn ang="0">
                    <a:pos x="70" y="22"/>
                  </a:cxn>
                  <a:cxn ang="0">
                    <a:pos x="72" y="23"/>
                  </a:cxn>
                  <a:cxn ang="0">
                    <a:pos x="74" y="25"/>
                  </a:cxn>
                  <a:cxn ang="0">
                    <a:pos x="60" y="46"/>
                  </a:cxn>
                  <a:cxn ang="0">
                    <a:pos x="54" y="46"/>
                  </a:cxn>
                  <a:cxn ang="0">
                    <a:pos x="46" y="46"/>
                  </a:cxn>
                  <a:cxn ang="0">
                    <a:pos x="44" y="46"/>
                  </a:cxn>
                  <a:cxn ang="0">
                    <a:pos x="41" y="43"/>
                  </a:cxn>
                  <a:cxn ang="0">
                    <a:pos x="60" y="15"/>
                  </a:cxn>
                  <a:cxn ang="0">
                    <a:pos x="65" y="17"/>
                  </a:cxn>
                  <a:cxn ang="0">
                    <a:pos x="46" y="46"/>
                  </a:cxn>
                  <a:cxn ang="0">
                    <a:pos x="46" y="46"/>
                  </a:cxn>
                  <a:cxn ang="0">
                    <a:pos x="46" y="46"/>
                  </a:cxn>
                </a:cxnLst>
                <a:rect l="0" t="0" r="r" b="b"/>
                <a:pathLst>
                  <a:path w="97" h="55">
                    <a:moveTo>
                      <a:pt x="40" y="55"/>
                    </a:moveTo>
                    <a:cubicBezTo>
                      <a:pt x="40" y="55"/>
                      <a:pt x="40" y="55"/>
                      <a:pt x="41" y="55"/>
                    </a:cubicBezTo>
                    <a:cubicBezTo>
                      <a:pt x="95" y="55"/>
                      <a:pt x="95" y="55"/>
                      <a:pt x="95" y="55"/>
                    </a:cubicBezTo>
                    <a:cubicBezTo>
                      <a:pt x="96" y="55"/>
                      <a:pt x="96" y="55"/>
                      <a:pt x="97" y="55"/>
                    </a:cubicBezTo>
                    <a:cubicBezTo>
                      <a:pt x="97" y="54"/>
                      <a:pt x="97" y="54"/>
                      <a:pt x="97" y="53"/>
                    </a:cubicBezTo>
                    <a:cubicBezTo>
                      <a:pt x="96" y="39"/>
                      <a:pt x="89" y="25"/>
                      <a:pt x="78" y="15"/>
                    </a:cubicBezTo>
                    <a:cubicBezTo>
                      <a:pt x="67" y="6"/>
                      <a:pt x="53" y="0"/>
                      <a:pt x="38" y="0"/>
                    </a:cubicBezTo>
                    <a:cubicBezTo>
                      <a:pt x="25" y="0"/>
                      <a:pt x="12" y="5"/>
                      <a:pt x="1" y="13"/>
                    </a:cubicBezTo>
                    <a:cubicBezTo>
                      <a:pt x="1" y="14"/>
                      <a:pt x="0" y="14"/>
                      <a:pt x="0" y="15"/>
                    </a:cubicBezTo>
                    <a:cubicBezTo>
                      <a:pt x="0" y="15"/>
                      <a:pt x="1" y="16"/>
                      <a:pt x="1" y="16"/>
                    </a:cubicBezTo>
                    <a:lnTo>
                      <a:pt x="40" y="55"/>
                    </a:lnTo>
                    <a:close/>
                    <a:moveTo>
                      <a:pt x="32" y="34"/>
                    </a:moveTo>
                    <a:cubicBezTo>
                      <a:pt x="48" y="11"/>
                      <a:pt x="48" y="11"/>
                      <a:pt x="48" y="11"/>
                    </a:cubicBezTo>
                    <a:cubicBezTo>
                      <a:pt x="50" y="11"/>
                      <a:pt x="51" y="12"/>
                      <a:pt x="53" y="12"/>
                    </a:cubicBezTo>
                    <a:cubicBezTo>
                      <a:pt x="36" y="38"/>
                      <a:pt x="36" y="38"/>
                      <a:pt x="36" y="38"/>
                    </a:cubicBezTo>
                    <a:lnTo>
                      <a:pt x="32" y="34"/>
                    </a:lnTo>
                    <a:close/>
                    <a:moveTo>
                      <a:pt x="38" y="10"/>
                    </a:moveTo>
                    <a:cubicBezTo>
                      <a:pt x="39" y="10"/>
                      <a:pt x="39" y="10"/>
                      <a:pt x="40" y="10"/>
                    </a:cubicBezTo>
                    <a:cubicBezTo>
                      <a:pt x="27" y="29"/>
                      <a:pt x="27" y="29"/>
                      <a:pt x="27" y="29"/>
                    </a:cubicBezTo>
                    <a:cubicBezTo>
                      <a:pt x="23" y="25"/>
                      <a:pt x="23" y="25"/>
                      <a:pt x="23" y="25"/>
                    </a:cubicBezTo>
                    <a:cubicBezTo>
                      <a:pt x="33" y="10"/>
                      <a:pt x="33" y="10"/>
                      <a:pt x="33" y="10"/>
                    </a:cubicBezTo>
                    <a:cubicBezTo>
                      <a:pt x="35" y="10"/>
                      <a:pt x="37" y="10"/>
                      <a:pt x="38" y="10"/>
                    </a:cubicBezTo>
                    <a:close/>
                    <a:moveTo>
                      <a:pt x="23" y="12"/>
                    </a:moveTo>
                    <a:cubicBezTo>
                      <a:pt x="18" y="19"/>
                      <a:pt x="18" y="19"/>
                      <a:pt x="18" y="19"/>
                    </a:cubicBezTo>
                    <a:cubicBezTo>
                      <a:pt x="14" y="16"/>
                      <a:pt x="14" y="16"/>
                      <a:pt x="14" y="16"/>
                    </a:cubicBezTo>
                    <a:cubicBezTo>
                      <a:pt x="16" y="15"/>
                      <a:pt x="19" y="14"/>
                      <a:pt x="21" y="13"/>
                    </a:cubicBezTo>
                    <a:cubicBezTo>
                      <a:pt x="22" y="13"/>
                      <a:pt x="22" y="12"/>
                      <a:pt x="23" y="12"/>
                    </a:cubicBezTo>
                    <a:close/>
                    <a:moveTo>
                      <a:pt x="69" y="46"/>
                    </a:moveTo>
                    <a:cubicBezTo>
                      <a:pt x="79" y="31"/>
                      <a:pt x="79" y="31"/>
                      <a:pt x="79" y="31"/>
                    </a:cubicBezTo>
                    <a:cubicBezTo>
                      <a:pt x="80" y="32"/>
                      <a:pt x="80" y="33"/>
                      <a:pt x="81" y="34"/>
                    </a:cubicBezTo>
                    <a:cubicBezTo>
                      <a:pt x="73" y="46"/>
                      <a:pt x="73" y="46"/>
                      <a:pt x="73" y="46"/>
                    </a:cubicBezTo>
                    <a:lnTo>
                      <a:pt x="69" y="46"/>
                    </a:lnTo>
                    <a:close/>
                    <a:moveTo>
                      <a:pt x="82" y="46"/>
                    </a:moveTo>
                    <a:cubicBezTo>
                      <a:pt x="85" y="41"/>
                      <a:pt x="85" y="41"/>
                      <a:pt x="85" y="41"/>
                    </a:cubicBezTo>
                    <a:cubicBezTo>
                      <a:pt x="85" y="43"/>
                      <a:pt x="86" y="44"/>
                      <a:pt x="86" y="46"/>
                    </a:cubicBezTo>
                    <a:lnTo>
                      <a:pt x="82" y="46"/>
                    </a:lnTo>
                    <a:close/>
                    <a:moveTo>
                      <a:pt x="54" y="46"/>
                    </a:moveTo>
                    <a:cubicBezTo>
                      <a:pt x="70" y="22"/>
                      <a:pt x="70" y="22"/>
                      <a:pt x="70" y="22"/>
                    </a:cubicBezTo>
                    <a:cubicBezTo>
                      <a:pt x="71" y="22"/>
                      <a:pt x="71" y="22"/>
                      <a:pt x="72" y="23"/>
                    </a:cubicBezTo>
                    <a:cubicBezTo>
                      <a:pt x="73" y="24"/>
                      <a:pt x="73" y="24"/>
                      <a:pt x="74" y="25"/>
                    </a:cubicBezTo>
                    <a:cubicBezTo>
                      <a:pt x="60" y="46"/>
                      <a:pt x="60" y="46"/>
                      <a:pt x="60" y="46"/>
                    </a:cubicBezTo>
                    <a:lnTo>
                      <a:pt x="54" y="46"/>
                    </a:lnTo>
                    <a:close/>
                    <a:moveTo>
                      <a:pt x="46" y="46"/>
                    </a:moveTo>
                    <a:cubicBezTo>
                      <a:pt x="44" y="46"/>
                      <a:pt x="44" y="46"/>
                      <a:pt x="44" y="46"/>
                    </a:cubicBezTo>
                    <a:cubicBezTo>
                      <a:pt x="41" y="43"/>
                      <a:pt x="41" y="43"/>
                      <a:pt x="41" y="43"/>
                    </a:cubicBezTo>
                    <a:cubicBezTo>
                      <a:pt x="60" y="15"/>
                      <a:pt x="60" y="15"/>
                      <a:pt x="60" y="15"/>
                    </a:cubicBezTo>
                    <a:cubicBezTo>
                      <a:pt x="62" y="16"/>
                      <a:pt x="63" y="16"/>
                      <a:pt x="65" y="17"/>
                    </a:cubicBezTo>
                    <a:lnTo>
                      <a:pt x="46" y="46"/>
                    </a:lnTo>
                    <a:close/>
                    <a:moveTo>
                      <a:pt x="46" y="46"/>
                    </a:moveTo>
                    <a:cubicBezTo>
                      <a:pt x="46" y="46"/>
                      <a:pt x="46" y="46"/>
                      <a:pt x="46" y="4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1" name="Freeform 10"/>
              <p:cNvSpPr>
                <a:spLocks noEditPoints="1"/>
              </p:cNvSpPr>
              <p:nvPr/>
            </p:nvSpPr>
            <p:spPr bwMode="auto">
              <a:xfrm>
                <a:off x="3557588" y="3719513"/>
                <a:ext cx="157163" cy="254000"/>
              </a:xfrm>
              <a:custGeom>
                <a:avLst/>
                <a:gdLst/>
                <a:ahLst/>
                <a:cxnLst>
                  <a:cxn ang="0">
                    <a:pos x="53" y="37"/>
                  </a:cxn>
                  <a:cxn ang="0">
                    <a:pos x="16" y="0"/>
                  </a:cxn>
                  <a:cxn ang="0">
                    <a:pos x="14" y="0"/>
                  </a:cxn>
                  <a:cxn ang="0">
                    <a:pos x="13" y="0"/>
                  </a:cxn>
                  <a:cxn ang="0">
                    <a:pos x="0" y="38"/>
                  </a:cxn>
                  <a:cxn ang="0">
                    <a:pos x="23" y="85"/>
                  </a:cxn>
                  <a:cxn ang="0">
                    <a:pos x="24" y="85"/>
                  </a:cxn>
                  <a:cxn ang="0">
                    <a:pos x="24" y="85"/>
                  </a:cxn>
                  <a:cxn ang="0">
                    <a:pos x="26" y="84"/>
                  </a:cxn>
                  <a:cxn ang="0">
                    <a:pos x="53" y="40"/>
                  </a:cxn>
                  <a:cxn ang="0">
                    <a:pos x="53" y="37"/>
                  </a:cxn>
                  <a:cxn ang="0">
                    <a:pos x="42" y="40"/>
                  </a:cxn>
                  <a:cxn ang="0">
                    <a:pos x="22" y="71"/>
                  </a:cxn>
                  <a:cxn ang="0">
                    <a:pos x="15" y="60"/>
                  </a:cxn>
                  <a:cxn ang="0">
                    <a:pos x="9" y="38"/>
                  </a:cxn>
                  <a:cxn ang="0">
                    <a:pos x="12" y="20"/>
                  </a:cxn>
                  <a:cxn ang="0">
                    <a:pos x="16" y="14"/>
                  </a:cxn>
                  <a:cxn ang="0">
                    <a:pos x="42" y="40"/>
                  </a:cxn>
                  <a:cxn ang="0">
                    <a:pos x="42" y="40"/>
                  </a:cxn>
                  <a:cxn ang="0">
                    <a:pos x="42" y="40"/>
                  </a:cxn>
                </a:cxnLst>
                <a:rect l="0" t="0" r="r" b="b"/>
                <a:pathLst>
                  <a:path w="53" h="85">
                    <a:moveTo>
                      <a:pt x="53" y="37"/>
                    </a:moveTo>
                    <a:cubicBezTo>
                      <a:pt x="16" y="0"/>
                      <a:pt x="16" y="0"/>
                      <a:pt x="16" y="0"/>
                    </a:cubicBezTo>
                    <a:cubicBezTo>
                      <a:pt x="15" y="0"/>
                      <a:pt x="15" y="0"/>
                      <a:pt x="14" y="0"/>
                    </a:cubicBezTo>
                    <a:cubicBezTo>
                      <a:pt x="14" y="0"/>
                      <a:pt x="13" y="0"/>
                      <a:pt x="13" y="0"/>
                    </a:cubicBezTo>
                    <a:cubicBezTo>
                      <a:pt x="5" y="11"/>
                      <a:pt x="0" y="24"/>
                      <a:pt x="0" y="38"/>
                    </a:cubicBezTo>
                    <a:cubicBezTo>
                      <a:pt x="0" y="56"/>
                      <a:pt x="8" y="73"/>
                      <a:pt x="23" y="85"/>
                    </a:cubicBezTo>
                    <a:cubicBezTo>
                      <a:pt x="23" y="85"/>
                      <a:pt x="24" y="85"/>
                      <a:pt x="24" y="85"/>
                    </a:cubicBezTo>
                    <a:cubicBezTo>
                      <a:pt x="24" y="85"/>
                      <a:pt x="24" y="85"/>
                      <a:pt x="24" y="85"/>
                    </a:cubicBezTo>
                    <a:cubicBezTo>
                      <a:pt x="25" y="85"/>
                      <a:pt x="25" y="85"/>
                      <a:pt x="26" y="84"/>
                    </a:cubicBezTo>
                    <a:cubicBezTo>
                      <a:pt x="53" y="40"/>
                      <a:pt x="53" y="40"/>
                      <a:pt x="53" y="40"/>
                    </a:cubicBezTo>
                    <a:cubicBezTo>
                      <a:pt x="53" y="39"/>
                      <a:pt x="53" y="38"/>
                      <a:pt x="53" y="37"/>
                    </a:cubicBezTo>
                    <a:close/>
                    <a:moveTo>
                      <a:pt x="42" y="40"/>
                    </a:moveTo>
                    <a:cubicBezTo>
                      <a:pt x="22" y="71"/>
                      <a:pt x="22" y="71"/>
                      <a:pt x="22" y="71"/>
                    </a:cubicBezTo>
                    <a:cubicBezTo>
                      <a:pt x="19" y="68"/>
                      <a:pt x="17" y="64"/>
                      <a:pt x="15" y="60"/>
                    </a:cubicBezTo>
                    <a:cubicBezTo>
                      <a:pt x="11" y="53"/>
                      <a:pt x="9" y="46"/>
                      <a:pt x="9" y="38"/>
                    </a:cubicBezTo>
                    <a:cubicBezTo>
                      <a:pt x="9" y="32"/>
                      <a:pt x="10" y="26"/>
                      <a:pt x="12" y="20"/>
                    </a:cubicBezTo>
                    <a:cubicBezTo>
                      <a:pt x="13" y="18"/>
                      <a:pt x="14" y="16"/>
                      <a:pt x="16" y="14"/>
                    </a:cubicBezTo>
                    <a:lnTo>
                      <a:pt x="42" y="40"/>
                    </a:lnTo>
                    <a:close/>
                    <a:moveTo>
                      <a:pt x="42" y="40"/>
                    </a:moveTo>
                    <a:cubicBezTo>
                      <a:pt x="42" y="40"/>
                      <a:pt x="42" y="40"/>
                      <a:pt x="42" y="4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22" name="Freeform 11"/>
              <p:cNvSpPr>
                <a:spLocks noEditPoints="1"/>
              </p:cNvSpPr>
              <p:nvPr/>
            </p:nvSpPr>
            <p:spPr bwMode="auto">
              <a:xfrm>
                <a:off x="3656013" y="3844925"/>
                <a:ext cx="252413" cy="165100"/>
              </a:xfrm>
              <a:custGeom>
                <a:avLst/>
                <a:gdLst/>
                <a:ahLst/>
                <a:cxnLst>
                  <a:cxn ang="0">
                    <a:pos x="83" y="0"/>
                  </a:cxn>
                  <a:cxn ang="0">
                    <a:pos x="30" y="0"/>
                  </a:cxn>
                  <a:cxn ang="0">
                    <a:pos x="28" y="1"/>
                  </a:cxn>
                  <a:cxn ang="0">
                    <a:pos x="0" y="47"/>
                  </a:cxn>
                  <a:cxn ang="0">
                    <a:pos x="0" y="48"/>
                  </a:cxn>
                  <a:cxn ang="0">
                    <a:pos x="1" y="49"/>
                  </a:cxn>
                  <a:cxn ang="0">
                    <a:pos x="26" y="55"/>
                  </a:cxn>
                  <a:cxn ang="0">
                    <a:pos x="66" y="40"/>
                  </a:cxn>
                  <a:cxn ang="0">
                    <a:pos x="85" y="2"/>
                  </a:cxn>
                  <a:cxn ang="0">
                    <a:pos x="85" y="1"/>
                  </a:cxn>
                  <a:cxn ang="0">
                    <a:pos x="83" y="0"/>
                  </a:cxn>
                  <a:cxn ang="0">
                    <a:pos x="83" y="0"/>
                  </a:cxn>
                  <a:cxn ang="0">
                    <a:pos x="83" y="0"/>
                  </a:cxn>
                </a:cxnLst>
                <a:rect l="0" t="0" r="r" b="b"/>
                <a:pathLst>
                  <a:path w="85" h="55">
                    <a:moveTo>
                      <a:pt x="83" y="0"/>
                    </a:moveTo>
                    <a:cubicBezTo>
                      <a:pt x="30" y="0"/>
                      <a:pt x="30" y="0"/>
                      <a:pt x="30" y="0"/>
                    </a:cubicBezTo>
                    <a:cubicBezTo>
                      <a:pt x="29" y="0"/>
                      <a:pt x="29" y="0"/>
                      <a:pt x="28" y="1"/>
                    </a:cubicBezTo>
                    <a:cubicBezTo>
                      <a:pt x="0" y="47"/>
                      <a:pt x="0" y="47"/>
                      <a:pt x="0" y="47"/>
                    </a:cubicBezTo>
                    <a:cubicBezTo>
                      <a:pt x="0" y="47"/>
                      <a:pt x="0" y="48"/>
                      <a:pt x="0" y="48"/>
                    </a:cubicBezTo>
                    <a:cubicBezTo>
                      <a:pt x="0" y="49"/>
                      <a:pt x="0" y="49"/>
                      <a:pt x="1" y="49"/>
                    </a:cubicBezTo>
                    <a:cubicBezTo>
                      <a:pt x="9" y="53"/>
                      <a:pt x="17" y="55"/>
                      <a:pt x="26" y="55"/>
                    </a:cubicBezTo>
                    <a:cubicBezTo>
                      <a:pt x="41" y="55"/>
                      <a:pt x="55" y="50"/>
                      <a:pt x="66" y="40"/>
                    </a:cubicBezTo>
                    <a:cubicBezTo>
                      <a:pt x="77" y="30"/>
                      <a:pt x="84" y="17"/>
                      <a:pt x="85" y="2"/>
                    </a:cubicBezTo>
                    <a:cubicBezTo>
                      <a:pt x="85" y="2"/>
                      <a:pt x="85" y="1"/>
                      <a:pt x="85" y="1"/>
                    </a:cubicBezTo>
                    <a:cubicBezTo>
                      <a:pt x="84" y="0"/>
                      <a:pt x="84" y="0"/>
                      <a:pt x="83" y="0"/>
                    </a:cubicBezTo>
                    <a:close/>
                    <a:moveTo>
                      <a:pt x="83" y="0"/>
                    </a:moveTo>
                    <a:cubicBezTo>
                      <a:pt x="83" y="0"/>
                      <a:pt x="83" y="0"/>
                      <a:pt x="83" y="0"/>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8" name="Group 48"/>
            <p:cNvGrpSpPr/>
            <p:nvPr/>
          </p:nvGrpSpPr>
          <p:grpSpPr>
            <a:xfrm>
              <a:off x="7025097" y="2098082"/>
              <a:ext cx="606660" cy="539784"/>
              <a:chOff x="5189538" y="1973263"/>
              <a:chExt cx="403225" cy="358775"/>
            </a:xfrm>
          </p:grpSpPr>
          <p:sp>
            <p:nvSpPr>
              <p:cNvPr id="18" name="Freeform 12"/>
              <p:cNvSpPr>
                <a:spLocks noEditPoints="1"/>
              </p:cNvSpPr>
              <p:nvPr/>
            </p:nvSpPr>
            <p:spPr bwMode="auto">
              <a:xfrm>
                <a:off x="5310188" y="1973263"/>
                <a:ext cx="282575" cy="260350"/>
              </a:xfrm>
              <a:custGeom>
                <a:avLst/>
                <a:gdLst/>
                <a:ahLst/>
                <a:cxnLst>
                  <a:cxn ang="0">
                    <a:pos x="3" y="23"/>
                  </a:cxn>
                  <a:cxn ang="0">
                    <a:pos x="13" y="25"/>
                  </a:cxn>
                  <a:cxn ang="0">
                    <a:pos x="54" y="33"/>
                  </a:cxn>
                  <a:cxn ang="0">
                    <a:pos x="65" y="55"/>
                  </a:cxn>
                  <a:cxn ang="0">
                    <a:pos x="61" y="52"/>
                  </a:cxn>
                  <a:cxn ang="0">
                    <a:pos x="56" y="52"/>
                  </a:cxn>
                  <a:cxn ang="0">
                    <a:pos x="55" y="57"/>
                  </a:cxn>
                  <a:cxn ang="0">
                    <a:pos x="65" y="85"/>
                  </a:cxn>
                  <a:cxn ang="0">
                    <a:pos x="68" y="87"/>
                  </a:cxn>
                  <a:cxn ang="0">
                    <a:pos x="72" y="86"/>
                  </a:cxn>
                  <a:cxn ang="0">
                    <a:pos x="93" y="65"/>
                  </a:cxn>
                  <a:cxn ang="0">
                    <a:pos x="94" y="60"/>
                  </a:cxn>
                  <a:cxn ang="0">
                    <a:pos x="90" y="58"/>
                  </a:cxn>
                  <a:cxn ang="0">
                    <a:pos x="83" y="60"/>
                  </a:cxn>
                  <a:cxn ang="0">
                    <a:pos x="67" y="21"/>
                  </a:cxn>
                  <a:cxn ang="0">
                    <a:pos x="6" y="9"/>
                  </a:cxn>
                  <a:cxn ang="0">
                    <a:pos x="1" y="15"/>
                  </a:cxn>
                  <a:cxn ang="0">
                    <a:pos x="3" y="23"/>
                  </a:cxn>
                  <a:cxn ang="0">
                    <a:pos x="3" y="23"/>
                  </a:cxn>
                  <a:cxn ang="0">
                    <a:pos x="3" y="23"/>
                  </a:cxn>
                </a:cxnLst>
                <a:rect l="0" t="0" r="r" b="b"/>
                <a:pathLst>
                  <a:path w="95" h="87">
                    <a:moveTo>
                      <a:pt x="3" y="23"/>
                    </a:moveTo>
                    <a:cubicBezTo>
                      <a:pt x="6" y="26"/>
                      <a:pt x="10" y="27"/>
                      <a:pt x="13" y="25"/>
                    </a:cubicBezTo>
                    <a:cubicBezTo>
                      <a:pt x="27" y="20"/>
                      <a:pt x="43" y="22"/>
                      <a:pt x="54" y="33"/>
                    </a:cubicBezTo>
                    <a:cubicBezTo>
                      <a:pt x="60" y="39"/>
                      <a:pt x="64" y="47"/>
                      <a:pt x="65" y="55"/>
                    </a:cubicBezTo>
                    <a:cubicBezTo>
                      <a:pt x="61" y="52"/>
                      <a:pt x="61" y="52"/>
                      <a:pt x="61" y="52"/>
                    </a:cubicBezTo>
                    <a:cubicBezTo>
                      <a:pt x="59" y="51"/>
                      <a:pt x="57" y="51"/>
                      <a:pt x="56" y="52"/>
                    </a:cubicBezTo>
                    <a:cubicBezTo>
                      <a:pt x="55" y="53"/>
                      <a:pt x="54" y="55"/>
                      <a:pt x="55" y="57"/>
                    </a:cubicBezTo>
                    <a:cubicBezTo>
                      <a:pt x="65" y="85"/>
                      <a:pt x="65" y="85"/>
                      <a:pt x="65" y="85"/>
                    </a:cubicBezTo>
                    <a:cubicBezTo>
                      <a:pt x="66" y="86"/>
                      <a:pt x="67" y="87"/>
                      <a:pt x="68" y="87"/>
                    </a:cubicBezTo>
                    <a:cubicBezTo>
                      <a:pt x="69" y="87"/>
                      <a:pt x="71" y="87"/>
                      <a:pt x="72" y="86"/>
                    </a:cubicBezTo>
                    <a:cubicBezTo>
                      <a:pt x="93" y="65"/>
                      <a:pt x="93" y="65"/>
                      <a:pt x="93" y="65"/>
                    </a:cubicBezTo>
                    <a:cubicBezTo>
                      <a:pt x="94" y="64"/>
                      <a:pt x="95" y="62"/>
                      <a:pt x="94" y="60"/>
                    </a:cubicBezTo>
                    <a:cubicBezTo>
                      <a:pt x="93" y="59"/>
                      <a:pt x="91" y="58"/>
                      <a:pt x="90" y="58"/>
                    </a:cubicBezTo>
                    <a:cubicBezTo>
                      <a:pt x="83" y="60"/>
                      <a:pt x="83" y="60"/>
                      <a:pt x="83" y="60"/>
                    </a:cubicBezTo>
                    <a:cubicBezTo>
                      <a:pt x="83" y="46"/>
                      <a:pt x="77" y="31"/>
                      <a:pt x="67" y="21"/>
                    </a:cubicBezTo>
                    <a:cubicBezTo>
                      <a:pt x="50" y="4"/>
                      <a:pt x="26" y="0"/>
                      <a:pt x="6" y="9"/>
                    </a:cubicBezTo>
                    <a:cubicBezTo>
                      <a:pt x="4" y="10"/>
                      <a:pt x="1" y="12"/>
                      <a:pt x="1" y="15"/>
                    </a:cubicBezTo>
                    <a:cubicBezTo>
                      <a:pt x="0" y="18"/>
                      <a:pt x="1" y="21"/>
                      <a:pt x="3" y="23"/>
                    </a:cubicBezTo>
                    <a:close/>
                    <a:moveTo>
                      <a:pt x="3" y="23"/>
                    </a:moveTo>
                    <a:cubicBezTo>
                      <a:pt x="3" y="23"/>
                      <a:pt x="3" y="23"/>
                      <a:pt x="3" y="23"/>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9" name="Freeform 13"/>
              <p:cNvSpPr>
                <a:spLocks noEditPoints="1"/>
              </p:cNvSpPr>
              <p:nvPr/>
            </p:nvSpPr>
            <p:spPr bwMode="auto">
              <a:xfrm>
                <a:off x="5189538" y="2071688"/>
                <a:ext cx="280988" cy="260350"/>
              </a:xfrm>
              <a:custGeom>
                <a:avLst/>
                <a:gdLst/>
                <a:ahLst/>
                <a:cxnLst>
                  <a:cxn ang="0">
                    <a:pos x="94" y="72"/>
                  </a:cxn>
                  <a:cxn ang="0">
                    <a:pos x="91" y="64"/>
                  </a:cxn>
                  <a:cxn ang="0">
                    <a:pos x="82" y="62"/>
                  </a:cxn>
                  <a:cxn ang="0">
                    <a:pos x="41" y="54"/>
                  </a:cxn>
                  <a:cxn ang="0">
                    <a:pos x="30" y="32"/>
                  </a:cxn>
                  <a:cxn ang="0">
                    <a:pos x="34" y="35"/>
                  </a:cxn>
                  <a:cxn ang="0">
                    <a:pos x="39" y="35"/>
                  </a:cxn>
                  <a:cxn ang="0">
                    <a:pos x="40" y="31"/>
                  </a:cxn>
                  <a:cxn ang="0">
                    <a:pos x="29" y="2"/>
                  </a:cxn>
                  <a:cxn ang="0">
                    <a:pos x="26" y="0"/>
                  </a:cxn>
                  <a:cxn ang="0">
                    <a:pos x="23" y="1"/>
                  </a:cxn>
                  <a:cxn ang="0">
                    <a:pos x="1" y="22"/>
                  </a:cxn>
                  <a:cxn ang="0">
                    <a:pos x="1" y="27"/>
                  </a:cxn>
                  <a:cxn ang="0">
                    <a:pos x="5" y="29"/>
                  </a:cxn>
                  <a:cxn ang="0">
                    <a:pos x="12" y="28"/>
                  </a:cxn>
                  <a:cxn ang="0">
                    <a:pos x="28" y="66"/>
                  </a:cxn>
                  <a:cxn ang="0">
                    <a:pos x="88" y="79"/>
                  </a:cxn>
                  <a:cxn ang="0">
                    <a:pos x="94" y="72"/>
                  </a:cxn>
                  <a:cxn ang="0">
                    <a:pos x="94" y="72"/>
                  </a:cxn>
                  <a:cxn ang="0">
                    <a:pos x="94" y="72"/>
                  </a:cxn>
                </a:cxnLst>
                <a:rect l="0" t="0" r="r" b="b"/>
                <a:pathLst>
                  <a:path w="94" h="87">
                    <a:moveTo>
                      <a:pt x="94" y="72"/>
                    </a:moveTo>
                    <a:cubicBezTo>
                      <a:pt x="94" y="69"/>
                      <a:pt x="93" y="66"/>
                      <a:pt x="91" y="64"/>
                    </a:cubicBezTo>
                    <a:cubicBezTo>
                      <a:pt x="89" y="61"/>
                      <a:pt x="85" y="61"/>
                      <a:pt x="82" y="62"/>
                    </a:cubicBezTo>
                    <a:cubicBezTo>
                      <a:pt x="68" y="68"/>
                      <a:pt x="52" y="65"/>
                      <a:pt x="41" y="54"/>
                    </a:cubicBezTo>
                    <a:cubicBezTo>
                      <a:pt x="34" y="48"/>
                      <a:pt x="31" y="40"/>
                      <a:pt x="30" y="32"/>
                    </a:cubicBezTo>
                    <a:cubicBezTo>
                      <a:pt x="34" y="35"/>
                      <a:pt x="34" y="35"/>
                      <a:pt x="34" y="35"/>
                    </a:cubicBezTo>
                    <a:cubicBezTo>
                      <a:pt x="35" y="36"/>
                      <a:pt x="37" y="36"/>
                      <a:pt x="39" y="35"/>
                    </a:cubicBezTo>
                    <a:cubicBezTo>
                      <a:pt x="40" y="34"/>
                      <a:pt x="41" y="32"/>
                      <a:pt x="40" y="31"/>
                    </a:cubicBezTo>
                    <a:cubicBezTo>
                      <a:pt x="29" y="2"/>
                      <a:pt x="29" y="2"/>
                      <a:pt x="29" y="2"/>
                    </a:cubicBezTo>
                    <a:cubicBezTo>
                      <a:pt x="29" y="1"/>
                      <a:pt x="28" y="0"/>
                      <a:pt x="26" y="0"/>
                    </a:cubicBezTo>
                    <a:cubicBezTo>
                      <a:pt x="25" y="0"/>
                      <a:pt x="24" y="0"/>
                      <a:pt x="23" y="1"/>
                    </a:cubicBezTo>
                    <a:cubicBezTo>
                      <a:pt x="1" y="22"/>
                      <a:pt x="1" y="22"/>
                      <a:pt x="1" y="22"/>
                    </a:cubicBezTo>
                    <a:cubicBezTo>
                      <a:pt x="0" y="24"/>
                      <a:pt x="0" y="25"/>
                      <a:pt x="1" y="27"/>
                    </a:cubicBezTo>
                    <a:cubicBezTo>
                      <a:pt x="2" y="28"/>
                      <a:pt x="3" y="29"/>
                      <a:pt x="5" y="29"/>
                    </a:cubicBezTo>
                    <a:cubicBezTo>
                      <a:pt x="12" y="28"/>
                      <a:pt x="12" y="28"/>
                      <a:pt x="12" y="28"/>
                    </a:cubicBezTo>
                    <a:cubicBezTo>
                      <a:pt x="12" y="42"/>
                      <a:pt x="17" y="56"/>
                      <a:pt x="28" y="66"/>
                    </a:cubicBezTo>
                    <a:cubicBezTo>
                      <a:pt x="44" y="83"/>
                      <a:pt x="68" y="87"/>
                      <a:pt x="88" y="79"/>
                    </a:cubicBezTo>
                    <a:cubicBezTo>
                      <a:pt x="91" y="77"/>
                      <a:pt x="93" y="75"/>
                      <a:pt x="94" y="72"/>
                    </a:cubicBezTo>
                    <a:close/>
                    <a:moveTo>
                      <a:pt x="94" y="72"/>
                    </a:moveTo>
                    <a:cubicBezTo>
                      <a:pt x="94" y="72"/>
                      <a:pt x="94" y="72"/>
                      <a:pt x="94" y="72"/>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grpSp>
          <p:nvGrpSpPr>
            <p:cNvPr id="9" name="Group 51"/>
            <p:cNvGrpSpPr/>
            <p:nvPr/>
          </p:nvGrpSpPr>
          <p:grpSpPr>
            <a:xfrm>
              <a:off x="6984495" y="4601150"/>
              <a:ext cx="599495" cy="587552"/>
              <a:chOff x="5162551" y="3636963"/>
              <a:chExt cx="398463" cy="390525"/>
            </a:xfrm>
          </p:grpSpPr>
          <p:sp>
            <p:nvSpPr>
              <p:cNvPr id="15" name="Freeform 14"/>
              <p:cNvSpPr>
                <a:spLocks noEditPoints="1"/>
              </p:cNvSpPr>
              <p:nvPr/>
            </p:nvSpPr>
            <p:spPr bwMode="auto">
              <a:xfrm>
                <a:off x="5162551" y="3636963"/>
                <a:ext cx="233363" cy="234950"/>
              </a:xfrm>
              <a:custGeom>
                <a:avLst/>
                <a:gdLst/>
                <a:ahLst/>
                <a:cxnLst>
                  <a:cxn ang="0">
                    <a:pos x="9" y="48"/>
                  </a:cxn>
                  <a:cxn ang="0">
                    <a:pos x="12" y="55"/>
                  </a:cxn>
                  <a:cxn ang="0">
                    <a:pos x="8" y="59"/>
                  </a:cxn>
                  <a:cxn ang="0">
                    <a:pos x="8" y="64"/>
                  </a:cxn>
                  <a:cxn ang="0">
                    <a:pos x="14" y="70"/>
                  </a:cxn>
                  <a:cxn ang="0">
                    <a:pos x="19" y="70"/>
                  </a:cxn>
                  <a:cxn ang="0">
                    <a:pos x="23" y="67"/>
                  </a:cxn>
                  <a:cxn ang="0">
                    <a:pos x="31" y="70"/>
                  </a:cxn>
                  <a:cxn ang="0">
                    <a:pos x="31" y="75"/>
                  </a:cxn>
                  <a:cxn ang="0">
                    <a:pos x="35" y="79"/>
                  </a:cxn>
                  <a:cxn ang="0">
                    <a:pos x="43" y="79"/>
                  </a:cxn>
                  <a:cxn ang="0">
                    <a:pos x="47" y="75"/>
                  </a:cxn>
                  <a:cxn ang="0">
                    <a:pos x="47" y="70"/>
                  </a:cxn>
                  <a:cxn ang="0">
                    <a:pos x="55" y="67"/>
                  </a:cxn>
                  <a:cxn ang="0">
                    <a:pos x="59" y="70"/>
                  </a:cxn>
                  <a:cxn ang="0">
                    <a:pos x="64" y="70"/>
                  </a:cxn>
                  <a:cxn ang="0">
                    <a:pos x="70" y="64"/>
                  </a:cxn>
                  <a:cxn ang="0">
                    <a:pos x="70" y="59"/>
                  </a:cxn>
                  <a:cxn ang="0">
                    <a:pos x="67" y="55"/>
                  </a:cxn>
                  <a:cxn ang="0">
                    <a:pos x="70" y="48"/>
                  </a:cxn>
                  <a:cxn ang="0">
                    <a:pos x="75" y="47"/>
                  </a:cxn>
                  <a:cxn ang="0">
                    <a:pos x="78" y="43"/>
                  </a:cxn>
                  <a:cxn ang="0">
                    <a:pos x="78" y="35"/>
                  </a:cxn>
                  <a:cxn ang="0">
                    <a:pos x="75" y="31"/>
                  </a:cxn>
                  <a:cxn ang="0">
                    <a:pos x="70" y="31"/>
                  </a:cxn>
                  <a:cxn ang="0">
                    <a:pos x="67" y="23"/>
                  </a:cxn>
                  <a:cxn ang="0">
                    <a:pos x="70" y="20"/>
                  </a:cxn>
                  <a:cxn ang="0">
                    <a:pos x="70" y="15"/>
                  </a:cxn>
                  <a:cxn ang="0">
                    <a:pos x="64" y="9"/>
                  </a:cxn>
                  <a:cxn ang="0">
                    <a:pos x="59" y="8"/>
                  </a:cxn>
                  <a:cxn ang="0">
                    <a:pos x="56" y="11"/>
                  </a:cxn>
                  <a:cxn ang="0">
                    <a:pos x="48" y="8"/>
                  </a:cxn>
                  <a:cxn ang="0">
                    <a:pos x="47" y="3"/>
                  </a:cxn>
                  <a:cxn ang="0">
                    <a:pos x="44" y="0"/>
                  </a:cxn>
                  <a:cxn ang="0">
                    <a:pos x="35" y="0"/>
                  </a:cxn>
                  <a:cxn ang="0">
                    <a:pos x="32" y="3"/>
                  </a:cxn>
                  <a:cxn ang="0">
                    <a:pos x="31" y="8"/>
                  </a:cxn>
                  <a:cxn ang="0">
                    <a:pos x="23" y="12"/>
                  </a:cxn>
                  <a:cxn ang="0">
                    <a:pos x="19" y="8"/>
                  </a:cxn>
                  <a:cxn ang="0">
                    <a:pos x="14" y="9"/>
                  </a:cxn>
                  <a:cxn ang="0">
                    <a:pos x="8" y="15"/>
                  </a:cxn>
                  <a:cxn ang="0">
                    <a:pos x="8" y="20"/>
                  </a:cxn>
                  <a:cxn ang="0">
                    <a:pos x="11" y="24"/>
                  </a:cxn>
                  <a:cxn ang="0">
                    <a:pos x="8" y="31"/>
                  </a:cxn>
                  <a:cxn ang="0">
                    <a:pos x="3" y="32"/>
                  </a:cxn>
                  <a:cxn ang="0">
                    <a:pos x="0" y="35"/>
                  </a:cxn>
                  <a:cxn ang="0">
                    <a:pos x="0" y="44"/>
                  </a:cxn>
                  <a:cxn ang="0">
                    <a:pos x="3" y="47"/>
                  </a:cxn>
                  <a:cxn ang="0">
                    <a:pos x="9" y="48"/>
                  </a:cxn>
                  <a:cxn ang="0">
                    <a:pos x="39" y="25"/>
                  </a:cxn>
                  <a:cxn ang="0">
                    <a:pos x="53" y="39"/>
                  </a:cxn>
                  <a:cxn ang="0">
                    <a:pos x="39" y="53"/>
                  </a:cxn>
                  <a:cxn ang="0">
                    <a:pos x="25" y="39"/>
                  </a:cxn>
                  <a:cxn ang="0">
                    <a:pos x="39" y="25"/>
                  </a:cxn>
                  <a:cxn ang="0">
                    <a:pos x="39" y="25"/>
                  </a:cxn>
                  <a:cxn ang="0">
                    <a:pos x="39" y="25"/>
                  </a:cxn>
                </a:cxnLst>
                <a:rect l="0" t="0" r="r" b="b"/>
                <a:pathLst>
                  <a:path w="78" h="79">
                    <a:moveTo>
                      <a:pt x="9" y="48"/>
                    </a:moveTo>
                    <a:cubicBezTo>
                      <a:pt x="9" y="50"/>
                      <a:pt x="10" y="53"/>
                      <a:pt x="12" y="55"/>
                    </a:cubicBezTo>
                    <a:cubicBezTo>
                      <a:pt x="8" y="59"/>
                      <a:pt x="8" y="59"/>
                      <a:pt x="8" y="59"/>
                    </a:cubicBezTo>
                    <a:cubicBezTo>
                      <a:pt x="7" y="61"/>
                      <a:pt x="7" y="63"/>
                      <a:pt x="8" y="64"/>
                    </a:cubicBezTo>
                    <a:cubicBezTo>
                      <a:pt x="14" y="70"/>
                      <a:pt x="14" y="70"/>
                      <a:pt x="14" y="70"/>
                    </a:cubicBezTo>
                    <a:cubicBezTo>
                      <a:pt x="16" y="71"/>
                      <a:pt x="18" y="71"/>
                      <a:pt x="19" y="70"/>
                    </a:cubicBezTo>
                    <a:cubicBezTo>
                      <a:pt x="23" y="67"/>
                      <a:pt x="23" y="67"/>
                      <a:pt x="23" y="67"/>
                    </a:cubicBezTo>
                    <a:cubicBezTo>
                      <a:pt x="26" y="68"/>
                      <a:pt x="28" y="69"/>
                      <a:pt x="31" y="70"/>
                    </a:cubicBezTo>
                    <a:cubicBezTo>
                      <a:pt x="31" y="75"/>
                      <a:pt x="31" y="75"/>
                      <a:pt x="31" y="75"/>
                    </a:cubicBezTo>
                    <a:cubicBezTo>
                      <a:pt x="31" y="77"/>
                      <a:pt x="33" y="79"/>
                      <a:pt x="35" y="79"/>
                    </a:cubicBezTo>
                    <a:cubicBezTo>
                      <a:pt x="43" y="79"/>
                      <a:pt x="43" y="79"/>
                      <a:pt x="43" y="79"/>
                    </a:cubicBezTo>
                    <a:cubicBezTo>
                      <a:pt x="45" y="79"/>
                      <a:pt x="47" y="77"/>
                      <a:pt x="47" y="75"/>
                    </a:cubicBezTo>
                    <a:cubicBezTo>
                      <a:pt x="47" y="70"/>
                      <a:pt x="47" y="70"/>
                      <a:pt x="47" y="70"/>
                    </a:cubicBezTo>
                    <a:cubicBezTo>
                      <a:pt x="50" y="69"/>
                      <a:pt x="53" y="68"/>
                      <a:pt x="55" y="67"/>
                    </a:cubicBezTo>
                    <a:cubicBezTo>
                      <a:pt x="59" y="70"/>
                      <a:pt x="59" y="70"/>
                      <a:pt x="59" y="70"/>
                    </a:cubicBezTo>
                    <a:cubicBezTo>
                      <a:pt x="61" y="71"/>
                      <a:pt x="63" y="71"/>
                      <a:pt x="64" y="70"/>
                    </a:cubicBezTo>
                    <a:cubicBezTo>
                      <a:pt x="70" y="64"/>
                      <a:pt x="70" y="64"/>
                      <a:pt x="70" y="64"/>
                    </a:cubicBezTo>
                    <a:cubicBezTo>
                      <a:pt x="71" y="63"/>
                      <a:pt x="71" y="61"/>
                      <a:pt x="70" y="59"/>
                    </a:cubicBezTo>
                    <a:cubicBezTo>
                      <a:pt x="67" y="55"/>
                      <a:pt x="67" y="55"/>
                      <a:pt x="67" y="55"/>
                    </a:cubicBezTo>
                    <a:cubicBezTo>
                      <a:pt x="68" y="53"/>
                      <a:pt x="70" y="50"/>
                      <a:pt x="70" y="48"/>
                    </a:cubicBezTo>
                    <a:cubicBezTo>
                      <a:pt x="75" y="47"/>
                      <a:pt x="75" y="47"/>
                      <a:pt x="75" y="47"/>
                    </a:cubicBezTo>
                    <a:cubicBezTo>
                      <a:pt x="77" y="47"/>
                      <a:pt x="78" y="45"/>
                      <a:pt x="78" y="43"/>
                    </a:cubicBezTo>
                    <a:cubicBezTo>
                      <a:pt x="78" y="35"/>
                      <a:pt x="78" y="35"/>
                      <a:pt x="78" y="35"/>
                    </a:cubicBezTo>
                    <a:cubicBezTo>
                      <a:pt x="78" y="33"/>
                      <a:pt x="77" y="32"/>
                      <a:pt x="75" y="31"/>
                    </a:cubicBezTo>
                    <a:cubicBezTo>
                      <a:pt x="70" y="31"/>
                      <a:pt x="70" y="31"/>
                      <a:pt x="70" y="31"/>
                    </a:cubicBezTo>
                    <a:cubicBezTo>
                      <a:pt x="70" y="28"/>
                      <a:pt x="69" y="26"/>
                      <a:pt x="67" y="23"/>
                    </a:cubicBezTo>
                    <a:cubicBezTo>
                      <a:pt x="70" y="20"/>
                      <a:pt x="70" y="20"/>
                      <a:pt x="70" y="20"/>
                    </a:cubicBezTo>
                    <a:cubicBezTo>
                      <a:pt x="71" y="18"/>
                      <a:pt x="71" y="16"/>
                      <a:pt x="70" y="15"/>
                    </a:cubicBezTo>
                    <a:cubicBezTo>
                      <a:pt x="64" y="9"/>
                      <a:pt x="64" y="9"/>
                      <a:pt x="64" y="9"/>
                    </a:cubicBezTo>
                    <a:cubicBezTo>
                      <a:pt x="63" y="7"/>
                      <a:pt x="61" y="7"/>
                      <a:pt x="59" y="8"/>
                    </a:cubicBezTo>
                    <a:cubicBezTo>
                      <a:pt x="56" y="11"/>
                      <a:pt x="56" y="11"/>
                      <a:pt x="56" y="11"/>
                    </a:cubicBezTo>
                    <a:cubicBezTo>
                      <a:pt x="53" y="10"/>
                      <a:pt x="51" y="9"/>
                      <a:pt x="48" y="8"/>
                    </a:cubicBezTo>
                    <a:cubicBezTo>
                      <a:pt x="47" y="3"/>
                      <a:pt x="47" y="3"/>
                      <a:pt x="47" y="3"/>
                    </a:cubicBezTo>
                    <a:cubicBezTo>
                      <a:pt x="47" y="2"/>
                      <a:pt x="45" y="0"/>
                      <a:pt x="44" y="0"/>
                    </a:cubicBezTo>
                    <a:cubicBezTo>
                      <a:pt x="35" y="0"/>
                      <a:pt x="35" y="0"/>
                      <a:pt x="35" y="0"/>
                    </a:cubicBezTo>
                    <a:cubicBezTo>
                      <a:pt x="33" y="0"/>
                      <a:pt x="32" y="2"/>
                      <a:pt x="32" y="3"/>
                    </a:cubicBezTo>
                    <a:cubicBezTo>
                      <a:pt x="31" y="8"/>
                      <a:pt x="31" y="8"/>
                      <a:pt x="31" y="8"/>
                    </a:cubicBezTo>
                    <a:cubicBezTo>
                      <a:pt x="28" y="9"/>
                      <a:pt x="26" y="10"/>
                      <a:pt x="23" y="12"/>
                    </a:cubicBezTo>
                    <a:cubicBezTo>
                      <a:pt x="19" y="8"/>
                      <a:pt x="19" y="8"/>
                      <a:pt x="19" y="8"/>
                    </a:cubicBezTo>
                    <a:cubicBezTo>
                      <a:pt x="18" y="7"/>
                      <a:pt x="16" y="7"/>
                      <a:pt x="14" y="9"/>
                    </a:cubicBezTo>
                    <a:cubicBezTo>
                      <a:pt x="8" y="15"/>
                      <a:pt x="8" y="15"/>
                      <a:pt x="8" y="15"/>
                    </a:cubicBezTo>
                    <a:cubicBezTo>
                      <a:pt x="7" y="16"/>
                      <a:pt x="7" y="18"/>
                      <a:pt x="8" y="20"/>
                    </a:cubicBezTo>
                    <a:cubicBezTo>
                      <a:pt x="11" y="24"/>
                      <a:pt x="11" y="24"/>
                      <a:pt x="11" y="24"/>
                    </a:cubicBezTo>
                    <a:cubicBezTo>
                      <a:pt x="10" y="26"/>
                      <a:pt x="9" y="29"/>
                      <a:pt x="8" y="31"/>
                    </a:cubicBezTo>
                    <a:cubicBezTo>
                      <a:pt x="3" y="32"/>
                      <a:pt x="3" y="32"/>
                      <a:pt x="3" y="32"/>
                    </a:cubicBezTo>
                    <a:cubicBezTo>
                      <a:pt x="1" y="32"/>
                      <a:pt x="0" y="33"/>
                      <a:pt x="0" y="35"/>
                    </a:cubicBezTo>
                    <a:cubicBezTo>
                      <a:pt x="0" y="44"/>
                      <a:pt x="0" y="44"/>
                      <a:pt x="0" y="44"/>
                    </a:cubicBezTo>
                    <a:cubicBezTo>
                      <a:pt x="0" y="46"/>
                      <a:pt x="1" y="47"/>
                      <a:pt x="3" y="47"/>
                    </a:cubicBezTo>
                    <a:lnTo>
                      <a:pt x="9" y="48"/>
                    </a:lnTo>
                    <a:close/>
                    <a:moveTo>
                      <a:pt x="39" y="25"/>
                    </a:moveTo>
                    <a:cubicBezTo>
                      <a:pt x="47" y="25"/>
                      <a:pt x="53" y="31"/>
                      <a:pt x="53" y="39"/>
                    </a:cubicBezTo>
                    <a:cubicBezTo>
                      <a:pt x="53" y="47"/>
                      <a:pt x="47" y="53"/>
                      <a:pt x="39" y="53"/>
                    </a:cubicBezTo>
                    <a:cubicBezTo>
                      <a:pt x="32" y="53"/>
                      <a:pt x="25" y="47"/>
                      <a:pt x="25" y="39"/>
                    </a:cubicBezTo>
                    <a:cubicBezTo>
                      <a:pt x="25" y="31"/>
                      <a:pt x="32" y="25"/>
                      <a:pt x="39" y="25"/>
                    </a:cubicBezTo>
                    <a:close/>
                    <a:moveTo>
                      <a:pt x="39" y="25"/>
                    </a:moveTo>
                    <a:cubicBezTo>
                      <a:pt x="39" y="25"/>
                      <a:pt x="39" y="25"/>
                      <a:pt x="39" y="25"/>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6" name="Freeform 15"/>
              <p:cNvSpPr>
                <a:spLocks noEditPoints="1"/>
              </p:cNvSpPr>
              <p:nvPr/>
            </p:nvSpPr>
            <p:spPr bwMode="auto">
              <a:xfrm>
                <a:off x="5365751" y="3756025"/>
                <a:ext cx="195263" cy="193675"/>
              </a:xfrm>
              <a:custGeom>
                <a:avLst/>
                <a:gdLst/>
                <a:ahLst/>
                <a:cxnLst>
                  <a:cxn ang="0">
                    <a:pos x="55" y="10"/>
                  </a:cxn>
                  <a:cxn ang="0">
                    <a:pos x="51" y="6"/>
                  </a:cxn>
                  <a:cxn ang="0">
                    <a:pos x="46" y="6"/>
                  </a:cxn>
                  <a:cxn ang="0">
                    <a:pos x="44" y="9"/>
                  </a:cxn>
                  <a:cxn ang="0">
                    <a:pos x="37" y="7"/>
                  </a:cxn>
                  <a:cxn ang="0">
                    <a:pos x="36" y="3"/>
                  </a:cxn>
                  <a:cxn ang="0">
                    <a:pos x="32" y="0"/>
                  </a:cxn>
                  <a:cxn ang="0">
                    <a:pos x="27" y="1"/>
                  </a:cxn>
                  <a:cxn ang="0">
                    <a:pos x="23" y="4"/>
                  </a:cxn>
                  <a:cxn ang="0">
                    <a:pos x="23" y="8"/>
                  </a:cxn>
                  <a:cxn ang="0">
                    <a:pos x="17" y="11"/>
                  </a:cxn>
                  <a:cxn ang="0">
                    <a:pos x="14" y="9"/>
                  </a:cxn>
                  <a:cxn ang="0">
                    <a:pos x="9" y="10"/>
                  </a:cxn>
                  <a:cxn ang="0">
                    <a:pos x="6" y="14"/>
                  </a:cxn>
                  <a:cxn ang="0">
                    <a:pos x="6" y="19"/>
                  </a:cxn>
                  <a:cxn ang="0">
                    <a:pos x="8" y="22"/>
                  </a:cxn>
                  <a:cxn ang="0">
                    <a:pos x="6" y="28"/>
                  </a:cxn>
                  <a:cxn ang="0">
                    <a:pos x="3" y="29"/>
                  </a:cxn>
                  <a:cxn ang="0">
                    <a:pos x="0" y="33"/>
                  </a:cxn>
                  <a:cxn ang="0">
                    <a:pos x="0" y="38"/>
                  </a:cxn>
                  <a:cxn ang="0">
                    <a:pos x="4" y="42"/>
                  </a:cxn>
                  <a:cxn ang="0">
                    <a:pos x="8" y="42"/>
                  </a:cxn>
                  <a:cxn ang="0">
                    <a:pos x="11" y="47"/>
                  </a:cxn>
                  <a:cxn ang="0">
                    <a:pos x="8" y="51"/>
                  </a:cxn>
                  <a:cxn ang="0">
                    <a:pos x="9" y="55"/>
                  </a:cxn>
                  <a:cxn ang="0">
                    <a:pos x="14" y="59"/>
                  </a:cxn>
                  <a:cxn ang="0">
                    <a:pos x="18" y="59"/>
                  </a:cxn>
                  <a:cxn ang="0">
                    <a:pos x="21" y="56"/>
                  </a:cxn>
                  <a:cxn ang="0">
                    <a:pos x="27" y="58"/>
                  </a:cxn>
                  <a:cxn ang="0">
                    <a:pos x="28" y="62"/>
                  </a:cxn>
                  <a:cxn ang="0">
                    <a:pos x="32" y="65"/>
                  </a:cxn>
                  <a:cxn ang="0">
                    <a:pos x="38" y="64"/>
                  </a:cxn>
                  <a:cxn ang="0">
                    <a:pos x="41" y="61"/>
                  </a:cxn>
                  <a:cxn ang="0">
                    <a:pos x="41" y="57"/>
                  </a:cxn>
                  <a:cxn ang="0">
                    <a:pos x="47" y="54"/>
                  </a:cxn>
                  <a:cxn ang="0">
                    <a:pos x="50" y="56"/>
                  </a:cxn>
                  <a:cxn ang="0">
                    <a:pos x="55" y="56"/>
                  </a:cxn>
                  <a:cxn ang="0">
                    <a:pos x="59" y="51"/>
                  </a:cxn>
                  <a:cxn ang="0">
                    <a:pos x="59" y="46"/>
                  </a:cxn>
                  <a:cxn ang="0">
                    <a:pos x="56" y="44"/>
                  </a:cxn>
                  <a:cxn ang="0">
                    <a:pos x="58" y="37"/>
                  </a:cxn>
                  <a:cxn ang="0">
                    <a:pos x="62" y="37"/>
                  </a:cxn>
                  <a:cxn ang="0">
                    <a:pos x="64" y="33"/>
                  </a:cxn>
                  <a:cxn ang="0">
                    <a:pos x="64" y="27"/>
                  </a:cxn>
                  <a:cxn ang="0">
                    <a:pos x="60" y="24"/>
                  </a:cxn>
                  <a:cxn ang="0">
                    <a:pos x="57" y="24"/>
                  </a:cxn>
                  <a:cxn ang="0">
                    <a:pos x="54" y="18"/>
                  </a:cxn>
                  <a:cxn ang="0">
                    <a:pos x="56" y="15"/>
                  </a:cxn>
                  <a:cxn ang="0">
                    <a:pos x="55" y="10"/>
                  </a:cxn>
                  <a:cxn ang="0">
                    <a:pos x="33" y="44"/>
                  </a:cxn>
                  <a:cxn ang="0">
                    <a:pos x="21" y="33"/>
                  </a:cxn>
                  <a:cxn ang="0">
                    <a:pos x="31" y="21"/>
                  </a:cxn>
                  <a:cxn ang="0">
                    <a:pos x="44" y="31"/>
                  </a:cxn>
                  <a:cxn ang="0">
                    <a:pos x="33" y="44"/>
                  </a:cxn>
                  <a:cxn ang="0">
                    <a:pos x="33" y="44"/>
                  </a:cxn>
                  <a:cxn ang="0">
                    <a:pos x="33" y="44"/>
                  </a:cxn>
                </a:cxnLst>
                <a:rect l="0" t="0" r="r" b="b"/>
                <a:pathLst>
                  <a:path w="65" h="65">
                    <a:moveTo>
                      <a:pt x="55" y="10"/>
                    </a:moveTo>
                    <a:cubicBezTo>
                      <a:pt x="51" y="6"/>
                      <a:pt x="51" y="6"/>
                      <a:pt x="51" y="6"/>
                    </a:cubicBezTo>
                    <a:cubicBezTo>
                      <a:pt x="49" y="5"/>
                      <a:pt x="47" y="5"/>
                      <a:pt x="46" y="6"/>
                    </a:cubicBezTo>
                    <a:cubicBezTo>
                      <a:pt x="44" y="9"/>
                      <a:pt x="44" y="9"/>
                      <a:pt x="44" y="9"/>
                    </a:cubicBezTo>
                    <a:cubicBezTo>
                      <a:pt x="41" y="8"/>
                      <a:pt x="39" y="7"/>
                      <a:pt x="37" y="7"/>
                    </a:cubicBezTo>
                    <a:cubicBezTo>
                      <a:pt x="36" y="3"/>
                      <a:pt x="36" y="3"/>
                      <a:pt x="36" y="3"/>
                    </a:cubicBezTo>
                    <a:cubicBezTo>
                      <a:pt x="36" y="1"/>
                      <a:pt x="34" y="0"/>
                      <a:pt x="32" y="0"/>
                    </a:cubicBezTo>
                    <a:cubicBezTo>
                      <a:pt x="27" y="1"/>
                      <a:pt x="27" y="1"/>
                      <a:pt x="27" y="1"/>
                    </a:cubicBezTo>
                    <a:cubicBezTo>
                      <a:pt x="25" y="1"/>
                      <a:pt x="23" y="2"/>
                      <a:pt x="23" y="4"/>
                    </a:cubicBezTo>
                    <a:cubicBezTo>
                      <a:pt x="23" y="8"/>
                      <a:pt x="23" y="8"/>
                      <a:pt x="23" y="8"/>
                    </a:cubicBezTo>
                    <a:cubicBezTo>
                      <a:pt x="21" y="9"/>
                      <a:pt x="19" y="10"/>
                      <a:pt x="17" y="11"/>
                    </a:cubicBezTo>
                    <a:cubicBezTo>
                      <a:pt x="14" y="9"/>
                      <a:pt x="14" y="9"/>
                      <a:pt x="14" y="9"/>
                    </a:cubicBezTo>
                    <a:cubicBezTo>
                      <a:pt x="13" y="8"/>
                      <a:pt x="11" y="8"/>
                      <a:pt x="9" y="10"/>
                    </a:cubicBezTo>
                    <a:cubicBezTo>
                      <a:pt x="6" y="14"/>
                      <a:pt x="6" y="14"/>
                      <a:pt x="6" y="14"/>
                    </a:cubicBezTo>
                    <a:cubicBezTo>
                      <a:pt x="4" y="16"/>
                      <a:pt x="4" y="18"/>
                      <a:pt x="6" y="19"/>
                    </a:cubicBezTo>
                    <a:cubicBezTo>
                      <a:pt x="8" y="22"/>
                      <a:pt x="8" y="22"/>
                      <a:pt x="8" y="22"/>
                    </a:cubicBezTo>
                    <a:cubicBezTo>
                      <a:pt x="7" y="24"/>
                      <a:pt x="7" y="26"/>
                      <a:pt x="6" y="28"/>
                    </a:cubicBezTo>
                    <a:cubicBezTo>
                      <a:pt x="3" y="29"/>
                      <a:pt x="3" y="29"/>
                      <a:pt x="3" y="29"/>
                    </a:cubicBezTo>
                    <a:cubicBezTo>
                      <a:pt x="1" y="29"/>
                      <a:pt x="0" y="31"/>
                      <a:pt x="0" y="33"/>
                    </a:cubicBezTo>
                    <a:cubicBezTo>
                      <a:pt x="0" y="38"/>
                      <a:pt x="0" y="38"/>
                      <a:pt x="0" y="38"/>
                    </a:cubicBezTo>
                    <a:cubicBezTo>
                      <a:pt x="1" y="40"/>
                      <a:pt x="2" y="42"/>
                      <a:pt x="4" y="42"/>
                    </a:cubicBezTo>
                    <a:cubicBezTo>
                      <a:pt x="8" y="42"/>
                      <a:pt x="8" y="42"/>
                      <a:pt x="8" y="42"/>
                    </a:cubicBezTo>
                    <a:cubicBezTo>
                      <a:pt x="9" y="44"/>
                      <a:pt x="9" y="45"/>
                      <a:pt x="11" y="47"/>
                    </a:cubicBezTo>
                    <a:cubicBezTo>
                      <a:pt x="8" y="51"/>
                      <a:pt x="8" y="51"/>
                      <a:pt x="8" y="51"/>
                    </a:cubicBezTo>
                    <a:cubicBezTo>
                      <a:pt x="7" y="52"/>
                      <a:pt x="8" y="54"/>
                      <a:pt x="9" y="55"/>
                    </a:cubicBezTo>
                    <a:cubicBezTo>
                      <a:pt x="14" y="59"/>
                      <a:pt x="14" y="59"/>
                      <a:pt x="14" y="59"/>
                    </a:cubicBezTo>
                    <a:cubicBezTo>
                      <a:pt x="15" y="60"/>
                      <a:pt x="17" y="60"/>
                      <a:pt x="18" y="59"/>
                    </a:cubicBezTo>
                    <a:cubicBezTo>
                      <a:pt x="21" y="56"/>
                      <a:pt x="21" y="56"/>
                      <a:pt x="21" y="56"/>
                    </a:cubicBezTo>
                    <a:cubicBezTo>
                      <a:pt x="23" y="57"/>
                      <a:pt x="25" y="58"/>
                      <a:pt x="27" y="58"/>
                    </a:cubicBezTo>
                    <a:cubicBezTo>
                      <a:pt x="28" y="62"/>
                      <a:pt x="28" y="62"/>
                      <a:pt x="28" y="62"/>
                    </a:cubicBezTo>
                    <a:cubicBezTo>
                      <a:pt x="28" y="64"/>
                      <a:pt x="30" y="65"/>
                      <a:pt x="32" y="65"/>
                    </a:cubicBezTo>
                    <a:cubicBezTo>
                      <a:pt x="38" y="64"/>
                      <a:pt x="38" y="64"/>
                      <a:pt x="38" y="64"/>
                    </a:cubicBezTo>
                    <a:cubicBezTo>
                      <a:pt x="39" y="64"/>
                      <a:pt x="41" y="63"/>
                      <a:pt x="41" y="61"/>
                    </a:cubicBezTo>
                    <a:cubicBezTo>
                      <a:pt x="41" y="57"/>
                      <a:pt x="41" y="57"/>
                      <a:pt x="41" y="57"/>
                    </a:cubicBezTo>
                    <a:cubicBezTo>
                      <a:pt x="43" y="56"/>
                      <a:pt x="45" y="55"/>
                      <a:pt x="47" y="54"/>
                    </a:cubicBezTo>
                    <a:cubicBezTo>
                      <a:pt x="50" y="56"/>
                      <a:pt x="50" y="56"/>
                      <a:pt x="50" y="56"/>
                    </a:cubicBezTo>
                    <a:cubicBezTo>
                      <a:pt x="52" y="57"/>
                      <a:pt x="54" y="57"/>
                      <a:pt x="55" y="56"/>
                    </a:cubicBezTo>
                    <a:cubicBezTo>
                      <a:pt x="59" y="51"/>
                      <a:pt x="59" y="51"/>
                      <a:pt x="59" y="51"/>
                    </a:cubicBezTo>
                    <a:cubicBezTo>
                      <a:pt x="60" y="50"/>
                      <a:pt x="60" y="48"/>
                      <a:pt x="59" y="46"/>
                    </a:cubicBezTo>
                    <a:cubicBezTo>
                      <a:pt x="56" y="44"/>
                      <a:pt x="56" y="44"/>
                      <a:pt x="56" y="44"/>
                    </a:cubicBezTo>
                    <a:cubicBezTo>
                      <a:pt x="57" y="42"/>
                      <a:pt x="58" y="39"/>
                      <a:pt x="58" y="37"/>
                    </a:cubicBezTo>
                    <a:cubicBezTo>
                      <a:pt x="62" y="37"/>
                      <a:pt x="62" y="37"/>
                      <a:pt x="62" y="37"/>
                    </a:cubicBezTo>
                    <a:cubicBezTo>
                      <a:pt x="63" y="36"/>
                      <a:pt x="65" y="35"/>
                      <a:pt x="64" y="33"/>
                    </a:cubicBezTo>
                    <a:cubicBezTo>
                      <a:pt x="64" y="27"/>
                      <a:pt x="64" y="27"/>
                      <a:pt x="64" y="27"/>
                    </a:cubicBezTo>
                    <a:cubicBezTo>
                      <a:pt x="64" y="25"/>
                      <a:pt x="62" y="24"/>
                      <a:pt x="60" y="24"/>
                    </a:cubicBezTo>
                    <a:cubicBezTo>
                      <a:pt x="57" y="24"/>
                      <a:pt x="57" y="24"/>
                      <a:pt x="57" y="24"/>
                    </a:cubicBezTo>
                    <a:cubicBezTo>
                      <a:pt x="56" y="21"/>
                      <a:pt x="55" y="20"/>
                      <a:pt x="54" y="18"/>
                    </a:cubicBezTo>
                    <a:cubicBezTo>
                      <a:pt x="56" y="15"/>
                      <a:pt x="56" y="15"/>
                      <a:pt x="56" y="15"/>
                    </a:cubicBezTo>
                    <a:cubicBezTo>
                      <a:pt x="57" y="13"/>
                      <a:pt x="57" y="11"/>
                      <a:pt x="55" y="10"/>
                    </a:cubicBezTo>
                    <a:close/>
                    <a:moveTo>
                      <a:pt x="33" y="44"/>
                    </a:moveTo>
                    <a:cubicBezTo>
                      <a:pt x="27" y="44"/>
                      <a:pt x="21" y="40"/>
                      <a:pt x="21" y="33"/>
                    </a:cubicBezTo>
                    <a:cubicBezTo>
                      <a:pt x="20" y="27"/>
                      <a:pt x="25" y="21"/>
                      <a:pt x="31" y="21"/>
                    </a:cubicBezTo>
                    <a:cubicBezTo>
                      <a:pt x="38" y="20"/>
                      <a:pt x="43" y="25"/>
                      <a:pt x="44" y="31"/>
                    </a:cubicBezTo>
                    <a:cubicBezTo>
                      <a:pt x="44" y="38"/>
                      <a:pt x="40" y="43"/>
                      <a:pt x="33" y="44"/>
                    </a:cubicBezTo>
                    <a:close/>
                    <a:moveTo>
                      <a:pt x="33" y="44"/>
                    </a:moveTo>
                    <a:cubicBezTo>
                      <a:pt x="33" y="44"/>
                      <a:pt x="33" y="44"/>
                      <a:pt x="33" y="44"/>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7" name="Freeform 16"/>
              <p:cNvSpPr>
                <a:spLocks noEditPoints="1"/>
              </p:cNvSpPr>
              <p:nvPr/>
            </p:nvSpPr>
            <p:spPr bwMode="auto">
              <a:xfrm>
                <a:off x="5240338" y="3871913"/>
                <a:ext cx="155575" cy="155575"/>
              </a:xfrm>
              <a:custGeom>
                <a:avLst/>
                <a:gdLst/>
                <a:ahLst/>
                <a:cxnLst>
                  <a:cxn ang="0">
                    <a:pos x="3" y="21"/>
                  </a:cxn>
                  <a:cxn ang="0">
                    <a:pos x="0" y="24"/>
                  </a:cxn>
                  <a:cxn ang="0">
                    <a:pos x="0" y="28"/>
                  </a:cxn>
                  <a:cxn ang="0">
                    <a:pos x="3" y="31"/>
                  </a:cxn>
                  <a:cxn ang="0">
                    <a:pos x="6" y="32"/>
                  </a:cxn>
                  <a:cxn ang="0">
                    <a:pos x="7" y="36"/>
                  </a:cxn>
                  <a:cxn ang="0">
                    <a:pos x="6" y="38"/>
                  </a:cxn>
                  <a:cxn ang="0">
                    <a:pos x="6" y="43"/>
                  </a:cxn>
                  <a:cxn ang="0">
                    <a:pos x="9" y="45"/>
                  </a:cxn>
                  <a:cxn ang="0">
                    <a:pos x="13" y="46"/>
                  </a:cxn>
                  <a:cxn ang="0">
                    <a:pos x="15" y="44"/>
                  </a:cxn>
                  <a:cxn ang="0">
                    <a:pos x="20" y="46"/>
                  </a:cxn>
                  <a:cxn ang="0">
                    <a:pos x="20" y="49"/>
                  </a:cxn>
                  <a:cxn ang="0">
                    <a:pos x="24" y="52"/>
                  </a:cxn>
                  <a:cxn ang="0">
                    <a:pos x="27" y="52"/>
                  </a:cxn>
                  <a:cxn ang="0">
                    <a:pos x="31" y="49"/>
                  </a:cxn>
                  <a:cxn ang="0">
                    <a:pos x="31" y="47"/>
                  </a:cxn>
                  <a:cxn ang="0">
                    <a:pos x="36" y="45"/>
                  </a:cxn>
                  <a:cxn ang="0">
                    <a:pos x="38" y="46"/>
                  </a:cxn>
                  <a:cxn ang="0">
                    <a:pos x="43" y="46"/>
                  </a:cxn>
                  <a:cxn ang="0">
                    <a:pos x="46" y="43"/>
                  </a:cxn>
                  <a:cxn ang="0">
                    <a:pos x="46" y="39"/>
                  </a:cxn>
                  <a:cxn ang="0">
                    <a:pos x="45" y="37"/>
                  </a:cxn>
                  <a:cxn ang="0">
                    <a:pos x="47" y="32"/>
                  </a:cxn>
                  <a:cxn ang="0">
                    <a:pos x="49" y="32"/>
                  </a:cxn>
                  <a:cxn ang="0">
                    <a:pos x="52" y="28"/>
                  </a:cxn>
                  <a:cxn ang="0">
                    <a:pos x="52" y="24"/>
                  </a:cxn>
                  <a:cxn ang="0">
                    <a:pos x="49" y="21"/>
                  </a:cxn>
                  <a:cxn ang="0">
                    <a:pos x="47" y="21"/>
                  </a:cxn>
                  <a:cxn ang="0">
                    <a:pos x="45" y="16"/>
                  </a:cxn>
                  <a:cxn ang="0">
                    <a:pos x="46" y="14"/>
                  </a:cxn>
                  <a:cxn ang="0">
                    <a:pos x="46" y="9"/>
                  </a:cxn>
                  <a:cxn ang="0">
                    <a:pos x="44" y="7"/>
                  </a:cxn>
                  <a:cxn ang="0">
                    <a:pos x="39" y="6"/>
                  </a:cxn>
                  <a:cxn ang="0">
                    <a:pos x="37" y="8"/>
                  </a:cxn>
                  <a:cxn ang="0">
                    <a:pos x="32" y="5"/>
                  </a:cxn>
                  <a:cxn ang="0">
                    <a:pos x="32" y="3"/>
                  </a:cxn>
                  <a:cxn ang="0">
                    <a:pos x="28" y="0"/>
                  </a:cxn>
                  <a:cxn ang="0">
                    <a:pos x="25" y="0"/>
                  </a:cxn>
                  <a:cxn ang="0">
                    <a:pos x="21" y="3"/>
                  </a:cxn>
                  <a:cxn ang="0">
                    <a:pos x="21" y="5"/>
                  </a:cxn>
                  <a:cxn ang="0">
                    <a:pos x="16" y="7"/>
                  </a:cxn>
                  <a:cxn ang="0">
                    <a:pos x="14" y="6"/>
                  </a:cxn>
                  <a:cxn ang="0">
                    <a:pos x="9" y="6"/>
                  </a:cxn>
                  <a:cxn ang="0">
                    <a:pos x="6" y="9"/>
                  </a:cxn>
                  <a:cxn ang="0">
                    <a:pos x="6" y="13"/>
                  </a:cxn>
                  <a:cxn ang="0">
                    <a:pos x="8" y="15"/>
                  </a:cxn>
                  <a:cxn ang="0">
                    <a:pos x="6" y="20"/>
                  </a:cxn>
                  <a:cxn ang="0">
                    <a:pos x="3" y="21"/>
                  </a:cxn>
                  <a:cxn ang="0">
                    <a:pos x="26" y="16"/>
                  </a:cxn>
                  <a:cxn ang="0">
                    <a:pos x="36" y="26"/>
                  </a:cxn>
                  <a:cxn ang="0">
                    <a:pos x="26" y="35"/>
                  </a:cxn>
                  <a:cxn ang="0">
                    <a:pos x="17" y="26"/>
                  </a:cxn>
                  <a:cxn ang="0">
                    <a:pos x="26" y="16"/>
                  </a:cxn>
                  <a:cxn ang="0">
                    <a:pos x="26" y="16"/>
                  </a:cxn>
                  <a:cxn ang="0">
                    <a:pos x="26" y="16"/>
                  </a:cxn>
                </a:cxnLst>
                <a:rect l="0" t="0" r="r" b="b"/>
                <a:pathLst>
                  <a:path w="52" h="52">
                    <a:moveTo>
                      <a:pt x="3" y="21"/>
                    </a:moveTo>
                    <a:cubicBezTo>
                      <a:pt x="1" y="21"/>
                      <a:pt x="0" y="22"/>
                      <a:pt x="0" y="24"/>
                    </a:cubicBezTo>
                    <a:cubicBezTo>
                      <a:pt x="0" y="28"/>
                      <a:pt x="0" y="28"/>
                      <a:pt x="0" y="28"/>
                    </a:cubicBezTo>
                    <a:cubicBezTo>
                      <a:pt x="0" y="29"/>
                      <a:pt x="1" y="31"/>
                      <a:pt x="3" y="31"/>
                    </a:cubicBezTo>
                    <a:cubicBezTo>
                      <a:pt x="6" y="32"/>
                      <a:pt x="6" y="32"/>
                      <a:pt x="6" y="32"/>
                    </a:cubicBezTo>
                    <a:cubicBezTo>
                      <a:pt x="6" y="33"/>
                      <a:pt x="7" y="35"/>
                      <a:pt x="7" y="36"/>
                    </a:cubicBezTo>
                    <a:cubicBezTo>
                      <a:pt x="6" y="38"/>
                      <a:pt x="6" y="38"/>
                      <a:pt x="6" y="38"/>
                    </a:cubicBezTo>
                    <a:cubicBezTo>
                      <a:pt x="5" y="40"/>
                      <a:pt x="5" y="42"/>
                      <a:pt x="6" y="43"/>
                    </a:cubicBezTo>
                    <a:cubicBezTo>
                      <a:pt x="9" y="45"/>
                      <a:pt x="9" y="45"/>
                      <a:pt x="9" y="45"/>
                    </a:cubicBezTo>
                    <a:cubicBezTo>
                      <a:pt x="10" y="47"/>
                      <a:pt x="12" y="47"/>
                      <a:pt x="13" y="46"/>
                    </a:cubicBezTo>
                    <a:cubicBezTo>
                      <a:pt x="15" y="44"/>
                      <a:pt x="15" y="44"/>
                      <a:pt x="15" y="44"/>
                    </a:cubicBezTo>
                    <a:cubicBezTo>
                      <a:pt x="17" y="45"/>
                      <a:pt x="18" y="46"/>
                      <a:pt x="20" y="46"/>
                    </a:cubicBezTo>
                    <a:cubicBezTo>
                      <a:pt x="20" y="49"/>
                      <a:pt x="20" y="49"/>
                      <a:pt x="20" y="49"/>
                    </a:cubicBezTo>
                    <a:cubicBezTo>
                      <a:pt x="21" y="51"/>
                      <a:pt x="22" y="52"/>
                      <a:pt x="24" y="52"/>
                    </a:cubicBezTo>
                    <a:cubicBezTo>
                      <a:pt x="27" y="52"/>
                      <a:pt x="27" y="52"/>
                      <a:pt x="27" y="52"/>
                    </a:cubicBezTo>
                    <a:cubicBezTo>
                      <a:pt x="29" y="52"/>
                      <a:pt x="31" y="51"/>
                      <a:pt x="31" y="49"/>
                    </a:cubicBezTo>
                    <a:cubicBezTo>
                      <a:pt x="31" y="47"/>
                      <a:pt x="31" y="47"/>
                      <a:pt x="31" y="47"/>
                    </a:cubicBezTo>
                    <a:cubicBezTo>
                      <a:pt x="33" y="46"/>
                      <a:pt x="35" y="45"/>
                      <a:pt x="36" y="45"/>
                    </a:cubicBezTo>
                    <a:cubicBezTo>
                      <a:pt x="38" y="46"/>
                      <a:pt x="38" y="46"/>
                      <a:pt x="38" y="46"/>
                    </a:cubicBezTo>
                    <a:cubicBezTo>
                      <a:pt x="40" y="47"/>
                      <a:pt x="42" y="47"/>
                      <a:pt x="43" y="46"/>
                    </a:cubicBezTo>
                    <a:cubicBezTo>
                      <a:pt x="46" y="43"/>
                      <a:pt x="46" y="43"/>
                      <a:pt x="46" y="43"/>
                    </a:cubicBezTo>
                    <a:cubicBezTo>
                      <a:pt x="47" y="42"/>
                      <a:pt x="47" y="40"/>
                      <a:pt x="46" y="39"/>
                    </a:cubicBezTo>
                    <a:cubicBezTo>
                      <a:pt x="45" y="37"/>
                      <a:pt x="45" y="37"/>
                      <a:pt x="45" y="37"/>
                    </a:cubicBezTo>
                    <a:cubicBezTo>
                      <a:pt x="45" y="35"/>
                      <a:pt x="46" y="33"/>
                      <a:pt x="47" y="32"/>
                    </a:cubicBezTo>
                    <a:cubicBezTo>
                      <a:pt x="49" y="32"/>
                      <a:pt x="49" y="32"/>
                      <a:pt x="49" y="32"/>
                    </a:cubicBezTo>
                    <a:cubicBezTo>
                      <a:pt x="51" y="31"/>
                      <a:pt x="52" y="30"/>
                      <a:pt x="52" y="28"/>
                    </a:cubicBezTo>
                    <a:cubicBezTo>
                      <a:pt x="52" y="24"/>
                      <a:pt x="52" y="24"/>
                      <a:pt x="52" y="24"/>
                    </a:cubicBezTo>
                    <a:cubicBezTo>
                      <a:pt x="52" y="23"/>
                      <a:pt x="51" y="21"/>
                      <a:pt x="49" y="21"/>
                    </a:cubicBezTo>
                    <a:cubicBezTo>
                      <a:pt x="47" y="21"/>
                      <a:pt x="47" y="21"/>
                      <a:pt x="47" y="21"/>
                    </a:cubicBezTo>
                    <a:cubicBezTo>
                      <a:pt x="46" y="19"/>
                      <a:pt x="46" y="17"/>
                      <a:pt x="45" y="16"/>
                    </a:cubicBezTo>
                    <a:cubicBezTo>
                      <a:pt x="46" y="14"/>
                      <a:pt x="46" y="14"/>
                      <a:pt x="46" y="14"/>
                    </a:cubicBezTo>
                    <a:cubicBezTo>
                      <a:pt x="47" y="12"/>
                      <a:pt x="47" y="10"/>
                      <a:pt x="46" y="9"/>
                    </a:cubicBezTo>
                    <a:cubicBezTo>
                      <a:pt x="44" y="7"/>
                      <a:pt x="44" y="7"/>
                      <a:pt x="44" y="7"/>
                    </a:cubicBezTo>
                    <a:cubicBezTo>
                      <a:pt x="42" y="5"/>
                      <a:pt x="40" y="5"/>
                      <a:pt x="39" y="6"/>
                    </a:cubicBezTo>
                    <a:cubicBezTo>
                      <a:pt x="37" y="8"/>
                      <a:pt x="37" y="8"/>
                      <a:pt x="37" y="8"/>
                    </a:cubicBezTo>
                    <a:cubicBezTo>
                      <a:pt x="36" y="7"/>
                      <a:pt x="34" y="6"/>
                      <a:pt x="32" y="5"/>
                    </a:cubicBezTo>
                    <a:cubicBezTo>
                      <a:pt x="32" y="3"/>
                      <a:pt x="32" y="3"/>
                      <a:pt x="32" y="3"/>
                    </a:cubicBezTo>
                    <a:cubicBezTo>
                      <a:pt x="32" y="1"/>
                      <a:pt x="30" y="0"/>
                      <a:pt x="28" y="0"/>
                    </a:cubicBezTo>
                    <a:cubicBezTo>
                      <a:pt x="25" y="0"/>
                      <a:pt x="25" y="0"/>
                      <a:pt x="25" y="0"/>
                    </a:cubicBezTo>
                    <a:cubicBezTo>
                      <a:pt x="23" y="0"/>
                      <a:pt x="21" y="1"/>
                      <a:pt x="21" y="3"/>
                    </a:cubicBezTo>
                    <a:cubicBezTo>
                      <a:pt x="21" y="5"/>
                      <a:pt x="21" y="5"/>
                      <a:pt x="21" y="5"/>
                    </a:cubicBezTo>
                    <a:cubicBezTo>
                      <a:pt x="19" y="6"/>
                      <a:pt x="17" y="6"/>
                      <a:pt x="16" y="7"/>
                    </a:cubicBezTo>
                    <a:cubicBezTo>
                      <a:pt x="14" y="6"/>
                      <a:pt x="14" y="6"/>
                      <a:pt x="14" y="6"/>
                    </a:cubicBezTo>
                    <a:cubicBezTo>
                      <a:pt x="12" y="5"/>
                      <a:pt x="10" y="5"/>
                      <a:pt x="9" y="6"/>
                    </a:cubicBezTo>
                    <a:cubicBezTo>
                      <a:pt x="6" y="9"/>
                      <a:pt x="6" y="9"/>
                      <a:pt x="6" y="9"/>
                    </a:cubicBezTo>
                    <a:cubicBezTo>
                      <a:pt x="5" y="10"/>
                      <a:pt x="5" y="12"/>
                      <a:pt x="6" y="13"/>
                    </a:cubicBezTo>
                    <a:cubicBezTo>
                      <a:pt x="8" y="15"/>
                      <a:pt x="8" y="15"/>
                      <a:pt x="8" y="15"/>
                    </a:cubicBezTo>
                    <a:cubicBezTo>
                      <a:pt x="7" y="17"/>
                      <a:pt x="6" y="19"/>
                      <a:pt x="6" y="20"/>
                    </a:cubicBezTo>
                    <a:lnTo>
                      <a:pt x="3" y="21"/>
                    </a:lnTo>
                    <a:close/>
                    <a:moveTo>
                      <a:pt x="26" y="16"/>
                    </a:moveTo>
                    <a:cubicBezTo>
                      <a:pt x="31" y="17"/>
                      <a:pt x="36" y="21"/>
                      <a:pt x="36" y="26"/>
                    </a:cubicBezTo>
                    <a:cubicBezTo>
                      <a:pt x="35" y="31"/>
                      <a:pt x="31" y="35"/>
                      <a:pt x="26" y="35"/>
                    </a:cubicBezTo>
                    <a:cubicBezTo>
                      <a:pt x="21" y="35"/>
                      <a:pt x="17" y="31"/>
                      <a:pt x="17" y="26"/>
                    </a:cubicBezTo>
                    <a:cubicBezTo>
                      <a:pt x="17" y="21"/>
                      <a:pt x="21" y="16"/>
                      <a:pt x="26" y="16"/>
                    </a:cubicBezTo>
                    <a:close/>
                    <a:moveTo>
                      <a:pt x="26" y="16"/>
                    </a:moveTo>
                    <a:cubicBezTo>
                      <a:pt x="26" y="16"/>
                      <a:pt x="26" y="16"/>
                      <a:pt x="26" y="16"/>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grpSp>
        <p:sp>
          <p:nvSpPr>
            <p:cNvPr id="10" name="Freeform 17"/>
            <p:cNvSpPr>
              <a:spLocks noEditPoints="1"/>
            </p:cNvSpPr>
            <p:nvPr/>
          </p:nvSpPr>
          <p:spPr bwMode="auto">
            <a:xfrm>
              <a:off x="4622344" y="2067032"/>
              <a:ext cx="422752" cy="628156"/>
            </a:xfrm>
            <a:custGeom>
              <a:avLst/>
              <a:gdLst/>
              <a:ahLst/>
              <a:cxnLst>
                <a:cxn ang="0">
                  <a:pos x="47" y="0"/>
                </a:cxn>
                <a:cxn ang="0">
                  <a:pos x="10" y="76"/>
                </a:cxn>
                <a:cxn ang="0">
                  <a:pos x="24" y="124"/>
                </a:cxn>
                <a:cxn ang="0">
                  <a:pos x="34" y="128"/>
                </a:cxn>
                <a:cxn ang="0">
                  <a:pos x="44" y="140"/>
                </a:cxn>
                <a:cxn ang="0">
                  <a:pos x="62" y="130"/>
                </a:cxn>
                <a:cxn ang="0">
                  <a:pos x="67" y="128"/>
                </a:cxn>
                <a:cxn ang="0">
                  <a:pos x="72" y="94"/>
                </a:cxn>
                <a:cxn ang="0">
                  <a:pos x="94" y="46"/>
                </a:cxn>
                <a:cxn ang="0">
                  <a:pos x="32" y="53"/>
                </a:cxn>
                <a:cxn ang="0">
                  <a:pos x="43" y="56"/>
                </a:cxn>
                <a:cxn ang="0">
                  <a:pos x="47" y="56"/>
                </a:cxn>
                <a:cxn ang="0">
                  <a:pos x="55" y="55"/>
                </a:cxn>
                <a:cxn ang="0">
                  <a:pos x="58" y="56"/>
                </a:cxn>
                <a:cxn ang="0">
                  <a:pos x="54" y="89"/>
                </a:cxn>
                <a:cxn ang="0">
                  <a:pos x="62" y="98"/>
                </a:cxn>
                <a:cxn ang="0">
                  <a:pos x="33" y="106"/>
                </a:cxn>
                <a:cxn ang="0">
                  <a:pos x="62" y="98"/>
                </a:cxn>
                <a:cxn ang="0">
                  <a:pos x="33" y="111"/>
                </a:cxn>
                <a:cxn ang="0">
                  <a:pos x="62" y="118"/>
                </a:cxn>
                <a:cxn ang="0">
                  <a:pos x="64" y="88"/>
                </a:cxn>
                <a:cxn ang="0">
                  <a:pos x="70" y="49"/>
                </a:cxn>
                <a:cxn ang="0">
                  <a:pos x="63" y="48"/>
                </a:cxn>
                <a:cxn ang="0">
                  <a:pos x="58" y="51"/>
                </a:cxn>
                <a:cxn ang="0">
                  <a:pos x="52" y="42"/>
                </a:cxn>
                <a:cxn ang="0">
                  <a:pos x="44" y="51"/>
                </a:cxn>
                <a:cxn ang="0">
                  <a:pos x="36" y="45"/>
                </a:cxn>
                <a:cxn ang="0">
                  <a:pos x="31" y="48"/>
                </a:cxn>
                <a:cxn ang="0">
                  <a:pos x="24" y="50"/>
                </a:cxn>
                <a:cxn ang="0">
                  <a:pos x="31" y="89"/>
                </a:cxn>
                <a:cxn ang="0">
                  <a:pos x="9" y="47"/>
                </a:cxn>
                <a:cxn ang="0">
                  <a:pos x="85" y="47"/>
                </a:cxn>
                <a:cxn ang="0">
                  <a:pos x="64" y="88"/>
                </a:cxn>
                <a:cxn ang="0">
                  <a:pos x="64" y="88"/>
                </a:cxn>
              </a:cxnLst>
              <a:rect l="0" t="0" r="r" b="b"/>
              <a:pathLst>
                <a:path w="94" h="140">
                  <a:moveTo>
                    <a:pt x="94" y="46"/>
                  </a:moveTo>
                  <a:cubicBezTo>
                    <a:pt x="94" y="20"/>
                    <a:pt x="73" y="0"/>
                    <a:pt x="47" y="0"/>
                  </a:cubicBezTo>
                  <a:cubicBezTo>
                    <a:pt x="21" y="0"/>
                    <a:pt x="0" y="21"/>
                    <a:pt x="0" y="47"/>
                  </a:cubicBezTo>
                  <a:cubicBezTo>
                    <a:pt x="0" y="58"/>
                    <a:pt x="4" y="68"/>
                    <a:pt x="10" y="76"/>
                  </a:cubicBezTo>
                  <a:cubicBezTo>
                    <a:pt x="15" y="82"/>
                    <a:pt x="20" y="89"/>
                    <a:pt x="23" y="95"/>
                  </a:cubicBezTo>
                  <a:cubicBezTo>
                    <a:pt x="24" y="124"/>
                    <a:pt x="24" y="124"/>
                    <a:pt x="24" y="124"/>
                  </a:cubicBezTo>
                  <a:cubicBezTo>
                    <a:pt x="24" y="126"/>
                    <a:pt x="26" y="128"/>
                    <a:pt x="28" y="128"/>
                  </a:cubicBezTo>
                  <a:cubicBezTo>
                    <a:pt x="34" y="128"/>
                    <a:pt x="34" y="128"/>
                    <a:pt x="34" y="128"/>
                  </a:cubicBezTo>
                  <a:cubicBezTo>
                    <a:pt x="34" y="130"/>
                    <a:pt x="34" y="130"/>
                    <a:pt x="34" y="130"/>
                  </a:cubicBezTo>
                  <a:cubicBezTo>
                    <a:pt x="34" y="136"/>
                    <a:pt x="38" y="140"/>
                    <a:pt x="44" y="140"/>
                  </a:cubicBezTo>
                  <a:cubicBezTo>
                    <a:pt x="52" y="140"/>
                    <a:pt x="52" y="140"/>
                    <a:pt x="52" y="140"/>
                  </a:cubicBezTo>
                  <a:cubicBezTo>
                    <a:pt x="58" y="140"/>
                    <a:pt x="62" y="136"/>
                    <a:pt x="62" y="130"/>
                  </a:cubicBezTo>
                  <a:cubicBezTo>
                    <a:pt x="62" y="128"/>
                    <a:pt x="62" y="128"/>
                    <a:pt x="62" y="128"/>
                  </a:cubicBezTo>
                  <a:cubicBezTo>
                    <a:pt x="67" y="128"/>
                    <a:pt x="67" y="128"/>
                    <a:pt x="67" y="128"/>
                  </a:cubicBezTo>
                  <a:cubicBezTo>
                    <a:pt x="70" y="128"/>
                    <a:pt x="72" y="126"/>
                    <a:pt x="72" y="123"/>
                  </a:cubicBezTo>
                  <a:cubicBezTo>
                    <a:pt x="72" y="94"/>
                    <a:pt x="72" y="94"/>
                    <a:pt x="72" y="94"/>
                  </a:cubicBezTo>
                  <a:cubicBezTo>
                    <a:pt x="75" y="88"/>
                    <a:pt x="80" y="82"/>
                    <a:pt x="84" y="76"/>
                  </a:cubicBezTo>
                  <a:cubicBezTo>
                    <a:pt x="91" y="67"/>
                    <a:pt x="94" y="57"/>
                    <a:pt x="94" y="46"/>
                  </a:cubicBezTo>
                  <a:close/>
                  <a:moveTo>
                    <a:pt x="41" y="89"/>
                  </a:moveTo>
                  <a:cubicBezTo>
                    <a:pt x="32" y="53"/>
                    <a:pt x="32" y="53"/>
                    <a:pt x="32" y="53"/>
                  </a:cubicBezTo>
                  <a:cubicBezTo>
                    <a:pt x="37" y="50"/>
                    <a:pt x="37" y="50"/>
                    <a:pt x="37" y="50"/>
                  </a:cubicBezTo>
                  <a:cubicBezTo>
                    <a:pt x="43" y="56"/>
                    <a:pt x="43" y="56"/>
                    <a:pt x="43" y="56"/>
                  </a:cubicBezTo>
                  <a:cubicBezTo>
                    <a:pt x="44" y="56"/>
                    <a:pt x="44" y="56"/>
                    <a:pt x="45" y="56"/>
                  </a:cubicBezTo>
                  <a:cubicBezTo>
                    <a:pt x="46" y="56"/>
                    <a:pt x="46" y="56"/>
                    <a:pt x="47" y="56"/>
                  </a:cubicBezTo>
                  <a:cubicBezTo>
                    <a:pt x="52" y="49"/>
                    <a:pt x="52" y="49"/>
                    <a:pt x="52" y="49"/>
                  </a:cubicBezTo>
                  <a:cubicBezTo>
                    <a:pt x="55" y="55"/>
                    <a:pt x="55" y="55"/>
                    <a:pt x="55" y="55"/>
                  </a:cubicBezTo>
                  <a:cubicBezTo>
                    <a:pt x="55" y="56"/>
                    <a:pt x="56" y="56"/>
                    <a:pt x="57" y="56"/>
                  </a:cubicBezTo>
                  <a:cubicBezTo>
                    <a:pt x="57" y="56"/>
                    <a:pt x="58" y="56"/>
                    <a:pt x="58" y="56"/>
                  </a:cubicBezTo>
                  <a:cubicBezTo>
                    <a:pt x="62" y="54"/>
                    <a:pt x="62" y="54"/>
                    <a:pt x="62" y="54"/>
                  </a:cubicBezTo>
                  <a:cubicBezTo>
                    <a:pt x="54" y="89"/>
                    <a:pt x="54" y="89"/>
                    <a:pt x="54" y="89"/>
                  </a:cubicBezTo>
                  <a:lnTo>
                    <a:pt x="41" y="89"/>
                  </a:lnTo>
                  <a:close/>
                  <a:moveTo>
                    <a:pt x="62" y="98"/>
                  </a:moveTo>
                  <a:cubicBezTo>
                    <a:pt x="62" y="106"/>
                    <a:pt x="62" y="106"/>
                    <a:pt x="62" y="106"/>
                  </a:cubicBezTo>
                  <a:cubicBezTo>
                    <a:pt x="33" y="106"/>
                    <a:pt x="33" y="106"/>
                    <a:pt x="33" y="106"/>
                  </a:cubicBezTo>
                  <a:cubicBezTo>
                    <a:pt x="33" y="98"/>
                    <a:pt x="33" y="98"/>
                    <a:pt x="33" y="98"/>
                  </a:cubicBezTo>
                  <a:lnTo>
                    <a:pt x="62" y="98"/>
                  </a:lnTo>
                  <a:close/>
                  <a:moveTo>
                    <a:pt x="33" y="119"/>
                  </a:moveTo>
                  <a:cubicBezTo>
                    <a:pt x="33" y="111"/>
                    <a:pt x="33" y="111"/>
                    <a:pt x="33" y="111"/>
                  </a:cubicBezTo>
                  <a:cubicBezTo>
                    <a:pt x="62" y="111"/>
                    <a:pt x="62" y="111"/>
                    <a:pt x="62" y="111"/>
                  </a:cubicBezTo>
                  <a:cubicBezTo>
                    <a:pt x="62" y="118"/>
                    <a:pt x="62" y="118"/>
                    <a:pt x="62" y="118"/>
                  </a:cubicBezTo>
                  <a:lnTo>
                    <a:pt x="33" y="119"/>
                  </a:lnTo>
                  <a:close/>
                  <a:moveTo>
                    <a:pt x="64" y="88"/>
                  </a:moveTo>
                  <a:cubicBezTo>
                    <a:pt x="62" y="88"/>
                    <a:pt x="62" y="88"/>
                    <a:pt x="62" y="88"/>
                  </a:cubicBezTo>
                  <a:cubicBezTo>
                    <a:pt x="70" y="49"/>
                    <a:pt x="70" y="49"/>
                    <a:pt x="70" y="49"/>
                  </a:cubicBezTo>
                  <a:cubicBezTo>
                    <a:pt x="71" y="48"/>
                    <a:pt x="69" y="46"/>
                    <a:pt x="67" y="45"/>
                  </a:cubicBezTo>
                  <a:cubicBezTo>
                    <a:pt x="66" y="45"/>
                    <a:pt x="64" y="46"/>
                    <a:pt x="63" y="48"/>
                  </a:cubicBezTo>
                  <a:cubicBezTo>
                    <a:pt x="63" y="49"/>
                    <a:pt x="63" y="49"/>
                    <a:pt x="63" y="49"/>
                  </a:cubicBezTo>
                  <a:cubicBezTo>
                    <a:pt x="58" y="51"/>
                    <a:pt x="58" y="51"/>
                    <a:pt x="58" y="51"/>
                  </a:cubicBezTo>
                  <a:cubicBezTo>
                    <a:pt x="54" y="44"/>
                    <a:pt x="54" y="44"/>
                    <a:pt x="54" y="44"/>
                  </a:cubicBezTo>
                  <a:cubicBezTo>
                    <a:pt x="54" y="43"/>
                    <a:pt x="53" y="43"/>
                    <a:pt x="52" y="42"/>
                  </a:cubicBezTo>
                  <a:cubicBezTo>
                    <a:pt x="52" y="42"/>
                    <a:pt x="51" y="43"/>
                    <a:pt x="50" y="43"/>
                  </a:cubicBezTo>
                  <a:cubicBezTo>
                    <a:pt x="44" y="51"/>
                    <a:pt x="44" y="51"/>
                    <a:pt x="44" y="51"/>
                  </a:cubicBezTo>
                  <a:cubicBezTo>
                    <a:pt x="39" y="45"/>
                    <a:pt x="39" y="45"/>
                    <a:pt x="39" y="45"/>
                  </a:cubicBezTo>
                  <a:cubicBezTo>
                    <a:pt x="38" y="45"/>
                    <a:pt x="37" y="45"/>
                    <a:pt x="36" y="45"/>
                  </a:cubicBezTo>
                  <a:cubicBezTo>
                    <a:pt x="31" y="48"/>
                    <a:pt x="31" y="48"/>
                    <a:pt x="31" y="48"/>
                  </a:cubicBezTo>
                  <a:cubicBezTo>
                    <a:pt x="31" y="48"/>
                    <a:pt x="31" y="48"/>
                    <a:pt x="31" y="48"/>
                  </a:cubicBezTo>
                  <a:cubicBezTo>
                    <a:pt x="31" y="46"/>
                    <a:pt x="29" y="45"/>
                    <a:pt x="27" y="46"/>
                  </a:cubicBezTo>
                  <a:cubicBezTo>
                    <a:pt x="25" y="46"/>
                    <a:pt x="24" y="48"/>
                    <a:pt x="24" y="50"/>
                  </a:cubicBezTo>
                  <a:cubicBezTo>
                    <a:pt x="33" y="89"/>
                    <a:pt x="33" y="89"/>
                    <a:pt x="33" y="89"/>
                  </a:cubicBezTo>
                  <a:cubicBezTo>
                    <a:pt x="31" y="89"/>
                    <a:pt x="31" y="89"/>
                    <a:pt x="31" y="89"/>
                  </a:cubicBezTo>
                  <a:cubicBezTo>
                    <a:pt x="27" y="82"/>
                    <a:pt x="22" y="76"/>
                    <a:pt x="18" y="70"/>
                  </a:cubicBezTo>
                  <a:cubicBezTo>
                    <a:pt x="12" y="64"/>
                    <a:pt x="10" y="56"/>
                    <a:pt x="9" y="47"/>
                  </a:cubicBezTo>
                  <a:cubicBezTo>
                    <a:pt x="9" y="26"/>
                    <a:pt x="26" y="9"/>
                    <a:pt x="47" y="9"/>
                  </a:cubicBezTo>
                  <a:cubicBezTo>
                    <a:pt x="68" y="9"/>
                    <a:pt x="85" y="26"/>
                    <a:pt x="85" y="47"/>
                  </a:cubicBezTo>
                  <a:cubicBezTo>
                    <a:pt x="85" y="55"/>
                    <a:pt x="82" y="63"/>
                    <a:pt x="77" y="70"/>
                  </a:cubicBezTo>
                  <a:cubicBezTo>
                    <a:pt x="72" y="76"/>
                    <a:pt x="68" y="82"/>
                    <a:pt x="64" y="88"/>
                  </a:cubicBezTo>
                  <a:close/>
                  <a:moveTo>
                    <a:pt x="64" y="88"/>
                  </a:moveTo>
                  <a:cubicBezTo>
                    <a:pt x="64" y="88"/>
                    <a:pt x="64" y="88"/>
                    <a:pt x="64" y="88"/>
                  </a:cubicBezTo>
                </a:path>
              </a:pathLst>
            </a:custGeom>
            <a:solidFill>
              <a:srgbClr val="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4572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sym typeface="+mn-lt"/>
              </a:endParaRPr>
            </a:p>
          </p:txBody>
        </p:sp>
        <p:sp>
          <p:nvSpPr>
            <p:cNvPr id="11" name="TextBox 56"/>
            <p:cNvSpPr txBox="1"/>
            <p:nvPr/>
          </p:nvSpPr>
          <p:spPr>
            <a:xfrm>
              <a:off x="5281860"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01</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2" name="TextBox 57"/>
            <p:cNvSpPr txBox="1"/>
            <p:nvPr/>
          </p:nvSpPr>
          <p:spPr>
            <a:xfrm>
              <a:off x="6355124" y="2496032"/>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a:ln>
                    <a:noFill/>
                  </a:ln>
                  <a:solidFill>
                    <a:prstClr val="white"/>
                  </a:solidFill>
                  <a:effectLst/>
                  <a:uLnTx/>
                  <a:uFillTx/>
                  <a:latin typeface="Calibri" panose="020F0502020204030204"/>
                  <a:sym typeface="+mn-lt"/>
                </a:rPr>
                <a:t>02</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3" name="TextBox 58"/>
            <p:cNvSpPr txBox="1"/>
            <p:nvPr/>
          </p:nvSpPr>
          <p:spPr>
            <a:xfrm>
              <a:off x="5281860"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smtClean="0">
                  <a:ln>
                    <a:noFill/>
                  </a:ln>
                  <a:solidFill>
                    <a:prstClr val="white"/>
                  </a:solidFill>
                  <a:effectLst/>
                  <a:uLnTx/>
                  <a:uFillTx/>
                  <a:latin typeface="Calibri" panose="020F0502020204030204"/>
                  <a:sym typeface="+mn-lt"/>
                </a:rPr>
                <a:t>03</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sp>
          <p:nvSpPr>
            <p:cNvPr id="14" name="TextBox 59"/>
            <p:cNvSpPr txBox="1"/>
            <p:nvPr/>
          </p:nvSpPr>
          <p:spPr>
            <a:xfrm>
              <a:off x="6355124" y="4095994"/>
              <a:ext cx="550151" cy="707886"/>
            </a:xfrm>
            <a:prstGeom prst="rect">
              <a:avLst/>
            </a:prstGeom>
            <a:noFill/>
          </p:spPr>
          <p:txBody>
            <a:bodyPr wrap="non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2800" b="1" i="0" u="none" strike="noStrike" kern="0" cap="none" spc="0" normalizeH="0" baseline="0" noProof="0" dirty="0" smtClean="0">
                  <a:ln>
                    <a:noFill/>
                  </a:ln>
                  <a:solidFill>
                    <a:prstClr val="white"/>
                  </a:solidFill>
                  <a:effectLst/>
                  <a:uLnTx/>
                  <a:uFillTx/>
                  <a:latin typeface="Calibri" panose="020F0502020204030204"/>
                  <a:sym typeface="+mn-lt"/>
                </a:rPr>
                <a:t>04</a:t>
              </a:r>
              <a:r>
                <a:rPr kumimoji="0" lang="en-US" sz="1200" b="0" i="0" u="none" strike="noStrike" kern="0" cap="none" spc="0" normalizeH="0" baseline="0" noProof="0" dirty="0">
                  <a:ln>
                    <a:noFill/>
                  </a:ln>
                  <a:solidFill>
                    <a:prstClr val="white"/>
                  </a:solidFill>
                  <a:effectLst/>
                  <a:uLnTx/>
                  <a:uFillTx/>
                  <a:latin typeface="Calibri" panose="020F0502020204030204"/>
                  <a:sym typeface="+mn-lt"/>
                </a:rPr>
                <a:t/>
              </a:r>
              <a:br>
                <a:rPr kumimoji="0" lang="en-US" sz="1200" b="0" i="0" u="none" strike="noStrike" kern="0" cap="none" spc="0" normalizeH="0" baseline="0" noProof="0" dirty="0">
                  <a:ln>
                    <a:noFill/>
                  </a:ln>
                  <a:solidFill>
                    <a:prstClr val="white"/>
                  </a:solidFill>
                  <a:effectLst/>
                  <a:uLnTx/>
                  <a:uFillTx/>
                  <a:latin typeface="Calibri" panose="020F0502020204030204"/>
                  <a:sym typeface="+mn-lt"/>
                </a:rPr>
              </a:br>
              <a:endParaRPr kumimoji="0" lang="en-US" sz="1200" b="1" i="0" u="none" strike="noStrike" kern="0" cap="none" spc="0" normalizeH="0" baseline="0" noProof="0" dirty="0">
                <a:ln>
                  <a:noFill/>
                </a:ln>
                <a:solidFill>
                  <a:prstClr val="white"/>
                </a:solidFill>
                <a:effectLst/>
                <a:uLnTx/>
                <a:uFillTx/>
                <a:latin typeface="Calibri" panose="020F0502020204030204"/>
                <a:sym typeface="+mn-lt"/>
              </a:endParaRPr>
            </a:p>
          </p:txBody>
        </p:sp>
      </p:grpSp>
      <p:grpSp>
        <p:nvGrpSpPr>
          <p:cNvPr id="26" name="PA_组合 25"/>
          <p:cNvGrpSpPr/>
          <p:nvPr>
            <p:custDataLst>
              <p:tags r:id="rId1"/>
            </p:custDataLst>
          </p:nvPr>
        </p:nvGrpSpPr>
        <p:grpSpPr>
          <a:xfrm>
            <a:off x="196965" y="2655495"/>
            <a:ext cx="3901118" cy="810092"/>
            <a:chOff x="656868" y="2394767"/>
            <a:chExt cx="3901118" cy="810092"/>
          </a:xfrm>
        </p:grpSpPr>
        <p:sp>
          <p:nvSpPr>
            <p:cNvPr id="24" name="文本框 23"/>
            <p:cNvSpPr txBox="1"/>
            <p:nvPr/>
          </p:nvSpPr>
          <p:spPr>
            <a:xfrm>
              <a:off x="2517043" y="2394767"/>
              <a:ext cx="2040943" cy="461665"/>
            </a:xfrm>
            <a:prstGeom prst="rect">
              <a:avLst/>
            </a:prstGeom>
            <a:noFill/>
          </p:spPr>
          <p:txBody>
            <a:bodyPr wrap="none" rtlCol="0">
              <a:spAutoFit/>
            </a:bodyPr>
            <a:lstStyle>
              <a:defPPr>
                <a:defRPr lang="zh-CN"/>
              </a:defPPr>
              <a:lvl1pPr>
                <a:defRPr sz="2400" b="1">
                  <a:solidFill>
                    <a:srgbClr val="24569D"/>
                  </a:solidFill>
                </a:defRPr>
              </a:lvl1pPr>
            </a:lstStyle>
            <a:p>
              <a:r>
                <a:rPr lang="zh-CN" altLang="en-US" dirty="0"/>
                <a:t>卷积神经网络</a:t>
              </a:r>
            </a:p>
          </p:txBody>
        </p:sp>
        <p:sp>
          <p:nvSpPr>
            <p:cNvPr id="25" name="文本框 24"/>
            <p:cNvSpPr txBox="1"/>
            <p:nvPr/>
          </p:nvSpPr>
          <p:spPr>
            <a:xfrm>
              <a:off x="656868" y="2743194"/>
              <a:ext cx="2855980" cy="461665"/>
            </a:xfrm>
            <a:prstGeom prst="rect">
              <a:avLst/>
            </a:prstGeom>
            <a:noFill/>
          </p:spPr>
          <p:txBody>
            <a:bodyPr wrap="square" rtlCol="0">
              <a:spAutoFit/>
            </a:bodyPr>
            <a:lstStyle/>
            <a:p>
              <a:endParaRPr lang="en-US" altLang="zh-CN" sz="2400" dirty="0">
                <a:latin typeface="微软雅黑" panose="020B0503020204020204" pitchFamily="34" charset="-122"/>
              </a:endParaRPr>
            </a:p>
          </p:txBody>
        </p:sp>
      </p:grpSp>
      <p:sp>
        <p:nvSpPr>
          <p:cNvPr id="31" name="文本框 30"/>
          <p:cNvSpPr txBox="1"/>
          <p:nvPr/>
        </p:nvSpPr>
        <p:spPr>
          <a:xfrm>
            <a:off x="2098323" y="4787132"/>
            <a:ext cx="2040943" cy="461665"/>
          </a:xfrm>
          <a:prstGeom prst="rect">
            <a:avLst/>
          </a:prstGeom>
          <a:noFill/>
        </p:spPr>
        <p:txBody>
          <a:bodyPr wrap="none" rtlCol="0">
            <a:spAutoFit/>
          </a:bodyPr>
          <a:lstStyle>
            <a:defPPr>
              <a:defRPr lang="zh-CN"/>
            </a:defPPr>
            <a:lvl1pPr>
              <a:defRPr sz="2400" b="1">
                <a:solidFill>
                  <a:srgbClr val="24569D"/>
                </a:solidFill>
              </a:defRPr>
            </a:lvl1pPr>
          </a:lstStyle>
          <a:p>
            <a:r>
              <a:rPr lang="zh-CN" altLang="en-US" dirty="0" smtClean="0"/>
              <a:t>循环神经网络</a:t>
            </a:r>
            <a:endParaRPr lang="zh-CN" altLang="en-US" dirty="0"/>
          </a:p>
        </p:txBody>
      </p:sp>
      <p:sp>
        <p:nvSpPr>
          <p:cNvPr id="34" name="文本框 33"/>
          <p:cNvSpPr txBox="1"/>
          <p:nvPr/>
        </p:nvSpPr>
        <p:spPr>
          <a:xfrm>
            <a:off x="8473636" y="2779912"/>
            <a:ext cx="1422184" cy="461665"/>
          </a:xfrm>
          <a:prstGeom prst="rect">
            <a:avLst/>
          </a:prstGeom>
          <a:noFill/>
        </p:spPr>
        <p:txBody>
          <a:bodyPr wrap="none" rtlCol="0">
            <a:spAutoFit/>
          </a:bodyPr>
          <a:lstStyle/>
          <a:p>
            <a:r>
              <a:rPr lang="zh-CN" altLang="en-US" sz="2400" b="1" dirty="0">
                <a:solidFill>
                  <a:srgbClr val="24569D"/>
                </a:solidFill>
              </a:rPr>
              <a:t>语言模型</a:t>
            </a:r>
          </a:p>
        </p:txBody>
      </p:sp>
      <p:sp>
        <p:nvSpPr>
          <p:cNvPr id="2" name="矩形 1"/>
          <p:cNvSpPr/>
          <p:nvPr/>
        </p:nvSpPr>
        <p:spPr>
          <a:xfrm>
            <a:off x="573660" y="445426"/>
            <a:ext cx="902811" cy="523220"/>
          </a:xfrm>
          <a:prstGeom prst="rect">
            <a:avLst/>
          </a:prstGeom>
        </p:spPr>
        <p:txBody>
          <a:bodyPr wrap="none">
            <a:spAutoFit/>
          </a:bodyPr>
          <a:lstStyle/>
          <a:p>
            <a:r>
              <a:rPr lang="zh-CN" altLang="en-US" sz="2800" dirty="0"/>
              <a:t>目录</a:t>
            </a:r>
          </a:p>
        </p:txBody>
      </p:sp>
      <p:sp>
        <p:nvSpPr>
          <p:cNvPr id="30" name="文本框 29"/>
          <p:cNvSpPr txBox="1"/>
          <p:nvPr/>
        </p:nvSpPr>
        <p:spPr>
          <a:xfrm>
            <a:off x="8529747" y="4787132"/>
            <a:ext cx="1982274" cy="461665"/>
          </a:xfrm>
          <a:prstGeom prst="rect">
            <a:avLst/>
          </a:prstGeom>
          <a:noFill/>
        </p:spPr>
        <p:txBody>
          <a:bodyPr wrap="none" rtlCol="0">
            <a:spAutoFit/>
          </a:bodyPr>
          <a:lstStyle>
            <a:defPPr>
              <a:defRPr lang="zh-CN"/>
            </a:defPPr>
            <a:lvl1pPr>
              <a:defRPr sz="2400" b="1">
                <a:solidFill>
                  <a:srgbClr val="24569D"/>
                </a:solidFill>
              </a:defRPr>
            </a:lvl1pPr>
          </a:lstStyle>
          <a:p>
            <a:r>
              <a:rPr lang="en-US" altLang="zh-CN" dirty="0" smtClean="0">
                <a:solidFill>
                  <a:srgbClr val="FF0000"/>
                </a:solidFill>
              </a:rPr>
              <a:t>Transformer</a:t>
            </a:r>
            <a:endParaRPr lang="zh-CN" altLang="en-US" dirty="0">
              <a:solidFill>
                <a:srgbClr val="FF0000"/>
              </a:solidFill>
            </a:endParaRPr>
          </a:p>
        </p:txBody>
      </p:sp>
    </p:spTree>
    <p:extLst>
      <p:ext uri="{BB962C8B-B14F-4D97-AF65-F5344CB8AC3E}">
        <p14:creationId xmlns:p14="http://schemas.microsoft.com/office/powerpoint/2010/main" val="3416754623"/>
      </p:ext>
    </p:extLst>
  </p:cSld>
  <p:clrMapOvr>
    <a:masterClrMapping/>
  </p:clrMapOvr>
  <p:transition spd="slow">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Transformer</a:t>
            </a:r>
            <a:endParaRPr lang="zh-CN" altLang="en-US" dirty="0"/>
          </a:p>
        </p:txBody>
      </p:sp>
      <p:sp>
        <p:nvSpPr>
          <p:cNvPr id="6" name="矩形 5"/>
          <p:cNvSpPr/>
          <p:nvPr/>
        </p:nvSpPr>
        <p:spPr>
          <a:xfrm>
            <a:off x="1590675" y="6443144"/>
            <a:ext cx="10956925" cy="369332"/>
          </a:xfrm>
          <a:prstGeom prst="rect">
            <a:avLst/>
          </a:prstGeom>
        </p:spPr>
        <p:txBody>
          <a:bodyPr wrap="square">
            <a:spAutoFit/>
          </a:bodyPr>
          <a:lstStyle/>
          <a:p>
            <a:r>
              <a:rPr lang="en-US" altLang="zh-CN" dirty="0" err="1">
                <a:solidFill>
                  <a:srgbClr val="222222"/>
                </a:solidFill>
                <a:latin typeface="+mj-lt"/>
              </a:rPr>
              <a:t>Vaswani</a:t>
            </a:r>
            <a:r>
              <a:rPr lang="en-US" altLang="zh-CN" dirty="0">
                <a:solidFill>
                  <a:srgbClr val="222222"/>
                </a:solidFill>
                <a:latin typeface="+mj-lt"/>
              </a:rPr>
              <a:t> A , </a:t>
            </a:r>
            <a:r>
              <a:rPr lang="en-US" altLang="zh-CN" dirty="0" err="1">
                <a:solidFill>
                  <a:srgbClr val="222222"/>
                </a:solidFill>
                <a:latin typeface="+mj-lt"/>
              </a:rPr>
              <a:t>Shazeer</a:t>
            </a:r>
            <a:r>
              <a:rPr lang="en-US" altLang="zh-CN" dirty="0">
                <a:solidFill>
                  <a:srgbClr val="222222"/>
                </a:solidFill>
                <a:latin typeface="+mj-lt"/>
              </a:rPr>
              <a:t> N , </a:t>
            </a:r>
            <a:r>
              <a:rPr lang="en-US" altLang="zh-CN" dirty="0" err="1">
                <a:solidFill>
                  <a:srgbClr val="222222"/>
                </a:solidFill>
                <a:latin typeface="+mj-lt"/>
              </a:rPr>
              <a:t>Parmar</a:t>
            </a:r>
            <a:r>
              <a:rPr lang="en-US" altLang="zh-CN" dirty="0">
                <a:solidFill>
                  <a:srgbClr val="222222"/>
                </a:solidFill>
                <a:latin typeface="+mj-lt"/>
              </a:rPr>
              <a:t> N , et al. </a:t>
            </a:r>
            <a:r>
              <a:rPr lang="en-US" altLang="zh-CN" b="1" dirty="0">
                <a:solidFill>
                  <a:srgbClr val="222222"/>
                </a:solidFill>
                <a:latin typeface="+mj-lt"/>
              </a:rPr>
              <a:t>Attention Is All </a:t>
            </a:r>
            <a:r>
              <a:rPr lang="en-US" altLang="zh-CN" b="1" dirty="0" smtClean="0">
                <a:solidFill>
                  <a:srgbClr val="222222"/>
                </a:solidFill>
                <a:latin typeface="+mj-lt"/>
              </a:rPr>
              <a:t>You</a:t>
            </a:r>
            <a:r>
              <a:rPr lang="en-US" altLang="zh-CN" dirty="0" smtClean="0">
                <a:solidFill>
                  <a:srgbClr val="222222"/>
                </a:solidFill>
                <a:latin typeface="+mj-lt"/>
              </a:rPr>
              <a:t>,</a:t>
            </a:r>
            <a:r>
              <a:rPr lang="en-US" altLang="zh-CN" dirty="0">
                <a:latin typeface="+mj-lt"/>
              </a:rPr>
              <a:t> </a:t>
            </a:r>
            <a:r>
              <a:rPr lang="en-US" altLang="zh-CN" dirty="0" err="1">
                <a:latin typeface="+mj-lt"/>
              </a:rPr>
              <a:t>NeurIPS</a:t>
            </a:r>
            <a:r>
              <a:rPr lang="en-US" altLang="zh-CN" dirty="0">
                <a:latin typeface="+mj-lt"/>
              </a:rPr>
              <a:t> </a:t>
            </a:r>
            <a:r>
              <a:rPr lang="en-US" altLang="zh-CN" dirty="0" smtClean="0">
                <a:latin typeface="+mj-lt"/>
              </a:rPr>
              <a:t>2017</a:t>
            </a:r>
            <a:endParaRPr lang="zh-CN" altLang="en-US" dirty="0">
              <a:latin typeface="+mj-lt"/>
            </a:endParaRPr>
          </a:p>
        </p:txBody>
      </p:sp>
      <p:pic>
        <p:nvPicPr>
          <p:cNvPr id="8" name="图片 7"/>
          <p:cNvPicPr>
            <a:picLocks noChangeAspect="1"/>
          </p:cNvPicPr>
          <p:nvPr/>
        </p:nvPicPr>
        <p:blipFill>
          <a:blip r:embed="rId3"/>
          <a:stretch>
            <a:fillRect/>
          </a:stretch>
        </p:blipFill>
        <p:spPr>
          <a:xfrm>
            <a:off x="304800" y="2514689"/>
            <a:ext cx="11334750" cy="2200186"/>
          </a:xfrm>
          <a:prstGeom prst="rect">
            <a:avLst/>
          </a:prstGeom>
        </p:spPr>
      </p:pic>
    </p:spTree>
    <p:extLst>
      <p:ext uri="{BB962C8B-B14F-4D97-AF65-F5344CB8AC3E}">
        <p14:creationId xmlns:p14="http://schemas.microsoft.com/office/powerpoint/2010/main" val="3693689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72577C-3858-4ADB-921B-3DDF4915250C}"/>
              </a:ext>
            </a:extLst>
          </p:cNvPr>
          <p:cNvSpPr>
            <a:spLocks noGrp="1"/>
          </p:cNvSpPr>
          <p:nvPr>
            <p:ph type="title"/>
          </p:nvPr>
        </p:nvSpPr>
        <p:spPr/>
        <p:txBody>
          <a:bodyPr/>
          <a:lstStyle/>
          <a:p>
            <a:r>
              <a:rPr lang="en-US" altLang="zh-TW" dirty="0"/>
              <a:t>T</a:t>
            </a:r>
            <a:r>
              <a:rPr lang="en-US" altLang="zh-CN" dirty="0"/>
              <a:t>ransformer</a:t>
            </a:r>
            <a:endParaRPr lang="zh-CN" altLang="en-US" dirty="0"/>
          </a:p>
        </p:txBody>
      </p:sp>
      <p:sp>
        <p:nvSpPr>
          <p:cNvPr id="64" name="標題 1">
            <a:extLst>
              <a:ext uri="{FF2B5EF4-FFF2-40B4-BE49-F238E27FC236}">
                <a16:creationId xmlns:a16="http://schemas.microsoft.com/office/drawing/2014/main" id="{1481696A-0CE1-69B4-8425-ECB4277CF16B}"/>
              </a:ext>
            </a:extLst>
          </p:cNvPr>
          <p:cNvSpPr txBox="1">
            <a:spLocks/>
          </p:cNvSpPr>
          <p:nvPr/>
        </p:nvSpPr>
        <p:spPr bwMode="auto">
          <a:xfrm>
            <a:off x="-1785220" y="1117600"/>
            <a:ext cx="6204058" cy="796925"/>
          </a:xfrm>
          <a:prstGeom prst="rect">
            <a:avLst/>
          </a:prstGeom>
          <a:noFill/>
          <a:ln w="9525">
            <a:noFill/>
            <a:miter lim="800000"/>
            <a:headEnd/>
            <a:tailEnd/>
          </a:ln>
        </p:spPr>
        <p:txBody>
          <a:bodyPr vert="horz" wrap="square" lIns="91436" tIns="45718" rIns="91436" bIns="45718" numCol="1" anchor="ctr" anchorCtr="0" compatLnSpc="1">
            <a:prstTxWarp prst="textNoShape">
              <a:avLst/>
            </a:prstTxWarp>
          </a:bodyPr>
          <a:lstStyle>
            <a:lvl1pPr algn="ctr" rtl="0" eaLnBrk="1" fontAlgn="base" hangingPunct="1">
              <a:spcBef>
                <a:spcPct val="0"/>
              </a:spcBef>
              <a:spcAft>
                <a:spcPct val="0"/>
              </a:spcAft>
              <a:defRPr sz="4400">
                <a:solidFill>
                  <a:schemeClr val="tx2"/>
                </a:solidFill>
                <a:latin typeface="Calibri" pitchFamily="34" charset="0"/>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178" algn="ctr" rtl="0" eaLnBrk="1" fontAlgn="base" hangingPunct="1">
              <a:spcBef>
                <a:spcPct val="0"/>
              </a:spcBef>
              <a:spcAft>
                <a:spcPct val="0"/>
              </a:spcAft>
              <a:defRPr sz="4400">
                <a:solidFill>
                  <a:schemeClr val="tx2"/>
                </a:solidFill>
                <a:latin typeface="Arial" charset="0"/>
              </a:defRPr>
            </a:lvl6pPr>
            <a:lvl7pPr marL="914354" algn="ctr" rtl="0" eaLnBrk="1" fontAlgn="base" hangingPunct="1">
              <a:spcBef>
                <a:spcPct val="0"/>
              </a:spcBef>
              <a:spcAft>
                <a:spcPct val="0"/>
              </a:spcAft>
              <a:defRPr sz="4400">
                <a:solidFill>
                  <a:schemeClr val="tx2"/>
                </a:solidFill>
                <a:latin typeface="Arial" charset="0"/>
              </a:defRPr>
            </a:lvl7pPr>
            <a:lvl8pPr marL="1371532" algn="ctr" rtl="0" eaLnBrk="1" fontAlgn="base" hangingPunct="1">
              <a:spcBef>
                <a:spcPct val="0"/>
              </a:spcBef>
              <a:spcAft>
                <a:spcPct val="0"/>
              </a:spcAft>
              <a:defRPr sz="4400">
                <a:solidFill>
                  <a:schemeClr val="tx2"/>
                </a:solidFill>
                <a:latin typeface="Arial" charset="0"/>
              </a:defRPr>
            </a:lvl8pPr>
            <a:lvl9pPr marL="1828709" algn="ctr" rtl="0" eaLnBrk="1" fontAlgn="base" hangingPunct="1">
              <a:spcBef>
                <a:spcPct val="0"/>
              </a:spcBef>
              <a:spcAft>
                <a:spcPct val="0"/>
              </a:spcAft>
              <a:defRPr sz="4400">
                <a:solidFill>
                  <a:schemeClr val="tx2"/>
                </a:solidFill>
                <a:latin typeface="Arial" charset="0"/>
              </a:defRPr>
            </a:lvl9pPr>
          </a:lstStyle>
          <a:p>
            <a:r>
              <a:rPr lang="zh-CN" altLang="en-US" sz="3200" kern="0" dirty="0"/>
              <a:t>模型结构</a:t>
            </a:r>
            <a:endParaRPr lang="zh-TW" altLang="en-US" sz="3200" kern="0" dirty="0"/>
          </a:p>
        </p:txBody>
      </p:sp>
      <p:pic>
        <p:nvPicPr>
          <p:cNvPr id="5" name="图片 4">
            <a:extLst>
              <a:ext uri="{FF2B5EF4-FFF2-40B4-BE49-F238E27FC236}">
                <a16:creationId xmlns:a16="http://schemas.microsoft.com/office/drawing/2014/main" id="{2D1831A1-AC06-7A68-A5CF-E251334F6DE9}"/>
              </a:ext>
            </a:extLst>
          </p:cNvPr>
          <p:cNvPicPr>
            <a:picLocks noChangeAspect="1"/>
          </p:cNvPicPr>
          <p:nvPr/>
        </p:nvPicPr>
        <p:blipFill>
          <a:blip r:embed="rId3"/>
          <a:stretch>
            <a:fillRect/>
          </a:stretch>
        </p:blipFill>
        <p:spPr>
          <a:xfrm>
            <a:off x="7141523" y="1262597"/>
            <a:ext cx="4677192" cy="5035550"/>
          </a:xfrm>
          <a:prstGeom prst="rect">
            <a:avLst/>
          </a:prstGeom>
        </p:spPr>
      </p:pic>
      <p:sp>
        <p:nvSpPr>
          <p:cNvPr id="7" name="文字方塊 6">
            <a:extLst>
              <a:ext uri="{FF2B5EF4-FFF2-40B4-BE49-F238E27FC236}">
                <a16:creationId xmlns:a16="http://schemas.microsoft.com/office/drawing/2014/main" id="{166F523D-F198-8978-47FC-04A02472DAD2}"/>
              </a:ext>
            </a:extLst>
          </p:cNvPr>
          <p:cNvSpPr txBox="1"/>
          <p:nvPr/>
        </p:nvSpPr>
        <p:spPr>
          <a:xfrm>
            <a:off x="6548379" y="2963157"/>
            <a:ext cx="1671637" cy="523220"/>
          </a:xfrm>
          <a:prstGeom prst="rect">
            <a:avLst/>
          </a:prstGeom>
          <a:noFill/>
        </p:spPr>
        <p:txBody>
          <a:bodyPr wrap="square" rtlCol="0">
            <a:spAutoFit/>
          </a:bodyPr>
          <a:lstStyle/>
          <a:p>
            <a:pPr algn="ctr" defTabSz="457200"/>
            <a:r>
              <a:rPr lang="en-US" altLang="zh-TW" sz="2800" b="1" i="1" u="sng" dirty="0">
                <a:solidFill>
                  <a:prstClr val="black"/>
                </a:solidFill>
                <a:latin typeface="Calibri" panose="020F0502020204030204"/>
                <a:ea typeface="新細明體" panose="02020500000000000000" pitchFamily="18" charset="-120"/>
              </a:rPr>
              <a:t>Encoder</a:t>
            </a:r>
            <a:endParaRPr lang="zh-TW" altLang="en-US" sz="2800" b="1" i="1" u="sng" dirty="0">
              <a:solidFill>
                <a:prstClr val="black"/>
              </a:solidFill>
              <a:latin typeface="Calibri" panose="020F0502020204030204"/>
              <a:ea typeface="新細明體" panose="02020500000000000000" pitchFamily="18" charset="-120"/>
            </a:endParaRPr>
          </a:p>
        </p:txBody>
      </p:sp>
      <p:sp>
        <p:nvSpPr>
          <p:cNvPr id="8" name="文字方塊 6">
            <a:extLst>
              <a:ext uri="{FF2B5EF4-FFF2-40B4-BE49-F238E27FC236}">
                <a16:creationId xmlns:a16="http://schemas.microsoft.com/office/drawing/2014/main" id="{F523B884-11CE-B465-C482-476E36F4AC61}"/>
              </a:ext>
            </a:extLst>
          </p:cNvPr>
          <p:cNvSpPr txBox="1"/>
          <p:nvPr/>
        </p:nvSpPr>
        <p:spPr>
          <a:xfrm>
            <a:off x="10415794" y="2728372"/>
            <a:ext cx="1671637" cy="523220"/>
          </a:xfrm>
          <a:prstGeom prst="rect">
            <a:avLst/>
          </a:prstGeom>
          <a:noFill/>
        </p:spPr>
        <p:txBody>
          <a:bodyPr wrap="square" rtlCol="0">
            <a:spAutoFit/>
          </a:bodyPr>
          <a:lstStyle/>
          <a:p>
            <a:pPr algn="ctr" defTabSz="457200"/>
            <a:r>
              <a:rPr lang="en-US" altLang="zh-TW" sz="2800" b="1" i="1" u="sng" dirty="0">
                <a:solidFill>
                  <a:prstClr val="black"/>
                </a:solidFill>
                <a:latin typeface="Calibri" panose="020F0502020204030204"/>
                <a:ea typeface="新細明體" panose="02020500000000000000" pitchFamily="18" charset="-120"/>
              </a:rPr>
              <a:t>D</a:t>
            </a:r>
            <a:r>
              <a:rPr lang="en-US" altLang="zh-CN" sz="2800" b="1" i="1" u="sng" dirty="0">
                <a:solidFill>
                  <a:prstClr val="black"/>
                </a:solidFill>
                <a:latin typeface="Calibri" panose="020F0502020204030204"/>
                <a:ea typeface="新細明體" panose="02020500000000000000" pitchFamily="18" charset="-120"/>
              </a:rPr>
              <a:t>e</a:t>
            </a:r>
            <a:r>
              <a:rPr lang="en-US" altLang="zh-TW" sz="2800" b="1" i="1" u="sng" dirty="0">
                <a:solidFill>
                  <a:prstClr val="black"/>
                </a:solidFill>
                <a:latin typeface="Calibri" panose="020F0502020204030204"/>
                <a:ea typeface="新細明體" panose="02020500000000000000" pitchFamily="18" charset="-120"/>
              </a:rPr>
              <a:t>coder</a:t>
            </a:r>
            <a:endParaRPr lang="zh-TW" altLang="en-US" sz="2800" b="1" i="1" u="sng" dirty="0">
              <a:solidFill>
                <a:prstClr val="black"/>
              </a:solidFill>
              <a:latin typeface="Calibri" panose="020F0502020204030204"/>
              <a:ea typeface="新細明體" panose="02020500000000000000" pitchFamily="18" charset="-120"/>
            </a:endParaRPr>
          </a:p>
        </p:txBody>
      </p:sp>
      <p:pic>
        <p:nvPicPr>
          <p:cNvPr id="13" name="图片 12">
            <a:extLst>
              <a:ext uri="{FF2B5EF4-FFF2-40B4-BE49-F238E27FC236}">
                <a16:creationId xmlns:a16="http://schemas.microsoft.com/office/drawing/2014/main" id="{9890C482-2A14-3DBD-7210-77F78748495D}"/>
              </a:ext>
            </a:extLst>
          </p:cNvPr>
          <p:cNvPicPr>
            <a:picLocks noChangeAspect="1"/>
          </p:cNvPicPr>
          <p:nvPr/>
        </p:nvPicPr>
        <p:blipFill>
          <a:blip r:embed="rId4"/>
          <a:stretch>
            <a:fillRect/>
          </a:stretch>
        </p:blipFill>
        <p:spPr>
          <a:xfrm>
            <a:off x="551040" y="2375387"/>
            <a:ext cx="5421135" cy="3545502"/>
          </a:xfrm>
          <a:prstGeom prst="rect">
            <a:avLst/>
          </a:prstGeom>
        </p:spPr>
      </p:pic>
      <p:sp>
        <p:nvSpPr>
          <p:cNvPr id="9" name="矩形 8"/>
          <p:cNvSpPr/>
          <p:nvPr/>
        </p:nvSpPr>
        <p:spPr>
          <a:xfrm>
            <a:off x="1943100" y="6443144"/>
            <a:ext cx="10604500" cy="369332"/>
          </a:xfrm>
          <a:prstGeom prst="rect">
            <a:avLst/>
          </a:prstGeom>
        </p:spPr>
        <p:txBody>
          <a:bodyPr wrap="square">
            <a:spAutoFit/>
          </a:bodyPr>
          <a:lstStyle/>
          <a:p>
            <a:r>
              <a:rPr lang="en-US" altLang="zh-CN" dirty="0" err="1">
                <a:solidFill>
                  <a:srgbClr val="222222"/>
                </a:solidFill>
                <a:latin typeface="+mj-lt"/>
              </a:rPr>
              <a:t>Vaswani</a:t>
            </a:r>
            <a:r>
              <a:rPr lang="en-US" altLang="zh-CN" dirty="0">
                <a:solidFill>
                  <a:srgbClr val="222222"/>
                </a:solidFill>
                <a:latin typeface="+mj-lt"/>
              </a:rPr>
              <a:t> A , </a:t>
            </a:r>
            <a:r>
              <a:rPr lang="en-US" altLang="zh-CN" dirty="0" err="1">
                <a:solidFill>
                  <a:srgbClr val="222222"/>
                </a:solidFill>
                <a:latin typeface="+mj-lt"/>
              </a:rPr>
              <a:t>Shazeer</a:t>
            </a:r>
            <a:r>
              <a:rPr lang="en-US" altLang="zh-CN" dirty="0">
                <a:solidFill>
                  <a:srgbClr val="222222"/>
                </a:solidFill>
                <a:latin typeface="+mj-lt"/>
              </a:rPr>
              <a:t> N , </a:t>
            </a:r>
            <a:r>
              <a:rPr lang="en-US" altLang="zh-CN" dirty="0" err="1">
                <a:solidFill>
                  <a:srgbClr val="222222"/>
                </a:solidFill>
                <a:latin typeface="+mj-lt"/>
              </a:rPr>
              <a:t>Parmar</a:t>
            </a:r>
            <a:r>
              <a:rPr lang="en-US" altLang="zh-CN" dirty="0">
                <a:solidFill>
                  <a:srgbClr val="222222"/>
                </a:solidFill>
                <a:latin typeface="+mj-lt"/>
              </a:rPr>
              <a:t> N , et al. </a:t>
            </a:r>
            <a:r>
              <a:rPr lang="en-US" altLang="zh-CN" b="1" dirty="0">
                <a:solidFill>
                  <a:srgbClr val="222222"/>
                </a:solidFill>
                <a:latin typeface="+mj-lt"/>
              </a:rPr>
              <a:t>Attention Is All </a:t>
            </a:r>
            <a:r>
              <a:rPr lang="en-US" altLang="zh-CN" b="1" dirty="0" smtClean="0">
                <a:solidFill>
                  <a:srgbClr val="222222"/>
                </a:solidFill>
                <a:latin typeface="+mj-lt"/>
              </a:rPr>
              <a:t>You</a:t>
            </a:r>
            <a:r>
              <a:rPr lang="en-US" altLang="zh-CN" dirty="0" smtClean="0">
                <a:solidFill>
                  <a:srgbClr val="222222"/>
                </a:solidFill>
                <a:latin typeface="+mj-lt"/>
              </a:rPr>
              <a:t>,</a:t>
            </a:r>
            <a:r>
              <a:rPr lang="en-US" altLang="zh-CN" dirty="0">
                <a:latin typeface="+mj-lt"/>
              </a:rPr>
              <a:t> </a:t>
            </a:r>
            <a:r>
              <a:rPr lang="en-US" altLang="zh-CN" dirty="0" err="1">
                <a:latin typeface="+mj-lt"/>
              </a:rPr>
              <a:t>NeurIPS</a:t>
            </a:r>
            <a:r>
              <a:rPr lang="en-US" altLang="zh-CN" dirty="0">
                <a:latin typeface="+mj-lt"/>
              </a:rPr>
              <a:t> </a:t>
            </a:r>
            <a:r>
              <a:rPr lang="en-US" altLang="zh-CN" dirty="0" smtClean="0">
                <a:latin typeface="+mj-lt"/>
              </a:rPr>
              <a:t>2017</a:t>
            </a:r>
            <a:endParaRPr lang="zh-CN" altLang="en-US" dirty="0">
              <a:latin typeface="+mj-lt"/>
            </a:endParaRPr>
          </a:p>
        </p:txBody>
      </p:sp>
      <p:sp>
        <p:nvSpPr>
          <p:cNvPr id="3" name="矩形 2"/>
          <p:cNvSpPr/>
          <p:nvPr/>
        </p:nvSpPr>
        <p:spPr>
          <a:xfrm>
            <a:off x="11251613" y="1331396"/>
            <a:ext cx="678391" cy="369332"/>
          </a:xfrm>
          <a:prstGeom prst="rect">
            <a:avLst/>
          </a:prstGeom>
        </p:spPr>
        <p:txBody>
          <a:bodyPr wrap="none">
            <a:spAutoFit/>
          </a:bodyPr>
          <a:lstStyle/>
          <a:p>
            <a:r>
              <a:rPr lang="en-US" altLang="zh-CN" smtClean="0">
                <a:solidFill>
                  <a:srgbClr val="333333"/>
                </a:solidFill>
                <a:latin typeface="Microsoft yahei" panose="020B0503020204020204" pitchFamily="34" charset="-122"/>
                <a:ea typeface="Microsoft yahei" panose="020B0503020204020204" pitchFamily="34" charset="-122"/>
              </a:rPr>
              <a:t>N=6</a:t>
            </a:r>
            <a:endParaRPr lang="zh-CN" altLang="en-US" dirty="0"/>
          </a:p>
        </p:txBody>
      </p:sp>
      <p:pic>
        <p:nvPicPr>
          <p:cNvPr id="4" name="图片 3"/>
          <p:cNvPicPr>
            <a:picLocks noChangeAspect="1"/>
          </p:cNvPicPr>
          <p:nvPr/>
        </p:nvPicPr>
        <p:blipFill>
          <a:blip r:embed="rId5"/>
          <a:stretch>
            <a:fillRect/>
          </a:stretch>
        </p:blipFill>
        <p:spPr>
          <a:xfrm>
            <a:off x="4213307" y="5537479"/>
            <a:ext cx="1209675" cy="304800"/>
          </a:xfrm>
          <a:prstGeom prst="rect">
            <a:avLst/>
          </a:prstGeom>
        </p:spPr>
      </p:pic>
      <p:sp>
        <p:nvSpPr>
          <p:cNvPr id="6" name="矩形 5"/>
          <p:cNvSpPr/>
          <p:nvPr/>
        </p:nvSpPr>
        <p:spPr>
          <a:xfrm>
            <a:off x="3742965" y="5565501"/>
            <a:ext cx="569387" cy="276999"/>
          </a:xfrm>
          <a:prstGeom prst="rect">
            <a:avLst/>
          </a:prstGeom>
        </p:spPr>
        <p:txBody>
          <a:bodyPr wrap="none">
            <a:spAutoFit/>
          </a:bodyPr>
          <a:lstStyle/>
          <a:p>
            <a:r>
              <a:rPr lang="en-US" altLang="zh-CN" sz="1200" dirty="0">
                <a:solidFill>
                  <a:srgbClr val="121212"/>
                </a:solidFill>
                <a:latin typeface="-apple-system"/>
              </a:rPr>
              <a:t>&lt;BOS&gt;</a:t>
            </a:r>
            <a:endParaRPr lang="zh-CN" altLang="en-US" sz="1200" dirty="0"/>
          </a:p>
        </p:txBody>
      </p:sp>
      <p:sp>
        <p:nvSpPr>
          <p:cNvPr id="10" name="矩形 9"/>
          <p:cNvSpPr/>
          <p:nvPr/>
        </p:nvSpPr>
        <p:spPr>
          <a:xfrm>
            <a:off x="7656844" y="4702629"/>
            <a:ext cx="3456633" cy="121826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a:off x="9248531" y="1222863"/>
            <a:ext cx="1406769" cy="1047261"/>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字方塊 6">
            <a:extLst>
              <a:ext uri="{FF2B5EF4-FFF2-40B4-BE49-F238E27FC236}">
                <a16:creationId xmlns:a16="http://schemas.microsoft.com/office/drawing/2014/main" id="{166F523D-F198-8978-47FC-04A02472DAD2}"/>
              </a:ext>
            </a:extLst>
          </p:cNvPr>
          <p:cNvSpPr txBox="1"/>
          <p:nvPr/>
        </p:nvSpPr>
        <p:spPr>
          <a:xfrm>
            <a:off x="6115787" y="5208558"/>
            <a:ext cx="1671637" cy="523220"/>
          </a:xfrm>
          <a:prstGeom prst="rect">
            <a:avLst/>
          </a:prstGeom>
          <a:noFill/>
        </p:spPr>
        <p:txBody>
          <a:bodyPr wrap="square" rtlCol="0">
            <a:spAutoFit/>
          </a:bodyPr>
          <a:lstStyle/>
          <a:p>
            <a:pPr algn="ctr" defTabSz="457200"/>
            <a:r>
              <a:rPr lang="en-US" altLang="zh-CN" sz="2800" b="1" i="1" u="sng" dirty="0" smtClean="0">
                <a:solidFill>
                  <a:prstClr val="black"/>
                </a:solidFill>
                <a:latin typeface="Calibri" panose="020F0502020204030204"/>
                <a:ea typeface="新細明體" panose="02020500000000000000" pitchFamily="18" charset="-120"/>
              </a:rPr>
              <a:t>Input</a:t>
            </a:r>
            <a:endParaRPr lang="zh-TW" altLang="en-US" sz="2800" b="1" i="1" u="sng" dirty="0">
              <a:solidFill>
                <a:prstClr val="black"/>
              </a:solidFill>
              <a:latin typeface="Calibri" panose="020F0502020204030204"/>
              <a:ea typeface="新細明體" panose="02020500000000000000" pitchFamily="18" charset="-120"/>
            </a:endParaRPr>
          </a:p>
        </p:txBody>
      </p:sp>
      <p:sp>
        <p:nvSpPr>
          <p:cNvPr id="16" name="文字方塊 6">
            <a:extLst>
              <a:ext uri="{FF2B5EF4-FFF2-40B4-BE49-F238E27FC236}">
                <a16:creationId xmlns:a16="http://schemas.microsoft.com/office/drawing/2014/main" id="{166F523D-F198-8978-47FC-04A02472DAD2}"/>
              </a:ext>
            </a:extLst>
          </p:cNvPr>
          <p:cNvSpPr txBox="1"/>
          <p:nvPr/>
        </p:nvSpPr>
        <p:spPr>
          <a:xfrm>
            <a:off x="7706599" y="1277335"/>
            <a:ext cx="1671637" cy="523220"/>
          </a:xfrm>
          <a:prstGeom prst="rect">
            <a:avLst/>
          </a:prstGeom>
          <a:noFill/>
        </p:spPr>
        <p:txBody>
          <a:bodyPr wrap="square" rtlCol="0">
            <a:spAutoFit/>
          </a:bodyPr>
          <a:lstStyle/>
          <a:p>
            <a:pPr algn="ctr" defTabSz="457200"/>
            <a:r>
              <a:rPr lang="en-US" altLang="zh-CN" sz="2800" b="1" i="1" u="sng" dirty="0" smtClean="0">
                <a:solidFill>
                  <a:prstClr val="black"/>
                </a:solidFill>
                <a:latin typeface="Calibri" panose="020F0502020204030204"/>
                <a:ea typeface="新細明體" panose="02020500000000000000" pitchFamily="18" charset="-120"/>
              </a:rPr>
              <a:t>Output</a:t>
            </a:r>
            <a:endParaRPr lang="zh-TW" altLang="en-US" sz="2800" b="1" i="1" u="sng" dirty="0">
              <a:solidFill>
                <a:prstClr val="black"/>
              </a:solidFill>
              <a:latin typeface="Calibri" panose="020F0502020204030204"/>
              <a:ea typeface="新細明體" panose="02020500000000000000" pitchFamily="18" charset="-120"/>
            </a:endParaRPr>
          </a:p>
        </p:txBody>
      </p:sp>
      <p:sp>
        <p:nvSpPr>
          <p:cNvPr id="17" name="文字方塊 6">
            <a:extLst>
              <a:ext uri="{FF2B5EF4-FFF2-40B4-BE49-F238E27FC236}">
                <a16:creationId xmlns:a16="http://schemas.microsoft.com/office/drawing/2014/main" id="{166F523D-F198-8978-47FC-04A02472DAD2}"/>
              </a:ext>
            </a:extLst>
          </p:cNvPr>
          <p:cNvSpPr txBox="1"/>
          <p:nvPr/>
        </p:nvSpPr>
        <p:spPr>
          <a:xfrm>
            <a:off x="7787424" y="5577889"/>
            <a:ext cx="865185" cy="276999"/>
          </a:xfrm>
          <a:prstGeom prst="rect">
            <a:avLst/>
          </a:prstGeom>
          <a:noFill/>
        </p:spPr>
        <p:txBody>
          <a:bodyPr wrap="square" rtlCol="0">
            <a:spAutoFit/>
          </a:bodyPr>
          <a:lstStyle/>
          <a:p>
            <a:pPr algn="ctr" defTabSz="457200"/>
            <a:r>
              <a:rPr lang="zh-CN" altLang="en-US" sz="1200" b="1" dirty="0">
                <a:solidFill>
                  <a:srgbClr val="FF0000"/>
                </a:solidFill>
                <a:latin typeface="Calibri" panose="020F0502020204030204"/>
                <a:ea typeface="新細明體" panose="02020500000000000000" pitchFamily="18" charset="-120"/>
              </a:rPr>
              <a:t>原</a:t>
            </a:r>
            <a:r>
              <a:rPr lang="zh-CN" altLang="en-US" sz="1200" b="1" dirty="0" smtClean="0">
                <a:solidFill>
                  <a:srgbClr val="FF0000"/>
                </a:solidFill>
                <a:latin typeface="Calibri" panose="020F0502020204030204"/>
                <a:ea typeface="新細明體" panose="02020500000000000000" pitchFamily="18" charset="-120"/>
              </a:rPr>
              <a:t>文本</a:t>
            </a:r>
            <a:endParaRPr lang="zh-TW" altLang="en-US" sz="1200" b="1" dirty="0">
              <a:solidFill>
                <a:srgbClr val="FF0000"/>
              </a:solidFill>
              <a:latin typeface="Calibri" panose="020F0502020204030204"/>
              <a:ea typeface="新細明體" panose="02020500000000000000" pitchFamily="18" charset="-120"/>
            </a:endParaRPr>
          </a:p>
        </p:txBody>
      </p:sp>
      <p:sp>
        <p:nvSpPr>
          <p:cNvPr id="18" name="文字方塊 6">
            <a:extLst>
              <a:ext uri="{FF2B5EF4-FFF2-40B4-BE49-F238E27FC236}">
                <a16:creationId xmlns:a16="http://schemas.microsoft.com/office/drawing/2014/main" id="{166F523D-F198-8978-47FC-04A02472DAD2}"/>
              </a:ext>
            </a:extLst>
          </p:cNvPr>
          <p:cNvSpPr txBox="1"/>
          <p:nvPr/>
        </p:nvSpPr>
        <p:spPr>
          <a:xfrm>
            <a:off x="10252281" y="5593278"/>
            <a:ext cx="865185" cy="276999"/>
          </a:xfrm>
          <a:prstGeom prst="rect">
            <a:avLst/>
          </a:prstGeom>
          <a:noFill/>
        </p:spPr>
        <p:txBody>
          <a:bodyPr wrap="square" rtlCol="0">
            <a:spAutoFit/>
          </a:bodyPr>
          <a:lstStyle/>
          <a:p>
            <a:pPr algn="ctr" defTabSz="457200"/>
            <a:r>
              <a:rPr lang="zh-CN" altLang="en-US" sz="1200" b="1" dirty="0" smtClean="0">
                <a:solidFill>
                  <a:srgbClr val="FF0000"/>
                </a:solidFill>
                <a:latin typeface="Calibri" panose="020F0502020204030204"/>
                <a:ea typeface="新細明體" panose="02020500000000000000" pitchFamily="18" charset="-120"/>
              </a:rPr>
              <a:t>目标文本</a:t>
            </a:r>
            <a:endParaRPr lang="zh-TW" altLang="en-US" sz="1200" b="1" dirty="0">
              <a:solidFill>
                <a:srgbClr val="FF0000"/>
              </a:solidFill>
              <a:latin typeface="Calibri" panose="020F0502020204030204"/>
              <a:ea typeface="新細明體" panose="02020500000000000000" pitchFamily="18" charset="-120"/>
            </a:endParaRPr>
          </a:p>
        </p:txBody>
      </p:sp>
    </p:spTree>
    <p:extLst>
      <p:ext uri="{BB962C8B-B14F-4D97-AF65-F5344CB8AC3E}">
        <p14:creationId xmlns:p14="http://schemas.microsoft.com/office/powerpoint/2010/main" val="786289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3" grpId="0"/>
      <p:bldP spid="6" grpId="0"/>
      <p:bldP spid="10" grpId="0" animBg="1"/>
      <p:bldP spid="14" grpId="0" animBg="1"/>
      <p:bldP spid="15" grpId="0"/>
      <p:bldP spid="16" grpId="0"/>
      <p:bldP spid="17" grpId="0"/>
      <p:bldP spid="1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a:t>Self-attention</a:t>
            </a:r>
            <a:endParaRPr lang="zh-CN" altLang="en-US" dirty="0"/>
          </a:p>
        </p:txBody>
      </p:sp>
      <p:pic>
        <p:nvPicPr>
          <p:cNvPr id="4" name="内容占位符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65555" y="1645960"/>
            <a:ext cx="5119036" cy="4616482"/>
          </a:xfrm>
        </p:spPr>
      </p:pic>
      <p:sp>
        <p:nvSpPr>
          <p:cNvPr id="5" name="矩形 4"/>
          <p:cNvSpPr/>
          <p:nvPr/>
        </p:nvSpPr>
        <p:spPr>
          <a:xfrm>
            <a:off x="3810000" y="5957642"/>
            <a:ext cx="2286000" cy="609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7250" y="1551504"/>
            <a:ext cx="6164826" cy="3505200"/>
          </a:xfrm>
          <a:prstGeom prst="rect">
            <a:avLst/>
          </a:prstGeom>
        </p:spPr>
      </p:pic>
      <p:sp>
        <p:nvSpPr>
          <p:cNvPr id="7" name="矩形 6"/>
          <p:cNvSpPr/>
          <p:nvPr/>
        </p:nvSpPr>
        <p:spPr>
          <a:xfrm>
            <a:off x="10458450" y="4481513"/>
            <a:ext cx="1434110" cy="6381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a:extLst>
              <a:ext uri="{FF2B5EF4-FFF2-40B4-BE49-F238E27FC236}">
                <a16:creationId xmlns:a16="http://schemas.microsoft.com/office/drawing/2014/main" id="{EC43CC99-70E8-7E3E-7171-D24AD55EBF52}"/>
              </a:ext>
            </a:extLst>
          </p:cNvPr>
          <p:cNvPicPr>
            <a:picLocks noChangeAspect="1"/>
          </p:cNvPicPr>
          <p:nvPr/>
        </p:nvPicPr>
        <p:blipFill>
          <a:blip r:embed="rId5"/>
          <a:stretch>
            <a:fillRect/>
          </a:stretch>
        </p:blipFill>
        <p:spPr>
          <a:xfrm>
            <a:off x="5954207" y="5119688"/>
            <a:ext cx="5693787" cy="1219200"/>
          </a:xfrm>
          <a:prstGeom prst="rect">
            <a:avLst/>
          </a:prstGeom>
          <a:ln>
            <a:noFill/>
          </a:ln>
          <a:effectLst>
            <a:outerShdw blurRad="292100" dist="139700" dir="2700000" algn="tl" rotWithShape="0">
              <a:srgbClr val="333333">
                <a:alpha val="65000"/>
              </a:srgbClr>
            </a:outerShdw>
          </a:effectLst>
        </p:spPr>
      </p:pic>
      <p:sp>
        <p:nvSpPr>
          <p:cNvPr id="9" name="矩形 8"/>
          <p:cNvSpPr/>
          <p:nvPr/>
        </p:nvSpPr>
        <p:spPr>
          <a:xfrm>
            <a:off x="7002668" y="6404202"/>
            <a:ext cx="5006563" cy="369332"/>
          </a:xfrm>
          <a:prstGeom prst="rect">
            <a:avLst/>
          </a:prstGeom>
        </p:spPr>
        <p:txBody>
          <a:bodyPr wrap="none">
            <a:spAutoFit/>
          </a:bodyPr>
          <a:lstStyle/>
          <a:p>
            <a:r>
              <a:rPr lang="en-US" altLang="zh-CN" dirty="0"/>
              <a:t>http://jalammar.github.io/illustrated-transformer/</a:t>
            </a:r>
            <a:endParaRPr lang="zh-CN" altLang="en-US" dirty="0"/>
          </a:p>
        </p:txBody>
      </p:sp>
      <p:sp>
        <p:nvSpPr>
          <p:cNvPr id="3" name="矩形 2"/>
          <p:cNvSpPr/>
          <p:nvPr/>
        </p:nvSpPr>
        <p:spPr>
          <a:xfrm>
            <a:off x="465555" y="1276628"/>
            <a:ext cx="5995552" cy="369332"/>
          </a:xfrm>
          <a:prstGeom prst="rect">
            <a:avLst/>
          </a:prstGeom>
        </p:spPr>
        <p:txBody>
          <a:bodyPr wrap="none">
            <a:spAutoFit/>
          </a:bodyPr>
          <a:lstStyle/>
          <a:p>
            <a:r>
              <a:rPr lang="zh-CN" altLang="en-US" b="1" dirty="0">
                <a:solidFill>
                  <a:srgbClr val="121212"/>
                </a:solidFill>
                <a:latin typeface="-apple-system"/>
              </a:rPr>
              <a:t>用句子中所有单词向量的加权和来代表某一个单词的向量</a:t>
            </a:r>
            <a:endParaRPr lang="zh-CN" altLang="en-US" dirty="0"/>
          </a:p>
        </p:txBody>
      </p:sp>
    </p:spTree>
    <p:extLst>
      <p:ext uri="{BB962C8B-B14F-4D97-AF65-F5344CB8AC3E}">
        <p14:creationId xmlns:p14="http://schemas.microsoft.com/office/powerpoint/2010/main" val="7709503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r>
              <a:rPr lang="en-US" altLang="zh-CN" dirty="0" smtClean="0"/>
              <a:t>Self-attention</a:t>
            </a:r>
            <a:endParaRPr lang="zh-CN" altLang="en-US" dirty="0"/>
          </a:p>
        </p:txBody>
      </p:sp>
      <p:pic>
        <p:nvPicPr>
          <p:cNvPr id="4" name="内容占位符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187943" y="1404567"/>
            <a:ext cx="5638800" cy="5359012"/>
          </a:xfrm>
        </p:spPr>
      </p:pic>
      <p:sp>
        <p:nvSpPr>
          <p:cNvPr id="5" name="矩形 4"/>
          <p:cNvSpPr/>
          <p:nvPr/>
        </p:nvSpPr>
        <p:spPr>
          <a:xfrm>
            <a:off x="5064159" y="6295204"/>
            <a:ext cx="1828800" cy="1774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 name="图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 y="1280160"/>
            <a:ext cx="5041767" cy="197041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矩形 6"/>
          <p:cNvSpPr/>
          <p:nvPr/>
        </p:nvSpPr>
        <p:spPr>
          <a:xfrm>
            <a:off x="3593967" y="2971800"/>
            <a:ext cx="1828800" cy="1774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65215" y="3579997"/>
            <a:ext cx="2632447" cy="2981325"/>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9" name="矩形 8"/>
          <p:cNvSpPr/>
          <p:nvPr/>
        </p:nvSpPr>
        <p:spPr>
          <a:xfrm>
            <a:off x="10942572" y="6383910"/>
            <a:ext cx="1828800" cy="1774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10058400" y="6472616"/>
            <a:ext cx="1828800" cy="17741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191846" y="6406941"/>
            <a:ext cx="633042" cy="1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26998" y="6548816"/>
            <a:ext cx="2047355" cy="276999"/>
          </a:xfrm>
          <a:prstGeom prst="rect">
            <a:avLst/>
          </a:prstGeom>
        </p:spPr>
        <p:txBody>
          <a:bodyPr wrap="none">
            <a:spAutoFit/>
          </a:bodyPr>
          <a:lstStyle/>
          <a:p>
            <a:r>
              <a:rPr lang="en-US" altLang="zh-CN" sz="1200" dirty="0" err="1"/>
              <a:t>d</a:t>
            </a:r>
            <a:r>
              <a:rPr lang="en-US" altLang="zh-CN" sz="1200" baseline="-25000" dirty="0" err="1"/>
              <a:t>k</a:t>
            </a:r>
            <a:r>
              <a:rPr lang="zh-CN" altLang="en-US" sz="1200" dirty="0"/>
              <a:t>是</a:t>
            </a:r>
            <a:r>
              <a:rPr lang="en-US" altLang="zh-CN" sz="1200" dirty="0"/>
              <a:t>Q</a:t>
            </a:r>
            <a:r>
              <a:rPr lang="zh-CN" altLang="en-US" sz="1200" dirty="0"/>
              <a:t>、</a:t>
            </a:r>
            <a:r>
              <a:rPr lang="en-US" altLang="zh-CN" sz="1200" dirty="0"/>
              <a:t>K</a:t>
            </a:r>
            <a:r>
              <a:rPr lang="zh-CN" altLang="en-US" sz="1200" dirty="0"/>
              <a:t>、</a:t>
            </a:r>
            <a:r>
              <a:rPr lang="en-US" altLang="zh-CN" sz="1200" dirty="0"/>
              <a:t>V</a:t>
            </a:r>
            <a:r>
              <a:rPr lang="zh-CN" altLang="en-US" sz="1200" dirty="0"/>
              <a:t>的向量</a:t>
            </a:r>
            <a:r>
              <a:rPr lang="zh-CN" altLang="en-US" sz="1200" dirty="0" smtClean="0"/>
              <a:t>长度</a:t>
            </a:r>
            <a:r>
              <a:rPr lang="en-US" altLang="zh-CN" sz="1200" dirty="0" smtClean="0"/>
              <a:t>64</a:t>
            </a:r>
            <a:endParaRPr lang="en-US" altLang="zh-CN" sz="1200" dirty="0"/>
          </a:p>
        </p:txBody>
      </p:sp>
      <p:pic>
        <p:nvPicPr>
          <p:cNvPr id="12" name="图片 11"/>
          <p:cNvPicPr>
            <a:picLocks noChangeAspect="1"/>
          </p:cNvPicPr>
          <p:nvPr/>
        </p:nvPicPr>
        <p:blipFill>
          <a:blip r:embed="rId6"/>
          <a:stretch>
            <a:fillRect/>
          </a:stretch>
        </p:blipFill>
        <p:spPr>
          <a:xfrm>
            <a:off x="8686333" y="3849404"/>
            <a:ext cx="104775" cy="123825"/>
          </a:xfrm>
          <a:prstGeom prst="rect">
            <a:avLst/>
          </a:prstGeom>
        </p:spPr>
      </p:pic>
      <p:pic>
        <p:nvPicPr>
          <p:cNvPr id="13" name="图片 12"/>
          <p:cNvPicPr>
            <a:picLocks noChangeAspect="1"/>
          </p:cNvPicPr>
          <p:nvPr/>
        </p:nvPicPr>
        <p:blipFill>
          <a:blip r:embed="rId6"/>
          <a:stretch>
            <a:fillRect/>
          </a:stretch>
        </p:blipFill>
        <p:spPr>
          <a:xfrm>
            <a:off x="10253881" y="3839355"/>
            <a:ext cx="104775" cy="123825"/>
          </a:xfrm>
          <a:prstGeom prst="rect">
            <a:avLst/>
          </a:prstGeom>
        </p:spPr>
      </p:pic>
    </p:spTree>
    <p:extLst>
      <p:ext uri="{BB962C8B-B14F-4D97-AF65-F5344CB8AC3E}">
        <p14:creationId xmlns:p14="http://schemas.microsoft.com/office/powerpoint/2010/main" val="295748747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609600" y="0"/>
            <a:ext cx="9980682" cy="1096962"/>
          </a:xfrm>
        </p:spPr>
        <p:txBody>
          <a:bodyPr/>
          <a:lstStyle/>
          <a:p>
            <a:pPr algn="l"/>
            <a:r>
              <a:rPr lang="en-US" altLang="zh-CN" dirty="0" smtClean="0"/>
              <a:t>Multi Head Self-attention</a:t>
            </a:r>
            <a:endParaRPr lang="zh-CN" altLang="en-US" dirty="0"/>
          </a:p>
        </p:txBody>
      </p:sp>
      <p:pic>
        <p:nvPicPr>
          <p:cNvPr id="4" name="内容占位符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446085" y="1307656"/>
            <a:ext cx="3733800" cy="5499988"/>
          </a:xfrm>
        </p:spPr>
      </p:pic>
      <p:grpSp>
        <p:nvGrpSpPr>
          <p:cNvPr id="10" name="组合 9"/>
          <p:cNvGrpSpPr/>
          <p:nvPr/>
        </p:nvGrpSpPr>
        <p:grpSpPr>
          <a:xfrm>
            <a:off x="447599" y="1696162"/>
            <a:ext cx="5867400" cy="2787572"/>
            <a:chOff x="3445452" y="2076639"/>
            <a:chExt cx="3579287" cy="1554799"/>
          </a:xfrm>
        </p:grpSpPr>
        <p:pic>
          <p:nvPicPr>
            <p:cNvPr id="11" name="图片 10"/>
            <p:cNvPicPr>
              <a:picLocks noChangeAspect="1"/>
            </p:cNvPicPr>
            <p:nvPr/>
          </p:nvPicPr>
          <p:blipFill>
            <a:blip r:embed="rId3"/>
            <a:stretch>
              <a:fillRect/>
            </a:stretch>
          </p:blipFill>
          <p:spPr>
            <a:xfrm>
              <a:off x="3445452" y="2715656"/>
              <a:ext cx="3579287" cy="915782"/>
            </a:xfrm>
            <a:prstGeom prst="rect">
              <a:avLst/>
            </a:prstGeom>
          </p:spPr>
        </p:pic>
        <p:pic>
          <p:nvPicPr>
            <p:cNvPr id="12" name="图片 11"/>
            <p:cNvPicPr>
              <a:picLocks noChangeAspect="1"/>
            </p:cNvPicPr>
            <p:nvPr/>
          </p:nvPicPr>
          <p:blipFill>
            <a:blip r:embed="rId4"/>
            <a:stretch>
              <a:fillRect/>
            </a:stretch>
          </p:blipFill>
          <p:spPr>
            <a:xfrm>
              <a:off x="3480435" y="2076639"/>
              <a:ext cx="3002345" cy="611337"/>
            </a:xfrm>
            <a:prstGeom prst="rect">
              <a:avLst/>
            </a:prstGeom>
          </p:spPr>
        </p:pic>
      </p:grpSp>
      <p:pic>
        <p:nvPicPr>
          <p:cNvPr id="1026" name="Picture 2" descr="e97583cc-efd1-11ec-ba43-dac502259ad0.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6584" y="3432267"/>
            <a:ext cx="2561640" cy="34257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398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Transformer</a:t>
            </a:r>
            <a:endParaRPr lang="zh-CN" altLang="en-US" dirty="0"/>
          </a:p>
        </p:txBody>
      </p:sp>
      <p:sp>
        <p:nvSpPr>
          <p:cNvPr id="5" name="矩形 4"/>
          <p:cNvSpPr/>
          <p:nvPr/>
        </p:nvSpPr>
        <p:spPr>
          <a:xfrm>
            <a:off x="9067800" y="6096000"/>
            <a:ext cx="2146742" cy="369332"/>
          </a:xfrm>
          <a:prstGeom prst="rect">
            <a:avLst/>
          </a:prstGeom>
        </p:spPr>
        <p:txBody>
          <a:bodyPr wrap="none">
            <a:spAutoFit/>
          </a:bodyPr>
          <a:lstStyle/>
          <a:p>
            <a:r>
              <a:rPr lang="zh-CN" altLang="en-US" dirty="0">
                <a:solidFill>
                  <a:srgbClr val="FF0000"/>
                </a:solidFill>
                <a:latin typeface="-apple-system"/>
              </a:rPr>
              <a:t>编码器</a:t>
            </a:r>
            <a:r>
              <a:rPr lang="en-US" altLang="zh-CN" dirty="0">
                <a:solidFill>
                  <a:srgbClr val="FF0000"/>
                </a:solidFill>
                <a:latin typeface="-apple-system"/>
              </a:rPr>
              <a:t>-</a:t>
            </a:r>
            <a:r>
              <a:rPr lang="zh-CN" altLang="en-US" dirty="0">
                <a:solidFill>
                  <a:srgbClr val="FF0000"/>
                </a:solidFill>
                <a:latin typeface="-apple-system"/>
              </a:rPr>
              <a:t>解码器结构</a:t>
            </a:r>
            <a:endParaRPr lang="zh-CN" altLang="en-US" dirty="0">
              <a:solidFill>
                <a:srgbClr val="FF0000"/>
              </a:solidFill>
            </a:endParaRPr>
          </a:p>
        </p:txBody>
      </p:sp>
      <p:pic>
        <p:nvPicPr>
          <p:cNvPr id="6" name="内容占位符 5"/>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228600"/>
            <a:ext cx="3706222" cy="2413000"/>
          </a:xfr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93" y="76200"/>
            <a:ext cx="12088407" cy="6641057"/>
          </a:xfrm>
          <a:prstGeom prst="rect">
            <a:avLst/>
          </a:prstGeom>
        </p:spPr>
      </p:pic>
      <p:sp>
        <p:nvSpPr>
          <p:cNvPr id="4" name="矩形 3"/>
          <p:cNvSpPr/>
          <p:nvPr/>
        </p:nvSpPr>
        <p:spPr>
          <a:xfrm>
            <a:off x="330153" y="849868"/>
            <a:ext cx="1107996" cy="369332"/>
          </a:xfrm>
          <a:prstGeom prst="rect">
            <a:avLst/>
          </a:prstGeom>
        </p:spPr>
        <p:txBody>
          <a:bodyPr wrap="none">
            <a:spAutoFit/>
          </a:bodyPr>
          <a:lstStyle/>
          <a:p>
            <a:r>
              <a:rPr lang="zh-CN" altLang="en-US" dirty="0">
                <a:solidFill>
                  <a:srgbClr val="121212"/>
                </a:solidFill>
                <a:latin typeface="-apple-system"/>
              </a:rPr>
              <a:t>推理阶段</a:t>
            </a:r>
            <a:endParaRPr lang="zh-CN" altLang="en-US" dirty="0"/>
          </a:p>
        </p:txBody>
      </p:sp>
    </p:spTree>
    <p:extLst>
      <p:ext uri="{BB962C8B-B14F-4D97-AF65-F5344CB8AC3E}">
        <p14:creationId xmlns:p14="http://schemas.microsoft.com/office/powerpoint/2010/main" val="378312220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205888" cy="6705600"/>
          </a:xfrm>
        </p:spPr>
      </p:pic>
      <p:sp>
        <p:nvSpPr>
          <p:cNvPr id="3" name="矩形 2"/>
          <p:cNvSpPr/>
          <p:nvPr/>
        </p:nvSpPr>
        <p:spPr>
          <a:xfrm>
            <a:off x="10653313" y="5791021"/>
            <a:ext cx="1367237" cy="369332"/>
          </a:xfrm>
          <a:prstGeom prst="rect">
            <a:avLst/>
          </a:prstGeom>
        </p:spPr>
        <p:txBody>
          <a:bodyPr wrap="square">
            <a:spAutoFit/>
          </a:bodyPr>
          <a:lstStyle/>
          <a:p>
            <a:r>
              <a:rPr lang="zh-CN" altLang="en-US" dirty="0" smtClean="0">
                <a:solidFill>
                  <a:srgbClr val="4D4D4D"/>
                </a:solidFill>
                <a:latin typeface="-apple-system"/>
              </a:rPr>
              <a:t>自回归模型</a:t>
            </a:r>
            <a:endParaRPr lang="zh-CN" altLang="en-US" dirty="0"/>
          </a:p>
        </p:txBody>
      </p:sp>
    </p:spTree>
    <p:extLst>
      <p:ext uri="{BB962C8B-B14F-4D97-AF65-F5344CB8AC3E}">
        <p14:creationId xmlns:p14="http://schemas.microsoft.com/office/powerpoint/2010/main" val="422275566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3" name="图片 2"/>
          <p:cNvPicPr>
            <a:picLocks noChangeAspect="1"/>
          </p:cNvPicPr>
          <p:nvPr/>
        </p:nvPicPr>
        <p:blipFill>
          <a:blip r:embed="rId2"/>
          <a:stretch>
            <a:fillRect/>
          </a:stretch>
        </p:blipFill>
        <p:spPr>
          <a:xfrm>
            <a:off x="482318" y="158368"/>
            <a:ext cx="11709682" cy="6586696"/>
          </a:xfrm>
          <a:prstGeom prst="rect">
            <a:avLst/>
          </a:prstGeom>
        </p:spPr>
      </p:pic>
    </p:spTree>
    <p:extLst>
      <p:ext uri="{BB962C8B-B14F-4D97-AF65-F5344CB8AC3E}">
        <p14:creationId xmlns:p14="http://schemas.microsoft.com/office/powerpoint/2010/main" val="410800428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2532484" y="2301424"/>
            <a:ext cx="5734050" cy="2219691"/>
          </a:xfrm>
        </p:spPr>
        <p:txBody>
          <a:bodyPr/>
          <a:lstStyle/>
          <a:p>
            <a:r>
              <a:rPr lang="zh-CN" altLang="en-US" dirty="0"/>
              <a:t>谢谢！</a:t>
            </a:r>
          </a:p>
        </p:txBody>
      </p:sp>
      <p:sp>
        <p:nvSpPr>
          <p:cNvPr id="7" name="副标题 6"/>
          <p:cNvSpPr>
            <a:spLocks noGrp="1"/>
          </p:cNvSpPr>
          <p:nvPr>
            <p:ph type="subTitle" idx="1"/>
          </p:nvPr>
        </p:nvSpPr>
        <p:spPr/>
        <p:txBody>
          <a:bodyPr/>
          <a:lstStyle/>
          <a:p>
            <a:endParaRPr lang="zh-CN" altLang="en-US"/>
          </a:p>
        </p:txBody>
      </p:sp>
      <p:sp>
        <p:nvSpPr>
          <p:cNvPr id="8" name="图片占位符 7"/>
          <p:cNvSpPr>
            <a:spLocks noGrp="1"/>
          </p:cNvSpPr>
          <p:nvPr>
            <p:ph type="pic" sz="quarter" idx="13"/>
          </p:nvPr>
        </p:nvSpPr>
        <p:spPr/>
      </p:sp>
    </p:spTree>
    <p:extLst>
      <p:ext uri="{BB962C8B-B14F-4D97-AF65-F5344CB8AC3E}">
        <p14:creationId xmlns:p14="http://schemas.microsoft.com/office/powerpoint/2010/main" val="3668623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DEFAULTFONTSIZE" val="10"/>
  <p:tag name="DEFAULTWIDTH" val="592"/>
  <p:tag name="DEFAULTHEIGHT" val="422"/>
</p:tagLst>
</file>

<file path=ppt/tags/tag2.xml><?xml version="1.0" encoding="utf-8"?>
<p:tagLst xmlns:a="http://schemas.openxmlformats.org/drawingml/2006/main" xmlns:r="http://schemas.openxmlformats.org/officeDocument/2006/relationships" xmlns:p="http://schemas.openxmlformats.org/presentationml/2006/main">
  <p:tag name="PA" val="v4.0.0"/>
</p:tagLst>
</file>

<file path=ppt/tags/tag3.xml><?xml version="1.0" encoding="utf-8"?>
<p:tagLst xmlns:a="http://schemas.openxmlformats.org/drawingml/2006/main" xmlns:r="http://schemas.openxmlformats.org/officeDocument/2006/relationships" xmlns:p="http://schemas.openxmlformats.org/presentationml/2006/main">
  <p:tag name="PA" val="v4.0.0"/>
</p:tagLst>
</file>

<file path=ppt/tags/tag4.xml><?xml version="1.0" encoding="utf-8"?>
<p:tagLst xmlns:a="http://schemas.openxmlformats.org/drawingml/2006/main" xmlns:r="http://schemas.openxmlformats.org/officeDocument/2006/relationships" xmlns:p="http://schemas.openxmlformats.org/presentationml/2006/main">
  <p:tag name="PA" val="v4.0.0"/>
</p:tagLst>
</file>

<file path=ppt/tags/tag5.xml><?xml version="1.0" encoding="utf-8"?>
<p:tagLst xmlns:a="http://schemas.openxmlformats.org/drawingml/2006/main" xmlns:r="http://schemas.openxmlformats.org/officeDocument/2006/relationships" xmlns:p="http://schemas.openxmlformats.org/presentationml/2006/main">
  <p:tag name="PA" val="v4.0.0"/>
</p:tagLst>
</file>

<file path=ppt/theme/theme1.xml><?xml version="1.0" encoding="utf-8"?>
<a:theme xmlns:a="http://schemas.openxmlformats.org/drawingml/2006/main" name="dan-berkeley-nlp-v1">
  <a:themeElements>
    <a:clrScheme name="dan-berkeley-nlp-v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an-berkeley-nlp-v1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an-berkeley-nlp-v1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an-berkeley-nlp-v1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an-berkeley-nlp-v1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an-berkeley-nlp-v1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an-berkeley-nlp-v1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an-berkeley-nlp-v1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an-berkeley-nlp-v1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an-berkeley-nlp-v1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an-berkeley-nlp-v1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an-berkeley-nlp-v1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an-berkeley-nlp-v1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FA12 cs188 lecture 3 -- a-star search</Template>
  <TotalTime>75835</TotalTime>
  <Words>4982</Words>
  <Application>Microsoft Office PowerPoint</Application>
  <PresentationFormat>宽屏</PresentationFormat>
  <Paragraphs>316</Paragraphs>
  <Slides>35</Slides>
  <Notes>25</Notes>
  <HiddenSlides>0</HiddenSlides>
  <MMClips>0</MMClips>
  <ScaleCrop>false</ScaleCrop>
  <HeadingPairs>
    <vt:vector size="6" baseType="variant">
      <vt:variant>
        <vt:lpstr>已用的字体</vt:lpstr>
      </vt:variant>
      <vt:variant>
        <vt:i4>21</vt:i4>
      </vt:variant>
      <vt:variant>
        <vt:lpstr>主题</vt:lpstr>
      </vt:variant>
      <vt:variant>
        <vt:i4>2</vt:i4>
      </vt:variant>
      <vt:variant>
        <vt:lpstr>幻灯片标题</vt:lpstr>
      </vt:variant>
      <vt:variant>
        <vt:i4>35</vt:i4>
      </vt:variant>
    </vt:vector>
  </HeadingPairs>
  <TitlesOfParts>
    <vt:vector size="58" baseType="lpstr">
      <vt:lpstr>-apple-system</vt:lpstr>
      <vt:lpstr>DeepSeek-CJK-patch</vt:lpstr>
      <vt:lpstr>KaTeX_Main</vt:lpstr>
      <vt:lpstr>KaTeX_Math</vt:lpstr>
      <vt:lpstr>微軟正黑體</vt:lpstr>
      <vt:lpstr>Microsoft yahei</vt:lpstr>
      <vt:lpstr>PingFang SC</vt:lpstr>
      <vt:lpstr>新細明體</vt:lpstr>
      <vt:lpstr>黑体</vt:lpstr>
      <vt:lpstr>宋体</vt:lpstr>
      <vt:lpstr>微软雅黑</vt:lpstr>
      <vt:lpstr>Arial</vt:lpstr>
      <vt:lpstr>Arial Black</vt:lpstr>
      <vt:lpstr>Calibri</vt:lpstr>
      <vt:lpstr>Cambria Math</vt:lpstr>
      <vt:lpstr>Symbol</vt:lpstr>
      <vt:lpstr>Times New Roman</vt:lpstr>
      <vt:lpstr>Trebuchet MS</vt:lpstr>
      <vt:lpstr>verdana</vt:lpstr>
      <vt:lpstr>verdana</vt:lpstr>
      <vt:lpstr>Wingdings</vt:lpstr>
      <vt:lpstr>dan-berkeley-nlp-v1</vt:lpstr>
      <vt:lpstr>Office 主题​​</vt:lpstr>
      <vt:lpstr>课程《人工智能原理与技术》</vt:lpstr>
      <vt:lpstr>深度学习模型</vt:lpstr>
      <vt:lpstr>PowerPoint 演示文稿</vt:lpstr>
      <vt:lpstr>动机</vt:lpstr>
      <vt:lpstr>Idea: Convolutions</vt:lpstr>
      <vt:lpstr>Max-pooling</vt:lpstr>
      <vt:lpstr>经典CNN模型</vt:lpstr>
      <vt:lpstr>CNN解释器</vt:lpstr>
      <vt:lpstr>CNN与图像数据库</vt:lpstr>
      <vt:lpstr>经典CNN模型</vt:lpstr>
      <vt:lpstr>PowerPoint 演示文稿</vt:lpstr>
      <vt:lpstr>经典CNN模型</vt:lpstr>
      <vt:lpstr>经典CNN模型</vt:lpstr>
      <vt:lpstr>PowerPoint 演示文稿</vt:lpstr>
      <vt:lpstr>Motivation: modeling sequences</vt:lpstr>
      <vt:lpstr>What is a language model?</vt:lpstr>
      <vt:lpstr>What is a language model?</vt:lpstr>
      <vt:lpstr>What is a language model?</vt:lpstr>
      <vt:lpstr>              神经语言模型</vt:lpstr>
      <vt:lpstr>PowerPoint 演示文稿</vt:lpstr>
      <vt:lpstr>RNN的网络结构 </vt:lpstr>
      <vt:lpstr>RNN的网络结构 </vt:lpstr>
      <vt:lpstr>LSTM，长短期记忆网络</vt:lpstr>
      <vt:lpstr> LSTM(Long Short-term Memory)</vt:lpstr>
      <vt:lpstr>LSTM(Long Short-term Memory)</vt:lpstr>
      <vt:lpstr>PowerPoint 演示文稿</vt:lpstr>
      <vt:lpstr>Transformer</vt:lpstr>
      <vt:lpstr>Transformer</vt:lpstr>
      <vt:lpstr>Self-attention</vt:lpstr>
      <vt:lpstr>Self-attention</vt:lpstr>
      <vt:lpstr>Multi Head Self-attention</vt:lpstr>
      <vt:lpstr>Transformer</vt:lpstr>
      <vt:lpstr>PowerPoint 演示文稿</vt:lpstr>
      <vt:lpstr>PowerPoint 演示文稿</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294-5: Statistical Natural Language Processing</dc:title>
  <dc:creator>Preferred Customer</dc:creator>
  <cp:lastModifiedBy>WJL</cp:lastModifiedBy>
  <cp:revision>3248</cp:revision>
  <cp:lastPrinted>2018-11-06T08:59:25Z</cp:lastPrinted>
  <dcterms:created xsi:type="dcterms:W3CDTF">2004-08-27T04:16:05Z</dcterms:created>
  <dcterms:modified xsi:type="dcterms:W3CDTF">2026-05-26T12:19:15Z</dcterms:modified>
</cp:coreProperties>
</file>