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95" r:id="rId4"/>
    <p:sldId id="263" r:id="rId5"/>
    <p:sldId id="264" r:id="rId6"/>
    <p:sldId id="298" r:id="rId7"/>
    <p:sldId id="297" r:id="rId8"/>
    <p:sldId id="268" r:id="rId9"/>
    <p:sldId id="269" r:id="rId10"/>
    <p:sldId id="299" r:id="rId11"/>
    <p:sldId id="301" r:id="rId12"/>
    <p:sldId id="300" r:id="rId13"/>
    <p:sldId id="302" r:id="rId14"/>
    <p:sldId id="273" r:id="rId15"/>
    <p:sldId id="274" r:id="rId16"/>
    <p:sldId id="285" r:id="rId17"/>
    <p:sldId id="283" r:id="rId18"/>
    <p:sldId id="284" r:id="rId19"/>
    <p:sldId id="286" r:id="rId20"/>
    <p:sldId id="281" r:id="rId21"/>
    <p:sldId id="282" r:id="rId22"/>
    <p:sldId id="303"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4455"/>
    <a:srgbClr val="C00000"/>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4C3C2611-4C71-4FC5-86AE-919BDF0F9419}" styleName="">
    <a:wholeTbl>
      <a:tcTxStyle>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Style>
        <a:tcBdr/>
        <a:fill>
          <a:solidFill>
            <a:srgbClr val="E9EFF7"/>
          </a:solidFill>
        </a:fill>
      </a:tcStyle>
    </a:band2H>
    <a:firstCol>
      <a:tcTxStyle b="on">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72"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1" name="Shape 201"/>
          <p:cNvSpPr>
            <a:spLocks noGrp="1" noRot="1" noChangeAspect="1"/>
          </p:cNvSpPr>
          <p:nvPr>
            <p:ph type="sldImg"/>
          </p:nvPr>
        </p:nvSpPr>
        <p:spPr>
          <a:xfrm>
            <a:off x="1143000" y="685800"/>
            <a:ext cx="4572000" cy="3429000"/>
          </a:xfrm>
          <a:prstGeom prst="rect">
            <a:avLst/>
          </a:prstGeom>
        </p:spPr>
        <p:txBody>
          <a:bodyPr/>
          <a:lstStyle/>
          <a:p>
            <a:endParaRPr/>
          </a:p>
        </p:txBody>
      </p:sp>
      <p:sp>
        <p:nvSpPr>
          <p:cNvPr id="202" name="Shape 20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panose="020F0502020204030204"/>
      </a:defRPr>
    </a:lvl1pPr>
    <a:lvl2pPr indent="228600" latinLnBrk="0">
      <a:defRPr sz="1200">
        <a:latin typeface="+mn-lt"/>
        <a:ea typeface="+mn-ea"/>
        <a:cs typeface="+mn-cs"/>
        <a:sym typeface="Calibri" panose="020F0502020204030204"/>
      </a:defRPr>
    </a:lvl2pPr>
    <a:lvl3pPr indent="457200" latinLnBrk="0">
      <a:defRPr sz="1200">
        <a:latin typeface="+mn-lt"/>
        <a:ea typeface="+mn-ea"/>
        <a:cs typeface="+mn-cs"/>
        <a:sym typeface="Calibri" panose="020F0502020204030204"/>
      </a:defRPr>
    </a:lvl3pPr>
    <a:lvl4pPr indent="685800" latinLnBrk="0">
      <a:defRPr sz="1200">
        <a:latin typeface="+mn-lt"/>
        <a:ea typeface="+mn-ea"/>
        <a:cs typeface="+mn-cs"/>
        <a:sym typeface="Calibri" panose="020F0502020204030204"/>
      </a:defRPr>
    </a:lvl4pPr>
    <a:lvl5pPr indent="914400" latinLnBrk="0">
      <a:defRPr sz="1200">
        <a:latin typeface="+mn-lt"/>
        <a:ea typeface="+mn-ea"/>
        <a:cs typeface="+mn-cs"/>
        <a:sym typeface="Calibri" panose="020F0502020204030204"/>
      </a:defRPr>
    </a:lvl5pPr>
    <a:lvl6pPr indent="1143000" latinLnBrk="0">
      <a:defRPr sz="1200">
        <a:latin typeface="+mn-lt"/>
        <a:ea typeface="+mn-ea"/>
        <a:cs typeface="+mn-cs"/>
        <a:sym typeface="Calibri" panose="020F0502020204030204"/>
      </a:defRPr>
    </a:lvl6pPr>
    <a:lvl7pPr indent="1371600" latinLnBrk="0">
      <a:defRPr sz="1200">
        <a:latin typeface="+mn-lt"/>
        <a:ea typeface="+mn-ea"/>
        <a:cs typeface="+mn-cs"/>
        <a:sym typeface="Calibri" panose="020F0502020204030204"/>
      </a:defRPr>
    </a:lvl7pPr>
    <a:lvl8pPr indent="1600200" latinLnBrk="0">
      <a:defRPr sz="1200">
        <a:latin typeface="+mn-lt"/>
        <a:ea typeface="+mn-ea"/>
        <a:cs typeface="+mn-cs"/>
        <a:sym typeface="Calibri" panose="020F0502020204030204"/>
      </a:defRPr>
    </a:lvl8pPr>
    <a:lvl9pPr indent="1828800" latinLnBrk="0">
      <a:defRPr sz="1200">
        <a:latin typeface="+mn-lt"/>
        <a:ea typeface="+mn-ea"/>
        <a:cs typeface="+mn-cs"/>
        <a:sym typeface="Calibri" panose="020F0502020204030204"/>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主要内容">
    <p:spTree>
      <p:nvGrpSpPr>
        <p:cNvPr id="1" name=""/>
        <p:cNvGrpSpPr/>
        <p:nvPr/>
      </p:nvGrpSpPr>
      <p:grpSpPr>
        <a:xfrm>
          <a:off x="0" y="0"/>
          <a:ext cx="0" cy="0"/>
          <a:chOff x="0" y="0"/>
          <a:chExt cx="0" cy="0"/>
        </a:xfrm>
      </p:grpSpPr>
      <p:sp>
        <p:nvSpPr>
          <p:cNvPr id="2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绪论1">
    <p:spTree>
      <p:nvGrpSpPr>
        <p:cNvPr id="1" name=""/>
        <p:cNvGrpSpPr/>
        <p:nvPr/>
      </p:nvGrpSpPr>
      <p:grpSpPr>
        <a:xfrm>
          <a:off x="0" y="0"/>
          <a:ext cx="0" cy="0"/>
          <a:chOff x="0" y="0"/>
          <a:chExt cx="0" cy="0"/>
        </a:xfrm>
      </p:grpSpPr>
      <p:sp>
        <p:nvSpPr>
          <p:cNvPr id="28" name="矩形 6"/>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graphicFrame>
        <p:nvGraphicFramePr>
          <p:cNvPr id="29" name="表格 7"/>
          <p:cNvGraphicFramePr/>
          <p:nvPr/>
        </p:nvGraphicFramePr>
        <p:xfrm>
          <a:off x="0" y="1268759"/>
          <a:ext cx="1691680" cy="3960000"/>
        </p:xfrm>
        <a:graphic>
          <a:graphicData uri="http://schemas.openxmlformats.org/drawingml/2006/table">
            <a:tbl>
              <a:tblPr>
                <a:tableStyleId>{4C3C2611-4C71-4FC5-86AE-919BDF0F9419}</a:tableStyleId>
              </a:tblPr>
              <a:tblGrid>
                <a:gridCol w="1691680">
                  <a:extLst>
                    <a:ext uri="{9D8B030D-6E8A-4147-A177-3AD203B41FA5}">
                      <a16:colId xmlns:a16="http://schemas.microsoft.com/office/drawing/2014/main" val="20000"/>
                    </a:ext>
                  </a:extLst>
                </a:gridCol>
              </a:tblGrid>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研究方法与思路</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2"/>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3"/>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34" name="组合 9"/>
          <p:cNvGrpSpPr/>
          <p:nvPr/>
        </p:nvGrpSpPr>
        <p:grpSpPr>
          <a:xfrm>
            <a:off x="-1" y="1272662"/>
            <a:ext cx="1691682" cy="788187"/>
            <a:chOff x="0" y="0"/>
            <a:chExt cx="1691680" cy="788185"/>
          </a:xfrm>
        </p:grpSpPr>
        <p:grpSp>
          <p:nvGrpSpPr>
            <p:cNvPr id="32" name="矩形 10"/>
            <p:cNvGrpSpPr/>
            <p:nvPr/>
          </p:nvGrpSpPr>
          <p:grpSpPr>
            <a:xfrm>
              <a:off x="0" y="0"/>
              <a:ext cx="1691681" cy="788186"/>
              <a:chOff x="0" y="0"/>
              <a:chExt cx="1691680" cy="788185"/>
            </a:xfrm>
          </p:grpSpPr>
          <p:sp>
            <p:nvSpPr>
              <p:cNvPr id="30" name="矩形"/>
              <p:cNvSpPr/>
              <p:nvPr/>
            </p:nvSpPr>
            <p:spPr>
              <a:xfrm>
                <a:off x="-1" y="0"/>
                <a:ext cx="1691682" cy="788186"/>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31" name="绪论"/>
              <p:cNvSpPr txBox="1"/>
              <p:nvPr/>
            </p:nvSpPr>
            <p:spPr>
              <a:xfrm>
                <a:off x="-1" y="189623"/>
                <a:ext cx="1691682" cy="408941"/>
              </a:xfrm>
              <a:prstGeom prst="rect">
                <a:avLst/>
              </a:prstGeom>
              <a:noFill/>
              <a:ln w="12700" cap="flat">
                <a:noFill/>
                <a:miter lim="400000"/>
              </a:ln>
              <a:effectLst/>
            </p:spPr>
            <p:txBody>
              <a:bodyPr wrap="square" lIns="45719" tIns="45719" rIns="45719" bIns="45719" numCol="1" anchor="ctr">
                <a:spAutoFit/>
              </a:bodyPr>
              <a:lstStyle>
                <a:lvl1pPr algn="ct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绪论</a:t>
                </a:r>
              </a:p>
            </p:txBody>
          </p:sp>
        </p:grpSp>
        <p:sp>
          <p:nvSpPr>
            <p:cNvPr id="33" name="等腰三角形 11"/>
            <p:cNvSpPr/>
            <p:nvPr/>
          </p:nvSpPr>
          <p:spPr>
            <a:xfrm rot="16200000">
              <a:off x="1547664" y="322086"/>
              <a:ext cx="144017" cy="144017"/>
            </a:xfrm>
            <a:prstGeom prst="triangl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35" name="直接连接符 12"/>
          <p:cNvSpPr/>
          <p:nvPr/>
        </p:nvSpPr>
        <p:spPr>
          <a:xfrm>
            <a:off x="1907703" y="1268759"/>
            <a:ext cx="8312063" cy="1"/>
          </a:xfrm>
          <a:prstGeom prst="line">
            <a:avLst/>
          </a:prstGeom>
          <a:ln w="6350">
            <a:solidFill>
              <a:srgbClr val="BFBFBF"/>
            </a:solidFill>
            <a:miter/>
          </a:ln>
        </p:spPr>
        <p:txBody>
          <a:bodyPr lIns="45719" rIns="45719"/>
          <a:lstStyle/>
          <a:p>
            <a:endParaRPr/>
          </a:p>
        </p:txBody>
      </p:sp>
      <p:sp>
        <p:nvSpPr>
          <p:cNvPr id="36" name="文本框 13"/>
          <p:cNvSpPr txBox="1"/>
          <p:nvPr/>
        </p:nvSpPr>
        <p:spPr>
          <a:xfrm>
            <a:off x="2210764" y="509286"/>
            <a:ext cx="1261279" cy="802641"/>
          </a:xfrm>
          <a:prstGeom prst="rect">
            <a:avLst/>
          </a:prstGeom>
          <a:ln w="12700">
            <a:miter lim="400000"/>
          </a:ln>
        </p:spPr>
        <p:txBody>
          <a:bodyPr wrap="none" lIns="45719" rIns="45719">
            <a:spAutoFit/>
          </a:bodyPr>
          <a:lstStyle>
            <a:lvl1pPr>
              <a:defRPr sz="4000">
                <a:latin typeface="黑体" panose="02010609060101010101" charset="-122"/>
                <a:ea typeface="黑体" panose="02010609060101010101" charset="-122"/>
                <a:cs typeface="黑体" panose="02010609060101010101" charset="-122"/>
                <a:sym typeface="黑体" panose="02010609060101010101" charset="-122"/>
              </a:defRPr>
            </a:lvl1pPr>
          </a:lstStyle>
          <a:p>
            <a:r>
              <a:t>绪 论</a:t>
            </a:r>
          </a:p>
        </p:txBody>
      </p:sp>
      <p:sp>
        <p:nvSpPr>
          <p:cNvPr id="37"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sp>
        <p:nvSpPr>
          <p:cNvPr id="38" name="文本框 19"/>
          <p:cNvSpPr txBox="1"/>
          <p:nvPr/>
        </p:nvSpPr>
        <p:spPr>
          <a:xfrm>
            <a:off x="8605894" y="139954"/>
            <a:ext cx="1018541" cy="408940"/>
          </a:xfrm>
          <a:prstGeom prst="rect">
            <a:avLst/>
          </a:prstGeom>
          <a:ln w="12700">
            <a:miter lim="400000"/>
          </a:ln>
        </p:spPr>
        <p:txBody>
          <a:bodyPr wrap="none" lIns="45719" rIns="45719">
            <a:spAutoFit/>
          </a:bodyPr>
          <a:lstStyle>
            <a:lvl1pP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选题背景</a:t>
            </a:r>
          </a:p>
        </p:txBody>
      </p:sp>
      <p:sp>
        <p:nvSpPr>
          <p:cNvPr id="39" name="直接连接符 20"/>
          <p:cNvSpPr/>
          <p:nvPr/>
        </p:nvSpPr>
        <p:spPr>
          <a:xfrm>
            <a:off x="9713890" y="116015"/>
            <a:ext cx="1" cy="382034"/>
          </a:xfrm>
          <a:prstGeom prst="line">
            <a:avLst/>
          </a:prstGeom>
          <a:ln w="6350">
            <a:solidFill>
              <a:srgbClr val="767171"/>
            </a:solidFill>
            <a:miter/>
          </a:ln>
        </p:spPr>
        <p:txBody>
          <a:bodyPr lIns="45719" rIns="45719"/>
          <a:lstStyle/>
          <a:p>
            <a:endParaRPr/>
          </a:p>
        </p:txBody>
      </p:sp>
      <p:sp>
        <p:nvSpPr>
          <p:cNvPr id="40" name="文本框 21"/>
          <p:cNvSpPr txBox="1"/>
          <p:nvPr/>
        </p:nvSpPr>
        <p:spPr>
          <a:xfrm>
            <a:off x="9713890" y="139954"/>
            <a:ext cx="1018541" cy="408940"/>
          </a:xfrm>
          <a:prstGeom prst="rect">
            <a:avLst/>
          </a:prstGeom>
          <a:ln w="12700">
            <a:miter lim="400000"/>
          </a:ln>
        </p:spPr>
        <p:txBody>
          <a:bodyPr wrap="none" lIns="45719" rIns="45719">
            <a:spAutoFit/>
          </a:bodyPr>
          <a:lstStyle>
            <a:lvl1pPr>
              <a:defRPr>
                <a:solidFill>
                  <a:srgbClr val="76717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研究意义</a:t>
            </a:r>
          </a:p>
        </p:txBody>
      </p:sp>
      <p:sp>
        <p:nvSpPr>
          <p:cNvPr id="41" name="直接连接符 22"/>
          <p:cNvSpPr/>
          <p:nvPr/>
        </p:nvSpPr>
        <p:spPr>
          <a:xfrm>
            <a:off x="10821885" y="116015"/>
            <a:ext cx="1" cy="382034"/>
          </a:xfrm>
          <a:prstGeom prst="line">
            <a:avLst/>
          </a:prstGeom>
          <a:ln w="6350">
            <a:solidFill>
              <a:srgbClr val="767171"/>
            </a:solidFill>
            <a:miter/>
          </a:ln>
        </p:spPr>
        <p:txBody>
          <a:bodyPr lIns="45719" rIns="45719"/>
          <a:lstStyle/>
          <a:p>
            <a:endParaRPr/>
          </a:p>
        </p:txBody>
      </p:sp>
      <p:sp>
        <p:nvSpPr>
          <p:cNvPr id="42" name="文本框 23"/>
          <p:cNvSpPr txBox="1"/>
          <p:nvPr/>
        </p:nvSpPr>
        <p:spPr>
          <a:xfrm>
            <a:off x="10821885" y="128715"/>
            <a:ext cx="1247141" cy="408941"/>
          </a:xfrm>
          <a:prstGeom prst="rect">
            <a:avLst/>
          </a:prstGeom>
          <a:ln w="12700">
            <a:miter lim="400000"/>
          </a:ln>
        </p:spPr>
        <p:txBody>
          <a:bodyPr wrap="none" lIns="45719" rIns="45719">
            <a:spAutoFit/>
          </a:bodyPr>
          <a:lstStyle>
            <a:lvl1pPr>
              <a:defRPr>
                <a:solidFill>
                  <a:srgbClr val="76717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贡献与创新</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绪论2">
    <p:spTree>
      <p:nvGrpSpPr>
        <p:cNvPr id="1" name=""/>
        <p:cNvGrpSpPr/>
        <p:nvPr/>
      </p:nvGrpSpPr>
      <p:grpSpPr>
        <a:xfrm>
          <a:off x="0" y="0"/>
          <a:ext cx="0" cy="0"/>
          <a:chOff x="0" y="0"/>
          <a:chExt cx="0" cy="0"/>
        </a:xfrm>
      </p:grpSpPr>
      <p:sp>
        <p:nvSpPr>
          <p:cNvPr id="49" name="矩形 6"/>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sp>
        <p:nvSpPr>
          <p:cNvPr id="50" name="直接连接符 12"/>
          <p:cNvSpPr/>
          <p:nvPr/>
        </p:nvSpPr>
        <p:spPr>
          <a:xfrm>
            <a:off x="1907704" y="1268759"/>
            <a:ext cx="8699336" cy="1"/>
          </a:xfrm>
          <a:prstGeom prst="line">
            <a:avLst/>
          </a:prstGeom>
          <a:ln w="6350">
            <a:solidFill>
              <a:srgbClr val="BFBFBF"/>
            </a:solidFill>
            <a:miter/>
          </a:ln>
        </p:spPr>
        <p:txBody>
          <a:bodyPr lIns="45719" rIns="45719"/>
          <a:lstStyle/>
          <a:p>
            <a:endParaRPr/>
          </a:p>
        </p:txBody>
      </p:sp>
      <p:sp>
        <p:nvSpPr>
          <p:cNvPr id="51" name="文本框 13"/>
          <p:cNvSpPr txBox="1"/>
          <p:nvPr/>
        </p:nvSpPr>
        <p:spPr>
          <a:xfrm>
            <a:off x="2210764" y="509286"/>
            <a:ext cx="1261279" cy="802641"/>
          </a:xfrm>
          <a:prstGeom prst="rect">
            <a:avLst/>
          </a:prstGeom>
          <a:ln w="12700">
            <a:miter lim="400000"/>
          </a:ln>
        </p:spPr>
        <p:txBody>
          <a:bodyPr wrap="none" lIns="45719" rIns="45719">
            <a:spAutoFit/>
          </a:bodyPr>
          <a:lstStyle>
            <a:lvl1pPr>
              <a:defRPr sz="4000">
                <a:latin typeface="黑体" panose="02010609060101010101" charset="-122"/>
                <a:ea typeface="黑体" panose="02010609060101010101" charset="-122"/>
                <a:cs typeface="黑体" panose="02010609060101010101" charset="-122"/>
                <a:sym typeface="黑体" panose="02010609060101010101" charset="-122"/>
              </a:defRPr>
            </a:lvl1pPr>
          </a:lstStyle>
          <a:p>
            <a:r>
              <a:t>绪 论</a:t>
            </a:r>
          </a:p>
        </p:txBody>
      </p:sp>
      <p:sp>
        <p:nvSpPr>
          <p:cNvPr id="52"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sp>
        <p:nvSpPr>
          <p:cNvPr id="53" name="文本框 19"/>
          <p:cNvSpPr txBox="1"/>
          <p:nvPr/>
        </p:nvSpPr>
        <p:spPr>
          <a:xfrm>
            <a:off x="8605894" y="139954"/>
            <a:ext cx="1018541" cy="408940"/>
          </a:xfrm>
          <a:prstGeom prst="rect">
            <a:avLst/>
          </a:prstGeom>
          <a:ln w="12700">
            <a:miter lim="400000"/>
          </a:ln>
        </p:spPr>
        <p:txBody>
          <a:bodyPr wrap="none" lIns="45719" rIns="45719">
            <a:spAutoFit/>
          </a:bodyPr>
          <a:lstStyle>
            <a:lvl1pPr>
              <a:defRPr>
                <a:solidFill>
                  <a:srgbClr val="76717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选题背景</a:t>
            </a:r>
          </a:p>
        </p:txBody>
      </p:sp>
      <p:sp>
        <p:nvSpPr>
          <p:cNvPr id="54" name="直接连接符 16"/>
          <p:cNvSpPr/>
          <p:nvPr/>
        </p:nvSpPr>
        <p:spPr>
          <a:xfrm>
            <a:off x="9713890" y="116015"/>
            <a:ext cx="1" cy="382034"/>
          </a:xfrm>
          <a:prstGeom prst="line">
            <a:avLst/>
          </a:prstGeom>
          <a:ln w="6350">
            <a:solidFill>
              <a:srgbClr val="767171"/>
            </a:solidFill>
            <a:miter/>
          </a:ln>
        </p:spPr>
        <p:txBody>
          <a:bodyPr lIns="45719" rIns="45719"/>
          <a:lstStyle/>
          <a:p>
            <a:endParaRPr/>
          </a:p>
        </p:txBody>
      </p:sp>
      <p:sp>
        <p:nvSpPr>
          <p:cNvPr id="55" name="文本框 21"/>
          <p:cNvSpPr txBox="1"/>
          <p:nvPr/>
        </p:nvSpPr>
        <p:spPr>
          <a:xfrm>
            <a:off x="9713890" y="139954"/>
            <a:ext cx="1018541" cy="408940"/>
          </a:xfrm>
          <a:prstGeom prst="rect">
            <a:avLst/>
          </a:prstGeom>
          <a:ln w="12700">
            <a:miter lim="400000"/>
          </a:ln>
        </p:spPr>
        <p:txBody>
          <a:bodyPr wrap="none" lIns="45719" rIns="45719">
            <a:spAutoFit/>
          </a:bodyPr>
          <a:lstStyle>
            <a:lvl1pP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研究意义</a:t>
            </a:r>
          </a:p>
        </p:txBody>
      </p:sp>
      <p:sp>
        <p:nvSpPr>
          <p:cNvPr id="56" name="直接连接符 18"/>
          <p:cNvSpPr/>
          <p:nvPr/>
        </p:nvSpPr>
        <p:spPr>
          <a:xfrm>
            <a:off x="10821885" y="116015"/>
            <a:ext cx="1" cy="382034"/>
          </a:xfrm>
          <a:prstGeom prst="line">
            <a:avLst/>
          </a:prstGeom>
          <a:ln w="6350">
            <a:solidFill>
              <a:srgbClr val="767171"/>
            </a:solidFill>
            <a:miter/>
          </a:ln>
        </p:spPr>
        <p:txBody>
          <a:bodyPr lIns="45719" rIns="45719"/>
          <a:lstStyle/>
          <a:p>
            <a:endParaRPr/>
          </a:p>
        </p:txBody>
      </p:sp>
      <p:sp>
        <p:nvSpPr>
          <p:cNvPr id="57" name="文本框 23"/>
          <p:cNvSpPr txBox="1"/>
          <p:nvPr/>
        </p:nvSpPr>
        <p:spPr>
          <a:xfrm>
            <a:off x="10821885" y="128715"/>
            <a:ext cx="1247141" cy="408941"/>
          </a:xfrm>
          <a:prstGeom prst="rect">
            <a:avLst/>
          </a:prstGeom>
          <a:ln w="12700">
            <a:miter lim="400000"/>
          </a:ln>
        </p:spPr>
        <p:txBody>
          <a:bodyPr wrap="none" lIns="45719" rIns="45719">
            <a:spAutoFit/>
          </a:bodyPr>
          <a:lstStyle>
            <a:lvl1pPr>
              <a:defRPr>
                <a:solidFill>
                  <a:srgbClr val="76717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贡献与创新</a:t>
            </a:r>
          </a:p>
        </p:txBody>
      </p:sp>
      <p:graphicFrame>
        <p:nvGraphicFramePr>
          <p:cNvPr id="58" name="表格 25"/>
          <p:cNvGraphicFramePr/>
          <p:nvPr/>
        </p:nvGraphicFramePr>
        <p:xfrm>
          <a:off x="0" y="1268759"/>
          <a:ext cx="1691680" cy="3960000"/>
        </p:xfrm>
        <a:graphic>
          <a:graphicData uri="http://schemas.openxmlformats.org/drawingml/2006/table">
            <a:tbl>
              <a:tblPr>
                <a:tableStyleId>{4C3C2611-4C71-4FC5-86AE-919BDF0F9419}</a:tableStyleId>
              </a:tblPr>
              <a:tblGrid>
                <a:gridCol w="1691680">
                  <a:extLst>
                    <a:ext uri="{9D8B030D-6E8A-4147-A177-3AD203B41FA5}">
                      <a16:colId xmlns:a16="http://schemas.microsoft.com/office/drawing/2014/main" val="20000"/>
                    </a:ext>
                  </a:extLst>
                </a:gridCol>
              </a:tblGrid>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研究方法与思路</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2"/>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3"/>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63" name="组合 26"/>
          <p:cNvGrpSpPr/>
          <p:nvPr/>
        </p:nvGrpSpPr>
        <p:grpSpPr>
          <a:xfrm>
            <a:off x="-1" y="1272662"/>
            <a:ext cx="1691682" cy="788187"/>
            <a:chOff x="0" y="0"/>
            <a:chExt cx="1691680" cy="788185"/>
          </a:xfrm>
        </p:grpSpPr>
        <p:grpSp>
          <p:nvGrpSpPr>
            <p:cNvPr id="61" name="矩形 27"/>
            <p:cNvGrpSpPr/>
            <p:nvPr/>
          </p:nvGrpSpPr>
          <p:grpSpPr>
            <a:xfrm>
              <a:off x="0" y="0"/>
              <a:ext cx="1691681" cy="788186"/>
              <a:chOff x="0" y="0"/>
              <a:chExt cx="1691680" cy="788185"/>
            </a:xfrm>
          </p:grpSpPr>
          <p:sp>
            <p:nvSpPr>
              <p:cNvPr id="59" name="矩形"/>
              <p:cNvSpPr/>
              <p:nvPr/>
            </p:nvSpPr>
            <p:spPr>
              <a:xfrm>
                <a:off x="-1" y="0"/>
                <a:ext cx="1691682" cy="788186"/>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60" name="绪论"/>
              <p:cNvSpPr txBox="1"/>
              <p:nvPr/>
            </p:nvSpPr>
            <p:spPr>
              <a:xfrm>
                <a:off x="-1" y="189623"/>
                <a:ext cx="1691682" cy="408941"/>
              </a:xfrm>
              <a:prstGeom prst="rect">
                <a:avLst/>
              </a:prstGeom>
              <a:noFill/>
              <a:ln w="12700" cap="flat">
                <a:noFill/>
                <a:miter lim="400000"/>
              </a:ln>
              <a:effectLst/>
            </p:spPr>
            <p:txBody>
              <a:bodyPr wrap="square" lIns="45719" tIns="45719" rIns="45719" bIns="45719" numCol="1" anchor="ctr">
                <a:spAutoFit/>
              </a:bodyPr>
              <a:lstStyle>
                <a:lvl1pPr algn="ct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绪论</a:t>
                </a:r>
              </a:p>
            </p:txBody>
          </p:sp>
        </p:grpSp>
        <p:sp>
          <p:nvSpPr>
            <p:cNvPr id="62" name="等腰三角形 28"/>
            <p:cNvSpPr/>
            <p:nvPr/>
          </p:nvSpPr>
          <p:spPr>
            <a:xfrm rot="16200000">
              <a:off x="1547664" y="322086"/>
              <a:ext cx="144017" cy="144017"/>
            </a:xfrm>
            <a:prstGeom prst="triangl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1_绪论2">
    <p:spTree>
      <p:nvGrpSpPr>
        <p:cNvPr id="1" name=""/>
        <p:cNvGrpSpPr/>
        <p:nvPr/>
      </p:nvGrpSpPr>
      <p:grpSpPr>
        <a:xfrm>
          <a:off x="0" y="0"/>
          <a:ext cx="0" cy="0"/>
          <a:chOff x="0" y="0"/>
          <a:chExt cx="0" cy="0"/>
        </a:xfrm>
      </p:grpSpPr>
      <p:sp>
        <p:nvSpPr>
          <p:cNvPr id="70" name="矩形 6"/>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sp>
        <p:nvSpPr>
          <p:cNvPr id="71" name="直接连接符 12"/>
          <p:cNvSpPr/>
          <p:nvPr/>
        </p:nvSpPr>
        <p:spPr>
          <a:xfrm>
            <a:off x="1907703" y="1268759"/>
            <a:ext cx="8312063" cy="1"/>
          </a:xfrm>
          <a:prstGeom prst="line">
            <a:avLst/>
          </a:prstGeom>
          <a:ln w="6350">
            <a:solidFill>
              <a:srgbClr val="BFBFBF"/>
            </a:solidFill>
            <a:miter/>
          </a:ln>
        </p:spPr>
        <p:txBody>
          <a:bodyPr lIns="45719" rIns="45719"/>
          <a:lstStyle/>
          <a:p>
            <a:endParaRPr/>
          </a:p>
        </p:txBody>
      </p:sp>
      <p:sp>
        <p:nvSpPr>
          <p:cNvPr id="72" name="文本框 13"/>
          <p:cNvSpPr txBox="1"/>
          <p:nvPr/>
        </p:nvSpPr>
        <p:spPr>
          <a:xfrm>
            <a:off x="2210764" y="509286"/>
            <a:ext cx="1261279" cy="802641"/>
          </a:xfrm>
          <a:prstGeom prst="rect">
            <a:avLst/>
          </a:prstGeom>
          <a:ln w="12700">
            <a:miter lim="400000"/>
          </a:ln>
        </p:spPr>
        <p:txBody>
          <a:bodyPr wrap="none" lIns="45719" rIns="45719">
            <a:spAutoFit/>
          </a:bodyPr>
          <a:lstStyle>
            <a:lvl1pPr>
              <a:defRPr sz="4000">
                <a:latin typeface="黑体" panose="02010609060101010101" charset="-122"/>
                <a:ea typeface="黑体" panose="02010609060101010101" charset="-122"/>
                <a:cs typeface="黑体" panose="02010609060101010101" charset="-122"/>
                <a:sym typeface="黑体" panose="02010609060101010101" charset="-122"/>
              </a:defRPr>
            </a:lvl1pPr>
          </a:lstStyle>
          <a:p>
            <a:r>
              <a:t>绪 论</a:t>
            </a:r>
          </a:p>
        </p:txBody>
      </p:sp>
      <p:sp>
        <p:nvSpPr>
          <p:cNvPr id="73"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sp>
        <p:nvSpPr>
          <p:cNvPr id="74" name="文本框 19"/>
          <p:cNvSpPr txBox="1"/>
          <p:nvPr/>
        </p:nvSpPr>
        <p:spPr>
          <a:xfrm>
            <a:off x="8605894" y="139954"/>
            <a:ext cx="1018541" cy="408940"/>
          </a:xfrm>
          <a:prstGeom prst="rect">
            <a:avLst/>
          </a:prstGeom>
          <a:ln w="12700">
            <a:miter lim="400000"/>
          </a:ln>
        </p:spPr>
        <p:txBody>
          <a:bodyPr wrap="none" lIns="45719" rIns="45719">
            <a:spAutoFit/>
          </a:bodyPr>
          <a:lstStyle>
            <a:lvl1pPr>
              <a:defRPr>
                <a:solidFill>
                  <a:srgbClr val="76717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选题背景</a:t>
            </a:r>
          </a:p>
        </p:txBody>
      </p:sp>
      <p:sp>
        <p:nvSpPr>
          <p:cNvPr id="75" name="直接连接符 26"/>
          <p:cNvSpPr/>
          <p:nvPr/>
        </p:nvSpPr>
        <p:spPr>
          <a:xfrm>
            <a:off x="9713890" y="116015"/>
            <a:ext cx="1" cy="382034"/>
          </a:xfrm>
          <a:prstGeom prst="line">
            <a:avLst/>
          </a:prstGeom>
          <a:ln w="6350">
            <a:solidFill>
              <a:srgbClr val="767171"/>
            </a:solidFill>
            <a:miter/>
          </a:ln>
        </p:spPr>
        <p:txBody>
          <a:bodyPr lIns="45719" rIns="45719"/>
          <a:lstStyle/>
          <a:p>
            <a:endParaRPr/>
          </a:p>
        </p:txBody>
      </p:sp>
      <p:sp>
        <p:nvSpPr>
          <p:cNvPr id="76" name="文本框 21"/>
          <p:cNvSpPr txBox="1"/>
          <p:nvPr/>
        </p:nvSpPr>
        <p:spPr>
          <a:xfrm>
            <a:off x="9713890" y="139954"/>
            <a:ext cx="1018541" cy="408940"/>
          </a:xfrm>
          <a:prstGeom prst="rect">
            <a:avLst/>
          </a:prstGeom>
          <a:ln w="12700">
            <a:miter lim="400000"/>
          </a:ln>
        </p:spPr>
        <p:txBody>
          <a:bodyPr wrap="none" lIns="45719" rIns="45719">
            <a:spAutoFit/>
          </a:bodyPr>
          <a:lstStyle>
            <a:lvl1pPr>
              <a:defRPr>
                <a:solidFill>
                  <a:srgbClr val="76717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研究意义</a:t>
            </a:r>
          </a:p>
        </p:txBody>
      </p:sp>
      <p:sp>
        <p:nvSpPr>
          <p:cNvPr id="77" name="直接连接符 28"/>
          <p:cNvSpPr/>
          <p:nvPr/>
        </p:nvSpPr>
        <p:spPr>
          <a:xfrm>
            <a:off x="10821885" y="116015"/>
            <a:ext cx="1" cy="382034"/>
          </a:xfrm>
          <a:prstGeom prst="line">
            <a:avLst/>
          </a:prstGeom>
          <a:ln w="6350">
            <a:solidFill>
              <a:srgbClr val="767171"/>
            </a:solidFill>
            <a:miter/>
          </a:ln>
        </p:spPr>
        <p:txBody>
          <a:bodyPr lIns="45719" rIns="45719"/>
          <a:lstStyle/>
          <a:p>
            <a:endParaRPr/>
          </a:p>
        </p:txBody>
      </p:sp>
      <p:sp>
        <p:nvSpPr>
          <p:cNvPr id="78" name="文本框 23"/>
          <p:cNvSpPr txBox="1"/>
          <p:nvPr/>
        </p:nvSpPr>
        <p:spPr>
          <a:xfrm>
            <a:off x="10821885" y="128715"/>
            <a:ext cx="1247141" cy="408941"/>
          </a:xfrm>
          <a:prstGeom prst="rect">
            <a:avLst/>
          </a:prstGeom>
          <a:ln w="12700">
            <a:miter lim="400000"/>
          </a:ln>
        </p:spPr>
        <p:txBody>
          <a:bodyPr wrap="none" lIns="45719" rIns="45719">
            <a:spAutoFit/>
          </a:bodyPr>
          <a:lstStyle>
            <a:lvl1pP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贡献与创新</a:t>
            </a:r>
          </a:p>
        </p:txBody>
      </p:sp>
      <p:graphicFrame>
        <p:nvGraphicFramePr>
          <p:cNvPr id="79" name="表格 30"/>
          <p:cNvGraphicFramePr/>
          <p:nvPr/>
        </p:nvGraphicFramePr>
        <p:xfrm>
          <a:off x="0" y="1268759"/>
          <a:ext cx="1691680" cy="3960000"/>
        </p:xfrm>
        <a:graphic>
          <a:graphicData uri="http://schemas.openxmlformats.org/drawingml/2006/table">
            <a:tbl>
              <a:tblPr>
                <a:tableStyleId>{4C3C2611-4C71-4FC5-86AE-919BDF0F9419}</a:tableStyleId>
              </a:tblPr>
              <a:tblGrid>
                <a:gridCol w="1691680">
                  <a:extLst>
                    <a:ext uri="{9D8B030D-6E8A-4147-A177-3AD203B41FA5}">
                      <a16:colId xmlns:a16="http://schemas.microsoft.com/office/drawing/2014/main" val="20000"/>
                    </a:ext>
                  </a:extLst>
                </a:gridCol>
              </a:tblGrid>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研究方法与思路</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2"/>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3"/>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84" name="组合 31"/>
          <p:cNvGrpSpPr/>
          <p:nvPr/>
        </p:nvGrpSpPr>
        <p:grpSpPr>
          <a:xfrm>
            <a:off x="-1" y="1272662"/>
            <a:ext cx="1691682" cy="788187"/>
            <a:chOff x="0" y="0"/>
            <a:chExt cx="1691680" cy="788185"/>
          </a:xfrm>
        </p:grpSpPr>
        <p:grpSp>
          <p:nvGrpSpPr>
            <p:cNvPr id="82" name="矩形 32"/>
            <p:cNvGrpSpPr/>
            <p:nvPr/>
          </p:nvGrpSpPr>
          <p:grpSpPr>
            <a:xfrm>
              <a:off x="0" y="0"/>
              <a:ext cx="1691681" cy="788186"/>
              <a:chOff x="0" y="0"/>
              <a:chExt cx="1691680" cy="788185"/>
            </a:xfrm>
          </p:grpSpPr>
          <p:sp>
            <p:nvSpPr>
              <p:cNvPr id="80" name="矩形"/>
              <p:cNvSpPr/>
              <p:nvPr/>
            </p:nvSpPr>
            <p:spPr>
              <a:xfrm>
                <a:off x="-1" y="0"/>
                <a:ext cx="1691682" cy="788186"/>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81" name="绪论"/>
              <p:cNvSpPr txBox="1"/>
              <p:nvPr/>
            </p:nvSpPr>
            <p:spPr>
              <a:xfrm>
                <a:off x="-1" y="189623"/>
                <a:ext cx="1691682" cy="408941"/>
              </a:xfrm>
              <a:prstGeom prst="rect">
                <a:avLst/>
              </a:prstGeom>
              <a:noFill/>
              <a:ln w="12700" cap="flat">
                <a:noFill/>
                <a:miter lim="400000"/>
              </a:ln>
              <a:effectLst/>
            </p:spPr>
            <p:txBody>
              <a:bodyPr wrap="square" lIns="45719" tIns="45719" rIns="45719" bIns="45719" numCol="1" anchor="ctr">
                <a:spAutoFit/>
              </a:bodyPr>
              <a:lstStyle>
                <a:lvl1pPr algn="ct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绪论</a:t>
                </a:r>
              </a:p>
            </p:txBody>
          </p:sp>
        </p:grpSp>
        <p:sp>
          <p:nvSpPr>
            <p:cNvPr id="83" name="等腰三角形 33"/>
            <p:cNvSpPr/>
            <p:nvPr/>
          </p:nvSpPr>
          <p:spPr>
            <a:xfrm rot="16200000">
              <a:off x="1547664" y="322086"/>
              <a:ext cx="144017" cy="144017"/>
            </a:xfrm>
            <a:prstGeom prst="triangl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界定与表征">
    <p:spTree>
      <p:nvGrpSpPr>
        <p:cNvPr id="1" name=""/>
        <p:cNvGrpSpPr/>
        <p:nvPr/>
      </p:nvGrpSpPr>
      <p:grpSpPr>
        <a:xfrm>
          <a:off x="0" y="0"/>
          <a:ext cx="0" cy="0"/>
          <a:chOff x="0" y="0"/>
          <a:chExt cx="0" cy="0"/>
        </a:xfrm>
      </p:grpSpPr>
      <p:sp>
        <p:nvSpPr>
          <p:cNvPr id="91" name="矩形 23"/>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sp>
        <p:nvSpPr>
          <p:cNvPr id="92" name="直接连接符 29"/>
          <p:cNvSpPr/>
          <p:nvPr/>
        </p:nvSpPr>
        <p:spPr>
          <a:xfrm>
            <a:off x="1907703" y="1268759"/>
            <a:ext cx="8312063" cy="1"/>
          </a:xfrm>
          <a:prstGeom prst="line">
            <a:avLst/>
          </a:prstGeom>
          <a:ln w="6350">
            <a:solidFill>
              <a:srgbClr val="BFBFBF"/>
            </a:solidFill>
            <a:miter/>
          </a:ln>
        </p:spPr>
        <p:txBody>
          <a:bodyPr lIns="45719" rIns="45719"/>
          <a:lstStyle/>
          <a:p>
            <a:endParaRPr/>
          </a:p>
        </p:txBody>
      </p:sp>
      <p:sp>
        <p:nvSpPr>
          <p:cNvPr id="93" name="文本框 30"/>
          <p:cNvSpPr txBox="1"/>
          <p:nvPr/>
        </p:nvSpPr>
        <p:spPr>
          <a:xfrm>
            <a:off x="2210764" y="520171"/>
            <a:ext cx="3304541" cy="726441"/>
          </a:xfrm>
          <a:prstGeom prst="rect">
            <a:avLst/>
          </a:prstGeom>
          <a:ln w="12700">
            <a:miter lim="400000"/>
          </a:ln>
        </p:spPr>
        <p:txBody>
          <a:bodyPr wrap="none" lIns="45719" rIns="45719">
            <a:spAutoFit/>
          </a:bodyPr>
          <a:lstStyle>
            <a:lvl1pPr>
              <a:defRPr sz="3600">
                <a:latin typeface="黑体" panose="02010609060101010101" charset="-122"/>
                <a:ea typeface="黑体" panose="02010609060101010101" charset="-122"/>
                <a:cs typeface="黑体" panose="02010609060101010101" charset="-122"/>
                <a:sym typeface="黑体" panose="02010609060101010101" charset="-122"/>
              </a:defRPr>
            </a:lvl1pPr>
          </a:lstStyle>
          <a:p>
            <a:r>
              <a:t>研究方法与思路</a:t>
            </a:r>
          </a:p>
        </p:txBody>
      </p:sp>
      <p:sp>
        <p:nvSpPr>
          <p:cNvPr id="94"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graphicFrame>
        <p:nvGraphicFramePr>
          <p:cNvPr id="95" name="表格 15"/>
          <p:cNvGraphicFramePr/>
          <p:nvPr/>
        </p:nvGraphicFramePr>
        <p:xfrm>
          <a:off x="0" y="1268759"/>
          <a:ext cx="1691680" cy="3999295"/>
        </p:xfrm>
        <a:graphic>
          <a:graphicData uri="http://schemas.openxmlformats.org/drawingml/2006/table">
            <a:tbl>
              <a:tblPr>
                <a:tableStyleId>{4C3C2611-4C71-4FC5-86AE-919BDF0F9419}</a:tableStyleId>
              </a:tblPr>
              <a:tblGrid>
                <a:gridCol w="1691680">
                  <a:extLst>
                    <a:ext uri="{9D8B030D-6E8A-4147-A177-3AD203B41FA5}">
                      <a16:colId xmlns:a16="http://schemas.microsoft.com/office/drawing/2014/main" val="20000"/>
                    </a:ext>
                  </a:extLst>
                </a:gridCol>
              </a:tblGrid>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831295">
                <a:tc>
                  <a:txBody>
                    <a:bodyPr/>
                    <a:lstStyle/>
                    <a:p>
                      <a:pPr algn="ctr">
                        <a:def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2"/>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3"/>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98" name="组合 16"/>
          <p:cNvGrpSpPr/>
          <p:nvPr/>
        </p:nvGrpSpPr>
        <p:grpSpPr>
          <a:xfrm>
            <a:off x="-1" y="1481335"/>
            <a:ext cx="1691682" cy="370841"/>
            <a:chOff x="0" y="0"/>
            <a:chExt cx="1691680" cy="370840"/>
          </a:xfrm>
        </p:grpSpPr>
        <p:sp>
          <p:nvSpPr>
            <p:cNvPr id="96" name="矩形 17"/>
            <p:cNvSpPr txBox="1"/>
            <p:nvPr/>
          </p:nvSpPr>
          <p:spPr>
            <a:xfrm>
              <a:off x="0" y="0"/>
              <a:ext cx="1691681" cy="370840"/>
            </a:xfrm>
            <a:prstGeom prst="rect">
              <a:avLst/>
            </a:prstGeom>
            <a:noFill/>
            <a:ln w="12700" cap="flat">
              <a:noFill/>
              <a:miter lim="400000"/>
            </a:ln>
            <a:effectLst/>
          </p:spPr>
          <p:txBody>
            <a:bodyPr wrap="square" lIns="45719" tIns="45719" rIns="45719" bIns="45719" numCol="1" anchor="ctr">
              <a:spAutoFit/>
            </a:bodyPr>
            <a:lstStyle>
              <a:lvl1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绪论</a:t>
              </a:r>
            </a:p>
          </p:txBody>
        </p:sp>
        <p:sp>
          <p:nvSpPr>
            <p:cNvPr id="97" name="等腰三角形 18"/>
            <p:cNvSpPr/>
            <p:nvPr/>
          </p:nvSpPr>
          <p:spPr>
            <a:xfrm rot="16200000">
              <a:off x="1547664" y="113413"/>
              <a:ext cx="144017" cy="144017"/>
            </a:xfrm>
            <a:prstGeom prst="triangl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105" name="组合 1"/>
          <p:cNvGrpSpPr/>
          <p:nvPr/>
        </p:nvGrpSpPr>
        <p:grpSpPr>
          <a:xfrm>
            <a:off x="3667" y="2079006"/>
            <a:ext cx="1696207" cy="788187"/>
            <a:chOff x="0" y="0"/>
            <a:chExt cx="1696206" cy="788185"/>
          </a:xfrm>
        </p:grpSpPr>
        <p:grpSp>
          <p:nvGrpSpPr>
            <p:cNvPr id="103" name="组合 26"/>
            <p:cNvGrpSpPr/>
            <p:nvPr/>
          </p:nvGrpSpPr>
          <p:grpSpPr>
            <a:xfrm>
              <a:off x="0" y="0"/>
              <a:ext cx="1691681" cy="788186"/>
              <a:chOff x="0" y="0"/>
              <a:chExt cx="1691680" cy="788185"/>
            </a:xfrm>
          </p:grpSpPr>
          <p:grpSp>
            <p:nvGrpSpPr>
              <p:cNvPr id="101" name="矩形 27"/>
              <p:cNvGrpSpPr/>
              <p:nvPr/>
            </p:nvGrpSpPr>
            <p:grpSpPr>
              <a:xfrm>
                <a:off x="0" y="0"/>
                <a:ext cx="1691681" cy="788186"/>
                <a:chOff x="0" y="0"/>
                <a:chExt cx="1691680" cy="788185"/>
              </a:xfrm>
            </p:grpSpPr>
            <p:sp>
              <p:nvSpPr>
                <p:cNvPr id="99" name="矩形"/>
                <p:cNvSpPr/>
                <p:nvPr/>
              </p:nvSpPr>
              <p:spPr>
                <a:xfrm>
                  <a:off x="-1" y="0"/>
                  <a:ext cx="1691682" cy="788186"/>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00" name="研究方法与思路"/>
                <p:cNvSpPr txBox="1"/>
                <p:nvPr/>
              </p:nvSpPr>
              <p:spPr>
                <a:xfrm>
                  <a:off x="-1" y="208672"/>
                  <a:ext cx="1691682" cy="370841"/>
                </a:xfrm>
                <a:prstGeom prst="rect">
                  <a:avLst/>
                </a:prstGeom>
                <a:noFill/>
                <a:ln w="12700" cap="flat">
                  <a:noFill/>
                  <a:miter lim="400000"/>
                </a:ln>
                <a:effectLst/>
              </p:spPr>
              <p:txBody>
                <a:bodyPr wrap="square" lIns="45719" tIns="45719" rIns="45719" bIns="45719" numCol="1" anchor="ctr">
                  <a:spAutoFit/>
                </a:bodyPr>
                <a:lstStyle>
                  <a:lvl1pPr algn="ctr">
                    <a:defRPr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研究方法与思路</a:t>
                  </a:r>
                </a:p>
              </p:txBody>
            </p:sp>
          </p:grpSp>
          <p:sp>
            <p:nvSpPr>
              <p:cNvPr id="102" name="等腰三角形 28"/>
              <p:cNvSpPr/>
              <p:nvPr/>
            </p:nvSpPr>
            <p:spPr>
              <a:xfrm rot="16200000">
                <a:off x="1547664" y="322085"/>
                <a:ext cx="144017" cy="144018"/>
              </a:xfrm>
              <a:prstGeom prst="triangle">
                <a:avLst/>
              </a:prstGeom>
              <a:solidFill>
                <a:srgbClr val="0070C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104" name="等腰三角形 19"/>
            <p:cNvSpPr/>
            <p:nvPr/>
          </p:nvSpPr>
          <p:spPr>
            <a:xfrm rot="16200000">
              <a:off x="1552190" y="343351"/>
              <a:ext cx="144017" cy="144018"/>
            </a:xfrm>
            <a:prstGeom prst="triangl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合理交通结构">
    <p:spTree>
      <p:nvGrpSpPr>
        <p:cNvPr id="1" name=""/>
        <p:cNvGrpSpPr/>
        <p:nvPr/>
      </p:nvGrpSpPr>
      <p:grpSpPr>
        <a:xfrm>
          <a:off x="0" y="0"/>
          <a:ext cx="0" cy="0"/>
          <a:chOff x="0" y="0"/>
          <a:chExt cx="0" cy="0"/>
        </a:xfrm>
      </p:grpSpPr>
      <p:sp>
        <p:nvSpPr>
          <p:cNvPr id="112" name="矩形 23"/>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graphicFrame>
        <p:nvGraphicFramePr>
          <p:cNvPr id="113" name="表格 24"/>
          <p:cNvGraphicFramePr/>
          <p:nvPr/>
        </p:nvGraphicFramePr>
        <p:xfrm>
          <a:off x="0" y="1268759"/>
          <a:ext cx="1691680" cy="3960000"/>
        </p:xfrm>
        <a:graphic>
          <a:graphicData uri="http://schemas.openxmlformats.org/drawingml/2006/table">
            <a:tbl>
              <a:tblPr>
                <a:tableStyleId>{4C3C2611-4C71-4FC5-86AE-919BDF0F9419}</a:tableStyleId>
              </a:tblPr>
              <a:tblGrid>
                <a:gridCol w="1691680">
                  <a:extLst>
                    <a:ext uri="{9D8B030D-6E8A-4147-A177-3AD203B41FA5}">
                      <a16:colId xmlns:a16="http://schemas.microsoft.com/office/drawing/2014/main" val="20000"/>
                    </a:ext>
                  </a:extLst>
                </a:gridCol>
              </a:tblGrid>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绪论</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solidFill>
                      <a:srgbClr val="414455"/>
                    </a:solidFill>
                  </a:tcPr>
                </a:tc>
                <a:extLst>
                  <a:ext uri="{0D108BD9-81ED-4DB2-BD59-A6C34878D82A}">
                    <a16:rowId xmlns:a16="http://schemas.microsoft.com/office/drawing/2014/main" val="10002"/>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3"/>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116" name="矩形 27"/>
          <p:cNvGrpSpPr/>
          <p:nvPr/>
        </p:nvGrpSpPr>
        <p:grpSpPr>
          <a:xfrm>
            <a:off x="-1" y="2064749"/>
            <a:ext cx="1691682" cy="788187"/>
            <a:chOff x="0" y="0"/>
            <a:chExt cx="1691680" cy="788185"/>
          </a:xfrm>
        </p:grpSpPr>
        <p:sp>
          <p:nvSpPr>
            <p:cNvPr id="114" name="矩形"/>
            <p:cNvSpPr/>
            <p:nvPr/>
          </p:nvSpPr>
          <p:spPr>
            <a:xfrm>
              <a:off x="-1" y="0"/>
              <a:ext cx="1691682" cy="788186"/>
            </a:xfrm>
            <a:prstGeom prst="rect">
              <a:avLst/>
            </a:prstGeom>
            <a:solidFill>
              <a:srgbClr val="F2F2F2"/>
            </a:solidFill>
            <a:ln w="12700" cap="flat">
              <a:noFill/>
              <a:miter lim="400000"/>
            </a:ln>
            <a:effectLst/>
          </p:spPr>
          <p:txBody>
            <a:bodyPr wrap="square" lIns="45719" tIns="45719" rIns="45719" bIns="45719" numCol="1" anchor="ctr">
              <a:noAutofit/>
            </a:bodyPr>
            <a:lstStyle/>
            <a:p>
              <a: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15" name="研究方法与思路"/>
            <p:cNvSpPr txBox="1"/>
            <p:nvPr/>
          </p:nvSpPr>
          <p:spPr>
            <a:xfrm>
              <a:off x="-1" y="208672"/>
              <a:ext cx="1691682" cy="370841"/>
            </a:xfrm>
            <a:prstGeom prst="rect">
              <a:avLst/>
            </a:prstGeom>
            <a:noFill/>
            <a:ln w="12700" cap="flat">
              <a:noFill/>
              <a:miter lim="400000"/>
            </a:ln>
            <a:effectLst/>
          </p:spPr>
          <p:txBody>
            <a:bodyPr wrap="square" lIns="45719" tIns="45719" rIns="45719" bIns="45719" numCol="1" anchor="ctr">
              <a:spAutoFit/>
            </a:bodyPr>
            <a:lstStyle>
              <a:lvl1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研究方法与思路</a:t>
              </a:r>
            </a:p>
          </p:txBody>
        </p:sp>
      </p:grpSp>
      <p:sp>
        <p:nvSpPr>
          <p:cNvPr id="117" name="直接连接符 29"/>
          <p:cNvSpPr/>
          <p:nvPr/>
        </p:nvSpPr>
        <p:spPr>
          <a:xfrm>
            <a:off x="1907703" y="1268759"/>
            <a:ext cx="8312063" cy="1"/>
          </a:xfrm>
          <a:prstGeom prst="line">
            <a:avLst/>
          </a:prstGeom>
          <a:ln w="6350">
            <a:solidFill>
              <a:srgbClr val="BFBFBF"/>
            </a:solidFill>
            <a:miter/>
          </a:ln>
        </p:spPr>
        <p:txBody>
          <a:bodyPr lIns="45719" rIns="45719"/>
          <a:lstStyle/>
          <a:p>
            <a:endParaRPr/>
          </a:p>
        </p:txBody>
      </p:sp>
      <p:sp>
        <p:nvSpPr>
          <p:cNvPr id="118" name="文本框 30"/>
          <p:cNvSpPr txBox="1"/>
          <p:nvPr/>
        </p:nvSpPr>
        <p:spPr>
          <a:xfrm>
            <a:off x="2210764" y="519918"/>
            <a:ext cx="3304541" cy="726441"/>
          </a:xfrm>
          <a:prstGeom prst="rect">
            <a:avLst/>
          </a:prstGeom>
          <a:ln w="12700">
            <a:miter lim="400000"/>
          </a:ln>
        </p:spPr>
        <p:txBody>
          <a:bodyPr wrap="none" lIns="45719" rIns="45719">
            <a:spAutoFit/>
          </a:bodyPr>
          <a:lstStyle>
            <a:lvl1pPr>
              <a:defRPr sz="3600">
                <a:latin typeface="黑体" panose="02010609060101010101" charset="-122"/>
                <a:ea typeface="黑体" panose="02010609060101010101" charset="-122"/>
                <a:cs typeface="黑体" panose="02010609060101010101" charset="-122"/>
                <a:sym typeface="黑体" panose="02010609060101010101" charset="-122"/>
              </a:defRPr>
            </a:lvl1pPr>
          </a:lstStyle>
          <a:p>
            <a:r>
              <a:t>关键技术与难点</a:t>
            </a:r>
          </a:p>
        </p:txBody>
      </p:sp>
      <p:sp>
        <p:nvSpPr>
          <p:cNvPr id="119"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sp>
        <p:nvSpPr>
          <p:cNvPr id="120" name="等腰三角形 11"/>
          <p:cNvSpPr/>
          <p:nvPr/>
        </p:nvSpPr>
        <p:spPr>
          <a:xfrm rot="16200000">
            <a:off x="1547663" y="3174234"/>
            <a:ext cx="144017" cy="144017"/>
          </a:xfrm>
          <a:prstGeom prst="triangle">
            <a:avLst/>
          </a:prstGeom>
          <a:solidFill>
            <a:srgbClr val="FFFFFF"/>
          </a:solidFill>
          <a:ln w="12700">
            <a:miter lim="400000"/>
          </a:ln>
        </p:spPr>
        <p:txBody>
          <a:bodyPr lIns="45719" rIns="45719" anchor="ctr"/>
          <a:lstStyle/>
          <a:p>
            <a:pPr algn="ctr">
              <a:defRPr>
                <a:solidFill>
                  <a:srgbClr val="FFFFFF"/>
                </a:solidFill>
              </a:defRPr>
            </a:pPr>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影响因素辨识">
    <p:spTree>
      <p:nvGrpSpPr>
        <p:cNvPr id="1" name=""/>
        <p:cNvGrpSpPr/>
        <p:nvPr/>
      </p:nvGrpSpPr>
      <p:grpSpPr>
        <a:xfrm>
          <a:off x="0" y="0"/>
          <a:ext cx="0" cy="0"/>
          <a:chOff x="0" y="0"/>
          <a:chExt cx="0" cy="0"/>
        </a:xfrm>
      </p:grpSpPr>
      <p:sp>
        <p:nvSpPr>
          <p:cNvPr id="127" name="矩形 23"/>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graphicFrame>
        <p:nvGraphicFramePr>
          <p:cNvPr id="128" name="表格 24"/>
          <p:cNvGraphicFramePr/>
          <p:nvPr/>
        </p:nvGraphicFramePr>
        <p:xfrm>
          <a:off x="0" y="1268759"/>
          <a:ext cx="1691680" cy="3960000"/>
        </p:xfrm>
        <a:graphic>
          <a:graphicData uri="http://schemas.openxmlformats.org/drawingml/2006/table">
            <a:tbl>
              <a:tblPr>
                <a:tableStyleId>{4C3C2611-4C71-4FC5-86AE-919BDF0F9419}</a:tableStyleId>
              </a:tblPr>
              <a:tblGrid>
                <a:gridCol w="1691680">
                  <a:extLst>
                    <a:ext uri="{9D8B030D-6E8A-4147-A177-3AD203B41FA5}">
                      <a16:colId xmlns:a16="http://schemas.microsoft.com/office/drawing/2014/main" val="20000"/>
                    </a:ext>
                  </a:extLst>
                </a:gridCol>
              </a:tblGrid>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绪论</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solidFill>
                      <a:srgbClr val="F2F2F2"/>
                    </a:solidFill>
                  </a:tcPr>
                </a:tc>
                <a:extLst>
                  <a:ext uri="{0D108BD9-81ED-4DB2-BD59-A6C34878D82A}">
                    <a16:rowId xmlns:a16="http://schemas.microsoft.com/office/drawing/2014/main" val="10002"/>
                  </a:ext>
                </a:extLst>
              </a:tr>
              <a:tr h="792000">
                <a:tc>
                  <a:txBody>
                    <a:bodyPr/>
                    <a:lstStyle/>
                    <a:p>
                      <a:pPr algn="ctr">
                        <a:defRPr sz="1800"/>
                      </a:pPr>
                      <a:r>
                        <a:rPr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solidFill>
                      <a:srgbClr val="414455"/>
                    </a:solidFill>
                  </a:tcPr>
                </a:tc>
                <a:extLst>
                  <a:ext uri="{0D108BD9-81ED-4DB2-BD59-A6C34878D82A}">
                    <a16:rowId xmlns:a16="http://schemas.microsoft.com/office/drawing/2014/main" val="10003"/>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131" name="矩形 27"/>
          <p:cNvGrpSpPr/>
          <p:nvPr/>
        </p:nvGrpSpPr>
        <p:grpSpPr>
          <a:xfrm>
            <a:off x="-1" y="2064749"/>
            <a:ext cx="1691682" cy="767351"/>
            <a:chOff x="0" y="0"/>
            <a:chExt cx="1691680" cy="767350"/>
          </a:xfrm>
        </p:grpSpPr>
        <p:sp>
          <p:nvSpPr>
            <p:cNvPr id="129" name="矩形"/>
            <p:cNvSpPr/>
            <p:nvPr/>
          </p:nvSpPr>
          <p:spPr>
            <a:xfrm>
              <a:off x="-1" y="-1"/>
              <a:ext cx="1691682" cy="767352"/>
            </a:xfrm>
            <a:prstGeom prst="rect">
              <a:avLst/>
            </a:prstGeom>
            <a:solidFill>
              <a:srgbClr val="F2F2F2"/>
            </a:solidFill>
            <a:ln w="12700" cap="flat">
              <a:noFill/>
              <a:miter lim="400000"/>
            </a:ln>
            <a:effectLst/>
          </p:spPr>
          <p:txBody>
            <a:bodyPr wrap="square" lIns="45719" tIns="45719" rIns="45719" bIns="45719" numCol="1" anchor="ctr">
              <a:noAutofit/>
            </a:bodyPr>
            <a:lstStyle/>
            <a:p>
              <a: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30" name="研究方法与思路"/>
            <p:cNvSpPr txBox="1"/>
            <p:nvPr/>
          </p:nvSpPr>
          <p:spPr>
            <a:xfrm>
              <a:off x="-1" y="198255"/>
              <a:ext cx="1691682" cy="370840"/>
            </a:xfrm>
            <a:prstGeom prst="rect">
              <a:avLst/>
            </a:prstGeom>
            <a:noFill/>
            <a:ln w="12700" cap="flat">
              <a:noFill/>
              <a:miter lim="400000"/>
            </a:ln>
            <a:effectLst/>
          </p:spPr>
          <p:txBody>
            <a:bodyPr wrap="square" lIns="45719" tIns="45719" rIns="45719" bIns="45719" numCol="1" anchor="ctr">
              <a:spAutoFit/>
            </a:bodyPr>
            <a:lstStyle>
              <a:lvl1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研究方法与思路</a:t>
              </a:r>
            </a:p>
          </p:txBody>
        </p:sp>
      </p:grpSp>
      <p:sp>
        <p:nvSpPr>
          <p:cNvPr id="132" name="直接连接符 29"/>
          <p:cNvSpPr/>
          <p:nvPr/>
        </p:nvSpPr>
        <p:spPr>
          <a:xfrm>
            <a:off x="1907703" y="1268759"/>
            <a:ext cx="8312063" cy="1"/>
          </a:xfrm>
          <a:prstGeom prst="line">
            <a:avLst/>
          </a:prstGeom>
          <a:ln w="6350">
            <a:solidFill>
              <a:srgbClr val="BFBFBF"/>
            </a:solidFill>
            <a:miter/>
          </a:ln>
        </p:spPr>
        <p:txBody>
          <a:bodyPr lIns="45719" rIns="45719"/>
          <a:lstStyle/>
          <a:p>
            <a:endParaRPr/>
          </a:p>
        </p:txBody>
      </p:sp>
      <p:sp>
        <p:nvSpPr>
          <p:cNvPr id="133" name="文本框 30"/>
          <p:cNvSpPr txBox="1"/>
          <p:nvPr/>
        </p:nvSpPr>
        <p:spPr>
          <a:xfrm>
            <a:off x="2210764" y="519918"/>
            <a:ext cx="3304541" cy="726441"/>
          </a:xfrm>
          <a:prstGeom prst="rect">
            <a:avLst/>
          </a:prstGeom>
          <a:ln w="12700">
            <a:miter lim="400000"/>
          </a:ln>
        </p:spPr>
        <p:txBody>
          <a:bodyPr wrap="none" lIns="45719" rIns="45719">
            <a:spAutoFit/>
          </a:bodyPr>
          <a:lstStyle>
            <a:lvl1pPr>
              <a:defRPr sz="3600">
                <a:latin typeface="黑体" panose="02010609060101010101" charset="-122"/>
                <a:ea typeface="黑体" panose="02010609060101010101" charset="-122"/>
                <a:cs typeface="黑体" panose="02010609060101010101" charset="-122"/>
                <a:sym typeface="黑体" panose="02010609060101010101" charset="-122"/>
              </a:defRPr>
            </a:lvl1pPr>
          </a:lstStyle>
          <a:p>
            <a:r>
              <a:t>研究成果与应用</a:t>
            </a:r>
          </a:p>
        </p:txBody>
      </p:sp>
      <p:sp>
        <p:nvSpPr>
          <p:cNvPr id="134"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sp>
        <p:nvSpPr>
          <p:cNvPr id="135" name="等腰三角形 9"/>
          <p:cNvSpPr/>
          <p:nvPr/>
        </p:nvSpPr>
        <p:spPr>
          <a:xfrm rot="16200000">
            <a:off x="1547663" y="3948934"/>
            <a:ext cx="144017" cy="144017"/>
          </a:xfrm>
          <a:prstGeom prst="triangle">
            <a:avLst/>
          </a:prstGeom>
          <a:solidFill>
            <a:srgbClr val="FFFFFF"/>
          </a:solidFill>
          <a:ln w="12700">
            <a:miter lim="400000"/>
          </a:ln>
        </p:spPr>
        <p:txBody>
          <a:bodyPr lIns="45719" rIns="45719" anchor="ctr"/>
          <a:lstStyle/>
          <a:p>
            <a:pPr algn="ctr">
              <a:defRPr>
                <a:solidFill>
                  <a:srgbClr val="FFFFFF"/>
                </a:solidFill>
              </a:defRPr>
            </a:pPr>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1_影响因素辨识">
    <p:spTree>
      <p:nvGrpSpPr>
        <p:cNvPr id="1" name=""/>
        <p:cNvGrpSpPr/>
        <p:nvPr/>
      </p:nvGrpSpPr>
      <p:grpSpPr>
        <a:xfrm>
          <a:off x="0" y="0"/>
          <a:ext cx="0" cy="0"/>
          <a:chOff x="0" y="0"/>
          <a:chExt cx="0" cy="0"/>
        </a:xfrm>
      </p:grpSpPr>
      <p:sp>
        <p:nvSpPr>
          <p:cNvPr id="142" name="矩形 23"/>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graphicFrame>
        <p:nvGraphicFramePr>
          <p:cNvPr id="143" name="表格 24"/>
          <p:cNvGraphicFramePr/>
          <p:nvPr/>
        </p:nvGraphicFramePr>
        <p:xfrm>
          <a:off x="0" y="1268759"/>
          <a:ext cx="1691681" cy="3960002"/>
        </p:xfrm>
        <a:graphic>
          <a:graphicData uri="http://schemas.openxmlformats.org/drawingml/2006/table">
            <a:tbl>
              <a:tblPr>
                <a:tableStyleId>{4C3C2611-4C71-4FC5-86AE-919BDF0F9419}</a:tableStyleId>
              </a:tblPr>
              <a:tblGrid>
                <a:gridCol w="1691680">
                  <a:extLst>
                    <a:ext uri="{9D8B030D-6E8A-4147-A177-3AD203B41FA5}">
                      <a16:colId xmlns:a16="http://schemas.microsoft.com/office/drawing/2014/main" val="20000"/>
                    </a:ext>
                  </a:extLst>
                </a:gridCol>
              </a:tblGrid>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绪论</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solidFill>
                      <a:srgbClr val="F2F2F2"/>
                    </a:solidFill>
                  </a:tcPr>
                </a:tc>
                <a:extLst>
                  <a:ext uri="{0D108BD9-81ED-4DB2-BD59-A6C34878D82A}">
                    <a16:rowId xmlns:a16="http://schemas.microsoft.com/office/drawing/2014/main" val="10002"/>
                  </a:ext>
                </a:extLst>
              </a:tr>
              <a:tr h="792000">
                <a:tc>
                  <a:txBody>
                    <a:bodyPr/>
                    <a:lstStyle/>
                    <a:p>
                      <a:pPr algn="ctr">
                        <a:defRPr sz="1800"/>
                      </a:pPr>
                      <a:r>
                        <a:rPr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solidFill>
                      <a:srgbClr val="414455"/>
                    </a:solidFill>
                  </a:tcPr>
                </a:tc>
                <a:extLst>
                  <a:ext uri="{0D108BD9-81ED-4DB2-BD59-A6C34878D82A}">
                    <a16:rowId xmlns:a16="http://schemas.microsoft.com/office/drawing/2014/main" val="10003"/>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146" name="矩形 27"/>
          <p:cNvGrpSpPr/>
          <p:nvPr/>
        </p:nvGrpSpPr>
        <p:grpSpPr>
          <a:xfrm>
            <a:off x="-1" y="2064749"/>
            <a:ext cx="1691682" cy="767351"/>
            <a:chOff x="0" y="0"/>
            <a:chExt cx="1691680" cy="767350"/>
          </a:xfrm>
        </p:grpSpPr>
        <p:sp>
          <p:nvSpPr>
            <p:cNvPr id="144" name="矩形"/>
            <p:cNvSpPr/>
            <p:nvPr/>
          </p:nvSpPr>
          <p:spPr>
            <a:xfrm>
              <a:off x="-1" y="-1"/>
              <a:ext cx="1691682" cy="767352"/>
            </a:xfrm>
            <a:prstGeom prst="rect">
              <a:avLst/>
            </a:prstGeom>
            <a:solidFill>
              <a:srgbClr val="F2F2F2"/>
            </a:solidFill>
            <a:ln w="12700" cap="flat">
              <a:noFill/>
              <a:miter lim="400000"/>
            </a:ln>
            <a:effectLst/>
          </p:spPr>
          <p:txBody>
            <a:bodyPr wrap="square" lIns="45719" tIns="45719" rIns="45719" bIns="45719" numCol="1" anchor="ctr">
              <a:noAutofit/>
            </a:bodyPr>
            <a:lstStyle/>
            <a:p>
              <a: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45" name="研究方法与思路"/>
            <p:cNvSpPr txBox="1"/>
            <p:nvPr/>
          </p:nvSpPr>
          <p:spPr>
            <a:xfrm>
              <a:off x="-1" y="198255"/>
              <a:ext cx="1691682" cy="370840"/>
            </a:xfrm>
            <a:prstGeom prst="rect">
              <a:avLst/>
            </a:prstGeom>
            <a:noFill/>
            <a:ln w="12700" cap="flat">
              <a:noFill/>
              <a:miter lim="400000"/>
            </a:ln>
            <a:effectLst/>
          </p:spPr>
          <p:txBody>
            <a:bodyPr wrap="square" lIns="45719" tIns="45719" rIns="45719" bIns="45719" numCol="1" anchor="ctr">
              <a:spAutoFit/>
            </a:bodyPr>
            <a:lstStyle>
              <a:lvl1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研究方法与思路</a:t>
              </a:r>
            </a:p>
          </p:txBody>
        </p:sp>
      </p:grpSp>
      <p:sp>
        <p:nvSpPr>
          <p:cNvPr id="147" name="直接连接符 29"/>
          <p:cNvSpPr/>
          <p:nvPr/>
        </p:nvSpPr>
        <p:spPr>
          <a:xfrm>
            <a:off x="1907703" y="1268759"/>
            <a:ext cx="8312063" cy="1"/>
          </a:xfrm>
          <a:prstGeom prst="line">
            <a:avLst/>
          </a:prstGeom>
          <a:ln w="6350">
            <a:solidFill>
              <a:srgbClr val="BFBFBF"/>
            </a:solidFill>
            <a:miter/>
          </a:ln>
        </p:spPr>
        <p:txBody>
          <a:bodyPr lIns="45719" rIns="45719"/>
          <a:lstStyle/>
          <a:p>
            <a:endParaRPr/>
          </a:p>
        </p:txBody>
      </p:sp>
      <p:sp>
        <p:nvSpPr>
          <p:cNvPr id="148" name="文本框 30"/>
          <p:cNvSpPr txBox="1"/>
          <p:nvPr/>
        </p:nvSpPr>
        <p:spPr>
          <a:xfrm>
            <a:off x="2210764" y="519918"/>
            <a:ext cx="3304541" cy="726441"/>
          </a:xfrm>
          <a:prstGeom prst="rect">
            <a:avLst/>
          </a:prstGeom>
          <a:ln w="12700">
            <a:miter lim="400000"/>
          </a:ln>
        </p:spPr>
        <p:txBody>
          <a:bodyPr wrap="none" lIns="45719" rIns="45719">
            <a:spAutoFit/>
          </a:bodyPr>
          <a:lstStyle>
            <a:lvl1pPr>
              <a:defRPr sz="3600">
                <a:latin typeface="黑体" panose="02010609060101010101" charset="-122"/>
                <a:ea typeface="黑体" panose="02010609060101010101" charset="-122"/>
                <a:cs typeface="黑体" panose="02010609060101010101" charset="-122"/>
                <a:sym typeface="黑体" panose="02010609060101010101" charset="-122"/>
              </a:defRPr>
            </a:lvl1pPr>
          </a:lstStyle>
          <a:p>
            <a:r>
              <a:t>研究成果与应用</a:t>
            </a:r>
          </a:p>
        </p:txBody>
      </p:sp>
      <p:sp>
        <p:nvSpPr>
          <p:cNvPr id="149"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sp>
        <p:nvSpPr>
          <p:cNvPr id="150" name="等腰三角形 9"/>
          <p:cNvSpPr/>
          <p:nvPr/>
        </p:nvSpPr>
        <p:spPr>
          <a:xfrm rot="16200000">
            <a:off x="1547663" y="3948934"/>
            <a:ext cx="144017" cy="144017"/>
          </a:xfrm>
          <a:prstGeom prst="triangle">
            <a:avLst/>
          </a:prstGeom>
          <a:solidFill>
            <a:srgbClr val="FFFFFF"/>
          </a:solidFill>
          <a:ln w="12700">
            <a:miter lim="400000"/>
          </a:ln>
        </p:spPr>
        <p:txBody>
          <a:bodyPr lIns="45719" rIns="45719" anchor="ctr"/>
          <a:lstStyle/>
          <a:p>
            <a:pPr algn="ctr">
              <a:defRPr>
                <a:solidFill>
                  <a:srgbClr val="FFFFFF"/>
                </a:solidFill>
              </a:defRPr>
            </a:pPr>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影响因素辨识1">
    <p:spTree>
      <p:nvGrpSpPr>
        <p:cNvPr id="1" name=""/>
        <p:cNvGrpSpPr/>
        <p:nvPr/>
      </p:nvGrpSpPr>
      <p:grpSpPr>
        <a:xfrm>
          <a:off x="0" y="0"/>
          <a:ext cx="0" cy="0"/>
          <a:chOff x="0" y="0"/>
          <a:chExt cx="0" cy="0"/>
        </a:xfrm>
      </p:grpSpPr>
      <p:sp>
        <p:nvSpPr>
          <p:cNvPr id="157" name="矩形 23"/>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sp>
        <p:nvSpPr>
          <p:cNvPr id="158" name="直接连接符 29"/>
          <p:cNvSpPr/>
          <p:nvPr/>
        </p:nvSpPr>
        <p:spPr>
          <a:xfrm>
            <a:off x="1907703" y="1268759"/>
            <a:ext cx="8312063" cy="1"/>
          </a:xfrm>
          <a:prstGeom prst="line">
            <a:avLst/>
          </a:prstGeom>
          <a:ln w="6350">
            <a:solidFill>
              <a:srgbClr val="BFBFBF"/>
            </a:solidFill>
            <a:miter/>
          </a:ln>
        </p:spPr>
        <p:txBody>
          <a:bodyPr lIns="45719" rIns="45719"/>
          <a:lstStyle/>
          <a:p>
            <a:endParaRPr/>
          </a:p>
        </p:txBody>
      </p:sp>
      <p:sp>
        <p:nvSpPr>
          <p:cNvPr id="159" name="文本框 30"/>
          <p:cNvSpPr txBox="1"/>
          <p:nvPr/>
        </p:nvSpPr>
        <p:spPr>
          <a:xfrm>
            <a:off x="2210764" y="531057"/>
            <a:ext cx="1932941" cy="726441"/>
          </a:xfrm>
          <a:prstGeom prst="rect">
            <a:avLst/>
          </a:prstGeom>
          <a:ln w="12700">
            <a:miter lim="400000"/>
          </a:ln>
        </p:spPr>
        <p:txBody>
          <a:bodyPr wrap="none" lIns="45719" rIns="45719">
            <a:spAutoFit/>
          </a:bodyPr>
          <a:lstStyle>
            <a:lvl1pPr>
              <a:defRPr sz="3600">
                <a:latin typeface="黑体" panose="02010609060101010101" charset="-122"/>
                <a:ea typeface="黑体" panose="02010609060101010101" charset="-122"/>
                <a:cs typeface="黑体" panose="02010609060101010101" charset="-122"/>
                <a:sym typeface="黑体" panose="02010609060101010101" charset="-122"/>
              </a:defRPr>
            </a:lvl1pPr>
          </a:lstStyle>
          <a:p>
            <a:r>
              <a:t>论文总结</a:t>
            </a:r>
          </a:p>
        </p:txBody>
      </p:sp>
      <p:sp>
        <p:nvSpPr>
          <p:cNvPr id="160" name="幻灯片编号"/>
          <p:cNvSpPr txBox="1">
            <a:spLocks noGrp="1"/>
          </p:cNvSpPr>
          <p:nvPr>
            <p:ph type="sldNum" sz="quarter" idx="2"/>
          </p:nvPr>
        </p:nvSpPr>
        <p:spPr>
          <a:xfrm flipH="1">
            <a:off x="11211742" y="6003980"/>
            <a:ext cx="986608" cy="396241"/>
          </a:xfrm>
          <a:prstGeom prst="rect">
            <a:avLst/>
          </a:prstGeom>
          <a:solidFill>
            <a:srgbClr val="808080"/>
          </a:solidFill>
          <a:effectLst>
            <a:outerShdw blurRad="50800" dist="38100" dir="5400000" rotWithShape="0">
              <a:srgbClr val="000000">
                <a:alpha val="40000"/>
              </a:srgbClr>
            </a:outerShdw>
          </a:effectLst>
        </p:spPr>
        <p:txBody>
          <a:bodyPr wrap="square"/>
          <a:lstStyle>
            <a:lvl1pPr algn="ctr">
              <a:defRPr sz="1800">
                <a:solidFill>
                  <a:srgbClr val="FFFFFF"/>
                </a:solidFill>
                <a:latin typeface="Arial Unicode MS" panose="020B0604020202020204" charset="-122"/>
                <a:ea typeface="Arial Unicode MS" panose="020B0604020202020204" charset="-122"/>
                <a:cs typeface="Arial Unicode MS" panose="020B0604020202020204" charset="-122"/>
                <a:sym typeface="Arial Unicode MS" panose="020B0604020202020204" charset="-122"/>
              </a:defRPr>
            </a:lvl1pPr>
          </a:lstStyle>
          <a:p>
            <a:fld id="{86CB4B4D-7CA3-9044-876B-883B54F8677D}" type="slidenum">
              <a:rPr/>
              <a:t>‹#›</a:t>
            </a:fld>
            <a:endParaRPr/>
          </a:p>
        </p:txBody>
      </p:sp>
      <p:graphicFrame>
        <p:nvGraphicFramePr>
          <p:cNvPr id="161" name="表格 15"/>
          <p:cNvGraphicFramePr/>
          <p:nvPr/>
        </p:nvGraphicFramePr>
        <p:xfrm>
          <a:off x="8194" y="1295575"/>
          <a:ext cx="1691680" cy="3999295"/>
        </p:xfrm>
        <a:graphic>
          <a:graphicData uri="http://schemas.openxmlformats.org/drawingml/2006/table">
            <a:tbl>
              <a:tblPr>
                <a:tableStyleId>{4C3C2611-4C71-4FC5-86AE-919BDF0F9419}</a:tableStyleId>
              </a:tblPr>
              <a:tblGrid>
                <a:gridCol w="1691680">
                  <a:extLst>
                    <a:ext uri="{9D8B030D-6E8A-4147-A177-3AD203B41FA5}">
                      <a16:colId xmlns:a16="http://schemas.microsoft.com/office/drawing/2014/main" val="20000"/>
                    </a:ext>
                  </a:extLst>
                </a:gridCol>
              </a:tblGrid>
              <a:tr h="792000">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831295">
                <a:tc>
                  <a:txBody>
                    <a:bodyPr/>
                    <a:lstStyle/>
                    <a:p>
                      <a: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关键技术与难点</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2"/>
                  </a:ext>
                </a:extLst>
              </a:tr>
              <a:tr h="792000">
                <a:tc>
                  <a:txBody>
                    <a:bodyPr/>
                    <a:lstStyle/>
                    <a:p>
                      <a:pPr algn="ctr">
                        <a:defRPr sz="1800"/>
                      </a:pPr>
                      <a:r>
                        <a:rPr sz="1600">
                          <a:latin typeface="微软雅黑" panose="020B0503020204020204" charset="-122"/>
                          <a:ea typeface="微软雅黑" panose="020B0503020204020204" charset="-122"/>
                          <a:cs typeface="微软雅黑" panose="020B0503020204020204" charset="-122"/>
                          <a:sym typeface="微软雅黑" panose="020B0503020204020204" charset="-122"/>
                        </a:rPr>
                        <a:t>研究成果与应用</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3"/>
                  </a:ext>
                </a:extLst>
              </a:tr>
              <a:tr h="792000">
                <a:tc>
                  <a:txBody>
                    <a:bodyPr/>
                    <a:lstStyle/>
                    <a:p>
                      <a:pPr algn="ctr">
                        <a:def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bl>
          </a:graphicData>
        </a:graphic>
      </p:graphicFrame>
      <p:grpSp>
        <p:nvGrpSpPr>
          <p:cNvPr id="164" name="组合 16"/>
          <p:cNvGrpSpPr/>
          <p:nvPr/>
        </p:nvGrpSpPr>
        <p:grpSpPr>
          <a:xfrm>
            <a:off x="-1" y="1481335"/>
            <a:ext cx="1691682" cy="370841"/>
            <a:chOff x="0" y="0"/>
            <a:chExt cx="1691680" cy="370840"/>
          </a:xfrm>
        </p:grpSpPr>
        <p:sp>
          <p:nvSpPr>
            <p:cNvPr id="162" name="矩形 17"/>
            <p:cNvSpPr txBox="1"/>
            <p:nvPr/>
          </p:nvSpPr>
          <p:spPr>
            <a:xfrm>
              <a:off x="0" y="0"/>
              <a:ext cx="1691681" cy="370840"/>
            </a:xfrm>
            <a:prstGeom prst="rect">
              <a:avLst/>
            </a:prstGeom>
            <a:noFill/>
            <a:ln w="12700" cap="flat">
              <a:noFill/>
              <a:miter lim="400000"/>
            </a:ln>
            <a:effectLst/>
          </p:spPr>
          <p:txBody>
            <a:bodyPr wrap="square" lIns="45719" tIns="45719" rIns="45719" bIns="45719" numCol="1" anchor="ctr">
              <a:spAutoFit/>
            </a:bodyPr>
            <a:lstStyle>
              <a:lvl1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绪论</a:t>
              </a:r>
            </a:p>
          </p:txBody>
        </p:sp>
        <p:sp>
          <p:nvSpPr>
            <p:cNvPr id="163" name="等腰三角形 18"/>
            <p:cNvSpPr/>
            <p:nvPr/>
          </p:nvSpPr>
          <p:spPr>
            <a:xfrm rot="16200000">
              <a:off x="1547664" y="113413"/>
              <a:ext cx="144017" cy="144017"/>
            </a:xfrm>
            <a:prstGeom prst="triangl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165" name="矩形 22"/>
          <p:cNvSpPr txBox="1"/>
          <p:nvPr/>
        </p:nvSpPr>
        <p:spPr>
          <a:xfrm>
            <a:off x="3667" y="2287679"/>
            <a:ext cx="1691682" cy="370841"/>
          </a:xfrm>
          <a:prstGeom prst="rect">
            <a:avLst/>
          </a:prstGeom>
          <a:ln w="12700">
            <a:miter lim="400000"/>
          </a:ln>
        </p:spPr>
        <p:txBody>
          <a:bodyPr lIns="45719" rIns="45719" anchor="ctr">
            <a:spAutoFit/>
          </a:bodyPr>
          <a:lstStyle>
            <a:lvl1pPr algn="ctr">
              <a:defRPr sz="16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研究方法与思路</a:t>
            </a:r>
          </a:p>
        </p:txBody>
      </p:sp>
      <p:grpSp>
        <p:nvGrpSpPr>
          <p:cNvPr id="170" name="组合 10"/>
          <p:cNvGrpSpPr/>
          <p:nvPr/>
        </p:nvGrpSpPr>
        <p:grpSpPr>
          <a:xfrm>
            <a:off x="-2440" y="4510373"/>
            <a:ext cx="1691682" cy="788187"/>
            <a:chOff x="0" y="0"/>
            <a:chExt cx="1691680" cy="788185"/>
          </a:xfrm>
        </p:grpSpPr>
        <p:grpSp>
          <p:nvGrpSpPr>
            <p:cNvPr id="168" name="矩形 13"/>
            <p:cNvGrpSpPr/>
            <p:nvPr/>
          </p:nvGrpSpPr>
          <p:grpSpPr>
            <a:xfrm>
              <a:off x="0" y="0"/>
              <a:ext cx="1691681" cy="788186"/>
              <a:chOff x="0" y="0"/>
              <a:chExt cx="1691680" cy="788185"/>
            </a:xfrm>
          </p:grpSpPr>
          <p:sp>
            <p:nvSpPr>
              <p:cNvPr id="166" name="矩形"/>
              <p:cNvSpPr/>
              <p:nvPr/>
            </p:nvSpPr>
            <p:spPr>
              <a:xfrm>
                <a:off x="-1" y="0"/>
                <a:ext cx="1691682" cy="788186"/>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167" name="论文总结"/>
              <p:cNvSpPr txBox="1"/>
              <p:nvPr/>
            </p:nvSpPr>
            <p:spPr>
              <a:xfrm>
                <a:off x="-1" y="208672"/>
                <a:ext cx="1691682" cy="370841"/>
              </a:xfrm>
              <a:prstGeom prst="rect">
                <a:avLst/>
              </a:prstGeom>
              <a:noFill/>
              <a:ln w="12700" cap="flat">
                <a:noFill/>
                <a:miter lim="400000"/>
              </a:ln>
              <a:effectLst/>
            </p:spPr>
            <p:txBody>
              <a:bodyPr wrap="square" lIns="45719" tIns="45719" rIns="45719" bIns="45719" numCol="1" anchor="ctr">
                <a:spAutoFit/>
              </a:bodyPr>
              <a:lstStyle>
                <a:lvl1pPr algn="ctr">
                  <a:defRPr sz="1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论文总结</a:t>
                </a:r>
              </a:p>
            </p:txBody>
          </p:sp>
        </p:grpSp>
        <p:sp>
          <p:nvSpPr>
            <p:cNvPr id="169" name="等腰三角形 12"/>
            <p:cNvSpPr/>
            <p:nvPr/>
          </p:nvSpPr>
          <p:spPr>
            <a:xfrm rot="16200000">
              <a:off x="1545365" y="322084"/>
              <a:ext cx="144018" cy="144017"/>
            </a:xfrm>
            <a:prstGeom prst="triangle">
              <a:avLst/>
            </a:pr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自定义版式">
    <p:spTree>
      <p:nvGrpSpPr>
        <p:cNvPr id="1" name=""/>
        <p:cNvGrpSpPr/>
        <p:nvPr/>
      </p:nvGrpSpPr>
      <p:grpSpPr>
        <a:xfrm>
          <a:off x="0" y="0"/>
          <a:ext cx="0" cy="0"/>
          <a:chOff x="0" y="0"/>
          <a:chExt cx="0" cy="0"/>
        </a:xfrm>
      </p:grpSpPr>
      <p:sp>
        <p:nvSpPr>
          <p:cNvPr id="177"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标题和内容">
    <p:spTree>
      <p:nvGrpSpPr>
        <p:cNvPr id="1" name=""/>
        <p:cNvGrpSpPr/>
        <p:nvPr/>
      </p:nvGrpSpPr>
      <p:grpSpPr>
        <a:xfrm>
          <a:off x="0" y="0"/>
          <a:ext cx="0" cy="0"/>
          <a:chOff x="0" y="0"/>
          <a:chExt cx="0" cy="0"/>
        </a:xfrm>
      </p:grpSpPr>
      <p:sp>
        <p:nvSpPr>
          <p:cNvPr id="193" name="标题文本"/>
          <p:cNvSpPr txBox="1">
            <a:spLocks noGrp="1"/>
          </p:cNvSpPr>
          <p:nvPr>
            <p:ph type="title" hasCustomPrompt="1"/>
          </p:nvPr>
        </p:nvSpPr>
        <p:spPr>
          <a:xfrm>
            <a:off x="838200" y="365125"/>
            <a:ext cx="10515600" cy="1325563"/>
          </a:xfrm>
          <a:prstGeom prst="rect">
            <a:avLst/>
          </a:prstGeom>
        </p:spPr>
        <p:txBody>
          <a:bodyPr/>
          <a:lstStyle/>
          <a:p>
            <a:r>
              <a:t>标题文本</a:t>
            </a:r>
          </a:p>
        </p:txBody>
      </p:sp>
      <p:sp>
        <p:nvSpPr>
          <p:cNvPr id="194" name="正文级别 1…"/>
          <p:cNvSpPr txBox="1">
            <a:spLocks noGrp="1"/>
          </p:cNvSpPr>
          <p:nvPr>
            <p:ph type="body" idx="1" hasCustomPrompt="1"/>
          </p:nvPr>
        </p:nvSpPr>
        <p:spPr>
          <a:xfrm>
            <a:off x="838200" y="1825625"/>
            <a:ext cx="10515600" cy="4351338"/>
          </a:xfrm>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195" name="幻灯片编号"/>
          <p:cNvSpPr txBox="1">
            <a:spLocks noGrp="1"/>
          </p:cNvSpPr>
          <p:nvPr>
            <p:ph type="sldNum" sz="quarter" idx="2"/>
          </p:nvPr>
        </p:nvSpPr>
        <p:spPr>
          <a:xfrm>
            <a:off x="11089818" y="6404292"/>
            <a:ext cx="263983" cy="269241"/>
          </a:xfrm>
          <a:prstGeom prst="rect">
            <a:avLst/>
          </a:prstGeom>
        </p:spPr>
        <p:txBody>
          <a:bodyPr/>
          <a:lstStyle/>
          <a:p>
            <a:fld id="{86CB4B4D-7CA3-9044-876B-883B54F8677D}" type="slidenum">
              <a:r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矩形 6"/>
          <p:cNvSpPr/>
          <p:nvPr/>
        </p:nvSpPr>
        <p:spPr>
          <a:xfrm>
            <a:off x="-1" y="0"/>
            <a:ext cx="1691682" cy="6858000"/>
          </a:xfrm>
          <a:prstGeom prst="rect">
            <a:avLst/>
          </a:prstGeom>
          <a:solidFill>
            <a:srgbClr val="F2F2F2"/>
          </a:solidFill>
          <a:ln w="12700">
            <a:miter lim="400000"/>
          </a:ln>
        </p:spPr>
        <p:txBody>
          <a:bodyPr lIns="45719" rIns="45719" anchor="ctr"/>
          <a:lstStyle/>
          <a:p>
            <a:pPr algn="ctr">
              <a:defRPr>
                <a:solidFill>
                  <a:srgbClr val="FFFFFF"/>
                </a:solidFill>
              </a:defRPr>
            </a:pPr>
            <a:endParaRPr/>
          </a:p>
        </p:txBody>
      </p:sp>
      <p:sp>
        <p:nvSpPr>
          <p:cNvPr id="3" name="日期占位符 1"/>
          <p:cNvSpPr txBox="1"/>
          <p:nvPr/>
        </p:nvSpPr>
        <p:spPr>
          <a:xfrm>
            <a:off x="457200" y="6385242"/>
            <a:ext cx="2133600" cy="307341"/>
          </a:xfrm>
          <a:prstGeom prst="rect">
            <a:avLst/>
          </a:prstGeom>
          <a:ln w="12700">
            <a:miter lim="400000"/>
          </a:ln>
        </p:spPr>
        <p:txBody>
          <a:bodyPr lIns="45719" rIns="45719" anchor="ctr">
            <a:spAutoFit/>
          </a:bodyPr>
          <a:lstStyle/>
          <a:p>
            <a:pPr>
              <a:defRPr sz="1200">
                <a:solidFill>
                  <a:srgbClr val="888888"/>
                </a:solidFill>
              </a:defRPr>
            </a:pPr>
            <a:endParaRPr/>
          </a:p>
        </p:txBody>
      </p:sp>
      <p:graphicFrame>
        <p:nvGraphicFramePr>
          <p:cNvPr id="4" name="表格 9"/>
          <p:cNvGraphicFramePr/>
          <p:nvPr/>
        </p:nvGraphicFramePr>
        <p:xfrm>
          <a:off x="0" y="1355463"/>
          <a:ext cx="1691680" cy="3873296"/>
        </p:xfrm>
        <a:graphic>
          <a:graphicData uri="http://schemas.openxmlformats.org/drawingml/2006/table">
            <a:tbl>
              <a:tblPr>
                <a:tableStyleId>{4C3C2611-4C71-4FC5-86AE-919BDF0F9419}</a:tableStyleId>
              </a:tblPr>
              <a:tblGrid>
                <a:gridCol w="1691680">
                  <a:extLst>
                    <a:ext uri="{9D8B030D-6E8A-4147-A177-3AD203B41FA5}">
                      <a16:colId xmlns:a16="http://schemas.microsoft.com/office/drawing/2014/main" val="20000"/>
                    </a:ext>
                  </a:extLst>
                </a:gridCol>
              </a:tblGrid>
              <a:tr h="705296">
                <a:tc>
                  <a:txBody>
                    <a:bodyPr/>
                    <a:lstStyle/>
                    <a:p>
                      <a:pPr algn="ctr">
                        <a:defRPr sz="1800"/>
                      </a:pPr>
                      <a:endParaRP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0"/>
                  </a:ext>
                </a:extLst>
              </a:tr>
              <a:tr h="633600">
                <a:tc>
                  <a:txBody>
                    <a:bodyPr/>
                    <a:lstStyle/>
                    <a:p>
                      <a:pPr algn="ctr">
                        <a:defRPr sz="1800"/>
                      </a:pPr>
                      <a:r>
                        <a: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绪论</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1"/>
                  </a:ext>
                </a:extLst>
              </a:tr>
              <a:tr h="633600">
                <a:tc>
                  <a:txBody>
                    <a:bodyPr/>
                    <a:lstStyle/>
                    <a:p>
                      <a:pPr algn="ctr">
                        <a:defRPr sz="1800"/>
                      </a:pPr>
                      <a:r>
                        <a: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界定与表征</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2"/>
                  </a:ext>
                </a:extLst>
              </a:tr>
              <a:tr h="633600">
                <a:tc>
                  <a:txBody>
                    <a:bodyPr/>
                    <a:lstStyle/>
                    <a:p>
                      <a:pPr algn="ctr">
                        <a:defRPr sz="1800"/>
                      </a:pPr>
                      <a:r>
                        <a: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合理交通结构</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3"/>
                  </a:ext>
                </a:extLst>
              </a:tr>
              <a:tr h="633600">
                <a:tc>
                  <a:txBody>
                    <a:bodyPr/>
                    <a:lstStyle/>
                    <a:p>
                      <a:pPr algn="ctr">
                        <a:defRPr sz="1800"/>
                      </a:pPr>
                      <a:r>
                        <a: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影响因素辨识</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4"/>
                  </a:ext>
                </a:extLst>
              </a:tr>
              <a:tr h="633600">
                <a:tc>
                  <a:txBody>
                    <a:bodyPr/>
                    <a:lstStyle/>
                    <a:p>
                      <a:pPr algn="ctr">
                        <a:defRPr sz="1800"/>
                      </a:pPr>
                      <a:r>
                        <a:rPr sz="16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干预对策</a:t>
                      </a:r>
                    </a:p>
                  </a:txBody>
                  <a:tcPr marL="45720" marR="45720" anchor="ctr" horzOverflow="overflow">
                    <a:lnL w="12700">
                      <a:miter lim="400000"/>
                    </a:lnL>
                    <a:lnR w="12700">
                      <a:miter lim="400000"/>
                    </a:lnR>
                    <a:lnT w="12700">
                      <a:solidFill>
                        <a:srgbClr val="BFBFBF"/>
                      </a:solidFill>
                    </a:lnT>
                    <a:lnB w="12700">
                      <a:solidFill>
                        <a:srgbClr val="BFBFBF"/>
                      </a:solidFill>
                    </a:lnB>
                    <a:noFill/>
                  </a:tcPr>
                </a:tc>
                <a:extLst>
                  <a:ext uri="{0D108BD9-81ED-4DB2-BD59-A6C34878D82A}">
                    <a16:rowId xmlns:a16="http://schemas.microsoft.com/office/drawing/2014/main" val="10005"/>
                  </a:ext>
                </a:extLst>
              </a:tr>
            </a:tbl>
          </a:graphicData>
        </a:graphic>
      </p:graphicFrame>
      <p:sp>
        <p:nvSpPr>
          <p:cNvPr id="5" name="直接连接符 10"/>
          <p:cNvSpPr/>
          <p:nvPr/>
        </p:nvSpPr>
        <p:spPr>
          <a:xfrm>
            <a:off x="1907703" y="1268759"/>
            <a:ext cx="8312063" cy="1"/>
          </a:xfrm>
          <a:prstGeom prst="line">
            <a:avLst/>
          </a:prstGeom>
          <a:ln w="6350">
            <a:solidFill>
              <a:srgbClr val="BFBFBF"/>
            </a:solidFill>
            <a:miter/>
          </a:ln>
        </p:spPr>
        <p:txBody>
          <a:bodyPr lIns="45719" rIns="45719"/>
          <a:lstStyle/>
          <a:p>
            <a:endParaRPr/>
          </a:p>
        </p:txBody>
      </p:sp>
      <p:grpSp>
        <p:nvGrpSpPr>
          <p:cNvPr id="10" name="组合 11"/>
          <p:cNvGrpSpPr/>
          <p:nvPr/>
        </p:nvGrpSpPr>
        <p:grpSpPr>
          <a:xfrm>
            <a:off x="-1" y="1358721"/>
            <a:ext cx="1691682" cy="728263"/>
            <a:chOff x="0" y="0"/>
            <a:chExt cx="1691680" cy="728261"/>
          </a:xfrm>
        </p:grpSpPr>
        <p:grpSp>
          <p:nvGrpSpPr>
            <p:cNvPr id="8" name="矩形 12"/>
            <p:cNvGrpSpPr/>
            <p:nvPr/>
          </p:nvGrpSpPr>
          <p:grpSpPr>
            <a:xfrm>
              <a:off x="0" y="0"/>
              <a:ext cx="1691681" cy="728262"/>
              <a:chOff x="0" y="0"/>
              <a:chExt cx="1691680" cy="728261"/>
            </a:xfrm>
          </p:grpSpPr>
          <p:sp>
            <p:nvSpPr>
              <p:cNvPr id="6" name="矩形"/>
              <p:cNvSpPr/>
              <p:nvPr/>
            </p:nvSpPr>
            <p:spPr>
              <a:xfrm>
                <a:off x="-1" y="-1"/>
                <a:ext cx="1691682" cy="728263"/>
              </a:xfrm>
              <a:prstGeom prst="rect">
                <a:avLst/>
              </a:prstGeom>
              <a:solidFill>
                <a:srgbClr val="414455">
                  <a:alpha val="89804"/>
                </a:srgbClr>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2400">
                    <a:solidFill>
                      <a:srgbClr val="FFFFFF"/>
                    </a:solidFill>
                  </a:defRPr>
                </a:pPr>
                <a:endParaRPr/>
              </a:p>
            </p:txBody>
          </p:sp>
          <p:sp>
            <p:nvSpPr>
              <p:cNvPr id="7" name="主要内容"/>
              <p:cNvSpPr txBox="1"/>
              <p:nvPr/>
            </p:nvSpPr>
            <p:spPr>
              <a:xfrm>
                <a:off x="-1" y="108860"/>
                <a:ext cx="1691682" cy="510541"/>
              </a:xfrm>
              <a:prstGeom prst="rect">
                <a:avLst/>
              </a:prstGeom>
              <a:noFill/>
              <a:ln w="12700" cap="flat">
                <a:noFill/>
                <a:miter lim="400000"/>
              </a:ln>
              <a:effectLst/>
            </p:spPr>
            <p:txBody>
              <a:bodyPr wrap="square" lIns="45719" tIns="45719" rIns="45719" bIns="45719" numCol="1" anchor="ctr">
                <a:spAutoFit/>
              </a:bodyPr>
              <a:lstStyle>
                <a:lvl1pPr algn="ctr">
                  <a:defRPr sz="2400">
                    <a:solidFill>
                      <a:srgbClr val="FFFFFF"/>
                    </a:solidFill>
                  </a:defRPr>
                </a:lvl1pPr>
              </a:lstStyle>
              <a:p>
                <a:r>
                  <a:t>主要内容</a:t>
                </a:r>
              </a:p>
            </p:txBody>
          </p:sp>
        </p:grpSp>
        <p:sp>
          <p:nvSpPr>
            <p:cNvPr id="9" name="等腰三角形 13"/>
            <p:cNvSpPr/>
            <p:nvPr/>
          </p:nvSpPr>
          <p:spPr>
            <a:xfrm rot="16200000">
              <a:off x="1553138" y="292123"/>
              <a:ext cx="133068" cy="144017"/>
            </a:xfrm>
            <a:prstGeom prst="triangle">
              <a:avLst/>
            </a:prstGeom>
            <a:solidFill>
              <a:srgbClr val="F2F2F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11" name="文本框 15"/>
          <p:cNvSpPr txBox="1"/>
          <p:nvPr/>
        </p:nvSpPr>
        <p:spPr>
          <a:xfrm>
            <a:off x="2210764" y="509286"/>
            <a:ext cx="2136141" cy="802641"/>
          </a:xfrm>
          <a:prstGeom prst="rect">
            <a:avLst/>
          </a:prstGeom>
          <a:ln w="12700">
            <a:miter lim="400000"/>
          </a:ln>
        </p:spPr>
        <p:txBody>
          <a:bodyPr wrap="none" lIns="45719" rIns="45719">
            <a:spAutoFit/>
          </a:bodyPr>
          <a:lstStyle>
            <a:lvl1pPr>
              <a:defRPr sz="4000">
                <a:latin typeface="黑体" panose="02010609060101010101" charset="-122"/>
                <a:ea typeface="黑体" panose="02010609060101010101" charset="-122"/>
                <a:cs typeface="黑体" panose="02010609060101010101" charset="-122"/>
                <a:sym typeface="黑体" panose="02010609060101010101" charset="-122"/>
              </a:defRPr>
            </a:lvl1pPr>
          </a:lstStyle>
          <a:p>
            <a:r>
              <a:t>主要内容</a:t>
            </a:r>
          </a:p>
        </p:txBody>
      </p:sp>
      <p:sp>
        <p:nvSpPr>
          <p:cNvPr id="12" name="标题文本"/>
          <p:cNvSpPr txBox="1">
            <a:spLocks noGrp="1"/>
          </p:cNvSpPr>
          <p:nvPr>
            <p:ph type="title"/>
          </p:nvPr>
        </p:nvSpPr>
        <p:spPr>
          <a:xfrm>
            <a:off x="609600" y="92074"/>
            <a:ext cx="10972800" cy="1508127"/>
          </a:xfrm>
          <a:prstGeom prst="rect">
            <a:avLst/>
          </a:prstGeom>
          <a:ln w="12700">
            <a:miter lim="400000"/>
          </a:ln>
        </p:spPr>
        <p:txBody>
          <a:bodyPr lIns="45719" rIns="45719" anchor="ctr">
            <a:normAutofit/>
          </a:bodyPr>
          <a:lstStyle/>
          <a:p>
            <a:r>
              <a:t>标题文本</a:t>
            </a:r>
          </a:p>
        </p:txBody>
      </p:sp>
      <p:sp>
        <p:nvSpPr>
          <p:cNvPr id="13" name="正文级别 1…"/>
          <p:cNvSpPr txBox="1">
            <a:spLocks noGrp="1"/>
          </p:cNvSpPr>
          <p:nvPr>
            <p:ph type="body" idx="1"/>
          </p:nvPr>
        </p:nvSpPr>
        <p:spPr>
          <a:xfrm>
            <a:off x="609600" y="1600200"/>
            <a:ext cx="10972800" cy="5257800"/>
          </a:xfrm>
          <a:prstGeom prst="rect">
            <a:avLst/>
          </a:prstGeom>
          <a:ln w="12700">
            <a:miter lim="400000"/>
          </a:ln>
        </p:spPr>
        <p:txBody>
          <a:bodyPr lIns="45719" rIns="45719">
            <a:normAutofit/>
          </a:bodyPr>
          <a:lstStyle/>
          <a:p>
            <a:r>
              <a:t>正文级别 1</a:t>
            </a:r>
          </a:p>
          <a:p>
            <a:pPr lvl="1"/>
            <a:r>
              <a:t>正文级别 2</a:t>
            </a:r>
          </a:p>
          <a:p>
            <a:pPr lvl="2"/>
            <a:r>
              <a:t>正文级别 3</a:t>
            </a:r>
          </a:p>
          <a:p>
            <a:pPr lvl="3"/>
            <a:r>
              <a:t>正文级别 4</a:t>
            </a:r>
          </a:p>
          <a:p>
            <a:pPr lvl="4"/>
            <a:r>
              <a:t>正文级别 5</a:t>
            </a:r>
          </a:p>
        </p:txBody>
      </p:sp>
      <p:sp>
        <p:nvSpPr>
          <p:cNvPr id="14" name="幻灯片编号"/>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1pPr>
      <a:lvl2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2pPr>
      <a:lvl3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3pPr>
      <a:lvl4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4pPr>
      <a:lvl5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5pPr>
      <a:lvl6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6pPr>
      <a:lvl7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7pPr>
      <a:lvl8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8pPr>
      <a:lvl9pPr marL="0" marR="0" indent="0" algn="l" defTabSz="914400" rtl="0" latinLnBrk="0">
        <a:lnSpc>
          <a:spcPct val="90000"/>
        </a:lnSpc>
        <a:spcBef>
          <a:spcPts val="0"/>
        </a:spcBef>
        <a:spcAft>
          <a:spcPts val="0"/>
        </a:spcAft>
        <a:buClrTx/>
        <a:buSzTx/>
        <a:buFontTx/>
        <a:buNone/>
        <a:defRPr sz="4400" b="0" i="0" u="none" strike="noStrike" cap="none" spc="0" baseline="0">
          <a:ln>
            <a:noFill/>
          </a:ln>
          <a:solidFill>
            <a:srgbClr val="000000"/>
          </a:solidFill>
          <a:uFillTx/>
          <a:latin typeface="Calibri Light" panose="020F0302020204030204"/>
          <a:ea typeface="Calibri Light" panose="020F0302020204030204"/>
          <a:cs typeface="Calibri Light" panose="020F0302020204030204"/>
          <a:sym typeface="Calibri Light" panose="020F0302020204030204"/>
        </a:defRPr>
      </a:lvl9pPr>
    </p:titleStyle>
    <p:bodyStyle>
      <a:lvl1pPr marL="228600" marR="0" indent="-228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1pPr>
      <a:lvl2pPr marL="723900" marR="0" indent="-2667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2pPr>
      <a:lvl3pPr marL="1234440" marR="0" indent="-32004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3pPr>
      <a:lvl4pPr marL="1727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4pPr>
      <a:lvl5pPr marL="21844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5pPr>
      <a:lvl6pPr marL="26416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6pPr>
      <a:lvl7pPr marL="30988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7pPr>
      <a:lvl8pPr marL="35560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8pPr>
      <a:lvl9pPr marL="4013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ln>
            <a:noFill/>
          </a:ln>
          <a:solidFill>
            <a:srgbClr val="000000"/>
          </a:solidFill>
          <a:uFillTx/>
          <a:latin typeface="+mn-lt"/>
          <a:ea typeface="+mn-ea"/>
          <a:cs typeface="+mn-cs"/>
          <a:sym typeface="Calibri" panose="020F0502020204030204"/>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panose="020F050202020403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10.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tags" Target="../tags/tag24.xml"/><Relationship Id="rId13" Type="http://schemas.openxmlformats.org/officeDocument/2006/relationships/tags" Target="../tags/tag29.xml"/><Relationship Id="rId3" Type="http://schemas.openxmlformats.org/officeDocument/2006/relationships/tags" Target="../tags/tag19.xml"/><Relationship Id="rId7" Type="http://schemas.openxmlformats.org/officeDocument/2006/relationships/tags" Target="../tags/tag23.xml"/><Relationship Id="rId12" Type="http://schemas.openxmlformats.org/officeDocument/2006/relationships/tags" Target="../tags/tag28.xml"/><Relationship Id="rId17" Type="http://schemas.openxmlformats.org/officeDocument/2006/relationships/slideLayout" Target="../slideLayouts/slideLayout10.xml"/><Relationship Id="rId2" Type="http://schemas.openxmlformats.org/officeDocument/2006/relationships/tags" Target="../tags/tag18.xml"/><Relationship Id="rId16" Type="http://schemas.openxmlformats.org/officeDocument/2006/relationships/tags" Target="../tags/tag32.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5" Type="http://schemas.openxmlformats.org/officeDocument/2006/relationships/tags" Target="../tags/tag21.xml"/><Relationship Id="rId15" Type="http://schemas.openxmlformats.org/officeDocument/2006/relationships/tags" Target="../tags/tag31.xml"/><Relationship Id="rId10" Type="http://schemas.openxmlformats.org/officeDocument/2006/relationships/tags" Target="../tags/tag26.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tags" Target="../tags/tag45.xml"/><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tags" Target="../tags/tag44.xml"/><Relationship Id="rId17" Type="http://schemas.openxmlformats.org/officeDocument/2006/relationships/slideLayout" Target="../slideLayouts/slideLayout10.xml"/><Relationship Id="rId2" Type="http://schemas.openxmlformats.org/officeDocument/2006/relationships/tags" Target="../tags/tag34.xml"/><Relationship Id="rId16" Type="http://schemas.openxmlformats.org/officeDocument/2006/relationships/tags" Target="../tags/tag48.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5" Type="http://schemas.openxmlformats.org/officeDocument/2006/relationships/tags" Target="../tags/tag37.xml"/><Relationship Id="rId15" Type="http://schemas.openxmlformats.org/officeDocument/2006/relationships/tags" Target="../tags/tag47.xml"/><Relationship Id="rId10" Type="http://schemas.openxmlformats.org/officeDocument/2006/relationships/tags" Target="../tags/tag42.xml"/><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tags" Target="../tags/tag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tags" Target="../tags/tag61.xml"/><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tags" Target="../tags/tag60.xml"/><Relationship Id="rId17" Type="http://schemas.openxmlformats.org/officeDocument/2006/relationships/slideLayout" Target="../slideLayouts/slideLayout9.xml"/><Relationship Id="rId2" Type="http://schemas.openxmlformats.org/officeDocument/2006/relationships/tags" Target="../tags/tag50.xml"/><Relationship Id="rId16" Type="http://schemas.openxmlformats.org/officeDocument/2006/relationships/tags" Target="../tags/tag64.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5" Type="http://schemas.openxmlformats.org/officeDocument/2006/relationships/tags" Target="../tags/tag53.xml"/><Relationship Id="rId15" Type="http://schemas.openxmlformats.org/officeDocument/2006/relationships/tags" Target="../tags/tag63.xml"/><Relationship Id="rId10" Type="http://schemas.openxmlformats.org/officeDocument/2006/relationships/tags" Target="../tags/tag58.xml"/><Relationship Id="rId4" Type="http://schemas.openxmlformats.org/officeDocument/2006/relationships/tags" Target="../tags/tag52.xml"/><Relationship Id="rId9" Type="http://schemas.openxmlformats.org/officeDocument/2006/relationships/tags" Target="../tags/tag57.xml"/><Relationship Id="rId14" Type="http://schemas.openxmlformats.org/officeDocument/2006/relationships/tags" Target="../tags/tag6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3" name="media1.mp3"/>
          <p:cNvPicPr/>
          <p:nvPr>
            <a:audioFile r:link="rId2"/>
            <p:extLst>
              <p:ext uri="{DAA4B4D4-6D71-4841-9C94-3DE7FCFB9230}">
                <p14:media xmlns:p14="http://schemas.microsoft.com/office/powerpoint/2010/main" r:embed="rId1"/>
              </p:ext>
            </p:extLst>
          </p:nvPr>
        </p:nvPicPr>
        <p:blipFill>
          <a:blip r:embed="rId4"/>
          <a:stretch>
            <a:fillRect/>
          </a:stretch>
        </p:blipFill>
        <p:spPr>
          <a:xfrm>
            <a:off x="0" y="0"/>
            <a:ext cx="571500" cy="571500"/>
          </a:xfrm>
          <a:prstGeom prst="rect">
            <a:avLst/>
          </a:prstGeom>
        </p:spPr>
      </p:pic>
      <p:sp>
        <p:nvSpPr>
          <p:cNvPr id="205" name="TextBox 3"/>
          <p:cNvSpPr txBox="1"/>
          <p:nvPr/>
        </p:nvSpPr>
        <p:spPr>
          <a:xfrm>
            <a:off x="1753235" y="1149350"/>
            <a:ext cx="10326370" cy="1999615"/>
          </a:xfrm>
          <a:prstGeom prst="rect">
            <a:avLst/>
          </a:prstGeom>
          <a:ln w="12700">
            <a:miter lim="400000"/>
          </a:ln>
        </p:spPr>
        <p:txBody>
          <a:bodyPr wrap="square" lIns="45719" rIns="45719" anchor="ctr">
            <a:spAutoFit/>
          </a:bodyPr>
          <a:lstStyle>
            <a:lvl1pPr>
              <a:defRPr sz="6600" b="1">
                <a:solidFill>
                  <a:srgbClr val="414455"/>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sz="8000"/>
              <a:t>谁主沉浮？</a:t>
            </a:r>
            <a:endParaRPr lang="zh-CN"/>
          </a:p>
          <a:p>
            <a:r>
              <a:rPr lang="en-US" altLang="zh-CN" sz="4400"/>
              <a:t>——</a:t>
            </a:r>
            <a:r>
              <a:rPr lang="zh-CN" sz="4400"/>
              <a:t>历史唯物主义视角下的社会发展规律</a:t>
            </a:r>
          </a:p>
        </p:txBody>
      </p:sp>
      <p:sp>
        <p:nvSpPr>
          <p:cNvPr id="207" name="TextBox 5"/>
          <p:cNvSpPr txBox="1"/>
          <p:nvPr/>
        </p:nvSpPr>
        <p:spPr>
          <a:xfrm>
            <a:off x="4232525" y="4052177"/>
            <a:ext cx="2583648" cy="368300"/>
          </a:xfrm>
          <a:prstGeom prst="rect">
            <a:avLst/>
          </a:prstGeom>
          <a:ln w="12700">
            <a:miter lim="400000"/>
          </a:ln>
        </p:spPr>
        <p:txBody>
          <a:bodyPr wrap="square" lIns="45719" rIns="45719" anchor="ctr">
            <a:spAutoFit/>
          </a:bodyPr>
          <a:lstStyle>
            <a:lvl1pP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dirty="0" err="1"/>
              <a:t>汇报人</a:t>
            </a:r>
            <a:r>
              <a:rPr dirty="0"/>
              <a:t>：</a:t>
            </a:r>
            <a:endParaRPr lang="zh-CN" altLang="en-US" dirty="0"/>
          </a:p>
        </p:txBody>
      </p:sp>
      <p:sp>
        <p:nvSpPr>
          <p:cNvPr id="209" name="矩形 6"/>
          <p:cNvSpPr/>
          <p:nvPr/>
        </p:nvSpPr>
        <p:spPr>
          <a:xfrm>
            <a:off x="6816173" y="4036421"/>
            <a:ext cx="5375828" cy="760731"/>
          </a:xfrm>
          <a:prstGeom prst="rect">
            <a:avLst/>
          </a:prstGeom>
          <a:solidFill>
            <a:srgbClr val="414455"/>
          </a:solidFill>
          <a:ln w="12700">
            <a:solidFill>
              <a:srgbClr val="005AAB"/>
            </a:solidFill>
            <a:miter/>
          </a:ln>
        </p:spPr>
        <p:txBody>
          <a:bodyPr lIns="45719" rIns="45719" anchor="ctr"/>
          <a:lstStyle/>
          <a:p>
            <a:pPr algn="ctr">
              <a:defRPr>
                <a:solidFill>
                  <a:srgbClr val="FFFFFF"/>
                </a:solidFill>
              </a:defRPr>
            </a:pPr>
            <a:endParaRPr/>
          </a:p>
        </p:txBody>
      </p:sp>
      <p:sp>
        <p:nvSpPr>
          <p:cNvPr id="210" name="矩形 8"/>
          <p:cNvSpPr/>
          <p:nvPr/>
        </p:nvSpPr>
        <p:spPr>
          <a:xfrm>
            <a:off x="-1" y="1149196"/>
            <a:ext cx="1663518" cy="1504552"/>
          </a:xfrm>
          <a:prstGeom prst="rect">
            <a:avLst/>
          </a:prstGeom>
          <a:solidFill>
            <a:srgbClr val="414455"/>
          </a:solidFill>
          <a:ln w="12700">
            <a:miter lim="400000"/>
          </a:ln>
        </p:spPr>
        <p:txBody>
          <a:bodyPr lIns="45719" rIns="45719" anchor="ctr"/>
          <a:lstStyle/>
          <a:p>
            <a:pPr algn="ctr">
              <a:defRPr>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pic>
        <p:nvPicPr>
          <p:cNvPr id="211" name="同济大学的副本.png" descr="同济大学的副本.png"/>
          <p:cNvPicPr>
            <a:picLocks noChangeAspect="1"/>
          </p:cNvPicPr>
          <p:nvPr/>
        </p:nvPicPr>
        <p:blipFill>
          <a:blip r:embed="rId5"/>
          <a:srcRect l="19703" t="25822" r="1174" b="13927"/>
          <a:stretch>
            <a:fillRect/>
          </a:stretch>
        </p:blipFill>
        <p:spPr>
          <a:xfrm>
            <a:off x="22529" y="1388113"/>
            <a:ext cx="1618451" cy="1026657"/>
          </a:xfrm>
          <a:prstGeom prst="rect">
            <a:avLst/>
          </a:prstGeom>
          <a:ln w="12700">
            <a:miter lim="400000"/>
            <a:headEnd/>
            <a:tailEnd/>
          </a:ln>
          <a:effectLst>
            <a:outerShdw blurRad="254000" dist="127000" dir="16200000" rotWithShape="0">
              <a:srgbClr val="000000">
                <a:alpha val="70000"/>
              </a:srgbClr>
            </a:outerShdw>
          </a:effectLst>
        </p:spPr>
      </p:pic>
      <p:sp>
        <p:nvSpPr>
          <p:cNvPr id="2" name="TextBox 5"/>
          <p:cNvSpPr txBox="1"/>
          <p:nvPr/>
        </p:nvSpPr>
        <p:spPr>
          <a:xfrm>
            <a:off x="5137785" y="4036695"/>
            <a:ext cx="1630680" cy="645160"/>
          </a:xfrm>
          <a:prstGeom prst="rect">
            <a:avLst/>
          </a:prstGeom>
          <a:ln w="12700">
            <a:miter lim="400000"/>
          </a:ln>
        </p:spPr>
        <p:txBody>
          <a:bodyPr wrap="square" lIns="45719" rIns="45719" anchor="ctr">
            <a:spAutoFit/>
          </a:bodyPr>
          <a:lstStyle>
            <a:lvl1pP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dirty="0"/>
              <a:t>石赞钰</a:t>
            </a:r>
            <a:r>
              <a:rPr lang="en-US" altLang="zh-CN" dirty="0"/>
              <a:t>  </a:t>
            </a:r>
            <a:r>
              <a:rPr lang="zh-CN" altLang="en-US" dirty="0"/>
              <a:t>幸可涵</a:t>
            </a:r>
          </a:p>
          <a:p>
            <a:r>
              <a:rPr lang="zh-CN" altLang="en-US" dirty="0"/>
              <a:t>张怀文</a:t>
            </a:r>
            <a:r>
              <a:rPr lang="en-US" altLang="zh-CN" dirty="0"/>
              <a:t>  </a:t>
            </a:r>
            <a:r>
              <a:rPr lang="zh-CN" altLang="en-US" dirty="0"/>
              <a:t>刘诗昀</a:t>
            </a:r>
          </a:p>
        </p:txBody>
      </p:sp>
    </p:spTree>
  </p:cSld>
  <p:clrMapOvr>
    <a:masterClrMapping/>
  </p:clrMapOvr>
  <p:transition spd="med"/>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3"/>
                                        </p:tgtEl>
                                      </p:cBhvr>
                                    </p:cmd>
                                  </p:childTnLst>
                                </p:cTn>
                              </p:par>
                            </p:childTnLst>
                          </p:cTn>
                        </p:par>
                        <p:par>
                          <p:cTn id="7" fill="hold">
                            <p:stCondLst>
                              <p:cond delay="0"/>
                            </p:stCondLst>
                            <p:childTnLst>
                              <p:par>
                                <p:cTn id="8" presetID="2" presetClass="entr" presetSubtype="4" fill="hold" grpId="0" nodeType="afterEffect">
                                  <p:stCondLst>
                                    <p:cond delay="0"/>
                                  </p:stCondLst>
                                  <p:childTnLst>
                                    <p:set>
                                      <p:cBhvr>
                                        <p:cTn id="9" dur="indefinite" fill="hold"/>
                                        <p:tgtEl>
                                          <p:spTgt spid="210"/>
                                        </p:tgtEl>
                                        <p:attrNameLst>
                                          <p:attrName>style.visibility</p:attrName>
                                        </p:attrNameLst>
                                      </p:cBhvr>
                                      <p:to>
                                        <p:strVal val="visible"/>
                                      </p:to>
                                    </p:set>
                                    <p:anim calcmode="lin" valueType="num">
                                      <p:cBhvr>
                                        <p:cTn id="10" dur="1000" fill="hold"/>
                                        <p:tgtEl>
                                          <p:spTgt spid="210"/>
                                        </p:tgtEl>
                                        <p:attrNameLst>
                                          <p:attrName>ppt_x</p:attrName>
                                        </p:attrNameLst>
                                      </p:cBhvr>
                                      <p:tavLst>
                                        <p:tav tm="0">
                                          <p:val>
                                            <p:strVal val="#ppt_x"/>
                                          </p:val>
                                        </p:tav>
                                        <p:tav tm="100000">
                                          <p:val>
                                            <p:strVal val="#ppt_x"/>
                                          </p:val>
                                        </p:tav>
                                      </p:tavLst>
                                    </p:anim>
                                    <p:anim calcmode="lin" valueType="num">
                                      <p:cBhvr>
                                        <p:cTn id="11" dur="1000" fill="hold"/>
                                        <p:tgtEl>
                                          <p:spTgt spid="210"/>
                                        </p:tgtEl>
                                        <p:attrNameLst>
                                          <p:attrName>ppt_y</p:attrName>
                                        </p:attrNameLst>
                                      </p:cBhvr>
                                      <p:tavLst>
                                        <p:tav tm="0">
                                          <p:val>
                                            <p:strVal val="1+#ppt_h/2"/>
                                          </p:val>
                                        </p:tav>
                                        <p:tav tm="100000">
                                          <p:val>
                                            <p:strVal val="#ppt_y"/>
                                          </p:val>
                                        </p:tav>
                                      </p:tavLst>
                                    </p:anim>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indefinite" fill="hold"/>
                                        <p:tgtEl>
                                          <p:spTgt spid="205"/>
                                        </p:tgtEl>
                                        <p:attrNameLst>
                                          <p:attrName>style.visibility</p:attrName>
                                        </p:attrNameLst>
                                      </p:cBhvr>
                                      <p:to>
                                        <p:strVal val="visible"/>
                                      </p:to>
                                    </p:set>
                                    <p:animEffect transition="in" filter="wipe(left)">
                                      <p:cBhvr>
                                        <p:cTn id="15" dur="500"/>
                                        <p:tgtEl>
                                          <p:spTgt spid="205"/>
                                        </p:tgtEl>
                                      </p:cBhvr>
                                    </p:animEffect>
                                  </p:childTnLst>
                                </p:cTn>
                              </p:par>
                            </p:childTnLst>
                          </p:cTn>
                        </p:par>
                        <p:par>
                          <p:cTn id="16" fill="hold">
                            <p:stCondLst>
                              <p:cond delay="1500"/>
                            </p:stCondLst>
                            <p:childTnLst>
                              <p:par>
                                <p:cTn id="17" presetID="22" presetClass="entr" presetSubtype="2" fill="hold" grpId="0" nodeType="afterEffect">
                                  <p:stCondLst>
                                    <p:cond delay="0"/>
                                  </p:stCondLst>
                                  <p:childTnLst>
                                    <p:set>
                                      <p:cBhvr>
                                        <p:cTn id="18" dur="indefinite" fill="hold"/>
                                        <p:tgtEl>
                                          <p:spTgt spid="209"/>
                                        </p:tgtEl>
                                        <p:attrNameLst>
                                          <p:attrName>style.visibility</p:attrName>
                                        </p:attrNameLst>
                                      </p:cBhvr>
                                      <p:to>
                                        <p:strVal val="visible"/>
                                      </p:to>
                                    </p:set>
                                    <p:animEffect transition="in" filter="wipe(right)">
                                      <p:cBhvr>
                                        <p:cTn id="19" dur="500"/>
                                        <p:tgtEl>
                                          <p:spTgt spid="209"/>
                                        </p:tgtEl>
                                      </p:cBhvr>
                                    </p:animEffect>
                                  </p:childTnLst>
                                </p:cTn>
                              </p:par>
                            </p:childTnLst>
                          </p:cTn>
                        </p:par>
                        <p:par>
                          <p:cTn id="20" fill="hold">
                            <p:stCondLst>
                              <p:cond delay="2000"/>
                            </p:stCondLst>
                            <p:childTnLst>
                              <p:par>
                                <p:cTn id="21" presetID="2" presetClass="entr" presetSubtype="4" fill="hold" grpId="0" nodeType="afterEffect">
                                  <p:stCondLst>
                                    <p:cond delay="0"/>
                                  </p:stCondLst>
                                  <p:childTnLst>
                                    <p:set>
                                      <p:cBhvr>
                                        <p:cTn id="22" dur="indefinite" fill="hold"/>
                                        <p:tgtEl>
                                          <p:spTgt spid="207"/>
                                        </p:tgtEl>
                                        <p:attrNameLst>
                                          <p:attrName>style.visibility</p:attrName>
                                        </p:attrNameLst>
                                      </p:cBhvr>
                                      <p:to>
                                        <p:strVal val="visible"/>
                                      </p:to>
                                    </p:set>
                                    <p:anim calcmode="lin" valueType="num">
                                      <p:cBhvr>
                                        <p:cTn id="23" dur="600" fill="hold"/>
                                        <p:tgtEl>
                                          <p:spTgt spid="207"/>
                                        </p:tgtEl>
                                        <p:attrNameLst>
                                          <p:attrName>ppt_x</p:attrName>
                                        </p:attrNameLst>
                                      </p:cBhvr>
                                      <p:tavLst>
                                        <p:tav tm="0">
                                          <p:val>
                                            <p:strVal val="#ppt_x"/>
                                          </p:val>
                                        </p:tav>
                                        <p:tav tm="100000">
                                          <p:val>
                                            <p:strVal val="#ppt_x"/>
                                          </p:val>
                                        </p:tav>
                                      </p:tavLst>
                                    </p:anim>
                                    <p:anim calcmode="lin" valueType="num">
                                      <p:cBhvr>
                                        <p:cTn id="24" dur="600" fill="hold"/>
                                        <p:tgtEl>
                                          <p:spTgt spid="207"/>
                                        </p:tgtEl>
                                        <p:attrNameLst>
                                          <p:attrName>ppt_y</p:attrName>
                                        </p:attrNameLst>
                                      </p:cBhvr>
                                      <p:tavLst>
                                        <p:tav tm="0">
                                          <p:val>
                                            <p:strVal val="1+#ppt_h/2"/>
                                          </p:val>
                                        </p:tav>
                                        <p:tav tm="100000">
                                          <p:val>
                                            <p:strVal val="#ppt_y"/>
                                          </p:val>
                                        </p:tav>
                                      </p:tavLst>
                                    </p:anim>
                                  </p:childTnLst>
                                </p:cTn>
                              </p:par>
                            </p:childTnLst>
                          </p:cTn>
                        </p:par>
                        <p:par>
                          <p:cTn id="25" fill="hold">
                            <p:stCondLst>
                              <p:cond delay="3000"/>
                            </p:stCondLst>
                            <p:childTnLst>
                              <p:par>
                                <p:cTn id="26" presetID="2" presetClass="entr" presetSubtype="4" fill="hold" grpId="0" nodeType="afterEffect">
                                  <p:stCondLst>
                                    <p:cond delay="0"/>
                                  </p:stCondLst>
                                  <p:childTnLst>
                                    <p:set>
                                      <p:cBhvr>
                                        <p:cTn id="27" dur="indefinite" fill="hold"/>
                                        <p:tgtEl>
                                          <p:spTgt spid="2"/>
                                        </p:tgtEl>
                                        <p:attrNameLst>
                                          <p:attrName>style.visibility</p:attrName>
                                        </p:attrNameLst>
                                      </p:cBhvr>
                                      <p:to>
                                        <p:strVal val="visible"/>
                                      </p:to>
                                    </p:set>
                                    <p:anim calcmode="lin" valueType="num">
                                      <p:cBhvr>
                                        <p:cTn id="28" dur="600" fill="hold"/>
                                        <p:tgtEl>
                                          <p:spTgt spid="2"/>
                                        </p:tgtEl>
                                        <p:attrNameLst>
                                          <p:attrName>ppt_x</p:attrName>
                                        </p:attrNameLst>
                                      </p:cBhvr>
                                      <p:tavLst>
                                        <p:tav tm="0">
                                          <p:val>
                                            <p:strVal val="#ppt_x"/>
                                          </p:val>
                                        </p:tav>
                                        <p:tav tm="100000">
                                          <p:val>
                                            <p:strVal val="#ppt_x"/>
                                          </p:val>
                                        </p:tav>
                                      </p:tavLst>
                                    </p:anim>
                                    <p:anim calcmode="lin" valueType="num">
                                      <p:cBhvr>
                                        <p:cTn id="29" dur="6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numSld="999" showWhenStopped="0">
                <p:cTn id="30" repeatCount="indefinite" fill="hold" display="0">
                  <p:stCondLst>
                    <p:cond delay="indefinite"/>
                  </p:stCondLst>
                </p:cTn>
                <p:tgtEl>
                  <p:spTgt spid="203"/>
                </p:tgtEl>
              </p:cMediaNode>
            </p:audio>
          </p:childTnLst>
        </p:cTn>
      </p:par>
    </p:tnLst>
    <p:bldLst>
      <p:bldP spid="205" grpId="0" animBg="1" advAuto="0"/>
      <p:bldP spid="207" grpId="0" animBg="1" advAuto="0"/>
      <p:bldP spid="209" grpId="0" animBg="1" advAuto="0"/>
      <p:bldP spid="210" grpId="0" animBg="1" advAuto="0"/>
      <p:bldP spid="2" grpId="0" animBg="1" advAuto="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 name="圆角矩形 4"/>
          <p:cNvGrpSpPr/>
          <p:nvPr>
            <p:custDataLst>
              <p:tags r:id="rId1"/>
            </p:custDataLst>
          </p:nvPr>
        </p:nvGrpSpPr>
        <p:grpSpPr>
          <a:xfrm>
            <a:off x="6000248" y="1612745"/>
            <a:ext cx="506413" cy="574041"/>
            <a:chOff x="0" y="0"/>
            <a:chExt cx="506412" cy="574040"/>
          </a:xfrm>
        </p:grpSpPr>
        <p:sp>
          <p:nvSpPr>
            <p:cNvPr id="213" name="圆角矩形"/>
            <p:cNvSpPr/>
            <p:nvPr>
              <p:custDataLst>
                <p:tags r:id="rId15"/>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14" name="1"/>
            <p:cNvSpPr txBox="1"/>
            <p:nvPr>
              <p:custDataLst>
                <p:tags r:id="rId16"/>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1</a:t>
              </a:r>
            </a:p>
          </p:txBody>
        </p:sp>
      </p:grpSp>
      <p:sp>
        <p:nvSpPr>
          <p:cNvPr id="216" name="矩形 5"/>
          <p:cNvSpPr txBox="1"/>
          <p:nvPr>
            <p:custDataLst>
              <p:tags r:id="rId2"/>
            </p:custDataLst>
          </p:nvPr>
        </p:nvSpPr>
        <p:spPr>
          <a:xfrm>
            <a:off x="6850781" y="1707717"/>
            <a:ext cx="561341" cy="408941"/>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绪论</a:t>
            </a:r>
          </a:p>
        </p:txBody>
      </p:sp>
      <p:grpSp>
        <p:nvGrpSpPr>
          <p:cNvPr id="219" name="圆角矩形 6"/>
          <p:cNvGrpSpPr/>
          <p:nvPr>
            <p:custDataLst>
              <p:tags r:id="rId3"/>
            </p:custDataLst>
          </p:nvPr>
        </p:nvGrpSpPr>
        <p:grpSpPr>
          <a:xfrm>
            <a:off x="6000248" y="2366807"/>
            <a:ext cx="506413" cy="574041"/>
            <a:chOff x="0" y="0"/>
            <a:chExt cx="506412" cy="574040"/>
          </a:xfrm>
        </p:grpSpPr>
        <p:sp>
          <p:nvSpPr>
            <p:cNvPr id="217" name="圆角矩形"/>
            <p:cNvSpPr/>
            <p:nvPr>
              <p:custDataLst>
                <p:tags r:id="rId13"/>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18" name="2"/>
            <p:cNvSpPr txBox="1"/>
            <p:nvPr>
              <p:custDataLst>
                <p:tags r:id="rId14"/>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2</a:t>
              </a:r>
            </a:p>
          </p:txBody>
        </p:sp>
      </p:grpSp>
      <p:grpSp>
        <p:nvGrpSpPr>
          <p:cNvPr id="223" name="圆角矩形 8"/>
          <p:cNvGrpSpPr/>
          <p:nvPr>
            <p:custDataLst>
              <p:tags r:id="rId4"/>
            </p:custDataLst>
          </p:nvPr>
        </p:nvGrpSpPr>
        <p:grpSpPr>
          <a:xfrm>
            <a:off x="6000248" y="3120870"/>
            <a:ext cx="506413" cy="574041"/>
            <a:chOff x="0" y="0"/>
            <a:chExt cx="506412" cy="574040"/>
          </a:xfrm>
        </p:grpSpPr>
        <p:sp>
          <p:nvSpPr>
            <p:cNvPr id="221" name="圆角矩形"/>
            <p:cNvSpPr/>
            <p:nvPr>
              <p:custDataLst>
                <p:tags r:id="rId11"/>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22" name="3"/>
            <p:cNvSpPr txBox="1"/>
            <p:nvPr>
              <p:custDataLst>
                <p:tags r:id="rId12"/>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3</a:t>
              </a:r>
            </a:p>
          </p:txBody>
        </p:sp>
      </p:grpSp>
      <p:grpSp>
        <p:nvGrpSpPr>
          <p:cNvPr id="227" name="圆角矩形 10"/>
          <p:cNvGrpSpPr/>
          <p:nvPr>
            <p:custDataLst>
              <p:tags r:id="rId5"/>
            </p:custDataLst>
          </p:nvPr>
        </p:nvGrpSpPr>
        <p:grpSpPr>
          <a:xfrm>
            <a:off x="6000248" y="3874932"/>
            <a:ext cx="506413" cy="574041"/>
            <a:chOff x="0" y="0"/>
            <a:chExt cx="506412" cy="574040"/>
          </a:xfrm>
        </p:grpSpPr>
        <p:sp>
          <p:nvSpPr>
            <p:cNvPr id="225" name="圆角矩形"/>
            <p:cNvSpPr/>
            <p:nvPr>
              <p:custDataLst>
                <p:tags r:id="rId9"/>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26" name="4"/>
            <p:cNvSpPr txBox="1"/>
            <p:nvPr>
              <p:custDataLst>
                <p:tags r:id="rId10"/>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4</a:t>
              </a:r>
            </a:p>
          </p:txBody>
        </p:sp>
      </p:grpSp>
      <p:grpSp>
        <p:nvGrpSpPr>
          <p:cNvPr id="231" name="圆角矩形 12"/>
          <p:cNvGrpSpPr/>
          <p:nvPr>
            <p:custDataLst>
              <p:tags r:id="rId6"/>
            </p:custDataLst>
          </p:nvPr>
        </p:nvGrpSpPr>
        <p:grpSpPr>
          <a:xfrm>
            <a:off x="6000248" y="4628994"/>
            <a:ext cx="506413" cy="574041"/>
            <a:chOff x="0" y="0"/>
            <a:chExt cx="506412" cy="574040"/>
          </a:xfrm>
        </p:grpSpPr>
        <p:sp>
          <p:nvSpPr>
            <p:cNvPr id="229" name="圆角矩形"/>
            <p:cNvSpPr/>
            <p:nvPr>
              <p:custDataLst>
                <p:tags r:id="rId7"/>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230" name="5"/>
            <p:cNvSpPr txBox="1"/>
            <p:nvPr>
              <p:custDataLst>
                <p:tags r:id="rId8"/>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5</a:t>
              </a:r>
            </a:p>
          </p:txBody>
        </p:sp>
      </p:grpSp>
      <p:grpSp>
        <p:nvGrpSpPr>
          <p:cNvPr id="235" name="矩形 33"/>
          <p:cNvGrpSpPr/>
          <p:nvPr/>
        </p:nvGrpSpPr>
        <p:grpSpPr>
          <a:xfrm>
            <a:off x="0" y="0"/>
            <a:ext cx="3721100" cy="6858000"/>
            <a:chOff x="0" y="0"/>
            <a:chExt cx="3721100" cy="6858000"/>
          </a:xfrm>
        </p:grpSpPr>
        <p:sp>
          <p:nvSpPr>
            <p:cNvPr id="233" name="矩形"/>
            <p:cNvSpPr/>
            <p:nvPr/>
          </p:nvSpPr>
          <p:spPr>
            <a:xfrm>
              <a:off x="0" y="0"/>
              <a:ext cx="3721100" cy="6858000"/>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sz="24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pPr>
              <a:endParaRPr/>
            </a:p>
          </p:txBody>
        </p:sp>
        <p:sp>
          <p:nvSpPr>
            <p:cNvPr id="234" name="文本"/>
            <p:cNvSpPr txBox="1"/>
            <p:nvPr/>
          </p:nvSpPr>
          <p:spPr>
            <a:xfrm>
              <a:off x="0" y="3156962"/>
              <a:ext cx="3721100" cy="544076"/>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          </a:t>
              </a:r>
            </a:p>
          </p:txBody>
        </p:sp>
      </p:grpSp>
      <p:sp>
        <p:nvSpPr>
          <p:cNvPr id="236" name="矩形 34"/>
          <p:cNvSpPr txBox="1"/>
          <p:nvPr/>
        </p:nvSpPr>
        <p:spPr>
          <a:xfrm>
            <a:off x="1073628" y="1308115"/>
            <a:ext cx="2013420" cy="1259841"/>
          </a:xfrm>
          <a:prstGeom prst="rect">
            <a:avLst/>
          </a:prstGeom>
          <a:ln w="12700">
            <a:miter lim="400000"/>
          </a:ln>
        </p:spPr>
        <p:txBody>
          <a:bodyPr wrap="none" lIns="45719" rIns="45719">
            <a:spAutoFit/>
          </a:bodyPr>
          <a:lstStyle>
            <a:lvl1pPr algn="ctr">
              <a:defRPr sz="66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lvl1pPr>
          </a:lstStyle>
          <a:p>
            <a:r>
              <a:t>目 录</a:t>
            </a:r>
          </a:p>
        </p:txBody>
      </p:sp>
      <p:sp>
        <p:nvSpPr>
          <p:cNvPr id="237" name="矩形 35"/>
          <p:cNvSpPr txBox="1"/>
          <p:nvPr/>
        </p:nvSpPr>
        <p:spPr>
          <a:xfrm>
            <a:off x="1305756" y="2593370"/>
            <a:ext cx="1549163" cy="544077"/>
          </a:xfrm>
          <a:prstGeom prst="rect">
            <a:avLst/>
          </a:prstGeom>
          <a:ln w="12700">
            <a:miter lim="400000"/>
          </a:ln>
        </p:spPr>
        <p:txBody>
          <a:bodyPr wrap="none" lIns="45719" rIns="45719">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Contents</a:t>
            </a:r>
          </a:p>
        </p:txBody>
      </p:sp>
      <p:grpSp>
        <p:nvGrpSpPr>
          <p:cNvPr id="240" name="组合 14"/>
          <p:cNvGrpSpPr/>
          <p:nvPr/>
        </p:nvGrpSpPr>
        <p:grpSpPr>
          <a:xfrm>
            <a:off x="4773895" y="1515969"/>
            <a:ext cx="703580" cy="703580"/>
            <a:chOff x="0" y="0"/>
            <a:chExt cx="703578" cy="703578"/>
          </a:xfrm>
        </p:grpSpPr>
        <p:sp>
          <p:nvSpPr>
            <p:cNvPr id="238" name="泪滴形 15"/>
            <p:cNvSpPr/>
            <p:nvPr/>
          </p:nvSpPr>
          <p:spPr>
            <a:xfrm rot="8247616">
              <a:off x="102807" y="102807"/>
              <a:ext cx="497965" cy="49796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0062AC"/>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239" name="椭圆 16"/>
            <p:cNvSpPr/>
            <p:nvPr/>
          </p:nvSpPr>
          <p:spPr>
            <a:xfrm>
              <a:off x="150556" y="147060"/>
              <a:ext cx="398631" cy="398631"/>
            </a:xfrm>
            <a:prstGeom prst="ellipse">
              <a:avLst/>
            </a:prstGeom>
            <a:solidFill>
              <a:srgbClr val="FFFFFF"/>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grpSp>
      <p:sp>
        <p:nvSpPr>
          <p:cNvPr id="2" name="矩形 7"/>
          <p:cNvSpPr txBox="1"/>
          <p:nvPr/>
        </p:nvSpPr>
        <p:spPr>
          <a:xfrm>
            <a:off x="6850313" y="2468685"/>
            <a:ext cx="2169823"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社会存在与社会意识</a:t>
            </a:r>
          </a:p>
        </p:txBody>
      </p:sp>
      <p:sp>
        <p:nvSpPr>
          <p:cNvPr id="33" name="矩形 7"/>
          <p:cNvSpPr txBox="1"/>
          <p:nvPr/>
        </p:nvSpPr>
        <p:spPr>
          <a:xfrm>
            <a:off x="6858126" y="3223224"/>
            <a:ext cx="2868773" cy="923330"/>
          </a:xfrm>
          <a:prstGeom prst="rect">
            <a:avLst/>
          </a:prstGeom>
          <a:ln w="12700">
            <a:miter lim="400000"/>
          </a:ln>
        </p:spPr>
        <p:txBody>
          <a:bodyPr wrap="squar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ctr"/>
            <a:r>
              <a:rPr lang="zh-CN" altLang="en-US" sz="1800"/>
              <a:t>社会基本矛盾及其运动规律</a:t>
            </a:r>
          </a:p>
          <a:p>
            <a:pPr algn="ctr"/>
            <a:endParaRPr lang="zh-CN" altLang="en-US" sz="1800">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sz="180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648" name="矩形 11"/>
          <p:cNvSpPr txBox="1"/>
          <p:nvPr/>
        </p:nvSpPr>
        <p:spPr>
          <a:xfrm>
            <a:off x="6847592" y="4007141"/>
            <a:ext cx="3593289"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超越宿命论</a:t>
            </a:r>
            <a:r>
              <a:rPr lang="en-US" altLang="zh-CN"/>
              <a:t>——</a:t>
            </a:r>
            <a:r>
              <a:rPr lang="zh-CN" altLang="en-US"/>
              <a:t>规律与主体能动性</a:t>
            </a:r>
          </a:p>
        </p:txBody>
      </p:sp>
      <p:sp>
        <p:nvSpPr>
          <p:cNvPr id="652" name="矩形 13"/>
          <p:cNvSpPr txBox="1"/>
          <p:nvPr/>
        </p:nvSpPr>
        <p:spPr>
          <a:xfrm>
            <a:off x="6858126" y="4731348"/>
            <a:ext cx="553996"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结论</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indefinite" fill="hold"/>
                                        <p:tgtEl>
                                          <p:spTgt spid="240"/>
                                        </p:tgtEl>
                                        <p:attrNameLst>
                                          <p:attrName>style.visibility</p:attrName>
                                        </p:attrNameLst>
                                      </p:cBhvr>
                                      <p:to>
                                        <p:strVal val="visible"/>
                                      </p:to>
                                    </p:set>
                                    <p:anim calcmode="lin" valueType="num">
                                      <p:cBhvr>
                                        <p:cTn id="7" dur="500" fill="hold"/>
                                        <p:tgtEl>
                                          <p:spTgt spid="240"/>
                                        </p:tgtEl>
                                        <p:attrNameLst>
                                          <p:attrName>ppt_x</p:attrName>
                                        </p:attrNameLst>
                                      </p:cBhvr>
                                      <p:tavLst>
                                        <p:tav tm="0">
                                          <p:val>
                                            <p:strVal val="#ppt_x"/>
                                          </p:val>
                                        </p:tav>
                                        <p:tav tm="100000">
                                          <p:val>
                                            <p:strVal val="#ppt_x"/>
                                          </p:val>
                                        </p:tav>
                                      </p:tavLst>
                                    </p:anim>
                                    <p:anim calcmode="lin" valueType="num">
                                      <p:cBhvr>
                                        <p:cTn id="8" dur="500" fill="hold"/>
                                        <p:tgtEl>
                                          <p:spTgt spid="24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 grpId="0"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五边形 15"/>
          <p:cNvSpPr txBox="1">
            <a:spLocks noGrp="1"/>
          </p:cNvSpPr>
          <p:nvPr>
            <p:ph type="sldNum" sz="quarter" idx="2"/>
          </p:nvPr>
        </p:nvSpPr>
        <p:spPr>
          <a:xfrm>
            <a:off x="11337756" y="6017951"/>
            <a:ext cx="860594" cy="368300"/>
          </a:xfrm>
          <a:prstGeom prst="rect">
            <a:avLst/>
          </a:prstGeom>
        </p:spPr>
        <p:txBody>
          <a:bodyPr/>
          <a:lstStyle/>
          <a:p>
            <a:r>
              <a:rPr lang="en-US"/>
              <a:t>3</a:t>
            </a:r>
          </a:p>
        </p:txBody>
      </p:sp>
      <p:sp>
        <p:nvSpPr>
          <p:cNvPr id="258" name="矩形 29"/>
          <p:cNvSpPr txBox="1"/>
          <p:nvPr/>
        </p:nvSpPr>
        <p:spPr>
          <a:xfrm>
            <a:off x="1922780" y="1260475"/>
            <a:ext cx="9829800" cy="1123315"/>
          </a:xfrm>
          <a:prstGeom prst="rect">
            <a:avLst/>
          </a:prstGeom>
          <a:noFill/>
          <a:ln w="12700" cap="flat">
            <a:noFill/>
            <a:miter lim="400000"/>
          </a:ln>
          <a:effectLst/>
        </p:spPr>
        <p:txBody>
          <a:bodyPr wrap="square" lIns="45719" tIns="45719" rIns="45719" bIns="45719" numCol="1" anchor="t">
            <a:spAutoFit/>
          </a:bodyPr>
          <a:lstStyle>
            <a:lvl1pPr>
              <a:lnSpc>
                <a:spcPct val="130000"/>
              </a:lnSpc>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l" eaLnBrk="1">
              <a:lnSpc>
                <a:spcPct val="120000"/>
              </a:lnSpc>
              <a:spcAft>
                <a:spcPts val="600"/>
              </a:spcAft>
            </a:pPr>
            <a:r>
              <a:rPr lang="en-US" altLang="zh-CN" sz="2800" dirty="0">
                <a:solidFill>
                  <a:schemeClr val="tx1">
                    <a:lumMod val="85000"/>
                    <a:lumOff val="15000"/>
                  </a:schemeClr>
                </a:solidFill>
                <a:sym typeface="+mn-ea"/>
              </a:rPr>
              <a:t>    在对待社会历史发展及其规律问题上，存在两种根本对立的历史观：</a:t>
            </a:r>
            <a:r>
              <a:rPr lang="en-US" altLang="zh-CN" sz="2800" dirty="0">
                <a:solidFill>
                  <a:srgbClr val="C00000"/>
                </a:solidFill>
                <a:sym typeface="+mn-ea"/>
              </a:rPr>
              <a:t>一种是唯物史观，另一种是唯心史观。</a:t>
            </a:r>
            <a:endParaRPr sz="2800"/>
          </a:p>
        </p:txBody>
      </p:sp>
      <p:sp>
        <p:nvSpPr>
          <p:cNvPr id="2" name="矩形 1"/>
          <p:cNvSpPr/>
          <p:nvPr/>
        </p:nvSpPr>
        <p:spPr>
          <a:xfrm>
            <a:off x="66675" y="223647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矩形 2"/>
          <p:cNvSpPr/>
          <p:nvPr/>
        </p:nvSpPr>
        <p:spPr>
          <a:xfrm>
            <a:off x="66675" y="306324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4" name="矩形 3"/>
          <p:cNvSpPr/>
          <p:nvPr/>
        </p:nvSpPr>
        <p:spPr>
          <a:xfrm>
            <a:off x="66675" y="376301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5" name="矩形 4"/>
          <p:cNvSpPr/>
          <p:nvPr/>
        </p:nvSpPr>
        <p:spPr>
          <a:xfrm>
            <a:off x="66675" y="4539615"/>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53" name="文本框 52"/>
          <p:cNvSpPr txBox="1"/>
          <p:nvPr/>
        </p:nvSpPr>
        <p:spPr>
          <a:xfrm>
            <a:off x="-255829" y="2142618"/>
            <a:ext cx="2178821" cy="9207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latin typeface="微软雅黑" panose="020B0503020204020204" charset="-122"/>
                <a:ea typeface="微软雅黑" panose="020B0503020204020204" charset="-122"/>
              </a:rPr>
              <a:t>社会存在</a:t>
            </a:r>
            <a:endParaRPr lang="en-US" altLang="zh-CN">
              <a:latin typeface="微软雅黑" panose="020B0503020204020204" charset="-122"/>
              <a:ea typeface="微软雅黑" panose="020B0503020204020204" charset="-122"/>
            </a:endParaRPr>
          </a:p>
          <a:p>
            <a:pPr algn="ctr"/>
            <a:r>
              <a:rPr lang="zh-CN" altLang="en-US">
                <a:latin typeface="微软雅黑" panose="020B0503020204020204" charset="-122"/>
                <a:ea typeface="微软雅黑" panose="020B0503020204020204" charset="-122"/>
              </a:rPr>
              <a:t>与社会意识</a:t>
            </a: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4" name="文本框 53"/>
          <p:cNvSpPr txBox="1"/>
          <p:nvPr/>
        </p:nvSpPr>
        <p:spPr>
          <a:xfrm>
            <a:off x="-185794" y="2933186"/>
            <a:ext cx="2038752" cy="1197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latin typeface="微软雅黑" panose="020B0503020204020204" charset="-122"/>
                <a:ea typeface="微软雅黑" panose="020B0503020204020204" charset="-122"/>
              </a:rPr>
              <a:t>社会基本矛盾</a:t>
            </a:r>
            <a:endParaRPr lang="en-US" altLang="zh-CN">
              <a:latin typeface="微软雅黑" panose="020B0503020204020204" charset="-122"/>
              <a:ea typeface="微软雅黑" panose="020B0503020204020204" charset="-122"/>
            </a:endParaRPr>
          </a:p>
          <a:p>
            <a:pPr algn="ctr"/>
            <a:r>
              <a:rPr lang="zh-CN" altLang="en-US">
                <a:latin typeface="微软雅黑" panose="020B0503020204020204" charset="-122"/>
                <a:ea typeface="微软雅黑" panose="020B0503020204020204" charset="-122"/>
              </a:rPr>
              <a:t>及其运动规律</a:t>
            </a:r>
          </a:p>
          <a:p>
            <a:pPr algn="ctr"/>
            <a:endParaRPr lang="zh-CN" altLang="en-US">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5" name="文本框 54"/>
          <p:cNvSpPr txBox="1"/>
          <p:nvPr/>
        </p:nvSpPr>
        <p:spPr>
          <a:xfrm>
            <a:off x="-186276" y="3728989"/>
            <a:ext cx="2038752" cy="6438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tx1"/>
                </a:solidFill>
                <a:latin typeface="微软雅黑" panose="020B0503020204020204" charset="-122"/>
                <a:ea typeface="微软雅黑" panose="020B0503020204020204" charset="-122"/>
              </a:rPr>
              <a:t>超越宿命论规律</a:t>
            </a:r>
          </a:p>
          <a:p>
            <a:pPr algn="ctr"/>
            <a:r>
              <a:rPr lang="zh-CN" altLang="en-US">
                <a:solidFill>
                  <a:schemeClr val="tx1"/>
                </a:solidFill>
                <a:latin typeface="微软雅黑" panose="020B0503020204020204" charset="-122"/>
                <a:ea typeface="微软雅黑" panose="020B0503020204020204" charset="-122"/>
              </a:rPr>
              <a:t>与主体能动性</a:t>
            </a:r>
          </a:p>
        </p:txBody>
      </p:sp>
      <p:sp>
        <p:nvSpPr>
          <p:cNvPr id="56" name="文本框 55"/>
          <p:cNvSpPr txBox="1"/>
          <p:nvPr/>
        </p:nvSpPr>
        <p:spPr>
          <a:xfrm>
            <a:off x="554990" y="4634230"/>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a:latin typeface="微软雅黑" panose="020B0503020204020204" charset="-122"/>
                <a:ea typeface="微软雅黑" panose="020B0503020204020204" charset="-122"/>
              </a:rPr>
              <a:t>结论</a:t>
            </a:r>
            <a:endPar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6" name="矩形 5"/>
          <p:cNvSpPr/>
          <p:nvPr/>
        </p:nvSpPr>
        <p:spPr>
          <a:xfrm>
            <a:off x="2062480" y="523875"/>
            <a:ext cx="1653540" cy="662940"/>
          </a:xfrm>
          <a:prstGeom prst="rect">
            <a:avLst/>
          </a:prstGeom>
          <a:solidFill>
            <a:srgbClr val="FFFFFF"/>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9" name="文本框 8"/>
          <p:cNvSpPr txBox="1"/>
          <p:nvPr/>
        </p:nvSpPr>
        <p:spPr>
          <a:xfrm>
            <a:off x="2148467" y="367508"/>
            <a:ext cx="9899999" cy="7054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4000" b="1">
                <a:latin typeface="微软雅黑" panose="020B0503020204020204" charset="-122"/>
                <a:ea typeface="微软雅黑" panose="020B0503020204020204" charset="-122"/>
              </a:rPr>
              <a:t>绪论</a:t>
            </a:r>
          </a:p>
        </p:txBody>
      </p:sp>
      <p:sp>
        <p:nvSpPr>
          <p:cNvPr id="7" name="矩形 6"/>
          <p:cNvSpPr/>
          <p:nvPr/>
        </p:nvSpPr>
        <p:spPr>
          <a:xfrm>
            <a:off x="8571865" y="99060"/>
            <a:ext cx="3507740" cy="461645"/>
          </a:xfrm>
          <a:prstGeom prst="rect">
            <a:avLst/>
          </a:prstGeom>
          <a:solidFill>
            <a:srgbClr val="FFFFFF"/>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408" name="右箭头 38"/>
          <p:cNvSpPr/>
          <p:nvPr/>
        </p:nvSpPr>
        <p:spPr>
          <a:xfrm>
            <a:off x="4634562" y="3682246"/>
            <a:ext cx="4016753" cy="441966"/>
          </a:xfrm>
          <a:prstGeom prst="rightArrow">
            <a:avLst>
              <a:gd name="adj1" fmla="val 50000"/>
              <a:gd name="adj2" fmla="val 50092"/>
            </a:avLst>
          </a:prstGeom>
          <a:solidFill>
            <a:srgbClr val="414455"/>
          </a:solidFill>
          <a:ln w="12700">
            <a:miter lim="400000"/>
          </a:ln>
          <a:effectLst>
            <a:outerShdw dist="38100" rotWithShape="0">
              <a:srgbClr val="000000">
                <a:alpha val="39999"/>
              </a:srgbClr>
            </a:outerShdw>
          </a:effectLst>
        </p:spPr>
        <p:txBody>
          <a:bodyPr lIns="45719" rIns="45719" anchor="ctr"/>
          <a:lstStyle/>
          <a:p>
            <a:pPr>
              <a:lnSpc>
                <a:spcPct val="120000"/>
              </a:lnSpc>
              <a:defRPr sz="21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409" name="右箭头 39"/>
          <p:cNvSpPr/>
          <p:nvPr/>
        </p:nvSpPr>
        <p:spPr>
          <a:xfrm flipH="1">
            <a:off x="4782704" y="4345192"/>
            <a:ext cx="4159272" cy="440078"/>
          </a:xfrm>
          <a:prstGeom prst="rightArrow">
            <a:avLst>
              <a:gd name="adj1" fmla="val 50000"/>
              <a:gd name="adj2" fmla="val 50064"/>
            </a:avLst>
          </a:prstGeom>
          <a:solidFill>
            <a:srgbClr val="414455"/>
          </a:solidFill>
          <a:ln w="12700">
            <a:miter lim="400000"/>
          </a:ln>
          <a:effectLst>
            <a:outerShdw dist="38100" rotWithShape="0">
              <a:srgbClr val="000000">
                <a:alpha val="39999"/>
              </a:srgbClr>
            </a:outerShdw>
          </a:effectLst>
        </p:spPr>
        <p:txBody>
          <a:bodyPr lIns="45719" rIns="45719" anchor="ctr"/>
          <a:lstStyle/>
          <a:p>
            <a:pPr>
              <a:lnSpc>
                <a:spcPct val="120000"/>
              </a:lnSpc>
              <a:defRPr sz="21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grpSp>
        <p:nvGrpSpPr>
          <p:cNvPr id="412" name="椭圆 40"/>
          <p:cNvGrpSpPr/>
          <p:nvPr/>
        </p:nvGrpSpPr>
        <p:grpSpPr>
          <a:xfrm>
            <a:off x="2665565" y="3130733"/>
            <a:ext cx="2117141" cy="2132390"/>
            <a:chOff x="0" y="-1"/>
            <a:chExt cx="2117140" cy="2132388"/>
          </a:xfrm>
        </p:grpSpPr>
        <p:sp>
          <p:nvSpPr>
            <p:cNvPr id="410" name="椭圆形"/>
            <p:cNvSpPr/>
            <p:nvPr/>
          </p:nvSpPr>
          <p:spPr>
            <a:xfrm>
              <a:off x="0" y="-1"/>
              <a:ext cx="2117140" cy="2132388"/>
            </a:xfrm>
            <a:prstGeom prst="ellipse">
              <a:avLst/>
            </a:prstGeom>
            <a:solidFill>
              <a:srgbClr val="414455"/>
            </a:solidFill>
            <a:ln w="12700" cap="flat">
              <a:noFill/>
              <a:miter lim="400000"/>
            </a:ln>
            <a:effectLst>
              <a:outerShdw dist="38100" rotWithShape="0">
                <a:srgbClr val="000000">
                  <a:alpha val="39999"/>
                </a:srgbClr>
              </a:outerShdw>
            </a:effectLst>
          </p:spPr>
          <p:txBody>
            <a:bodyPr wrap="square" lIns="45719" tIns="45719" rIns="45719" bIns="45719" numCol="1" anchor="ctr">
              <a:noAutofit/>
            </a:bodyPr>
            <a:lstStyle/>
            <a:p>
              <a:pPr>
                <a:lnSpc>
                  <a:spcPct val="120000"/>
                </a:lnSpc>
                <a:defRPr sz="21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411" name="研究思路"/>
            <p:cNvSpPr txBox="1"/>
            <p:nvPr/>
          </p:nvSpPr>
          <p:spPr>
            <a:xfrm>
              <a:off x="219710" y="757553"/>
              <a:ext cx="1749424" cy="624204"/>
            </a:xfrm>
            <a:prstGeom prst="rect">
              <a:avLst/>
            </a:prstGeom>
            <a:noFill/>
            <a:ln w="12700" cap="flat">
              <a:noFill/>
              <a:miter lim="400000"/>
            </a:ln>
            <a:effectLst/>
          </p:spPr>
          <p:txBody>
            <a:bodyPr wrap="square" lIns="54141" tIns="54141" rIns="54141" bIns="54141" numCol="1" anchor="ctr">
              <a:spAutoFit/>
            </a:bodyPr>
            <a:lstStyle>
              <a:lvl1pPr>
                <a:lnSpc>
                  <a:spcPct val="120000"/>
                </a:lnSpc>
                <a:defRPr sz="21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ctr"/>
              <a:r>
                <a:rPr lang="zh-CN" sz="2800"/>
                <a:t>社会存在</a:t>
              </a:r>
            </a:p>
          </p:txBody>
        </p:sp>
      </p:grpSp>
      <p:grpSp>
        <p:nvGrpSpPr>
          <p:cNvPr id="415" name="椭圆 41"/>
          <p:cNvGrpSpPr/>
          <p:nvPr/>
        </p:nvGrpSpPr>
        <p:grpSpPr>
          <a:xfrm>
            <a:off x="8722572" y="3130733"/>
            <a:ext cx="2119019" cy="2132390"/>
            <a:chOff x="-1" y="-1"/>
            <a:chExt cx="2119018" cy="2132388"/>
          </a:xfrm>
        </p:grpSpPr>
        <p:sp>
          <p:nvSpPr>
            <p:cNvPr id="413" name="椭圆形"/>
            <p:cNvSpPr/>
            <p:nvPr/>
          </p:nvSpPr>
          <p:spPr>
            <a:xfrm>
              <a:off x="-1" y="-1"/>
              <a:ext cx="2119018" cy="2132388"/>
            </a:xfrm>
            <a:prstGeom prst="ellipse">
              <a:avLst/>
            </a:prstGeom>
            <a:solidFill>
              <a:srgbClr val="414455"/>
            </a:solidFill>
            <a:ln w="12700" cap="flat">
              <a:noFill/>
              <a:miter lim="400000"/>
            </a:ln>
            <a:effectLst>
              <a:outerShdw dist="38100" rotWithShape="0">
                <a:srgbClr val="000000">
                  <a:alpha val="39999"/>
                </a:srgbClr>
              </a:outerShdw>
            </a:effectLst>
          </p:spPr>
          <p:txBody>
            <a:bodyPr wrap="square" lIns="45719" tIns="45719" rIns="45719" bIns="45719" numCol="1" anchor="ctr">
              <a:noAutofit/>
            </a:bodyPr>
            <a:lstStyle/>
            <a:p>
              <a:pPr>
                <a:lnSpc>
                  <a:spcPct val="120000"/>
                </a:lnSpc>
                <a:defRPr sz="21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414" name="研究思路"/>
            <p:cNvSpPr txBox="1"/>
            <p:nvPr/>
          </p:nvSpPr>
          <p:spPr>
            <a:xfrm>
              <a:off x="310514" y="754379"/>
              <a:ext cx="1558289" cy="624204"/>
            </a:xfrm>
            <a:prstGeom prst="rect">
              <a:avLst/>
            </a:prstGeom>
            <a:noFill/>
            <a:ln w="12700" cap="flat">
              <a:noFill/>
              <a:miter lim="400000"/>
            </a:ln>
            <a:effectLst/>
          </p:spPr>
          <p:txBody>
            <a:bodyPr wrap="square" lIns="54141" tIns="54141" rIns="54141" bIns="54141" numCol="1" anchor="ctr">
              <a:spAutoFit/>
            </a:bodyPr>
            <a:lstStyle>
              <a:lvl1pPr>
                <a:lnSpc>
                  <a:spcPct val="120000"/>
                </a:lnSpc>
                <a:defRPr sz="21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sz="2800"/>
                <a:t>社会意识</a:t>
              </a:r>
            </a:p>
          </p:txBody>
        </p:sp>
      </p:grpSp>
      <p:grpSp>
        <p:nvGrpSpPr>
          <p:cNvPr id="418" name="矩形 42"/>
          <p:cNvGrpSpPr/>
          <p:nvPr/>
        </p:nvGrpSpPr>
        <p:grpSpPr>
          <a:xfrm>
            <a:off x="5729605" y="3175000"/>
            <a:ext cx="1812290" cy="574675"/>
            <a:chOff x="0" y="0"/>
            <a:chExt cx="1678335" cy="1395778"/>
          </a:xfrm>
        </p:grpSpPr>
        <p:sp>
          <p:nvSpPr>
            <p:cNvPr id="416" name="矩形"/>
            <p:cNvSpPr/>
            <p:nvPr/>
          </p:nvSpPr>
          <p:spPr>
            <a:xfrm>
              <a:off x="0" y="0"/>
              <a:ext cx="1678335" cy="1395778"/>
            </a:xfrm>
            <a:prstGeom prst="rect">
              <a:avLst/>
            </a:prstGeom>
            <a:gradFill flip="none" rotWithShape="1">
              <a:gsLst>
                <a:gs pos="33000">
                  <a:srgbClr val="F9F9F9"/>
                </a:gs>
                <a:gs pos="100000">
                  <a:srgbClr val="D7D7D7"/>
                </a:gs>
              </a:gsLst>
              <a:lin ang="5400000" scaled="0"/>
            </a:gradFill>
            <a:ln w="3175" cap="flat">
              <a:solidFill>
                <a:srgbClr val="D7D7D7"/>
              </a:solidFill>
              <a:prstDash val="solid"/>
              <a:round/>
            </a:ln>
            <a:effectLst>
              <a:outerShdw blurRad="50800" dist="38100" rotWithShape="0">
                <a:srgbClr val="000000">
                  <a:alpha val="40000"/>
                </a:srgbClr>
              </a:outerShdw>
            </a:effectLst>
          </p:spPr>
          <p:txBody>
            <a:bodyPr wrap="square" lIns="45719" tIns="45719" rIns="45719" bIns="45719" numCol="1" anchor="ctr">
              <a:noAutofit/>
            </a:bodyPr>
            <a:lstStyle/>
            <a:p>
              <a:pPr>
                <a:lnSpc>
                  <a:spcPct val="120000"/>
                </a:lnSpc>
                <a:defRPr sz="2000">
                  <a:solidFill>
                    <a:srgbClr val="414455"/>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417" name="研究方法"/>
            <p:cNvSpPr txBox="1"/>
            <p:nvPr/>
          </p:nvSpPr>
          <p:spPr>
            <a:xfrm>
              <a:off x="0" y="29304"/>
              <a:ext cx="1678335" cy="1337171"/>
            </a:xfrm>
            <a:prstGeom prst="rect">
              <a:avLst/>
            </a:prstGeom>
            <a:noFill/>
            <a:ln w="12700" cap="flat">
              <a:noFill/>
              <a:miter lim="400000"/>
            </a:ln>
            <a:effectLst/>
          </p:spPr>
          <p:txBody>
            <a:bodyPr wrap="square" lIns="54141" tIns="54141" rIns="54141" bIns="54141" numCol="1" anchor="ctr">
              <a:spAutoFit/>
            </a:bodyPr>
            <a:lstStyle>
              <a:lvl1pPr>
                <a:lnSpc>
                  <a:spcPct val="120000"/>
                </a:lnSpc>
                <a:defRPr sz="2000">
                  <a:solidFill>
                    <a:srgbClr val="414455"/>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ctr"/>
              <a:r>
                <a:rPr lang="zh-CN" sz="2400"/>
                <a:t>唯物史观</a:t>
              </a:r>
            </a:p>
          </p:txBody>
        </p:sp>
      </p:grpSp>
      <p:sp>
        <p:nvSpPr>
          <p:cNvPr id="420" name="TextBox 49"/>
          <p:cNvSpPr txBox="1"/>
          <p:nvPr/>
        </p:nvSpPr>
        <p:spPr>
          <a:xfrm>
            <a:off x="2562860" y="5435600"/>
            <a:ext cx="2394585" cy="508000"/>
          </a:xfrm>
          <a:prstGeom prst="rect">
            <a:avLst/>
          </a:prstGeom>
          <a:ln w="12700">
            <a:miter lim="400000"/>
          </a:ln>
        </p:spPr>
        <p:txBody>
          <a:bodyPr wrap="square" lIns="54141" tIns="54141" rIns="54141" bIns="54141">
            <a:spAutoFit/>
          </a:bodyPr>
          <a:lstStyle>
            <a:lvl1pPr>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sz="2000"/>
              <a:t>社会生活的物质方面</a:t>
            </a:r>
          </a:p>
        </p:txBody>
      </p:sp>
      <p:sp>
        <p:nvSpPr>
          <p:cNvPr id="421" name="TextBox 50"/>
          <p:cNvSpPr txBox="1"/>
          <p:nvPr/>
        </p:nvSpPr>
        <p:spPr>
          <a:xfrm>
            <a:off x="8651240" y="5419090"/>
            <a:ext cx="2416810" cy="508000"/>
          </a:xfrm>
          <a:prstGeom prst="rect">
            <a:avLst/>
          </a:prstGeom>
          <a:ln w="12700">
            <a:miter lim="400000"/>
          </a:ln>
        </p:spPr>
        <p:txBody>
          <a:bodyPr wrap="square" lIns="54141" tIns="54141" rIns="54141" bIns="54141">
            <a:spAutoFit/>
          </a:bodyPr>
          <a:lstStyle>
            <a:lvl1pPr>
              <a:lnSpc>
                <a:spcPct val="130000"/>
              </a:lnSpc>
              <a:defRPr sz="1400">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sz="2000"/>
              <a:t>社会生活的精神方面</a:t>
            </a:r>
          </a:p>
        </p:txBody>
      </p:sp>
      <p:grpSp>
        <p:nvGrpSpPr>
          <p:cNvPr id="25" name="矩形 42"/>
          <p:cNvGrpSpPr/>
          <p:nvPr/>
        </p:nvGrpSpPr>
        <p:grpSpPr>
          <a:xfrm>
            <a:off x="5729605" y="4660582"/>
            <a:ext cx="1826895" cy="550545"/>
            <a:chOff x="0" y="-58449"/>
            <a:chExt cx="1678335" cy="1512674"/>
          </a:xfrm>
        </p:grpSpPr>
        <p:sp>
          <p:nvSpPr>
            <p:cNvPr id="26" name="矩形"/>
            <p:cNvSpPr/>
            <p:nvPr/>
          </p:nvSpPr>
          <p:spPr>
            <a:xfrm>
              <a:off x="0" y="0"/>
              <a:ext cx="1678335" cy="1395778"/>
            </a:xfrm>
            <a:prstGeom prst="rect">
              <a:avLst/>
            </a:prstGeom>
            <a:gradFill flip="none" rotWithShape="1">
              <a:gsLst>
                <a:gs pos="33000">
                  <a:srgbClr val="F9F9F9"/>
                </a:gs>
                <a:gs pos="100000">
                  <a:srgbClr val="D7D7D7"/>
                </a:gs>
              </a:gsLst>
              <a:lin ang="5400000" scaled="0"/>
            </a:gradFill>
            <a:ln w="3175" cap="flat">
              <a:solidFill>
                <a:srgbClr val="D7D7D7"/>
              </a:solidFill>
              <a:prstDash val="solid"/>
              <a:round/>
            </a:ln>
            <a:effectLst>
              <a:outerShdw blurRad="50800" dist="38100" rotWithShape="0">
                <a:srgbClr val="000000">
                  <a:alpha val="40000"/>
                </a:srgbClr>
              </a:outerShdw>
            </a:effectLst>
          </p:spPr>
          <p:txBody>
            <a:bodyPr wrap="square" lIns="45719" tIns="45719" rIns="45719" bIns="45719" numCol="1" anchor="ctr">
              <a:noAutofit/>
            </a:bodyPr>
            <a:lstStyle/>
            <a:p>
              <a:pPr algn="ctr">
                <a:lnSpc>
                  <a:spcPct val="120000"/>
                </a:lnSpc>
                <a:defRPr sz="2000">
                  <a:solidFill>
                    <a:srgbClr val="414455"/>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a:p>
          </p:txBody>
        </p:sp>
        <p:sp>
          <p:nvSpPr>
            <p:cNvPr id="27" name="研究方法"/>
            <p:cNvSpPr txBox="1"/>
            <p:nvPr/>
          </p:nvSpPr>
          <p:spPr>
            <a:xfrm>
              <a:off x="0" y="-58449"/>
              <a:ext cx="1678335" cy="1512674"/>
            </a:xfrm>
            <a:prstGeom prst="rect">
              <a:avLst/>
            </a:prstGeom>
            <a:noFill/>
            <a:ln w="12700" cap="flat">
              <a:noFill/>
              <a:miter lim="400000"/>
            </a:ln>
            <a:effectLst/>
          </p:spPr>
          <p:txBody>
            <a:bodyPr wrap="square" lIns="54141" tIns="54141" rIns="54141" bIns="54141" numCol="1" anchor="ctr">
              <a:spAutoFit/>
            </a:bodyPr>
            <a:lstStyle>
              <a:lvl1pPr>
                <a:lnSpc>
                  <a:spcPct val="120000"/>
                </a:lnSpc>
                <a:defRPr sz="2000">
                  <a:solidFill>
                    <a:srgbClr val="414455"/>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ctr"/>
              <a:r>
                <a:rPr lang="zh-CN" sz="2400"/>
                <a:t>唯心史观</a:t>
              </a:r>
            </a:p>
          </p:txBody>
        </p:sp>
      </p:grpSp>
      <p:sp>
        <p:nvSpPr>
          <p:cNvPr id="28" name="研究方法"/>
          <p:cNvSpPr txBox="1"/>
          <p:nvPr/>
        </p:nvSpPr>
        <p:spPr>
          <a:xfrm>
            <a:off x="6212840" y="3856355"/>
            <a:ext cx="925830" cy="698500"/>
          </a:xfrm>
          <a:prstGeom prst="rect">
            <a:avLst/>
          </a:prstGeom>
          <a:noFill/>
          <a:ln w="12700" cap="flat">
            <a:noFill/>
            <a:miter lim="400000"/>
          </a:ln>
          <a:effectLst/>
        </p:spPr>
        <p:txBody>
          <a:bodyPr wrap="square" lIns="54141" tIns="54141" rIns="54141" bIns="54141" numCol="1" anchor="ctr">
            <a:spAutoFit/>
          </a:bodyPr>
          <a:lstStyle>
            <a:lvl1pPr>
              <a:lnSpc>
                <a:spcPct val="120000"/>
              </a:lnSpc>
              <a:defRPr sz="2000">
                <a:solidFill>
                  <a:srgbClr val="414455"/>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sz="3200" b="1">
                <a:solidFill>
                  <a:srgbClr val="C00000"/>
                </a:solidFill>
              </a:rPr>
              <a:t>决定</a:t>
            </a:r>
          </a:p>
        </p:txBody>
      </p:sp>
    </p:spTree>
  </p:cSld>
  <p:clrMapOvr>
    <a:masterClrMapping/>
  </p:clrMapOvr>
  <mc:AlternateContent xmlns:mc="http://schemas.openxmlformats.org/markup-compatibility/2006" xmlns:p14="http://schemas.microsoft.com/office/powerpoint/2010/main">
    <mc:Choice Requires="p14">
      <p:transition spd="slow" p14:dur="1200">
        <p:wipe/>
      </p:transition>
    </mc:Choice>
    <mc:Fallback xmlns="">
      <p:transition spd="slow">
        <p:wipe/>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1" nodeType="afterEffect">
                                  <p:stCondLst>
                                    <p:cond delay="0"/>
                                  </p:stCondLst>
                                  <p:childTnLst>
                                    <p:set>
                                      <p:cBhvr>
                                        <p:cTn id="6" dur="indefinite" fill="hold"/>
                                        <p:tgtEl>
                                          <p:spTgt spid="412"/>
                                        </p:tgtEl>
                                        <p:attrNameLst>
                                          <p:attrName>style.visibility</p:attrName>
                                        </p:attrNameLst>
                                      </p:cBhvr>
                                      <p:to>
                                        <p:strVal val="visible"/>
                                      </p:to>
                                    </p:set>
                                    <p:anim calcmode="lin" valueType="num">
                                      <p:cBhvr>
                                        <p:cTn id="7" dur="500" fill="hold"/>
                                        <p:tgtEl>
                                          <p:spTgt spid="412"/>
                                        </p:tgtEl>
                                        <p:attrNameLst>
                                          <p:attrName>ppt_w</p:attrName>
                                        </p:attrNameLst>
                                      </p:cBhvr>
                                      <p:tavLst>
                                        <p:tav tm="0">
                                          <p:val>
                                            <p:fltVal val="0"/>
                                          </p:val>
                                        </p:tav>
                                        <p:tav tm="100000">
                                          <p:val>
                                            <p:strVal val="#ppt_w"/>
                                          </p:val>
                                        </p:tav>
                                      </p:tavLst>
                                    </p:anim>
                                    <p:anim calcmode="lin" valueType="num">
                                      <p:cBhvr>
                                        <p:cTn id="8" dur="500" fill="hold"/>
                                        <p:tgtEl>
                                          <p:spTgt spid="412"/>
                                        </p:tgtEl>
                                        <p:attrNameLst>
                                          <p:attrName>ppt_h</p:attrName>
                                        </p:attrNameLst>
                                      </p:cBhvr>
                                      <p:tavLst>
                                        <p:tav tm="0">
                                          <p:val>
                                            <p:fltVal val="0"/>
                                          </p:val>
                                        </p:tav>
                                        <p:tav tm="100000">
                                          <p:val>
                                            <p:strVal val="#ppt_h"/>
                                          </p:val>
                                        </p:tav>
                                      </p:tavLst>
                                    </p:anim>
                                    <p:anim calcmode="lin" valueType="num">
                                      <p:cBhvr>
                                        <p:cTn id="9" dur="500" fill="hold"/>
                                        <p:tgtEl>
                                          <p:spTgt spid="412"/>
                                        </p:tgtEl>
                                        <p:attrNameLst>
                                          <p:attrName>ppt_x</p:attrName>
                                        </p:attrNameLst>
                                      </p:cBhvr>
                                      <p:tavLst>
                                        <p:tav tm="0" fmla="#ppt_x+(cos(-2*pi*(1-$))*-#ppt_x-sin(-2*pi*(1-$))*(1-#ppt_y))*(1-$)">
                                          <p:val>
                                            <p:fltVal val="0"/>
                                          </p:val>
                                        </p:tav>
                                        <p:tav tm="100000">
                                          <p:val>
                                            <p:fltVal val="1"/>
                                          </p:val>
                                        </p:tav>
                                      </p:tavLst>
                                    </p:anim>
                                    <p:anim calcmode="lin" valueType="num">
                                      <p:cBhvr>
                                        <p:cTn id="10" dur="500" fill="hold"/>
                                        <p:tgtEl>
                                          <p:spTgt spid="412"/>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500"/>
                            </p:stCondLst>
                            <p:childTnLst>
                              <p:par>
                                <p:cTn id="12" presetID="15" presetClass="entr" presetSubtype="0" fill="hold" grpId="2" nodeType="afterEffect">
                                  <p:stCondLst>
                                    <p:cond delay="0"/>
                                  </p:stCondLst>
                                  <p:childTnLst>
                                    <p:set>
                                      <p:cBhvr>
                                        <p:cTn id="13" dur="indefinite" fill="hold"/>
                                        <p:tgtEl>
                                          <p:spTgt spid="415"/>
                                        </p:tgtEl>
                                        <p:attrNameLst>
                                          <p:attrName>style.visibility</p:attrName>
                                        </p:attrNameLst>
                                      </p:cBhvr>
                                      <p:to>
                                        <p:strVal val="visible"/>
                                      </p:to>
                                    </p:set>
                                    <p:anim calcmode="lin" valueType="num">
                                      <p:cBhvr>
                                        <p:cTn id="14" dur="500" fill="hold"/>
                                        <p:tgtEl>
                                          <p:spTgt spid="415"/>
                                        </p:tgtEl>
                                        <p:attrNameLst>
                                          <p:attrName>ppt_w</p:attrName>
                                        </p:attrNameLst>
                                      </p:cBhvr>
                                      <p:tavLst>
                                        <p:tav tm="0">
                                          <p:val>
                                            <p:fltVal val="0"/>
                                          </p:val>
                                        </p:tav>
                                        <p:tav tm="100000">
                                          <p:val>
                                            <p:strVal val="#ppt_w"/>
                                          </p:val>
                                        </p:tav>
                                      </p:tavLst>
                                    </p:anim>
                                    <p:anim calcmode="lin" valueType="num">
                                      <p:cBhvr>
                                        <p:cTn id="15" dur="500" fill="hold"/>
                                        <p:tgtEl>
                                          <p:spTgt spid="415"/>
                                        </p:tgtEl>
                                        <p:attrNameLst>
                                          <p:attrName>ppt_h</p:attrName>
                                        </p:attrNameLst>
                                      </p:cBhvr>
                                      <p:tavLst>
                                        <p:tav tm="0">
                                          <p:val>
                                            <p:fltVal val="0"/>
                                          </p:val>
                                        </p:tav>
                                        <p:tav tm="100000">
                                          <p:val>
                                            <p:strVal val="#ppt_h"/>
                                          </p:val>
                                        </p:tav>
                                      </p:tavLst>
                                    </p:anim>
                                    <p:anim calcmode="lin" valueType="num">
                                      <p:cBhvr>
                                        <p:cTn id="16" dur="500" fill="hold"/>
                                        <p:tgtEl>
                                          <p:spTgt spid="415"/>
                                        </p:tgtEl>
                                        <p:attrNameLst>
                                          <p:attrName>ppt_x</p:attrName>
                                        </p:attrNameLst>
                                      </p:cBhvr>
                                      <p:tavLst>
                                        <p:tav tm="0" fmla="#ppt_x+(cos(-2*pi*(1-$))*-#ppt_x-sin(-2*pi*(1-$))*(1-#ppt_y))*(1-$)">
                                          <p:val>
                                            <p:fltVal val="0"/>
                                          </p:val>
                                        </p:tav>
                                        <p:tav tm="100000">
                                          <p:val>
                                            <p:fltVal val="1"/>
                                          </p:val>
                                        </p:tav>
                                      </p:tavLst>
                                    </p:anim>
                                    <p:anim calcmode="lin" valueType="num">
                                      <p:cBhvr>
                                        <p:cTn id="17" dur="500" fill="hold"/>
                                        <p:tgtEl>
                                          <p:spTgt spid="415"/>
                                        </p:tgtEl>
                                        <p:attrNameLst>
                                          <p:attrName>ppt_y</p:attrName>
                                        </p:attrNameLst>
                                      </p:cBhvr>
                                      <p:tavLst>
                                        <p:tav tm="0" fmla="#ppt_y+(sin(-2*pi*(1-$))*-#ppt_x+cos(-2*pi*(1-$))*(1-#ppt_y))*(1-$)">
                                          <p:val>
                                            <p:fltVal val="0"/>
                                          </p:val>
                                        </p:tav>
                                        <p:tav tm="100000">
                                          <p:val>
                                            <p:fltVal val="1"/>
                                          </p:val>
                                        </p:tav>
                                      </p:tavLst>
                                    </p:anim>
                                  </p:childTnLst>
                                </p:cTn>
                              </p:par>
                            </p:childTnLst>
                          </p:cTn>
                        </p:par>
                        <p:par>
                          <p:cTn id="18" fill="hold">
                            <p:stCondLst>
                              <p:cond delay="1000"/>
                            </p:stCondLst>
                            <p:childTnLst>
                              <p:par>
                                <p:cTn id="19" presetID="2" presetClass="entr" presetSubtype="8" fill="hold" grpId="3" nodeType="afterEffect">
                                  <p:stCondLst>
                                    <p:cond delay="0"/>
                                  </p:stCondLst>
                                  <p:childTnLst>
                                    <p:set>
                                      <p:cBhvr>
                                        <p:cTn id="20" dur="indefinite" fill="hold"/>
                                        <p:tgtEl>
                                          <p:spTgt spid="408"/>
                                        </p:tgtEl>
                                        <p:attrNameLst>
                                          <p:attrName>style.visibility</p:attrName>
                                        </p:attrNameLst>
                                      </p:cBhvr>
                                      <p:to>
                                        <p:strVal val="visible"/>
                                      </p:to>
                                    </p:set>
                                    <p:anim calcmode="lin" valueType="num">
                                      <p:cBhvr>
                                        <p:cTn id="21" dur="500" fill="hold"/>
                                        <p:tgtEl>
                                          <p:spTgt spid="408"/>
                                        </p:tgtEl>
                                        <p:attrNameLst>
                                          <p:attrName>ppt_x</p:attrName>
                                        </p:attrNameLst>
                                      </p:cBhvr>
                                      <p:tavLst>
                                        <p:tav tm="0">
                                          <p:val>
                                            <p:strVal val="0-#ppt_w/2"/>
                                          </p:val>
                                        </p:tav>
                                        <p:tav tm="100000">
                                          <p:val>
                                            <p:strVal val="#ppt_x"/>
                                          </p:val>
                                        </p:tav>
                                      </p:tavLst>
                                    </p:anim>
                                    <p:anim calcmode="lin" valueType="num">
                                      <p:cBhvr>
                                        <p:cTn id="22" dur="500" fill="hold"/>
                                        <p:tgtEl>
                                          <p:spTgt spid="408"/>
                                        </p:tgtEl>
                                        <p:attrNameLst>
                                          <p:attrName>ppt_y</p:attrName>
                                        </p:attrNameLst>
                                      </p:cBhvr>
                                      <p:tavLst>
                                        <p:tav tm="0">
                                          <p:val>
                                            <p:strVal val="#ppt_y"/>
                                          </p:val>
                                        </p:tav>
                                        <p:tav tm="100000">
                                          <p:val>
                                            <p:strVal val="#ppt_y"/>
                                          </p:val>
                                        </p:tav>
                                      </p:tavLst>
                                    </p:anim>
                                  </p:childTnLst>
                                </p:cTn>
                              </p:par>
                            </p:childTnLst>
                          </p:cTn>
                        </p:par>
                        <p:par>
                          <p:cTn id="23" fill="hold">
                            <p:stCondLst>
                              <p:cond delay="1500"/>
                            </p:stCondLst>
                            <p:childTnLst>
                              <p:par>
                                <p:cTn id="24" presetID="2" presetClass="entr" presetSubtype="2" fill="hold" grpId="4" nodeType="afterEffect">
                                  <p:stCondLst>
                                    <p:cond delay="0"/>
                                  </p:stCondLst>
                                  <p:childTnLst>
                                    <p:set>
                                      <p:cBhvr>
                                        <p:cTn id="25" dur="indefinite" fill="hold"/>
                                        <p:tgtEl>
                                          <p:spTgt spid="409"/>
                                        </p:tgtEl>
                                        <p:attrNameLst>
                                          <p:attrName>style.visibility</p:attrName>
                                        </p:attrNameLst>
                                      </p:cBhvr>
                                      <p:to>
                                        <p:strVal val="visible"/>
                                      </p:to>
                                    </p:set>
                                    <p:anim calcmode="lin" valueType="num">
                                      <p:cBhvr>
                                        <p:cTn id="26" dur="500" fill="hold"/>
                                        <p:tgtEl>
                                          <p:spTgt spid="409"/>
                                        </p:tgtEl>
                                        <p:attrNameLst>
                                          <p:attrName>ppt_x</p:attrName>
                                        </p:attrNameLst>
                                      </p:cBhvr>
                                      <p:tavLst>
                                        <p:tav tm="0">
                                          <p:val>
                                            <p:strVal val="1+#ppt_w/2"/>
                                          </p:val>
                                        </p:tav>
                                        <p:tav tm="100000">
                                          <p:val>
                                            <p:strVal val="#ppt_x"/>
                                          </p:val>
                                        </p:tav>
                                      </p:tavLst>
                                    </p:anim>
                                    <p:anim calcmode="lin" valueType="num">
                                      <p:cBhvr>
                                        <p:cTn id="27" dur="500" fill="hold"/>
                                        <p:tgtEl>
                                          <p:spTgt spid="409"/>
                                        </p:tgtEl>
                                        <p:attrNameLst>
                                          <p:attrName>ppt_y</p:attrName>
                                        </p:attrNameLst>
                                      </p:cBhvr>
                                      <p:tavLst>
                                        <p:tav tm="0">
                                          <p:val>
                                            <p:strVal val="#ppt_y"/>
                                          </p:val>
                                        </p:tav>
                                        <p:tav tm="100000">
                                          <p:val>
                                            <p:strVal val="#ppt_y"/>
                                          </p:val>
                                        </p:tav>
                                      </p:tavLst>
                                    </p:anim>
                                  </p:childTnLst>
                                </p:cTn>
                              </p:par>
                            </p:childTnLst>
                          </p:cTn>
                        </p:par>
                        <p:par>
                          <p:cTn id="28" fill="hold">
                            <p:stCondLst>
                              <p:cond delay="2000"/>
                            </p:stCondLst>
                            <p:childTnLst>
                              <p:par>
                                <p:cTn id="29" presetID="19" presetClass="entr" presetSubtype="10" fill="hold" grpId="5" nodeType="afterEffect">
                                  <p:stCondLst>
                                    <p:cond delay="0"/>
                                  </p:stCondLst>
                                  <p:childTnLst>
                                    <p:set>
                                      <p:cBhvr>
                                        <p:cTn id="30" dur="indefinite" fill="hold"/>
                                        <p:tgtEl>
                                          <p:spTgt spid="418"/>
                                        </p:tgtEl>
                                        <p:attrNameLst>
                                          <p:attrName>style.visibility</p:attrName>
                                        </p:attrNameLst>
                                      </p:cBhvr>
                                      <p:to>
                                        <p:strVal val="visible"/>
                                      </p:to>
                                    </p:set>
                                    <p:anim calcmode="lin" valueType="num">
                                      <p:cBhvr>
                                        <p:cTn id="31" dur="500" fill="hold"/>
                                        <p:tgtEl>
                                          <p:spTgt spid="418"/>
                                        </p:tgtEl>
                                        <p:attrNameLst>
                                          <p:attrName>ppt_w</p:attrName>
                                        </p:attrNameLst>
                                      </p:cBhvr>
                                      <p:tavLst>
                                        <p:tav tm="0" fmla="#ppt_w*sin(2.5*pi*$)">
                                          <p:val>
                                            <p:fltVal val="0"/>
                                          </p:val>
                                        </p:tav>
                                        <p:tav tm="100000">
                                          <p:val>
                                            <p:fltVal val="1"/>
                                          </p:val>
                                        </p:tav>
                                      </p:tavLst>
                                    </p:anim>
                                    <p:anim calcmode="lin" valueType="num">
                                      <p:cBhvr>
                                        <p:cTn id="32" dur="500" fill="hold"/>
                                        <p:tgtEl>
                                          <p:spTgt spid="418"/>
                                        </p:tgtEl>
                                        <p:attrNameLst>
                                          <p:attrName>ppt_h</p:attrName>
                                        </p:attrNameLst>
                                      </p:cBhvr>
                                      <p:tavLst>
                                        <p:tav tm="0">
                                          <p:val>
                                            <p:strVal val="#ppt_h"/>
                                          </p:val>
                                        </p:tav>
                                        <p:tav tm="100000">
                                          <p:val>
                                            <p:strVal val="#ppt_h"/>
                                          </p:val>
                                        </p:tav>
                                      </p:tavLst>
                                    </p:anim>
                                  </p:childTnLst>
                                </p:cTn>
                              </p:par>
                              <p:par>
                                <p:cTn id="33" presetID="19" presetClass="entr" presetSubtype="10" fill="hold" grpId="5" nodeType="withEffect">
                                  <p:stCondLst>
                                    <p:cond delay="0"/>
                                  </p:stCondLst>
                                  <p:childTnLst>
                                    <p:set>
                                      <p:cBhvr>
                                        <p:cTn id="34" dur="indefinite" fill="hold"/>
                                        <p:tgtEl>
                                          <p:spTgt spid="25"/>
                                        </p:tgtEl>
                                        <p:attrNameLst>
                                          <p:attrName>style.visibility</p:attrName>
                                        </p:attrNameLst>
                                      </p:cBhvr>
                                      <p:to>
                                        <p:strVal val="visible"/>
                                      </p:to>
                                    </p:set>
                                    <p:anim calcmode="lin" valueType="num">
                                      <p:cBhvr>
                                        <p:cTn id="35" dur="500" fill="hold"/>
                                        <p:tgtEl>
                                          <p:spTgt spid="25"/>
                                        </p:tgtEl>
                                        <p:attrNameLst>
                                          <p:attrName>ppt_w</p:attrName>
                                        </p:attrNameLst>
                                      </p:cBhvr>
                                      <p:tavLst>
                                        <p:tav tm="0" fmla="#ppt_w*sin(2.5*pi*$)">
                                          <p:val>
                                            <p:fltVal val="0"/>
                                          </p:val>
                                        </p:tav>
                                        <p:tav tm="100000">
                                          <p:val>
                                            <p:fltVal val="1"/>
                                          </p:val>
                                        </p:tav>
                                      </p:tavLst>
                                    </p:anim>
                                    <p:anim calcmode="lin" valueType="num">
                                      <p:cBhvr>
                                        <p:cTn id="36" dur="500" fill="hold"/>
                                        <p:tgtEl>
                                          <p:spTgt spid="25"/>
                                        </p:tgtEl>
                                        <p:attrNameLst>
                                          <p:attrName>ppt_h</p:attrName>
                                        </p:attrNameLst>
                                      </p:cBhvr>
                                      <p:tavLst>
                                        <p:tav tm="0">
                                          <p:val>
                                            <p:strVal val="#ppt_h"/>
                                          </p:val>
                                        </p:tav>
                                        <p:tav tm="100000">
                                          <p:val>
                                            <p:strVal val="#ppt_h"/>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500" fill="hold"/>
                                        <p:tgtEl>
                                          <p:spTgt spid="28"/>
                                        </p:tgtEl>
                                        <p:attrNameLst>
                                          <p:attrName>ppt_x</p:attrName>
                                        </p:attrNameLst>
                                      </p:cBhvr>
                                      <p:tavLst>
                                        <p:tav tm="0">
                                          <p:val>
                                            <p:strVal val="#ppt_x"/>
                                          </p:val>
                                        </p:tav>
                                        <p:tav tm="100000">
                                          <p:val>
                                            <p:strVal val="#ppt_x"/>
                                          </p:val>
                                        </p:tav>
                                      </p:tavLst>
                                    </p:anim>
                                    <p:anim calcmode="lin" valueType="num">
                                      <p:cBhvr additive="base">
                                        <p:cTn id="40" dur="500" fill="hold"/>
                                        <p:tgtEl>
                                          <p:spTgt spid="28"/>
                                        </p:tgtEl>
                                        <p:attrNameLst>
                                          <p:attrName>ppt_y</p:attrName>
                                        </p:attrNameLst>
                                      </p:cBhvr>
                                      <p:tavLst>
                                        <p:tav tm="0">
                                          <p:val>
                                            <p:strVal val="1+#ppt_h/2"/>
                                          </p:val>
                                        </p:tav>
                                        <p:tav tm="100000">
                                          <p:val>
                                            <p:strVal val="#ppt_y"/>
                                          </p:val>
                                        </p:tav>
                                      </p:tavLst>
                                    </p:anim>
                                  </p:childTnLst>
                                </p:cTn>
                              </p:par>
                            </p:childTnLst>
                          </p:cTn>
                        </p:par>
                        <p:par>
                          <p:cTn id="41" fill="hold">
                            <p:stCondLst>
                              <p:cond delay="2500"/>
                            </p:stCondLst>
                            <p:childTnLst>
                              <p:par>
                                <p:cTn id="42" presetID="4" presetClass="entr" presetSubtype="16" fill="hold" grpId="8" nodeType="afterEffect">
                                  <p:stCondLst>
                                    <p:cond delay="0"/>
                                  </p:stCondLst>
                                  <p:childTnLst>
                                    <p:set>
                                      <p:cBhvr>
                                        <p:cTn id="43" dur="indefinite" fill="hold"/>
                                        <p:tgtEl>
                                          <p:spTgt spid="420"/>
                                        </p:tgtEl>
                                        <p:attrNameLst>
                                          <p:attrName>style.visibility</p:attrName>
                                        </p:attrNameLst>
                                      </p:cBhvr>
                                      <p:to>
                                        <p:strVal val="visible"/>
                                      </p:to>
                                    </p:set>
                                    <p:animEffect transition="in" filter="box(in)">
                                      <p:cBhvr>
                                        <p:cTn id="44" dur="500"/>
                                        <p:tgtEl>
                                          <p:spTgt spid="420"/>
                                        </p:tgtEl>
                                      </p:cBhvr>
                                    </p:animEffect>
                                  </p:childTnLst>
                                </p:cTn>
                              </p:par>
                            </p:childTnLst>
                          </p:cTn>
                        </p:par>
                        <p:par>
                          <p:cTn id="45" fill="hold">
                            <p:stCondLst>
                              <p:cond delay="3000"/>
                            </p:stCondLst>
                            <p:childTnLst>
                              <p:par>
                                <p:cTn id="46" presetID="4" presetClass="entr" presetSubtype="16" fill="hold" grpId="9" nodeType="afterEffect">
                                  <p:stCondLst>
                                    <p:cond delay="0"/>
                                  </p:stCondLst>
                                  <p:childTnLst>
                                    <p:set>
                                      <p:cBhvr>
                                        <p:cTn id="47" dur="indefinite" fill="hold"/>
                                        <p:tgtEl>
                                          <p:spTgt spid="421"/>
                                        </p:tgtEl>
                                        <p:attrNameLst>
                                          <p:attrName>style.visibility</p:attrName>
                                        </p:attrNameLst>
                                      </p:cBhvr>
                                      <p:to>
                                        <p:strVal val="visible"/>
                                      </p:to>
                                    </p:set>
                                    <p:animEffect transition="in" filter="box(in)">
                                      <p:cBhvr>
                                        <p:cTn id="48" dur="500"/>
                                        <p:tgtEl>
                                          <p:spTgt spid="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 grpId="3" bldLvl="0" animBg="1" advAuto="0"/>
      <p:bldP spid="409" grpId="4" bldLvl="0" animBg="1" advAuto="0"/>
      <p:bldP spid="412" grpId="1" bldLvl="0" animBg="1" advAuto="0"/>
      <p:bldP spid="415" grpId="2" bldLvl="0" animBg="1" advAuto="0"/>
      <p:bldP spid="418" grpId="5" bldLvl="0" animBg="1" advAuto="0"/>
      <p:bldP spid="420" grpId="8" animBg="1" advAuto="0"/>
      <p:bldP spid="421" grpId="9" animBg="1" advAuto="0"/>
      <p:bldP spid="25" grpId="5" bldLvl="0" animBg="1" advAuto="0"/>
      <p:bldP spid="28"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 name="圆角矩形 4"/>
          <p:cNvGrpSpPr/>
          <p:nvPr>
            <p:custDataLst>
              <p:tags r:id="rId1"/>
            </p:custDataLst>
          </p:nvPr>
        </p:nvGrpSpPr>
        <p:grpSpPr>
          <a:xfrm>
            <a:off x="6000248" y="1612745"/>
            <a:ext cx="506413" cy="574041"/>
            <a:chOff x="0" y="0"/>
            <a:chExt cx="506412" cy="574040"/>
          </a:xfrm>
        </p:grpSpPr>
        <p:sp>
          <p:nvSpPr>
            <p:cNvPr id="356" name="圆角矩形"/>
            <p:cNvSpPr/>
            <p:nvPr>
              <p:custDataLst>
                <p:tags r:id="rId15"/>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357" name="1"/>
            <p:cNvSpPr txBox="1"/>
            <p:nvPr>
              <p:custDataLst>
                <p:tags r:id="rId16"/>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1</a:t>
              </a:r>
            </a:p>
          </p:txBody>
        </p:sp>
      </p:grpSp>
      <p:sp>
        <p:nvSpPr>
          <p:cNvPr id="359" name="矩形 5"/>
          <p:cNvSpPr txBox="1"/>
          <p:nvPr>
            <p:custDataLst>
              <p:tags r:id="rId2"/>
            </p:custDataLst>
          </p:nvPr>
        </p:nvSpPr>
        <p:spPr>
          <a:xfrm>
            <a:off x="6850781" y="1707717"/>
            <a:ext cx="561341" cy="408941"/>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绪论</a:t>
            </a:r>
          </a:p>
        </p:txBody>
      </p:sp>
      <p:grpSp>
        <p:nvGrpSpPr>
          <p:cNvPr id="362" name="圆角矩形 6"/>
          <p:cNvGrpSpPr/>
          <p:nvPr>
            <p:custDataLst>
              <p:tags r:id="rId3"/>
            </p:custDataLst>
          </p:nvPr>
        </p:nvGrpSpPr>
        <p:grpSpPr>
          <a:xfrm>
            <a:off x="6000248" y="2366807"/>
            <a:ext cx="506413" cy="574041"/>
            <a:chOff x="0" y="0"/>
            <a:chExt cx="506412" cy="574040"/>
          </a:xfrm>
        </p:grpSpPr>
        <p:sp>
          <p:nvSpPr>
            <p:cNvPr id="360" name="圆角矩形"/>
            <p:cNvSpPr/>
            <p:nvPr>
              <p:custDataLst>
                <p:tags r:id="rId13"/>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361" name="2"/>
            <p:cNvSpPr txBox="1"/>
            <p:nvPr>
              <p:custDataLst>
                <p:tags r:id="rId14"/>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2</a:t>
              </a:r>
            </a:p>
          </p:txBody>
        </p:sp>
      </p:grpSp>
      <p:grpSp>
        <p:nvGrpSpPr>
          <p:cNvPr id="366" name="圆角矩形 8"/>
          <p:cNvGrpSpPr/>
          <p:nvPr>
            <p:custDataLst>
              <p:tags r:id="rId4"/>
            </p:custDataLst>
          </p:nvPr>
        </p:nvGrpSpPr>
        <p:grpSpPr>
          <a:xfrm>
            <a:off x="6000248" y="3120870"/>
            <a:ext cx="506413" cy="574041"/>
            <a:chOff x="0" y="0"/>
            <a:chExt cx="506412" cy="574040"/>
          </a:xfrm>
        </p:grpSpPr>
        <p:sp>
          <p:nvSpPr>
            <p:cNvPr id="364" name="圆角矩形"/>
            <p:cNvSpPr/>
            <p:nvPr>
              <p:custDataLst>
                <p:tags r:id="rId11"/>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365" name="3"/>
            <p:cNvSpPr txBox="1"/>
            <p:nvPr>
              <p:custDataLst>
                <p:tags r:id="rId12"/>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3</a:t>
              </a:r>
            </a:p>
          </p:txBody>
        </p:sp>
      </p:grpSp>
      <p:grpSp>
        <p:nvGrpSpPr>
          <p:cNvPr id="370" name="圆角矩形 10"/>
          <p:cNvGrpSpPr/>
          <p:nvPr>
            <p:custDataLst>
              <p:tags r:id="rId5"/>
            </p:custDataLst>
          </p:nvPr>
        </p:nvGrpSpPr>
        <p:grpSpPr>
          <a:xfrm>
            <a:off x="6000248" y="3874932"/>
            <a:ext cx="506413" cy="574041"/>
            <a:chOff x="0" y="0"/>
            <a:chExt cx="506412" cy="574040"/>
          </a:xfrm>
        </p:grpSpPr>
        <p:sp>
          <p:nvSpPr>
            <p:cNvPr id="368" name="圆角矩形"/>
            <p:cNvSpPr/>
            <p:nvPr>
              <p:custDataLst>
                <p:tags r:id="rId9"/>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369" name="4"/>
            <p:cNvSpPr txBox="1"/>
            <p:nvPr>
              <p:custDataLst>
                <p:tags r:id="rId10"/>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4</a:t>
              </a:r>
            </a:p>
          </p:txBody>
        </p:sp>
      </p:grpSp>
      <p:grpSp>
        <p:nvGrpSpPr>
          <p:cNvPr id="374" name="圆角矩形 12"/>
          <p:cNvGrpSpPr/>
          <p:nvPr>
            <p:custDataLst>
              <p:tags r:id="rId6"/>
            </p:custDataLst>
          </p:nvPr>
        </p:nvGrpSpPr>
        <p:grpSpPr>
          <a:xfrm>
            <a:off x="6000248" y="4628994"/>
            <a:ext cx="506413" cy="574041"/>
            <a:chOff x="0" y="0"/>
            <a:chExt cx="506412" cy="574040"/>
          </a:xfrm>
        </p:grpSpPr>
        <p:sp>
          <p:nvSpPr>
            <p:cNvPr id="372" name="圆角矩形"/>
            <p:cNvSpPr/>
            <p:nvPr>
              <p:custDataLst>
                <p:tags r:id="rId7"/>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373" name="5"/>
            <p:cNvSpPr txBox="1"/>
            <p:nvPr>
              <p:custDataLst>
                <p:tags r:id="rId8"/>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5</a:t>
              </a:r>
            </a:p>
          </p:txBody>
        </p:sp>
      </p:grpSp>
      <p:grpSp>
        <p:nvGrpSpPr>
          <p:cNvPr id="378" name="矩形 33"/>
          <p:cNvGrpSpPr/>
          <p:nvPr/>
        </p:nvGrpSpPr>
        <p:grpSpPr>
          <a:xfrm>
            <a:off x="0" y="0"/>
            <a:ext cx="3721100" cy="6858000"/>
            <a:chOff x="0" y="0"/>
            <a:chExt cx="3721100" cy="6858000"/>
          </a:xfrm>
        </p:grpSpPr>
        <p:sp>
          <p:nvSpPr>
            <p:cNvPr id="376" name="矩形"/>
            <p:cNvSpPr/>
            <p:nvPr/>
          </p:nvSpPr>
          <p:spPr>
            <a:xfrm>
              <a:off x="0" y="0"/>
              <a:ext cx="3721100" cy="6858000"/>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sz="24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pPr>
              <a:endParaRPr/>
            </a:p>
          </p:txBody>
        </p:sp>
        <p:sp>
          <p:nvSpPr>
            <p:cNvPr id="377" name="文本"/>
            <p:cNvSpPr txBox="1"/>
            <p:nvPr/>
          </p:nvSpPr>
          <p:spPr>
            <a:xfrm>
              <a:off x="0" y="3156962"/>
              <a:ext cx="3721100" cy="544076"/>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          </a:t>
              </a:r>
            </a:p>
          </p:txBody>
        </p:sp>
      </p:grpSp>
      <p:sp>
        <p:nvSpPr>
          <p:cNvPr id="379" name="矩形 34"/>
          <p:cNvSpPr txBox="1"/>
          <p:nvPr/>
        </p:nvSpPr>
        <p:spPr>
          <a:xfrm>
            <a:off x="1073628" y="1308115"/>
            <a:ext cx="2013420" cy="1259841"/>
          </a:xfrm>
          <a:prstGeom prst="rect">
            <a:avLst/>
          </a:prstGeom>
          <a:ln w="12700">
            <a:miter lim="400000"/>
          </a:ln>
        </p:spPr>
        <p:txBody>
          <a:bodyPr wrap="none" lIns="45719" rIns="45719">
            <a:spAutoFit/>
          </a:bodyPr>
          <a:lstStyle>
            <a:lvl1pPr algn="ctr">
              <a:defRPr sz="66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lvl1pPr>
          </a:lstStyle>
          <a:p>
            <a:r>
              <a:t>目 录</a:t>
            </a:r>
          </a:p>
        </p:txBody>
      </p:sp>
      <p:sp>
        <p:nvSpPr>
          <p:cNvPr id="380" name="矩形 35"/>
          <p:cNvSpPr txBox="1"/>
          <p:nvPr/>
        </p:nvSpPr>
        <p:spPr>
          <a:xfrm>
            <a:off x="1305756" y="2593370"/>
            <a:ext cx="1549163" cy="544077"/>
          </a:xfrm>
          <a:prstGeom prst="rect">
            <a:avLst/>
          </a:prstGeom>
          <a:ln w="12700">
            <a:miter lim="400000"/>
          </a:ln>
        </p:spPr>
        <p:txBody>
          <a:bodyPr wrap="none" lIns="45719" rIns="45719">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Contents</a:t>
            </a:r>
          </a:p>
        </p:txBody>
      </p:sp>
      <p:grpSp>
        <p:nvGrpSpPr>
          <p:cNvPr id="30" name="组合 14"/>
          <p:cNvGrpSpPr/>
          <p:nvPr/>
        </p:nvGrpSpPr>
        <p:grpSpPr>
          <a:xfrm>
            <a:off x="4878885" y="2241580"/>
            <a:ext cx="703580" cy="703580"/>
            <a:chOff x="0" y="0"/>
            <a:chExt cx="703578" cy="703578"/>
          </a:xfrm>
        </p:grpSpPr>
        <p:sp>
          <p:nvSpPr>
            <p:cNvPr id="31" name="泪滴形 15"/>
            <p:cNvSpPr/>
            <p:nvPr/>
          </p:nvSpPr>
          <p:spPr>
            <a:xfrm rot="8247616">
              <a:off x="102807" y="102807"/>
              <a:ext cx="497965" cy="49796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0062AC"/>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32" name="椭圆 16"/>
            <p:cNvSpPr/>
            <p:nvPr/>
          </p:nvSpPr>
          <p:spPr>
            <a:xfrm>
              <a:off x="150556" y="147060"/>
              <a:ext cx="398631" cy="398631"/>
            </a:xfrm>
            <a:prstGeom prst="ellipse">
              <a:avLst/>
            </a:prstGeom>
            <a:solidFill>
              <a:srgbClr val="FFFFFF"/>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grpSp>
      <p:sp>
        <p:nvSpPr>
          <p:cNvPr id="640" name="矩形 7"/>
          <p:cNvSpPr txBox="1"/>
          <p:nvPr/>
        </p:nvSpPr>
        <p:spPr>
          <a:xfrm>
            <a:off x="6850313" y="2468685"/>
            <a:ext cx="2169823"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社会存在与社会意识</a:t>
            </a:r>
          </a:p>
        </p:txBody>
      </p:sp>
      <p:sp>
        <p:nvSpPr>
          <p:cNvPr id="33" name="矩形 7"/>
          <p:cNvSpPr txBox="1"/>
          <p:nvPr/>
        </p:nvSpPr>
        <p:spPr>
          <a:xfrm>
            <a:off x="6858126" y="3223224"/>
            <a:ext cx="2868773" cy="923330"/>
          </a:xfrm>
          <a:prstGeom prst="rect">
            <a:avLst/>
          </a:prstGeom>
          <a:ln w="12700">
            <a:miter lim="400000"/>
          </a:ln>
        </p:spPr>
        <p:txBody>
          <a:bodyPr wrap="squar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ctr"/>
            <a:r>
              <a:rPr lang="zh-CN" altLang="en-US" sz="1800"/>
              <a:t>社会基本矛盾及其运动规律</a:t>
            </a:r>
          </a:p>
          <a:p>
            <a:pPr algn="ctr"/>
            <a:endParaRPr lang="zh-CN" altLang="en-US" sz="1800">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sz="180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648" name="矩形 11"/>
          <p:cNvSpPr txBox="1"/>
          <p:nvPr/>
        </p:nvSpPr>
        <p:spPr>
          <a:xfrm>
            <a:off x="6847592" y="4007141"/>
            <a:ext cx="3593289"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超越宿命论</a:t>
            </a:r>
            <a:r>
              <a:rPr lang="en-US" altLang="zh-CN"/>
              <a:t>——</a:t>
            </a:r>
            <a:r>
              <a:rPr lang="zh-CN" altLang="en-US"/>
              <a:t>规律与主体能动性</a:t>
            </a:r>
          </a:p>
        </p:txBody>
      </p:sp>
      <p:sp>
        <p:nvSpPr>
          <p:cNvPr id="652" name="矩形 13"/>
          <p:cNvSpPr txBox="1"/>
          <p:nvPr/>
        </p:nvSpPr>
        <p:spPr>
          <a:xfrm>
            <a:off x="6858126" y="4731348"/>
            <a:ext cx="553996"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结论</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0.000000 0.000000 L 0.000000 0.106022" pathEditMode="relative">
                                      <p:cBhvr>
                                        <p:cTn id="6" dur="1000" fill="hold"/>
                                        <p:tgtEl>
                                          <p:spTgt spid="3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五边形 8"/>
          <p:cNvSpPr txBox="1">
            <a:spLocks noGrp="1"/>
          </p:cNvSpPr>
          <p:nvPr>
            <p:ph type="sldNum" sz="quarter" idx="2"/>
          </p:nvPr>
        </p:nvSpPr>
        <p:spPr>
          <a:xfrm>
            <a:off x="11337756" y="6003980"/>
            <a:ext cx="860594" cy="396241"/>
          </a:xfrm>
          <a:prstGeom prst="rect">
            <a:avLst/>
          </a:prstGeom>
        </p:spPr>
        <p:txBody>
          <a:bodyPr/>
          <a:lstStyle/>
          <a:p>
            <a:fld id="{86CB4B4D-7CA3-9044-876B-883B54F8677D}" type="slidenum">
              <a:rPr/>
              <a:t>5</a:t>
            </a:fld>
            <a:endParaRPr/>
          </a:p>
        </p:txBody>
      </p:sp>
      <p:sp>
        <p:nvSpPr>
          <p:cNvPr id="5" name="矩形 4"/>
          <p:cNvSpPr/>
          <p:nvPr/>
        </p:nvSpPr>
        <p:spPr>
          <a:xfrm>
            <a:off x="66675" y="4539615"/>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 name="矩形 1"/>
          <p:cNvSpPr/>
          <p:nvPr/>
        </p:nvSpPr>
        <p:spPr>
          <a:xfrm>
            <a:off x="66675" y="3883025"/>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矩形 2"/>
          <p:cNvSpPr/>
          <p:nvPr/>
        </p:nvSpPr>
        <p:spPr>
          <a:xfrm>
            <a:off x="66675" y="303403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4" name="矩形 3"/>
          <p:cNvSpPr/>
          <p:nvPr/>
        </p:nvSpPr>
        <p:spPr>
          <a:xfrm>
            <a:off x="119380" y="1401445"/>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6" name="矩形 5"/>
          <p:cNvSpPr/>
          <p:nvPr/>
        </p:nvSpPr>
        <p:spPr>
          <a:xfrm>
            <a:off x="66675" y="2233295"/>
            <a:ext cx="1511300" cy="499110"/>
          </a:xfrm>
          <a:prstGeom prst="rect">
            <a:avLst/>
          </a:prstGeom>
          <a:solidFill>
            <a:srgbClr val="414455"/>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53" name="文本框 52"/>
          <p:cNvSpPr txBox="1"/>
          <p:nvPr/>
        </p:nvSpPr>
        <p:spPr>
          <a:xfrm>
            <a:off x="-255829" y="2142618"/>
            <a:ext cx="2178821" cy="9207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bg1"/>
                </a:solidFill>
                <a:latin typeface="微软雅黑" panose="020B0503020204020204" charset="-122"/>
                <a:ea typeface="微软雅黑" panose="020B0503020204020204" charset="-122"/>
              </a:rPr>
              <a:t>社会存在</a:t>
            </a:r>
            <a:endParaRPr lang="en-US" altLang="zh-CN">
              <a:solidFill>
                <a:schemeClr val="bg1"/>
              </a:solidFill>
              <a:latin typeface="微软雅黑" panose="020B0503020204020204" charset="-122"/>
              <a:ea typeface="微软雅黑" panose="020B0503020204020204" charset="-122"/>
            </a:endParaRPr>
          </a:p>
          <a:p>
            <a:pPr algn="ctr"/>
            <a:r>
              <a:rPr lang="zh-CN" altLang="en-US">
                <a:solidFill>
                  <a:schemeClr val="bg1"/>
                </a:solidFill>
                <a:latin typeface="微软雅黑" panose="020B0503020204020204" charset="-122"/>
                <a:ea typeface="微软雅黑" panose="020B0503020204020204" charset="-122"/>
              </a:rPr>
              <a:t>与社会意识</a:t>
            </a: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chemeClr val="bg1"/>
              </a:solidFill>
              <a:effectLst/>
              <a:uFillTx/>
              <a:latin typeface="微软雅黑" panose="020B0503020204020204" charset="-122"/>
              <a:ea typeface="微软雅黑" panose="020B0503020204020204" charset="-122"/>
              <a:sym typeface="Calibri" panose="020F0502020204030204"/>
            </a:endParaRPr>
          </a:p>
        </p:txBody>
      </p:sp>
      <p:sp>
        <p:nvSpPr>
          <p:cNvPr id="54" name="文本框 53"/>
          <p:cNvSpPr txBox="1"/>
          <p:nvPr/>
        </p:nvSpPr>
        <p:spPr>
          <a:xfrm>
            <a:off x="-185794" y="2933186"/>
            <a:ext cx="2038752" cy="1197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latin typeface="微软雅黑" panose="020B0503020204020204" charset="-122"/>
                <a:ea typeface="微软雅黑" panose="020B0503020204020204" charset="-122"/>
              </a:rPr>
              <a:t>社会基本矛盾</a:t>
            </a:r>
            <a:endParaRPr lang="en-US" altLang="zh-CN">
              <a:latin typeface="微软雅黑" panose="020B0503020204020204" charset="-122"/>
              <a:ea typeface="微软雅黑" panose="020B0503020204020204" charset="-122"/>
            </a:endParaRPr>
          </a:p>
          <a:p>
            <a:pPr algn="ctr"/>
            <a:r>
              <a:rPr lang="zh-CN" altLang="en-US">
                <a:latin typeface="微软雅黑" panose="020B0503020204020204" charset="-122"/>
                <a:ea typeface="微软雅黑" panose="020B0503020204020204" charset="-122"/>
              </a:rPr>
              <a:t>及其运动规律</a:t>
            </a:r>
          </a:p>
          <a:p>
            <a:pPr algn="ctr"/>
            <a:endParaRPr lang="zh-CN" altLang="en-US">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5" name="文本框 54"/>
          <p:cNvSpPr txBox="1"/>
          <p:nvPr/>
        </p:nvSpPr>
        <p:spPr>
          <a:xfrm>
            <a:off x="-186276" y="3728989"/>
            <a:ext cx="2038752" cy="6438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tx1"/>
                </a:solidFill>
                <a:latin typeface="微软雅黑" panose="020B0503020204020204" charset="-122"/>
                <a:ea typeface="微软雅黑" panose="020B0503020204020204" charset="-122"/>
              </a:rPr>
              <a:t>超越宿命论规律</a:t>
            </a:r>
          </a:p>
          <a:p>
            <a:pPr algn="ctr"/>
            <a:r>
              <a:rPr lang="zh-CN" altLang="en-US">
                <a:solidFill>
                  <a:schemeClr val="tx1"/>
                </a:solidFill>
                <a:latin typeface="微软雅黑" panose="020B0503020204020204" charset="-122"/>
                <a:ea typeface="微软雅黑" panose="020B0503020204020204" charset="-122"/>
              </a:rPr>
              <a:t>与主体能动性</a:t>
            </a:r>
          </a:p>
        </p:txBody>
      </p:sp>
      <p:sp>
        <p:nvSpPr>
          <p:cNvPr id="56" name="文本框 55"/>
          <p:cNvSpPr txBox="1"/>
          <p:nvPr/>
        </p:nvSpPr>
        <p:spPr>
          <a:xfrm>
            <a:off x="554990" y="4634230"/>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a:latin typeface="微软雅黑" panose="020B0503020204020204" charset="-122"/>
                <a:ea typeface="微软雅黑" panose="020B0503020204020204" charset="-122"/>
              </a:rPr>
              <a:t>结论</a:t>
            </a:r>
            <a:endPar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9" name="文本框 8"/>
          <p:cNvSpPr txBox="1"/>
          <p:nvPr/>
        </p:nvSpPr>
        <p:spPr>
          <a:xfrm>
            <a:off x="548640" y="1467485"/>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rPr>
              <a:t>绪论</a:t>
            </a:r>
          </a:p>
        </p:txBody>
      </p:sp>
      <p:sp>
        <p:nvSpPr>
          <p:cNvPr id="10" name="文本框 9"/>
          <p:cNvSpPr txBox="1"/>
          <p:nvPr/>
        </p:nvSpPr>
        <p:spPr>
          <a:xfrm>
            <a:off x="2148467" y="367508"/>
            <a:ext cx="9899999" cy="70548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4000" b="1">
                <a:latin typeface="微软雅黑" panose="020B0503020204020204" charset="-122"/>
                <a:ea typeface="微软雅黑" panose="020B0503020204020204" charset="-122"/>
              </a:rPr>
              <a:t>社会存在与社会意识的辩证关系</a:t>
            </a:r>
          </a:p>
        </p:txBody>
      </p:sp>
      <p:sp>
        <p:nvSpPr>
          <p:cNvPr id="18" name="文本框 17"/>
          <p:cNvSpPr txBox="1"/>
          <p:nvPr/>
        </p:nvSpPr>
        <p:spPr>
          <a:xfrm>
            <a:off x="2035810" y="1237615"/>
            <a:ext cx="8987155" cy="28073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algn="l" defTabSz="914400" rtl="0" fontAlgn="auto" latinLnBrk="0" hangingPunct="0">
              <a:lnSpc>
                <a:spcPct val="120000"/>
              </a:lnSpc>
              <a:spcBef>
                <a:spcPts val="0"/>
              </a:spcBef>
              <a:spcAft>
                <a:spcPts val="600"/>
              </a:spcAft>
              <a:buClrTx/>
              <a:buSzTx/>
              <a:buFontTx/>
              <a:buNone/>
            </a:pPr>
            <a:r>
              <a:rPr lang="zh-CN" altLang="en-US" sz="2800" dirty="0">
                <a:solidFill>
                  <a:srgbClr val="C00000"/>
                </a:solidFill>
                <a:latin typeface="微软雅黑" panose="020B0503020204020204" charset="-122"/>
                <a:ea typeface="微软雅黑" panose="020B0503020204020204" charset="-122"/>
                <a:cs typeface="微软雅黑" panose="020B0503020204020204" charset="-122"/>
                <a:sym typeface="+mn-ea"/>
              </a:rPr>
              <a:t>社会存在</a:t>
            </a:r>
            <a:r>
              <a:rPr lang="zh-CN" altLang="en-US" sz="2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：社会生活中一切客观的、物质的方面。</a:t>
            </a:r>
          </a:p>
          <a:p>
            <a:pPr marL="342900" marR="0" indent="-342900" algn="l" defTabSz="914400" rtl="0" eaLnBrk="1">
              <a:lnSpc>
                <a:spcPct val="100000"/>
              </a:lnSpc>
              <a:spcBef>
                <a:spcPts val="0"/>
              </a:spcBef>
              <a:buClrTx/>
              <a:buSzTx/>
              <a:buFont typeface="Arial" panose="020B0604020202020204" pitchFamily="34" charset="0"/>
              <a:buChar char="•"/>
            </a:pP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基础设施与环境</a:t>
            </a:r>
          </a:p>
          <a:p>
            <a:pPr marL="342900" marR="0" indent="-342900" algn="l" defTabSz="914400" rtl="0" eaLnBrk="1">
              <a:lnSpc>
                <a:spcPct val="100000"/>
              </a:lnSpc>
              <a:spcBef>
                <a:spcPts val="0"/>
              </a:spcBef>
              <a:buClrTx/>
              <a:buSzTx/>
              <a:buFont typeface="Arial" panose="020B0604020202020204" pitchFamily="34" charset="0"/>
              <a:buChar char="•"/>
            </a:pP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人口与劳力</a:t>
            </a:r>
          </a:p>
          <a:p>
            <a:pPr marL="342900" marR="0" indent="-342900" algn="l" defTabSz="914400" rtl="0" eaLnBrk="1">
              <a:lnSpc>
                <a:spcPct val="100000"/>
              </a:lnSpc>
              <a:spcBef>
                <a:spcPts val="0"/>
              </a:spcBef>
              <a:buClrTx/>
              <a:buSzTx/>
              <a:buFont typeface="Arial" panose="020B0604020202020204" pitchFamily="34" charset="0"/>
              <a:buChar char="•"/>
            </a:pPr>
            <a:r>
              <a:rPr lang="zh-CN" altLang="en-US"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生产方式（生产力与生产关系）</a:t>
            </a:r>
          </a:p>
          <a:p>
            <a:pPr marR="0" algn="l" defTabSz="914400" rtl="0" eaLnBrk="1">
              <a:lnSpc>
                <a:spcPct val="100000"/>
              </a:lnSpc>
              <a:spcBef>
                <a:spcPts val="1200"/>
              </a:spcBef>
              <a:buClrTx/>
              <a:buSzTx/>
              <a:buFontTx/>
              <a:buNone/>
            </a:pPr>
            <a:r>
              <a:rPr lang="zh-CN" altLang="en-US" sz="2800" dirty="0">
                <a:solidFill>
                  <a:srgbClr val="C00000"/>
                </a:solidFill>
                <a:latin typeface="微软雅黑" panose="020B0503020204020204" charset="-122"/>
                <a:ea typeface="微软雅黑" panose="020B0503020204020204" charset="-122"/>
                <a:cs typeface="微软雅黑" panose="020B0503020204020204" charset="-122"/>
                <a:sym typeface="+mn-ea"/>
              </a:rPr>
              <a:t>社会意识</a:t>
            </a:r>
            <a:r>
              <a:rPr lang="zh-CN" altLang="en-US" sz="2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：社会生活中精神的、观念的方面。</a:t>
            </a:r>
          </a:p>
          <a:p>
            <a:pPr marR="0" algn="l" defTabSz="914400" rtl="0" eaLnBrk="1">
              <a:lnSpc>
                <a:spcPct val="100000"/>
              </a:lnSpc>
              <a:spcBef>
                <a:spcPts val="0"/>
              </a:spcBef>
              <a:buClrTx/>
              <a:buSzTx/>
              <a:buFontTx/>
              <a:buNone/>
            </a:pPr>
            <a:r>
              <a:rPr lang="zh-CN" altLang="en-US" sz="2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en-US" altLang="zh-CN" sz="2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8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它是人们对社会存在的反映和看法。</a:t>
            </a:r>
            <a:endParaRPr kumimoji="0" lang="zh-CN" altLang="en-US" sz="2800" i="0" u="none" strike="noStrike" cap="none" spc="0" normalizeH="0" baseline="0" dirty="0">
              <a:ln>
                <a:noFill/>
              </a:ln>
              <a:solidFill>
                <a:schemeClr val="tx1">
                  <a:lumMod val="85000"/>
                  <a:lumOff val="15000"/>
                </a:schemeClr>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20" name="圆角矩形 19"/>
          <p:cNvSpPr/>
          <p:nvPr/>
        </p:nvSpPr>
        <p:spPr>
          <a:xfrm>
            <a:off x="3477260" y="4290695"/>
            <a:ext cx="1579245" cy="595630"/>
          </a:xfrm>
          <a:prstGeom prst="roundRect">
            <a:avLst/>
          </a:prstGeom>
          <a:solidFill>
            <a:srgbClr val="414455"/>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1" name="圆角矩形 20"/>
          <p:cNvSpPr/>
          <p:nvPr/>
        </p:nvSpPr>
        <p:spPr>
          <a:xfrm>
            <a:off x="7675880" y="4290695"/>
            <a:ext cx="1579245" cy="595630"/>
          </a:xfrm>
          <a:prstGeom prst="roundRect">
            <a:avLst/>
          </a:prstGeom>
          <a:solidFill>
            <a:srgbClr val="414455"/>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2" name="右箭头 21"/>
          <p:cNvSpPr/>
          <p:nvPr/>
        </p:nvSpPr>
        <p:spPr>
          <a:xfrm>
            <a:off x="5217795" y="4384675"/>
            <a:ext cx="2458085" cy="245745"/>
          </a:xfrm>
          <a:prstGeom prst="rightArrow">
            <a:avLst/>
          </a:prstGeom>
          <a:solidFill>
            <a:srgbClr val="FFFFFF"/>
          </a:solidFill>
          <a:ln w="12700" cap="flat">
            <a:solidFill>
              <a:srgbClr val="414455"/>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3" name="右箭头 22"/>
          <p:cNvSpPr/>
          <p:nvPr/>
        </p:nvSpPr>
        <p:spPr>
          <a:xfrm rot="10800000">
            <a:off x="5165725" y="4624705"/>
            <a:ext cx="2458085" cy="245745"/>
          </a:xfrm>
          <a:prstGeom prst="rightArrow">
            <a:avLst/>
          </a:prstGeom>
          <a:solidFill>
            <a:srgbClr val="FFFFFF"/>
          </a:solidFill>
          <a:ln w="12700" cap="flat">
            <a:solidFill>
              <a:srgbClr val="414455"/>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4" name="文本框 23"/>
          <p:cNvSpPr txBox="1"/>
          <p:nvPr/>
        </p:nvSpPr>
        <p:spPr>
          <a:xfrm>
            <a:off x="3842385" y="4344670"/>
            <a:ext cx="834390" cy="5207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800" b="0" i="0" u="none" strike="noStrike" cap="none" spc="0" normalizeH="0" baseline="0">
                <a:ln>
                  <a:noFill/>
                </a:ln>
                <a:solidFill>
                  <a:schemeClr val="bg1"/>
                </a:solidFill>
                <a:effectLst/>
                <a:uFillTx/>
                <a:latin typeface="微软雅黑" panose="020B0503020204020204" charset="-122"/>
                <a:ea typeface="微软雅黑" panose="020B0503020204020204" charset="-122"/>
                <a:cs typeface="+mn-cs"/>
                <a:sym typeface="Calibri" panose="020F0502020204030204"/>
              </a:rPr>
              <a:t>硬件</a:t>
            </a:r>
          </a:p>
        </p:txBody>
      </p:sp>
      <p:sp>
        <p:nvSpPr>
          <p:cNvPr id="25" name="文本框 24"/>
          <p:cNvSpPr txBox="1"/>
          <p:nvPr/>
        </p:nvSpPr>
        <p:spPr>
          <a:xfrm>
            <a:off x="8050530" y="4344670"/>
            <a:ext cx="834390" cy="5207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800" b="0" i="0" u="none" strike="noStrike" cap="none" spc="0" normalizeH="0" baseline="0">
                <a:ln>
                  <a:noFill/>
                </a:ln>
                <a:solidFill>
                  <a:schemeClr val="bg1"/>
                </a:solidFill>
                <a:effectLst/>
                <a:uFillTx/>
                <a:latin typeface="微软雅黑" panose="020B0503020204020204" charset="-122"/>
                <a:ea typeface="微软雅黑" panose="020B0503020204020204" charset="-122"/>
                <a:cs typeface="+mn-cs"/>
                <a:sym typeface="Calibri" panose="020F0502020204030204"/>
              </a:rPr>
              <a:t>软件</a:t>
            </a:r>
          </a:p>
        </p:txBody>
      </p:sp>
      <p:sp>
        <p:nvSpPr>
          <p:cNvPr id="26" name="文本框 25"/>
          <p:cNvSpPr txBox="1"/>
          <p:nvPr/>
        </p:nvSpPr>
        <p:spPr>
          <a:xfrm>
            <a:off x="6111875" y="4634230"/>
            <a:ext cx="834390" cy="459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400" b="1" i="0" u="none" strike="noStrike" cap="none" spc="0" normalizeH="0" baseline="0">
                <a:ln>
                  <a:noFill/>
                </a:ln>
                <a:solidFill>
                  <a:schemeClr val="tx1"/>
                </a:solidFill>
                <a:effectLst/>
                <a:uFillTx/>
                <a:latin typeface="微软雅黑" panose="020B0503020204020204" charset="-122"/>
                <a:ea typeface="微软雅黑" panose="020B0503020204020204" charset="-122"/>
                <a:cs typeface="+mn-cs"/>
                <a:sym typeface="Calibri" panose="020F0502020204030204"/>
              </a:rPr>
              <a:t>影响</a:t>
            </a:r>
          </a:p>
        </p:txBody>
      </p:sp>
      <p:sp>
        <p:nvSpPr>
          <p:cNvPr id="27" name="文本框 26"/>
          <p:cNvSpPr txBox="1"/>
          <p:nvPr/>
        </p:nvSpPr>
        <p:spPr>
          <a:xfrm>
            <a:off x="6119495" y="4171315"/>
            <a:ext cx="834390" cy="459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400" b="1" i="0" u="none" strike="noStrike" cap="none" spc="0" normalizeH="0" baseline="0">
                <a:ln>
                  <a:noFill/>
                </a:ln>
                <a:solidFill>
                  <a:schemeClr val="tx1"/>
                </a:solidFill>
                <a:effectLst/>
                <a:uFillTx/>
                <a:latin typeface="微软雅黑" panose="020B0503020204020204" charset="-122"/>
                <a:ea typeface="微软雅黑" panose="020B0503020204020204" charset="-122"/>
                <a:cs typeface="+mn-cs"/>
                <a:sym typeface="Calibri" panose="020F0502020204030204"/>
              </a:rPr>
              <a:t>决定</a:t>
            </a:r>
          </a:p>
        </p:txBody>
      </p:sp>
      <p:sp>
        <p:nvSpPr>
          <p:cNvPr id="7" name="文本框 6"/>
          <p:cNvSpPr txBox="1"/>
          <p:nvPr/>
        </p:nvSpPr>
        <p:spPr>
          <a:xfrm>
            <a:off x="2275840" y="5255260"/>
            <a:ext cx="9241246" cy="1200329"/>
          </a:xfrm>
          <a:prstGeom prst="rect">
            <a:avLst/>
          </a:prstGeom>
        </p:spPr>
        <p:txBody>
          <a:bodyPr wrap="square">
            <a:spAutoFit/>
          </a:bodyPr>
          <a:lstStyle/>
          <a:p>
            <a:pPr algn="l" defTabSz="914400" eaLnBrk="0" fontAlgn="base">
              <a:lnSpc>
                <a:spcPct val="100000"/>
              </a:lnSpc>
              <a:spcAft>
                <a:spcPts val="0"/>
              </a:spcAft>
              <a:buNone/>
            </a:pPr>
            <a:r>
              <a:rPr lang="zh-CN" altLang="zh-CN" sz="2400" i="1">
                <a:solidFill>
                  <a:schemeClr val="tx1">
                    <a:lumMod val="65000"/>
                    <a:lumOff val="35000"/>
                  </a:schemeClr>
                </a:solidFill>
                <a:latin typeface="微软雅黑" panose="020B0503020204020204" charset="-122"/>
                <a:ea typeface="微软雅黑" panose="020B0503020204020204" charset="-122"/>
              </a:rPr>
              <a:t>“意识[das Bewuβtsein]在任何时候都只能是被意识到了的存在[das bewuβte Sein]，而人们的存在就是他们的现实生活过程”</a:t>
            </a:r>
            <a:r>
              <a:rPr lang="zh-CN" altLang="en-US" sz="240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i="1">
                <a:solidFill>
                  <a:schemeClr val="tx1">
                    <a:lumMod val="65000"/>
                    <a:lumOff val="35000"/>
                  </a:schemeClr>
                </a:solidFill>
                <a:latin typeface="微软雅黑" panose="020B0503020204020204" charset="-122"/>
                <a:ea typeface="微软雅黑" panose="020B0503020204020204" charset="-122"/>
              </a:rPr>
              <a:t>①</a:t>
            </a:r>
            <a:endParaRPr lang="zh-CN" altLang="zh-CN" sz="2400" i="1">
              <a:solidFill>
                <a:schemeClr val="tx1">
                  <a:lumMod val="65000"/>
                  <a:lumOff val="35000"/>
                </a:schemeClr>
              </a:solidFill>
              <a:latin typeface="微软雅黑" panose="020B0503020204020204" charset="-122"/>
              <a:ea typeface="微软雅黑" panose="020B0503020204020204" charset="-122"/>
            </a:endParaRPr>
          </a:p>
          <a:p>
            <a:pPr algn="r" defTabSz="914400" eaLnBrk="0" fontAlgn="base">
              <a:lnSpc>
                <a:spcPct val="100000"/>
              </a:lnSpc>
              <a:spcAft>
                <a:spcPts val="0"/>
              </a:spcAft>
              <a:buNone/>
            </a:pPr>
            <a:r>
              <a:rPr lang="zh-CN" altLang="zh-CN" sz="2400">
                <a:solidFill>
                  <a:schemeClr val="tx1">
                    <a:lumMod val="65000"/>
                    <a:lumOff val="35000"/>
                  </a:schemeClr>
                </a:solidFill>
                <a:latin typeface="微软雅黑" panose="020B0503020204020204" charset="-122"/>
                <a:ea typeface="微软雅黑" panose="020B0503020204020204" charset="-122"/>
              </a:rPr>
              <a:t>——马克思、恩格斯：《德意志意识形态》</a:t>
            </a:r>
          </a:p>
        </p:txBody>
      </p:sp>
      <p:sp>
        <p:nvSpPr>
          <p:cNvPr id="8" name="矩形 7"/>
          <p:cNvSpPr/>
          <p:nvPr/>
        </p:nvSpPr>
        <p:spPr>
          <a:xfrm>
            <a:off x="2111375" y="5255260"/>
            <a:ext cx="164465" cy="1257935"/>
          </a:xfrm>
          <a:prstGeom prst="rect">
            <a:avLst/>
          </a:prstGeom>
          <a:solidFill>
            <a:schemeClr val="bg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spd="slow" p14:dur="1200">
        <p:wipe/>
      </p:transition>
    </mc:Choice>
    <mc:Fallback xmlns="">
      <p:transition spd="slow">
        <p:wip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7802880" y="4253865"/>
            <a:ext cx="3474720" cy="2354580"/>
          </a:xfrm>
          <a:prstGeom prst="rect">
            <a:avLst/>
          </a:prstGeom>
          <a:solidFill>
            <a:srgbClr val="FFFFFF"/>
          </a:solidFill>
          <a:ln w="38100" cap="flat">
            <a:solidFill>
              <a:srgbClr val="414455"/>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85" name="五边形 8"/>
          <p:cNvSpPr txBox="1">
            <a:spLocks noGrp="1"/>
          </p:cNvSpPr>
          <p:nvPr>
            <p:ph type="sldNum" sz="quarter" idx="2"/>
          </p:nvPr>
        </p:nvSpPr>
        <p:spPr>
          <a:xfrm>
            <a:off x="11337756" y="6003980"/>
            <a:ext cx="860594" cy="396241"/>
          </a:xfrm>
          <a:prstGeom prst="rect">
            <a:avLst/>
          </a:prstGeom>
        </p:spPr>
        <p:txBody>
          <a:bodyPr/>
          <a:lstStyle/>
          <a:p>
            <a:fld id="{86CB4B4D-7CA3-9044-876B-883B54F8677D}" type="slidenum">
              <a:rPr/>
              <a:t>6</a:t>
            </a:fld>
            <a:endParaRPr/>
          </a:p>
        </p:txBody>
      </p:sp>
      <p:sp>
        <p:nvSpPr>
          <p:cNvPr id="5" name="矩形 4"/>
          <p:cNvSpPr/>
          <p:nvPr/>
        </p:nvSpPr>
        <p:spPr>
          <a:xfrm>
            <a:off x="66675" y="4539615"/>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 name="矩形 1"/>
          <p:cNvSpPr/>
          <p:nvPr/>
        </p:nvSpPr>
        <p:spPr>
          <a:xfrm>
            <a:off x="66675" y="3883025"/>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矩形 2"/>
          <p:cNvSpPr/>
          <p:nvPr/>
        </p:nvSpPr>
        <p:spPr>
          <a:xfrm>
            <a:off x="66675" y="303403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4" name="矩形 3"/>
          <p:cNvSpPr/>
          <p:nvPr/>
        </p:nvSpPr>
        <p:spPr>
          <a:xfrm>
            <a:off x="119380" y="1401445"/>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6" name="矩形 5"/>
          <p:cNvSpPr/>
          <p:nvPr/>
        </p:nvSpPr>
        <p:spPr>
          <a:xfrm>
            <a:off x="66675" y="2233295"/>
            <a:ext cx="1511300" cy="499110"/>
          </a:xfrm>
          <a:prstGeom prst="rect">
            <a:avLst/>
          </a:prstGeom>
          <a:solidFill>
            <a:srgbClr val="414455"/>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53" name="文本框 52"/>
          <p:cNvSpPr txBox="1"/>
          <p:nvPr/>
        </p:nvSpPr>
        <p:spPr>
          <a:xfrm>
            <a:off x="-255829" y="2142618"/>
            <a:ext cx="2178821" cy="9207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bg1"/>
                </a:solidFill>
                <a:latin typeface="微软雅黑" panose="020B0503020204020204" charset="-122"/>
                <a:ea typeface="微软雅黑" panose="020B0503020204020204" charset="-122"/>
              </a:rPr>
              <a:t>社会存在</a:t>
            </a:r>
            <a:endParaRPr lang="en-US" altLang="zh-CN">
              <a:solidFill>
                <a:schemeClr val="bg1"/>
              </a:solidFill>
              <a:latin typeface="微软雅黑" panose="020B0503020204020204" charset="-122"/>
              <a:ea typeface="微软雅黑" panose="020B0503020204020204" charset="-122"/>
            </a:endParaRPr>
          </a:p>
          <a:p>
            <a:pPr algn="ctr"/>
            <a:r>
              <a:rPr lang="zh-CN" altLang="en-US">
                <a:solidFill>
                  <a:schemeClr val="bg1"/>
                </a:solidFill>
                <a:latin typeface="微软雅黑" panose="020B0503020204020204" charset="-122"/>
                <a:ea typeface="微软雅黑" panose="020B0503020204020204" charset="-122"/>
              </a:rPr>
              <a:t>与社会意识</a:t>
            </a: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chemeClr val="bg1"/>
              </a:solidFill>
              <a:effectLst/>
              <a:uFillTx/>
              <a:latin typeface="微软雅黑" panose="020B0503020204020204" charset="-122"/>
              <a:ea typeface="微软雅黑" panose="020B0503020204020204" charset="-122"/>
              <a:sym typeface="Calibri" panose="020F0502020204030204"/>
            </a:endParaRPr>
          </a:p>
        </p:txBody>
      </p:sp>
      <p:sp>
        <p:nvSpPr>
          <p:cNvPr id="54" name="文本框 53"/>
          <p:cNvSpPr txBox="1"/>
          <p:nvPr/>
        </p:nvSpPr>
        <p:spPr>
          <a:xfrm>
            <a:off x="-185794" y="2933186"/>
            <a:ext cx="2038752" cy="1197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latin typeface="微软雅黑" panose="020B0503020204020204" charset="-122"/>
                <a:ea typeface="微软雅黑" panose="020B0503020204020204" charset="-122"/>
              </a:rPr>
              <a:t>社会基本矛盾</a:t>
            </a:r>
            <a:endParaRPr lang="en-US" altLang="zh-CN">
              <a:latin typeface="微软雅黑" panose="020B0503020204020204" charset="-122"/>
              <a:ea typeface="微软雅黑" panose="020B0503020204020204" charset="-122"/>
            </a:endParaRPr>
          </a:p>
          <a:p>
            <a:pPr algn="ctr"/>
            <a:r>
              <a:rPr lang="zh-CN" altLang="en-US">
                <a:latin typeface="微软雅黑" panose="020B0503020204020204" charset="-122"/>
                <a:ea typeface="微软雅黑" panose="020B0503020204020204" charset="-122"/>
              </a:rPr>
              <a:t>及其运动规律</a:t>
            </a:r>
          </a:p>
          <a:p>
            <a:pPr algn="ctr"/>
            <a:endParaRPr lang="zh-CN" altLang="en-US">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5" name="文本框 54"/>
          <p:cNvSpPr txBox="1"/>
          <p:nvPr/>
        </p:nvSpPr>
        <p:spPr>
          <a:xfrm>
            <a:off x="-186276" y="3728989"/>
            <a:ext cx="2038752" cy="6438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tx1"/>
                </a:solidFill>
                <a:latin typeface="微软雅黑" panose="020B0503020204020204" charset="-122"/>
                <a:ea typeface="微软雅黑" panose="020B0503020204020204" charset="-122"/>
              </a:rPr>
              <a:t>超越宿命论规律</a:t>
            </a:r>
          </a:p>
          <a:p>
            <a:pPr algn="ctr"/>
            <a:r>
              <a:rPr lang="zh-CN" altLang="en-US">
                <a:solidFill>
                  <a:schemeClr val="tx1"/>
                </a:solidFill>
                <a:latin typeface="微软雅黑" panose="020B0503020204020204" charset="-122"/>
                <a:ea typeface="微软雅黑" panose="020B0503020204020204" charset="-122"/>
              </a:rPr>
              <a:t>与主体能动性</a:t>
            </a:r>
          </a:p>
        </p:txBody>
      </p:sp>
      <p:sp>
        <p:nvSpPr>
          <p:cNvPr id="56" name="文本框 55"/>
          <p:cNvSpPr txBox="1"/>
          <p:nvPr/>
        </p:nvSpPr>
        <p:spPr>
          <a:xfrm>
            <a:off x="554990" y="4634230"/>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a:latin typeface="微软雅黑" panose="020B0503020204020204" charset="-122"/>
                <a:ea typeface="微软雅黑" panose="020B0503020204020204" charset="-122"/>
              </a:rPr>
              <a:t>结论</a:t>
            </a:r>
            <a:endPar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9" name="文本框 8"/>
          <p:cNvSpPr txBox="1"/>
          <p:nvPr/>
        </p:nvSpPr>
        <p:spPr>
          <a:xfrm>
            <a:off x="548640" y="1467485"/>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rPr>
              <a:t>绪论</a:t>
            </a:r>
          </a:p>
        </p:txBody>
      </p:sp>
      <p:sp>
        <p:nvSpPr>
          <p:cNvPr id="15" name="矩形 14"/>
          <p:cNvSpPr/>
          <p:nvPr/>
        </p:nvSpPr>
        <p:spPr>
          <a:xfrm>
            <a:off x="1970405" y="1789430"/>
            <a:ext cx="164465" cy="1533525"/>
          </a:xfrm>
          <a:prstGeom prst="rect">
            <a:avLst/>
          </a:prstGeom>
          <a:solidFill>
            <a:schemeClr val="bg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7" name="文本框 6"/>
          <p:cNvSpPr txBox="1"/>
          <p:nvPr/>
        </p:nvSpPr>
        <p:spPr>
          <a:xfrm>
            <a:off x="1922780" y="1281430"/>
            <a:ext cx="9178290" cy="5207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285750" marR="0" indent="-285750" algn="l" defTabSz="914400" rtl="0" fontAlgn="auto" latinLnBrk="0" hangingPunct="0">
              <a:lnSpc>
                <a:spcPct val="100000"/>
              </a:lnSpc>
              <a:spcBef>
                <a:spcPts val="0"/>
              </a:spcBef>
              <a:spcAft>
                <a:spcPts val="0"/>
              </a:spcAft>
              <a:buClrTx/>
              <a:buSzTx/>
              <a:buFont typeface="Arial" panose="020B0604020202020204" pitchFamily="34" charset="0"/>
              <a:buChar char="•"/>
            </a:pPr>
            <a:r>
              <a:rPr lang="zh-CN" altLang="en-US" sz="2800" b="1">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社会存在决定社会意识</a:t>
            </a:r>
            <a:endParaRPr kumimoji="0" lang="zh-CN" altLang="en-US" sz="2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8" name="文本框 7"/>
          <p:cNvSpPr txBox="1"/>
          <p:nvPr/>
        </p:nvSpPr>
        <p:spPr>
          <a:xfrm>
            <a:off x="2148467" y="367508"/>
            <a:ext cx="9899999" cy="70548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4000" b="1">
                <a:latin typeface="微软雅黑" panose="020B0503020204020204" charset="-122"/>
                <a:ea typeface="微软雅黑" panose="020B0503020204020204" charset="-122"/>
              </a:rPr>
              <a:t>社会存在与社会意识的辩证关系</a:t>
            </a:r>
          </a:p>
        </p:txBody>
      </p:sp>
      <p:sp>
        <p:nvSpPr>
          <p:cNvPr id="12" name="文本框 11"/>
          <p:cNvSpPr txBox="1"/>
          <p:nvPr/>
        </p:nvSpPr>
        <p:spPr>
          <a:xfrm>
            <a:off x="2590800" y="3429000"/>
            <a:ext cx="8565515" cy="5822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3200" b="1" i="0" u="none" strike="noStrike" cap="none" spc="0" normalizeH="0" baseline="0">
                <a:ln>
                  <a:noFill/>
                </a:ln>
                <a:solidFill>
                  <a:srgbClr val="414455"/>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生产力</a:t>
            </a:r>
            <a:r>
              <a:rPr kumimoji="0" lang="en-US" altLang="zh-CN" sz="3200" b="1" i="0" u="none" strike="noStrike" cap="none" spc="0" normalizeH="0" baseline="0">
                <a:ln>
                  <a:noFill/>
                </a:ln>
                <a:solidFill>
                  <a:srgbClr val="414455"/>
                </a:solidFill>
                <a:effectLst/>
                <a:uFillTx/>
                <a:latin typeface="微软雅黑" panose="020B0503020204020204" charset="-122"/>
                <a:ea typeface="微软雅黑" panose="020B0503020204020204" charset="-122"/>
                <a:cs typeface="微软雅黑" panose="020B0503020204020204" charset="-122"/>
                <a:sym typeface="Calibri" panose="020F0502020204030204"/>
              </a:rPr>
              <a:t> </a:t>
            </a:r>
            <a:r>
              <a:rPr kumimoji="0" lang="en-US" altLang="en-US" sz="3200" b="1" i="0" u="none" strike="noStrike" cap="none" spc="0" normalizeH="0" baseline="0">
                <a:ln>
                  <a:noFill/>
                </a:ln>
                <a:solidFill>
                  <a:srgbClr val="414455"/>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3200" b="1" i="0" u="none" strike="noStrike" cap="none" spc="0" normalizeH="0" baseline="0">
                <a:ln>
                  <a:noFill/>
                </a:ln>
                <a:solidFill>
                  <a:srgbClr val="414455"/>
                </a:solidFill>
                <a:effectLst/>
                <a:uFillTx/>
                <a:latin typeface="微软雅黑" panose="020B0503020204020204" charset="-122"/>
                <a:ea typeface="微软雅黑" panose="020B0503020204020204" charset="-122"/>
                <a:cs typeface="微软雅黑" panose="020B0503020204020204" charset="-122"/>
                <a:sym typeface="Calibri" panose="020F0502020204030204"/>
              </a:rPr>
              <a:t> </a:t>
            </a:r>
            <a:r>
              <a:rPr kumimoji="0" lang="zh-CN" altLang="en-US" sz="3200" b="1" i="0" u="none" strike="noStrike" cap="none" spc="0" normalizeH="0" baseline="0">
                <a:ln>
                  <a:noFill/>
                </a:ln>
                <a:solidFill>
                  <a:srgbClr val="414455"/>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生产关系</a:t>
            </a:r>
            <a:r>
              <a:rPr kumimoji="0" lang="en-US" altLang="zh-CN" sz="3200" b="1" i="0" u="none" strike="noStrike" cap="none" spc="0" normalizeH="0" baseline="0">
                <a:ln>
                  <a:noFill/>
                </a:ln>
                <a:solidFill>
                  <a:srgbClr val="414455"/>
                </a:solidFill>
                <a:effectLst/>
                <a:uFillTx/>
                <a:latin typeface="微软雅黑" panose="020B0503020204020204" charset="-122"/>
                <a:ea typeface="微软雅黑" panose="020B0503020204020204" charset="-122"/>
                <a:cs typeface="微软雅黑" panose="020B0503020204020204" charset="-122"/>
                <a:sym typeface="Calibri" panose="020F0502020204030204"/>
              </a:rPr>
              <a:t> </a:t>
            </a:r>
            <a:r>
              <a:rPr kumimoji="0" lang="en-US" altLang="en-US" sz="3200" b="1" i="0" u="none" strike="noStrike" cap="none" spc="0" normalizeH="0" baseline="0">
                <a:ln>
                  <a:noFill/>
                </a:ln>
                <a:solidFill>
                  <a:srgbClr val="414455"/>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3200" b="1" i="0" u="none" strike="noStrike" cap="none" spc="0" normalizeH="0" baseline="0">
                <a:ln>
                  <a:noFill/>
                </a:ln>
                <a:solidFill>
                  <a:srgbClr val="414455"/>
                </a:solidFill>
                <a:effectLst/>
                <a:uFillTx/>
                <a:latin typeface="微软雅黑" panose="020B0503020204020204" charset="-122"/>
                <a:ea typeface="微软雅黑" panose="020B0503020204020204" charset="-122"/>
                <a:cs typeface="微软雅黑" panose="020B0503020204020204" charset="-122"/>
                <a:sym typeface="Calibri" panose="020F0502020204030204"/>
              </a:rPr>
              <a:t> </a:t>
            </a:r>
            <a:r>
              <a:rPr kumimoji="0" lang="zh-CN" altLang="en-US" sz="3200" b="1" i="0" u="none" strike="noStrike" cap="none" spc="0" normalizeH="0" baseline="0">
                <a:ln>
                  <a:noFill/>
                </a:ln>
                <a:solidFill>
                  <a:srgbClr val="414455"/>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经济基础</a:t>
            </a:r>
            <a:r>
              <a:rPr kumimoji="0" lang="en-US" altLang="zh-CN" sz="3200" b="1" i="0" u="none" strike="noStrike" cap="none" spc="0" normalizeH="0" baseline="0">
                <a:ln>
                  <a:noFill/>
                </a:ln>
                <a:solidFill>
                  <a:srgbClr val="414455"/>
                </a:solidFill>
                <a:effectLst/>
                <a:uFillTx/>
                <a:latin typeface="微软雅黑" panose="020B0503020204020204" charset="-122"/>
                <a:ea typeface="微软雅黑" panose="020B0503020204020204" charset="-122"/>
                <a:cs typeface="微软雅黑" panose="020B0503020204020204" charset="-122"/>
                <a:sym typeface="Calibri" panose="020F0502020204030204"/>
              </a:rPr>
              <a:t> </a:t>
            </a:r>
            <a:r>
              <a:rPr kumimoji="0" lang="en-US" altLang="en-US" sz="3200" b="1" i="0" u="none" strike="noStrike" cap="none" spc="0" normalizeH="0" baseline="0">
                <a:ln>
                  <a:noFill/>
                </a:ln>
                <a:solidFill>
                  <a:srgbClr val="414455"/>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3200" b="1" i="0" u="none" strike="noStrike" cap="none" spc="0" normalizeH="0" baseline="0">
                <a:ln>
                  <a:noFill/>
                </a:ln>
                <a:solidFill>
                  <a:srgbClr val="414455"/>
                </a:solidFill>
                <a:effectLst/>
                <a:uFillTx/>
                <a:latin typeface="微软雅黑" panose="020B0503020204020204" charset="-122"/>
                <a:ea typeface="微软雅黑" panose="020B0503020204020204" charset="-122"/>
                <a:cs typeface="微软雅黑" panose="020B0503020204020204" charset="-122"/>
                <a:sym typeface="Calibri" panose="020F0502020204030204"/>
              </a:rPr>
              <a:t> </a:t>
            </a:r>
            <a:r>
              <a:rPr kumimoji="0" lang="zh-CN" altLang="en-US" sz="3200" b="1" i="0" u="none" strike="noStrike" cap="none" spc="0" normalizeH="0" baseline="0">
                <a:ln>
                  <a:noFill/>
                </a:ln>
                <a:solidFill>
                  <a:srgbClr val="414455"/>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上层建筑</a:t>
            </a:r>
          </a:p>
        </p:txBody>
      </p:sp>
      <p:sp>
        <p:nvSpPr>
          <p:cNvPr id="18" name="文本框 17"/>
          <p:cNvSpPr txBox="1"/>
          <p:nvPr/>
        </p:nvSpPr>
        <p:spPr>
          <a:xfrm>
            <a:off x="2154555" y="1753870"/>
            <a:ext cx="9366250" cy="1568450"/>
          </a:xfrm>
          <a:prstGeom prst="rect">
            <a:avLst/>
          </a:prstGeom>
        </p:spPr>
        <p:txBody>
          <a:bodyPr wrap="square">
            <a:spAutoFit/>
          </a:bodyPr>
          <a:lstStyle/>
          <a:p>
            <a:pPr algn="l" defTabSz="914400" eaLnBrk="0" fontAlgn="base">
              <a:lnSpc>
                <a:spcPct val="100000"/>
              </a:lnSpc>
              <a:buNone/>
            </a:pPr>
            <a:r>
              <a:rPr lang="zh-CN" altLang="zh-CN" sz="2400" i="1">
                <a:solidFill>
                  <a:schemeClr val="tx1">
                    <a:lumMod val="65000"/>
                    <a:lumOff val="35000"/>
                  </a:schemeClr>
                </a:solidFill>
                <a:latin typeface="微软雅黑" panose="020B0503020204020204" charset="-122"/>
                <a:ea typeface="微软雅黑" panose="020B0503020204020204" charset="-122"/>
              </a:rPr>
              <a:t>“物质生活的生产方式制约着整个社会生活、政治生活和精神生活的过程。不是人们的意识决定人们的存在，相反，是人们的社会存在决定人们的意识。”</a:t>
            </a:r>
            <a:r>
              <a:rPr lang="zh-CN" altLang="en-US" sz="240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i="1">
                <a:solidFill>
                  <a:schemeClr val="tx1">
                    <a:lumMod val="65000"/>
                    <a:lumOff val="35000"/>
                  </a:schemeClr>
                </a:solidFill>
                <a:latin typeface="微软雅黑" panose="020B0503020204020204" charset="-122"/>
                <a:ea typeface="微软雅黑" panose="020B0503020204020204" charset="-122"/>
              </a:rPr>
              <a:t>②</a:t>
            </a:r>
            <a:endParaRPr lang="zh-CN" altLang="zh-CN" sz="2400" i="1">
              <a:solidFill>
                <a:schemeClr val="tx1">
                  <a:lumMod val="65000"/>
                  <a:lumOff val="35000"/>
                </a:schemeClr>
              </a:solidFill>
              <a:latin typeface="微软雅黑" panose="020B0503020204020204" charset="-122"/>
              <a:ea typeface="微软雅黑" panose="020B0503020204020204" charset="-122"/>
            </a:endParaRPr>
          </a:p>
          <a:p>
            <a:pPr algn="r" defTabSz="914400" eaLnBrk="0" fontAlgn="base">
              <a:lnSpc>
                <a:spcPct val="100000"/>
              </a:lnSpc>
              <a:buNone/>
            </a:pPr>
            <a:r>
              <a:rPr lang="zh-CN" altLang="zh-CN" sz="2400">
                <a:solidFill>
                  <a:schemeClr val="tx1">
                    <a:lumMod val="65000"/>
                    <a:lumOff val="35000"/>
                  </a:schemeClr>
                </a:solidFill>
                <a:latin typeface="微软雅黑" panose="020B0503020204020204" charset="-122"/>
                <a:ea typeface="微软雅黑" panose="020B0503020204020204" charset="-122"/>
              </a:rPr>
              <a:t>——马克思：《〈政治经济学批判〉序言》（1859年）</a:t>
            </a:r>
          </a:p>
        </p:txBody>
      </p:sp>
      <p:sp>
        <p:nvSpPr>
          <p:cNvPr id="23" name="矩形 22"/>
          <p:cNvSpPr/>
          <p:nvPr/>
        </p:nvSpPr>
        <p:spPr>
          <a:xfrm>
            <a:off x="1990090" y="4867275"/>
            <a:ext cx="164465" cy="1859915"/>
          </a:xfrm>
          <a:prstGeom prst="rect">
            <a:avLst/>
          </a:prstGeom>
          <a:solidFill>
            <a:schemeClr val="bg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4" name="文本框 23"/>
          <p:cNvSpPr txBox="1"/>
          <p:nvPr/>
        </p:nvSpPr>
        <p:spPr>
          <a:xfrm>
            <a:off x="2154555" y="4789170"/>
            <a:ext cx="5440680" cy="1938020"/>
          </a:xfrm>
          <a:prstGeom prst="rect">
            <a:avLst/>
          </a:prstGeom>
        </p:spPr>
        <p:txBody>
          <a:bodyPr wrap="square">
            <a:spAutoFit/>
          </a:bodyPr>
          <a:lstStyle/>
          <a:p>
            <a:pPr algn="l" defTabSz="914400" eaLnBrk="0" fontAlgn="base">
              <a:lnSpc>
                <a:spcPct val="100000"/>
              </a:lnSpc>
              <a:spcAft>
                <a:spcPts val="0"/>
              </a:spcAft>
              <a:buNone/>
            </a:pPr>
            <a:r>
              <a:rPr lang="en-US" altLang="zh-CN" sz="2400" i="1">
                <a:solidFill>
                  <a:schemeClr val="tx1">
                    <a:lumMod val="65000"/>
                    <a:lumOff val="35000"/>
                  </a:schemeClr>
                </a:solidFill>
                <a:latin typeface="微软雅黑" panose="020B0503020204020204" charset="-122"/>
                <a:ea typeface="微软雅黑" panose="020B0503020204020204" charset="-122"/>
              </a:rPr>
              <a:t>“</a:t>
            </a:r>
            <a:r>
              <a:rPr lang="zh-CN" altLang="zh-CN" sz="2400" i="1">
                <a:solidFill>
                  <a:schemeClr val="tx1">
                    <a:lumMod val="65000"/>
                    <a:lumOff val="35000"/>
                  </a:schemeClr>
                </a:solidFill>
                <a:latin typeface="微软雅黑" panose="020B0503020204020204" charset="-122"/>
                <a:ea typeface="微软雅黑" panose="020B0503020204020204" charset="-122"/>
              </a:rPr>
              <a:t>人们在自己生活的社会生产中发生一定的…生产关系…这些生产关系的总和构成社会的经济结构…有一定的社会意识形式与之相适应的现实基础。”</a:t>
            </a:r>
            <a:r>
              <a:rPr lang="zh-CN" altLang="en-US" sz="2400" i="1">
                <a:solidFill>
                  <a:schemeClr val="tx1">
                    <a:lumMod val="65000"/>
                    <a:lumOff val="35000"/>
                  </a:schemeClr>
                </a:solidFill>
                <a:latin typeface="微软雅黑" panose="020B0503020204020204" charset="-122"/>
                <a:ea typeface="微软雅黑" panose="020B0503020204020204" charset="-122"/>
              </a:rPr>
              <a:t> ③</a:t>
            </a:r>
            <a:endParaRPr lang="zh-CN" altLang="zh-CN" sz="2400" i="1">
              <a:solidFill>
                <a:schemeClr val="tx1">
                  <a:lumMod val="65000"/>
                  <a:lumOff val="35000"/>
                </a:schemeClr>
              </a:solidFill>
              <a:latin typeface="微软雅黑" panose="020B0503020204020204" charset="-122"/>
              <a:ea typeface="微软雅黑" panose="020B0503020204020204" charset="-122"/>
            </a:endParaRPr>
          </a:p>
          <a:p>
            <a:pPr algn="r" defTabSz="914400" eaLnBrk="0" fontAlgn="base">
              <a:lnSpc>
                <a:spcPct val="100000"/>
              </a:lnSpc>
              <a:spcAft>
                <a:spcPts val="0"/>
              </a:spcAft>
              <a:buNone/>
            </a:pPr>
            <a:r>
              <a:rPr lang="zh-CN" altLang="zh-CN" sz="2400" i="1">
                <a:solidFill>
                  <a:schemeClr val="tx1">
                    <a:lumMod val="65000"/>
                    <a:lumOff val="35000"/>
                  </a:schemeClr>
                </a:solidFill>
                <a:latin typeface="微软雅黑" panose="020B0503020204020204" charset="-122"/>
                <a:ea typeface="微软雅黑" panose="020B0503020204020204" charset="-122"/>
              </a:rPr>
              <a:t>  </a:t>
            </a:r>
            <a:r>
              <a:rPr lang="zh-CN" altLang="zh-CN" sz="2400">
                <a:solidFill>
                  <a:schemeClr val="tx1">
                    <a:lumMod val="65000"/>
                    <a:lumOff val="35000"/>
                  </a:schemeClr>
                </a:solidFill>
                <a:latin typeface="微软雅黑" panose="020B0503020204020204" charset="-122"/>
                <a:ea typeface="微软雅黑" panose="020B0503020204020204" charset="-122"/>
              </a:rPr>
              <a:t>——《马克思恩格斯选集》第2卷</a:t>
            </a:r>
          </a:p>
        </p:txBody>
      </p:sp>
      <p:sp>
        <p:nvSpPr>
          <p:cNvPr id="25" name="文本框 24"/>
          <p:cNvSpPr txBox="1"/>
          <p:nvPr/>
        </p:nvSpPr>
        <p:spPr>
          <a:xfrm>
            <a:off x="1970405" y="4140200"/>
            <a:ext cx="9178290" cy="5207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R="0" algn="l" defTabSz="914400" rtl="0" fontAlgn="auto" latinLnBrk="0" hangingPunct="0">
              <a:lnSpc>
                <a:spcPct val="100000"/>
              </a:lnSpc>
              <a:spcBef>
                <a:spcPts val="0"/>
              </a:spcBef>
              <a:spcAft>
                <a:spcPts val="0"/>
              </a:spcAft>
              <a:buClrTx/>
              <a:buSzTx/>
            </a:pPr>
            <a:r>
              <a:rPr lang="zh-CN" altLang="en-US" sz="2800">
                <a:solidFill>
                  <a:schemeClr val="tx1"/>
                </a:solidFill>
                <a:latin typeface="微软雅黑" panose="020B0503020204020204" charset="-122"/>
                <a:ea typeface="微软雅黑" panose="020B0503020204020204" charset="-122"/>
                <a:cs typeface="宋体" panose="02010600030101010101" pitchFamily="2" charset="-122"/>
                <a:sym typeface="+mn-ea"/>
              </a:rPr>
              <a:t>马克思对历史唯物主义概念的阐述：</a:t>
            </a:r>
          </a:p>
        </p:txBody>
      </p:sp>
      <p:sp>
        <p:nvSpPr>
          <p:cNvPr id="27" name="文本框 26"/>
          <p:cNvSpPr txBox="1"/>
          <p:nvPr/>
        </p:nvSpPr>
        <p:spPr>
          <a:xfrm>
            <a:off x="7802880" y="4253865"/>
            <a:ext cx="3383915" cy="2384425"/>
          </a:xfrm>
          <a:prstGeom prst="rect">
            <a:avLst/>
          </a:prstGeom>
        </p:spPr>
        <p:txBody>
          <a:bodyPr wrap="square">
            <a:spAutoFit/>
          </a:bodyPr>
          <a:lstStyle/>
          <a:p>
            <a:pPr marL="342900" indent="-342900" defTabSz="266700" eaLnBrk="1">
              <a:lnSpc>
                <a:spcPct val="100000"/>
              </a:lnSpc>
              <a:spcAft>
                <a:spcPts val="300"/>
              </a:spcAft>
              <a:buFont typeface="Arial" panose="020B0604020202020204" pitchFamily="34" charset="0"/>
              <a:buChar char="•"/>
            </a:pPr>
            <a:r>
              <a:rPr lang="zh-CN" altLang="en-US" sz="2400">
                <a:latin typeface="等线" panose="02010600030101010101" charset="-122"/>
                <a:ea typeface="等线" panose="02010600030101010101" charset="-122"/>
              </a:rPr>
              <a:t>英国工业革命与工人阶级意识的觉醒</a:t>
            </a:r>
            <a:r>
              <a:rPr lang="en-US" altLang="zh-CN" sz="2400">
                <a:latin typeface="等线" panose="02010600030101010101" charset="-122"/>
                <a:ea typeface="等线" panose="02010600030101010101" charset="-122"/>
              </a:rPr>
              <a:t> </a:t>
            </a:r>
            <a:r>
              <a:rPr lang="zh-CN" altLang="en-US" sz="2400">
                <a:latin typeface="等线" panose="02010600030101010101" charset="-122"/>
                <a:ea typeface="等线" panose="02010600030101010101" charset="-122"/>
              </a:rPr>
              <a:t> </a:t>
            </a:r>
          </a:p>
          <a:p>
            <a:pPr marL="342900" indent="-342900" defTabSz="266700" eaLnBrk="1">
              <a:lnSpc>
                <a:spcPct val="100000"/>
              </a:lnSpc>
              <a:spcAft>
                <a:spcPts val="300"/>
              </a:spcAft>
              <a:buFont typeface="Arial" panose="020B0604020202020204" pitchFamily="34" charset="0"/>
              <a:buChar char="•"/>
            </a:pPr>
            <a:r>
              <a:rPr lang="zh-CN" altLang="en-US" sz="2400">
                <a:latin typeface="等线" panose="02010600030101010101" charset="-122"/>
                <a:ea typeface="等线" panose="02010600030101010101" charset="-122"/>
              </a:rPr>
              <a:t>法国启蒙思想与第三等级的崛起</a:t>
            </a:r>
          </a:p>
          <a:p>
            <a:pPr marL="342900" indent="-342900" defTabSz="266700" eaLnBrk="1">
              <a:lnSpc>
                <a:spcPct val="100000"/>
              </a:lnSpc>
              <a:spcAft>
                <a:spcPts val="300"/>
              </a:spcAft>
              <a:buFont typeface="Arial" panose="020B0604020202020204" pitchFamily="34" charset="0"/>
              <a:buChar char="•"/>
            </a:pPr>
            <a:r>
              <a:rPr lang="zh-CN" altLang="en-US" sz="2400">
                <a:latin typeface="等线" panose="02010600030101010101" charset="-122"/>
                <a:ea typeface="等线" panose="02010600030101010101" charset="-122"/>
              </a:rPr>
              <a:t>改革开放时期的思想解放与观念转变</a:t>
            </a:r>
          </a:p>
        </p:txBody>
      </p:sp>
    </p:spTree>
  </p:cSld>
  <p:clrMapOvr>
    <a:masterClrMapping/>
  </p:clrMapOvr>
  <mc:AlternateContent xmlns:mc="http://schemas.openxmlformats.org/markup-compatibility/2006" xmlns:p14="http://schemas.microsoft.com/office/powerpoint/2010/main">
    <mc:Choice Requires="p14">
      <p:transition spd="slow" p14:dur="1200">
        <p:wipe/>
      </p:transition>
    </mc:Choice>
    <mc:Fallback xmlns="">
      <p:transition spd="slow">
        <p:wip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五边形 8"/>
          <p:cNvSpPr txBox="1">
            <a:spLocks noGrp="1"/>
          </p:cNvSpPr>
          <p:nvPr>
            <p:ph type="sldNum" sz="quarter" idx="2"/>
          </p:nvPr>
        </p:nvSpPr>
        <p:spPr>
          <a:xfrm>
            <a:off x="11337756" y="6003980"/>
            <a:ext cx="860594" cy="396241"/>
          </a:xfrm>
          <a:prstGeom prst="rect">
            <a:avLst/>
          </a:prstGeom>
        </p:spPr>
        <p:txBody>
          <a:bodyPr/>
          <a:lstStyle/>
          <a:p>
            <a:fld id="{86CB4B4D-7CA3-9044-876B-883B54F8677D}" type="slidenum">
              <a:rPr/>
              <a:t>7</a:t>
            </a:fld>
            <a:endParaRPr/>
          </a:p>
        </p:txBody>
      </p:sp>
      <p:sp>
        <p:nvSpPr>
          <p:cNvPr id="5" name="矩形 4"/>
          <p:cNvSpPr/>
          <p:nvPr/>
        </p:nvSpPr>
        <p:spPr>
          <a:xfrm>
            <a:off x="66675" y="4539615"/>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 name="矩形 1"/>
          <p:cNvSpPr/>
          <p:nvPr/>
        </p:nvSpPr>
        <p:spPr>
          <a:xfrm>
            <a:off x="66675" y="3883025"/>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矩形 2"/>
          <p:cNvSpPr/>
          <p:nvPr/>
        </p:nvSpPr>
        <p:spPr>
          <a:xfrm>
            <a:off x="66675" y="303403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4" name="矩形 3"/>
          <p:cNvSpPr/>
          <p:nvPr/>
        </p:nvSpPr>
        <p:spPr>
          <a:xfrm>
            <a:off x="119380" y="1401445"/>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6" name="矩形 5"/>
          <p:cNvSpPr/>
          <p:nvPr/>
        </p:nvSpPr>
        <p:spPr>
          <a:xfrm>
            <a:off x="66675" y="2233295"/>
            <a:ext cx="1511300" cy="499110"/>
          </a:xfrm>
          <a:prstGeom prst="rect">
            <a:avLst/>
          </a:prstGeom>
          <a:solidFill>
            <a:srgbClr val="414455"/>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53" name="文本框 52"/>
          <p:cNvSpPr txBox="1"/>
          <p:nvPr/>
        </p:nvSpPr>
        <p:spPr>
          <a:xfrm>
            <a:off x="-255829" y="2142618"/>
            <a:ext cx="2178821" cy="9207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bg1"/>
                </a:solidFill>
                <a:latin typeface="微软雅黑" panose="020B0503020204020204" charset="-122"/>
                <a:ea typeface="微软雅黑" panose="020B0503020204020204" charset="-122"/>
              </a:rPr>
              <a:t>社会存在</a:t>
            </a:r>
            <a:endParaRPr lang="en-US" altLang="zh-CN">
              <a:solidFill>
                <a:schemeClr val="bg1"/>
              </a:solidFill>
              <a:latin typeface="微软雅黑" panose="020B0503020204020204" charset="-122"/>
              <a:ea typeface="微软雅黑" panose="020B0503020204020204" charset="-122"/>
            </a:endParaRPr>
          </a:p>
          <a:p>
            <a:pPr algn="ctr"/>
            <a:r>
              <a:rPr lang="zh-CN" altLang="en-US">
                <a:solidFill>
                  <a:schemeClr val="bg1"/>
                </a:solidFill>
                <a:latin typeface="微软雅黑" panose="020B0503020204020204" charset="-122"/>
                <a:ea typeface="微软雅黑" panose="020B0503020204020204" charset="-122"/>
              </a:rPr>
              <a:t>与社会意识</a:t>
            </a: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chemeClr val="bg1"/>
              </a:solidFill>
              <a:effectLst/>
              <a:uFillTx/>
              <a:latin typeface="微软雅黑" panose="020B0503020204020204" charset="-122"/>
              <a:ea typeface="微软雅黑" panose="020B0503020204020204" charset="-122"/>
              <a:sym typeface="Calibri" panose="020F0502020204030204"/>
            </a:endParaRPr>
          </a:p>
        </p:txBody>
      </p:sp>
      <p:sp>
        <p:nvSpPr>
          <p:cNvPr id="54" name="文本框 53"/>
          <p:cNvSpPr txBox="1"/>
          <p:nvPr/>
        </p:nvSpPr>
        <p:spPr>
          <a:xfrm>
            <a:off x="-185794" y="2933186"/>
            <a:ext cx="2038752" cy="1197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latin typeface="微软雅黑" panose="020B0503020204020204" charset="-122"/>
                <a:ea typeface="微软雅黑" panose="020B0503020204020204" charset="-122"/>
              </a:rPr>
              <a:t>社会基本矛盾</a:t>
            </a:r>
            <a:endParaRPr lang="en-US" altLang="zh-CN">
              <a:latin typeface="微软雅黑" panose="020B0503020204020204" charset="-122"/>
              <a:ea typeface="微软雅黑" panose="020B0503020204020204" charset="-122"/>
            </a:endParaRPr>
          </a:p>
          <a:p>
            <a:pPr algn="ctr"/>
            <a:r>
              <a:rPr lang="zh-CN" altLang="en-US">
                <a:latin typeface="微软雅黑" panose="020B0503020204020204" charset="-122"/>
                <a:ea typeface="微软雅黑" panose="020B0503020204020204" charset="-122"/>
              </a:rPr>
              <a:t>及其运动规律</a:t>
            </a:r>
          </a:p>
          <a:p>
            <a:pPr algn="ctr"/>
            <a:endParaRPr lang="zh-CN" altLang="en-US">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5" name="文本框 54"/>
          <p:cNvSpPr txBox="1"/>
          <p:nvPr/>
        </p:nvSpPr>
        <p:spPr>
          <a:xfrm>
            <a:off x="-186276" y="3728989"/>
            <a:ext cx="2038752" cy="6438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tx1"/>
                </a:solidFill>
                <a:latin typeface="微软雅黑" panose="020B0503020204020204" charset="-122"/>
                <a:ea typeface="微软雅黑" panose="020B0503020204020204" charset="-122"/>
              </a:rPr>
              <a:t>超越宿命论规律</a:t>
            </a:r>
          </a:p>
          <a:p>
            <a:pPr algn="ctr"/>
            <a:r>
              <a:rPr lang="zh-CN" altLang="en-US">
                <a:solidFill>
                  <a:schemeClr val="tx1"/>
                </a:solidFill>
                <a:latin typeface="微软雅黑" panose="020B0503020204020204" charset="-122"/>
                <a:ea typeface="微软雅黑" panose="020B0503020204020204" charset="-122"/>
              </a:rPr>
              <a:t>与主体能动性</a:t>
            </a:r>
          </a:p>
        </p:txBody>
      </p:sp>
      <p:sp>
        <p:nvSpPr>
          <p:cNvPr id="56" name="文本框 55"/>
          <p:cNvSpPr txBox="1"/>
          <p:nvPr/>
        </p:nvSpPr>
        <p:spPr>
          <a:xfrm>
            <a:off x="554990" y="4634230"/>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a:latin typeface="微软雅黑" panose="020B0503020204020204" charset="-122"/>
                <a:ea typeface="微软雅黑" panose="020B0503020204020204" charset="-122"/>
              </a:rPr>
              <a:t>结论</a:t>
            </a:r>
            <a:endPar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9" name="文本框 8"/>
          <p:cNvSpPr txBox="1"/>
          <p:nvPr/>
        </p:nvSpPr>
        <p:spPr>
          <a:xfrm>
            <a:off x="548640" y="1467485"/>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rPr>
              <a:t>绪论</a:t>
            </a:r>
          </a:p>
        </p:txBody>
      </p:sp>
      <p:sp>
        <p:nvSpPr>
          <p:cNvPr id="10" name="文本框 9"/>
          <p:cNvSpPr txBox="1"/>
          <p:nvPr/>
        </p:nvSpPr>
        <p:spPr>
          <a:xfrm>
            <a:off x="2148205" y="367665"/>
            <a:ext cx="4859020" cy="70548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4000" b="1">
                <a:latin typeface="微软雅黑" panose="020B0503020204020204" charset="-122"/>
                <a:ea typeface="微软雅黑" panose="020B0503020204020204" charset="-122"/>
              </a:rPr>
              <a:t>社会存在与社会意识</a:t>
            </a:r>
          </a:p>
        </p:txBody>
      </p:sp>
      <p:sp>
        <p:nvSpPr>
          <p:cNvPr id="11" name="文本框 10"/>
          <p:cNvSpPr txBox="1"/>
          <p:nvPr/>
        </p:nvSpPr>
        <p:spPr>
          <a:xfrm>
            <a:off x="2321560" y="5123815"/>
            <a:ext cx="9016365" cy="1568450"/>
          </a:xfrm>
          <a:prstGeom prst="rect">
            <a:avLst/>
          </a:prstGeom>
        </p:spPr>
        <p:txBody>
          <a:bodyPr wrap="square">
            <a:spAutoFit/>
          </a:bodyPr>
          <a:lstStyle/>
          <a:p>
            <a:pPr algn="l" defTabSz="914400" eaLnBrk="0" fontAlgn="base">
              <a:lnSpc>
                <a:spcPct val="100000"/>
              </a:lnSpc>
              <a:buNone/>
            </a:pPr>
            <a:r>
              <a:rPr lang="en-US" altLang="zh-CN" sz="2400" i="1">
                <a:solidFill>
                  <a:schemeClr val="tx1">
                    <a:lumMod val="65000"/>
                    <a:lumOff val="35000"/>
                  </a:schemeClr>
                </a:solidFill>
                <a:latin typeface="微软雅黑" panose="020B0503020204020204" charset="-122"/>
                <a:ea typeface="微软雅黑" panose="020B0503020204020204" charset="-122"/>
              </a:rPr>
              <a:t>“</a:t>
            </a:r>
            <a:r>
              <a:rPr lang="zh-CN" altLang="en-US" sz="2400" i="1">
                <a:solidFill>
                  <a:schemeClr val="tx1">
                    <a:lumMod val="65000"/>
                    <a:lumOff val="35000"/>
                  </a:schemeClr>
                </a:solidFill>
                <a:latin typeface="微软雅黑" panose="020B0503020204020204" charset="-122"/>
                <a:ea typeface="微软雅黑" panose="020B0503020204020204" charset="-122"/>
              </a:rPr>
              <a:t>这种历史观和唯心主义历史观不同，它不是在每个时代中寻找某种范畴，而是始终站在现实历史的基础上，不是从观念出发来解释实践，而是从物质实践出发来解释各种观念形态。</a:t>
            </a:r>
            <a:r>
              <a:rPr lang="en-US" altLang="zh-CN" sz="2400" i="1">
                <a:solidFill>
                  <a:schemeClr val="tx1">
                    <a:lumMod val="65000"/>
                    <a:lumOff val="35000"/>
                  </a:schemeClr>
                </a:solidFill>
                <a:latin typeface="微软雅黑" panose="020B0503020204020204" charset="-122"/>
                <a:ea typeface="微软雅黑" panose="020B0503020204020204" charset="-122"/>
              </a:rPr>
              <a:t>”</a:t>
            </a:r>
            <a:r>
              <a:rPr lang="zh-CN" altLang="en-US" sz="2400" kern="10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i="1">
                <a:solidFill>
                  <a:schemeClr val="tx1">
                    <a:lumMod val="65000"/>
                    <a:lumOff val="35000"/>
                  </a:schemeClr>
                </a:solidFill>
                <a:latin typeface="微软雅黑" panose="020B0503020204020204" charset="-122"/>
                <a:ea typeface="微软雅黑" panose="020B0503020204020204" charset="-122"/>
              </a:rPr>
              <a:t>④</a:t>
            </a:r>
            <a:endParaRPr lang="en-US" altLang="zh-CN" sz="2400" i="1">
              <a:solidFill>
                <a:schemeClr val="tx1">
                  <a:lumMod val="65000"/>
                  <a:lumOff val="35000"/>
                </a:schemeClr>
              </a:solidFill>
              <a:latin typeface="微软雅黑" panose="020B0503020204020204" charset="-122"/>
              <a:ea typeface="微软雅黑" panose="020B0503020204020204" charset="-122"/>
            </a:endParaRPr>
          </a:p>
          <a:p>
            <a:pPr algn="r" defTabSz="914400" eaLnBrk="0" fontAlgn="base">
              <a:lnSpc>
                <a:spcPct val="100000"/>
              </a:lnSpc>
              <a:buNone/>
            </a:pPr>
            <a:r>
              <a:rPr lang="en-US" altLang="zh-CN" sz="2400">
                <a:solidFill>
                  <a:schemeClr val="tx1">
                    <a:lumMod val="65000"/>
                    <a:lumOff val="35000"/>
                  </a:schemeClr>
                </a:solidFill>
                <a:latin typeface="微软雅黑" panose="020B0503020204020204" charset="-122"/>
                <a:ea typeface="微软雅黑" panose="020B0503020204020204" charset="-122"/>
              </a:rPr>
              <a:t>——</a:t>
            </a:r>
            <a:r>
              <a:rPr lang="zh-CN" altLang="en-US" sz="2400">
                <a:solidFill>
                  <a:schemeClr val="tx1">
                    <a:lumMod val="65000"/>
                    <a:lumOff val="35000"/>
                  </a:schemeClr>
                </a:solidFill>
                <a:latin typeface="微软雅黑" panose="020B0503020204020204" charset="-122"/>
                <a:ea typeface="微软雅黑" panose="020B0503020204020204" charset="-122"/>
              </a:rPr>
              <a:t>马克思、恩格斯：《德意志意识形态》</a:t>
            </a:r>
          </a:p>
        </p:txBody>
      </p:sp>
      <p:sp>
        <p:nvSpPr>
          <p:cNvPr id="16" name="矩形 15"/>
          <p:cNvSpPr/>
          <p:nvPr/>
        </p:nvSpPr>
        <p:spPr>
          <a:xfrm>
            <a:off x="2118360" y="5123815"/>
            <a:ext cx="158115" cy="1568450"/>
          </a:xfrm>
          <a:prstGeom prst="rect">
            <a:avLst/>
          </a:prstGeom>
          <a:solidFill>
            <a:schemeClr val="bg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3" name="文本框 12"/>
          <p:cNvSpPr txBox="1"/>
          <p:nvPr/>
        </p:nvSpPr>
        <p:spPr>
          <a:xfrm>
            <a:off x="2021205" y="4539615"/>
            <a:ext cx="5763260" cy="5207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n-cs"/>
                <a:sym typeface="Calibri" panose="020F0502020204030204"/>
              </a:rPr>
              <a:t>唯物史观与唯心史观的根本区别：</a:t>
            </a:r>
          </a:p>
        </p:txBody>
      </p:sp>
      <p:sp>
        <p:nvSpPr>
          <p:cNvPr id="19" name="文本框 18"/>
          <p:cNvSpPr txBox="1"/>
          <p:nvPr/>
        </p:nvSpPr>
        <p:spPr>
          <a:xfrm>
            <a:off x="1922780" y="1313815"/>
            <a:ext cx="8865870" cy="5207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285750" marR="0" indent="-285750" algn="l" defTabSz="914400" rtl="0" fontAlgn="auto" latinLnBrk="0" hangingPunct="0">
              <a:lnSpc>
                <a:spcPct val="100000"/>
              </a:lnSpc>
              <a:spcBef>
                <a:spcPts val="0"/>
              </a:spcBef>
              <a:spcAft>
                <a:spcPts val="0"/>
              </a:spcAft>
              <a:buClrTx/>
              <a:buSzTx/>
              <a:buFont typeface="Arial" panose="020B0604020202020204" pitchFamily="34" charset="0"/>
              <a:buChar char="•"/>
            </a:pPr>
            <a:r>
              <a:rPr lang="zh-CN" altLang="en-US" sz="2800" b="1">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社会意识具有相对独立性，并反作用于社会存在</a:t>
            </a:r>
            <a:endParaRPr kumimoji="0" lang="zh-CN" altLang="en-US" sz="2800" b="1" i="0" u="none" strike="noStrike" cap="none" spc="0" normalizeH="0" baseline="0">
              <a:ln>
                <a:noFill/>
              </a:ln>
              <a:solidFill>
                <a:srgbClr val="C00000"/>
              </a:solidFill>
              <a:effectLst/>
              <a:uFillTx/>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8" name="文本框 17"/>
          <p:cNvSpPr txBox="1"/>
          <p:nvPr/>
        </p:nvSpPr>
        <p:spPr>
          <a:xfrm>
            <a:off x="2321560" y="1848485"/>
            <a:ext cx="9411970" cy="2676525"/>
          </a:xfrm>
          <a:prstGeom prst="rect">
            <a:avLst/>
          </a:prstGeom>
        </p:spPr>
        <p:txBody>
          <a:bodyPr wrap="square">
            <a:spAutoFit/>
          </a:bodyPr>
          <a:lstStyle/>
          <a:p>
            <a:pPr defTabSz="266700"/>
            <a:r>
              <a:rPr lang="zh-CN" altLang="en-US" sz="2400">
                <a:latin typeface="等线" panose="02010600030101010101" charset="-122"/>
                <a:ea typeface="等线" panose="02010600030101010101" charset="-122"/>
              </a:rPr>
              <a:t>例</a:t>
            </a:r>
            <a:r>
              <a:rPr lang="en-US" altLang="zh-CN" sz="2400">
                <a:latin typeface="等线" panose="02010600030101010101" charset="-122"/>
                <a:ea typeface="等线" panose="02010600030101010101" charset="-122"/>
              </a:rPr>
              <a:t> · </a:t>
            </a:r>
            <a:r>
              <a:rPr lang="zh-CN" altLang="en-US" sz="2400">
                <a:latin typeface="等线" panose="02010600030101010101" charset="-122"/>
                <a:ea typeface="等线" panose="02010600030101010101" charset="-122"/>
              </a:rPr>
              <a:t>新文化运动</a:t>
            </a:r>
          </a:p>
          <a:p>
            <a:pPr indent="609600" defTabSz="266700" eaLnBrk="1">
              <a:extLst>
                <a:ext uri="{35155182-B16C-46BC-9424-99874614C6A1}">
                  <wpsdc:indentchars xmlns:wpsdc="http://www.wps.cn/officeDocument/2017/drawingmlCustomData" xmlns="" val="200" checksum="4158780845"/>
                </a:ext>
              </a:extLst>
            </a:pPr>
            <a:r>
              <a:rPr lang="en-US" altLang="zh-CN" sz="2400">
                <a:latin typeface="等线" panose="02010600030101010101" charset="-122"/>
                <a:ea typeface="等线" panose="02010600030101010101" charset="-122"/>
              </a:rPr>
              <a:t>19</a:t>
            </a:r>
            <a:r>
              <a:rPr lang="zh-CN" altLang="en-US" sz="2400">
                <a:latin typeface="等线" panose="02010600030101010101" charset="-122"/>
                <a:ea typeface="等线" panose="02010600030101010101" charset="-122"/>
              </a:rPr>
              <a:t>世纪末</a:t>
            </a:r>
            <a:r>
              <a:rPr lang="en-US" altLang="zh-CN" sz="2400">
                <a:latin typeface="等线" panose="02010600030101010101" charset="-122"/>
                <a:ea typeface="等线" panose="02010600030101010101" charset="-122"/>
              </a:rPr>
              <a:t>20</a:t>
            </a:r>
            <a:r>
              <a:rPr lang="zh-CN" altLang="en-US" sz="2400">
                <a:latin typeface="等线" panose="02010600030101010101" charset="-122"/>
                <a:ea typeface="等线" panose="02010600030101010101" charset="-122"/>
              </a:rPr>
              <a:t>世纪初，中国在西方列强的冲击下，传统农业社会结构逐步解体，民族资本主义开始萌芽并有所发展。然而封建专制制度和传统礼教仍然束缚着社会进步。</a:t>
            </a:r>
            <a:r>
              <a:rPr lang="en-US" altLang="zh-CN" sz="2400">
                <a:latin typeface="等线" panose="02010600030101010101" charset="-122"/>
                <a:ea typeface="等线" panose="02010600030101010101" charset="-122"/>
              </a:rPr>
              <a:t>1915</a:t>
            </a:r>
            <a:r>
              <a:rPr lang="zh-CN" altLang="en-US" sz="2400">
                <a:latin typeface="等线" panose="02010600030101010101" charset="-122"/>
                <a:ea typeface="等线" panose="02010600030101010101" charset="-122"/>
              </a:rPr>
              <a:t>年，以陈独秀、李大钊、胡适、鲁迅等为代表的知识分子发起新文化运动，提倡民主与科学，反对封建礼教和旧道德，倡导白话文运动。新文化运动为马克思主义在中国的传播奠定了思想基础，也为五四运动的爆发作了思想准备。</a:t>
            </a:r>
          </a:p>
        </p:txBody>
      </p:sp>
      <p:sp>
        <p:nvSpPr>
          <p:cNvPr id="20" name="矩形 19"/>
          <p:cNvSpPr/>
          <p:nvPr/>
        </p:nvSpPr>
        <p:spPr>
          <a:xfrm>
            <a:off x="2118995" y="1914525"/>
            <a:ext cx="157480" cy="2545080"/>
          </a:xfrm>
          <a:prstGeom prst="rect">
            <a:avLst/>
          </a:prstGeom>
          <a:solidFill>
            <a:schemeClr val="bg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spd="slow" p14:dur="1200">
        <p:wipe/>
      </p:transition>
    </mc:Choice>
    <mc:Fallback xmlns="">
      <p:transition spd="slow">
        <p:wip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5" name="圆角矩形 4"/>
          <p:cNvGrpSpPr/>
          <p:nvPr>
            <p:custDataLst>
              <p:tags r:id="rId1"/>
            </p:custDataLst>
          </p:nvPr>
        </p:nvGrpSpPr>
        <p:grpSpPr>
          <a:xfrm>
            <a:off x="6000248" y="1612745"/>
            <a:ext cx="506413" cy="574041"/>
            <a:chOff x="0" y="0"/>
            <a:chExt cx="506412" cy="574040"/>
          </a:xfrm>
        </p:grpSpPr>
        <p:sp>
          <p:nvSpPr>
            <p:cNvPr id="473" name="圆角矩形"/>
            <p:cNvSpPr/>
            <p:nvPr>
              <p:custDataLst>
                <p:tags r:id="rId15"/>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474" name="1"/>
            <p:cNvSpPr txBox="1"/>
            <p:nvPr>
              <p:custDataLst>
                <p:tags r:id="rId16"/>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1</a:t>
              </a:r>
            </a:p>
          </p:txBody>
        </p:sp>
      </p:grpSp>
      <p:sp>
        <p:nvSpPr>
          <p:cNvPr id="476" name="矩形 5"/>
          <p:cNvSpPr txBox="1"/>
          <p:nvPr>
            <p:custDataLst>
              <p:tags r:id="rId2"/>
            </p:custDataLst>
          </p:nvPr>
        </p:nvSpPr>
        <p:spPr>
          <a:xfrm>
            <a:off x="6850781" y="1707717"/>
            <a:ext cx="561341" cy="408941"/>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绪论</a:t>
            </a:r>
          </a:p>
        </p:txBody>
      </p:sp>
      <p:grpSp>
        <p:nvGrpSpPr>
          <p:cNvPr id="479" name="圆角矩形 6"/>
          <p:cNvGrpSpPr/>
          <p:nvPr>
            <p:custDataLst>
              <p:tags r:id="rId3"/>
            </p:custDataLst>
          </p:nvPr>
        </p:nvGrpSpPr>
        <p:grpSpPr>
          <a:xfrm>
            <a:off x="6000248" y="2366807"/>
            <a:ext cx="506413" cy="574041"/>
            <a:chOff x="0" y="0"/>
            <a:chExt cx="506412" cy="574040"/>
          </a:xfrm>
        </p:grpSpPr>
        <p:sp>
          <p:nvSpPr>
            <p:cNvPr id="477" name="圆角矩形"/>
            <p:cNvSpPr/>
            <p:nvPr>
              <p:custDataLst>
                <p:tags r:id="rId13"/>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478" name="2"/>
            <p:cNvSpPr txBox="1"/>
            <p:nvPr>
              <p:custDataLst>
                <p:tags r:id="rId14"/>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2</a:t>
              </a:r>
            </a:p>
          </p:txBody>
        </p:sp>
      </p:grpSp>
      <p:grpSp>
        <p:nvGrpSpPr>
          <p:cNvPr id="483" name="圆角矩形 8"/>
          <p:cNvGrpSpPr/>
          <p:nvPr>
            <p:custDataLst>
              <p:tags r:id="rId4"/>
            </p:custDataLst>
          </p:nvPr>
        </p:nvGrpSpPr>
        <p:grpSpPr>
          <a:xfrm>
            <a:off x="6000248" y="3120870"/>
            <a:ext cx="506413" cy="574041"/>
            <a:chOff x="0" y="0"/>
            <a:chExt cx="506412" cy="574040"/>
          </a:xfrm>
        </p:grpSpPr>
        <p:sp>
          <p:nvSpPr>
            <p:cNvPr id="481" name="圆角矩形"/>
            <p:cNvSpPr/>
            <p:nvPr>
              <p:custDataLst>
                <p:tags r:id="rId11"/>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482" name="3"/>
            <p:cNvSpPr txBox="1"/>
            <p:nvPr>
              <p:custDataLst>
                <p:tags r:id="rId12"/>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3</a:t>
              </a:r>
            </a:p>
          </p:txBody>
        </p:sp>
      </p:grpSp>
      <p:grpSp>
        <p:nvGrpSpPr>
          <p:cNvPr id="487" name="圆角矩形 10"/>
          <p:cNvGrpSpPr/>
          <p:nvPr>
            <p:custDataLst>
              <p:tags r:id="rId5"/>
            </p:custDataLst>
          </p:nvPr>
        </p:nvGrpSpPr>
        <p:grpSpPr>
          <a:xfrm>
            <a:off x="6000248" y="3874932"/>
            <a:ext cx="506413" cy="574041"/>
            <a:chOff x="0" y="0"/>
            <a:chExt cx="506412" cy="574040"/>
          </a:xfrm>
        </p:grpSpPr>
        <p:sp>
          <p:nvSpPr>
            <p:cNvPr id="485" name="圆角矩形"/>
            <p:cNvSpPr/>
            <p:nvPr>
              <p:custDataLst>
                <p:tags r:id="rId9"/>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486" name="4"/>
            <p:cNvSpPr txBox="1"/>
            <p:nvPr>
              <p:custDataLst>
                <p:tags r:id="rId10"/>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4</a:t>
              </a:r>
            </a:p>
          </p:txBody>
        </p:sp>
      </p:grpSp>
      <p:grpSp>
        <p:nvGrpSpPr>
          <p:cNvPr id="491" name="圆角矩形 12"/>
          <p:cNvGrpSpPr/>
          <p:nvPr>
            <p:custDataLst>
              <p:tags r:id="rId6"/>
            </p:custDataLst>
          </p:nvPr>
        </p:nvGrpSpPr>
        <p:grpSpPr>
          <a:xfrm>
            <a:off x="6000248" y="4628994"/>
            <a:ext cx="506413" cy="574041"/>
            <a:chOff x="0" y="0"/>
            <a:chExt cx="506412" cy="574040"/>
          </a:xfrm>
        </p:grpSpPr>
        <p:sp>
          <p:nvSpPr>
            <p:cNvPr id="489" name="圆角矩形"/>
            <p:cNvSpPr/>
            <p:nvPr>
              <p:custDataLst>
                <p:tags r:id="rId7"/>
              </p:custDataLst>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490" name="5"/>
            <p:cNvSpPr txBox="1"/>
            <p:nvPr>
              <p:custDataLst>
                <p:tags r:id="rId8"/>
              </p:custDataLst>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5</a:t>
              </a:r>
            </a:p>
          </p:txBody>
        </p:sp>
      </p:grpSp>
      <p:grpSp>
        <p:nvGrpSpPr>
          <p:cNvPr id="495" name="矩形 33"/>
          <p:cNvGrpSpPr/>
          <p:nvPr/>
        </p:nvGrpSpPr>
        <p:grpSpPr>
          <a:xfrm>
            <a:off x="0" y="0"/>
            <a:ext cx="3721100" cy="6858000"/>
            <a:chOff x="0" y="0"/>
            <a:chExt cx="3721100" cy="6858000"/>
          </a:xfrm>
        </p:grpSpPr>
        <p:sp>
          <p:nvSpPr>
            <p:cNvPr id="493" name="矩形"/>
            <p:cNvSpPr/>
            <p:nvPr/>
          </p:nvSpPr>
          <p:spPr>
            <a:xfrm>
              <a:off x="0" y="0"/>
              <a:ext cx="3721100" cy="6858000"/>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sz="24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pPr>
              <a:endParaRPr/>
            </a:p>
          </p:txBody>
        </p:sp>
        <p:sp>
          <p:nvSpPr>
            <p:cNvPr id="494" name="文本"/>
            <p:cNvSpPr txBox="1"/>
            <p:nvPr/>
          </p:nvSpPr>
          <p:spPr>
            <a:xfrm>
              <a:off x="0" y="3156962"/>
              <a:ext cx="3721100" cy="544076"/>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          </a:t>
              </a:r>
            </a:p>
          </p:txBody>
        </p:sp>
      </p:grpSp>
      <p:sp>
        <p:nvSpPr>
          <p:cNvPr id="496" name="矩形 34"/>
          <p:cNvSpPr txBox="1"/>
          <p:nvPr/>
        </p:nvSpPr>
        <p:spPr>
          <a:xfrm>
            <a:off x="1073628" y="1308115"/>
            <a:ext cx="2013420" cy="1259841"/>
          </a:xfrm>
          <a:prstGeom prst="rect">
            <a:avLst/>
          </a:prstGeom>
          <a:ln w="12700">
            <a:miter lim="400000"/>
          </a:ln>
        </p:spPr>
        <p:txBody>
          <a:bodyPr wrap="none" lIns="45719" rIns="45719">
            <a:spAutoFit/>
          </a:bodyPr>
          <a:lstStyle>
            <a:lvl1pPr algn="ctr">
              <a:defRPr sz="66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lvl1pPr>
          </a:lstStyle>
          <a:p>
            <a:r>
              <a:t>目 录</a:t>
            </a:r>
          </a:p>
        </p:txBody>
      </p:sp>
      <p:sp>
        <p:nvSpPr>
          <p:cNvPr id="497" name="矩形 35"/>
          <p:cNvSpPr txBox="1"/>
          <p:nvPr/>
        </p:nvSpPr>
        <p:spPr>
          <a:xfrm>
            <a:off x="1305756" y="2593370"/>
            <a:ext cx="1549163" cy="544077"/>
          </a:xfrm>
          <a:prstGeom prst="rect">
            <a:avLst/>
          </a:prstGeom>
          <a:ln w="12700">
            <a:miter lim="400000"/>
          </a:ln>
        </p:spPr>
        <p:txBody>
          <a:bodyPr wrap="none" lIns="45719" rIns="45719">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Contents</a:t>
            </a:r>
          </a:p>
        </p:txBody>
      </p:sp>
      <p:grpSp>
        <p:nvGrpSpPr>
          <p:cNvPr id="30" name="组合 14"/>
          <p:cNvGrpSpPr/>
          <p:nvPr/>
        </p:nvGrpSpPr>
        <p:grpSpPr>
          <a:xfrm>
            <a:off x="4920559" y="3077210"/>
            <a:ext cx="703580" cy="703580"/>
            <a:chOff x="0" y="0"/>
            <a:chExt cx="703578" cy="703578"/>
          </a:xfrm>
        </p:grpSpPr>
        <p:sp>
          <p:nvSpPr>
            <p:cNvPr id="31" name="泪滴形 15"/>
            <p:cNvSpPr/>
            <p:nvPr/>
          </p:nvSpPr>
          <p:spPr>
            <a:xfrm rot="8247616">
              <a:off x="102807" y="102807"/>
              <a:ext cx="497965" cy="49796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0062AC"/>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32" name="椭圆 16"/>
            <p:cNvSpPr/>
            <p:nvPr/>
          </p:nvSpPr>
          <p:spPr>
            <a:xfrm>
              <a:off x="150556" y="147060"/>
              <a:ext cx="398631" cy="398631"/>
            </a:xfrm>
            <a:prstGeom prst="ellipse">
              <a:avLst/>
            </a:prstGeom>
            <a:solidFill>
              <a:srgbClr val="FFFFFF"/>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grpSp>
      <p:sp>
        <p:nvSpPr>
          <p:cNvPr id="640" name="矩形 7"/>
          <p:cNvSpPr txBox="1"/>
          <p:nvPr/>
        </p:nvSpPr>
        <p:spPr>
          <a:xfrm>
            <a:off x="6850313" y="2468685"/>
            <a:ext cx="2169823"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社会存在与社会意识</a:t>
            </a:r>
          </a:p>
        </p:txBody>
      </p:sp>
      <p:sp>
        <p:nvSpPr>
          <p:cNvPr id="33" name="矩形 7"/>
          <p:cNvSpPr txBox="1"/>
          <p:nvPr/>
        </p:nvSpPr>
        <p:spPr>
          <a:xfrm>
            <a:off x="6858126" y="3223224"/>
            <a:ext cx="2868773" cy="923330"/>
          </a:xfrm>
          <a:prstGeom prst="rect">
            <a:avLst/>
          </a:prstGeom>
          <a:ln w="12700">
            <a:miter lim="400000"/>
          </a:ln>
        </p:spPr>
        <p:txBody>
          <a:bodyPr wrap="squar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ctr"/>
            <a:r>
              <a:rPr lang="zh-CN" altLang="en-US" sz="1800"/>
              <a:t>社会基本矛盾及其运动规律</a:t>
            </a:r>
          </a:p>
          <a:p>
            <a:pPr algn="ctr"/>
            <a:endParaRPr lang="zh-CN" altLang="en-US" sz="1800">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sz="180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648" name="矩形 11"/>
          <p:cNvSpPr txBox="1"/>
          <p:nvPr/>
        </p:nvSpPr>
        <p:spPr>
          <a:xfrm>
            <a:off x="6847592" y="4007141"/>
            <a:ext cx="3593289"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超越宿命论</a:t>
            </a:r>
            <a:r>
              <a:rPr lang="en-US" altLang="zh-CN"/>
              <a:t>——</a:t>
            </a:r>
            <a:r>
              <a:rPr lang="zh-CN" altLang="en-US"/>
              <a:t>规律与主体能动性</a:t>
            </a:r>
          </a:p>
        </p:txBody>
      </p:sp>
      <p:sp>
        <p:nvSpPr>
          <p:cNvPr id="652" name="矩形 13"/>
          <p:cNvSpPr txBox="1"/>
          <p:nvPr/>
        </p:nvSpPr>
        <p:spPr>
          <a:xfrm>
            <a:off x="6858126" y="4731348"/>
            <a:ext cx="553996"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结论</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0.000000 0.000000 L 0.000000 0.106022" pathEditMode="relative">
                                      <p:cBhvr>
                                        <p:cTn id="6" dur="1000" fill="hold"/>
                                        <p:tgtEl>
                                          <p:spTgt spid="3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6638290" y="4536440"/>
            <a:ext cx="5499100" cy="1721485"/>
          </a:xfrm>
          <a:prstGeom prst="rect">
            <a:avLst/>
          </a:prstGeom>
          <a:solidFill>
            <a:srgbClr val="414455"/>
          </a:solidFill>
          <a:ln w="38100" cap="flat">
            <a:solidFill>
              <a:srgbClr val="414455"/>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502" name="五边形 8"/>
          <p:cNvSpPr txBox="1">
            <a:spLocks noGrp="1"/>
          </p:cNvSpPr>
          <p:nvPr>
            <p:ph type="sldNum" sz="quarter" idx="2"/>
          </p:nvPr>
        </p:nvSpPr>
        <p:spPr>
          <a:xfrm>
            <a:off x="11337756" y="6003980"/>
            <a:ext cx="860594" cy="396241"/>
          </a:xfrm>
          <a:prstGeom prst="rect">
            <a:avLst/>
          </a:prstGeom>
        </p:spPr>
        <p:txBody>
          <a:bodyPr/>
          <a:lstStyle/>
          <a:p>
            <a:fld id="{86CB4B4D-7CA3-9044-876B-883B54F8677D}" type="slidenum">
              <a:rPr/>
              <a:t>9</a:t>
            </a:fld>
            <a:endParaRPr/>
          </a:p>
        </p:txBody>
      </p:sp>
      <p:sp>
        <p:nvSpPr>
          <p:cNvPr id="4" name="矩形 3"/>
          <p:cNvSpPr/>
          <p:nvPr/>
        </p:nvSpPr>
        <p:spPr>
          <a:xfrm>
            <a:off x="119380" y="1401445"/>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 name="矩形 1"/>
          <p:cNvSpPr/>
          <p:nvPr/>
        </p:nvSpPr>
        <p:spPr>
          <a:xfrm>
            <a:off x="123825" y="222123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矩形 2"/>
          <p:cNvSpPr/>
          <p:nvPr/>
        </p:nvSpPr>
        <p:spPr>
          <a:xfrm>
            <a:off x="123825" y="381254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5" name="矩形 4"/>
          <p:cNvSpPr/>
          <p:nvPr/>
        </p:nvSpPr>
        <p:spPr>
          <a:xfrm>
            <a:off x="67945" y="461137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6" name="矩形 5"/>
          <p:cNvSpPr/>
          <p:nvPr/>
        </p:nvSpPr>
        <p:spPr>
          <a:xfrm>
            <a:off x="67945" y="3006725"/>
            <a:ext cx="1511300" cy="499110"/>
          </a:xfrm>
          <a:prstGeom prst="rect">
            <a:avLst/>
          </a:prstGeom>
          <a:solidFill>
            <a:srgbClr val="414455"/>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9" name="文本框 8"/>
          <p:cNvSpPr txBox="1"/>
          <p:nvPr/>
        </p:nvSpPr>
        <p:spPr>
          <a:xfrm>
            <a:off x="548640" y="1467485"/>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rPr>
              <a:t>绪论</a:t>
            </a:r>
          </a:p>
        </p:txBody>
      </p:sp>
      <p:sp>
        <p:nvSpPr>
          <p:cNvPr id="53" name="文本框 52"/>
          <p:cNvSpPr txBox="1"/>
          <p:nvPr/>
        </p:nvSpPr>
        <p:spPr>
          <a:xfrm>
            <a:off x="-255829" y="2142618"/>
            <a:ext cx="2178821" cy="9207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tx1"/>
                </a:solidFill>
                <a:latin typeface="微软雅黑" panose="020B0503020204020204" charset="-122"/>
                <a:ea typeface="微软雅黑" panose="020B0503020204020204" charset="-122"/>
              </a:rPr>
              <a:t>社会存在</a:t>
            </a:r>
            <a:endParaRPr lang="en-US" altLang="zh-CN">
              <a:solidFill>
                <a:schemeClr val="tx1"/>
              </a:solidFill>
              <a:latin typeface="微软雅黑" panose="020B0503020204020204" charset="-122"/>
              <a:ea typeface="微软雅黑" panose="020B0503020204020204" charset="-122"/>
            </a:endParaRPr>
          </a:p>
          <a:p>
            <a:pPr algn="ctr"/>
            <a:r>
              <a:rPr lang="zh-CN" altLang="en-US">
                <a:solidFill>
                  <a:schemeClr val="tx1"/>
                </a:solidFill>
                <a:latin typeface="微软雅黑" panose="020B0503020204020204" charset="-122"/>
                <a:ea typeface="微软雅黑" panose="020B0503020204020204" charset="-122"/>
              </a:rPr>
              <a:t>与社会意识</a:t>
            </a: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chemeClr val="tx1"/>
              </a:solidFill>
              <a:effectLst/>
              <a:uFillTx/>
              <a:latin typeface="微软雅黑" panose="020B0503020204020204" charset="-122"/>
              <a:ea typeface="微软雅黑" panose="020B0503020204020204" charset="-122"/>
              <a:sym typeface="Calibri" panose="020F0502020204030204"/>
            </a:endParaRPr>
          </a:p>
        </p:txBody>
      </p:sp>
      <p:sp>
        <p:nvSpPr>
          <p:cNvPr id="54" name="文本框 53"/>
          <p:cNvSpPr txBox="1"/>
          <p:nvPr/>
        </p:nvSpPr>
        <p:spPr>
          <a:xfrm>
            <a:off x="-185794" y="2933186"/>
            <a:ext cx="2038752" cy="1197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bg1"/>
                </a:solidFill>
                <a:latin typeface="微软雅黑" panose="020B0503020204020204" charset="-122"/>
                <a:ea typeface="微软雅黑" panose="020B0503020204020204" charset="-122"/>
              </a:rPr>
              <a:t>社会基本矛盾</a:t>
            </a:r>
            <a:endParaRPr lang="en-US" altLang="zh-CN">
              <a:solidFill>
                <a:schemeClr val="bg1"/>
              </a:solidFill>
              <a:latin typeface="微软雅黑" panose="020B0503020204020204" charset="-122"/>
              <a:ea typeface="微软雅黑" panose="020B0503020204020204" charset="-122"/>
            </a:endParaRPr>
          </a:p>
          <a:p>
            <a:pPr algn="ctr"/>
            <a:r>
              <a:rPr lang="zh-CN" altLang="en-US">
                <a:solidFill>
                  <a:schemeClr val="bg1"/>
                </a:solidFill>
                <a:latin typeface="微软雅黑" panose="020B0503020204020204" charset="-122"/>
                <a:ea typeface="微软雅黑" panose="020B0503020204020204" charset="-122"/>
              </a:rPr>
              <a:t>及其运动规律</a:t>
            </a:r>
          </a:p>
          <a:p>
            <a:pPr algn="ctr"/>
            <a:endParaRPr lang="zh-CN" altLang="en-US">
              <a:solidFill>
                <a:schemeClr val="bg1"/>
              </a:solidFill>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chemeClr val="bg1"/>
              </a:solidFill>
              <a:effectLst/>
              <a:uFillTx/>
              <a:latin typeface="微软雅黑" panose="020B0503020204020204" charset="-122"/>
              <a:ea typeface="微软雅黑" panose="020B0503020204020204" charset="-122"/>
              <a:sym typeface="Calibri" panose="020F0502020204030204"/>
            </a:endParaRPr>
          </a:p>
        </p:txBody>
      </p:sp>
      <p:sp>
        <p:nvSpPr>
          <p:cNvPr id="55" name="文本框 54"/>
          <p:cNvSpPr txBox="1"/>
          <p:nvPr/>
        </p:nvSpPr>
        <p:spPr>
          <a:xfrm>
            <a:off x="-186276" y="3728989"/>
            <a:ext cx="2038752" cy="6438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tx1"/>
                </a:solidFill>
                <a:latin typeface="微软雅黑" panose="020B0503020204020204" charset="-122"/>
                <a:ea typeface="微软雅黑" panose="020B0503020204020204" charset="-122"/>
              </a:rPr>
              <a:t>超越宿命论规律</a:t>
            </a:r>
          </a:p>
          <a:p>
            <a:pPr algn="ctr"/>
            <a:r>
              <a:rPr lang="zh-CN" altLang="en-US">
                <a:solidFill>
                  <a:schemeClr val="tx1"/>
                </a:solidFill>
                <a:latin typeface="微软雅黑" panose="020B0503020204020204" charset="-122"/>
                <a:ea typeface="微软雅黑" panose="020B0503020204020204" charset="-122"/>
              </a:rPr>
              <a:t>与主体能动性</a:t>
            </a:r>
          </a:p>
        </p:txBody>
      </p:sp>
      <p:sp>
        <p:nvSpPr>
          <p:cNvPr id="56" name="文本框 55"/>
          <p:cNvSpPr txBox="1"/>
          <p:nvPr/>
        </p:nvSpPr>
        <p:spPr>
          <a:xfrm>
            <a:off x="554990" y="4634230"/>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a:latin typeface="微软雅黑" panose="020B0503020204020204" charset="-122"/>
                <a:ea typeface="微软雅黑" panose="020B0503020204020204" charset="-122"/>
              </a:rPr>
              <a:t>结论</a:t>
            </a:r>
            <a:endPar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10" name="文本框 9"/>
          <p:cNvSpPr txBox="1"/>
          <p:nvPr/>
        </p:nvSpPr>
        <p:spPr>
          <a:xfrm>
            <a:off x="2148467" y="367508"/>
            <a:ext cx="9899999" cy="70548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4000" b="1">
                <a:latin typeface="微软雅黑" panose="020B0503020204020204" charset="-122"/>
                <a:ea typeface="微软雅黑" panose="020B0503020204020204" charset="-122"/>
              </a:rPr>
              <a:t>社会基本矛盾及其运动规律</a:t>
            </a:r>
          </a:p>
        </p:txBody>
      </p:sp>
      <p:sp>
        <p:nvSpPr>
          <p:cNvPr id="8" name="文本框 7"/>
          <p:cNvSpPr txBox="1"/>
          <p:nvPr/>
        </p:nvSpPr>
        <p:spPr>
          <a:xfrm>
            <a:off x="1922780" y="1266190"/>
            <a:ext cx="9821545" cy="181356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indent="-457200" eaLnBrk="1">
              <a:lnSpc>
                <a:spcPct val="100000"/>
              </a:lnSpc>
              <a:buFont typeface="Arial" panose="020B0604020202020204" pitchFamily="34" charset="0"/>
              <a:buChar char="•"/>
            </a:pPr>
            <a:r>
              <a:rPr lang="en-US" altLang="zh-CN" sz="2800" dirty="0">
                <a:solidFill>
                  <a:schemeClr val="tx1">
                    <a:lumMod val="85000"/>
                    <a:lumOff val="15000"/>
                  </a:schemeClr>
                </a:solidFill>
                <a:latin typeface="微软雅黑" panose="020B0503020204020204" charset="-122"/>
                <a:ea typeface="微软雅黑" panose="020B0503020204020204" charset="-122"/>
                <a:sym typeface="+mn-ea"/>
              </a:rPr>
              <a:t>生产力与生产关系、经济基础与上层建筑之间的矛盾，是人类社会的基本矛盾。</a:t>
            </a:r>
            <a:endParaRPr lang="en-US" altLang="zh-CN" sz="2800" dirty="0">
              <a:solidFill>
                <a:schemeClr val="tx1">
                  <a:lumMod val="85000"/>
                  <a:lumOff val="15000"/>
                </a:schemeClr>
              </a:solidFill>
              <a:latin typeface="微软雅黑" panose="020B0503020204020204" charset="-122"/>
              <a:ea typeface="微软雅黑" panose="020B0503020204020204" charset="-122"/>
            </a:endParaRPr>
          </a:p>
          <a:p>
            <a:pPr marL="457200" indent="-457200" eaLnBrk="1">
              <a:lnSpc>
                <a:spcPct val="100000"/>
              </a:lnSpc>
              <a:buFont typeface="Arial" panose="020B0604020202020204" pitchFamily="34" charset="0"/>
              <a:buChar char="•"/>
            </a:pPr>
            <a:r>
              <a:rPr lang="en-US" altLang="zh-CN" sz="2800" dirty="0">
                <a:solidFill>
                  <a:schemeClr val="tx1">
                    <a:lumMod val="85000"/>
                    <a:lumOff val="15000"/>
                  </a:schemeClr>
                </a:solidFill>
                <a:latin typeface="微软雅黑" panose="020B0503020204020204" charset="-122"/>
                <a:ea typeface="微软雅黑" panose="020B0503020204020204" charset="-122"/>
                <a:sym typeface="+mn-ea"/>
              </a:rPr>
              <a:t>生产力与生产关系矛盾运动的规律、经济基础与上层建筑矛盾运动的规律，是人类社会发展的基本规律。</a:t>
            </a:r>
            <a:endParaRPr kumimoji="0" lang="zh-CN" altLang="en-US" sz="2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1" name="文本框 10"/>
          <p:cNvSpPr txBox="1"/>
          <p:nvPr/>
        </p:nvSpPr>
        <p:spPr>
          <a:xfrm>
            <a:off x="2280285" y="3616960"/>
            <a:ext cx="8343265" cy="8286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b="1">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生产力</a:t>
            </a:r>
            <a:r>
              <a:rPr lang="zh-CN" altLang="en-US" sz="2400">
                <a:latin typeface="宋体" panose="02010600030101010101" pitchFamily="2" charset="-122"/>
                <a:ea typeface="宋体" panose="02010600030101010101" pitchFamily="2" charset="-122"/>
                <a:cs typeface="宋体" panose="02010600030101010101" pitchFamily="2" charset="-122"/>
                <a:sym typeface="+mn-ea"/>
              </a:rPr>
              <a:t>就是人类改造自然、获取物质资料的能力。</a:t>
            </a:r>
          </a:p>
          <a:p>
            <a:pPr marR="0" algn="l" defTabSz="914400" rtl="0" fontAlgn="auto" latinLnBrk="0" hangingPunct="0">
              <a:lnSpc>
                <a:spcPct val="100000"/>
              </a:lnSpc>
              <a:spcBef>
                <a:spcPts val="0"/>
              </a:spcBef>
              <a:spcAft>
                <a:spcPts val="0"/>
              </a:spcAft>
              <a:buClrTx/>
              <a:buSzTx/>
            </a:pPr>
            <a:r>
              <a:rPr lang="zh-CN" altLang="en-US" sz="2400">
                <a:latin typeface="宋体" panose="02010600030101010101" pitchFamily="2" charset="-122"/>
                <a:ea typeface="宋体" panose="02010600030101010101" pitchFamily="2" charset="-122"/>
                <a:cs typeface="宋体" panose="02010600030101010101" pitchFamily="2" charset="-122"/>
                <a:sym typeface="+mn-ea"/>
              </a:rPr>
              <a:t>包括：劳动者、劳动资料（主要是生产工具</a:t>
            </a:r>
            <a:r>
              <a:rPr lang="en-US" altLang="zh-CN" sz="2400">
                <a:latin typeface="宋体" panose="02010600030101010101" pitchFamily="2" charset="-122"/>
                <a:ea typeface="宋体" panose="02010600030101010101" pitchFamily="2" charset="-122"/>
                <a:cs typeface="宋体" panose="02010600030101010101" pitchFamily="2" charset="-122"/>
                <a:sym typeface="+mn-ea"/>
              </a:rPr>
              <a:t>)</a:t>
            </a:r>
            <a:r>
              <a:rPr lang="zh-CN" altLang="en-US" sz="2400">
                <a:latin typeface="宋体" panose="02010600030101010101" pitchFamily="2" charset="-122"/>
                <a:ea typeface="宋体" panose="02010600030101010101" pitchFamily="2" charset="-122"/>
                <a:cs typeface="宋体" panose="02010600030101010101" pitchFamily="2" charset="-122"/>
                <a:sym typeface="+mn-ea"/>
              </a:rPr>
              <a:t>、劳动对象</a:t>
            </a:r>
            <a:endParaRPr kumimoji="0" lang="zh-CN" altLang="en-US" sz="24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3" name="文本框 12"/>
          <p:cNvSpPr txBox="1"/>
          <p:nvPr/>
        </p:nvSpPr>
        <p:spPr>
          <a:xfrm>
            <a:off x="1852930" y="3079750"/>
            <a:ext cx="6840855" cy="5207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457200" marR="0" indent="-457200" algn="l" defTabSz="914400" rtl="0" eaLnBrk="1">
              <a:lnSpc>
                <a:spcPct val="100000"/>
              </a:lnSpc>
              <a:spcBef>
                <a:spcPts val="0"/>
              </a:spcBef>
              <a:spcAft>
                <a:spcPts val="0"/>
              </a:spcAft>
              <a:buClrTx/>
              <a:buSzTx/>
              <a:buFont typeface="Wingdings" panose="05000000000000000000" charset="0"/>
              <a:buChar char="Ø"/>
            </a:pPr>
            <a:r>
              <a:rPr lang="zh-CN" altLang="en-US" sz="2800" b="1">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生产力与生产关系的矛盾运动及其规律</a:t>
            </a:r>
            <a:endParaRPr kumimoji="0" lang="zh-CN" altLang="en-US" sz="2800" b="1" i="0" u="none" strike="noStrike" cap="none" spc="0" normalizeH="0" baseline="0">
              <a:ln>
                <a:noFill/>
              </a:ln>
              <a:solidFill>
                <a:srgbClr val="C00000"/>
              </a:solidFill>
              <a:effectLst/>
              <a:uFillTx/>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4" name="文本框 13"/>
          <p:cNvSpPr txBox="1"/>
          <p:nvPr/>
        </p:nvSpPr>
        <p:spPr>
          <a:xfrm>
            <a:off x="6712585" y="4611370"/>
            <a:ext cx="5641975" cy="156718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b="1">
                <a:solidFill>
                  <a:schemeClr val="bg1"/>
                </a:solidFill>
                <a:latin typeface="宋体" panose="02010600030101010101" pitchFamily="2" charset="-122"/>
                <a:ea typeface="宋体" panose="02010600030101010101" pitchFamily="2" charset="-122"/>
                <a:cs typeface="宋体" panose="02010600030101010101" pitchFamily="2" charset="-122"/>
                <a:sym typeface="+mn-ea"/>
              </a:rPr>
              <a:t>原始社会：手和木棍（人力）</a:t>
            </a:r>
            <a:r>
              <a:rPr lang="en-US" altLang="zh-CN" sz="2400" b="1">
                <a:solidFill>
                  <a:schemeClr val="bg1"/>
                </a:solidFill>
                <a:latin typeface="宋体" panose="02010600030101010101" pitchFamily="2" charset="-122"/>
                <a:ea typeface="宋体" panose="02010600030101010101" pitchFamily="2" charset="-122"/>
                <a:cs typeface="宋体" panose="02010600030101010101" pitchFamily="2" charset="-122"/>
                <a:sym typeface="+mn-ea"/>
              </a:rPr>
              <a:t>；</a:t>
            </a:r>
          </a:p>
          <a:p>
            <a:pPr marL="0" marR="0" indent="0" algn="l" defTabSz="914400" rtl="0" fontAlgn="auto" latinLnBrk="0" hangingPunct="0">
              <a:lnSpc>
                <a:spcPct val="100000"/>
              </a:lnSpc>
              <a:spcBef>
                <a:spcPts val="0"/>
              </a:spcBef>
              <a:spcAft>
                <a:spcPts val="0"/>
              </a:spcAft>
              <a:buClrTx/>
              <a:buSzTx/>
              <a:buFontTx/>
              <a:buNone/>
            </a:pPr>
            <a:r>
              <a:rPr lang="zh-CN" altLang="en-US" sz="2400" b="1">
                <a:solidFill>
                  <a:schemeClr val="bg1"/>
                </a:solidFill>
                <a:latin typeface="宋体" panose="02010600030101010101" pitchFamily="2" charset="-122"/>
                <a:ea typeface="宋体" panose="02010600030101010101" pitchFamily="2" charset="-122"/>
                <a:cs typeface="宋体" panose="02010600030101010101" pitchFamily="2" charset="-122"/>
                <a:sym typeface="+mn-ea"/>
              </a:rPr>
              <a:t>农业社会：犁和牛（畜力）</a:t>
            </a:r>
            <a:r>
              <a:rPr lang="en-US" altLang="zh-CN" sz="2400" b="1">
                <a:solidFill>
                  <a:schemeClr val="bg1"/>
                </a:solidFill>
                <a:latin typeface="宋体" panose="02010600030101010101" pitchFamily="2" charset="-122"/>
                <a:ea typeface="宋体" panose="02010600030101010101" pitchFamily="2" charset="-122"/>
                <a:cs typeface="宋体" panose="02010600030101010101" pitchFamily="2" charset="-122"/>
                <a:sym typeface="+mn-ea"/>
              </a:rPr>
              <a:t>； </a:t>
            </a:r>
          </a:p>
          <a:p>
            <a:pPr marL="0" marR="0" indent="0" algn="l" defTabSz="914400" rtl="0" fontAlgn="auto" latinLnBrk="0" hangingPunct="0">
              <a:lnSpc>
                <a:spcPct val="100000"/>
              </a:lnSpc>
              <a:spcBef>
                <a:spcPts val="0"/>
              </a:spcBef>
              <a:spcAft>
                <a:spcPts val="0"/>
              </a:spcAft>
              <a:buClrTx/>
              <a:buSzTx/>
              <a:buFontTx/>
              <a:buNone/>
            </a:pPr>
            <a:r>
              <a:rPr lang="zh-CN" altLang="en-US" sz="2400" b="1">
                <a:solidFill>
                  <a:schemeClr val="bg1"/>
                </a:solidFill>
                <a:latin typeface="宋体" panose="02010600030101010101" pitchFamily="2" charset="-122"/>
                <a:ea typeface="宋体" panose="02010600030101010101" pitchFamily="2" charset="-122"/>
                <a:cs typeface="宋体" panose="02010600030101010101" pitchFamily="2" charset="-122"/>
                <a:sym typeface="+mn-ea"/>
              </a:rPr>
              <a:t>工业社会：蒸汽机和流水线（机械力）</a:t>
            </a:r>
            <a:r>
              <a:rPr lang="en-US" altLang="zh-CN" sz="2400" b="1">
                <a:solidFill>
                  <a:schemeClr val="bg1"/>
                </a:solidFill>
                <a:latin typeface="宋体" panose="02010600030101010101" pitchFamily="2" charset="-122"/>
                <a:ea typeface="宋体" panose="02010600030101010101" pitchFamily="2" charset="-122"/>
                <a:cs typeface="宋体" panose="02010600030101010101" pitchFamily="2" charset="-122"/>
                <a:sym typeface="+mn-ea"/>
              </a:rPr>
              <a:t>； </a:t>
            </a:r>
          </a:p>
          <a:p>
            <a:pPr marL="0" marR="0" indent="0" algn="l" defTabSz="914400" rtl="0" fontAlgn="auto" latinLnBrk="0" hangingPunct="0">
              <a:lnSpc>
                <a:spcPct val="100000"/>
              </a:lnSpc>
              <a:spcBef>
                <a:spcPts val="0"/>
              </a:spcBef>
              <a:spcAft>
                <a:spcPts val="0"/>
              </a:spcAft>
              <a:buClrTx/>
              <a:buSzTx/>
              <a:buFontTx/>
              <a:buNone/>
            </a:pPr>
            <a:r>
              <a:rPr lang="zh-CN" altLang="en-US" sz="2400" b="1">
                <a:solidFill>
                  <a:schemeClr val="bg1"/>
                </a:solidFill>
                <a:latin typeface="宋体" panose="02010600030101010101" pitchFamily="2" charset="-122"/>
                <a:ea typeface="宋体" panose="02010600030101010101" pitchFamily="2" charset="-122"/>
                <a:cs typeface="宋体" panose="02010600030101010101" pitchFamily="2" charset="-122"/>
                <a:sym typeface="+mn-ea"/>
              </a:rPr>
              <a:t>信息社会：计算机和互联网（信息力）</a:t>
            </a:r>
            <a:endParaRPr kumimoji="0" lang="zh-CN" altLang="en-US" sz="2400" b="1" i="0" u="none" strike="noStrike" cap="none" spc="0" normalizeH="0" baseline="0">
              <a:ln>
                <a:noFill/>
              </a:ln>
              <a:solidFill>
                <a:schemeClr val="bg1"/>
              </a:solidFill>
              <a:effectLst/>
              <a:uFillTx/>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5" name="文本框 14"/>
          <p:cNvSpPr txBox="1"/>
          <p:nvPr/>
        </p:nvSpPr>
        <p:spPr>
          <a:xfrm>
            <a:off x="2280285" y="4536440"/>
            <a:ext cx="4269105" cy="19367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b="1">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生产关系</a:t>
            </a:r>
            <a:r>
              <a:rPr lang="zh-CN" altLang="en-US" sz="2400">
                <a:latin typeface="宋体" panose="02010600030101010101" pitchFamily="2" charset="-122"/>
                <a:ea typeface="宋体" panose="02010600030101010101" pitchFamily="2" charset="-122"/>
                <a:cs typeface="宋体" panose="02010600030101010101" pitchFamily="2" charset="-122"/>
                <a:sym typeface="+mn-ea"/>
              </a:rPr>
              <a:t>就是在生产过程中形成的人与人之间的关系。</a:t>
            </a:r>
          </a:p>
          <a:p>
            <a:pPr marL="457200" marR="0" indent="-457200" algn="l" defTabSz="914400" rtl="0" fontAlgn="auto" latinLnBrk="0" hangingPunct="0">
              <a:lnSpc>
                <a:spcPct val="100000"/>
              </a:lnSpc>
              <a:spcBef>
                <a:spcPts val="0"/>
              </a:spcBef>
              <a:spcAft>
                <a:spcPts val="0"/>
              </a:spcAft>
              <a:buClrTx/>
              <a:buSzTx/>
              <a:buFont typeface="Arial" panose="020B0604020202020204" pitchFamily="34" charset="0"/>
              <a:buChar char="•"/>
            </a:pPr>
            <a:r>
              <a:rPr lang="zh-CN" altLang="en-US" sz="2400">
                <a:latin typeface="宋体" panose="02010600030101010101" pitchFamily="2" charset="-122"/>
                <a:ea typeface="宋体" panose="02010600030101010101" pitchFamily="2" charset="-122"/>
                <a:cs typeface="宋体" panose="02010600030101010101" pitchFamily="2" charset="-122"/>
                <a:sym typeface="+mn-ea"/>
              </a:rPr>
              <a:t>生产资料归属</a:t>
            </a:r>
          </a:p>
          <a:p>
            <a:pPr marL="457200" marR="0" indent="-457200" algn="l" defTabSz="914400" rtl="0" fontAlgn="auto" latinLnBrk="0" hangingPunct="0">
              <a:lnSpc>
                <a:spcPct val="100000"/>
              </a:lnSpc>
              <a:spcBef>
                <a:spcPts val="0"/>
              </a:spcBef>
              <a:spcAft>
                <a:spcPts val="0"/>
              </a:spcAft>
              <a:buClrTx/>
              <a:buSzTx/>
              <a:buFont typeface="Arial" panose="020B0604020202020204" pitchFamily="34" charset="0"/>
              <a:buChar char="•"/>
            </a:pPr>
            <a:r>
              <a:rPr lang="zh-CN" altLang="en-US" sz="2400">
                <a:latin typeface="宋体" panose="02010600030101010101" pitchFamily="2" charset="-122"/>
                <a:ea typeface="宋体" panose="02010600030101010101" pitchFamily="2" charset="-122"/>
                <a:cs typeface="宋体" panose="02010600030101010101" pitchFamily="2" charset="-122"/>
                <a:sym typeface="+mn-ea"/>
              </a:rPr>
              <a:t>人们在生产中的地位和关系</a:t>
            </a:r>
          </a:p>
          <a:p>
            <a:pPr marL="457200" marR="0" indent="-457200" algn="l" defTabSz="914400" rtl="0" fontAlgn="auto" latinLnBrk="0" hangingPunct="0">
              <a:lnSpc>
                <a:spcPct val="100000"/>
              </a:lnSpc>
              <a:spcBef>
                <a:spcPts val="0"/>
              </a:spcBef>
              <a:spcAft>
                <a:spcPts val="0"/>
              </a:spcAft>
              <a:buClrTx/>
              <a:buSzTx/>
              <a:buFont typeface="Arial" panose="020B0604020202020204" pitchFamily="34" charset="0"/>
              <a:buChar char="•"/>
            </a:pPr>
            <a:r>
              <a:rPr lang="zh-CN" altLang="en-US" sz="2400">
                <a:latin typeface="宋体" panose="02010600030101010101" pitchFamily="2" charset="-122"/>
                <a:ea typeface="宋体" panose="02010600030101010101" pitchFamily="2" charset="-122"/>
                <a:cs typeface="宋体" panose="02010600030101010101" pitchFamily="2" charset="-122"/>
                <a:sym typeface="+mn-ea"/>
              </a:rPr>
              <a:t>产品分配</a:t>
            </a:r>
            <a:endParaRPr kumimoji="0" lang="zh-CN" altLang="en-US" sz="2400" b="0" i="0" u="none" strike="noStrike" cap="none" spc="0" normalizeH="0" baseline="0">
              <a:ln>
                <a:noFill/>
              </a:ln>
              <a:solidFill>
                <a:srgbClr val="000000"/>
              </a:solidFill>
              <a:effectLst/>
              <a:uFillTx/>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200">
        <p:wipe/>
      </p:transition>
    </mc:Choice>
    <mc:Fallback xmlns="">
      <p:transition spd="slow">
        <p:wip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2"/>
          <a:stretch>
            <a:fillRect/>
          </a:stretch>
        </p:blipFill>
        <p:spPr>
          <a:xfrm>
            <a:off x="8856644" y="4372879"/>
            <a:ext cx="3032778" cy="2485121"/>
          </a:xfrm>
          <a:prstGeom prst="rect">
            <a:avLst/>
          </a:prstGeom>
        </p:spPr>
      </p:pic>
      <p:sp>
        <p:nvSpPr>
          <p:cNvPr id="502" name="五边形 8"/>
          <p:cNvSpPr txBox="1">
            <a:spLocks noGrp="1"/>
          </p:cNvSpPr>
          <p:nvPr>
            <p:ph type="sldNum" sz="quarter" idx="2"/>
          </p:nvPr>
        </p:nvSpPr>
        <p:spPr>
          <a:xfrm>
            <a:off x="11337756" y="6003980"/>
            <a:ext cx="860594" cy="396241"/>
          </a:xfrm>
          <a:prstGeom prst="rect">
            <a:avLst/>
          </a:prstGeom>
        </p:spPr>
        <p:txBody>
          <a:bodyPr/>
          <a:lstStyle/>
          <a:p>
            <a:fld id="{86CB4B4D-7CA3-9044-876B-883B54F8677D}" type="slidenum">
              <a:rPr/>
              <a:t>10</a:t>
            </a:fld>
            <a:endParaRPr/>
          </a:p>
        </p:txBody>
      </p:sp>
      <p:sp>
        <p:nvSpPr>
          <p:cNvPr id="4" name="矩形 3"/>
          <p:cNvSpPr/>
          <p:nvPr/>
        </p:nvSpPr>
        <p:spPr>
          <a:xfrm>
            <a:off x="119380" y="1401445"/>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 name="矩形 1"/>
          <p:cNvSpPr/>
          <p:nvPr/>
        </p:nvSpPr>
        <p:spPr>
          <a:xfrm>
            <a:off x="123825" y="222123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矩形 2"/>
          <p:cNvSpPr/>
          <p:nvPr/>
        </p:nvSpPr>
        <p:spPr>
          <a:xfrm>
            <a:off x="123825" y="381254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5" name="矩形 4"/>
          <p:cNvSpPr/>
          <p:nvPr/>
        </p:nvSpPr>
        <p:spPr>
          <a:xfrm>
            <a:off x="67945" y="461137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6" name="矩形 5"/>
          <p:cNvSpPr/>
          <p:nvPr/>
        </p:nvSpPr>
        <p:spPr>
          <a:xfrm>
            <a:off x="67945" y="3006725"/>
            <a:ext cx="1511300" cy="499110"/>
          </a:xfrm>
          <a:prstGeom prst="rect">
            <a:avLst/>
          </a:prstGeom>
          <a:solidFill>
            <a:srgbClr val="414455"/>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9" name="文本框 8"/>
          <p:cNvSpPr txBox="1"/>
          <p:nvPr/>
        </p:nvSpPr>
        <p:spPr>
          <a:xfrm>
            <a:off x="548640" y="1467485"/>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rPr>
              <a:t>绪论</a:t>
            </a:r>
          </a:p>
        </p:txBody>
      </p:sp>
      <p:sp>
        <p:nvSpPr>
          <p:cNvPr id="53" name="文本框 52"/>
          <p:cNvSpPr txBox="1"/>
          <p:nvPr/>
        </p:nvSpPr>
        <p:spPr>
          <a:xfrm>
            <a:off x="-255829" y="2142618"/>
            <a:ext cx="2178821" cy="9207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tx1"/>
                </a:solidFill>
                <a:latin typeface="微软雅黑" panose="020B0503020204020204" charset="-122"/>
                <a:ea typeface="微软雅黑" panose="020B0503020204020204" charset="-122"/>
              </a:rPr>
              <a:t>社会存在</a:t>
            </a:r>
            <a:endParaRPr lang="en-US" altLang="zh-CN">
              <a:solidFill>
                <a:schemeClr val="tx1"/>
              </a:solidFill>
              <a:latin typeface="微软雅黑" panose="020B0503020204020204" charset="-122"/>
              <a:ea typeface="微软雅黑" panose="020B0503020204020204" charset="-122"/>
            </a:endParaRPr>
          </a:p>
          <a:p>
            <a:pPr algn="ctr"/>
            <a:r>
              <a:rPr lang="zh-CN" altLang="en-US">
                <a:solidFill>
                  <a:schemeClr val="tx1"/>
                </a:solidFill>
                <a:latin typeface="微软雅黑" panose="020B0503020204020204" charset="-122"/>
                <a:ea typeface="微软雅黑" panose="020B0503020204020204" charset="-122"/>
              </a:rPr>
              <a:t>与社会意识</a:t>
            </a: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chemeClr val="tx1"/>
              </a:solidFill>
              <a:effectLst/>
              <a:uFillTx/>
              <a:latin typeface="微软雅黑" panose="020B0503020204020204" charset="-122"/>
              <a:ea typeface="微软雅黑" panose="020B0503020204020204" charset="-122"/>
              <a:sym typeface="Calibri" panose="020F0502020204030204"/>
            </a:endParaRPr>
          </a:p>
        </p:txBody>
      </p:sp>
      <p:sp>
        <p:nvSpPr>
          <p:cNvPr id="54" name="文本框 53"/>
          <p:cNvSpPr txBox="1"/>
          <p:nvPr/>
        </p:nvSpPr>
        <p:spPr>
          <a:xfrm>
            <a:off x="-185794" y="2933186"/>
            <a:ext cx="2038752" cy="1197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bg1"/>
                </a:solidFill>
                <a:latin typeface="微软雅黑" panose="020B0503020204020204" charset="-122"/>
                <a:ea typeface="微软雅黑" panose="020B0503020204020204" charset="-122"/>
              </a:rPr>
              <a:t>社会基本矛盾</a:t>
            </a:r>
            <a:endParaRPr lang="en-US" altLang="zh-CN">
              <a:solidFill>
                <a:schemeClr val="bg1"/>
              </a:solidFill>
              <a:latin typeface="微软雅黑" panose="020B0503020204020204" charset="-122"/>
              <a:ea typeface="微软雅黑" panose="020B0503020204020204" charset="-122"/>
            </a:endParaRPr>
          </a:p>
          <a:p>
            <a:pPr algn="ctr"/>
            <a:r>
              <a:rPr lang="zh-CN" altLang="en-US">
                <a:solidFill>
                  <a:schemeClr val="bg1"/>
                </a:solidFill>
                <a:latin typeface="微软雅黑" panose="020B0503020204020204" charset="-122"/>
                <a:ea typeface="微软雅黑" panose="020B0503020204020204" charset="-122"/>
              </a:rPr>
              <a:t>及其运动规律</a:t>
            </a:r>
          </a:p>
          <a:p>
            <a:pPr algn="ctr"/>
            <a:endParaRPr lang="zh-CN" altLang="en-US">
              <a:solidFill>
                <a:schemeClr val="bg1"/>
              </a:solidFill>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chemeClr val="bg1"/>
              </a:solidFill>
              <a:effectLst/>
              <a:uFillTx/>
              <a:latin typeface="微软雅黑" panose="020B0503020204020204" charset="-122"/>
              <a:ea typeface="微软雅黑" panose="020B0503020204020204" charset="-122"/>
              <a:sym typeface="Calibri" panose="020F0502020204030204"/>
            </a:endParaRPr>
          </a:p>
        </p:txBody>
      </p:sp>
      <p:sp>
        <p:nvSpPr>
          <p:cNvPr id="55" name="文本框 54"/>
          <p:cNvSpPr txBox="1"/>
          <p:nvPr/>
        </p:nvSpPr>
        <p:spPr>
          <a:xfrm>
            <a:off x="-186276" y="3728989"/>
            <a:ext cx="2038752" cy="6438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tx1"/>
                </a:solidFill>
                <a:latin typeface="微软雅黑" panose="020B0503020204020204" charset="-122"/>
                <a:ea typeface="微软雅黑" panose="020B0503020204020204" charset="-122"/>
              </a:rPr>
              <a:t>超越宿命论规律</a:t>
            </a:r>
          </a:p>
          <a:p>
            <a:pPr algn="ctr"/>
            <a:r>
              <a:rPr lang="zh-CN" altLang="en-US">
                <a:solidFill>
                  <a:schemeClr val="tx1"/>
                </a:solidFill>
                <a:latin typeface="微软雅黑" panose="020B0503020204020204" charset="-122"/>
                <a:ea typeface="微软雅黑" panose="020B0503020204020204" charset="-122"/>
              </a:rPr>
              <a:t>与主体能动性</a:t>
            </a:r>
          </a:p>
        </p:txBody>
      </p:sp>
      <p:sp>
        <p:nvSpPr>
          <p:cNvPr id="56" name="文本框 55"/>
          <p:cNvSpPr txBox="1"/>
          <p:nvPr/>
        </p:nvSpPr>
        <p:spPr>
          <a:xfrm>
            <a:off x="554990" y="4634230"/>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a:latin typeface="微软雅黑" panose="020B0503020204020204" charset="-122"/>
                <a:ea typeface="微软雅黑" panose="020B0503020204020204" charset="-122"/>
              </a:rPr>
              <a:t>结论</a:t>
            </a:r>
            <a:endPar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7" name="文本框 6"/>
          <p:cNvSpPr txBox="1"/>
          <p:nvPr/>
        </p:nvSpPr>
        <p:spPr>
          <a:xfrm>
            <a:off x="1922780" y="1304290"/>
            <a:ext cx="8366760" cy="55530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eaLnBrk="1">
              <a:lnSpc>
                <a:spcPts val="3000"/>
              </a:lnSpc>
              <a:spcAft>
                <a:spcPts val="600"/>
              </a:spcAft>
            </a:pPr>
            <a:r>
              <a:rPr lang="zh-CN" altLang="en-US" sz="2800" b="1">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二者的关系：动态匹配的矛盾统一体</a:t>
            </a:r>
            <a:endParaRPr lang="zh-CN" altLang="en-US" sz="2800" b="1">
              <a:solidFill>
                <a:srgbClr val="C00000"/>
              </a:solidFill>
              <a:latin typeface="宋体" panose="02010600030101010101" pitchFamily="2" charset="-122"/>
              <a:ea typeface="宋体" panose="02010600030101010101" pitchFamily="2" charset="-122"/>
              <a:cs typeface="宋体" panose="02010600030101010101" pitchFamily="2" charset="-122"/>
            </a:endParaRPr>
          </a:p>
          <a:p>
            <a:pPr marL="342900" indent="-342900" fontAlgn="auto">
              <a:lnSpc>
                <a:spcPts val="3000"/>
              </a:lnSpc>
              <a:buFont typeface="Arial" panose="020B0604020202020204" pitchFamily="34" charset="0"/>
              <a:buChar char="•"/>
            </a:pPr>
            <a:r>
              <a:rPr lang="zh-CN" altLang="en-US" sz="28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生产力决定生产关系</a:t>
            </a:r>
          </a:p>
          <a:p>
            <a:pPr marL="342900" indent="-342900" fontAlgn="auto">
              <a:lnSpc>
                <a:spcPts val="3000"/>
              </a:lnSpc>
              <a:buFont typeface="Arial" panose="020B0604020202020204" pitchFamily="34" charset="0"/>
              <a:buChar char="•"/>
            </a:pPr>
            <a:endParaRPr lang="zh-CN" altLang="en-US" sz="2800" b="1">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marL="342900" indent="-342900" fontAlgn="auto">
              <a:lnSpc>
                <a:spcPts val="3000"/>
              </a:lnSpc>
              <a:buFont typeface="Arial" panose="020B0604020202020204" pitchFamily="34" charset="0"/>
              <a:buChar char="•"/>
            </a:pPr>
            <a:endParaRPr lang="zh-CN" altLang="en-US" sz="2800" b="1">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marL="342900" indent="-342900" fontAlgn="auto">
              <a:lnSpc>
                <a:spcPts val="3000"/>
              </a:lnSpc>
              <a:buFont typeface="Arial" panose="020B0604020202020204" pitchFamily="34" charset="0"/>
              <a:buChar char="•"/>
            </a:pPr>
            <a:endParaRPr lang="zh-CN" altLang="en-US" sz="2800" b="1">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marL="342900" indent="-342900" fontAlgn="auto">
              <a:lnSpc>
                <a:spcPts val="3000"/>
              </a:lnSpc>
              <a:buFont typeface="Arial" panose="020B0604020202020204" pitchFamily="34" charset="0"/>
              <a:buChar char="•"/>
            </a:pPr>
            <a:endParaRPr lang="zh-CN" altLang="en-US" sz="2800" b="1">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marL="342900" indent="-342900" fontAlgn="auto">
              <a:lnSpc>
                <a:spcPts val="3000"/>
              </a:lnSpc>
              <a:buFont typeface="Arial" panose="020B0604020202020204" pitchFamily="34" charset="0"/>
              <a:buChar char="•"/>
            </a:pPr>
            <a:endParaRPr lang="zh-CN" altLang="en-US" sz="2800" b="1">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marL="342900" indent="-342900" fontAlgn="auto">
              <a:lnSpc>
                <a:spcPts val="3000"/>
              </a:lnSpc>
              <a:buFont typeface="Arial" panose="020B0604020202020204" pitchFamily="34" charset="0"/>
              <a:buChar char="•"/>
            </a:pPr>
            <a:r>
              <a:rPr lang="zh-CN" altLang="en-US" sz="28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生产关系反作用于生产力</a:t>
            </a:r>
          </a:p>
          <a:p>
            <a:pPr marL="342900" indent="-342900" fontAlgn="auto">
              <a:lnSpc>
                <a:spcPts val="3000"/>
              </a:lnSpc>
              <a:buFont typeface="Arial" panose="020B0604020202020204" pitchFamily="34" charset="0"/>
              <a:buChar char="•"/>
            </a:pPr>
            <a:endParaRPr lang="zh-CN" altLang="en-US" sz="2800" b="1">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marL="342900" indent="-342900" fontAlgn="auto">
              <a:lnSpc>
                <a:spcPts val="3000"/>
              </a:lnSpc>
              <a:buFont typeface="Arial" panose="020B0604020202020204" pitchFamily="34" charset="0"/>
              <a:buChar char="•"/>
            </a:pPr>
            <a:endParaRPr lang="zh-CN" altLang="en-US" sz="2800" b="1">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marL="342900" indent="-342900" fontAlgn="auto">
              <a:lnSpc>
                <a:spcPts val="3000"/>
              </a:lnSpc>
              <a:buFont typeface="Arial" panose="020B0604020202020204" pitchFamily="34" charset="0"/>
              <a:buChar char="•"/>
            </a:pPr>
            <a:endParaRPr lang="zh-CN" altLang="en-US" sz="2800" b="1">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marL="342900" indent="-342900" fontAlgn="auto">
              <a:lnSpc>
                <a:spcPts val="3000"/>
              </a:lnSpc>
              <a:buFont typeface="Arial" panose="020B0604020202020204" pitchFamily="34" charset="0"/>
              <a:buChar char="•"/>
            </a:pPr>
            <a:endParaRPr lang="zh-CN" altLang="en-US" sz="2800" b="1">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marL="342900" indent="-342900" fontAlgn="auto">
              <a:lnSpc>
                <a:spcPts val="3000"/>
              </a:lnSpc>
              <a:buFont typeface="Arial" panose="020B0604020202020204" pitchFamily="34" charset="0"/>
              <a:buChar char="•"/>
            </a:pPr>
            <a:endParaRPr lang="zh-CN" altLang="en-US" sz="2800" b="1">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a:p>
            <a:pPr marL="342900" indent="-342900" fontAlgn="auto">
              <a:lnSpc>
                <a:spcPts val="3000"/>
              </a:lnSpc>
              <a:buFont typeface="Arial" panose="020B0604020202020204" pitchFamily="34" charset="0"/>
              <a:buChar char="•"/>
            </a:pPr>
            <a:r>
              <a:rPr lang="zh-CN" altLang="en-US" sz="28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矛盾运动规律（社会发展的根本动力）</a:t>
            </a:r>
            <a:endParaRPr kumimoji="0" lang="zh-CN" altLang="en-US" sz="2800" b="1" strike="noStrike" cap="none" spc="0" normalizeH="0" baseline="0">
              <a:ln>
                <a:noFill/>
              </a:ln>
              <a:solidFill>
                <a:schemeClr val="tx1"/>
              </a:solidFill>
              <a:effectLst/>
              <a:uFillTx/>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4" name="文本框 13"/>
          <p:cNvSpPr txBox="1"/>
          <p:nvPr/>
        </p:nvSpPr>
        <p:spPr>
          <a:xfrm>
            <a:off x="2148467" y="367508"/>
            <a:ext cx="9899999" cy="70548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4000" b="1">
                <a:latin typeface="微软雅黑" panose="020B0503020204020204" charset="-122"/>
                <a:ea typeface="微软雅黑" panose="020B0503020204020204" charset="-122"/>
              </a:rPr>
              <a:t>生产力与生产关系的矛盾运动及其规律</a:t>
            </a:r>
          </a:p>
        </p:txBody>
      </p:sp>
      <p:sp>
        <p:nvSpPr>
          <p:cNvPr id="18" name="文本框 17"/>
          <p:cNvSpPr txBox="1"/>
          <p:nvPr/>
        </p:nvSpPr>
        <p:spPr>
          <a:xfrm>
            <a:off x="2151380" y="2221230"/>
            <a:ext cx="9788525" cy="1938020"/>
          </a:xfrm>
          <a:prstGeom prst="rect">
            <a:avLst/>
          </a:prstGeom>
        </p:spPr>
        <p:txBody>
          <a:bodyPr wrap="square">
            <a:spAutoFit/>
          </a:bodyPr>
          <a:lstStyle/>
          <a:p>
            <a:pPr algn="l" defTabSz="914400" eaLnBrk="0" fontAlgn="base">
              <a:lnSpc>
                <a:spcPct val="100000"/>
              </a:lnSpc>
              <a:spcAft>
                <a:spcPts val="0"/>
              </a:spcAft>
              <a:buNone/>
            </a:pPr>
            <a:r>
              <a:rPr lang="en-US" altLang="zh-CN" sz="2400" i="1">
                <a:solidFill>
                  <a:schemeClr val="tx1">
                    <a:lumMod val="65000"/>
                    <a:lumOff val="35000"/>
                  </a:schemeClr>
                </a:solidFill>
                <a:latin typeface="微软雅黑" panose="020B0503020204020204" charset="-122"/>
                <a:ea typeface="微软雅黑" panose="020B0503020204020204" charset="-122"/>
              </a:rPr>
              <a:t>“各个人借以进行生产的社会关系，即社会生产关系，是随着物质生产资料、生产力的变化和发展而变化和改变的。生产关系总和起来就构成所谓社会关系，构成所谓社会，并且是构成一个处于一定历史发展阶段上的社会，具有独特的特征的社会。”</a:t>
            </a:r>
            <a:r>
              <a:rPr lang="zh-CN" altLang="en-US" sz="240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i="1">
                <a:solidFill>
                  <a:schemeClr val="tx1">
                    <a:lumMod val="65000"/>
                    <a:lumOff val="35000"/>
                  </a:schemeClr>
                </a:solidFill>
                <a:latin typeface="微软雅黑" panose="020B0503020204020204" charset="-122"/>
                <a:ea typeface="微软雅黑" panose="020B0503020204020204" charset="-122"/>
              </a:rPr>
              <a:t>⑤</a:t>
            </a:r>
            <a:endParaRPr lang="en-US" altLang="zh-CN" sz="2400" i="1">
              <a:solidFill>
                <a:schemeClr val="tx1">
                  <a:lumMod val="65000"/>
                  <a:lumOff val="35000"/>
                </a:schemeClr>
              </a:solidFill>
              <a:latin typeface="微软雅黑" panose="020B0503020204020204" charset="-122"/>
              <a:ea typeface="微软雅黑" panose="020B0503020204020204" charset="-122"/>
            </a:endParaRPr>
          </a:p>
          <a:p>
            <a:pPr algn="r" defTabSz="914400" eaLnBrk="0" fontAlgn="base">
              <a:lnSpc>
                <a:spcPct val="100000"/>
              </a:lnSpc>
              <a:spcAft>
                <a:spcPts val="0"/>
              </a:spcAft>
              <a:buNone/>
            </a:pPr>
            <a:r>
              <a:rPr lang="en-US" altLang="zh-CN" sz="2400">
                <a:solidFill>
                  <a:schemeClr val="tx1">
                    <a:lumMod val="65000"/>
                    <a:lumOff val="35000"/>
                  </a:schemeClr>
                </a:solidFill>
                <a:latin typeface="微软雅黑" panose="020B0503020204020204" charset="-122"/>
                <a:ea typeface="微软雅黑" panose="020B0503020204020204" charset="-122"/>
              </a:rPr>
              <a:t>——马克思：《雇佣劳动与资本》（1849年）</a:t>
            </a:r>
          </a:p>
        </p:txBody>
      </p:sp>
      <p:sp>
        <p:nvSpPr>
          <p:cNvPr id="19" name="矩形 18"/>
          <p:cNvSpPr/>
          <p:nvPr/>
        </p:nvSpPr>
        <p:spPr>
          <a:xfrm>
            <a:off x="1973580" y="2221230"/>
            <a:ext cx="127000" cy="1696720"/>
          </a:xfrm>
          <a:prstGeom prst="rect">
            <a:avLst/>
          </a:prstGeom>
          <a:solidFill>
            <a:schemeClr val="bg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0" name="文本框 19"/>
          <p:cNvSpPr txBox="1"/>
          <p:nvPr/>
        </p:nvSpPr>
        <p:spPr>
          <a:xfrm>
            <a:off x="2228850" y="4634230"/>
            <a:ext cx="9711055" cy="1568450"/>
          </a:xfrm>
          <a:prstGeom prst="rect">
            <a:avLst/>
          </a:prstGeom>
        </p:spPr>
        <p:txBody>
          <a:bodyPr wrap="square">
            <a:spAutoFit/>
          </a:bodyPr>
          <a:lstStyle/>
          <a:p>
            <a:pPr algn="l" defTabSz="914400" eaLnBrk="0" fontAlgn="base">
              <a:buNone/>
            </a:pPr>
            <a:r>
              <a:rPr lang="en-US" altLang="zh-CN" sz="2400" b="1">
                <a:solidFill>
                  <a:schemeClr val="tx1">
                    <a:lumMod val="65000"/>
                    <a:lumOff val="35000"/>
                  </a:schemeClr>
                </a:solidFill>
                <a:latin typeface="微软雅黑" panose="020B0503020204020204" charset="-122"/>
                <a:ea typeface="微软雅黑" panose="020B0503020204020204" charset="-122"/>
                <a:sym typeface="+mn-ea"/>
              </a:rPr>
              <a:t>生产关系一定要适合生产力发展规律</a:t>
            </a:r>
            <a:r>
              <a:rPr lang="zh-CN" altLang="en-US" sz="2400" b="1">
                <a:solidFill>
                  <a:schemeClr val="tx1">
                    <a:lumMod val="65000"/>
                    <a:lumOff val="35000"/>
                  </a:schemeClr>
                </a:solidFill>
                <a:latin typeface="微软雅黑" panose="020B0503020204020204" charset="-122"/>
                <a:ea typeface="微软雅黑" panose="020B0503020204020204" charset="-122"/>
                <a:sym typeface="+mn-ea"/>
              </a:rPr>
              <a:t>：</a:t>
            </a:r>
            <a:endParaRPr lang="en-US" altLang="zh-CN" sz="2400" b="1">
              <a:solidFill>
                <a:schemeClr val="tx1">
                  <a:lumMod val="65000"/>
                  <a:lumOff val="35000"/>
                </a:schemeClr>
              </a:solidFill>
              <a:latin typeface="微软雅黑" panose="020B0503020204020204" charset="-122"/>
              <a:ea typeface="微软雅黑" panose="020B0503020204020204" charset="-122"/>
            </a:endParaRPr>
          </a:p>
          <a:p>
            <a:pPr algn="l" defTabSz="914400" eaLnBrk="0" fontAlgn="base">
              <a:buNone/>
            </a:pPr>
            <a:r>
              <a:rPr lang="zh-CN" altLang="en-US" sz="2400">
                <a:solidFill>
                  <a:schemeClr val="tx1">
                    <a:lumMod val="65000"/>
                    <a:lumOff val="35000"/>
                  </a:schemeClr>
                </a:solidFill>
                <a:latin typeface="微软雅黑" panose="020B0503020204020204" charset="-122"/>
                <a:ea typeface="微软雅黑" panose="020B0503020204020204" charset="-122"/>
              </a:rPr>
              <a:t>例</a:t>
            </a:r>
            <a:r>
              <a:rPr lang="en-US" altLang="zh-CN" sz="2400">
                <a:solidFill>
                  <a:schemeClr val="tx1">
                    <a:lumMod val="65000"/>
                    <a:lumOff val="35000"/>
                  </a:schemeClr>
                </a:solidFill>
                <a:latin typeface="微软雅黑" panose="020B0503020204020204" charset="-122"/>
                <a:ea typeface="微软雅黑" panose="020B0503020204020204" charset="-122"/>
              </a:rPr>
              <a:t> · 农村改革——家庭联产承包责任制的推行</a:t>
            </a:r>
          </a:p>
          <a:p>
            <a:pPr algn="l" defTabSz="914400" eaLnBrk="0" fontAlgn="base">
              <a:buNone/>
            </a:pPr>
            <a:r>
              <a:rPr lang="zh-CN" altLang="en-US" sz="2400">
                <a:solidFill>
                  <a:schemeClr val="tx1">
                    <a:lumMod val="65000"/>
                    <a:lumOff val="35000"/>
                  </a:schemeClr>
                </a:solidFill>
                <a:latin typeface="微软雅黑" panose="020B0503020204020204" charset="-122"/>
                <a:ea typeface="微软雅黑" panose="020B0503020204020204" charset="-122"/>
              </a:rPr>
              <a:t>例</a:t>
            </a:r>
            <a:r>
              <a:rPr lang="en-US" altLang="zh-CN" sz="2400">
                <a:solidFill>
                  <a:schemeClr val="tx1">
                    <a:lumMod val="65000"/>
                    <a:lumOff val="35000"/>
                  </a:schemeClr>
                </a:solidFill>
                <a:latin typeface="微软雅黑" panose="020B0503020204020204" charset="-122"/>
                <a:ea typeface="微软雅黑" panose="020B0503020204020204" charset="-122"/>
              </a:rPr>
              <a:t> · 近代中国社会形态的变革——从半殖民地</a:t>
            </a:r>
          </a:p>
          <a:p>
            <a:pPr algn="l" defTabSz="914400" eaLnBrk="0" fontAlgn="base">
              <a:buNone/>
            </a:pPr>
            <a:r>
              <a:rPr lang="en-US" altLang="zh-CN" sz="2400">
                <a:solidFill>
                  <a:schemeClr val="tx1">
                    <a:lumMod val="65000"/>
                    <a:lumOff val="35000"/>
                  </a:schemeClr>
                </a:solidFill>
                <a:latin typeface="微软雅黑" panose="020B0503020204020204" charset="-122"/>
                <a:ea typeface="微软雅黑" panose="020B0503020204020204" charset="-122"/>
              </a:rPr>
              <a:t>      半封建社会到社会主义</a:t>
            </a:r>
          </a:p>
        </p:txBody>
      </p:sp>
      <p:sp>
        <p:nvSpPr>
          <p:cNvPr id="22" name="矩形 21"/>
          <p:cNvSpPr/>
          <p:nvPr/>
        </p:nvSpPr>
        <p:spPr>
          <a:xfrm>
            <a:off x="1979930" y="4611370"/>
            <a:ext cx="127000" cy="1696720"/>
          </a:xfrm>
          <a:prstGeom prst="rect">
            <a:avLst/>
          </a:prstGeom>
          <a:solidFill>
            <a:schemeClr val="bg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442" name="五边形 2"/>
          <p:cNvSpPr/>
          <p:nvPr/>
        </p:nvSpPr>
        <p:spPr>
          <a:xfrm>
            <a:off x="6336030" y="4159250"/>
            <a:ext cx="2157730" cy="26733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009" y="0"/>
                </a:lnTo>
                <a:lnTo>
                  <a:pt x="21600" y="10800"/>
                </a:lnTo>
                <a:lnTo>
                  <a:pt x="21009" y="21600"/>
                </a:lnTo>
                <a:lnTo>
                  <a:pt x="0" y="21600"/>
                </a:lnTo>
                <a:lnTo>
                  <a:pt x="591" y="10800"/>
                </a:lnTo>
                <a:close/>
              </a:path>
            </a:pathLst>
          </a:custGeom>
          <a:solidFill>
            <a:srgbClr val="414455"/>
          </a:solidFill>
          <a:ln w="12700">
            <a:miter lim="400000"/>
          </a:ln>
        </p:spPr>
        <p:txBody>
          <a:bodyPr lIns="45719" rIns="45719" anchor="ctr"/>
          <a:lstStyle/>
          <a:p>
            <a:pPr algn="ctr">
              <a:defRPr>
                <a:solidFill>
                  <a:srgbClr val="FFFFFF"/>
                </a:solidFill>
              </a:defRPr>
            </a:pPr>
            <a:endParaRPr/>
          </a:p>
        </p:txBody>
      </p:sp>
      <p:sp>
        <p:nvSpPr>
          <p:cNvPr id="24" name="五边形 2"/>
          <p:cNvSpPr/>
          <p:nvPr/>
        </p:nvSpPr>
        <p:spPr>
          <a:xfrm>
            <a:off x="5809615" y="1815465"/>
            <a:ext cx="6238875" cy="26733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009" y="0"/>
                </a:lnTo>
                <a:lnTo>
                  <a:pt x="21600" y="10800"/>
                </a:lnTo>
                <a:lnTo>
                  <a:pt x="21009" y="21600"/>
                </a:lnTo>
                <a:lnTo>
                  <a:pt x="0" y="21600"/>
                </a:lnTo>
                <a:lnTo>
                  <a:pt x="591" y="10800"/>
                </a:lnTo>
                <a:close/>
              </a:path>
            </a:pathLst>
          </a:custGeom>
          <a:solidFill>
            <a:srgbClr val="414455"/>
          </a:solidFill>
          <a:ln w="12700">
            <a:miter lim="400000"/>
          </a:ln>
        </p:spPr>
        <p:txBody>
          <a:bodyPr lIns="45719" rIns="45719" anchor="ctr"/>
          <a:lstStyle/>
          <a:p>
            <a:pPr algn="ctr">
              <a:defRPr>
                <a:solidFill>
                  <a:srgbClr val="FFFFFF"/>
                </a:solidFill>
              </a:defRPr>
            </a:pPr>
            <a:endParaRPr/>
          </a:p>
        </p:txBody>
      </p:sp>
    </p:spTree>
  </p:cSld>
  <p:clrMapOvr>
    <a:masterClrMapping/>
  </p:clrMapOvr>
  <mc:AlternateContent xmlns:mc="http://schemas.openxmlformats.org/markup-compatibility/2006" xmlns:p14="http://schemas.microsoft.com/office/powerpoint/2010/main">
    <mc:Choice Requires="p14">
      <p:transition spd="slow" p14:dur="1200">
        <p:wipe/>
      </p:transition>
    </mc:Choice>
    <mc:Fallback xmlns="">
      <p:transition spd="slow">
        <p:wipe/>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3" nodeType="afterEffect">
                                  <p:stCondLst>
                                    <p:cond delay="0"/>
                                  </p:stCondLst>
                                  <p:childTnLst>
                                    <p:set>
                                      <p:cBhvr>
                                        <p:cTn id="6" dur="indefinite" fill="hold"/>
                                        <p:tgtEl>
                                          <p:spTgt spid="24"/>
                                        </p:tgtEl>
                                        <p:attrNameLst>
                                          <p:attrName>style.visibility</p:attrName>
                                        </p:attrNameLst>
                                      </p:cBhvr>
                                      <p:to>
                                        <p:strVal val="visible"/>
                                      </p:to>
                                    </p:set>
                                    <p:animEffect transition="in" filter="wipe(left)">
                                      <p:cBhvr>
                                        <p:cTn id="7" dur="500"/>
                                        <p:tgtEl>
                                          <p:spTgt spid="24"/>
                                        </p:tgtEl>
                                      </p:cBhvr>
                                    </p:animEffect>
                                  </p:childTnLst>
                                </p:cTn>
                              </p:par>
                            </p:childTnLst>
                          </p:cTn>
                        </p:par>
                        <p:par>
                          <p:cTn id="8" fill="hold">
                            <p:stCondLst>
                              <p:cond delay="500"/>
                            </p:stCondLst>
                            <p:childTnLst>
                              <p:par>
                                <p:cTn id="9" presetID="22" presetClass="entr" presetSubtype="8" fill="hold" grpId="3" nodeType="afterEffect">
                                  <p:stCondLst>
                                    <p:cond delay="0"/>
                                  </p:stCondLst>
                                  <p:childTnLst>
                                    <p:set>
                                      <p:cBhvr>
                                        <p:cTn id="10" dur="indefinite" fill="hold"/>
                                        <p:tgtEl>
                                          <p:spTgt spid="442"/>
                                        </p:tgtEl>
                                        <p:attrNameLst>
                                          <p:attrName>style.visibility</p:attrName>
                                        </p:attrNameLst>
                                      </p:cBhvr>
                                      <p:to>
                                        <p:strVal val="visible"/>
                                      </p:to>
                                    </p:set>
                                    <p:animEffect transition="in" filter="wipe(left)">
                                      <p:cBhvr>
                                        <p:cTn id="11" dur="500"/>
                                        <p:tgtEl>
                                          <p:spTgt spid="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 grpId="3" bldLvl="0" animBg="1" advAuto="0"/>
      <p:bldP spid="24" grpId="3" bldLvl="0"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 name="五边形 8"/>
          <p:cNvSpPr txBox="1">
            <a:spLocks noGrp="1"/>
          </p:cNvSpPr>
          <p:nvPr>
            <p:ph type="sldNum" sz="quarter" idx="2"/>
          </p:nvPr>
        </p:nvSpPr>
        <p:spPr>
          <a:xfrm>
            <a:off x="11337756" y="6003980"/>
            <a:ext cx="860594" cy="396241"/>
          </a:xfrm>
          <a:prstGeom prst="rect">
            <a:avLst/>
          </a:prstGeom>
        </p:spPr>
        <p:txBody>
          <a:bodyPr/>
          <a:lstStyle/>
          <a:p>
            <a:fld id="{86CB4B4D-7CA3-9044-876B-883B54F8677D}" type="slidenum">
              <a:rPr/>
              <a:t>11</a:t>
            </a:fld>
            <a:endParaRPr/>
          </a:p>
        </p:txBody>
      </p:sp>
      <p:sp>
        <p:nvSpPr>
          <p:cNvPr id="4" name="矩形 3"/>
          <p:cNvSpPr/>
          <p:nvPr/>
        </p:nvSpPr>
        <p:spPr>
          <a:xfrm>
            <a:off x="119380" y="1401445"/>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 name="矩形 1"/>
          <p:cNvSpPr/>
          <p:nvPr/>
        </p:nvSpPr>
        <p:spPr>
          <a:xfrm>
            <a:off x="123825" y="222123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矩形 2"/>
          <p:cNvSpPr/>
          <p:nvPr/>
        </p:nvSpPr>
        <p:spPr>
          <a:xfrm>
            <a:off x="123825" y="381254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5" name="矩形 4"/>
          <p:cNvSpPr/>
          <p:nvPr/>
        </p:nvSpPr>
        <p:spPr>
          <a:xfrm>
            <a:off x="67945" y="461137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6" name="矩形 5"/>
          <p:cNvSpPr/>
          <p:nvPr/>
        </p:nvSpPr>
        <p:spPr>
          <a:xfrm>
            <a:off x="67945" y="3006725"/>
            <a:ext cx="1511300" cy="499110"/>
          </a:xfrm>
          <a:prstGeom prst="rect">
            <a:avLst/>
          </a:prstGeom>
          <a:solidFill>
            <a:srgbClr val="414455"/>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9" name="文本框 8"/>
          <p:cNvSpPr txBox="1"/>
          <p:nvPr/>
        </p:nvSpPr>
        <p:spPr>
          <a:xfrm>
            <a:off x="548640" y="1467485"/>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rPr>
              <a:t>绪论</a:t>
            </a:r>
          </a:p>
        </p:txBody>
      </p:sp>
      <p:sp>
        <p:nvSpPr>
          <p:cNvPr id="53" name="文本框 52"/>
          <p:cNvSpPr txBox="1"/>
          <p:nvPr/>
        </p:nvSpPr>
        <p:spPr>
          <a:xfrm>
            <a:off x="-255829" y="2142618"/>
            <a:ext cx="2178821" cy="9207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tx1"/>
                </a:solidFill>
                <a:latin typeface="微软雅黑" panose="020B0503020204020204" charset="-122"/>
                <a:ea typeface="微软雅黑" panose="020B0503020204020204" charset="-122"/>
              </a:rPr>
              <a:t>社会存在</a:t>
            </a:r>
            <a:endParaRPr lang="en-US" altLang="zh-CN">
              <a:solidFill>
                <a:schemeClr val="tx1"/>
              </a:solidFill>
              <a:latin typeface="微软雅黑" panose="020B0503020204020204" charset="-122"/>
              <a:ea typeface="微软雅黑" panose="020B0503020204020204" charset="-122"/>
            </a:endParaRPr>
          </a:p>
          <a:p>
            <a:pPr algn="ctr"/>
            <a:r>
              <a:rPr lang="zh-CN" altLang="en-US">
                <a:solidFill>
                  <a:schemeClr val="tx1"/>
                </a:solidFill>
                <a:latin typeface="微软雅黑" panose="020B0503020204020204" charset="-122"/>
                <a:ea typeface="微软雅黑" panose="020B0503020204020204" charset="-122"/>
              </a:rPr>
              <a:t>与社会意识</a:t>
            </a: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chemeClr val="tx1"/>
              </a:solidFill>
              <a:effectLst/>
              <a:uFillTx/>
              <a:latin typeface="微软雅黑" panose="020B0503020204020204" charset="-122"/>
              <a:ea typeface="微软雅黑" panose="020B0503020204020204" charset="-122"/>
              <a:sym typeface="Calibri" panose="020F0502020204030204"/>
            </a:endParaRPr>
          </a:p>
        </p:txBody>
      </p:sp>
      <p:sp>
        <p:nvSpPr>
          <p:cNvPr id="54" name="文本框 53"/>
          <p:cNvSpPr txBox="1"/>
          <p:nvPr/>
        </p:nvSpPr>
        <p:spPr>
          <a:xfrm>
            <a:off x="-185794" y="2933186"/>
            <a:ext cx="2038752" cy="1197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bg1"/>
                </a:solidFill>
                <a:latin typeface="微软雅黑" panose="020B0503020204020204" charset="-122"/>
                <a:ea typeface="微软雅黑" panose="020B0503020204020204" charset="-122"/>
              </a:rPr>
              <a:t>社会基本矛盾</a:t>
            </a:r>
            <a:endParaRPr lang="en-US" altLang="zh-CN">
              <a:solidFill>
                <a:schemeClr val="bg1"/>
              </a:solidFill>
              <a:latin typeface="微软雅黑" panose="020B0503020204020204" charset="-122"/>
              <a:ea typeface="微软雅黑" panose="020B0503020204020204" charset="-122"/>
            </a:endParaRPr>
          </a:p>
          <a:p>
            <a:pPr algn="ctr"/>
            <a:r>
              <a:rPr lang="zh-CN" altLang="en-US">
                <a:solidFill>
                  <a:schemeClr val="bg1"/>
                </a:solidFill>
                <a:latin typeface="微软雅黑" panose="020B0503020204020204" charset="-122"/>
                <a:ea typeface="微软雅黑" panose="020B0503020204020204" charset="-122"/>
              </a:rPr>
              <a:t>及其运动规律</a:t>
            </a:r>
          </a:p>
          <a:p>
            <a:pPr algn="ctr"/>
            <a:endParaRPr lang="zh-CN" altLang="en-US">
              <a:solidFill>
                <a:schemeClr val="bg1"/>
              </a:solidFill>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chemeClr val="bg1"/>
              </a:solidFill>
              <a:effectLst/>
              <a:uFillTx/>
              <a:latin typeface="微软雅黑" panose="020B0503020204020204" charset="-122"/>
              <a:ea typeface="微软雅黑" panose="020B0503020204020204" charset="-122"/>
              <a:sym typeface="Calibri" panose="020F0502020204030204"/>
            </a:endParaRPr>
          </a:p>
        </p:txBody>
      </p:sp>
      <p:sp>
        <p:nvSpPr>
          <p:cNvPr id="55" name="文本框 54"/>
          <p:cNvSpPr txBox="1"/>
          <p:nvPr/>
        </p:nvSpPr>
        <p:spPr>
          <a:xfrm>
            <a:off x="-186276" y="3728989"/>
            <a:ext cx="2038752" cy="6438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tx1"/>
                </a:solidFill>
                <a:latin typeface="微软雅黑" panose="020B0503020204020204" charset="-122"/>
                <a:ea typeface="微软雅黑" panose="020B0503020204020204" charset="-122"/>
              </a:rPr>
              <a:t>超越宿命论规律</a:t>
            </a:r>
          </a:p>
          <a:p>
            <a:pPr algn="ctr"/>
            <a:r>
              <a:rPr lang="zh-CN" altLang="en-US">
                <a:solidFill>
                  <a:schemeClr val="tx1"/>
                </a:solidFill>
                <a:latin typeface="微软雅黑" panose="020B0503020204020204" charset="-122"/>
                <a:ea typeface="微软雅黑" panose="020B0503020204020204" charset="-122"/>
              </a:rPr>
              <a:t>与主体能动性</a:t>
            </a:r>
          </a:p>
        </p:txBody>
      </p:sp>
      <p:sp>
        <p:nvSpPr>
          <p:cNvPr id="56" name="文本框 55"/>
          <p:cNvSpPr txBox="1"/>
          <p:nvPr/>
        </p:nvSpPr>
        <p:spPr>
          <a:xfrm>
            <a:off x="554990" y="4634230"/>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a:latin typeface="微软雅黑" panose="020B0503020204020204" charset="-122"/>
                <a:ea typeface="微软雅黑" panose="020B0503020204020204" charset="-122"/>
              </a:rPr>
              <a:t>结论</a:t>
            </a:r>
            <a:endPar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7" name="文本框 6"/>
          <p:cNvSpPr txBox="1"/>
          <p:nvPr/>
        </p:nvSpPr>
        <p:spPr>
          <a:xfrm>
            <a:off x="1922780" y="1304290"/>
            <a:ext cx="8366760" cy="474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342900" indent="-342900" fontAlgn="auto">
              <a:lnSpc>
                <a:spcPts val="3000"/>
              </a:lnSpc>
              <a:buFont typeface="Arial" panose="020B0604020202020204" pitchFamily="34" charset="0"/>
              <a:buChar char="•"/>
            </a:pPr>
            <a:r>
              <a:rPr lang="zh-CN" altLang="en-US" sz="28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矛盾运动规律（社会发展的根本动力）</a:t>
            </a:r>
            <a:endParaRPr kumimoji="0" lang="zh-CN" altLang="en-US" sz="2800" b="1" strike="noStrike" cap="none" spc="0" normalizeH="0" baseline="0">
              <a:ln>
                <a:noFill/>
              </a:ln>
              <a:solidFill>
                <a:schemeClr val="tx1"/>
              </a:solidFill>
              <a:effectLst/>
              <a:uFillTx/>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4" name="文本框 13"/>
          <p:cNvSpPr txBox="1"/>
          <p:nvPr/>
        </p:nvSpPr>
        <p:spPr>
          <a:xfrm>
            <a:off x="2148467" y="367508"/>
            <a:ext cx="9899999" cy="70548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4000" b="1">
                <a:latin typeface="微软雅黑" panose="020B0503020204020204" charset="-122"/>
                <a:ea typeface="微软雅黑" panose="020B0503020204020204" charset="-122"/>
              </a:rPr>
              <a:t>生产力与生产关系的矛盾运动及其规律</a:t>
            </a:r>
          </a:p>
        </p:txBody>
      </p:sp>
      <p:sp>
        <p:nvSpPr>
          <p:cNvPr id="15" name="文本框 14"/>
          <p:cNvSpPr txBox="1"/>
          <p:nvPr/>
        </p:nvSpPr>
        <p:spPr>
          <a:xfrm>
            <a:off x="2085340" y="1805940"/>
            <a:ext cx="9904095" cy="2676525"/>
          </a:xfrm>
          <a:prstGeom prst="rect">
            <a:avLst/>
          </a:prstGeom>
        </p:spPr>
        <p:txBody>
          <a:bodyPr wrap="square">
            <a:spAutoFit/>
          </a:bodyPr>
          <a:lstStyle/>
          <a:p>
            <a:pPr algn="l" defTabSz="914400" eaLnBrk="0" fontAlgn="base">
              <a:lnSpc>
                <a:spcPct val="100000"/>
              </a:lnSpc>
              <a:spcAft>
                <a:spcPts val="0"/>
              </a:spcAft>
              <a:buNone/>
            </a:pPr>
            <a:r>
              <a:rPr lang="en-US" altLang="zh-CN" sz="2400" i="1">
                <a:solidFill>
                  <a:schemeClr val="tx1">
                    <a:lumMod val="65000"/>
                    <a:lumOff val="35000"/>
                  </a:schemeClr>
                </a:solidFill>
                <a:latin typeface="微软雅黑" panose="020B0503020204020204" charset="-122"/>
                <a:ea typeface="微软雅黑" panose="020B0503020204020204" charset="-122"/>
              </a:rPr>
              <a:t>“人们在自己生活的社会生产中发生……生产力…相适合的生产关系……有一定的社会意识形式与之相适应的现实基础……社会存在决定人们的意识。社会的物质生产力发展到一定阶段，便同它们一直在其中运动的现存生产关系或财产关系（这只是生产关系的法律用语）发生矛盾。于是这些关系便由生产力的发展形式变成生产力的桎梏。那时社会革命的时代就到来了。”</a:t>
            </a:r>
            <a:r>
              <a:rPr lang="zh-CN" altLang="en-US" sz="2400" i="1">
                <a:solidFill>
                  <a:schemeClr val="tx1">
                    <a:lumMod val="65000"/>
                    <a:lumOff val="35000"/>
                  </a:schemeClr>
                </a:solidFill>
                <a:latin typeface="微软雅黑" panose="020B0503020204020204" charset="-122"/>
                <a:ea typeface="微软雅黑" panose="020B0503020204020204" charset="-122"/>
              </a:rPr>
              <a:t> ⑥</a:t>
            </a:r>
            <a:endParaRPr lang="en-US" altLang="zh-CN" sz="2400" i="1">
              <a:solidFill>
                <a:schemeClr val="tx1">
                  <a:lumMod val="65000"/>
                  <a:lumOff val="35000"/>
                </a:schemeClr>
              </a:solidFill>
              <a:latin typeface="微软雅黑" panose="020B0503020204020204" charset="-122"/>
              <a:ea typeface="微软雅黑" panose="020B0503020204020204" charset="-122"/>
            </a:endParaRPr>
          </a:p>
          <a:p>
            <a:pPr algn="r" defTabSz="914400" eaLnBrk="0" fontAlgn="base">
              <a:lnSpc>
                <a:spcPct val="100000"/>
              </a:lnSpc>
              <a:spcAft>
                <a:spcPts val="0"/>
              </a:spcAft>
              <a:buNone/>
            </a:pPr>
            <a:r>
              <a:rPr lang="en-US" altLang="zh-CN" sz="2400">
                <a:solidFill>
                  <a:schemeClr val="tx1">
                    <a:lumMod val="65000"/>
                    <a:lumOff val="35000"/>
                  </a:schemeClr>
                </a:solidFill>
                <a:latin typeface="微软雅黑" panose="020B0503020204020204" charset="-122"/>
                <a:ea typeface="微软雅黑" panose="020B0503020204020204" charset="-122"/>
              </a:rPr>
              <a:t>——马克思：《〈政治经济学批判〉序言》（1859年）</a:t>
            </a:r>
          </a:p>
        </p:txBody>
      </p:sp>
      <p:sp>
        <p:nvSpPr>
          <p:cNvPr id="17" name="文本框 16"/>
          <p:cNvSpPr txBox="1"/>
          <p:nvPr/>
        </p:nvSpPr>
        <p:spPr>
          <a:xfrm>
            <a:off x="2085340" y="5215255"/>
            <a:ext cx="9213215" cy="1568450"/>
          </a:xfrm>
          <a:prstGeom prst="rect">
            <a:avLst/>
          </a:prstGeom>
        </p:spPr>
        <p:txBody>
          <a:bodyPr wrap="square">
            <a:spAutoFit/>
          </a:bodyPr>
          <a:lstStyle/>
          <a:p>
            <a:pPr algn="l" defTabSz="914400" eaLnBrk="0" fontAlgn="base">
              <a:lnSpc>
                <a:spcPct val="100000"/>
              </a:lnSpc>
              <a:spcAft>
                <a:spcPts val="0"/>
              </a:spcAft>
            </a:pPr>
            <a:r>
              <a:rPr lang="en-US" altLang="zh-CN" sz="2400" i="1">
                <a:solidFill>
                  <a:schemeClr val="tx1">
                    <a:lumMod val="65000"/>
                    <a:lumOff val="35000"/>
                  </a:schemeClr>
                </a:solidFill>
                <a:latin typeface="微软雅黑" panose="020B0503020204020204" charset="-122"/>
                <a:ea typeface="微软雅黑" panose="020B0503020204020204" charset="-122"/>
              </a:rPr>
              <a:t>“无论哪一个社会形态，在它所能容纳的全部生产力发挥出来以前，是决不会灭亡的；而新的更高的生产关系，在它的物质存在条件在旧社会的胎胞里成熟以前，是决不会出现的。”</a:t>
            </a:r>
            <a:r>
              <a:rPr lang="zh-CN" altLang="en-US" sz="240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i="1">
                <a:solidFill>
                  <a:schemeClr val="tx1">
                    <a:lumMod val="65000"/>
                    <a:lumOff val="35000"/>
                  </a:schemeClr>
                </a:solidFill>
                <a:latin typeface="微软雅黑" panose="020B0503020204020204" charset="-122"/>
                <a:ea typeface="微软雅黑" panose="020B0503020204020204" charset="-122"/>
              </a:rPr>
              <a:t>⑦</a:t>
            </a:r>
            <a:endParaRPr lang="en-US" altLang="zh-CN" sz="2400" i="1">
              <a:solidFill>
                <a:schemeClr val="tx1">
                  <a:lumMod val="65000"/>
                  <a:lumOff val="35000"/>
                </a:schemeClr>
              </a:solidFill>
              <a:latin typeface="微软雅黑" panose="020B0503020204020204" charset="-122"/>
              <a:ea typeface="微软雅黑" panose="020B0503020204020204" charset="-122"/>
            </a:endParaRPr>
          </a:p>
          <a:p>
            <a:pPr algn="r" defTabSz="914400" eaLnBrk="0" fontAlgn="base">
              <a:lnSpc>
                <a:spcPct val="100000"/>
              </a:lnSpc>
              <a:spcAft>
                <a:spcPts val="0"/>
              </a:spcAft>
            </a:pPr>
            <a:r>
              <a:rPr lang="en-US" altLang="zh-CN" sz="2400">
                <a:solidFill>
                  <a:schemeClr val="tx1">
                    <a:lumMod val="65000"/>
                    <a:lumOff val="35000"/>
                  </a:schemeClr>
                </a:solidFill>
                <a:latin typeface="微软雅黑" panose="020B0503020204020204" charset="-122"/>
                <a:ea typeface="微软雅黑" panose="020B0503020204020204" charset="-122"/>
              </a:rPr>
              <a:t>——马克思：《〈政治经济学批判〉序言》（1859年）</a:t>
            </a:r>
          </a:p>
        </p:txBody>
      </p:sp>
      <p:sp>
        <p:nvSpPr>
          <p:cNvPr id="19" name="矩形 18"/>
          <p:cNvSpPr/>
          <p:nvPr/>
        </p:nvSpPr>
        <p:spPr>
          <a:xfrm>
            <a:off x="1979930" y="1835150"/>
            <a:ext cx="105410" cy="2646680"/>
          </a:xfrm>
          <a:prstGeom prst="rect">
            <a:avLst/>
          </a:prstGeom>
          <a:solidFill>
            <a:schemeClr val="bg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8" name="文本框 7"/>
          <p:cNvSpPr txBox="1"/>
          <p:nvPr/>
        </p:nvSpPr>
        <p:spPr>
          <a:xfrm>
            <a:off x="1922780" y="4611370"/>
            <a:ext cx="8309610" cy="474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l" defTabSz="914400">
              <a:lnSpc>
                <a:spcPts val="3000"/>
              </a:lnSpc>
              <a:spcAft>
                <a:spcPts val="0"/>
              </a:spcAft>
              <a:buFont typeface="Arial" panose="020B0604020202020204" pitchFamily="34" charset="0"/>
            </a:pPr>
            <a:r>
              <a:rPr lang="zh-CN" altLang="en-US" sz="2800" b="1">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两个决不会——社会形态更替的条件：</a:t>
            </a:r>
            <a:endParaRPr kumimoji="0" lang="zh-CN" altLang="en-US" sz="2800" b="1" i="0" u="none" strike="noStrike" cap="none" spc="0" normalizeH="0" baseline="0">
              <a:ln>
                <a:noFill/>
              </a:ln>
              <a:solidFill>
                <a:schemeClr val="tx1"/>
              </a:solidFill>
              <a:effectLst/>
              <a:uFillTx/>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0" name="矩形 9"/>
          <p:cNvSpPr/>
          <p:nvPr/>
        </p:nvSpPr>
        <p:spPr>
          <a:xfrm>
            <a:off x="1979930" y="5241290"/>
            <a:ext cx="105410" cy="1546860"/>
          </a:xfrm>
          <a:prstGeom prst="rect">
            <a:avLst/>
          </a:prstGeom>
          <a:solidFill>
            <a:schemeClr val="bg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442" name="五边形 2"/>
          <p:cNvSpPr/>
          <p:nvPr/>
        </p:nvSpPr>
        <p:spPr>
          <a:xfrm>
            <a:off x="8287385" y="1409700"/>
            <a:ext cx="3833495" cy="26733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009" y="0"/>
                </a:lnTo>
                <a:lnTo>
                  <a:pt x="21600" y="10800"/>
                </a:lnTo>
                <a:lnTo>
                  <a:pt x="21009" y="21600"/>
                </a:lnTo>
                <a:lnTo>
                  <a:pt x="0" y="21600"/>
                </a:lnTo>
                <a:lnTo>
                  <a:pt x="591" y="10800"/>
                </a:lnTo>
                <a:close/>
              </a:path>
            </a:pathLst>
          </a:custGeom>
          <a:solidFill>
            <a:srgbClr val="414455"/>
          </a:solidFill>
          <a:ln w="12700">
            <a:miter lim="400000"/>
          </a:ln>
        </p:spPr>
        <p:txBody>
          <a:bodyPr lIns="45719" rIns="45719" anchor="ctr"/>
          <a:lstStyle/>
          <a:p>
            <a:pPr algn="ctr">
              <a:defRPr>
                <a:solidFill>
                  <a:srgbClr val="FFFFFF"/>
                </a:solidFill>
              </a:defRPr>
            </a:pPr>
            <a:endParaRPr/>
          </a:p>
        </p:txBody>
      </p:sp>
    </p:spTree>
  </p:cSld>
  <p:clrMapOvr>
    <a:masterClrMapping/>
  </p:clrMapOvr>
  <mc:AlternateContent xmlns:mc="http://schemas.openxmlformats.org/markup-compatibility/2006" xmlns:p14="http://schemas.microsoft.com/office/powerpoint/2010/main">
    <mc:Choice Requires="p14">
      <p:transition spd="slow" p14:dur="1200">
        <p:wipe/>
      </p:transition>
    </mc:Choice>
    <mc:Fallback xmlns="">
      <p:transition spd="slow">
        <p:wipe/>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3" nodeType="afterEffect">
                                  <p:stCondLst>
                                    <p:cond delay="0"/>
                                  </p:stCondLst>
                                  <p:childTnLst>
                                    <p:set>
                                      <p:cBhvr>
                                        <p:cTn id="6" dur="indefinite" fill="hold"/>
                                        <p:tgtEl>
                                          <p:spTgt spid="442"/>
                                        </p:tgtEl>
                                        <p:attrNameLst>
                                          <p:attrName>style.visibility</p:attrName>
                                        </p:attrNameLst>
                                      </p:cBhvr>
                                      <p:to>
                                        <p:strVal val="visible"/>
                                      </p:to>
                                    </p:set>
                                    <p:animEffect transition="in" filter="wipe(left)">
                                      <p:cBhvr>
                                        <p:cTn id="7" dur="500"/>
                                        <p:tgtEl>
                                          <p:spTgt spid="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 grpId="3" bldLvl="0"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6906895" y="2408555"/>
            <a:ext cx="5141595" cy="1319530"/>
          </a:xfrm>
          <a:prstGeom prst="rect">
            <a:avLst/>
          </a:prstGeom>
          <a:solidFill>
            <a:srgbClr val="FFFFFF"/>
          </a:solidFill>
          <a:ln w="38100" cap="flat">
            <a:solidFill>
              <a:srgbClr val="414455"/>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502" name="五边形 8"/>
          <p:cNvSpPr txBox="1">
            <a:spLocks noGrp="1"/>
          </p:cNvSpPr>
          <p:nvPr>
            <p:ph type="sldNum" sz="quarter" idx="2"/>
          </p:nvPr>
        </p:nvSpPr>
        <p:spPr>
          <a:xfrm>
            <a:off x="11337756" y="6003980"/>
            <a:ext cx="860594" cy="396241"/>
          </a:xfrm>
          <a:prstGeom prst="rect">
            <a:avLst/>
          </a:prstGeom>
        </p:spPr>
        <p:txBody>
          <a:bodyPr/>
          <a:lstStyle/>
          <a:p>
            <a:fld id="{86CB4B4D-7CA3-9044-876B-883B54F8677D}" type="slidenum">
              <a:rPr/>
              <a:t>12</a:t>
            </a:fld>
            <a:endParaRPr/>
          </a:p>
        </p:txBody>
      </p:sp>
      <p:sp>
        <p:nvSpPr>
          <p:cNvPr id="4" name="矩形 3"/>
          <p:cNvSpPr/>
          <p:nvPr/>
        </p:nvSpPr>
        <p:spPr>
          <a:xfrm>
            <a:off x="119380" y="1401445"/>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 name="矩形 1"/>
          <p:cNvSpPr/>
          <p:nvPr/>
        </p:nvSpPr>
        <p:spPr>
          <a:xfrm>
            <a:off x="123825" y="222123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矩形 2"/>
          <p:cNvSpPr/>
          <p:nvPr/>
        </p:nvSpPr>
        <p:spPr>
          <a:xfrm>
            <a:off x="123825" y="381254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5" name="矩形 4"/>
          <p:cNvSpPr/>
          <p:nvPr/>
        </p:nvSpPr>
        <p:spPr>
          <a:xfrm>
            <a:off x="67945" y="461137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6" name="矩形 5"/>
          <p:cNvSpPr/>
          <p:nvPr/>
        </p:nvSpPr>
        <p:spPr>
          <a:xfrm>
            <a:off x="67945" y="3006725"/>
            <a:ext cx="1511300" cy="499110"/>
          </a:xfrm>
          <a:prstGeom prst="rect">
            <a:avLst/>
          </a:prstGeom>
          <a:solidFill>
            <a:srgbClr val="414455"/>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9" name="文本框 8"/>
          <p:cNvSpPr txBox="1"/>
          <p:nvPr/>
        </p:nvSpPr>
        <p:spPr>
          <a:xfrm>
            <a:off x="548640" y="1467485"/>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rPr>
              <a:t>绪论</a:t>
            </a:r>
          </a:p>
        </p:txBody>
      </p:sp>
      <p:sp>
        <p:nvSpPr>
          <p:cNvPr id="53" name="文本框 52"/>
          <p:cNvSpPr txBox="1"/>
          <p:nvPr/>
        </p:nvSpPr>
        <p:spPr>
          <a:xfrm>
            <a:off x="-255829" y="2142618"/>
            <a:ext cx="2178821" cy="9207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tx1"/>
                </a:solidFill>
                <a:latin typeface="微软雅黑" panose="020B0503020204020204" charset="-122"/>
                <a:ea typeface="微软雅黑" panose="020B0503020204020204" charset="-122"/>
              </a:rPr>
              <a:t>社会存在</a:t>
            </a:r>
            <a:endParaRPr lang="en-US" altLang="zh-CN">
              <a:solidFill>
                <a:schemeClr val="tx1"/>
              </a:solidFill>
              <a:latin typeface="微软雅黑" panose="020B0503020204020204" charset="-122"/>
              <a:ea typeface="微软雅黑" panose="020B0503020204020204" charset="-122"/>
            </a:endParaRPr>
          </a:p>
          <a:p>
            <a:pPr algn="ctr"/>
            <a:r>
              <a:rPr lang="zh-CN" altLang="en-US">
                <a:solidFill>
                  <a:schemeClr val="tx1"/>
                </a:solidFill>
                <a:latin typeface="微软雅黑" panose="020B0503020204020204" charset="-122"/>
                <a:ea typeface="微软雅黑" panose="020B0503020204020204" charset="-122"/>
              </a:rPr>
              <a:t>与社会意识</a:t>
            </a: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chemeClr val="tx1"/>
              </a:solidFill>
              <a:effectLst/>
              <a:uFillTx/>
              <a:latin typeface="微软雅黑" panose="020B0503020204020204" charset="-122"/>
              <a:ea typeface="微软雅黑" panose="020B0503020204020204" charset="-122"/>
              <a:sym typeface="Calibri" panose="020F0502020204030204"/>
            </a:endParaRPr>
          </a:p>
        </p:txBody>
      </p:sp>
      <p:sp>
        <p:nvSpPr>
          <p:cNvPr id="54" name="文本框 53"/>
          <p:cNvSpPr txBox="1"/>
          <p:nvPr/>
        </p:nvSpPr>
        <p:spPr>
          <a:xfrm>
            <a:off x="-185794" y="2933186"/>
            <a:ext cx="2038752" cy="1197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bg1"/>
                </a:solidFill>
                <a:latin typeface="微软雅黑" panose="020B0503020204020204" charset="-122"/>
                <a:ea typeface="微软雅黑" panose="020B0503020204020204" charset="-122"/>
              </a:rPr>
              <a:t>社会基本矛盾</a:t>
            </a:r>
            <a:endParaRPr lang="en-US" altLang="zh-CN">
              <a:solidFill>
                <a:schemeClr val="bg1"/>
              </a:solidFill>
              <a:latin typeface="微软雅黑" panose="020B0503020204020204" charset="-122"/>
              <a:ea typeface="微软雅黑" panose="020B0503020204020204" charset="-122"/>
            </a:endParaRPr>
          </a:p>
          <a:p>
            <a:pPr algn="ctr"/>
            <a:r>
              <a:rPr lang="zh-CN" altLang="en-US">
                <a:solidFill>
                  <a:schemeClr val="bg1"/>
                </a:solidFill>
                <a:latin typeface="微软雅黑" panose="020B0503020204020204" charset="-122"/>
                <a:ea typeface="微软雅黑" panose="020B0503020204020204" charset="-122"/>
              </a:rPr>
              <a:t>及其运动规律</a:t>
            </a:r>
          </a:p>
          <a:p>
            <a:pPr algn="ctr"/>
            <a:endParaRPr lang="zh-CN" altLang="en-US">
              <a:solidFill>
                <a:schemeClr val="bg1"/>
              </a:solidFill>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chemeClr val="bg1"/>
              </a:solidFill>
              <a:effectLst/>
              <a:uFillTx/>
              <a:latin typeface="微软雅黑" panose="020B0503020204020204" charset="-122"/>
              <a:ea typeface="微软雅黑" panose="020B0503020204020204" charset="-122"/>
              <a:sym typeface="Calibri" panose="020F0502020204030204"/>
            </a:endParaRPr>
          </a:p>
        </p:txBody>
      </p:sp>
      <p:sp>
        <p:nvSpPr>
          <p:cNvPr id="55" name="文本框 54"/>
          <p:cNvSpPr txBox="1"/>
          <p:nvPr/>
        </p:nvSpPr>
        <p:spPr>
          <a:xfrm>
            <a:off x="-186276" y="3728989"/>
            <a:ext cx="2038752" cy="6438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tx1"/>
                </a:solidFill>
                <a:latin typeface="微软雅黑" panose="020B0503020204020204" charset="-122"/>
                <a:ea typeface="微软雅黑" panose="020B0503020204020204" charset="-122"/>
              </a:rPr>
              <a:t>超越宿命论规律</a:t>
            </a:r>
          </a:p>
          <a:p>
            <a:pPr algn="ctr"/>
            <a:r>
              <a:rPr lang="zh-CN" altLang="en-US">
                <a:solidFill>
                  <a:schemeClr val="tx1"/>
                </a:solidFill>
                <a:latin typeface="微软雅黑" panose="020B0503020204020204" charset="-122"/>
                <a:ea typeface="微软雅黑" panose="020B0503020204020204" charset="-122"/>
              </a:rPr>
              <a:t>与主体能动性</a:t>
            </a:r>
          </a:p>
        </p:txBody>
      </p:sp>
      <p:sp>
        <p:nvSpPr>
          <p:cNvPr id="56" name="文本框 55"/>
          <p:cNvSpPr txBox="1"/>
          <p:nvPr/>
        </p:nvSpPr>
        <p:spPr>
          <a:xfrm>
            <a:off x="554990" y="4634230"/>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a:latin typeface="微软雅黑" panose="020B0503020204020204" charset="-122"/>
                <a:ea typeface="微软雅黑" panose="020B0503020204020204" charset="-122"/>
              </a:rPr>
              <a:t>结论</a:t>
            </a:r>
            <a:endPar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10" name="文本框 9"/>
          <p:cNvSpPr txBox="1"/>
          <p:nvPr/>
        </p:nvSpPr>
        <p:spPr>
          <a:xfrm>
            <a:off x="2148467" y="367508"/>
            <a:ext cx="9899999" cy="70548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4000" b="1">
                <a:latin typeface="微软雅黑" panose="020B0503020204020204" charset="-122"/>
                <a:ea typeface="微软雅黑" panose="020B0503020204020204" charset="-122"/>
              </a:rPr>
              <a:t>经济基础与上层建筑的矛盾运动及其规律</a:t>
            </a:r>
          </a:p>
        </p:txBody>
      </p:sp>
      <p:sp>
        <p:nvSpPr>
          <p:cNvPr id="7" name="文本框 6"/>
          <p:cNvSpPr txBox="1"/>
          <p:nvPr/>
        </p:nvSpPr>
        <p:spPr>
          <a:xfrm>
            <a:off x="2148205" y="1098550"/>
            <a:ext cx="9418320" cy="73596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indent="0" algn="just" fontAlgn="auto">
              <a:lnSpc>
                <a:spcPct val="150000"/>
              </a:lnSpc>
            </a:pPr>
            <a:r>
              <a:rPr lang="zh-CN" altLang="en-US" sz="2800">
                <a:latin typeface="微软雅黑" panose="020B0503020204020204" charset="-122"/>
                <a:ea typeface="微软雅黑" panose="020B0503020204020204" charset="-122"/>
                <a:cs typeface="宋体" panose="02010600030101010101" pitchFamily="2" charset="-122"/>
                <a:sym typeface="+mn-ea"/>
              </a:rPr>
              <a:t>经济基础就是一定社会中占统治地位的生产关系的总和。</a:t>
            </a:r>
            <a:endParaRPr kumimoji="0" lang="zh-CN" altLang="en-US" sz="2800" b="1" i="0" u="none" strike="noStrike" cap="none" spc="0" normalizeH="0" baseline="0">
              <a:ln>
                <a:noFill/>
              </a:ln>
              <a:solidFill>
                <a:srgbClr val="C00000"/>
              </a:solidFill>
              <a:effectLst/>
              <a:uFillTx/>
              <a:latin typeface="微软雅黑" panose="020B0503020204020204" charset="-122"/>
              <a:ea typeface="微软雅黑" panose="020B0503020204020204" charset="-122"/>
              <a:cs typeface="宋体" panose="02010600030101010101" pitchFamily="2" charset="-122"/>
              <a:sym typeface="+mn-ea"/>
            </a:endParaRPr>
          </a:p>
        </p:txBody>
      </p:sp>
      <p:sp>
        <p:nvSpPr>
          <p:cNvPr id="14" name="文本框 13"/>
          <p:cNvSpPr txBox="1"/>
          <p:nvPr/>
        </p:nvSpPr>
        <p:spPr>
          <a:xfrm>
            <a:off x="2094865" y="1840230"/>
            <a:ext cx="9417685" cy="18903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eaLnBrk="1">
              <a:lnSpc>
                <a:spcPct val="100000"/>
              </a:lnSpc>
              <a:spcBef>
                <a:spcPts val="600"/>
              </a:spcBef>
              <a:spcAft>
                <a:spcPts val="0"/>
              </a:spcAft>
              <a:buClrTx/>
              <a:buSzTx/>
              <a:buFontTx/>
              <a:buNone/>
            </a:pPr>
            <a:r>
              <a:rPr lang="zh-CN" altLang="en-US" sz="2800">
                <a:latin typeface="微软雅黑" panose="020B0503020204020204" charset="-122"/>
                <a:ea typeface="微软雅黑" panose="020B0503020204020204" charset="-122"/>
                <a:cs typeface="宋体" panose="02010600030101010101" pitchFamily="2" charset="-122"/>
                <a:sym typeface="+mn-ea"/>
              </a:rPr>
              <a:t>上层建筑就是建立在一定经济基础之上的意识形态以及相应的制度、组织和设施。</a:t>
            </a:r>
          </a:p>
          <a:p>
            <a:pPr marL="457200" marR="0" indent="-457200" algn="l" defTabSz="914400" rtl="0" eaLnBrk="1">
              <a:lnSpc>
                <a:spcPct val="100000"/>
              </a:lnSpc>
              <a:spcBef>
                <a:spcPts val="600"/>
              </a:spcBef>
              <a:spcAft>
                <a:spcPts val="0"/>
              </a:spcAft>
              <a:buClrTx/>
              <a:buSzTx/>
              <a:buFont typeface="Arial" panose="020B0604020202020204" pitchFamily="34" charset="0"/>
              <a:buChar char="•"/>
            </a:pPr>
            <a:r>
              <a:rPr lang="zh-CN" altLang="en-US" sz="2800">
                <a:solidFill>
                  <a:srgbClr val="414455"/>
                </a:solidFill>
                <a:latin typeface="微软雅黑" panose="020B0503020204020204" charset="-122"/>
                <a:ea typeface="微软雅黑" panose="020B0503020204020204" charset="-122"/>
                <a:cs typeface="宋体" panose="02010600030101010101" pitchFamily="2" charset="-122"/>
                <a:sym typeface="+mn-ea"/>
              </a:rPr>
              <a:t>观念上层建筑（思想装修）</a:t>
            </a:r>
          </a:p>
          <a:p>
            <a:pPr marL="457200" marR="0" indent="-457200" algn="l" defTabSz="914400" rtl="0" fontAlgn="auto" latinLnBrk="0" hangingPunct="0">
              <a:lnSpc>
                <a:spcPct val="100000"/>
              </a:lnSpc>
              <a:spcBef>
                <a:spcPts val="0"/>
              </a:spcBef>
              <a:spcAft>
                <a:spcPts val="0"/>
              </a:spcAft>
              <a:buClrTx/>
              <a:buSzTx/>
              <a:buFont typeface="Arial" panose="020B0604020202020204" pitchFamily="34" charset="0"/>
              <a:buChar char="•"/>
            </a:pPr>
            <a:r>
              <a:rPr lang="zh-CN" altLang="en-US" sz="2800">
                <a:solidFill>
                  <a:srgbClr val="414455"/>
                </a:solidFill>
                <a:latin typeface="微软雅黑" panose="020B0503020204020204" charset="-122"/>
                <a:ea typeface="微软雅黑" panose="020B0503020204020204" charset="-122"/>
                <a:cs typeface="宋体" panose="02010600030101010101" pitchFamily="2" charset="-122"/>
                <a:sym typeface="+mn-ea"/>
              </a:rPr>
              <a:t>政治上层建筑（权力架构）</a:t>
            </a:r>
            <a:endParaRPr kumimoji="0" lang="zh-CN" altLang="en-US" sz="2800" b="0" i="0" u="none" strike="noStrike" cap="none" spc="0" normalizeH="0" baseline="0">
              <a:ln>
                <a:noFill/>
              </a:ln>
              <a:solidFill>
                <a:srgbClr val="414455"/>
              </a:solidFill>
              <a:effectLst/>
              <a:uFillTx/>
              <a:latin typeface="微软雅黑" panose="020B0503020204020204" charset="-122"/>
              <a:ea typeface="微软雅黑" panose="020B0503020204020204" charset="-122"/>
              <a:cs typeface="宋体" panose="02010600030101010101" pitchFamily="2" charset="-122"/>
              <a:sym typeface="+mn-ea"/>
            </a:endParaRPr>
          </a:p>
        </p:txBody>
      </p:sp>
      <p:sp>
        <p:nvSpPr>
          <p:cNvPr id="16" name="文本框 15"/>
          <p:cNvSpPr txBox="1"/>
          <p:nvPr/>
        </p:nvSpPr>
        <p:spPr>
          <a:xfrm>
            <a:off x="2094865" y="3803650"/>
            <a:ext cx="8866505" cy="14592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algn="just" eaLnBrk="1">
              <a:lnSpc>
                <a:spcPct val="100000"/>
              </a:lnSpc>
              <a:spcAft>
                <a:spcPts val="600"/>
              </a:spcAft>
            </a:pPr>
            <a:r>
              <a:rPr lang="zh-CN" altLang="en-US" sz="2800" b="1">
                <a:solidFill>
                  <a:srgbClr val="C00000"/>
                </a:solidFill>
                <a:latin typeface="宋体" panose="02010600030101010101" pitchFamily="2" charset="-122"/>
                <a:ea typeface="宋体" panose="02010600030101010101" pitchFamily="2" charset="-122"/>
                <a:cs typeface="宋体" panose="02010600030101010101" pitchFamily="2" charset="-122"/>
                <a:sym typeface="+mn-ea"/>
              </a:rPr>
              <a:t>二者的关系：地基决定建筑，建筑维护地基</a:t>
            </a:r>
            <a:endParaRPr lang="en-US" altLang="zh-CN" sz="2800" b="1">
              <a:solidFill>
                <a:srgbClr val="C00000"/>
              </a:solidFill>
              <a:latin typeface="宋体" panose="02010600030101010101" pitchFamily="2" charset="-122"/>
              <a:ea typeface="宋体" panose="02010600030101010101" pitchFamily="2" charset="-122"/>
              <a:cs typeface="宋体" panose="02010600030101010101" pitchFamily="2" charset="-122"/>
            </a:endParaRPr>
          </a:p>
          <a:p>
            <a:pPr marL="457200" indent="-457200" algn="just" eaLnBrk="1">
              <a:lnSpc>
                <a:spcPct val="100000"/>
              </a:lnSpc>
              <a:buFont typeface="Arial" panose="020B0604020202020204" pitchFamily="34" charset="0"/>
              <a:buChar char="•"/>
            </a:pPr>
            <a:r>
              <a:rPr lang="zh-CN" altLang="en-US" sz="280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经济基础决定上层建筑</a:t>
            </a:r>
          </a:p>
          <a:p>
            <a:pPr marL="457200" indent="-457200" algn="just" eaLnBrk="1">
              <a:lnSpc>
                <a:spcPct val="100000"/>
              </a:lnSpc>
              <a:buFont typeface="Arial" panose="020B0604020202020204" pitchFamily="34" charset="0"/>
              <a:buChar char="•"/>
            </a:pPr>
            <a:r>
              <a:rPr lang="zh-CN" altLang="en-US" sz="2800">
                <a:solidFill>
                  <a:schemeClr val="tx1"/>
                </a:solidFill>
                <a:latin typeface="宋体" panose="02010600030101010101" pitchFamily="2" charset="-122"/>
                <a:ea typeface="宋体" panose="02010600030101010101" pitchFamily="2" charset="-122"/>
                <a:cs typeface="宋体" panose="02010600030101010101" pitchFamily="2" charset="-122"/>
                <a:sym typeface="+mn-ea"/>
              </a:rPr>
              <a:t>上层建筑反作用于经济基础</a:t>
            </a:r>
            <a:endParaRPr kumimoji="0" lang="zh-CN" altLang="en-US" sz="2800" b="0" i="0" u="none" strike="noStrike" cap="none" spc="0" normalizeH="0" baseline="0">
              <a:ln>
                <a:noFill/>
              </a:ln>
              <a:solidFill>
                <a:schemeClr val="tx1"/>
              </a:solidFill>
              <a:effectLst/>
              <a:uFillTx/>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8" name="文本框 17"/>
          <p:cNvSpPr txBox="1"/>
          <p:nvPr/>
        </p:nvSpPr>
        <p:spPr>
          <a:xfrm>
            <a:off x="2148205" y="5338445"/>
            <a:ext cx="9959340" cy="1467485"/>
          </a:xfrm>
          <a:prstGeom prst="rect">
            <a:avLst/>
          </a:prstGeom>
        </p:spPr>
        <p:txBody>
          <a:bodyPr wrap="square">
            <a:spAutoFit/>
          </a:bodyPr>
          <a:lstStyle/>
          <a:p>
            <a:pPr defTabSz="266700">
              <a:lnSpc>
                <a:spcPct val="115000"/>
              </a:lnSpc>
              <a:spcAft>
                <a:spcPts val="800"/>
              </a:spcAft>
            </a:pPr>
            <a:r>
              <a:rPr lang="en-US" altLang="zh-CN" sz="2400" i="1">
                <a:solidFill>
                  <a:schemeClr val="tx1">
                    <a:lumMod val="65000"/>
                    <a:lumOff val="35000"/>
                  </a:schemeClr>
                </a:solidFill>
                <a:latin typeface="微软雅黑" panose="020B0503020204020204" charset="-122"/>
                <a:ea typeface="微软雅黑" panose="020B0503020204020204" charset="-122"/>
              </a:rPr>
              <a:t>“每一历史时代主要的经济生产方式和交换方式以及必然由此产生的社会结构，是该时代政治的和精神的历史所赖以确立的基础。”</a:t>
            </a:r>
            <a:r>
              <a:rPr lang="zh-CN" altLang="en-US" sz="2400" i="1">
                <a:solidFill>
                  <a:schemeClr val="tx1">
                    <a:lumMod val="65000"/>
                    <a:lumOff val="35000"/>
                  </a:schemeClr>
                </a:solidFill>
                <a:latin typeface="微软雅黑" panose="020B0503020204020204" charset="-122"/>
                <a:ea typeface="微软雅黑" panose="020B0503020204020204" charset="-122"/>
              </a:rPr>
              <a:t> ⑧</a:t>
            </a:r>
            <a:endParaRPr lang="en-US" altLang="zh-CN" sz="2400" i="1">
              <a:solidFill>
                <a:schemeClr val="tx1">
                  <a:lumMod val="65000"/>
                  <a:lumOff val="35000"/>
                </a:schemeClr>
              </a:solidFill>
              <a:latin typeface="微软雅黑" panose="020B0503020204020204" charset="-122"/>
              <a:ea typeface="微软雅黑" panose="020B0503020204020204" charset="-122"/>
            </a:endParaRPr>
          </a:p>
          <a:p>
            <a:pPr algn="r" defTabSz="266700">
              <a:lnSpc>
                <a:spcPct val="115000"/>
              </a:lnSpc>
              <a:spcAft>
                <a:spcPts val="800"/>
              </a:spcAft>
            </a:pPr>
            <a:r>
              <a:rPr lang="en-US" altLang="zh-CN" sz="2400">
                <a:solidFill>
                  <a:schemeClr val="tx1">
                    <a:lumMod val="65000"/>
                    <a:lumOff val="35000"/>
                  </a:schemeClr>
                </a:solidFill>
                <a:latin typeface="微软雅黑" panose="020B0503020204020204" charset="-122"/>
                <a:ea typeface="微软雅黑" panose="020B0503020204020204" charset="-122"/>
              </a:rPr>
              <a:t>——马克思、恩格斯：《共产党宣言》</a:t>
            </a:r>
          </a:p>
        </p:txBody>
      </p:sp>
      <p:sp>
        <p:nvSpPr>
          <p:cNvPr id="19" name="矩形 18"/>
          <p:cNvSpPr/>
          <p:nvPr/>
        </p:nvSpPr>
        <p:spPr>
          <a:xfrm>
            <a:off x="2040890" y="5368290"/>
            <a:ext cx="107315" cy="1397635"/>
          </a:xfrm>
          <a:prstGeom prst="rect">
            <a:avLst/>
          </a:prstGeom>
          <a:solidFill>
            <a:schemeClr val="bg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0" name="文本框 19"/>
          <p:cNvSpPr txBox="1"/>
          <p:nvPr/>
        </p:nvSpPr>
        <p:spPr>
          <a:xfrm>
            <a:off x="6968490" y="2451418"/>
            <a:ext cx="5080000" cy="1276350"/>
          </a:xfrm>
          <a:prstGeom prst="rect">
            <a:avLst/>
          </a:prstGeom>
        </p:spPr>
        <p:txBody>
          <a:bodyPr>
            <a:spAutoFit/>
          </a:bodyPr>
          <a:lstStyle/>
          <a:p>
            <a:pPr defTabSz="266700" eaLnBrk="1">
              <a:spcAft>
                <a:spcPts val="600"/>
              </a:spcAft>
            </a:pPr>
            <a:r>
              <a:rPr lang="zh-CN" altLang="en-US" sz="2400" b="1">
                <a:solidFill>
                  <a:srgbClr val="414455"/>
                </a:solidFill>
                <a:effectLst>
                  <a:outerShdw blurRad="38100" dist="38100" dir="2700000" algn="tl">
                    <a:srgbClr val="000000">
                      <a:alpha val="43137"/>
                    </a:srgbClr>
                  </a:outerShdw>
                </a:effectLst>
                <a:latin typeface="等线" panose="02010600030101010101" charset="-122"/>
                <a:ea typeface="等线" panose="02010600030101010101" charset="-122"/>
              </a:rPr>
              <a:t>社会主义市场经济体制的建立与发展</a:t>
            </a:r>
          </a:p>
          <a:p>
            <a:pPr defTabSz="266700" eaLnBrk="1">
              <a:spcAft>
                <a:spcPts val="600"/>
              </a:spcAft>
            </a:pPr>
            <a:r>
              <a:rPr lang="zh-CN" altLang="en-US" sz="2400" b="1">
                <a:solidFill>
                  <a:srgbClr val="414455"/>
                </a:solidFill>
                <a:effectLst>
                  <a:outerShdw blurRad="38100" dist="38100" dir="2700000" algn="tl">
                    <a:srgbClr val="000000">
                      <a:alpha val="43137"/>
                    </a:srgbClr>
                  </a:outerShdw>
                </a:effectLst>
                <a:latin typeface="等线" panose="02010600030101010101" charset="-122"/>
                <a:ea typeface="等线" panose="02010600030101010101" charset="-122"/>
              </a:rPr>
              <a:t>近代中国社会形态的变革</a:t>
            </a:r>
            <a:r>
              <a:rPr lang="en-US" altLang="zh-CN" sz="2400" b="1">
                <a:solidFill>
                  <a:srgbClr val="414455"/>
                </a:solidFill>
                <a:effectLst>
                  <a:outerShdw blurRad="38100" dist="38100" dir="2700000" algn="tl">
                    <a:srgbClr val="000000">
                      <a:alpha val="43137"/>
                    </a:srgbClr>
                  </a:outerShdw>
                </a:effectLst>
                <a:latin typeface="等线" panose="02010600030101010101" charset="-122"/>
                <a:ea typeface="等线" panose="02010600030101010101" charset="-122"/>
              </a:rPr>
              <a:t>——</a:t>
            </a:r>
            <a:r>
              <a:rPr lang="zh-CN" altLang="en-US" sz="2400" b="1">
                <a:solidFill>
                  <a:srgbClr val="414455"/>
                </a:solidFill>
                <a:effectLst>
                  <a:outerShdw blurRad="38100" dist="38100" dir="2700000" algn="tl">
                    <a:srgbClr val="000000">
                      <a:alpha val="43137"/>
                    </a:srgbClr>
                  </a:outerShdw>
                </a:effectLst>
                <a:latin typeface="等线" panose="02010600030101010101" charset="-122"/>
                <a:ea typeface="等线" panose="02010600030101010101" charset="-122"/>
              </a:rPr>
              <a:t>从半殖民地半封建社会到社会主义</a:t>
            </a:r>
          </a:p>
        </p:txBody>
      </p:sp>
    </p:spTree>
  </p:cSld>
  <p:clrMapOvr>
    <a:masterClrMapping/>
  </p:clrMapOvr>
  <mc:AlternateContent xmlns:mc="http://schemas.openxmlformats.org/markup-compatibility/2006" xmlns:p14="http://schemas.microsoft.com/office/powerpoint/2010/main">
    <mc:Choice Requires="p14">
      <p:transition spd="slow" p14:dur="1200">
        <p:wipe/>
      </p:transition>
    </mc:Choice>
    <mc:Fallback xmlns="">
      <p:transition spd="slow">
        <p:wip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1923415" y="3961130"/>
            <a:ext cx="10175240" cy="2827655"/>
          </a:xfrm>
          <a:prstGeom prst="rect">
            <a:avLst/>
          </a:prstGeom>
          <a:solidFill>
            <a:srgbClr val="41445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502" name="五边形 8"/>
          <p:cNvSpPr txBox="1">
            <a:spLocks noGrp="1"/>
          </p:cNvSpPr>
          <p:nvPr>
            <p:ph type="sldNum" sz="quarter" idx="2"/>
          </p:nvPr>
        </p:nvSpPr>
        <p:spPr>
          <a:xfrm>
            <a:off x="11325758" y="6392544"/>
            <a:ext cx="860594" cy="396241"/>
          </a:xfrm>
          <a:prstGeom prst="rect">
            <a:avLst/>
          </a:prstGeom>
        </p:spPr>
        <p:txBody>
          <a:bodyPr/>
          <a:lstStyle/>
          <a:p>
            <a:fld id="{86CB4B4D-7CA3-9044-876B-883B54F8677D}" type="slidenum">
              <a:rPr/>
              <a:t>13</a:t>
            </a:fld>
            <a:endParaRPr/>
          </a:p>
        </p:txBody>
      </p:sp>
      <p:sp>
        <p:nvSpPr>
          <p:cNvPr id="4" name="矩形 3"/>
          <p:cNvSpPr/>
          <p:nvPr/>
        </p:nvSpPr>
        <p:spPr>
          <a:xfrm>
            <a:off x="119380" y="1401445"/>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 name="矩形 1"/>
          <p:cNvSpPr/>
          <p:nvPr/>
        </p:nvSpPr>
        <p:spPr>
          <a:xfrm>
            <a:off x="123825" y="222123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矩形 2"/>
          <p:cNvSpPr/>
          <p:nvPr/>
        </p:nvSpPr>
        <p:spPr>
          <a:xfrm>
            <a:off x="123825" y="381254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5" name="矩形 4"/>
          <p:cNvSpPr/>
          <p:nvPr/>
        </p:nvSpPr>
        <p:spPr>
          <a:xfrm>
            <a:off x="67945" y="4611370"/>
            <a:ext cx="1511300" cy="499110"/>
          </a:xfrm>
          <a:prstGeom prst="rect">
            <a:avLst/>
          </a:prstGeom>
          <a:solidFill>
            <a:srgbClr val="F2F2F2"/>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6" name="矩形 5"/>
          <p:cNvSpPr/>
          <p:nvPr/>
        </p:nvSpPr>
        <p:spPr>
          <a:xfrm>
            <a:off x="67945" y="3006725"/>
            <a:ext cx="1511300" cy="499110"/>
          </a:xfrm>
          <a:prstGeom prst="rect">
            <a:avLst/>
          </a:prstGeom>
          <a:solidFill>
            <a:srgbClr val="414455"/>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ctr"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9" name="文本框 8"/>
          <p:cNvSpPr txBox="1"/>
          <p:nvPr/>
        </p:nvSpPr>
        <p:spPr>
          <a:xfrm>
            <a:off x="548640" y="1467485"/>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rPr>
              <a:t>绪论</a:t>
            </a:r>
          </a:p>
        </p:txBody>
      </p:sp>
      <p:sp>
        <p:nvSpPr>
          <p:cNvPr id="53" name="文本框 52"/>
          <p:cNvSpPr txBox="1"/>
          <p:nvPr/>
        </p:nvSpPr>
        <p:spPr>
          <a:xfrm>
            <a:off x="-255829" y="2142618"/>
            <a:ext cx="2178821" cy="9207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tx1"/>
                </a:solidFill>
                <a:latin typeface="微软雅黑" panose="020B0503020204020204" charset="-122"/>
                <a:ea typeface="微软雅黑" panose="020B0503020204020204" charset="-122"/>
              </a:rPr>
              <a:t>社会存在</a:t>
            </a:r>
            <a:endParaRPr lang="en-US" altLang="zh-CN">
              <a:solidFill>
                <a:schemeClr val="tx1"/>
              </a:solidFill>
              <a:latin typeface="微软雅黑" panose="020B0503020204020204" charset="-122"/>
              <a:ea typeface="微软雅黑" panose="020B0503020204020204" charset="-122"/>
            </a:endParaRPr>
          </a:p>
          <a:p>
            <a:pPr algn="ctr"/>
            <a:r>
              <a:rPr lang="zh-CN" altLang="en-US">
                <a:solidFill>
                  <a:schemeClr val="tx1"/>
                </a:solidFill>
                <a:latin typeface="微软雅黑" panose="020B0503020204020204" charset="-122"/>
                <a:ea typeface="微软雅黑" panose="020B0503020204020204" charset="-122"/>
              </a:rPr>
              <a:t>与社会意识</a:t>
            </a: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chemeClr val="tx1"/>
              </a:solidFill>
              <a:effectLst/>
              <a:uFillTx/>
              <a:latin typeface="微软雅黑" panose="020B0503020204020204" charset="-122"/>
              <a:ea typeface="微软雅黑" panose="020B0503020204020204" charset="-122"/>
              <a:sym typeface="Calibri" panose="020F0502020204030204"/>
            </a:endParaRPr>
          </a:p>
        </p:txBody>
      </p:sp>
      <p:sp>
        <p:nvSpPr>
          <p:cNvPr id="54" name="文本框 53"/>
          <p:cNvSpPr txBox="1"/>
          <p:nvPr/>
        </p:nvSpPr>
        <p:spPr>
          <a:xfrm>
            <a:off x="-185794" y="2933186"/>
            <a:ext cx="2038752" cy="11976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bg1"/>
                </a:solidFill>
                <a:latin typeface="微软雅黑" panose="020B0503020204020204" charset="-122"/>
                <a:ea typeface="微软雅黑" panose="020B0503020204020204" charset="-122"/>
              </a:rPr>
              <a:t>社会基本矛盾</a:t>
            </a:r>
            <a:endParaRPr lang="en-US" altLang="zh-CN">
              <a:solidFill>
                <a:schemeClr val="bg1"/>
              </a:solidFill>
              <a:latin typeface="微软雅黑" panose="020B0503020204020204" charset="-122"/>
              <a:ea typeface="微软雅黑" panose="020B0503020204020204" charset="-122"/>
            </a:endParaRPr>
          </a:p>
          <a:p>
            <a:pPr algn="ctr"/>
            <a:r>
              <a:rPr lang="zh-CN" altLang="en-US">
                <a:solidFill>
                  <a:schemeClr val="bg1"/>
                </a:solidFill>
                <a:latin typeface="微软雅黑" panose="020B0503020204020204" charset="-122"/>
                <a:ea typeface="微软雅黑" panose="020B0503020204020204" charset="-122"/>
              </a:rPr>
              <a:t>及其运动规律</a:t>
            </a:r>
          </a:p>
          <a:p>
            <a:pPr algn="ctr"/>
            <a:endParaRPr lang="zh-CN" altLang="en-US">
              <a:solidFill>
                <a:schemeClr val="bg1"/>
              </a:solidFill>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i="0" u="none" strike="noStrike" cap="none" spc="0" normalizeH="0" baseline="0">
              <a:ln>
                <a:noFill/>
              </a:ln>
              <a:solidFill>
                <a:schemeClr val="bg1"/>
              </a:solidFill>
              <a:effectLst/>
              <a:uFillTx/>
              <a:latin typeface="微软雅黑" panose="020B0503020204020204" charset="-122"/>
              <a:ea typeface="微软雅黑" panose="020B0503020204020204" charset="-122"/>
              <a:sym typeface="Calibri" panose="020F0502020204030204"/>
            </a:endParaRPr>
          </a:p>
        </p:txBody>
      </p:sp>
      <p:sp>
        <p:nvSpPr>
          <p:cNvPr id="55" name="文本框 54"/>
          <p:cNvSpPr txBox="1"/>
          <p:nvPr/>
        </p:nvSpPr>
        <p:spPr>
          <a:xfrm>
            <a:off x="-186276" y="3728989"/>
            <a:ext cx="2038752" cy="6438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a:solidFill>
                  <a:schemeClr val="tx1"/>
                </a:solidFill>
                <a:latin typeface="微软雅黑" panose="020B0503020204020204" charset="-122"/>
                <a:ea typeface="微软雅黑" panose="020B0503020204020204" charset="-122"/>
              </a:rPr>
              <a:t>超越宿命论规律</a:t>
            </a:r>
          </a:p>
          <a:p>
            <a:pPr algn="ctr"/>
            <a:r>
              <a:rPr lang="zh-CN" altLang="en-US">
                <a:solidFill>
                  <a:schemeClr val="tx1"/>
                </a:solidFill>
                <a:latin typeface="微软雅黑" panose="020B0503020204020204" charset="-122"/>
                <a:ea typeface="微软雅黑" panose="020B0503020204020204" charset="-122"/>
              </a:rPr>
              <a:t>与主体能动性</a:t>
            </a:r>
          </a:p>
        </p:txBody>
      </p:sp>
      <p:sp>
        <p:nvSpPr>
          <p:cNvPr id="56" name="文本框 55"/>
          <p:cNvSpPr txBox="1"/>
          <p:nvPr/>
        </p:nvSpPr>
        <p:spPr>
          <a:xfrm>
            <a:off x="554990" y="4634230"/>
            <a:ext cx="556895" cy="3670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a:latin typeface="微软雅黑" panose="020B0503020204020204" charset="-122"/>
                <a:ea typeface="微软雅黑" panose="020B0503020204020204" charset="-122"/>
              </a:rPr>
              <a:t>结论</a:t>
            </a:r>
            <a:endParaRPr kumimoji="0" lang="zh-CN" altLang="en-US"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10" name="文本框 9"/>
          <p:cNvSpPr txBox="1"/>
          <p:nvPr/>
        </p:nvSpPr>
        <p:spPr>
          <a:xfrm>
            <a:off x="2148467" y="367508"/>
            <a:ext cx="9899999" cy="705485"/>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4000" b="1">
                <a:latin typeface="微软雅黑" panose="020B0503020204020204" charset="-122"/>
                <a:ea typeface="微软雅黑" panose="020B0503020204020204" charset="-122"/>
              </a:rPr>
              <a:t>经济基础与上层建筑的矛盾运动及其规律</a:t>
            </a:r>
          </a:p>
        </p:txBody>
      </p:sp>
      <p:sp>
        <p:nvSpPr>
          <p:cNvPr id="18" name="文本框 17"/>
          <p:cNvSpPr txBox="1"/>
          <p:nvPr/>
        </p:nvSpPr>
        <p:spPr>
          <a:xfrm>
            <a:off x="2220595" y="2192655"/>
            <a:ext cx="10103485" cy="1619885"/>
          </a:xfrm>
          <a:prstGeom prst="rect">
            <a:avLst/>
          </a:prstGeom>
        </p:spPr>
        <p:txBody>
          <a:bodyPr wrap="square">
            <a:spAutoFit/>
          </a:bodyPr>
          <a:lstStyle/>
          <a:p>
            <a:pPr defTabSz="266700" eaLnBrk="1">
              <a:lnSpc>
                <a:spcPct val="100000"/>
              </a:lnSpc>
              <a:spcAft>
                <a:spcPts val="200"/>
              </a:spcAft>
            </a:pPr>
            <a:r>
              <a:rPr lang="en-US" altLang="zh-CN" sz="2400" i="1">
                <a:solidFill>
                  <a:schemeClr val="tx1">
                    <a:lumMod val="65000"/>
                    <a:lumOff val="35000"/>
                  </a:schemeClr>
                </a:solidFill>
                <a:latin typeface="微软雅黑" panose="020B0503020204020204" charset="-122"/>
                <a:ea typeface="微软雅黑" panose="020B0503020204020204" charset="-122"/>
              </a:rPr>
              <a:t>1.“</a:t>
            </a:r>
            <a:r>
              <a:rPr lang="zh-CN" altLang="en-US" sz="2400" i="1">
                <a:solidFill>
                  <a:schemeClr val="tx1">
                    <a:lumMod val="65000"/>
                    <a:lumOff val="35000"/>
                  </a:schemeClr>
                </a:solidFill>
                <a:latin typeface="微软雅黑" panose="020B0503020204020204" charset="-122"/>
                <a:ea typeface="微软雅黑" panose="020B0503020204020204" charset="-122"/>
              </a:rPr>
              <a:t>它可以沿着同一方向起作用</a:t>
            </a:r>
            <a:r>
              <a:rPr lang="en-US" altLang="zh-CN" sz="2400" i="1">
                <a:solidFill>
                  <a:schemeClr val="tx1">
                    <a:lumMod val="65000"/>
                    <a:lumOff val="35000"/>
                  </a:schemeClr>
                </a:solidFill>
                <a:latin typeface="微软雅黑" panose="020B0503020204020204" charset="-122"/>
                <a:ea typeface="微软雅黑" panose="020B0503020204020204" charset="-122"/>
              </a:rPr>
              <a:t>”</a:t>
            </a:r>
            <a:r>
              <a:rPr lang="zh-CN" altLang="en-US" sz="2400" i="1">
                <a:solidFill>
                  <a:schemeClr val="tx1">
                    <a:lumMod val="65000"/>
                    <a:lumOff val="35000"/>
                  </a:schemeClr>
                </a:solidFill>
                <a:latin typeface="微软雅黑" panose="020B0503020204020204" charset="-122"/>
                <a:ea typeface="微软雅黑" panose="020B0503020204020204" charset="-122"/>
              </a:rPr>
              <a:t>，促进经济的发展；</a:t>
            </a:r>
          </a:p>
          <a:p>
            <a:pPr defTabSz="266700" eaLnBrk="1">
              <a:lnSpc>
                <a:spcPct val="100000"/>
              </a:lnSpc>
              <a:spcAft>
                <a:spcPts val="200"/>
              </a:spcAft>
            </a:pPr>
            <a:r>
              <a:rPr lang="en-US" altLang="zh-CN" sz="2400" i="1">
                <a:solidFill>
                  <a:schemeClr val="tx1">
                    <a:lumMod val="65000"/>
                    <a:lumOff val="35000"/>
                  </a:schemeClr>
                </a:solidFill>
                <a:latin typeface="微软雅黑" panose="020B0503020204020204" charset="-122"/>
                <a:ea typeface="微软雅黑" panose="020B0503020204020204" charset="-122"/>
              </a:rPr>
              <a:t>2.“</a:t>
            </a:r>
            <a:r>
              <a:rPr lang="zh-CN" altLang="en-US" sz="2400" i="1">
                <a:solidFill>
                  <a:schemeClr val="tx1">
                    <a:lumMod val="65000"/>
                    <a:lumOff val="35000"/>
                  </a:schemeClr>
                </a:solidFill>
                <a:latin typeface="微软雅黑" panose="020B0503020204020204" charset="-122"/>
                <a:ea typeface="微软雅黑" panose="020B0503020204020204" charset="-122"/>
              </a:rPr>
              <a:t>它可以沿着相反的方向起作用</a:t>
            </a:r>
            <a:r>
              <a:rPr lang="en-US" altLang="zh-CN" sz="2400" i="1">
                <a:solidFill>
                  <a:schemeClr val="tx1">
                    <a:lumMod val="65000"/>
                    <a:lumOff val="35000"/>
                  </a:schemeClr>
                </a:solidFill>
                <a:latin typeface="微软雅黑" panose="020B0503020204020204" charset="-122"/>
                <a:ea typeface="微软雅黑" panose="020B0503020204020204" charset="-122"/>
              </a:rPr>
              <a:t>”</a:t>
            </a:r>
            <a:r>
              <a:rPr lang="zh-CN" altLang="en-US" sz="2400" i="1">
                <a:solidFill>
                  <a:schemeClr val="tx1">
                    <a:lumMod val="65000"/>
                    <a:lumOff val="35000"/>
                  </a:schemeClr>
                </a:solidFill>
                <a:latin typeface="微软雅黑" panose="020B0503020204020204" charset="-122"/>
                <a:ea typeface="微软雅黑" panose="020B0503020204020204" charset="-122"/>
              </a:rPr>
              <a:t>，阻碍经济的发展；</a:t>
            </a:r>
          </a:p>
          <a:p>
            <a:pPr defTabSz="266700" eaLnBrk="1">
              <a:lnSpc>
                <a:spcPct val="100000"/>
              </a:lnSpc>
              <a:spcAft>
                <a:spcPts val="200"/>
              </a:spcAft>
            </a:pPr>
            <a:r>
              <a:rPr lang="en-US" altLang="zh-CN" sz="2400" i="1">
                <a:solidFill>
                  <a:schemeClr val="tx1">
                    <a:lumMod val="65000"/>
                    <a:lumOff val="35000"/>
                  </a:schemeClr>
                </a:solidFill>
                <a:latin typeface="微软雅黑" panose="020B0503020204020204" charset="-122"/>
                <a:ea typeface="微软雅黑" panose="020B0503020204020204" charset="-122"/>
              </a:rPr>
              <a:t>3.</a:t>
            </a:r>
            <a:r>
              <a:rPr lang="zh-CN" altLang="en-US" sz="2400" i="1">
                <a:solidFill>
                  <a:schemeClr val="tx1">
                    <a:lumMod val="65000"/>
                    <a:lumOff val="35000"/>
                  </a:schemeClr>
                </a:solidFill>
                <a:latin typeface="微软雅黑" panose="020B0503020204020204" charset="-122"/>
                <a:ea typeface="微软雅黑" panose="020B0503020204020204" charset="-122"/>
              </a:rPr>
              <a:t>在某种程度上暂时扭转经济的发展方向，或者把经济推向前进，或者把经济拉向后退。</a:t>
            </a:r>
            <a:r>
              <a:rPr lang="en-US" altLang="en-US" sz="2400" i="1">
                <a:solidFill>
                  <a:schemeClr val="tx1">
                    <a:lumMod val="65000"/>
                    <a:lumOff val="35000"/>
                  </a:schemeClr>
                </a:solidFill>
                <a:latin typeface="微软雅黑" panose="020B0503020204020204" charset="-122"/>
                <a:ea typeface="微软雅黑" panose="020B0503020204020204" charset="-122"/>
              </a:rPr>
              <a:t> </a:t>
            </a:r>
            <a:r>
              <a:rPr lang="zh-CN" altLang="en-US" sz="2400" i="1">
                <a:solidFill>
                  <a:schemeClr val="tx1">
                    <a:lumMod val="65000"/>
                    <a:lumOff val="35000"/>
                  </a:schemeClr>
                </a:solidFill>
                <a:latin typeface="微软雅黑" panose="020B0503020204020204" charset="-122"/>
                <a:ea typeface="微软雅黑" panose="020B0503020204020204" charset="-122"/>
              </a:rPr>
              <a:t> ⑨</a:t>
            </a:r>
            <a:endParaRPr lang="en-US" altLang="en-US" sz="2400" i="1">
              <a:solidFill>
                <a:schemeClr val="tx1">
                  <a:lumMod val="65000"/>
                  <a:lumOff val="35000"/>
                </a:schemeClr>
              </a:solidFill>
              <a:latin typeface="微软雅黑" panose="020B0503020204020204" charset="-122"/>
              <a:ea typeface="微软雅黑" panose="020B0503020204020204" charset="-122"/>
            </a:endParaRPr>
          </a:p>
        </p:txBody>
      </p:sp>
      <p:sp>
        <p:nvSpPr>
          <p:cNvPr id="8" name="文本框 7"/>
          <p:cNvSpPr txBox="1"/>
          <p:nvPr/>
        </p:nvSpPr>
        <p:spPr>
          <a:xfrm>
            <a:off x="2027555" y="1282700"/>
            <a:ext cx="9224010" cy="9385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defTabSz="266700">
              <a:lnSpc>
                <a:spcPct val="115000"/>
              </a:lnSpc>
              <a:spcAft>
                <a:spcPts val="800"/>
              </a:spcAft>
            </a:pPr>
            <a:r>
              <a:rPr lang="en-US" altLang="zh-CN" sz="2400">
                <a:solidFill>
                  <a:schemeClr val="tx1"/>
                </a:solidFill>
                <a:latin typeface="微软雅黑" panose="020B0503020204020204" charset="-122"/>
                <a:ea typeface="微软雅黑" panose="020B0503020204020204" charset="-122"/>
                <a:sym typeface="+mn-ea"/>
              </a:rPr>
              <a:t>“</a:t>
            </a:r>
            <a:r>
              <a:rPr lang="zh-CN" altLang="en-US" sz="2400">
                <a:solidFill>
                  <a:schemeClr val="tx1"/>
                </a:solidFill>
                <a:latin typeface="微软雅黑" panose="020B0503020204020204" charset="-122"/>
                <a:ea typeface="微软雅黑" panose="020B0503020204020204" charset="-122"/>
                <a:sym typeface="+mn-ea"/>
              </a:rPr>
              <a:t>恩格斯在</a:t>
            </a:r>
            <a:r>
              <a:rPr lang="en-US" altLang="zh-CN" sz="2400">
                <a:solidFill>
                  <a:schemeClr val="tx1"/>
                </a:solidFill>
                <a:latin typeface="微软雅黑" panose="020B0503020204020204" charset="-122"/>
                <a:ea typeface="微软雅黑" panose="020B0503020204020204" charset="-122"/>
                <a:sym typeface="+mn-ea"/>
              </a:rPr>
              <a:t>1890</a:t>
            </a:r>
            <a:r>
              <a:rPr lang="zh-CN" altLang="en-US" sz="2400">
                <a:solidFill>
                  <a:schemeClr val="tx1"/>
                </a:solidFill>
                <a:latin typeface="微软雅黑" panose="020B0503020204020204" charset="-122"/>
                <a:ea typeface="微软雅黑" panose="020B0503020204020204" charset="-122"/>
                <a:sym typeface="+mn-ea"/>
              </a:rPr>
              <a:t>年致康</a:t>
            </a:r>
            <a:r>
              <a:rPr lang="en-US" altLang="zh-CN" sz="2400">
                <a:solidFill>
                  <a:schemeClr val="tx1"/>
                </a:solidFill>
                <a:latin typeface="微软雅黑" panose="020B0503020204020204" charset="-122"/>
                <a:ea typeface="微软雅黑" panose="020B0503020204020204" charset="-122"/>
                <a:sym typeface="+mn-ea"/>
              </a:rPr>
              <a:t>·</a:t>
            </a:r>
            <a:r>
              <a:rPr lang="zh-CN" altLang="en-US" sz="2400">
                <a:solidFill>
                  <a:schemeClr val="tx1"/>
                </a:solidFill>
                <a:latin typeface="微软雅黑" panose="020B0503020204020204" charset="-122"/>
                <a:ea typeface="微软雅黑" panose="020B0503020204020204" charset="-122"/>
                <a:sym typeface="+mn-ea"/>
              </a:rPr>
              <a:t>施米特的信中，具体阐述了国家权力对于经济发展可能出现的三种反作用情况：</a:t>
            </a:r>
            <a:endParaRPr lang="zh-CN" altLang="en-US" sz="2400" i="1">
              <a:solidFill>
                <a:schemeClr val="tx1">
                  <a:lumMod val="65000"/>
                  <a:lumOff val="35000"/>
                </a:schemeClr>
              </a:solidFill>
              <a:latin typeface="微软雅黑" panose="020B0503020204020204" charset="-122"/>
              <a:ea typeface="微软雅黑" panose="020B0503020204020204" charset="-122"/>
              <a:sym typeface="+mn-ea"/>
            </a:endParaRPr>
          </a:p>
        </p:txBody>
      </p:sp>
      <p:sp>
        <p:nvSpPr>
          <p:cNvPr id="11" name="矩形 10"/>
          <p:cNvSpPr/>
          <p:nvPr/>
        </p:nvSpPr>
        <p:spPr>
          <a:xfrm>
            <a:off x="2042795" y="2181225"/>
            <a:ext cx="105410" cy="1547495"/>
          </a:xfrm>
          <a:prstGeom prst="rect">
            <a:avLst/>
          </a:prstGeom>
          <a:solidFill>
            <a:schemeClr val="bg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7" name="文本框 6"/>
          <p:cNvSpPr txBox="1"/>
          <p:nvPr/>
        </p:nvSpPr>
        <p:spPr>
          <a:xfrm>
            <a:off x="2000250" y="4481830"/>
            <a:ext cx="10020935" cy="2306955"/>
          </a:xfrm>
          <a:prstGeom prst="rect">
            <a:avLst/>
          </a:prstGeom>
        </p:spPr>
        <p:txBody>
          <a:bodyPr wrap="square">
            <a:spAutoFit/>
          </a:bodyPr>
          <a:lstStyle/>
          <a:p>
            <a:pPr indent="609600" algn="l" defTabSz="266700" eaLnBrk="1">
              <a:lnSpc>
                <a:spcPct val="100000"/>
              </a:lnSpc>
              <a:spcAft>
                <a:spcPts val="200"/>
              </a:spcAft>
              <a:buNone/>
              <a:extLst>
                <a:ext uri="{35155182-B16C-46BC-9424-99874614C6A1}">
                  <wpsdc:indentchars xmlns:wpsdc="http://www.wps.cn/officeDocument/2017/drawingmlCustomData" xmlns="" val="200" checksum="4158780845"/>
                </a:ext>
              </a:extLst>
            </a:pPr>
            <a:r>
              <a:rPr lang="en-US" altLang="zh-CN" sz="2400">
                <a:solidFill>
                  <a:schemeClr val="bg1"/>
                </a:solidFill>
                <a:latin typeface="微软雅黑" panose="020B0503020204020204" charset="-122"/>
                <a:ea typeface="微软雅黑" panose="020B0503020204020204" charset="-122"/>
              </a:rPr>
              <a:t>毛泽东在《矛盾论》中主要论述了以下方面：形而上学和辩证法两种根本不同的宇宙观；矛盾的普遍性，即矛盾存在于宇宙发展过程以及宇宙中每一事物的发展过程中；矛盾的特殊性，特殊的矛盾构成了一事物区别于他事物的本质；主要的矛盾和主要的矛盾方面；矛盾诸方面的同一性和斗争性；对抗在矛盾中的地位，对抗是矛盾斗争的一种形式，而不是矛盾斗争的一切形式。</a:t>
            </a:r>
            <a:r>
              <a:rPr lang="zh-CN" altLang="en-US" sz="2400" kern="10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a:solidFill>
                  <a:schemeClr val="bg1"/>
                </a:solidFill>
                <a:latin typeface="微软雅黑" panose="020B0503020204020204" charset="-122"/>
                <a:ea typeface="微软雅黑" panose="020B0503020204020204" charset="-122"/>
              </a:rPr>
              <a:t>⑩</a:t>
            </a:r>
            <a:endParaRPr lang="en-US" altLang="zh-CN" sz="2400">
              <a:solidFill>
                <a:schemeClr val="bg1"/>
              </a:solidFill>
              <a:latin typeface="微软雅黑" panose="020B0503020204020204" charset="-122"/>
              <a:ea typeface="微软雅黑" panose="020B0503020204020204" charset="-122"/>
            </a:endParaRPr>
          </a:p>
        </p:txBody>
      </p:sp>
      <p:sp>
        <p:nvSpPr>
          <p:cNvPr id="12" name="文本框 11"/>
          <p:cNvSpPr txBox="1"/>
          <p:nvPr/>
        </p:nvSpPr>
        <p:spPr>
          <a:xfrm>
            <a:off x="2027555" y="3961130"/>
            <a:ext cx="6446520" cy="5207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45719" tIns="45719" rIns="45719" bIns="45719"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sz="280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2800">
                <a:solidFill>
                  <a:schemeClr val="bg1"/>
                </a:solidFill>
                <a:latin typeface="微软雅黑" panose="020B0503020204020204" charset="-122"/>
                <a:ea typeface="微软雅黑" panose="020B0503020204020204" charset="-122"/>
                <a:cs typeface="微软雅黑" panose="020B0503020204020204" charset="-122"/>
                <a:sym typeface="+mn-ea"/>
              </a:rPr>
              <a:t>社会基本矛盾”概念的提出与发展：</a:t>
            </a:r>
            <a:endParaRPr kumimoji="0" lang="zh-CN" altLang="en-US" sz="2800" b="0" i="0" u="none" strike="noStrike" cap="none" spc="0" normalizeH="0" baseline="0">
              <a:ln>
                <a:noFill/>
              </a:ln>
              <a:solidFill>
                <a:schemeClr val="bg1"/>
              </a:solidFill>
              <a:effectLst/>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200">
        <p:wipe/>
      </p:transition>
    </mc:Choice>
    <mc:Fallback xmlns="">
      <p:transition spd="slow">
        <p:wip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5" name="圆角矩形 4"/>
          <p:cNvGrpSpPr/>
          <p:nvPr/>
        </p:nvGrpSpPr>
        <p:grpSpPr>
          <a:xfrm>
            <a:off x="6000248" y="1612745"/>
            <a:ext cx="506413" cy="574041"/>
            <a:chOff x="0" y="0"/>
            <a:chExt cx="506412" cy="574040"/>
          </a:xfrm>
        </p:grpSpPr>
        <p:sp>
          <p:nvSpPr>
            <p:cNvPr id="633" name="圆角矩形"/>
            <p:cNvSpPr/>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634" name="1"/>
            <p:cNvSpPr txBox="1"/>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1</a:t>
              </a:r>
            </a:p>
          </p:txBody>
        </p:sp>
      </p:grpSp>
      <p:sp>
        <p:nvSpPr>
          <p:cNvPr id="636" name="矩形 5"/>
          <p:cNvSpPr txBox="1"/>
          <p:nvPr/>
        </p:nvSpPr>
        <p:spPr>
          <a:xfrm>
            <a:off x="6850781" y="1707717"/>
            <a:ext cx="561341" cy="408941"/>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绪论</a:t>
            </a:r>
          </a:p>
        </p:txBody>
      </p:sp>
      <p:grpSp>
        <p:nvGrpSpPr>
          <p:cNvPr id="639" name="圆角矩形 6"/>
          <p:cNvGrpSpPr/>
          <p:nvPr/>
        </p:nvGrpSpPr>
        <p:grpSpPr>
          <a:xfrm>
            <a:off x="6000248" y="2366807"/>
            <a:ext cx="506413" cy="574041"/>
            <a:chOff x="0" y="0"/>
            <a:chExt cx="506412" cy="574040"/>
          </a:xfrm>
        </p:grpSpPr>
        <p:sp>
          <p:nvSpPr>
            <p:cNvPr id="637" name="圆角矩形"/>
            <p:cNvSpPr/>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638" name="2"/>
            <p:cNvSpPr txBox="1"/>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2</a:t>
              </a:r>
            </a:p>
          </p:txBody>
        </p:sp>
      </p:grpSp>
      <p:sp>
        <p:nvSpPr>
          <p:cNvPr id="640" name="矩形 7"/>
          <p:cNvSpPr txBox="1"/>
          <p:nvPr/>
        </p:nvSpPr>
        <p:spPr>
          <a:xfrm>
            <a:off x="6850313" y="2468685"/>
            <a:ext cx="2169823"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社会存在与社会意识</a:t>
            </a:r>
          </a:p>
        </p:txBody>
      </p:sp>
      <p:grpSp>
        <p:nvGrpSpPr>
          <p:cNvPr id="643" name="圆角矩形 8"/>
          <p:cNvGrpSpPr/>
          <p:nvPr/>
        </p:nvGrpSpPr>
        <p:grpSpPr>
          <a:xfrm>
            <a:off x="6000248" y="3120870"/>
            <a:ext cx="506413" cy="574041"/>
            <a:chOff x="0" y="0"/>
            <a:chExt cx="506412" cy="574040"/>
          </a:xfrm>
        </p:grpSpPr>
        <p:sp>
          <p:nvSpPr>
            <p:cNvPr id="641" name="圆角矩形"/>
            <p:cNvSpPr/>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642" name="3"/>
            <p:cNvSpPr txBox="1"/>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3</a:t>
              </a:r>
            </a:p>
          </p:txBody>
        </p:sp>
      </p:grpSp>
      <p:sp>
        <p:nvSpPr>
          <p:cNvPr id="644" name="矩形 9"/>
          <p:cNvSpPr txBox="1"/>
          <p:nvPr/>
        </p:nvSpPr>
        <p:spPr>
          <a:xfrm>
            <a:off x="8232554" y="3223224"/>
            <a:ext cx="92396"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endParaRPr/>
          </a:p>
        </p:txBody>
      </p:sp>
      <p:grpSp>
        <p:nvGrpSpPr>
          <p:cNvPr id="647" name="圆角矩形 10"/>
          <p:cNvGrpSpPr/>
          <p:nvPr/>
        </p:nvGrpSpPr>
        <p:grpSpPr>
          <a:xfrm>
            <a:off x="6000248" y="3874932"/>
            <a:ext cx="506413" cy="574041"/>
            <a:chOff x="0" y="0"/>
            <a:chExt cx="506412" cy="574040"/>
          </a:xfrm>
        </p:grpSpPr>
        <p:sp>
          <p:nvSpPr>
            <p:cNvPr id="645" name="圆角矩形"/>
            <p:cNvSpPr/>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646" name="4"/>
            <p:cNvSpPr txBox="1"/>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4</a:t>
              </a:r>
            </a:p>
          </p:txBody>
        </p:sp>
      </p:grpSp>
      <p:sp>
        <p:nvSpPr>
          <p:cNvPr id="648" name="矩形 11"/>
          <p:cNvSpPr txBox="1"/>
          <p:nvPr/>
        </p:nvSpPr>
        <p:spPr>
          <a:xfrm>
            <a:off x="6847592" y="4007141"/>
            <a:ext cx="3593289"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超越宿命论</a:t>
            </a:r>
            <a:r>
              <a:rPr lang="en-US" altLang="zh-CN"/>
              <a:t>——</a:t>
            </a:r>
            <a:r>
              <a:rPr lang="zh-CN" altLang="en-US"/>
              <a:t>规律与主体能动性</a:t>
            </a:r>
          </a:p>
        </p:txBody>
      </p:sp>
      <p:grpSp>
        <p:nvGrpSpPr>
          <p:cNvPr id="651" name="圆角矩形 12"/>
          <p:cNvGrpSpPr/>
          <p:nvPr/>
        </p:nvGrpSpPr>
        <p:grpSpPr>
          <a:xfrm>
            <a:off x="6000248" y="4628994"/>
            <a:ext cx="506413" cy="574041"/>
            <a:chOff x="0" y="0"/>
            <a:chExt cx="506412" cy="574040"/>
          </a:xfrm>
        </p:grpSpPr>
        <p:sp>
          <p:nvSpPr>
            <p:cNvPr id="649" name="圆角矩形"/>
            <p:cNvSpPr/>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650" name="5"/>
            <p:cNvSpPr txBox="1"/>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5</a:t>
              </a:r>
            </a:p>
          </p:txBody>
        </p:sp>
      </p:grpSp>
      <p:sp>
        <p:nvSpPr>
          <p:cNvPr id="652" name="矩形 13"/>
          <p:cNvSpPr txBox="1"/>
          <p:nvPr/>
        </p:nvSpPr>
        <p:spPr>
          <a:xfrm>
            <a:off x="6858126" y="4731348"/>
            <a:ext cx="553996"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结论</a:t>
            </a:r>
          </a:p>
        </p:txBody>
      </p:sp>
      <p:grpSp>
        <p:nvGrpSpPr>
          <p:cNvPr id="655" name="矩形 33"/>
          <p:cNvGrpSpPr/>
          <p:nvPr/>
        </p:nvGrpSpPr>
        <p:grpSpPr>
          <a:xfrm>
            <a:off x="0" y="0"/>
            <a:ext cx="3721100" cy="6858000"/>
            <a:chOff x="0" y="0"/>
            <a:chExt cx="3721100" cy="6858000"/>
          </a:xfrm>
        </p:grpSpPr>
        <p:sp>
          <p:nvSpPr>
            <p:cNvPr id="653" name="矩形"/>
            <p:cNvSpPr/>
            <p:nvPr/>
          </p:nvSpPr>
          <p:spPr>
            <a:xfrm>
              <a:off x="0" y="0"/>
              <a:ext cx="3721100" cy="6858000"/>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sz="24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pPr>
              <a:endParaRPr/>
            </a:p>
          </p:txBody>
        </p:sp>
        <p:sp>
          <p:nvSpPr>
            <p:cNvPr id="654" name="文本"/>
            <p:cNvSpPr txBox="1"/>
            <p:nvPr/>
          </p:nvSpPr>
          <p:spPr>
            <a:xfrm>
              <a:off x="0" y="3156962"/>
              <a:ext cx="3721100" cy="544076"/>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          </a:t>
              </a:r>
            </a:p>
          </p:txBody>
        </p:sp>
      </p:grpSp>
      <p:sp>
        <p:nvSpPr>
          <p:cNvPr id="656" name="矩形 34"/>
          <p:cNvSpPr txBox="1"/>
          <p:nvPr/>
        </p:nvSpPr>
        <p:spPr>
          <a:xfrm>
            <a:off x="1073628" y="1308115"/>
            <a:ext cx="2013420" cy="1259841"/>
          </a:xfrm>
          <a:prstGeom prst="rect">
            <a:avLst/>
          </a:prstGeom>
          <a:ln w="12700">
            <a:miter lim="400000"/>
          </a:ln>
        </p:spPr>
        <p:txBody>
          <a:bodyPr wrap="none" lIns="45719" rIns="45719">
            <a:spAutoFit/>
          </a:bodyPr>
          <a:lstStyle>
            <a:lvl1pPr algn="ctr">
              <a:defRPr sz="66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lvl1pPr>
          </a:lstStyle>
          <a:p>
            <a:r>
              <a:t>目 录</a:t>
            </a:r>
          </a:p>
        </p:txBody>
      </p:sp>
      <p:sp>
        <p:nvSpPr>
          <p:cNvPr id="657" name="矩形 35"/>
          <p:cNvSpPr txBox="1"/>
          <p:nvPr/>
        </p:nvSpPr>
        <p:spPr>
          <a:xfrm>
            <a:off x="1305756" y="2593370"/>
            <a:ext cx="1549163" cy="544077"/>
          </a:xfrm>
          <a:prstGeom prst="rect">
            <a:avLst/>
          </a:prstGeom>
          <a:ln w="12700">
            <a:miter lim="400000"/>
          </a:ln>
        </p:spPr>
        <p:txBody>
          <a:bodyPr wrap="none" lIns="45719" rIns="45719">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Contents</a:t>
            </a:r>
          </a:p>
        </p:txBody>
      </p:sp>
      <p:grpSp>
        <p:nvGrpSpPr>
          <p:cNvPr id="30" name="组合 14"/>
          <p:cNvGrpSpPr/>
          <p:nvPr/>
        </p:nvGrpSpPr>
        <p:grpSpPr>
          <a:xfrm>
            <a:off x="4968717" y="3794764"/>
            <a:ext cx="703580" cy="703580"/>
            <a:chOff x="0" y="0"/>
            <a:chExt cx="703578" cy="703578"/>
          </a:xfrm>
        </p:grpSpPr>
        <p:sp>
          <p:nvSpPr>
            <p:cNvPr id="31" name="泪滴形 15"/>
            <p:cNvSpPr/>
            <p:nvPr/>
          </p:nvSpPr>
          <p:spPr>
            <a:xfrm rot="8247616">
              <a:off x="102807" y="102807"/>
              <a:ext cx="497965" cy="49796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0062AC"/>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32" name="椭圆 16"/>
            <p:cNvSpPr/>
            <p:nvPr/>
          </p:nvSpPr>
          <p:spPr>
            <a:xfrm>
              <a:off x="150556" y="147060"/>
              <a:ext cx="398631" cy="398631"/>
            </a:xfrm>
            <a:prstGeom prst="ellipse">
              <a:avLst/>
            </a:prstGeom>
            <a:solidFill>
              <a:srgbClr val="FFFFFF"/>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grpSp>
      <p:sp>
        <p:nvSpPr>
          <p:cNvPr id="33" name="矩形 7"/>
          <p:cNvSpPr txBox="1"/>
          <p:nvPr/>
        </p:nvSpPr>
        <p:spPr>
          <a:xfrm>
            <a:off x="6858126" y="3223224"/>
            <a:ext cx="2868773" cy="923330"/>
          </a:xfrm>
          <a:prstGeom prst="rect">
            <a:avLst/>
          </a:prstGeom>
          <a:ln w="12700">
            <a:miter lim="400000"/>
          </a:ln>
        </p:spPr>
        <p:txBody>
          <a:bodyPr wrap="squar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ctr"/>
            <a:r>
              <a:rPr lang="zh-CN" altLang="en-US" sz="1800"/>
              <a:t>社会基本矛盾及其运动规律</a:t>
            </a:r>
          </a:p>
          <a:p>
            <a:pPr algn="ctr"/>
            <a:endParaRPr lang="zh-CN" altLang="en-US" sz="1800">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sz="180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0.000000 0.000000 L 0.000000 0.106022" pathEditMode="relative">
                                      <p:cBhvr>
                                        <p:cTn id="6" dur="1000" fill="hold"/>
                                        <p:tgtEl>
                                          <p:spTgt spid="3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直角三角形 57"/>
          <p:cNvSpPr/>
          <p:nvPr/>
        </p:nvSpPr>
        <p:spPr>
          <a:xfrm rot="16200000">
            <a:off x="9956218" y="4627826"/>
            <a:ext cx="2359742" cy="2100604"/>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0" name="矩形 9"/>
          <p:cNvSpPr/>
          <p:nvPr/>
        </p:nvSpPr>
        <p:spPr>
          <a:xfrm>
            <a:off x="2205760" y="5060747"/>
            <a:ext cx="9900000" cy="1260000"/>
          </a:xfrm>
          <a:prstGeom prst="rect">
            <a:avLst/>
          </a:prstGeom>
          <a:solidFill>
            <a:srgbClr val="41445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662" name="五边形 8"/>
          <p:cNvSpPr txBox="1">
            <a:spLocks noGrp="1"/>
          </p:cNvSpPr>
          <p:nvPr>
            <p:ph type="sldNum" sz="quarter" idx="2"/>
          </p:nvPr>
        </p:nvSpPr>
        <p:spPr>
          <a:xfrm>
            <a:off x="11337756" y="6003980"/>
            <a:ext cx="860594" cy="396241"/>
          </a:xfrm>
          <a:prstGeom prst="rect">
            <a:avLst/>
          </a:prstGeom>
        </p:spPr>
        <p:txBody>
          <a:bodyPr/>
          <a:lstStyle/>
          <a:p>
            <a:fld id="{86CB4B4D-7CA3-9044-876B-883B54F8677D}" type="slidenum">
              <a:rPr/>
              <a:t>15</a:t>
            </a:fld>
            <a:endParaRPr/>
          </a:p>
        </p:txBody>
      </p:sp>
      <p:sp>
        <p:nvSpPr>
          <p:cNvPr id="2" name="矩形 1"/>
          <p:cNvSpPr/>
          <p:nvPr/>
        </p:nvSpPr>
        <p:spPr>
          <a:xfrm>
            <a:off x="186603" y="1541200"/>
            <a:ext cx="1239656" cy="307775"/>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4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3" name="矩形 32"/>
          <p:cNvSpPr/>
          <p:nvPr/>
        </p:nvSpPr>
        <p:spPr>
          <a:xfrm>
            <a:off x="86241" y="2162517"/>
            <a:ext cx="1512099" cy="530374"/>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4" name="矩形 33"/>
          <p:cNvSpPr/>
          <p:nvPr/>
        </p:nvSpPr>
        <p:spPr>
          <a:xfrm>
            <a:off x="86240" y="2951698"/>
            <a:ext cx="1512099" cy="530374"/>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5" name="矩形 34"/>
          <p:cNvSpPr/>
          <p:nvPr/>
        </p:nvSpPr>
        <p:spPr>
          <a:xfrm>
            <a:off x="86240" y="4590927"/>
            <a:ext cx="1512099" cy="530374"/>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6" name="矩形 35"/>
          <p:cNvSpPr/>
          <p:nvPr/>
        </p:nvSpPr>
        <p:spPr>
          <a:xfrm>
            <a:off x="50381" y="3777285"/>
            <a:ext cx="1512099" cy="530374"/>
          </a:xfrm>
          <a:prstGeom prst="rect">
            <a:avLst/>
          </a:prstGeom>
          <a:solidFill>
            <a:srgbClr val="41445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文本框 2"/>
          <p:cNvSpPr txBox="1"/>
          <p:nvPr/>
        </p:nvSpPr>
        <p:spPr>
          <a:xfrm>
            <a:off x="1877805" y="851607"/>
            <a:ext cx="7694342" cy="172354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zh-CN" sz="3200" b="0" i="0" u="none" strike="noStrike" cap="none" normalizeH="0" baseline="0">
              <a:ln>
                <a:noFill/>
              </a:ln>
              <a:solidFill>
                <a:schemeClr val="tx1"/>
              </a:solidFill>
              <a:effectLst/>
              <a:latin typeface="微软雅黑" panose="020B0503020204020204" charset="-122"/>
              <a:ea typeface="微软雅黑" panose="020B0503020204020204" charset="-122"/>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zh-CN" sz="2800" b="0" i="0" u="none" strike="noStrike" cap="none" normalizeH="0" baseline="0">
                <a:ln>
                  <a:noFill/>
                </a:ln>
                <a:solidFill>
                  <a:schemeClr val="tx1"/>
                </a:solidFill>
                <a:effectLst/>
                <a:latin typeface="微软雅黑" panose="020B0503020204020204" charset="-122"/>
                <a:ea typeface="微软雅黑" panose="020B0503020204020204" charset="-122"/>
              </a:rPr>
              <a:t>  </a:t>
            </a:r>
            <a:r>
              <a:rPr kumimoji="0" lang="zh-CN" altLang="zh-CN" sz="2800" b="0" i="0" u="none" strike="noStrike" cap="none" normalizeH="0" baseline="0">
                <a:ln>
                  <a:noFill/>
                </a:ln>
                <a:solidFill>
                  <a:schemeClr val="tx1"/>
                </a:solidFill>
                <a:effectLst/>
                <a:latin typeface="微软雅黑" panose="020B0503020204020204" charset="-122"/>
                <a:ea typeface="微软雅黑" panose="020B0503020204020204" charset="-122"/>
              </a:rPr>
              <a:t>社会发展具有客观规律</a:t>
            </a: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zh-CN" sz="2800" b="0" i="0" u="none" strike="noStrike" cap="none" normalizeH="0" baseline="0">
                <a:ln>
                  <a:noFill/>
                </a:ln>
                <a:solidFill>
                  <a:schemeClr val="tx1"/>
                </a:solidFill>
                <a:effectLst/>
                <a:latin typeface="微软雅黑" panose="020B0503020204020204" charset="-122"/>
                <a:ea typeface="微软雅黑" panose="020B0503020204020204" charset="-122"/>
              </a:rPr>
              <a:t>  </a:t>
            </a:r>
            <a:r>
              <a:rPr kumimoji="0" lang="zh-CN" altLang="zh-CN" sz="2800" b="0" i="0" u="none" strike="noStrike" cap="none" normalizeH="0" baseline="0">
                <a:ln>
                  <a:noFill/>
                </a:ln>
                <a:solidFill>
                  <a:schemeClr val="tx1"/>
                </a:solidFill>
                <a:effectLst/>
                <a:latin typeface="微软雅黑" panose="020B0503020204020204" charset="-122"/>
                <a:ea typeface="微软雅黑" panose="020B0503020204020204" charset="-122"/>
              </a:rPr>
              <a:t>社会基本矛盾运动构成历史发展的根本动力</a:t>
            </a: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6" name="文本框 5"/>
          <p:cNvSpPr txBox="1"/>
          <p:nvPr/>
        </p:nvSpPr>
        <p:spPr>
          <a:xfrm>
            <a:off x="2787803" y="2943490"/>
            <a:ext cx="8891579" cy="1200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3600" b="1">
                <a:latin typeface="微软雅黑" panose="020B0503020204020204" charset="-122"/>
                <a:ea typeface="微软雅黑" panose="020B0503020204020204" charset="-122"/>
              </a:rPr>
              <a:t>历史既然有规律，人是否只能被历史推动？</a:t>
            </a:r>
            <a:br>
              <a:rPr lang="zh-CN" altLang="en-US" sz="3600" b="1">
                <a:latin typeface="微软雅黑" panose="020B0503020204020204" charset="-122"/>
                <a:ea typeface="微软雅黑" panose="020B0503020204020204" charset="-122"/>
              </a:rPr>
            </a:br>
            <a:r>
              <a:rPr lang="zh-CN" altLang="en-US" sz="3600" b="1">
                <a:latin typeface="微软雅黑" panose="020B0503020204020204" charset="-122"/>
                <a:ea typeface="微软雅黑" panose="020B0503020204020204" charset="-122"/>
              </a:rPr>
              <a:t>如果不是，人又是在什么条件下创造历史？</a:t>
            </a:r>
            <a:endParaRPr kumimoji="0" lang="zh-CN" altLang="en-US" sz="3600" b="1"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7" name="文本框 6"/>
          <p:cNvSpPr txBox="1"/>
          <p:nvPr/>
        </p:nvSpPr>
        <p:spPr>
          <a:xfrm>
            <a:off x="2148468" y="5152139"/>
            <a:ext cx="10296291" cy="10772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3200">
                <a:solidFill>
                  <a:schemeClr val="bg1"/>
                </a:solidFill>
                <a:latin typeface="微软雅黑" panose="020B0503020204020204" charset="-122"/>
                <a:ea typeface="微软雅黑" panose="020B0503020204020204" charset="-122"/>
              </a:rPr>
              <a:t>历史唯物主义的回答是：</a:t>
            </a:r>
            <a:endParaRPr lang="en-US" altLang="zh-CN" sz="3200">
              <a:solidFill>
                <a:schemeClr val="bg1"/>
              </a:solidFill>
              <a:latin typeface="微软雅黑" panose="020B0503020204020204" charset="-122"/>
              <a:ea typeface="微软雅黑" panose="020B0503020204020204" charset="-122"/>
            </a:endParaRPr>
          </a:p>
          <a:p>
            <a:pPr algn="ctr"/>
            <a:r>
              <a:rPr lang="zh-CN" altLang="en-US" sz="3200" b="1">
                <a:solidFill>
                  <a:schemeClr val="bg1"/>
                </a:solidFill>
                <a:latin typeface="微软雅黑" panose="020B0503020204020204" charset="-122"/>
                <a:ea typeface="微软雅黑" panose="020B0503020204020204" charset="-122"/>
              </a:rPr>
              <a:t>历史规律通过人的现实实践活动实现。</a:t>
            </a:r>
            <a:endParaRPr lang="zh-CN" altLang="en-US" sz="3200">
              <a:solidFill>
                <a:schemeClr val="bg1"/>
              </a:solidFill>
              <a:latin typeface="微软雅黑" panose="020B0503020204020204" charset="-122"/>
              <a:ea typeface="微软雅黑" panose="020B0503020204020204" charset="-122"/>
            </a:endParaRPr>
          </a:p>
        </p:txBody>
      </p:sp>
      <p:sp>
        <p:nvSpPr>
          <p:cNvPr id="8" name="矩形 7"/>
          <p:cNvSpPr/>
          <p:nvPr/>
        </p:nvSpPr>
        <p:spPr>
          <a:xfrm>
            <a:off x="2148468" y="472757"/>
            <a:ext cx="3449444" cy="721113"/>
          </a:xfrm>
          <a:prstGeom prst="rect">
            <a:avLst/>
          </a:prstGeom>
          <a:solidFill>
            <a:srgbClr val="FFFFFF"/>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9" name="文本框 8"/>
          <p:cNvSpPr txBox="1"/>
          <p:nvPr/>
        </p:nvSpPr>
        <p:spPr>
          <a:xfrm>
            <a:off x="2148468" y="367508"/>
            <a:ext cx="8036314"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4000" b="1">
                <a:latin typeface="微软雅黑" panose="020B0503020204020204" charset="-122"/>
                <a:ea typeface="微软雅黑" panose="020B0503020204020204" charset="-122"/>
              </a:rPr>
              <a:t>超越宿命论</a:t>
            </a:r>
            <a:r>
              <a:rPr lang="en-US" altLang="zh-CN" sz="4000" b="1">
                <a:latin typeface="微软雅黑" panose="020B0503020204020204" charset="-122"/>
                <a:ea typeface="微软雅黑" panose="020B0503020204020204" charset="-122"/>
              </a:rPr>
              <a:t>——</a:t>
            </a:r>
            <a:r>
              <a:rPr lang="zh-CN" altLang="en-US" sz="4000" b="1">
                <a:latin typeface="微软雅黑" panose="020B0503020204020204" charset="-122"/>
                <a:ea typeface="微软雅黑" panose="020B0503020204020204" charset="-122"/>
              </a:rPr>
              <a:t>规律与主体能动性</a:t>
            </a:r>
          </a:p>
        </p:txBody>
      </p:sp>
      <p:sp>
        <p:nvSpPr>
          <p:cNvPr id="13" name="箭头: 直角上 12"/>
          <p:cNvSpPr/>
          <p:nvPr/>
        </p:nvSpPr>
        <p:spPr>
          <a:xfrm>
            <a:off x="6352478" y="3710204"/>
            <a:ext cx="5262249" cy="572643"/>
          </a:xfrm>
          <a:prstGeom prst="bentUpArrow">
            <a:avLst>
              <a:gd name="adj1" fmla="val 22706"/>
              <a:gd name="adj2" fmla="val 25000"/>
              <a:gd name="adj3" fmla="val 25000"/>
            </a:avLst>
          </a:prstGeom>
          <a:solidFill>
            <a:srgbClr val="41445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51" name="箭头: 直角上 50"/>
          <p:cNvSpPr/>
          <p:nvPr/>
        </p:nvSpPr>
        <p:spPr>
          <a:xfrm rot="10800000">
            <a:off x="2371489" y="2772624"/>
            <a:ext cx="5262248" cy="601500"/>
          </a:xfrm>
          <a:prstGeom prst="bentUpArrow">
            <a:avLst>
              <a:gd name="adj1" fmla="val 22706"/>
              <a:gd name="adj2" fmla="val 25000"/>
              <a:gd name="adj3" fmla="val 25000"/>
            </a:avLst>
          </a:prstGeom>
          <a:solidFill>
            <a:srgbClr val="41445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4" name="文本框 13"/>
          <p:cNvSpPr txBox="1"/>
          <p:nvPr/>
        </p:nvSpPr>
        <p:spPr>
          <a:xfrm>
            <a:off x="594116" y="1524403"/>
            <a:ext cx="521006"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1400">
                <a:latin typeface="微软雅黑" panose="020B0503020204020204" charset="-122"/>
                <a:ea typeface="微软雅黑" panose="020B0503020204020204" charset="-122"/>
              </a:rPr>
              <a:t>绪论</a:t>
            </a:r>
          </a:p>
          <a:p>
            <a:pPr marL="0" marR="0" indent="0" algn="l" defTabSz="914400" rtl="0" fontAlgn="auto" latinLnBrk="0" hangingPunct="0">
              <a:lnSpc>
                <a:spcPct val="100000"/>
              </a:lnSpc>
              <a:spcBef>
                <a:spcPts val="0"/>
              </a:spcBef>
              <a:spcAft>
                <a:spcPts val="0"/>
              </a:spcAft>
              <a:buClrTx/>
              <a:buSzTx/>
              <a:buFontTx/>
              <a:buNone/>
            </a:pPr>
            <a:endParaRPr kumimoji="0" lang="zh-CN" altLang="en-US" sz="180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3" name="文本框 52"/>
          <p:cNvSpPr txBox="1"/>
          <p:nvPr/>
        </p:nvSpPr>
        <p:spPr>
          <a:xfrm>
            <a:off x="-255829" y="2197228"/>
            <a:ext cx="2178821" cy="7386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1400">
                <a:latin typeface="微软雅黑" panose="020B0503020204020204" charset="-122"/>
                <a:ea typeface="微软雅黑" panose="020B0503020204020204" charset="-122"/>
              </a:rPr>
              <a:t>社会存在</a:t>
            </a:r>
            <a:endParaRPr lang="en-US" altLang="zh-CN" sz="1400">
              <a:latin typeface="微软雅黑" panose="020B0503020204020204" charset="-122"/>
              <a:ea typeface="微软雅黑" panose="020B0503020204020204" charset="-122"/>
            </a:endParaRPr>
          </a:p>
          <a:p>
            <a:pPr algn="ctr"/>
            <a:r>
              <a:rPr lang="zh-CN" altLang="en-US" sz="1400">
                <a:latin typeface="微软雅黑" panose="020B0503020204020204" charset="-122"/>
                <a:ea typeface="微软雅黑" panose="020B0503020204020204" charset="-122"/>
              </a:rPr>
              <a:t>与社会意识</a:t>
            </a:r>
          </a:p>
          <a:p>
            <a:pPr marL="0" marR="0" indent="0" algn="ctr" defTabSz="914400" rtl="0" fontAlgn="auto" latinLnBrk="0" hangingPunct="0">
              <a:lnSpc>
                <a:spcPct val="100000"/>
              </a:lnSpc>
              <a:spcBef>
                <a:spcPts val="0"/>
              </a:spcBef>
              <a:spcAft>
                <a:spcPts val="0"/>
              </a:spcAft>
              <a:buClrTx/>
              <a:buSzTx/>
              <a:buFontTx/>
              <a:buNone/>
            </a:pPr>
            <a:endParaRPr kumimoji="0" lang="zh-CN" altLang="en-US" sz="140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4" name="文本框 53"/>
          <p:cNvSpPr txBox="1"/>
          <p:nvPr/>
        </p:nvSpPr>
        <p:spPr>
          <a:xfrm>
            <a:off x="-185794" y="2999861"/>
            <a:ext cx="2038752" cy="954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1400"/>
              <a:t>社会基本矛盾</a:t>
            </a:r>
            <a:endParaRPr lang="en-US" altLang="zh-CN" sz="1400"/>
          </a:p>
          <a:p>
            <a:pPr algn="ctr"/>
            <a:r>
              <a:rPr lang="zh-CN" altLang="en-US" sz="1400"/>
              <a:t>及其运动规律</a:t>
            </a:r>
          </a:p>
          <a:p>
            <a:pPr algn="ctr"/>
            <a:endParaRPr lang="zh-CN" altLang="en-US" sz="1400">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sz="140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5" name="文本框 54"/>
          <p:cNvSpPr txBox="1"/>
          <p:nvPr/>
        </p:nvSpPr>
        <p:spPr>
          <a:xfrm>
            <a:off x="-212946" y="3760739"/>
            <a:ext cx="2038752"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1400">
                <a:solidFill>
                  <a:schemeClr val="bg1"/>
                </a:solidFill>
              </a:rPr>
              <a:t>超越宿命论</a:t>
            </a:r>
            <a:endParaRPr lang="en-US" altLang="zh-CN" sz="1400">
              <a:solidFill>
                <a:schemeClr val="bg1"/>
              </a:solidFill>
            </a:endParaRPr>
          </a:p>
          <a:p>
            <a:pPr algn="ctr"/>
            <a:r>
              <a:rPr lang="zh-CN" altLang="en-US" sz="1400">
                <a:solidFill>
                  <a:schemeClr val="bg1"/>
                </a:solidFill>
              </a:rPr>
              <a:t>规律与主体能动性</a:t>
            </a:r>
          </a:p>
        </p:txBody>
      </p:sp>
      <p:sp>
        <p:nvSpPr>
          <p:cNvPr id="56" name="文本框 55"/>
          <p:cNvSpPr txBox="1"/>
          <p:nvPr/>
        </p:nvSpPr>
        <p:spPr>
          <a:xfrm>
            <a:off x="594116" y="4691350"/>
            <a:ext cx="652793"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1400">
                <a:latin typeface="微软雅黑" panose="020B0503020204020204" charset="-122"/>
                <a:ea typeface="微软雅黑" panose="020B0503020204020204" charset="-122"/>
              </a:rPr>
              <a:t>结论</a:t>
            </a:r>
          </a:p>
          <a:p>
            <a:pPr marL="0" marR="0" indent="0" algn="l" defTabSz="914400" rtl="0" fontAlgn="auto" latinLnBrk="0" hangingPunct="0">
              <a:lnSpc>
                <a:spcPct val="100000"/>
              </a:lnSpc>
              <a:spcBef>
                <a:spcPts val="0"/>
              </a:spcBef>
              <a:spcAft>
                <a:spcPts val="0"/>
              </a:spcAft>
              <a:buClrTx/>
              <a:buSzTx/>
              <a:buFontTx/>
              <a:buNone/>
            </a:pPr>
            <a:endParaRPr kumimoji="0" lang="zh-CN" altLang="en-US" sz="180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15" name="AutoShape 4" descr="خرید و قیمت The Revolutions Of 1848 Book by Karl Marx | ترب"/>
          <p:cNvSpPr>
            <a:spLocks noChangeAspect="1" noChangeArrowheads="1"/>
          </p:cNvSpPr>
          <p:nvPr/>
        </p:nvSpPr>
        <p:spPr bwMode="auto">
          <a:xfrm>
            <a:off x="5791200" y="326839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9" name="直角三角形 58"/>
          <p:cNvSpPr/>
          <p:nvPr/>
        </p:nvSpPr>
        <p:spPr>
          <a:xfrm rot="10800000">
            <a:off x="10745649" y="0"/>
            <a:ext cx="1424653" cy="1483615"/>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spd="slow" p14:dur="1200">
        <p:wipe/>
      </p:transition>
    </mc:Choice>
    <mc:Fallback xmlns="">
      <p:transition spd="slow">
        <p:wip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直角三角形 10"/>
          <p:cNvSpPr/>
          <p:nvPr/>
        </p:nvSpPr>
        <p:spPr>
          <a:xfrm rot="16200000">
            <a:off x="9956218" y="4627826"/>
            <a:ext cx="2359742" cy="2100604"/>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662" name="五边形 8"/>
          <p:cNvSpPr txBox="1">
            <a:spLocks noGrp="1"/>
          </p:cNvSpPr>
          <p:nvPr>
            <p:ph type="sldNum" sz="quarter" idx="2"/>
          </p:nvPr>
        </p:nvSpPr>
        <p:spPr>
          <a:xfrm>
            <a:off x="11337756" y="6003980"/>
            <a:ext cx="860594" cy="396241"/>
          </a:xfrm>
          <a:prstGeom prst="rect">
            <a:avLst/>
          </a:prstGeom>
        </p:spPr>
        <p:txBody>
          <a:bodyPr/>
          <a:lstStyle/>
          <a:p>
            <a:fld id="{86CB4B4D-7CA3-9044-876B-883B54F8677D}" type="slidenum">
              <a:rPr/>
              <a:t>16</a:t>
            </a:fld>
            <a:endParaRPr/>
          </a:p>
        </p:txBody>
      </p:sp>
      <p:sp>
        <p:nvSpPr>
          <p:cNvPr id="2" name="矩形 1"/>
          <p:cNvSpPr/>
          <p:nvPr/>
        </p:nvSpPr>
        <p:spPr>
          <a:xfrm>
            <a:off x="186603" y="1541200"/>
            <a:ext cx="1239656" cy="307775"/>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4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3" name="矩形 32"/>
          <p:cNvSpPr/>
          <p:nvPr/>
        </p:nvSpPr>
        <p:spPr>
          <a:xfrm>
            <a:off x="86241" y="2162517"/>
            <a:ext cx="1512099" cy="530374"/>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4" name="矩形 33"/>
          <p:cNvSpPr/>
          <p:nvPr/>
        </p:nvSpPr>
        <p:spPr>
          <a:xfrm>
            <a:off x="86240" y="2951698"/>
            <a:ext cx="1512099" cy="530374"/>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5" name="矩形 34"/>
          <p:cNvSpPr/>
          <p:nvPr/>
        </p:nvSpPr>
        <p:spPr>
          <a:xfrm>
            <a:off x="86240" y="4590927"/>
            <a:ext cx="1512099" cy="530374"/>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6" name="矩形 35"/>
          <p:cNvSpPr/>
          <p:nvPr/>
        </p:nvSpPr>
        <p:spPr>
          <a:xfrm>
            <a:off x="50381" y="3777285"/>
            <a:ext cx="1512099" cy="530374"/>
          </a:xfrm>
          <a:prstGeom prst="rect">
            <a:avLst/>
          </a:prstGeom>
          <a:solidFill>
            <a:srgbClr val="41445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文本框 2"/>
          <p:cNvSpPr txBox="1"/>
          <p:nvPr/>
        </p:nvSpPr>
        <p:spPr>
          <a:xfrm>
            <a:off x="2138022" y="3293311"/>
            <a:ext cx="9899999" cy="954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2800"/>
              <a:t>历史规律不是离开人的抽象法则，而是通过人实践活动发挥作用：</a:t>
            </a:r>
            <a:endParaRPr kumimoji="0" lang="zh-CN" altLang="en-US" sz="28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8" name="矩形 7"/>
          <p:cNvSpPr/>
          <p:nvPr/>
        </p:nvSpPr>
        <p:spPr>
          <a:xfrm>
            <a:off x="2148468" y="472757"/>
            <a:ext cx="3449444" cy="721113"/>
          </a:xfrm>
          <a:prstGeom prst="rect">
            <a:avLst/>
          </a:prstGeom>
          <a:solidFill>
            <a:srgbClr val="FFFFFF"/>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9" name="文本框 8"/>
          <p:cNvSpPr txBox="1"/>
          <p:nvPr/>
        </p:nvSpPr>
        <p:spPr>
          <a:xfrm>
            <a:off x="2148467" y="367508"/>
            <a:ext cx="9899999"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4000" b="1">
                <a:latin typeface="微软雅黑" panose="020B0503020204020204" charset="-122"/>
                <a:ea typeface="微软雅黑" panose="020B0503020204020204" charset="-122"/>
              </a:rPr>
              <a:t>历史规律通过人的实践活动实现</a:t>
            </a:r>
          </a:p>
        </p:txBody>
      </p:sp>
      <p:sp>
        <p:nvSpPr>
          <p:cNvPr id="14" name="文本框 13"/>
          <p:cNvSpPr txBox="1"/>
          <p:nvPr/>
        </p:nvSpPr>
        <p:spPr>
          <a:xfrm>
            <a:off x="594116" y="1524403"/>
            <a:ext cx="521006"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1400">
                <a:latin typeface="微软雅黑" panose="020B0503020204020204" charset="-122"/>
                <a:ea typeface="微软雅黑" panose="020B0503020204020204" charset="-122"/>
              </a:rPr>
              <a:t>绪论</a:t>
            </a: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3" name="文本框 52"/>
          <p:cNvSpPr txBox="1"/>
          <p:nvPr/>
        </p:nvSpPr>
        <p:spPr>
          <a:xfrm>
            <a:off x="-255829" y="2197228"/>
            <a:ext cx="2178821" cy="7386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1400">
                <a:latin typeface="微软雅黑" panose="020B0503020204020204" charset="-122"/>
                <a:ea typeface="微软雅黑" panose="020B0503020204020204" charset="-122"/>
              </a:rPr>
              <a:t>社会存在</a:t>
            </a:r>
            <a:endParaRPr lang="en-US" altLang="zh-CN" sz="1400">
              <a:latin typeface="微软雅黑" panose="020B0503020204020204" charset="-122"/>
              <a:ea typeface="微软雅黑" panose="020B0503020204020204" charset="-122"/>
            </a:endParaRPr>
          </a:p>
          <a:p>
            <a:pPr algn="ctr"/>
            <a:r>
              <a:rPr lang="zh-CN" altLang="en-US" sz="1400">
                <a:latin typeface="微软雅黑" panose="020B0503020204020204" charset="-122"/>
                <a:ea typeface="微软雅黑" panose="020B0503020204020204" charset="-122"/>
              </a:rPr>
              <a:t>与社会意识</a:t>
            </a:r>
          </a:p>
          <a:p>
            <a:pPr marL="0" marR="0" indent="0" algn="ctr" defTabSz="914400" rtl="0" fontAlgn="auto" latinLnBrk="0" hangingPunct="0">
              <a:lnSpc>
                <a:spcPct val="100000"/>
              </a:lnSpc>
              <a:spcBef>
                <a:spcPts val="0"/>
              </a:spcBef>
              <a:spcAft>
                <a:spcPts val="0"/>
              </a:spcAft>
              <a:buClrTx/>
              <a:buSzTx/>
              <a:buFontTx/>
              <a:buNone/>
            </a:pPr>
            <a:endPar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4" name="文本框 53"/>
          <p:cNvSpPr txBox="1"/>
          <p:nvPr/>
        </p:nvSpPr>
        <p:spPr>
          <a:xfrm>
            <a:off x="-185794" y="2999861"/>
            <a:ext cx="2038752" cy="954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1400"/>
              <a:t>社会基本矛盾</a:t>
            </a:r>
            <a:endParaRPr lang="en-US" altLang="zh-CN" sz="1400"/>
          </a:p>
          <a:p>
            <a:pPr algn="ctr"/>
            <a:r>
              <a:rPr lang="zh-CN" altLang="en-US" sz="1400"/>
              <a:t>及其运动规律</a:t>
            </a:r>
          </a:p>
          <a:p>
            <a:pPr algn="ctr"/>
            <a:endParaRPr lang="zh-CN" altLang="en-US" sz="1400">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5" name="文本框 54"/>
          <p:cNvSpPr txBox="1"/>
          <p:nvPr/>
        </p:nvSpPr>
        <p:spPr>
          <a:xfrm>
            <a:off x="-212946" y="3760739"/>
            <a:ext cx="2038752"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1400">
                <a:solidFill>
                  <a:schemeClr val="bg1"/>
                </a:solidFill>
              </a:rPr>
              <a:t>超越宿命论</a:t>
            </a:r>
            <a:endParaRPr lang="en-US" altLang="zh-CN" sz="1400">
              <a:solidFill>
                <a:schemeClr val="bg1"/>
              </a:solidFill>
            </a:endParaRPr>
          </a:p>
          <a:p>
            <a:pPr algn="ctr"/>
            <a:r>
              <a:rPr lang="zh-CN" altLang="en-US" sz="1400">
                <a:solidFill>
                  <a:schemeClr val="bg1"/>
                </a:solidFill>
              </a:rPr>
              <a:t>规律与主体能动性</a:t>
            </a:r>
          </a:p>
        </p:txBody>
      </p:sp>
      <p:sp>
        <p:nvSpPr>
          <p:cNvPr id="56" name="文本框 55"/>
          <p:cNvSpPr txBox="1"/>
          <p:nvPr/>
        </p:nvSpPr>
        <p:spPr>
          <a:xfrm>
            <a:off x="594116" y="4664421"/>
            <a:ext cx="521006"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1400">
                <a:latin typeface="微软雅黑" panose="020B0503020204020204" charset="-122"/>
                <a:ea typeface="微软雅黑" panose="020B0503020204020204" charset="-122"/>
              </a:rPr>
              <a:t>结论</a:t>
            </a: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4" name="AutoShape 2" descr="خرید و قیمت The Revolutions Of 1848 Book by Karl Marx | ترب"/>
          <p:cNvSpPr>
            <a:spLocks noChangeAspect="1" noChangeArrowheads="1"/>
          </p:cNvSpPr>
          <p:nvPr/>
        </p:nvSpPr>
        <p:spPr bwMode="auto">
          <a:xfrm>
            <a:off x="5924823" y="152003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2" name="文本框 11"/>
          <p:cNvSpPr txBox="1"/>
          <p:nvPr/>
        </p:nvSpPr>
        <p:spPr>
          <a:xfrm>
            <a:off x="2350167" y="4290306"/>
            <a:ext cx="7382766" cy="8309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2400" i="1">
                <a:solidFill>
                  <a:schemeClr val="tx1">
                    <a:lumMod val="65000"/>
                    <a:lumOff val="35000"/>
                  </a:schemeClr>
                </a:solidFill>
                <a:latin typeface="微软雅黑" panose="020B0503020204020204" charset="-122"/>
                <a:ea typeface="微软雅黑" panose="020B0503020204020204" charset="-122"/>
              </a:rPr>
              <a:t>“历史不过是追求着自己目的的人的活动而已。” ⑫</a:t>
            </a:r>
            <a:endParaRPr lang="en-US" altLang="zh-CN" sz="2400" i="1">
              <a:solidFill>
                <a:schemeClr val="tx1">
                  <a:lumMod val="65000"/>
                  <a:lumOff val="35000"/>
                </a:schemeClr>
              </a:solidFill>
              <a:latin typeface="微软雅黑" panose="020B0503020204020204" charset="-122"/>
              <a:ea typeface="微软雅黑" panose="020B0503020204020204" charset="-122"/>
            </a:endParaRPr>
          </a:p>
          <a:p>
            <a:pPr eaLnBrk="0" fontAlgn="base">
              <a:spcBef>
                <a:spcPct val="0"/>
              </a:spcBef>
              <a:spcAft>
                <a:spcPct val="0"/>
              </a:spcAft>
            </a:pPr>
            <a:r>
              <a:rPr lang="en-US" altLang="zh-CN" sz="2400">
                <a:solidFill>
                  <a:schemeClr val="tx1">
                    <a:lumMod val="65000"/>
                    <a:lumOff val="35000"/>
                  </a:schemeClr>
                </a:solidFill>
                <a:latin typeface="微软雅黑" panose="020B0503020204020204" charset="-122"/>
                <a:ea typeface="微软雅黑" panose="020B0503020204020204" charset="-122"/>
              </a:rPr>
              <a:t>   ——</a:t>
            </a:r>
            <a:r>
              <a:rPr lang="zh-CN" altLang="en-US" sz="2400">
                <a:solidFill>
                  <a:schemeClr val="tx1">
                    <a:lumMod val="65000"/>
                    <a:lumOff val="35000"/>
                  </a:schemeClr>
                </a:solidFill>
                <a:latin typeface="微软雅黑" panose="020B0503020204020204" charset="-122"/>
                <a:ea typeface="微软雅黑" panose="020B0503020204020204" charset="-122"/>
              </a:rPr>
              <a:t>马克思、恩格斯：</a:t>
            </a:r>
            <a:r>
              <a:rPr lang="en-US" altLang="zh-CN" sz="2400">
                <a:solidFill>
                  <a:schemeClr val="tx1">
                    <a:lumMod val="65000"/>
                    <a:lumOff val="35000"/>
                  </a:schemeClr>
                </a:solidFill>
                <a:latin typeface="微软雅黑" panose="020B0503020204020204" charset="-122"/>
                <a:ea typeface="微软雅黑" panose="020B0503020204020204" charset="-122"/>
              </a:rPr>
              <a:t>《</a:t>
            </a:r>
            <a:r>
              <a:rPr lang="zh-CN" altLang="en-US" sz="2400">
                <a:solidFill>
                  <a:schemeClr val="tx1">
                    <a:lumMod val="65000"/>
                    <a:lumOff val="35000"/>
                  </a:schemeClr>
                </a:solidFill>
                <a:latin typeface="微软雅黑" panose="020B0503020204020204" charset="-122"/>
                <a:ea typeface="微软雅黑" panose="020B0503020204020204" charset="-122"/>
              </a:rPr>
              <a:t>神圣家族</a:t>
            </a:r>
            <a:r>
              <a:rPr lang="en-US" altLang="zh-CN" sz="2400">
                <a:solidFill>
                  <a:schemeClr val="tx1">
                    <a:lumMod val="65000"/>
                    <a:lumOff val="35000"/>
                  </a:schemeClr>
                </a:solidFill>
                <a:latin typeface="微软雅黑" panose="020B0503020204020204" charset="-122"/>
                <a:ea typeface="微软雅黑" panose="020B0503020204020204" charset="-122"/>
              </a:rPr>
              <a:t>》</a:t>
            </a:r>
            <a:endParaRPr lang="zh-CN" altLang="en-US" sz="2400">
              <a:solidFill>
                <a:schemeClr val="tx1">
                  <a:lumMod val="65000"/>
                  <a:lumOff val="35000"/>
                </a:schemeClr>
              </a:solidFill>
              <a:latin typeface="微软雅黑" panose="020B0503020204020204" charset="-122"/>
              <a:ea typeface="微软雅黑" panose="020B0503020204020204" charset="-122"/>
            </a:endParaRPr>
          </a:p>
        </p:txBody>
      </p:sp>
      <p:sp>
        <p:nvSpPr>
          <p:cNvPr id="16" name="矩形 15"/>
          <p:cNvSpPr/>
          <p:nvPr/>
        </p:nvSpPr>
        <p:spPr>
          <a:xfrm>
            <a:off x="2129690" y="4300055"/>
            <a:ext cx="150444" cy="721113"/>
          </a:xfrm>
          <a:prstGeom prst="rect">
            <a:avLst/>
          </a:prstGeom>
          <a:solidFill>
            <a:schemeClr val="bg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3" name="文本框 22"/>
          <p:cNvSpPr txBox="1"/>
          <p:nvPr/>
        </p:nvSpPr>
        <p:spPr>
          <a:xfrm>
            <a:off x="2106215" y="1420229"/>
            <a:ext cx="10584772" cy="5232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zh-CN" altLang="en-US" sz="2800"/>
              <a:t>人的活动不是盲目的本能活动，是有目的、有计划的实践活动：</a:t>
            </a:r>
          </a:p>
        </p:txBody>
      </p:sp>
      <p:sp>
        <p:nvSpPr>
          <p:cNvPr id="24" name="文本框 23"/>
          <p:cNvSpPr txBox="1"/>
          <p:nvPr/>
        </p:nvSpPr>
        <p:spPr>
          <a:xfrm>
            <a:off x="2407458" y="2043528"/>
            <a:ext cx="8877399" cy="1200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2400" i="1">
                <a:solidFill>
                  <a:schemeClr val="tx1">
                    <a:lumMod val="65000"/>
                    <a:lumOff val="35000"/>
                  </a:schemeClr>
                </a:solidFill>
                <a:latin typeface="微软雅黑" panose="020B0503020204020204" charset="-122"/>
                <a:ea typeface="微软雅黑" panose="020B0503020204020204" charset="-122"/>
              </a:rPr>
              <a:t>“最蹩脚的建筑师从一开始就比最灵巧的蜜蜂高明的地方，是他在用蜂蜡建筑蜂房以前，已经在自己的头脑中把它建成了</a:t>
            </a:r>
            <a:r>
              <a:rPr lang="en-US" altLang="zh-CN" sz="2400" i="1">
                <a:solidFill>
                  <a:schemeClr val="tx1">
                    <a:lumMod val="65000"/>
                    <a:lumOff val="35000"/>
                  </a:schemeClr>
                </a:solidFill>
                <a:latin typeface="微软雅黑" panose="020B0503020204020204" charset="-122"/>
                <a:ea typeface="微软雅黑" panose="020B0503020204020204" charset="-122"/>
              </a:rPr>
              <a:t>……"</a:t>
            </a:r>
            <a:r>
              <a:rPr lang="zh-CN" altLang="en-US" sz="2400" kern="10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i="1">
                <a:solidFill>
                  <a:schemeClr val="tx1">
                    <a:lumMod val="65000"/>
                    <a:lumOff val="35000"/>
                  </a:schemeClr>
                </a:solidFill>
                <a:latin typeface="微软雅黑" panose="020B0503020204020204" charset="-122"/>
                <a:ea typeface="微软雅黑" panose="020B0503020204020204" charset="-122"/>
              </a:rPr>
              <a:t>⑪</a:t>
            </a:r>
            <a:endParaRPr lang="en-US" altLang="zh-CN" sz="2400" i="1">
              <a:solidFill>
                <a:schemeClr val="tx1">
                  <a:lumMod val="65000"/>
                  <a:lumOff val="35000"/>
                </a:schemeClr>
              </a:solidFill>
              <a:latin typeface="微软雅黑" panose="020B0503020204020204" charset="-122"/>
              <a:ea typeface="微软雅黑" panose="020B0503020204020204" charset="-122"/>
            </a:endParaRPr>
          </a:p>
          <a:p>
            <a:pPr marL="0" marR="0" lvl="0" indent="0" algn="l" defTabSz="914400" rtl="0" eaLnBrk="0" fontAlgn="base" latinLnBrk="0" hangingPunct="0">
              <a:lnSpc>
                <a:spcPct val="100000"/>
              </a:lnSpc>
              <a:spcBef>
                <a:spcPct val="0"/>
              </a:spcBef>
              <a:spcAft>
                <a:spcPct val="0"/>
              </a:spcAft>
              <a:buClrTx/>
              <a:buSzTx/>
              <a:buFontTx/>
              <a:buNone/>
            </a:pPr>
            <a:r>
              <a:rPr lang="en-US" altLang="zh-CN" sz="2400">
                <a:solidFill>
                  <a:schemeClr val="tx1">
                    <a:lumMod val="65000"/>
                    <a:lumOff val="35000"/>
                  </a:schemeClr>
                </a:solidFill>
                <a:latin typeface="微软雅黑" panose="020B0503020204020204" charset="-122"/>
                <a:ea typeface="微软雅黑" panose="020B0503020204020204" charset="-122"/>
              </a:rPr>
              <a:t>——</a:t>
            </a:r>
            <a:r>
              <a:rPr lang="zh-CN" altLang="en-US" sz="2400">
                <a:solidFill>
                  <a:schemeClr val="tx1">
                    <a:lumMod val="65000"/>
                    <a:lumOff val="35000"/>
                  </a:schemeClr>
                </a:solidFill>
                <a:latin typeface="微软雅黑" panose="020B0503020204020204" charset="-122"/>
                <a:ea typeface="微软雅黑" panose="020B0503020204020204" charset="-122"/>
              </a:rPr>
              <a:t>马克思：</a:t>
            </a:r>
            <a:r>
              <a:rPr lang="en-US" altLang="zh-CN" sz="2400">
                <a:solidFill>
                  <a:schemeClr val="tx1">
                    <a:lumMod val="65000"/>
                    <a:lumOff val="35000"/>
                  </a:schemeClr>
                </a:solidFill>
                <a:latin typeface="微软雅黑" panose="020B0503020204020204" charset="-122"/>
                <a:ea typeface="微软雅黑" panose="020B0503020204020204" charset="-122"/>
              </a:rPr>
              <a:t>《</a:t>
            </a:r>
            <a:r>
              <a:rPr lang="zh-CN" altLang="en-US" sz="2400">
                <a:solidFill>
                  <a:schemeClr val="tx1">
                    <a:lumMod val="65000"/>
                    <a:lumOff val="35000"/>
                  </a:schemeClr>
                </a:solidFill>
                <a:latin typeface="微软雅黑" panose="020B0503020204020204" charset="-122"/>
                <a:ea typeface="微软雅黑" panose="020B0503020204020204" charset="-122"/>
              </a:rPr>
              <a:t>资本论</a:t>
            </a:r>
            <a:r>
              <a:rPr lang="en-US" altLang="zh-CN" sz="2400">
                <a:solidFill>
                  <a:schemeClr val="tx1">
                    <a:lumMod val="65000"/>
                    <a:lumOff val="35000"/>
                  </a:schemeClr>
                </a:solidFill>
                <a:latin typeface="微软雅黑" panose="020B0503020204020204" charset="-122"/>
                <a:ea typeface="微软雅黑" panose="020B0503020204020204" charset="-122"/>
              </a:rPr>
              <a:t>》</a:t>
            </a:r>
            <a:r>
              <a:rPr lang="zh-CN" altLang="en-US" sz="2400">
                <a:solidFill>
                  <a:schemeClr val="tx1">
                    <a:lumMod val="65000"/>
                    <a:lumOff val="35000"/>
                  </a:schemeClr>
                </a:solidFill>
                <a:latin typeface="微软雅黑" panose="020B0503020204020204" charset="-122"/>
                <a:ea typeface="微软雅黑" panose="020B0503020204020204" charset="-122"/>
              </a:rPr>
              <a:t>第一卷</a:t>
            </a:r>
          </a:p>
        </p:txBody>
      </p:sp>
      <p:sp>
        <p:nvSpPr>
          <p:cNvPr id="25" name="矩形 24"/>
          <p:cNvSpPr/>
          <p:nvPr/>
        </p:nvSpPr>
        <p:spPr>
          <a:xfrm>
            <a:off x="2186982" y="2034704"/>
            <a:ext cx="155076" cy="1190578"/>
          </a:xfrm>
          <a:prstGeom prst="rect">
            <a:avLst/>
          </a:prstGeom>
          <a:solidFill>
            <a:schemeClr val="bg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7" name="文本框 26"/>
          <p:cNvSpPr txBox="1"/>
          <p:nvPr/>
        </p:nvSpPr>
        <p:spPr>
          <a:xfrm>
            <a:off x="2106215" y="5164191"/>
            <a:ext cx="10850243" cy="1384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2800"/>
              <a:t>恩格斯也指出，</a:t>
            </a:r>
            <a:r>
              <a:rPr lang="zh-CN" altLang="en-US" sz="2800" b="1"/>
              <a:t>“社会规律就是人们自己的社会行动的规律。”</a:t>
            </a:r>
            <a:endParaRPr lang="en-US" altLang="zh-CN" sz="2800" b="1"/>
          </a:p>
          <a:p>
            <a:r>
              <a:rPr lang="zh-CN" altLang="en-US" sz="2800"/>
              <a:t>这说明社会规律本身就存在于人的社会实践过程之中。</a:t>
            </a:r>
            <a:endParaRPr lang="en-US" altLang="zh-CN" sz="2800"/>
          </a:p>
          <a:p>
            <a:r>
              <a:rPr lang="zh-CN" altLang="en-US" sz="2800"/>
              <a:t>人在认识、把握规律的基础上自觉行动，能动地改造世界。</a:t>
            </a:r>
            <a:endParaRPr lang="en-US" altLang="zh-CN" sz="2800"/>
          </a:p>
        </p:txBody>
      </p:sp>
      <p:sp>
        <p:nvSpPr>
          <p:cNvPr id="29" name="直角三角形 28"/>
          <p:cNvSpPr/>
          <p:nvPr/>
        </p:nvSpPr>
        <p:spPr>
          <a:xfrm rot="10800000">
            <a:off x="10745649" y="0"/>
            <a:ext cx="1424653" cy="1483615"/>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spd="slow" p14:dur="1200">
        <p:wipe/>
      </p:transition>
    </mc:Choice>
    <mc:Fallback xmlns="">
      <p:transition spd="slow">
        <p:wip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直角三角形 31"/>
          <p:cNvSpPr/>
          <p:nvPr/>
        </p:nvSpPr>
        <p:spPr>
          <a:xfrm rot="16200000">
            <a:off x="9956218" y="4627826"/>
            <a:ext cx="2359742" cy="2100604"/>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662" name="五边形 8"/>
          <p:cNvSpPr txBox="1">
            <a:spLocks noGrp="1"/>
          </p:cNvSpPr>
          <p:nvPr>
            <p:ph type="sldNum" sz="quarter" idx="2"/>
          </p:nvPr>
        </p:nvSpPr>
        <p:spPr>
          <a:xfrm>
            <a:off x="11337756" y="6003980"/>
            <a:ext cx="860594" cy="396241"/>
          </a:xfrm>
          <a:prstGeom prst="rect">
            <a:avLst/>
          </a:prstGeom>
        </p:spPr>
        <p:txBody>
          <a:bodyPr/>
          <a:lstStyle/>
          <a:p>
            <a:fld id="{86CB4B4D-7CA3-9044-876B-883B54F8677D}" type="slidenum">
              <a:rPr/>
              <a:t>17</a:t>
            </a:fld>
            <a:endParaRPr/>
          </a:p>
        </p:txBody>
      </p:sp>
      <p:sp>
        <p:nvSpPr>
          <p:cNvPr id="2" name="矩形 1"/>
          <p:cNvSpPr/>
          <p:nvPr/>
        </p:nvSpPr>
        <p:spPr>
          <a:xfrm>
            <a:off x="186603" y="1541200"/>
            <a:ext cx="1239656" cy="307775"/>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4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3" name="矩形 32"/>
          <p:cNvSpPr/>
          <p:nvPr/>
        </p:nvSpPr>
        <p:spPr>
          <a:xfrm>
            <a:off x="86241" y="2162517"/>
            <a:ext cx="1512099" cy="530374"/>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4" name="矩形 33"/>
          <p:cNvSpPr/>
          <p:nvPr/>
        </p:nvSpPr>
        <p:spPr>
          <a:xfrm>
            <a:off x="86240" y="2951698"/>
            <a:ext cx="1512099" cy="530374"/>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5" name="矩形 34"/>
          <p:cNvSpPr/>
          <p:nvPr/>
        </p:nvSpPr>
        <p:spPr>
          <a:xfrm>
            <a:off x="86240" y="4590927"/>
            <a:ext cx="1512099" cy="530374"/>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6" name="矩形 35"/>
          <p:cNvSpPr/>
          <p:nvPr/>
        </p:nvSpPr>
        <p:spPr>
          <a:xfrm>
            <a:off x="50381" y="3777285"/>
            <a:ext cx="1512099" cy="530374"/>
          </a:xfrm>
          <a:prstGeom prst="rect">
            <a:avLst/>
          </a:prstGeom>
          <a:solidFill>
            <a:srgbClr val="41445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文本框 2"/>
          <p:cNvSpPr txBox="1"/>
          <p:nvPr/>
        </p:nvSpPr>
        <p:spPr>
          <a:xfrm>
            <a:off x="2205760" y="1325757"/>
            <a:ext cx="7694342"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800">
                <a:latin typeface="微软雅黑" panose="020B0503020204020204" charset="-122"/>
                <a:ea typeface="微软雅黑" panose="020B0503020204020204" charset="-122"/>
              </a:rPr>
              <a:t>马克思明确指出：</a:t>
            </a:r>
            <a:endParaRPr kumimoji="0" lang="zh-CN" altLang="en-US" sz="28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8" name="矩形 7"/>
          <p:cNvSpPr/>
          <p:nvPr/>
        </p:nvSpPr>
        <p:spPr>
          <a:xfrm>
            <a:off x="2148468" y="472757"/>
            <a:ext cx="3449444" cy="721113"/>
          </a:xfrm>
          <a:prstGeom prst="rect">
            <a:avLst/>
          </a:prstGeom>
          <a:solidFill>
            <a:srgbClr val="FFFFFF"/>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9" name="文本框 8"/>
          <p:cNvSpPr txBox="1"/>
          <p:nvPr/>
        </p:nvSpPr>
        <p:spPr>
          <a:xfrm>
            <a:off x="2148468" y="367508"/>
            <a:ext cx="8519532"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4000" b="1">
                <a:latin typeface="微软雅黑" panose="020B0503020204020204" charset="-122"/>
                <a:ea typeface="微软雅黑" panose="020B0503020204020204" charset="-122"/>
              </a:rPr>
              <a:t>人创造历史，但不是随心所欲地创造</a:t>
            </a:r>
          </a:p>
        </p:txBody>
      </p:sp>
      <p:sp>
        <p:nvSpPr>
          <p:cNvPr id="14" name="文本框 13"/>
          <p:cNvSpPr txBox="1"/>
          <p:nvPr/>
        </p:nvSpPr>
        <p:spPr>
          <a:xfrm>
            <a:off x="594116" y="1524403"/>
            <a:ext cx="521006"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1400">
                <a:latin typeface="微软雅黑" panose="020B0503020204020204" charset="-122"/>
                <a:ea typeface="微软雅黑" panose="020B0503020204020204" charset="-122"/>
              </a:rPr>
              <a:t>绪论</a:t>
            </a: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3" name="文本框 52"/>
          <p:cNvSpPr txBox="1"/>
          <p:nvPr/>
        </p:nvSpPr>
        <p:spPr>
          <a:xfrm>
            <a:off x="-255829" y="2197228"/>
            <a:ext cx="2178821" cy="7386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1400">
                <a:latin typeface="微软雅黑" panose="020B0503020204020204" charset="-122"/>
                <a:ea typeface="微软雅黑" panose="020B0503020204020204" charset="-122"/>
              </a:rPr>
              <a:t>社会存在</a:t>
            </a:r>
            <a:endParaRPr lang="en-US" altLang="zh-CN" sz="1400">
              <a:latin typeface="微软雅黑" panose="020B0503020204020204" charset="-122"/>
              <a:ea typeface="微软雅黑" panose="020B0503020204020204" charset="-122"/>
            </a:endParaRPr>
          </a:p>
          <a:p>
            <a:pPr algn="ctr"/>
            <a:r>
              <a:rPr lang="zh-CN" altLang="en-US" sz="1400">
                <a:latin typeface="微软雅黑" panose="020B0503020204020204" charset="-122"/>
                <a:ea typeface="微软雅黑" panose="020B0503020204020204" charset="-122"/>
              </a:rPr>
              <a:t>与社会意识</a:t>
            </a:r>
          </a:p>
          <a:p>
            <a:pPr marL="0" marR="0" indent="0" algn="ctr" defTabSz="914400" rtl="0" fontAlgn="auto" latinLnBrk="0" hangingPunct="0">
              <a:lnSpc>
                <a:spcPct val="100000"/>
              </a:lnSpc>
              <a:spcBef>
                <a:spcPts val="0"/>
              </a:spcBef>
              <a:spcAft>
                <a:spcPts val="0"/>
              </a:spcAft>
              <a:buClrTx/>
              <a:buSzTx/>
              <a:buFontTx/>
              <a:buNone/>
            </a:pPr>
            <a:endPar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4" name="文本框 53"/>
          <p:cNvSpPr txBox="1"/>
          <p:nvPr/>
        </p:nvSpPr>
        <p:spPr>
          <a:xfrm>
            <a:off x="-185794" y="2999861"/>
            <a:ext cx="2038752" cy="954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1400"/>
              <a:t>社会基本矛盾</a:t>
            </a:r>
            <a:endParaRPr lang="en-US" altLang="zh-CN" sz="1400"/>
          </a:p>
          <a:p>
            <a:pPr algn="ctr"/>
            <a:r>
              <a:rPr lang="zh-CN" altLang="en-US" sz="1400"/>
              <a:t>及其运动规律</a:t>
            </a:r>
          </a:p>
          <a:p>
            <a:pPr algn="ctr"/>
            <a:endParaRPr lang="zh-CN" altLang="en-US" sz="1400">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5" name="文本框 54"/>
          <p:cNvSpPr txBox="1"/>
          <p:nvPr/>
        </p:nvSpPr>
        <p:spPr>
          <a:xfrm>
            <a:off x="-212946" y="3760739"/>
            <a:ext cx="2038752"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1400">
                <a:solidFill>
                  <a:schemeClr val="bg1"/>
                </a:solidFill>
              </a:rPr>
              <a:t>超越宿命论</a:t>
            </a:r>
            <a:endParaRPr lang="en-US" altLang="zh-CN" sz="1400">
              <a:solidFill>
                <a:schemeClr val="bg1"/>
              </a:solidFill>
            </a:endParaRPr>
          </a:p>
          <a:p>
            <a:pPr algn="ctr"/>
            <a:r>
              <a:rPr lang="zh-CN" altLang="en-US" sz="1400">
                <a:solidFill>
                  <a:schemeClr val="bg1"/>
                </a:solidFill>
              </a:rPr>
              <a:t>规律与主体能动性</a:t>
            </a:r>
          </a:p>
        </p:txBody>
      </p:sp>
      <p:sp>
        <p:nvSpPr>
          <p:cNvPr id="56" name="文本框 55"/>
          <p:cNvSpPr txBox="1"/>
          <p:nvPr/>
        </p:nvSpPr>
        <p:spPr>
          <a:xfrm>
            <a:off x="594116" y="4664421"/>
            <a:ext cx="521006"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1400">
                <a:latin typeface="微软雅黑" panose="020B0503020204020204" charset="-122"/>
                <a:ea typeface="微软雅黑" panose="020B0503020204020204" charset="-122"/>
              </a:rPr>
              <a:t>结论</a:t>
            </a: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4" name="AutoShape 2" descr="خرید و قیمت The Revolutions Of 1848 Book by Karl Marx | ترب"/>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24699" y="1412397"/>
            <a:ext cx="1909808" cy="3046986"/>
          </a:xfrm>
          <a:prstGeom prst="rect">
            <a:avLst/>
          </a:prstGeom>
          <a:effectLst>
            <a:softEdge rad="88900"/>
          </a:effectLst>
        </p:spPr>
      </p:pic>
      <p:sp>
        <p:nvSpPr>
          <p:cNvPr id="12" name="文本框 11"/>
          <p:cNvSpPr txBox="1"/>
          <p:nvPr/>
        </p:nvSpPr>
        <p:spPr>
          <a:xfrm>
            <a:off x="2487939" y="1949628"/>
            <a:ext cx="7382766" cy="23083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400" b="0" i="1" u="none" strike="noStrike" cap="none" normalizeH="0" baseline="0">
                <a:ln>
                  <a:noFill/>
                </a:ln>
                <a:solidFill>
                  <a:schemeClr val="tx1">
                    <a:lumMod val="65000"/>
                    <a:lumOff val="35000"/>
                  </a:schemeClr>
                </a:solidFill>
                <a:effectLst/>
                <a:latin typeface="微软雅黑" panose="020B0503020204020204" charset="-122"/>
                <a:ea typeface="微软雅黑" panose="020B0503020204020204" charset="-122"/>
              </a:rPr>
              <a:t>“人们自己创造自己的历史，但是他们并不是随心所欲地创造，并不是在他们自己选定的条件下创造，而是在直接碰到的、既定的、从过去承继下来的条件下创造。”</a:t>
            </a:r>
            <a:r>
              <a:rPr lang="zh-CN" altLang="en-US" sz="2400" kern="10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i="1">
                <a:solidFill>
                  <a:schemeClr val="tx1">
                    <a:lumMod val="65000"/>
                    <a:lumOff val="35000"/>
                  </a:schemeClr>
                </a:solidFill>
                <a:latin typeface="微软雅黑" panose="020B0503020204020204" charset="-122"/>
                <a:ea typeface="微软雅黑" panose="020B0503020204020204" charset="-122"/>
              </a:rPr>
              <a:t>⑬</a:t>
            </a:r>
            <a:endParaRPr lang="zh-CN" altLang="zh-CN" sz="2400" i="1">
              <a:solidFill>
                <a:schemeClr val="tx1">
                  <a:lumMod val="65000"/>
                  <a:lumOff val="35000"/>
                </a:schemeClr>
              </a:solidFill>
              <a:latin typeface="微软雅黑" panose="020B0503020204020204" charset="-122"/>
              <a:ea typeface="微软雅黑" panose="020B0503020204020204"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400" b="0" u="none" strike="noStrike" cap="none" normalizeH="0" baseline="0">
                <a:ln>
                  <a:noFill/>
                </a:ln>
                <a:solidFill>
                  <a:schemeClr val="tx1">
                    <a:lumMod val="65000"/>
                    <a:lumOff val="35000"/>
                  </a:schemeClr>
                </a:solidFill>
                <a:effectLst/>
                <a:latin typeface="微软雅黑" panose="020B0503020204020204" charset="-122"/>
                <a:ea typeface="微软雅黑" panose="020B0503020204020204" charset="-122"/>
              </a:rPr>
              <a:t>——马克思：《路易·波拿巴的雾月十八日》</a:t>
            </a:r>
          </a:p>
          <a:p>
            <a:pPr marL="0" marR="0" indent="0" algn="l" defTabSz="914400" rtl="0" fontAlgn="auto" latinLnBrk="0" hangingPunct="0">
              <a:lnSpc>
                <a:spcPct val="100000"/>
              </a:lnSpc>
              <a:spcBef>
                <a:spcPts val="0"/>
              </a:spcBef>
              <a:spcAft>
                <a:spcPts val="0"/>
              </a:spcAft>
              <a:buClrTx/>
              <a:buSzTx/>
              <a:buFontTx/>
              <a:buNone/>
            </a:pPr>
            <a:endParaRPr kumimoji="0" lang="zh-CN" altLang="en-US" sz="2400" b="0" i="1" u="none" strike="noStrike" cap="none" spc="0" normalizeH="0" baseline="0">
              <a:ln>
                <a:noFill/>
              </a:ln>
              <a:solidFill>
                <a:schemeClr val="tx1">
                  <a:lumMod val="65000"/>
                  <a:lumOff val="35000"/>
                </a:schemeClr>
              </a:solidFill>
              <a:effectLst/>
              <a:uFillTx/>
              <a:latin typeface="微软雅黑" panose="020B0503020204020204" charset="-122"/>
              <a:ea typeface="微软雅黑" panose="020B0503020204020204" charset="-122"/>
              <a:sym typeface="Calibri" panose="020F0502020204030204"/>
            </a:endParaRPr>
          </a:p>
        </p:txBody>
      </p:sp>
      <p:sp>
        <p:nvSpPr>
          <p:cNvPr id="16" name="矩形 15"/>
          <p:cNvSpPr/>
          <p:nvPr/>
        </p:nvSpPr>
        <p:spPr>
          <a:xfrm>
            <a:off x="2260471" y="1949629"/>
            <a:ext cx="157433" cy="1844946"/>
          </a:xfrm>
          <a:prstGeom prst="rect">
            <a:avLst/>
          </a:prstGeom>
          <a:solidFill>
            <a:schemeClr val="bg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9" name="文本框 18"/>
          <p:cNvSpPr txBox="1"/>
          <p:nvPr/>
        </p:nvSpPr>
        <p:spPr>
          <a:xfrm>
            <a:off x="2260471" y="3915905"/>
            <a:ext cx="6988352" cy="22467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0" fontAlgn="base" latinLnBrk="0" hangingPunct="0">
              <a:lnSpc>
                <a:spcPct val="100000"/>
              </a:lnSpc>
              <a:spcBef>
                <a:spcPct val="0"/>
              </a:spcBef>
              <a:spcAft>
                <a:spcPct val="0"/>
              </a:spcAft>
              <a:buClrTx/>
              <a:buSzTx/>
            </a:pPr>
            <a:r>
              <a:rPr kumimoji="0" lang="zh-CN" altLang="zh-CN" sz="2800" b="0" i="0" u="none" strike="noStrike" cap="none" normalizeH="0" baseline="0">
                <a:ln>
                  <a:noFill/>
                </a:ln>
                <a:solidFill>
                  <a:schemeClr val="tx1"/>
                </a:solidFill>
                <a:effectLst/>
                <a:latin typeface="Arial" panose="020B0604020202020204" pitchFamily="34" charset="0"/>
              </a:rPr>
              <a:t>人是历史活动的承担者，但人的活动总是在既定历史条件中展开；因而，</a:t>
            </a:r>
            <a:r>
              <a:rPr kumimoji="0" lang="zh-CN" altLang="zh-CN" sz="2800" b="1" i="0" u="none" strike="noStrike" cap="none" normalizeH="0" baseline="0">
                <a:ln>
                  <a:noFill/>
                </a:ln>
                <a:solidFill>
                  <a:schemeClr val="tx1"/>
                </a:solidFill>
                <a:effectLst/>
                <a:latin typeface="Arial" panose="020B0604020202020204" pitchFamily="34" charset="0"/>
              </a:rPr>
              <a:t>创造历史</a:t>
            </a:r>
            <a:r>
              <a:rPr kumimoji="0" lang="zh-CN" altLang="zh-CN" sz="2800" b="0" i="0" u="none" strike="noStrike" cap="none" normalizeH="0" baseline="0">
                <a:ln>
                  <a:noFill/>
                </a:ln>
                <a:solidFill>
                  <a:schemeClr val="tx1"/>
                </a:solidFill>
                <a:effectLst/>
                <a:latin typeface="Arial" panose="020B0604020202020204" pitchFamily="34" charset="0"/>
              </a:rPr>
              <a:t>与</a:t>
            </a:r>
            <a:r>
              <a:rPr kumimoji="0" lang="zh-CN" altLang="zh-CN" sz="2800" b="1" i="0" u="none" strike="noStrike" cap="none" normalizeH="0" baseline="0">
                <a:ln>
                  <a:noFill/>
                </a:ln>
                <a:solidFill>
                  <a:schemeClr val="tx1"/>
                </a:solidFill>
                <a:effectLst/>
                <a:latin typeface="Arial" panose="020B0604020202020204" pitchFamily="34" charset="0"/>
              </a:rPr>
              <a:t>受客观条件制约</a:t>
            </a:r>
            <a:r>
              <a:rPr kumimoji="0" lang="zh-CN" altLang="zh-CN" sz="2800" b="0" i="0" u="none" strike="noStrike" cap="none" normalizeH="0" baseline="0">
                <a:ln>
                  <a:noFill/>
                </a:ln>
                <a:solidFill>
                  <a:schemeClr val="tx1"/>
                </a:solidFill>
                <a:effectLst/>
                <a:latin typeface="Arial" panose="020B0604020202020204" pitchFamily="34" charset="0"/>
              </a:rPr>
              <a:t>是统一的。</a:t>
            </a:r>
            <a:endParaRPr kumimoji="0" lang="en-US" altLang="zh-CN" sz="2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lang="zh-CN" altLang="en-US" sz="2800">
                <a:solidFill>
                  <a:schemeClr val="tx1"/>
                </a:solidFill>
                <a:latin typeface="Arial" panose="020B0604020202020204" pitchFamily="34" charset="0"/>
              </a:rPr>
              <a:t>历史既不是“宿命论”或“机械决定论”</a:t>
            </a:r>
            <a:r>
              <a:rPr kumimoji="0" lang="zh-CN" altLang="zh-CN" sz="2800" b="0" i="0" u="none" strike="noStrike" cap="none" normalizeH="0" baseline="0">
                <a:ln>
                  <a:noFill/>
                </a:ln>
                <a:solidFill>
                  <a:schemeClr val="tx1"/>
                </a:solidFill>
                <a:effectLst/>
                <a:latin typeface="Arial" panose="020B0604020202020204" pitchFamily="34" charset="0"/>
              </a:rPr>
              <a:t> </a:t>
            </a:r>
            <a:r>
              <a:rPr kumimoji="0" lang="zh-CN" altLang="en-US" sz="2800" b="0" i="0" u="none" strike="noStrike" cap="none" normalizeH="0" baseline="0">
                <a:ln>
                  <a:noFill/>
                </a:ln>
                <a:solidFill>
                  <a:schemeClr val="tx1"/>
                </a:solidFill>
                <a:effectLst/>
                <a:latin typeface="Arial" panose="020B0604020202020204" pitchFamily="34" charset="0"/>
              </a:rPr>
              <a:t>，也不是主观的“唯意志论”</a:t>
            </a:r>
            <a:endParaRPr kumimoji="0" lang="zh-CN" altLang="zh-CN" sz="2800" b="0" i="0" u="none" strike="noStrike" cap="none" normalizeH="0" baseline="0">
              <a:ln>
                <a:noFill/>
              </a:ln>
              <a:solidFill>
                <a:schemeClr val="tx1"/>
              </a:solidFill>
              <a:effectLst/>
              <a:latin typeface="Arial" panose="020B0604020202020204" pitchFamily="34" charset="0"/>
            </a:endParaRPr>
          </a:p>
        </p:txBody>
      </p:sp>
      <p:sp>
        <p:nvSpPr>
          <p:cNvPr id="37" name="直角三角形 36"/>
          <p:cNvSpPr/>
          <p:nvPr/>
        </p:nvSpPr>
        <p:spPr>
          <a:xfrm rot="10800000">
            <a:off x="10745649" y="0"/>
            <a:ext cx="1424653" cy="1483615"/>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spd="slow" p14:dur="1200">
        <p:wipe/>
      </p:transition>
    </mc:Choice>
    <mc:Fallback xmlns="">
      <p:transition spd="slow">
        <p:wip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直角三角形 27"/>
          <p:cNvSpPr/>
          <p:nvPr/>
        </p:nvSpPr>
        <p:spPr>
          <a:xfrm rot="16200000">
            <a:off x="9956218" y="4627826"/>
            <a:ext cx="2359742" cy="2100604"/>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0" name="矩形 9"/>
          <p:cNvSpPr/>
          <p:nvPr/>
        </p:nvSpPr>
        <p:spPr>
          <a:xfrm>
            <a:off x="1852958" y="5373980"/>
            <a:ext cx="10296290" cy="1260000"/>
          </a:xfrm>
          <a:prstGeom prst="rect">
            <a:avLst/>
          </a:prstGeom>
          <a:solidFill>
            <a:srgbClr val="41445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662" name="五边形 8"/>
          <p:cNvSpPr txBox="1">
            <a:spLocks noGrp="1"/>
          </p:cNvSpPr>
          <p:nvPr>
            <p:ph type="sldNum" sz="quarter" idx="2"/>
          </p:nvPr>
        </p:nvSpPr>
        <p:spPr>
          <a:xfrm>
            <a:off x="11337756" y="6003980"/>
            <a:ext cx="860594" cy="396241"/>
          </a:xfrm>
          <a:prstGeom prst="rect">
            <a:avLst/>
          </a:prstGeom>
        </p:spPr>
        <p:txBody>
          <a:bodyPr/>
          <a:lstStyle/>
          <a:p>
            <a:fld id="{86CB4B4D-7CA3-9044-876B-883B54F8677D}" type="slidenum">
              <a:rPr/>
              <a:t>18</a:t>
            </a:fld>
            <a:endParaRPr/>
          </a:p>
        </p:txBody>
      </p:sp>
      <p:sp>
        <p:nvSpPr>
          <p:cNvPr id="2" name="矩形 1"/>
          <p:cNvSpPr/>
          <p:nvPr/>
        </p:nvSpPr>
        <p:spPr>
          <a:xfrm>
            <a:off x="186603" y="1541200"/>
            <a:ext cx="1239656" cy="307775"/>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4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3" name="矩形 32"/>
          <p:cNvSpPr/>
          <p:nvPr/>
        </p:nvSpPr>
        <p:spPr>
          <a:xfrm>
            <a:off x="86241" y="2162517"/>
            <a:ext cx="1512099" cy="530374"/>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4" name="矩形 33"/>
          <p:cNvSpPr/>
          <p:nvPr/>
        </p:nvSpPr>
        <p:spPr>
          <a:xfrm>
            <a:off x="86240" y="2951698"/>
            <a:ext cx="1512099" cy="530374"/>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5" name="矩形 34"/>
          <p:cNvSpPr/>
          <p:nvPr/>
        </p:nvSpPr>
        <p:spPr>
          <a:xfrm>
            <a:off x="86240" y="4590927"/>
            <a:ext cx="1512099" cy="530374"/>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6" name="矩形 35"/>
          <p:cNvSpPr/>
          <p:nvPr/>
        </p:nvSpPr>
        <p:spPr>
          <a:xfrm>
            <a:off x="50381" y="3777285"/>
            <a:ext cx="1512099" cy="530374"/>
          </a:xfrm>
          <a:prstGeom prst="rect">
            <a:avLst/>
          </a:prstGeom>
          <a:solidFill>
            <a:srgbClr val="41445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文本框 2"/>
          <p:cNvSpPr txBox="1"/>
          <p:nvPr/>
        </p:nvSpPr>
        <p:spPr>
          <a:xfrm>
            <a:off x="2005852" y="1346899"/>
            <a:ext cx="9799637" cy="1384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800"/>
              <a:t>创造历史的主体不是抽象的“个人意志”，而是现实的人民群众。</a:t>
            </a:r>
            <a:r>
              <a:rPr lang="zh-CN" altLang="en-US" sz="2800" b="1"/>
              <a:t>人民群众在历史发展中起决定性作用，是历史的创造者</a:t>
            </a:r>
            <a:r>
              <a:rPr lang="zh-CN" altLang="en-US" sz="2800">
                <a:latin typeface="微软雅黑" panose="020B0503020204020204" charset="-122"/>
                <a:ea typeface="微软雅黑" panose="020B0503020204020204" charset="-122"/>
              </a:rPr>
              <a:t>：</a:t>
            </a:r>
            <a:endParaRPr lang="zh-CN" altLang="zh-CN" sz="2800"/>
          </a:p>
          <a:p>
            <a:pPr marL="0" marR="0" indent="0" algn="l" defTabSz="914400" rtl="0" fontAlgn="auto" latinLnBrk="0" hangingPunct="0">
              <a:lnSpc>
                <a:spcPct val="100000"/>
              </a:lnSpc>
              <a:spcBef>
                <a:spcPts val="0"/>
              </a:spcBef>
              <a:spcAft>
                <a:spcPts val="0"/>
              </a:spcAft>
              <a:buClrTx/>
              <a:buSzTx/>
              <a:buFontTx/>
              <a:buNone/>
            </a:pPr>
            <a:endParaRPr kumimoji="0" lang="zh-CN" altLang="en-US" sz="28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7" name="文本框 6"/>
          <p:cNvSpPr txBox="1"/>
          <p:nvPr/>
        </p:nvSpPr>
        <p:spPr>
          <a:xfrm>
            <a:off x="1895709" y="5448456"/>
            <a:ext cx="10296291" cy="10772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3200">
                <a:solidFill>
                  <a:schemeClr val="bg1"/>
                </a:solidFill>
                <a:latin typeface="微软雅黑" panose="020B0503020204020204" charset="-122"/>
                <a:ea typeface="微软雅黑" panose="020B0503020204020204" charset="-122"/>
              </a:rPr>
              <a:t>历史发展既有客观规律，又必须通过</a:t>
            </a:r>
            <a:r>
              <a:rPr lang="zh-CN" altLang="en-US" sz="3200" b="1">
                <a:solidFill>
                  <a:schemeClr val="bg1"/>
                </a:solidFill>
                <a:latin typeface="微软雅黑" panose="020B0503020204020204" charset="-122"/>
                <a:ea typeface="微软雅黑" panose="020B0503020204020204" charset="-122"/>
              </a:rPr>
              <a:t>人民群众的实践活动</a:t>
            </a:r>
            <a:r>
              <a:rPr lang="zh-CN" altLang="en-US" sz="3200">
                <a:solidFill>
                  <a:schemeClr val="bg1"/>
                </a:solidFill>
                <a:latin typeface="微软雅黑" panose="020B0503020204020204" charset="-122"/>
                <a:ea typeface="微软雅黑" panose="020B0503020204020204" charset="-122"/>
              </a:rPr>
              <a:t>才能转化为现实。</a:t>
            </a:r>
          </a:p>
        </p:txBody>
      </p:sp>
      <p:sp>
        <p:nvSpPr>
          <p:cNvPr id="8" name="矩形 7"/>
          <p:cNvSpPr/>
          <p:nvPr/>
        </p:nvSpPr>
        <p:spPr>
          <a:xfrm>
            <a:off x="2148468" y="472757"/>
            <a:ext cx="3449444" cy="721113"/>
          </a:xfrm>
          <a:prstGeom prst="rect">
            <a:avLst/>
          </a:prstGeom>
          <a:solidFill>
            <a:srgbClr val="FFFFFF"/>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9" name="文本框 8"/>
          <p:cNvSpPr txBox="1"/>
          <p:nvPr/>
        </p:nvSpPr>
        <p:spPr>
          <a:xfrm>
            <a:off x="2148467" y="367508"/>
            <a:ext cx="9899999"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4000" b="1">
                <a:latin typeface="微软雅黑" panose="020B0503020204020204" charset="-122"/>
                <a:ea typeface="微软雅黑" panose="020B0503020204020204" charset="-122"/>
              </a:rPr>
              <a:t>人民群众是历史的创造者</a:t>
            </a:r>
          </a:p>
        </p:txBody>
      </p:sp>
      <p:sp>
        <p:nvSpPr>
          <p:cNvPr id="14" name="文本框 13"/>
          <p:cNvSpPr txBox="1"/>
          <p:nvPr/>
        </p:nvSpPr>
        <p:spPr>
          <a:xfrm>
            <a:off x="594116" y="1524403"/>
            <a:ext cx="521006"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1400">
                <a:latin typeface="微软雅黑" panose="020B0503020204020204" charset="-122"/>
                <a:ea typeface="微软雅黑" panose="020B0503020204020204" charset="-122"/>
              </a:rPr>
              <a:t>绪论</a:t>
            </a: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3" name="文本框 52"/>
          <p:cNvSpPr txBox="1"/>
          <p:nvPr/>
        </p:nvSpPr>
        <p:spPr>
          <a:xfrm>
            <a:off x="-255829" y="2197228"/>
            <a:ext cx="2178821" cy="7386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1400">
                <a:latin typeface="微软雅黑" panose="020B0503020204020204" charset="-122"/>
                <a:ea typeface="微软雅黑" panose="020B0503020204020204" charset="-122"/>
              </a:rPr>
              <a:t>社会存在</a:t>
            </a:r>
            <a:endParaRPr lang="en-US" altLang="zh-CN" sz="1400">
              <a:latin typeface="微软雅黑" panose="020B0503020204020204" charset="-122"/>
              <a:ea typeface="微软雅黑" panose="020B0503020204020204" charset="-122"/>
            </a:endParaRPr>
          </a:p>
          <a:p>
            <a:pPr algn="ctr"/>
            <a:r>
              <a:rPr lang="zh-CN" altLang="en-US" sz="1400">
                <a:latin typeface="微软雅黑" panose="020B0503020204020204" charset="-122"/>
                <a:ea typeface="微软雅黑" panose="020B0503020204020204" charset="-122"/>
              </a:rPr>
              <a:t>与社会意识</a:t>
            </a:r>
          </a:p>
          <a:p>
            <a:pPr marL="0" marR="0" indent="0" algn="ctr" defTabSz="914400" rtl="0" fontAlgn="auto" latinLnBrk="0" hangingPunct="0">
              <a:lnSpc>
                <a:spcPct val="100000"/>
              </a:lnSpc>
              <a:spcBef>
                <a:spcPts val="0"/>
              </a:spcBef>
              <a:spcAft>
                <a:spcPts val="0"/>
              </a:spcAft>
              <a:buClrTx/>
              <a:buSzTx/>
              <a:buFontTx/>
              <a:buNone/>
            </a:pPr>
            <a:endPar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4" name="文本框 53"/>
          <p:cNvSpPr txBox="1"/>
          <p:nvPr/>
        </p:nvSpPr>
        <p:spPr>
          <a:xfrm>
            <a:off x="-185794" y="2999861"/>
            <a:ext cx="2038752" cy="954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1400"/>
              <a:t>社会基本矛盾</a:t>
            </a:r>
            <a:endParaRPr lang="en-US" altLang="zh-CN" sz="1400"/>
          </a:p>
          <a:p>
            <a:pPr algn="ctr"/>
            <a:r>
              <a:rPr lang="zh-CN" altLang="en-US" sz="1400"/>
              <a:t>及其运动规律</a:t>
            </a:r>
          </a:p>
          <a:p>
            <a:pPr algn="ctr"/>
            <a:endParaRPr lang="zh-CN" altLang="en-US" sz="1400">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55" name="文本框 54"/>
          <p:cNvSpPr txBox="1"/>
          <p:nvPr/>
        </p:nvSpPr>
        <p:spPr>
          <a:xfrm>
            <a:off x="-212946" y="3760739"/>
            <a:ext cx="2038752"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1400">
                <a:solidFill>
                  <a:schemeClr val="bg1"/>
                </a:solidFill>
              </a:rPr>
              <a:t>超越宿命论</a:t>
            </a:r>
            <a:endParaRPr lang="en-US" altLang="zh-CN" sz="1400">
              <a:solidFill>
                <a:schemeClr val="bg1"/>
              </a:solidFill>
            </a:endParaRPr>
          </a:p>
          <a:p>
            <a:pPr algn="ctr"/>
            <a:r>
              <a:rPr lang="zh-CN" altLang="en-US" sz="1400">
                <a:solidFill>
                  <a:schemeClr val="bg1"/>
                </a:solidFill>
              </a:rPr>
              <a:t>规律与主体能动性</a:t>
            </a:r>
          </a:p>
        </p:txBody>
      </p:sp>
      <p:sp>
        <p:nvSpPr>
          <p:cNvPr id="56" name="文本框 55"/>
          <p:cNvSpPr txBox="1"/>
          <p:nvPr/>
        </p:nvSpPr>
        <p:spPr>
          <a:xfrm>
            <a:off x="594116" y="4664421"/>
            <a:ext cx="521006"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1400">
                <a:latin typeface="微软雅黑" panose="020B0503020204020204" charset="-122"/>
                <a:ea typeface="微软雅黑" panose="020B0503020204020204" charset="-122"/>
              </a:rPr>
              <a:t>结论</a:t>
            </a: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4" name="AutoShape 2" descr="خرید و قیمت The Revolutions Of 1848 Book by Karl Marx | ترب"/>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9" name="文本框 18"/>
          <p:cNvSpPr txBox="1"/>
          <p:nvPr/>
        </p:nvSpPr>
        <p:spPr>
          <a:xfrm>
            <a:off x="2005852" y="4293134"/>
            <a:ext cx="10116257" cy="1384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0" fontAlgn="base" latinLnBrk="0" hangingPunct="0">
              <a:lnSpc>
                <a:spcPct val="100000"/>
              </a:lnSpc>
              <a:spcBef>
                <a:spcPct val="0"/>
              </a:spcBef>
              <a:spcAft>
                <a:spcPct val="0"/>
              </a:spcAft>
              <a:buClrTx/>
              <a:buSzTx/>
            </a:pPr>
            <a:r>
              <a:rPr lang="zh-CN" altLang="en-US" sz="2800"/>
              <a:t>无论是土地改革、家庭联产承包责任制，还是改革开放中的诸多制度创新，其背后都离不开</a:t>
            </a:r>
            <a:r>
              <a:rPr lang="zh-CN" altLang="en-US" sz="2800" b="1"/>
              <a:t>人民群众的实践探索与历史主动精神</a:t>
            </a:r>
            <a:r>
              <a:rPr lang="zh-CN" altLang="en-US" sz="2800"/>
              <a:t>。</a:t>
            </a:r>
            <a:endParaRPr kumimoji="0" lang="zh-CN" altLang="zh-CN" sz="2800" b="0" i="0" u="none" strike="noStrike" cap="none" normalizeH="0" baseline="0">
              <a:ln>
                <a:noFill/>
              </a:ln>
              <a:solidFill>
                <a:schemeClr val="tx1"/>
              </a:solidFill>
              <a:effectLst/>
              <a:latin typeface="Arial" panose="020B0604020202020204" pitchFamily="34" charset="0"/>
            </a:endParaRPr>
          </a:p>
        </p:txBody>
      </p:sp>
      <p:sp>
        <p:nvSpPr>
          <p:cNvPr id="13" name="文本框 12"/>
          <p:cNvSpPr txBox="1"/>
          <p:nvPr/>
        </p:nvSpPr>
        <p:spPr>
          <a:xfrm>
            <a:off x="3743881" y="2692891"/>
            <a:ext cx="7126968" cy="1384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lang="zh-CN" altLang="zh-CN" sz="2800"/>
              <a:t>人民群众是社会物质财富的创造者； </a:t>
            </a:r>
          </a:p>
          <a:p>
            <a:pPr marL="0" marR="0" lvl="0" indent="0" algn="l" defTabSz="914400" rtl="0" eaLnBrk="0" fontAlgn="base" latinLnBrk="0" hangingPunct="0">
              <a:lnSpc>
                <a:spcPct val="100000"/>
              </a:lnSpc>
              <a:spcBef>
                <a:spcPct val="0"/>
              </a:spcBef>
              <a:spcAft>
                <a:spcPct val="0"/>
              </a:spcAft>
              <a:buClrTx/>
              <a:buSzTx/>
              <a:buFontTx/>
              <a:buChar char="•"/>
            </a:pPr>
            <a:r>
              <a:rPr lang="zh-CN" altLang="zh-CN" sz="2800"/>
              <a:t>人民群众是社会精神财富的创造者； </a:t>
            </a:r>
          </a:p>
          <a:p>
            <a:pPr marL="0" marR="0" lvl="0" indent="0" algn="l" defTabSz="914400" rtl="0" eaLnBrk="0" fontAlgn="base" latinLnBrk="0" hangingPunct="0">
              <a:lnSpc>
                <a:spcPct val="100000"/>
              </a:lnSpc>
              <a:spcBef>
                <a:spcPct val="0"/>
              </a:spcBef>
              <a:spcAft>
                <a:spcPct val="0"/>
              </a:spcAft>
              <a:buClrTx/>
              <a:buSzTx/>
              <a:buFontTx/>
              <a:buChar char="•"/>
            </a:pPr>
            <a:r>
              <a:rPr lang="zh-CN" altLang="zh-CN" sz="2800"/>
              <a:t>人民群众是社会变革的决定力量。 </a:t>
            </a:r>
          </a:p>
        </p:txBody>
      </p:sp>
      <p:sp>
        <p:nvSpPr>
          <p:cNvPr id="26" name="箭头: 直角上 25"/>
          <p:cNvSpPr/>
          <p:nvPr/>
        </p:nvSpPr>
        <p:spPr>
          <a:xfrm rot="10800000">
            <a:off x="3380143" y="2560592"/>
            <a:ext cx="3149966" cy="601500"/>
          </a:xfrm>
          <a:prstGeom prst="bentUpArrow">
            <a:avLst>
              <a:gd name="adj1" fmla="val 22706"/>
              <a:gd name="adj2" fmla="val 25000"/>
              <a:gd name="adj3" fmla="val 25000"/>
            </a:avLst>
          </a:prstGeom>
          <a:solidFill>
            <a:srgbClr val="41445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7" name="箭头: 直角上 26"/>
          <p:cNvSpPr/>
          <p:nvPr/>
        </p:nvSpPr>
        <p:spPr>
          <a:xfrm>
            <a:off x="6776361" y="3595729"/>
            <a:ext cx="3149966" cy="601500"/>
          </a:xfrm>
          <a:prstGeom prst="bentUpArrow">
            <a:avLst>
              <a:gd name="adj1" fmla="val 22706"/>
              <a:gd name="adj2" fmla="val 25000"/>
              <a:gd name="adj3" fmla="val 25000"/>
            </a:avLst>
          </a:prstGeom>
          <a:solidFill>
            <a:srgbClr val="41445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9" name="直角三角形 28"/>
          <p:cNvSpPr/>
          <p:nvPr/>
        </p:nvSpPr>
        <p:spPr>
          <a:xfrm rot="10800000">
            <a:off x="10745649" y="0"/>
            <a:ext cx="1424653" cy="1483615"/>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spd="slow" p14:dur="1200">
        <p:wipe/>
      </p:transition>
    </mc:Choice>
    <mc:Fallback xmlns="">
      <p:transition spd="slow">
        <p:wip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5" name="圆角矩形 4"/>
          <p:cNvGrpSpPr/>
          <p:nvPr/>
        </p:nvGrpSpPr>
        <p:grpSpPr>
          <a:xfrm>
            <a:off x="6000248" y="1612745"/>
            <a:ext cx="506413" cy="574041"/>
            <a:chOff x="0" y="0"/>
            <a:chExt cx="506412" cy="574040"/>
          </a:xfrm>
        </p:grpSpPr>
        <p:sp>
          <p:nvSpPr>
            <p:cNvPr id="633" name="圆角矩形"/>
            <p:cNvSpPr/>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634" name="1"/>
            <p:cNvSpPr txBox="1"/>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1</a:t>
              </a:r>
            </a:p>
          </p:txBody>
        </p:sp>
      </p:grpSp>
      <p:sp>
        <p:nvSpPr>
          <p:cNvPr id="636" name="矩形 5"/>
          <p:cNvSpPr txBox="1"/>
          <p:nvPr/>
        </p:nvSpPr>
        <p:spPr>
          <a:xfrm>
            <a:off x="6850781" y="1707717"/>
            <a:ext cx="561341" cy="408941"/>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绪论</a:t>
            </a:r>
          </a:p>
        </p:txBody>
      </p:sp>
      <p:grpSp>
        <p:nvGrpSpPr>
          <p:cNvPr id="639" name="圆角矩形 6"/>
          <p:cNvGrpSpPr/>
          <p:nvPr/>
        </p:nvGrpSpPr>
        <p:grpSpPr>
          <a:xfrm>
            <a:off x="6000248" y="2366807"/>
            <a:ext cx="506413" cy="574041"/>
            <a:chOff x="0" y="0"/>
            <a:chExt cx="506412" cy="574040"/>
          </a:xfrm>
        </p:grpSpPr>
        <p:sp>
          <p:nvSpPr>
            <p:cNvPr id="637" name="圆角矩形"/>
            <p:cNvSpPr/>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638" name="2"/>
            <p:cNvSpPr txBox="1"/>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2</a:t>
              </a:r>
            </a:p>
          </p:txBody>
        </p:sp>
      </p:grpSp>
      <p:sp>
        <p:nvSpPr>
          <p:cNvPr id="640" name="矩形 7"/>
          <p:cNvSpPr txBox="1"/>
          <p:nvPr/>
        </p:nvSpPr>
        <p:spPr>
          <a:xfrm>
            <a:off x="6850313" y="2468685"/>
            <a:ext cx="2169823"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社会存在与社会意识</a:t>
            </a:r>
          </a:p>
        </p:txBody>
      </p:sp>
      <p:grpSp>
        <p:nvGrpSpPr>
          <p:cNvPr id="643" name="圆角矩形 8"/>
          <p:cNvGrpSpPr/>
          <p:nvPr/>
        </p:nvGrpSpPr>
        <p:grpSpPr>
          <a:xfrm>
            <a:off x="6000248" y="3120870"/>
            <a:ext cx="506413" cy="574041"/>
            <a:chOff x="0" y="0"/>
            <a:chExt cx="506412" cy="574040"/>
          </a:xfrm>
        </p:grpSpPr>
        <p:sp>
          <p:nvSpPr>
            <p:cNvPr id="641" name="圆角矩形"/>
            <p:cNvSpPr/>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642" name="3"/>
            <p:cNvSpPr txBox="1"/>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3</a:t>
              </a:r>
            </a:p>
          </p:txBody>
        </p:sp>
      </p:grpSp>
      <p:sp>
        <p:nvSpPr>
          <p:cNvPr id="644" name="矩形 9"/>
          <p:cNvSpPr txBox="1"/>
          <p:nvPr/>
        </p:nvSpPr>
        <p:spPr>
          <a:xfrm>
            <a:off x="8232554" y="3223224"/>
            <a:ext cx="92396"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endParaRPr/>
          </a:p>
        </p:txBody>
      </p:sp>
      <p:grpSp>
        <p:nvGrpSpPr>
          <p:cNvPr id="647" name="圆角矩形 10"/>
          <p:cNvGrpSpPr/>
          <p:nvPr/>
        </p:nvGrpSpPr>
        <p:grpSpPr>
          <a:xfrm>
            <a:off x="6000248" y="3874932"/>
            <a:ext cx="506413" cy="574041"/>
            <a:chOff x="0" y="0"/>
            <a:chExt cx="506412" cy="574040"/>
          </a:xfrm>
        </p:grpSpPr>
        <p:sp>
          <p:nvSpPr>
            <p:cNvPr id="645" name="圆角矩形"/>
            <p:cNvSpPr/>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646" name="4"/>
            <p:cNvSpPr txBox="1"/>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4</a:t>
              </a:r>
            </a:p>
          </p:txBody>
        </p:sp>
      </p:grpSp>
      <p:sp>
        <p:nvSpPr>
          <p:cNvPr id="648" name="矩形 11"/>
          <p:cNvSpPr txBox="1"/>
          <p:nvPr/>
        </p:nvSpPr>
        <p:spPr>
          <a:xfrm>
            <a:off x="6847592" y="4007141"/>
            <a:ext cx="3593289"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超越宿命论</a:t>
            </a:r>
            <a:r>
              <a:rPr lang="en-US" altLang="zh-CN"/>
              <a:t>——</a:t>
            </a:r>
            <a:r>
              <a:rPr lang="zh-CN" altLang="en-US"/>
              <a:t>规律与主体能动性</a:t>
            </a:r>
          </a:p>
        </p:txBody>
      </p:sp>
      <p:grpSp>
        <p:nvGrpSpPr>
          <p:cNvPr id="651" name="圆角矩形 12"/>
          <p:cNvGrpSpPr/>
          <p:nvPr/>
        </p:nvGrpSpPr>
        <p:grpSpPr>
          <a:xfrm>
            <a:off x="6000248" y="4628994"/>
            <a:ext cx="506413" cy="574041"/>
            <a:chOff x="0" y="0"/>
            <a:chExt cx="506412" cy="574040"/>
          </a:xfrm>
        </p:grpSpPr>
        <p:sp>
          <p:nvSpPr>
            <p:cNvPr id="649" name="圆角矩形"/>
            <p:cNvSpPr/>
            <p:nvPr/>
          </p:nvSpPr>
          <p:spPr>
            <a:xfrm>
              <a:off x="0" y="34607"/>
              <a:ext cx="506413" cy="504826"/>
            </a:xfrm>
            <a:prstGeom prst="roundRect">
              <a:avLst>
                <a:gd name="adj" fmla="val 16667"/>
              </a:avLst>
            </a:prstGeom>
            <a:solidFill>
              <a:srgbClr val="414455"/>
            </a:solidFill>
            <a:ln w="12700" cap="flat">
              <a:noFill/>
              <a:miter lim="400000"/>
            </a:ln>
            <a:effectLst>
              <a:outerShdw blurRad="50800" dist="38100" dir="5400000" rotWithShape="0">
                <a:srgbClr val="000000">
                  <a:alpha val="40000"/>
                </a:srgbClr>
              </a:outerShdw>
            </a:effectLst>
          </p:spPr>
          <p:txBody>
            <a:bodyPr wrap="square" lIns="45719" tIns="45719" rIns="45719" bIns="45719" numCol="1" anchor="ctr">
              <a:noAutofit/>
            </a:bodyPr>
            <a:lstStyle/>
            <a:p>
              <a: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pPr>
              <a:endParaRPr/>
            </a:p>
          </p:txBody>
        </p:sp>
        <p:sp>
          <p:nvSpPr>
            <p:cNvPr id="650" name="5"/>
            <p:cNvSpPr txBox="1"/>
            <p:nvPr/>
          </p:nvSpPr>
          <p:spPr>
            <a:xfrm>
              <a:off x="24644" y="0"/>
              <a:ext cx="457124" cy="574040"/>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Calibri Light" panose="020F0302020204030204"/>
                  <a:ea typeface="Calibri Light" panose="020F0302020204030204"/>
                  <a:cs typeface="Calibri Light" panose="020F0302020204030204"/>
                  <a:sym typeface="Calibri Light" panose="020F0302020204030204"/>
                </a:defRPr>
              </a:lvl1pPr>
            </a:lstStyle>
            <a:p>
              <a:r>
                <a:t>5</a:t>
              </a:r>
            </a:p>
          </p:txBody>
        </p:sp>
      </p:grpSp>
      <p:sp>
        <p:nvSpPr>
          <p:cNvPr id="652" name="矩形 13"/>
          <p:cNvSpPr txBox="1"/>
          <p:nvPr/>
        </p:nvSpPr>
        <p:spPr>
          <a:xfrm>
            <a:off x="6858126" y="4731348"/>
            <a:ext cx="553996" cy="369332"/>
          </a:xfrm>
          <a:prstGeom prst="rect">
            <a:avLst/>
          </a:prstGeom>
          <a:ln w="12700">
            <a:miter lim="400000"/>
          </a:ln>
        </p:spPr>
        <p:txBody>
          <a:bodyPr wrap="non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a:t>结论</a:t>
            </a:r>
          </a:p>
        </p:txBody>
      </p:sp>
      <p:grpSp>
        <p:nvGrpSpPr>
          <p:cNvPr id="655" name="矩形 33"/>
          <p:cNvGrpSpPr/>
          <p:nvPr/>
        </p:nvGrpSpPr>
        <p:grpSpPr>
          <a:xfrm>
            <a:off x="0" y="0"/>
            <a:ext cx="3721100" cy="6858000"/>
            <a:chOff x="0" y="0"/>
            <a:chExt cx="3721100" cy="6858000"/>
          </a:xfrm>
        </p:grpSpPr>
        <p:sp>
          <p:nvSpPr>
            <p:cNvPr id="653" name="矩形"/>
            <p:cNvSpPr/>
            <p:nvPr/>
          </p:nvSpPr>
          <p:spPr>
            <a:xfrm>
              <a:off x="0" y="0"/>
              <a:ext cx="3721100" cy="6858000"/>
            </a:xfrm>
            <a:prstGeom prst="rect">
              <a:avLst/>
            </a:prstGeom>
            <a:solidFill>
              <a:srgbClr val="414455"/>
            </a:solidFill>
            <a:ln w="12700" cap="flat">
              <a:noFill/>
              <a:miter lim="400000"/>
            </a:ln>
            <a:effectLst/>
          </p:spPr>
          <p:txBody>
            <a:bodyPr wrap="square" lIns="45719" tIns="45719" rIns="45719" bIns="45719" numCol="1" anchor="ctr">
              <a:noAutofit/>
            </a:bodyPr>
            <a:lstStyle/>
            <a:p>
              <a:pPr algn="ctr">
                <a:defRPr sz="24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pPr>
              <a:endParaRPr/>
            </a:p>
          </p:txBody>
        </p:sp>
        <p:sp>
          <p:nvSpPr>
            <p:cNvPr id="654" name="文本"/>
            <p:cNvSpPr txBox="1"/>
            <p:nvPr/>
          </p:nvSpPr>
          <p:spPr>
            <a:xfrm>
              <a:off x="0" y="3156962"/>
              <a:ext cx="3721100" cy="544076"/>
            </a:xfrm>
            <a:prstGeom prst="rect">
              <a:avLst/>
            </a:prstGeom>
            <a:noFill/>
            <a:ln w="12700" cap="flat">
              <a:noFill/>
              <a:miter lim="400000"/>
            </a:ln>
            <a:effectLst/>
          </p:spPr>
          <p:txBody>
            <a:bodyPr wrap="square" lIns="45719" tIns="45719" rIns="45719" bIns="45719" numCol="1" anchor="ctr">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          </a:t>
              </a:r>
            </a:p>
          </p:txBody>
        </p:sp>
      </p:grpSp>
      <p:sp>
        <p:nvSpPr>
          <p:cNvPr id="656" name="矩形 34"/>
          <p:cNvSpPr txBox="1"/>
          <p:nvPr/>
        </p:nvSpPr>
        <p:spPr>
          <a:xfrm>
            <a:off x="1073628" y="1308115"/>
            <a:ext cx="2013420" cy="1259841"/>
          </a:xfrm>
          <a:prstGeom prst="rect">
            <a:avLst/>
          </a:prstGeom>
          <a:ln w="12700">
            <a:miter lim="400000"/>
          </a:ln>
        </p:spPr>
        <p:txBody>
          <a:bodyPr wrap="none" lIns="45719" rIns="45719">
            <a:spAutoFit/>
          </a:bodyPr>
          <a:lstStyle>
            <a:lvl1pPr algn="ctr">
              <a:defRPr sz="6600">
                <a:solidFill>
                  <a:srgbClr val="FFFFFF"/>
                </a:solidFill>
                <a:latin typeface="黑体" panose="02010609060101010101" charset="-122"/>
                <a:ea typeface="黑体" panose="02010609060101010101" charset="-122"/>
                <a:cs typeface="黑体" panose="02010609060101010101" charset="-122"/>
                <a:sym typeface="黑体" panose="02010609060101010101" charset="-122"/>
              </a:defRPr>
            </a:lvl1pPr>
          </a:lstStyle>
          <a:p>
            <a:r>
              <a:t>目 录</a:t>
            </a:r>
          </a:p>
        </p:txBody>
      </p:sp>
      <p:sp>
        <p:nvSpPr>
          <p:cNvPr id="657" name="矩形 35"/>
          <p:cNvSpPr txBox="1"/>
          <p:nvPr/>
        </p:nvSpPr>
        <p:spPr>
          <a:xfrm>
            <a:off x="1305756" y="2593370"/>
            <a:ext cx="1549163" cy="544077"/>
          </a:xfrm>
          <a:prstGeom prst="rect">
            <a:avLst/>
          </a:prstGeom>
          <a:ln w="12700">
            <a:miter lim="400000"/>
          </a:ln>
        </p:spPr>
        <p:txBody>
          <a:bodyPr wrap="none" lIns="45719" rIns="45719">
            <a:spAutoFit/>
          </a:bodyPr>
          <a:lstStyle>
            <a:lvl1pPr algn="ctr">
              <a:defRPr sz="3200">
                <a:solidFill>
                  <a:srgbClr val="FFFFFF"/>
                </a:solidFill>
                <a:latin typeface="Times New Roman" panose="02020603050405020304"/>
                <a:ea typeface="Times New Roman" panose="02020603050405020304"/>
                <a:cs typeface="Times New Roman" panose="02020603050405020304"/>
                <a:sym typeface="Times New Roman" panose="02020603050405020304"/>
              </a:defRPr>
            </a:lvl1pPr>
          </a:lstStyle>
          <a:p>
            <a:r>
              <a:t>Contents</a:t>
            </a:r>
          </a:p>
        </p:txBody>
      </p:sp>
      <p:grpSp>
        <p:nvGrpSpPr>
          <p:cNvPr id="30" name="组合 14"/>
          <p:cNvGrpSpPr/>
          <p:nvPr/>
        </p:nvGrpSpPr>
        <p:grpSpPr>
          <a:xfrm>
            <a:off x="5021547" y="4564224"/>
            <a:ext cx="703580" cy="703580"/>
            <a:chOff x="0" y="0"/>
            <a:chExt cx="703578" cy="703578"/>
          </a:xfrm>
        </p:grpSpPr>
        <p:sp>
          <p:nvSpPr>
            <p:cNvPr id="31" name="泪滴形 15"/>
            <p:cNvSpPr/>
            <p:nvPr/>
          </p:nvSpPr>
          <p:spPr>
            <a:xfrm rot="8247616">
              <a:off x="102807" y="102807"/>
              <a:ext cx="497965" cy="49796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4400" y="0"/>
                    <a:pt x="18000" y="0"/>
                    <a:pt x="21600" y="0"/>
                  </a:cubicBezTo>
                  <a:cubicBezTo>
                    <a:pt x="21600" y="3600"/>
                    <a:pt x="21600" y="7200"/>
                    <a:pt x="21600" y="10800"/>
                  </a:cubicBezTo>
                  <a:cubicBezTo>
                    <a:pt x="21600" y="16765"/>
                    <a:pt x="16765" y="21600"/>
                    <a:pt x="10800" y="21600"/>
                  </a:cubicBezTo>
                  <a:cubicBezTo>
                    <a:pt x="4835" y="21600"/>
                    <a:pt x="0" y="16765"/>
                    <a:pt x="0" y="10800"/>
                  </a:cubicBezTo>
                  <a:close/>
                </a:path>
              </a:pathLst>
            </a:custGeom>
            <a:solidFill>
              <a:srgbClr val="0062AC"/>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sp>
          <p:nvSpPr>
            <p:cNvPr id="32" name="椭圆 16"/>
            <p:cNvSpPr/>
            <p:nvPr/>
          </p:nvSpPr>
          <p:spPr>
            <a:xfrm>
              <a:off x="150556" y="147060"/>
              <a:ext cx="398631" cy="398631"/>
            </a:xfrm>
            <a:prstGeom prst="ellipse">
              <a:avLst/>
            </a:prstGeom>
            <a:solidFill>
              <a:srgbClr val="FFFFFF"/>
            </a:solidFill>
            <a:ln w="12700" cap="flat">
              <a:solidFill>
                <a:srgbClr val="0062AC"/>
              </a:solidFill>
              <a:prstDash val="solid"/>
              <a:miter lim="800000"/>
            </a:ln>
            <a:effectLst/>
          </p:spPr>
          <p:txBody>
            <a:bodyPr wrap="square" lIns="45719" tIns="45719" rIns="45719" bIns="45719" numCol="1" anchor="ctr">
              <a:noAutofit/>
            </a:bodyPr>
            <a:lstStyle/>
            <a:p>
              <a:pPr algn="ctr">
                <a:defRPr>
                  <a:solidFill>
                    <a:srgbClr val="FFFFFF"/>
                  </a:solidFill>
                </a:defRPr>
              </a:pPr>
              <a:endParaRPr/>
            </a:p>
          </p:txBody>
        </p:sp>
      </p:grpSp>
      <p:sp>
        <p:nvSpPr>
          <p:cNvPr id="33" name="矩形 7"/>
          <p:cNvSpPr txBox="1"/>
          <p:nvPr/>
        </p:nvSpPr>
        <p:spPr>
          <a:xfrm>
            <a:off x="6858126" y="3223224"/>
            <a:ext cx="2868773" cy="923330"/>
          </a:xfrm>
          <a:prstGeom prst="rect">
            <a:avLst/>
          </a:prstGeom>
          <a:ln w="12700">
            <a:miter lim="400000"/>
          </a:ln>
        </p:spPr>
        <p:txBody>
          <a:bodyPr wrap="square" lIns="45719" rIns="45719">
            <a:spAutoFit/>
          </a:bodyPr>
          <a:lstStyle>
            <a:lvl1pPr algn="ctr">
              <a:defRPr>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ctr"/>
            <a:r>
              <a:rPr lang="zh-CN" altLang="en-US" sz="1800"/>
              <a:t>社会基本矛盾及其运动规律</a:t>
            </a:r>
          </a:p>
          <a:p>
            <a:pPr algn="ctr"/>
            <a:endParaRPr lang="zh-CN" altLang="en-US" sz="1800">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sz="180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fill="hold" nodeType="tmRoot">
          <p:childTnLst>
            <p:seq concurrent="1"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3.33333E-6 3.33333E-6 L -3.33333E-6 0.10602 " pathEditMode="relative" rAng="0" ptsTypes="AA">
                                      <p:cBhvr>
                                        <p:cTn id="6" dur="1000" fill="hold"/>
                                        <p:tgtEl>
                                          <p:spTgt spid="30"/>
                                        </p:tgtEl>
                                        <p:attrNameLst>
                                          <p:attrName>ppt_x</p:attrName>
                                          <p:attrName>ppt_y</p:attrName>
                                        </p:attrNameLst>
                                      </p:cBhvr>
                                      <p:rCtr x="0" y="530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直角三角形 39"/>
          <p:cNvSpPr/>
          <p:nvPr>
            <p:custDataLst>
              <p:tags r:id="rId1"/>
            </p:custDataLst>
          </p:nvPr>
        </p:nvSpPr>
        <p:spPr>
          <a:xfrm rot="16200000">
            <a:off x="9956218" y="4627826"/>
            <a:ext cx="2359742" cy="2100604"/>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920" name="五边形 8"/>
          <p:cNvSpPr txBox="1">
            <a:spLocks noGrp="1"/>
          </p:cNvSpPr>
          <p:nvPr>
            <p:ph type="sldNum" sz="quarter" idx="2"/>
          </p:nvPr>
        </p:nvSpPr>
        <p:spPr>
          <a:xfrm>
            <a:off x="11337756" y="6003980"/>
            <a:ext cx="860594" cy="396241"/>
          </a:xfrm>
          <a:prstGeom prst="rect">
            <a:avLst/>
          </a:prstGeom>
        </p:spPr>
        <p:txBody>
          <a:bodyPr/>
          <a:lstStyle/>
          <a:p>
            <a:fld id="{86CB4B4D-7CA3-9044-876B-883B54F8677D}" type="slidenum">
              <a:rPr/>
              <a:t>20</a:t>
            </a:fld>
            <a:endParaRPr/>
          </a:p>
        </p:txBody>
      </p:sp>
      <p:sp>
        <p:nvSpPr>
          <p:cNvPr id="13" name="矩形 12"/>
          <p:cNvSpPr/>
          <p:nvPr/>
        </p:nvSpPr>
        <p:spPr>
          <a:xfrm>
            <a:off x="212543" y="1547685"/>
            <a:ext cx="1239656" cy="307775"/>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4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4" name="矩形 13"/>
          <p:cNvSpPr/>
          <p:nvPr/>
        </p:nvSpPr>
        <p:spPr>
          <a:xfrm>
            <a:off x="112181" y="2169002"/>
            <a:ext cx="1512099" cy="530374"/>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5" name="矩形 14"/>
          <p:cNvSpPr/>
          <p:nvPr/>
        </p:nvSpPr>
        <p:spPr>
          <a:xfrm>
            <a:off x="112180" y="2958183"/>
            <a:ext cx="1512099" cy="530374"/>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6" name="矩形 15"/>
          <p:cNvSpPr/>
          <p:nvPr/>
        </p:nvSpPr>
        <p:spPr>
          <a:xfrm>
            <a:off x="9354" y="4655778"/>
            <a:ext cx="1512099" cy="530374"/>
          </a:xfrm>
          <a:prstGeom prst="rect">
            <a:avLst/>
          </a:prstGeom>
          <a:solidFill>
            <a:srgbClr val="414455"/>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7" name="矩形 16"/>
          <p:cNvSpPr/>
          <p:nvPr/>
        </p:nvSpPr>
        <p:spPr>
          <a:xfrm>
            <a:off x="76321" y="3783770"/>
            <a:ext cx="1512099" cy="530374"/>
          </a:xfrm>
          <a:prstGeom prst="rect">
            <a:avLst/>
          </a:prstGeom>
          <a:solidFill>
            <a:srgbClr val="F2F2F2"/>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8" name="文本框 17"/>
          <p:cNvSpPr txBox="1"/>
          <p:nvPr/>
        </p:nvSpPr>
        <p:spPr>
          <a:xfrm>
            <a:off x="620056" y="1530888"/>
            <a:ext cx="521006"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1400">
                <a:latin typeface="微软雅黑" panose="020B0503020204020204" charset="-122"/>
                <a:ea typeface="微软雅黑" panose="020B0503020204020204" charset="-122"/>
              </a:rPr>
              <a:t>绪论</a:t>
            </a: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19" name="文本框 18"/>
          <p:cNvSpPr txBox="1"/>
          <p:nvPr/>
        </p:nvSpPr>
        <p:spPr>
          <a:xfrm>
            <a:off x="-159855" y="3045701"/>
            <a:ext cx="2038752" cy="954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1400"/>
              <a:t>社会基本矛盾</a:t>
            </a:r>
            <a:endParaRPr lang="en-US" altLang="zh-CN" sz="1400"/>
          </a:p>
          <a:p>
            <a:pPr algn="ctr"/>
            <a:r>
              <a:rPr lang="zh-CN" altLang="en-US" sz="1400"/>
              <a:t>及其运动规律</a:t>
            </a:r>
          </a:p>
          <a:p>
            <a:pPr algn="ctr"/>
            <a:endParaRPr lang="zh-CN" altLang="en-US" sz="1400">
              <a:latin typeface="微软雅黑" panose="020B0503020204020204" charset="-122"/>
              <a:ea typeface="微软雅黑" panose="020B0503020204020204" charset="-122"/>
            </a:endParaRPr>
          </a:p>
          <a:p>
            <a:pPr marL="0" marR="0" indent="0" algn="ctr" defTabSz="914400" rtl="0" fontAlgn="auto" latinLnBrk="0" hangingPunct="0">
              <a:lnSpc>
                <a:spcPct val="100000"/>
              </a:lnSpc>
              <a:spcBef>
                <a:spcPts val="0"/>
              </a:spcBef>
              <a:spcAft>
                <a:spcPts val="0"/>
              </a:spcAft>
              <a:buClrTx/>
              <a:buSzTx/>
              <a:buFontTx/>
              <a:buNone/>
            </a:pPr>
            <a:endPar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20" name="文本框 19"/>
          <p:cNvSpPr txBox="1"/>
          <p:nvPr/>
        </p:nvSpPr>
        <p:spPr>
          <a:xfrm>
            <a:off x="-159855" y="3834882"/>
            <a:ext cx="2038752"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1400">
                <a:solidFill>
                  <a:schemeClr val="tx1"/>
                </a:solidFill>
              </a:rPr>
              <a:t>超越宿命论</a:t>
            </a:r>
            <a:endParaRPr lang="en-US" altLang="zh-CN" sz="1400">
              <a:solidFill>
                <a:schemeClr val="tx1"/>
              </a:solidFill>
            </a:endParaRPr>
          </a:p>
          <a:p>
            <a:pPr algn="ctr"/>
            <a:r>
              <a:rPr lang="zh-CN" altLang="en-US" sz="1400">
                <a:solidFill>
                  <a:schemeClr val="tx1"/>
                </a:solidFill>
              </a:rPr>
              <a:t>规律与主体能动性</a:t>
            </a:r>
          </a:p>
        </p:txBody>
      </p:sp>
      <p:sp>
        <p:nvSpPr>
          <p:cNvPr id="21" name="文本框 20"/>
          <p:cNvSpPr txBox="1"/>
          <p:nvPr/>
        </p:nvSpPr>
        <p:spPr>
          <a:xfrm>
            <a:off x="620056" y="4742339"/>
            <a:ext cx="521006"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1400">
                <a:solidFill>
                  <a:schemeClr val="bg1"/>
                </a:solidFill>
                <a:latin typeface="微软雅黑" panose="020B0503020204020204" charset="-122"/>
                <a:ea typeface="微软雅黑" panose="020B0503020204020204" charset="-122"/>
              </a:rPr>
              <a:t>结论</a:t>
            </a: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chemeClr val="bg1"/>
              </a:solidFill>
              <a:effectLst/>
              <a:uFillTx/>
              <a:latin typeface="微软雅黑" panose="020B0503020204020204" charset="-122"/>
              <a:ea typeface="微软雅黑" panose="020B0503020204020204" charset="-122"/>
              <a:sym typeface="Calibri" panose="020F0502020204030204"/>
            </a:endParaRPr>
          </a:p>
        </p:txBody>
      </p:sp>
      <p:sp>
        <p:nvSpPr>
          <p:cNvPr id="22" name="文本框 21"/>
          <p:cNvSpPr txBox="1"/>
          <p:nvPr/>
        </p:nvSpPr>
        <p:spPr>
          <a:xfrm>
            <a:off x="230100" y="2245068"/>
            <a:ext cx="1258841" cy="7386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zh-CN" altLang="en-US" sz="1400">
                <a:latin typeface="微软雅黑" panose="020B0503020204020204" charset="-122"/>
                <a:ea typeface="微软雅黑" panose="020B0503020204020204" charset="-122"/>
              </a:rPr>
              <a:t>社会存在</a:t>
            </a:r>
            <a:endParaRPr lang="en-US" altLang="zh-CN" sz="1400">
              <a:latin typeface="微软雅黑" panose="020B0503020204020204" charset="-122"/>
              <a:ea typeface="微软雅黑" panose="020B0503020204020204" charset="-122"/>
            </a:endParaRPr>
          </a:p>
          <a:p>
            <a:pPr algn="ctr"/>
            <a:r>
              <a:rPr lang="zh-CN" altLang="en-US" sz="1400">
                <a:latin typeface="微软雅黑" panose="020B0503020204020204" charset="-122"/>
                <a:ea typeface="微软雅黑" panose="020B0503020204020204" charset="-122"/>
              </a:rPr>
              <a:t>与社会意识</a:t>
            </a:r>
          </a:p>
          <a:p>
            <a:pPr marL="0" marR="0" indent="0" algn="ctr" defTabSz="914400" rtl="0" fontAlgn="auto" latinLnBrk="0" hangingPunct="0">
              <a:lnSpc>
                <a:spcPct val="100000"/>
              </a:lnSpc>
              <a:spcBef>
                <a:spcPts val="0"/>
              </a:spcBef>
              <a:spcAft>
                <a:spcPts val="0"/>
              </a:spcAft>
              <a:buClrTx/>
              <a:buSzTx/>
              <a:buFontTx/>
              <a:buNone/>
            </a:pPr>
            <a:endPar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sym typeface="Calibri" panose="020F0502020204030204"/>
            </a:endParaRPr>
          </a:p>
        </p:txBody>
      </p:sp>
      <p:sp>
        <p:nvSpPr>
          <p:cNvPr id="23" name="矩形 22"/>
          <p:cNvSpPr/>
          <p:nvPr/>
        </p:nvSpPr>
        <p:spPr>
          <a:xfrm>
            <a:off x="2148468" y="472757"/>
            <a:ext cx="3449444" cy="721113"/>
          </a:xfrm>
          <a:prstGeom prst="rect">
            <a:avLst/>
          </a:prstGeom>
          <a:solidFill>
            <a:srgbClr val="FFFFFF"/>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24" name="文本框 23"/>
          <p:cNvSpPr txBox="1"/>
          <p:nvPr/>
        </p:nvSpPr>
        <p:spPr>
          <a:xfrm>
            <a:off x="2148467" y="367508"/>
            <a:ext cx="9899999"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zh-CN" altLang="en-US" sz="4000" b="1">
                <a:latin typeface="微软雅黑" panose="020B0503020204020204" charset="-122"/>
                <a:ea typeface="微软雅黑" panose="020B0503020204020204" charset="-122"/>
              </a:rPr>
              <a:t>人民群众是历史的创造者</a:t>
            </a:r>
          </a:p>
        </p:txBody>
      </p:sp>
      <p:grpSp>
        <p:nvGrpSpPr>
          <p:cNvPr id="25" name="Group 2"/>
          <p:cNvGrpSpPr/>
          <p:nvPr>
            <p:custDataLst>
              <p:tags r:id="rId2"/>
            </p:custDataLst>
          </p:nvPr>
        </p:nvGrpSpPr>
        <p:grpSpPr>
          <a:xfrm>
            <a:off x="2319657" y="1505732"/>
            <a:ext cx="1119414" cy="1092502"/>
            <a:chOff x="-8868" y="0"/>
            <a:chExt cx="1119412" cy="1092500"/>
          </a:xfrm>
        </p:grpSpPr>
        <p:sp>
          <p:nvSpPr>
            <p:cNvPr id="26" name="椭圆 12"/>
            <p:cNvSpPr/>
            <p:nvPr>
              <p:custDataLst>
                <p:tags r:id="rId15"/>
              </p:custDataLst>
            </p:nvPr>
          </p:nvSpPr>
          <p:spPr>
            <a:xfrm>
              <a:off x="13770" y="0"/>
              <a:ext cx="1084672" cy="1092500"/>
            </a:xfrm>
            <a:prstGeom prst="ellipse">
              <a:avLst/>
            </a:prstGeom>
            <a:solidFill>
              <a:srgbClr val="FFFFFF"/>
            </a:solidFill>
            <a:ln w="57150" cap="flat">
              <a:solidFill>
                <a:srgbClr val="414455"/>
              </a:solidFill>
              <a:prstDash val="solid"/>
              <a:round/>
            </a:ln>
            <a:effectLst/>
          </p:spPr>
          <p:txBody>
            <a:bodyPr wrap="square" lIns="45719" tIns="45719" rIns="45719" bIns="45719" numCol="1" anchor="ctr">
              <a:noAutofit/>
            </a:bodyPr>
            <a:lstStyle/>
            <a:p>
              <a:pPr algn="ctr">
                <a:defRPr sz="2100">
                  <a:solidFill>
                    <a:srgbClr val="FFFFFF"/>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endParaRPr/>
            </a:p>
          </p:txBody>
        </p:sp>
        <p:sp>
          <p:nvSpPr>
            <p:cNvPr id="27" name="文本框 21"/>
            <p:cNvSpPr txBox="1"/>
            <p:nvPr>
              <p:custDataLst>
                <p:tags r:id="rId16"/>
              </p:custDataLst>
            </p:nvPr>
          </p:nvSpPr>
          <p:spPr>
            <a:xfrm rot="20331793">
              <a:off x="-8868" y="289991"/>
              <a:ext cx="1119412" cy="523217"/>
            </a:xfrm>
            <a:prstGeom prst="rect">
              <a:avLst/>
            </a:prstGeom>
            <a:noFill/>
            <a:ln w="12700" cap="flat">
              <a:noFill/>
              <a:miter lim="400000"/>
            </a:ln>
            <a:effectLst/>
          </p:spPr>
          <p:txBody>
            <a:bodyPr wrap="square" lIns="45719" tIns="45719" rIns="45719" bIns="45719" numCol="1" anchor="t">
              <a:spAutoFit/>
            </a:bodyPr>
            <a:lstStyle/>
            <a:p>
              <a:pPr algn="ctr">
                <a:defRPr sz="2100"/>
              </a:pPr>
              <a:r>
                <a:rPr lang="en-US" sz="2800" b="1">
                  <a:latin typeface="微软雅黑" panose="020B0503020204020204" charset="-122"/>
                  <a:ea typeface="微软雅黑" panose="020B0503020204020204" charset="-122"/>
                </a:rPr>
                <a:t>1</a:t>
              </a:r>
              <a:endParaRPr sz="2800" b="1">
                <a:latin typeface="微软雅黑" panose="020B0503020204020204" charset="-122"/>
                <a:ea typeface="微软雅黑" panose="020B0503020204020204" charset="-122"/>
              </a:endParaRPr>
            </a:p>
          </p:txBody>
        </p:sp>
      </p:grpSp>
      <p:sp>
        <p:nvSpPr>
          <p:cNvPr id="28" name="矩形 15"/>
          <p:cNvSpPr/>
          <p:nvPr>
            <p:custDataLst>
              <p:tags r:id="rId3"/>
            </p:custDataLst>
          </p:nvPr>
        </p:nvSpPr>
        <p:spPr>
          <a:xfrm flipH="1">
            <a:off x="3611152" y="1505732"/>
            <a:ext cx="45719" cy="1092502"/>
          </a:xfrm>
          <a:prstGeom prst="rect">
            <a:avLst/>
          </a:prstGeom>
          <a:solidFill>
            <a:srgbClr val="414455"/>
          </a:solidFill>
          <a:ln>
            <a:solidFill>
              <a:srgbClr val="414455"/>
            </a:solidFill>
          </a:ln>
        </p:spPr>
        <p:txBody>
          <a:bodyPr lIns="45719" rIns="45719" anchor="ctr"/>
          <a:lstStyle/>
          <a:p>
            <a:pPr algn="ctr">
              <a:defRPr>
                <a:solidFill>
                  <a:srgbClr val="FFFFFF"/>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endParaRPr/>
          </a:p>
        </p:txBody>
      </p:sp>
      <p:sp>
        <p:nvSpPr>
          <p:cNvPr id="29" name="矩形 8"/>
          <p:cNvSpPr txBox="1"/>
          <p:nvPr>
            <p:custDataLst>
              <p:tags r:id="rId4"/>
            </p:custDataLst>
          </p:nvPr>
        </p:nvSpPr>
        <p:spPr>
          <a:xfrm>
            <a:off x="3825156" y="1310773"/>
            <a:ext cx="7858753" cy="1787915"/>
          </a:xfrm>
          <a:prstGeom prst="rect">
            <a:avLst/>
          </a:prstGeom>
          <a:ln w="12700">
            <a:miter lim="400000"/>
          </a:ln>
        </p:spPr>
        <p:txBody>
          <a:bodyPr wrap="square" lIns="40603" tIns="40603" rIns="40603" bIns="40603">
            <a:spAutoFit/>
          </a:bodyPr>
          <a:lstStyle>
            <a:lvl1pPr>
              <a:lnSpc>
                <a:spcPct val="130000"/>
              </a:lnSpc>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sz="3200" b="1"/>
              <a:t>社会发展具有客观规律。</a:t>
            </a:r>
            <a:endParaRPr lang="en-US" altLang="zh-CN" sz="3200" b="1"/>
          </a:p>
          <a:p>
            <a:r>
              <a:rPr lang="zh-CN" altLang="en-US" sz="2800"/>
              <a:t>社会存在决定社会意识，社会基本矛盾运动构成社会发展的根本动力。</a:t>
            </a:r>
            <a:endParaRPr sz="2800" b="1"/>
          </a:p>
        </p:txBody>
      </p:sp>
      <p:grpSp>
        <p:nvGrpSpPr>
          <p:cNvPr id="30" name="Group 7"/>
          <p:cNvGrpSpPr/>
          <p:nvPr>
            <p:custDataLst>
              <p:tags r:id="rId5"/>
            </p:custDataLst>
          </p:nvPr>
        </p:nvGrpSpPr>
        <p:grpSpPr>
          <a:xfrm>
            <a:off x="3391042" y="3281989"/>
            <a:ext cx="1118752" cy="1092502"/>
            <a:chOff x="2451" y="0"/>
            <a:chExt cx="1118751" cy="1092500"/>
          </a:xfrm>
        </p:grpSpPr>
        <p:sp>
          <p:nvSpPr>
            <p:cNvPr id="31" name="椭圆 19"/>
            <p:cNvSpPr/>
            <p:nvPr>
              <p:custDataLst>
                <p:tags r:id="rId13"/>
              </p:custDataLst>
            </p:nvPr>
          </p:nvSpPr>
          <p:spPr>
            <a:xfrm>
              <a:off x="5997" y="0"/>
              <a:ext cx="1084031" cy="1092500"/>
            </a:xfrm>
            <a:prstGeom prst="ellipse">
              <a:avLst/>
            </a:prstGeom>
            <a:solidFill>
              <a:srgbClr val="FFFFFF"/>
            </a:solidFill>
            <a:ln w="57150" cap="flat">
              <a:solidFill>
                <a:srgbClr val="414455"/>
              </a:solidFill>
              <a:prstDash val="solid"/>
              <a:round/>
            </a:ln>
            <a:effectLst/>
          </p:spPr>
          <p:txBody>
            <a:bodyPr wrap="square" lIns="45719" tIns="45719" rIns="45719" bIns="45719" numCol="1" anchor="ctr">
              <a:noAutofit/>
            </a:bodyPr>
            <a:lstStyle/>
            <a:p>
              <a:pPr algn="ctr">
                <a:defRPr sz="2100">
                  <a:solidFill>
                    <a:srgbClr val="FFFFFF"/>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endParaRPr/>
            </a:p>
          </p:txBody>
        </p:sp>
        <p:sp>
          <p:nvSpPr>
            <p:cNvPr id="32" name="文本框 25"/>
            <p:cNvSpPr txBox="1"/>
            <p:nvPr>
              <p:custDataLst>
                <p:tags r:id="rId14"/>
              </p:custDataLst>
            </p:nvPr>
          </p:nvSpPr>
          <p:spPr>
            <a:xfrm rot="20331793">
              <a:off x="2451" y="284641"/>
              <a:ext cx="1118751" cy="523217"/>
            </a:xfrm>
            <a:prstGeom prst="rect">
              <a:avLst/>
            </a:prstGeom>
            <a:noFill/>
            <a:ln w="12700" cap="flat">
              <a:noFill/>
              <a:miter lim="400000"/>
            </a:ln>
            <a:effectLst/>
          </p:spPr>
          <p:txBody>
            <a:bodyPr wrap="square" lIns="45719" tIns="45719" rIns="45719" bIns="45719" numCol="1" anchor="t">
              <a:spAutoFit/>
            </a:bodyPr>
            <a:lstStyle/>
            <a:p>
              <a:pPr algn="ctr">
                <a:defRPr sz="2100"/>
              </a:pPr>
              <a:r>
                <a:rPr lang="en-US" sz="2800" b="1">
                  <a:latin typeface="微软雅黑" panose="020B0503020204020204" charset="-122"/>
                  <a:ea typeface="微软雅黑" panose="020B0503020204020204" charset="-122"/>
                </a:rPr>
                <a:t>2</a:t>
              </a:r>
              <a:endParaRPr sz="2800" b="1">
                <a:latin typeface="微软雅黑" panose="020B0503020204020204" charset="-122"/>
                <a:ea typeface="微软雅黑" panose="020B0503020204020204" charset="-122"/>
              </a:endParaRPr>
            </a:p>
          </p:txBody>
        </p:sp>
      </p:grpSp>
      <p:sp>
        <p:nvSpPr>
          <p:cNvPr id="33" name="矩形 21"/>
          <p:cNvSpPr/>
          <p:nvPr>
            <p:custDataLst>
              <p:tags r:id="rId6"/>
            </p:custDataLst>
          </p:nvPr>
        </p:nvSpPr>
        <p:spPr>
          <a:xfrm>
            <a:off x="4654373" y="3266403"/>
            <a:ext cx="39371" cy="1125092"/>
          </a:xfrm>
          <a:prstGeom prst="rect">
            <a:avLst/>
          </a:prstGeom>
          <a:solidFill>
            <a:srgbClr val="414455"/>
          </a:solidFill>
          <a:ln>
            <a:solidFill>
              <a:srgbClr val="414455"/>
            </a:solidFill>
          </a:ln>
        </p:spPr>
        <p:txBody>
          <a:bodyPr lIns="45719" rIns="45719" anchor="ctr"/>
          <a:lstStyle/>
          <a:p>
            <a:pPr algn="ctr">
              <a:defRPr>
                <a:solidFill>
                  <a:srgbClr val="FFFFFF"/>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endParaRPr/>
          </a:p>
        </p:txBody>
      </p:sp>
      <p:sp>
        <p:nvSpPr>
          <p:cNvPr id="34" name="矩形 8"/>
          <p:cNvSpPr txBox="1"/>
          <p:nvPr>
            <p:custDataLst>
              <p:tags r:id="rId7"/>
            </p:custDataLst>
          </p:nvPr>
        </p:nvSpPr>
        <p:spPr>
          <a:xfrm>
            <a:off x="4816309" y="3080044"/>
            <a:ext cx="6861858" cy="1787915"/>
          </a:xfrm>
          <a:prstGeom prst="rect">
            <a:avLst/>
          </a:prstGeom>
          <a:ln w="12700">
            <a:miter lim="400000"/>
          </a:ln>
        </p:spPr>
        <p:txBody>
          <a:bodyPr wrap="square" lIns="40603" tIns="40603" rIns="40603" bIns="40603">
            <a:spAutoFit/>
          </a:bodyPr>
          <a:lstStyle>
            <a:lvl1pPr>
              <a:lnSpc>
                <a:spcPct val="130000"/>
              </a:lnSpc>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sz="3200" b="1"/>
              <a:t>规律不是宿命论</a:t>
            </a:r>
            <a:endParaRPr lang="en-US" altLang="zh-CN" sz="3200" b="1"/>
          </a:p>
          <a:p>
            <a:r>
              <a:rPr lang="zh-CN" altLang="en-US" sz="2800"/>
              <a:t>历史规律不是脱离人的神秘力量，而是在现实社会关系和人的实践活动中表现出来的。</a:t>
            </a:r>
            <a:endParaRPr sz="2800"/>
          </a:p>
        </p:txBody>
      </p:sp>
      <p:grpSp>
        <p:nvGrpSpPr>
          <p:cNvPr id="35" name="Group 17"/>
          <p:cNvGrpSpPr/>
          <p:nvPr>
            <p:custDataLst>
              <p:tags r:id="rId8"/>
            </p:custDataLst>
          </p:nvPr>
        </p:nvGrpSpPr>
        <p:grpSpPr>
          <a:xfrm>
            <a:off x="1967238" y="4983510"/>
            <a:ext cx="1118926" cy="1092502"/>
            <a:chOff x="-23095" y="0"/>
            <a:chExt cx="1118925" cy="1092500"/>
          </a:xfrm>
        </p:grpSpPr>
        <p:sp>
          <p:nvSpPr>
            <p:cNvPr id="36" name="椭圆 29"/>
            <p:cNvSpPr/>
            <p:nvPr>
              <p:custDataLst>
                <p:tags r:id="rId11"/>
              </p:custDataLst>
            </p:nvPr>
          </p:nvSpPr>
          <p:spPr>
            <a:xfrm>
              <a:off x="0" y="0"/>
              <a:ext cx="1084198" cy="1092500"/>
            </a:xfrm>
            <a:prstGeom prst="ellipse">
              <a:avLst/>
            </a:prstGeom>
            <a:solidFill>
              <a:srgbClr val="FFFFFF"/>
            </a:solidFill>
            <a:ln w="57150" cap="flat">
              <a:solidFill>
                <a:srgbClr val="414455"/>
              </a:solidFill>
              <a:prstDash val="solid"/>
              <a:round/>
            </a:ln>
            <a:effectLst/>
          </p:spPr>
          <p:txBody>
            <a:bodyPr wrap="square" lIns="45719" tIns="45719" rIns="45719" bIns="45719" numCol="1" anchor="ctr">
              <a:noAutofit/>
            </a:bodyPr>
            <a:lstStyle/>
            <a:p>
              <a:pPr algn="ctr">
                <a:defRPr sz="2100">
                  <a:solidFill>
                    <a:srgbClr val="FFFFFF"/>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endParaRPr/>
            </a:p>
          </p:txBody>
        </p:sp>
        <p:sp>
          <p:nvSpPr>
            <p:cNvPr id="37" name="文本框 34"/>
            <p:cNvSpPr txBox="1"/>
            <p:nvPr>
              <p:custDataLst>
                <p:tags r:id="rId12"/>
              </p:custDataLst>
            </p:nvPr>
          </p:nvSpPr>
          <p:spPr>
            <a:xfrm rot="20331793">
              <a:off x="-23095" y="284641"/>
              <a:ext cx="1118925" cy="523217"/>
            </a:xfrm>
            <a:prstGeom prst="rect">
              <a:avLst/>
            </a:prstGeom>
            <a:noFill/>
            <a:ln w="12700" cap="flat">
              <a:noFill/>
              <a:miter lim="400000"/>
            </a:ln>
            <a:effectLst/>
          </p:spPr>
          <p:txBody>
            <a:bodyPr wrap="square" lIns="45719" tIns="45719" rIns="45719" bIns="45719" numCol="1" anchor="t">
              <a:spAutoFit/>
            </a:bodyPr>
            <a:lstStyle/>
            <a:p>
              <a:pPr algn="ctr">
                <a:defRPr sz="2100"/>
              </a:pPr>
              <a:r>
                <a:rPr lang="en-US" altLang="zh-CN" sz="2800" b="1">
                  <a:latin typeface="微软雅黑" panose="020B0503020204020204" charset="-122"/>
                  <a:ea typeface="微软雅黑" panose="020B0503020204020204" charset="-122"/>
                </a:rPr>
                <a:t>3</a:t>
              </a:r>
            </a:p>
          </p:txBody>
        </p:sp>
      </p:grpSp>
      <p:sp>
        <p:nvSpPr>
          <p:cNvPr id="38" name="矩形 31"/>
          <p:cNvSpPr/>
          <p:nvPr>
            <p:custDataLst>
              <p:tags r:id="rId9"/>
            </p:custDataLst>
          </p:nvPr>
        </p:nvSpPr>
        <p:spPr>
          <a:xfrm>
            <a:off x="3276597" y="4983510"/>
            <a:ext cx="40777" cy="1125092"/>
          </a:xfrm>
          <a:prstGeom prst="rect">
            <a:avLst/>
          </a:prstGeom>
          <a:solidFill>
            <a:srgbClr val="414455"/>
          </a:solidFill>
          <a:ln>
            <a:solidFill>
              <a:srgbClr val="414455"/>
            </a:solidFill>
          </a:ln>
        </p:spPr>
        <p:txBody>
          <a:bodyPr lIns="45719" rIns="45719" anchor="ctr"/>
          <a:lstStyle/>
          <a:p>
            <a:pPr algn="ctr">
              <a:defRPr>
                <a:solidFill>
                  <a:srgbClr val="FFFFFF"/>
                </a:solidFill>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endParaRPr/>
          </a:p>
        </p:txBody>
      </p:sp>
      <p:sp>
        <p:nvSpPr>
          <p:cNvPr id="39" name="矩形 8"/>
          <p:cNvSpPr txBox="1"/>
          <p:nvPr>
            <p:custDataLst>
              <p:tags r:id="rId10"/>
            </p:custDataLst>
          </p:nvPr>
        </p:nvSpPr>
        <p:spPr>
          <a:xfrm>
            <a:off x="3426969" y="4849314"/>
            <a:ext cx="8450865" cy="1787915"/>
          </a:xfrm>
          <a:prstGeom prst="rect">
            <a:avLst/>
          </a:prstGeom>
          <a:ln w="12700">
            <a:miter lim="400000"/>
          </a:ln>
        </p:spPr>
        <p:txBody>
          <a:bodyPr wrap="square" lIns="40603" tIns="40603" rIns="40603" bIns="40603">
            <a:spAutoFit/>
          </a:bodyPr>
          <a:lstStyle>
            <a:lvl1pPr>
              <a:lnSpc>
                <a:spcPct val="130000"/>
              </a:lnSpc>
              <a:defRPr sz="1400">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rPr lang="zh-CN" altLang="en-US" sz="3200" b="1"/>
              <a:t>人民群众是历史创造的主体。</a:t>
            </a:r>
            <a:endParaRPr lang="en-US" altLang="zh-CN" sz="3200" b="1"/>
          </a:p>
          <a:p>
            <a:r>
              <a:rPr lang="zh-CN" altLang="en-US" sz="2800"/>
              <a:t>人们不能脱离客观条件随意创造历史，但能够在尊重规律的基础上发挥主体能动性，推动社会向前发展。</a:t>
            </a:r>
            <a:endParaRPr sz="2800" b="1"/>
          </a:p>
        </p:txBody>
      </p:sp>
      <p:sp>
        <p:nvSpPr>
          <p:cNvPr id="41" name="直角三角形 40"/>
          <p:cNvSpPr/>
          <p:nvPr/>
        </p:nvSpPr>
        <p:spPr>
          <a:xfrm rot="10800000">
            <a:off x="10745649" y="0"/>
            <a:ext cx="1424653" cy="1483615"/>
          </a:xfrm>
          <a:prstGeom prst="rtTriangle">
            <a:avLst/>
          </a:prstGeom>
          <a:solidFill>
            <a:schemeClr val="tx2">
              <a:lumMod val="20000"/>
              <a:lumOff val="80000"/>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mn-lt"/>
              <a:ea typeface="+mn-ea"/>
              <a:cs typeface="+mn-cs"/>
              <a:sym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spd="slow" p14:dur="1200">
        <p:wipe/>
      </p:transition>
    </mc:Choice>
    <mc:Fallback xmlns="">
      <p:transition spd="slow">
        <p:wip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 name="矩形 10"/>
          <p:cNvSpPr txBox="1"/>
          <p:nvPr/>
        </p:nvSpPr>
        <p:spPr>
          <a:xfrm>
            <a:off x="5084982" y="1372989"/>
            <a:ext cx="3552519" cy="1436345"/>
          </a:xfrm>
          <a:prstGeom prst="rect">
            <a:avLst/>
          </a:prstGeom>
          <a:ln w="12700">
            <a:miter lim="400000"/>
          </a:ln>
        </p:spPr>
        <p:txBody>
          <a:bodyPr lIns="45715" tIns="45715" rIns="45715" bIns="45715">
            <a:spAutoFit/>
          </a:bodyPr>
          <a:lstStyle>
            <a:lvl1pPr>
              <a:lnSpc>
                <a:spcPct val="150000"/>
              </a:lnSpc>
              <a:defRPr sz="6600" b="1">
                <a:solidFill>
                  <a:srgbClr val="414455"/>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谢谢</a:t>
            </a:r>
            <a:r>
              <a:rPr lang="en-US"/>
              <a:t>!</a:t>
            </a:r>
          </a:p>
        </p:txBody>
      </p:sp>
      <p:sp>
        <p:nvSpPr>
          <p:cNvPr id="933" name="矩形 11"/>
          <p:cNvSpPr txBox="1"/>
          <p:nvPr/>
        </p:nvSpPr>
        <p:spPr>
          <a:xfrm>
            <a:off x="2766984" y="3057578"/>
            <a:ext cx="6960676" cy="1955205"/>
          </a:xfrm>
          <a:prstGeom prst="rect">
            <a:avLst/>
          </a:prstGeom>
          <a:ln w="12700">
            <a:miter lim="400000"/>
          </a:ln>
        </p:spPr>
        <p:txBody>
          <a:bodyPr wrap="square" lIns="45715" tIns="45715" rIns="45715" bIns="45715">
            <a:spAutoFit/>
          </a:bodyPr>
          <a:lstStyle/>
          <a:p>
            <a:pPr algn="ctr">
              <a:lnSpc>
                <a:spcPct val="150000"/>
              </a:lnSpc>
              <a:defRPr>
                <a:solidFill>
                  <a:srgbClr val="414455"/>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r>
              <a:rPr lang="zh-CN" altLang="en-US" sz="2800">
                <a:sym typeface="微软雅黑" panose="020B0503020204020204" charset="-122"/>
              </a:rPr>
              <a:t>历史唯物主义既揭示了社会发展的客观规律，也肯定了人民群众在历史进程中的主体地位，从而实现了规律性与能动性的统一。</a:t>
            </a:r>
            <a:endParaRPr sz="2800"/>
          </a:p>
        </p:txBody>
      </p:sp>
      <p:sp>
        <p:nvSpPr>
          <p:cNvPr id="935" name="矩形 4"/>
          <p:cNvSpPr/>
          <p:nvPr/>
        </p:nvSpPr>
        <p:spPr>
          <a:xfrm>
            <a:off x="1" y="0"/>
            <a:ext cx="12192001" cy="1124746"/>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sp>
        <p:nvSpPr>
          <p:cNvPr id="936" name="矩形 15"/>
          <p:cNvSpPr/>
          <p:nvPr/>
        </p:nvSpPr>
        <p:spPr>
          <a:xfrm>
            <a:off x="1" y="5733255"/>
            <a:ext cx="12192001" cy="1124745"/>
          </a:xfrm>
          <a:prstGeom prst="rect">
            <a:avLst/>
          </a:prstGeom>
          <a:solidFill>
            <a:srgbClr val="414455"/>
          </a:solidFill>
          <a:ln w="12700">
            <a:miter lim="400000"/>
          </a:ln>
        </p:spPr>
        <p:txBody>
          <a:bodyPr lIns="45719" rIns="45719" anchor="ctr"/>
          <a:lstStyle/>
          <a:p>
            <a:pPr algn="ctr">
              <a:defRPr>
                <a:solidFill>
                  <a:srgbClr val="FFFFFF"/>
                </a:solidFill>
              </a:defRPr>
            </a:pPr>
            <a:endParaRPr/>
          </a:p>
        </p:txBody>
      </p:sp>
      <p:cxnSp>
        <p:nvCxnSpPr>
          <p:cNvPr id="3" name="直接箭头连接符 2"/>
          <p:cNvCxnSpPr/>
          <p:nvPr/>
        </p:nvCxnSpPr>
        <p:spPr>
          <a:xfrm>
            <a:off x="2448233" y="2949678"/>
            <a:ext cx="7418439" cy="0"/>
          </a:xfrm>
          <a:prstGeom prst="straightConnector1">
            <a:avLst/>
          </a:prstGeom>
          <a:noFill/>
          <a:ln w="50800" cap="flat">
            <a:solidFill>
              <a:srgbClr val="414455"/>
            </a:solidFill>
            <a:prstDash val="solid"/>
            <a:miter lim="800000"/>
            <a:headEnd type="triangle"/>
            <a:tailEnd type="triangle"/>
          </a:ln>
          <a:effectLst/>
          <a:sp3d/>
        </p:spPr>
        <p:style>
          <a:lnRef idx="0">
            <a:scrgbClr r="0" g="0" b="0"/>
          </a:lnRef>
          <a:fillRef idx="0">
            <a:scrgbClr r="0" g="0" b="0"/>
          </a:fillRef>
          <a:effectRef idx="0">
            <a:scrgbClr r="0" g="0" b="0"/>
          </a:effectRef>
          <a:fontRef idx="none"/>
        </p:style>
      </p:cxn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12EFF6C9-11D9-4E7C-B53E-45944CE99AC4}"/>
              </a:ext>
            </a:extLst>
          </p:cNvPr>
          <p:cNvSpPr>
            <a:spLocks noGrp="1"/>
          </p:cNvSpPr>
          <p:nvPr>
            <p:ph type="body" idx="1"/>
          </p:nvPr>
        </p:nvSpPr>
        <p:spPr>
          <a:xfrm>
            <a:off x="838200" y="1072923"/>
            <a:ext cx="10515600" cy="5785077"/>
          </a:xfrm>
        </p:spPr>
        <p:txBody>
          <a:bodyPr>
            <a:normAutofit fontScale="85000" lnSpcReduction="10000"/>
          </a:bodyPr>
          <a:lstStyle/>
          <a:p>
            <a:pPr algn="l" defTabSz="914400" eaLnBrk="0" fontAlgn="base">
              <a:lnSpc>
                <a:spcPct val="100000"/>
              </a:lnSpc>
              <a:spcAft>
                <a:spcPts val="0"/>
              </a:spcAft>
              <a:buNone/>
            </a:pPr>
            <a:r>
              <a:rPr lang="zh-CN" altLang="en-US" sz="1800">
                <a:latin typeface="微软雅黑" panose="020B0503020204020204" pitchFamily="34" charset="-122"/>
                <a:ea typeface="微软雅黑" panose="020B0503020204020204" pitchFamily="34" charset="-122"/>
                <a:cs typeface="Times New Roman" panose="02020603050405020304" pitchFamily="18" charset="0"/>
              </a:rPr>
              <a:t>①</a:t>
            </a:r>
            <a:r>
              <a:rPr lang="zh-CN" altLang="zh-CN" sz="1800">
                <a:effectLst/>
                <a:latin typeface="微软雅黑" panose="020B0503020204020204" pitchFamily="34" charset="-122"/>
                <a:ea typeface="微软雅黑" panose="020B0503020204020204" pitchFamily="34" charset="-122"/>
                <a:cs typeface="Times New Roman" panose="02020603050405020304" pitchFamily="18" charset="0"/>
              </a:rPr>
              <a:t>马克思、恩格斯：《德意志意识形态》，《马克思恩格斯选集》第</a:t>
            </a:r>
            <a:r>
              <a:rPr lang="en-US" altLang="zh-CN" sz="180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800">
                <a:effectLst/>
                <a:latin typeface="微软雅黑" panose="020B0503020204020204" pitchFamily="34" charset="-122"/>
                <a:ea typeface="微软雅黑" panose="020B0503020204020204" pitchFamily="34" charset="-122"/>
                <a:cs typeface="Times New Roman" panose="02020603050405020304" pitchFamily="18" charset="0"/>
              </a:rPr>
              <a:t>卷，人民出版社</a:t>
            </a:r>
            <a:r>
              <a:rPr lang="en-US" altLang="zh-CN" sz="1800">
                <a:effectLst/>
                <a:latin typeface="微软雅黑" panose="020B0503020204020204" pitchFamily="34" charset="-122"/>
                <a:ea typeface="微软雅黑" panose="020B0503020204020204" pitchFamily="34" charset="-122"/>
                <a:cs typeface="Times New Roman" panose="02020603050405020304" pitchFamily="18" charset="0"/>
              </a:rPr>
              <a:t>1995</a:t>
            </a:r>
            <a:r>
              <a:rPr lang="zh-CN" altLang="zh-CN" sz="1800">
                <a:effectLst/>
                <a:latin typeface="微软雅黑" panose="020B0503020204020204" pitchFamily="34" charset="-122"/>
                <a:ea typeface="微软雅黑" panose="020B0503020204020204" pitchFamily="34" charset="-122"/>
                <a:cs typeface="Times New Roman" panose="02020603050405020304" pitchFamily="18" charset="0"/>
              </a:rPr>
              <a:t>年版，第</a:t>
            </a:r>
            <a:r>
              <a:rPr lang="en-US" altLang="zh-CN" sz="1800">
                <a:effectLst/>
                <a:latin typeface="微软雅黑" panose="020B0503020204020204" pitchFamily="34" charset="-122"/>
                <a:ea typeface="微软雅黑" panose="020B0503020204020204" pitchFamily="34" charset="-122"/>
                <a:cs typeface="Times New Roman" panose="02020603050405020304" pitchFamily="18" charset="0"/>
              </a:rPr>
              <a:t>72</a:t>
            </a:r>
            <a:r>
              <a:rPr lang="zh-CN" altLang="zh-CN" sz="1800">
                <a:effectLst/>
                <a:latin typeface="微软雅黑" panose="020B0503020204020204" pitchFamily="34" charset="-122"/>
                <a:ea typeface="微软雅黑" panose="020B0503020204020204" pitchFamily="34" charset="-122"/>
                <a:cs typeface="Times New Roman" panose="02020603050405020304" pitchFamily="18" charset="0"/>
              </a:rPr>
              <a:t>页</a:t>
            </a:r>
            <a:endParaRPr lang="en-US" altLang="zh-CN" sz="1400" i="1">
              <a:solidFill>
                <a:schemeClr val="tx1">
                  <a:lumMod val="65000"/>
                  <a:lumOff val="35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algn="l" defTabSz="914400" eaLnBrk="0" fontAlgn="base">
              <a:lnSpc>
                <a:spcPct val="100000"/>
              </a:lnSpc>
              <a:spcAft>
                <a:spcPts val="0"/>
              </a:spcAft>
              <a:buNone/>
            </a:pPr>
            <a:r>
              <a:rPr lang="zh-CN" altLang="en-US" sz="1800">
                <a:effectLst/>
                <a:latin typeface="微软雅黑" panose="020B0503020204020204" pitchFamily="34" charset="-122"/>
                <a:ea typeface="微软雅黑" panose="020B0503020204020204" pitchFamily="34" charset="-122"/>
                <a:cs typeface="Times New Roman" panose="02020603050405020304" pitchFamily="18" charset="0"/>
              </a:rPr>
              <a:t>②</a:t>
            </a:r>
            <a:r>
              <a:rPr lang="zh-CN" altLang="zh-CN" sz="1800">
                <a:effectLst/>
                <a:latin typeface="微软雅黑" panose="020B0503020204020204" pitchFamily="34" charset="-122"/>
                <a:ea typeface="微软雅黑" panose="020B0503020204020204" pitchFamily="34" charset="-122"/>
                <a:cs typeface="Times New Roman" panose="02020603050405020304" pitchFamily="18" charset="0"/>
              </a:rPr>
              <a:t>马克思：《〈政治经济学批判〉序言》（</a:t>
            </a:r>
            <a:r>
              <a:rPr lang="en-US" altLang="zh-CN" sz="1800">
                <a:effectLst/>
                <a:latin typeface="微软雅黑" panose="020B0503020204020204" pitchFamily="34" charset="-122"/>
                <a:ea typeface="微软雅黑" panose="020B0503020204020204" pitchFamily="34" charset="-122"/>
                <a:cs typeface="Times New Roman" panose="02020603050405020304" pitchFamily="18" charset="0"/>
              </a:rPr>
              <a:t>1859</a:t>
            </a:r>
            <a:r>
              <a:rPr lang="zh-CN" altLang="zh-CN" sz="1800">
                <a:effectLst/>
                <a:latin typeface="微软雅黑" panose="020B0503020204020204" pitchFamily="34" charset="-122"/>
                <a:ea typeface="微软雅黑" panose="020B0503020204020204" pitchFamily="34" charset="-122"/>
                <a:cs typeface="Times New Roman" panose="02020603050405020304" pitchFamily="18" charset="0"/>
              </a:rPr>
              <a:t>年），《马克思恩格斯选集》第</a:t>
            </a:r>
            <a:r>
              <a:rPr lang="en-US" altLang="zh-CN" sz="180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1800">
                <a:effectLst/>
                <a:latin typeface="微软雅黑" panose="020B0503020204020204" pitchFamily="34" charset="-122"/>
                <a:ea typeface="微软雅黑" panose="020B0503020204020204" pitchFamily="34" charset="-122"/>
                <a:cs typeface="Times New Roman" panose="02020603050405020304" pitchFamily="18" charset="0"/>
              </a:rPr>
              <a:t>卷，人民出版社</a:t>
            </a:r>
            <a:r>
              <a:rPr lang="en-US" altLang="zh-CN" sz="1800">
                <a:effectLst/>
                <a:latin typeface="微软雅黑" panose="020B0503020204020204" pitchFamily="34" charset="-122"/>
                <a:ea typeface="微软雅黑" panose="020B0503020204020204" pitchFamily="34" charset="-122"/>
                <a:cs typeface="Times New Roman" panose="02020603050405020304" pitchFamily="18" charset="0"/>
              </a:rPr>
              <a:t>1995</a:t>
            </a:r>
            <a:r>
              <a:rPr lang="zh-CN" altLang="zh-CN" sz="1800">
                <a:effectLst/>
                <a:latin typeface="微软雅黑" panose="020B0503020204020204" pitchFamily="34" charset="-122"/>
                <a:ea typeface="微软雅黑" panose="020B0503020204020204" pitchFamily="34" charset="-122"/>
                <a:cs typeface="Times New Roman" panose="02020603050405020304" pitchFamily="18" charset="0"/>
              </a:rPr>
              <a:t>年版，第</a:t>
            </a:r>
            <a:r>
              <a:rPr lang="en-US" altLang="zh-CN" sz="1800">
                <a:effectLst/>
                <a:latin typeface="微软雅黑" panose="020B0503020204020204" pitchFamily="34" charset="-122"/>
                <a:ea typeface="微软雅黑" panose="020B0503020204020204" pitchFamily="34" charset="-122"/>
                <a:cs typeface="Times New Roman" panose="02020603050405020304" pitchFamily="18" charset="0"/>
              </a:rPr>
              <a:t>32</a:t>
            </a:r>
            <a:r>
              <a:rPr lang="zh-CN" altLang="zh-CN" sz="1800">
                <a:effectLst/>
                <a:latin typeface="微软雅黑" panose="020B0503020204020204" pitchFamily="34" charset="-122"/>
                <a:ea typeface="微软雅黑" panose="020B0503020204020204" pitchFamily="34" charset="-122"/>
                <a:cs typeface="Times New Roman" panose="02020603050405020304" pitchFamily="18" charset="0"/>
              </a:rPr>
              <a:t>页</a:t>
            </a:r>
            <a:endParaRPr lang="zh-CN" altLang="zh-CN" sz="140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lnSpc>
                <a:spcPct val="115000"/>
              </a:lnSpc>
              <a:spcAft>
                <a:spcPts val="800"/>
              </a:spcAft>
              <a:buNone/>
            </a:pPr>
            <a:r>
              <a:rPr lang="zh-CN" altLang="en-US" sz="1800" kern="100">
                <a:effectLst/>
                <a:latin typeface="微软雅黑" panose="020B0503020204020204" pitchFamily="34" charset="-122"/>
                <a:ea typeface="微软雅黑" panose="020B0503020204020204" pitchFamily="34" charset="-122"/>
                <a:cs typeface="Times New Roman" panose="02020603050405020304" pitchFamily="18" charset="0"/>
              </a:rPr>
              <a:t>③</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《马克思恩格斯选集》第</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卷，人民出版社</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1972</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年版，第</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82-83</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页。</a:t>
            </a:r>
            <a:endPar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15000"/>
              </a:lnSpc>
              <a:spcAft>
                <a:spcPts val="800"/>
              </a:spcAft>
              <a:buNone/>
            </a:pPr>
            <a:r>
              <a:rPr lang="zh-CN" altLang="en-US" sz="1800" kern="100">
                <a:latin typeface="微软雅黑" panose="020B0503020204020204" pitchFamily="34" charset="-122"/>
                <a:ea typeface="微软雅黑" panose="020B0503020204020204" pitchFamily="34" charset="-122"/>
                <a:cs typeface="Times New Roman" panose="02020603050405020304" pitchFamily="18" charset="0"/>
              </a:rPr>
              <a:t>④</a:t>
            </a:r>
            <a:r>
              <a:rPr lang="zh-CN" altLang="zh-CN" sz="1800">
                <a:effectLst/>
                <a:latin typeface="微软雅黑" panose="020B0503020204020204" pitchFamily="34" charset="-122"/>
                <a:ea typeface="微软雅黑" panose="020B0503020204020204" pitchFamily="34" charset="-122"/>
                <a:cs typeface="Times New Roman" panose="02020603050405020304" pitchFamily="18" charset="0"/>
              </a:rPr>
              <a:t>《德意志意识形态》，转引自中央纪委国家监委网站</a:t>
            </a:r>
            <a:endParaRPr lang="en-US" altLang="zh-CN" sz="1800">
              <a:effectLst/>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15000"/>
              </a:lnSpc>
              <a:spcAft>
                <a:spcPts val="800"/>
              </a:spcAft>
              <a:buNone/>
            </a:pPr>
            <a:r>
              <a:rPr lang="zh-CN" altLang="en-US" sz="1800">
                <a:latin typeface="微软雅黑" panose="020B0503020204020204" pitchFamily="34" charset="-122"/>
                <a:ea typeface="微软雅黑" panose="020B0503020204020204" pitchFamily="34" charset="-122"/>
                <a:cs typeface="Times New Roman" panose="02020603050405020304" pitchFamily="18" charset="0"/>
              </a:rPr>
              <a:t>⑤</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马克思：《雇佣劳动与资本》（</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1849</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年），《马克思恩格斯选集》第</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卷，人民出版社</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1995</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年版，第</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345</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页</a:t>
            </a:r>
          </a:p>
          <a:p>
            <a:pPr marL="0" indent="0">
              <a:lnSpc>
                <a:spcPct val="115000"/>
              </a:lnSpc>
              <a:spcAft>
                <a:spcPts val="800"/>
              </a:spcAft>
              <a:buNone/>
            </a:pPr>
            <a:r>
              <a:rPr lang="zh-CN" altLang="en-US" sz="1800">
                <a:effectLst/>
                <a:latin typeface="微软雅黑" panose="020B0503020204020204" pitchFamily="34" charset="-122"/>
                <a:ea typeface="微软雅黑" panose="020B0503020204020204" pitchFamily="34" charset="-122"/>
                <a:cs typeface="Times New Roman" panose="02020603050405020304" pitchFamily="18" charset="0"/>
              </a:rPr>
              <a:t>⑥</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马克思：《〈政治经济学批判〉序言》（</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1859</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年），《马克思恩格斯选集》第</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卷，人民出版社</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1995</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年版，第</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32-33</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页</a:t>
            </a:r>
          </a:p>
          <a:p>
            <a:pPr marL="0" indent="0">
              <a:lnSpc>
                <a:spcPct val="115000"/>
              </a:lnSpc>
              <a:spcAft>
                <a:spcPts val="800"/>
              </a:spcAft>
              <a:buNone/>
            </a:pPr>
            <a:r>
              <a:rPr lang="zh-CN" altLang="en-US" sz="1800">
                <a:effectLst/>
                <a:latin typeface="微软雅黑" panose="020B0503020204020204" pitchFamily="34" charset="-122"/>
                <a:ea typeface="微软雅黑" panose="020B0503020204020204" pitchFamily="34" charset="-122"/>
                <a:cs typeface="Times New Roman" panose="02020603050405020304" pitchFamily="18" charset="0"/>
              </a:rPr>
              <a:t>⑦</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马克思：《〈政治经济学批判〉序言》（</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1859</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年），《马克思恩格斯选集》第</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卷，人民出版社</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1995</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年版，第</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33</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页</a:t>
            </a:r>
          </a:p>
          <a:p>
            <a:pPr marL="0" indent="0">
              <a:lnSpc>
                <a:spcPct val="115000"/>
              </a:lnSpc>
              <a:spcAft>
                <a:spcPts val="800"/>
              </a:spcAft>
              <a:buNone/>
            </a:pPr>
            <a:r>
              <a:rPr lang="zh-CN" altLang="en-US" sz="1800" kern="100">
                <a:effectLst/>
                <a:latin typeface="微软雅黑" panose="020B0503020204020204" pitchFamily="34" charset="-122"/>
                <a:ea typeface="微软雅黑" panose="020B0503020204020204" pitchFamily="34" charset="-122"/>
                <a:cs typeface="Times New Roman" panose="02020603050405020304" pitchFamily="18" charset="0"/>
              </a:rPr>
              <a:t>⑧</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马克思、恩格斯：《共产党宣言》，转引自《前线》理论文章</a:t>
            </a:r>
            <a:endPar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15000"/>
              </a:lnSpc>
              <a:spcAft>
                <a:spcPts val="800"/>
              </a:spcAft>
              <a:buNone/>
            </a:pPr>
            <a:r>
              <a:rPr lang="zh-CN" altLang="en-US" sz="1800" kern="100">
                <a:effectLst/>
                <a:latin typeface="微软雅黑" panose="020B0503020204020204" pitchFamily="34" charset="-122"/>
                <a:ea typeface="微软雅黑" panose="020B0503020204020204" pitchFamily="34" charset="-122"/>
                <a:cs typeface="Times New Roman" panose="02020603050405020304" pitchFamily="18" charset="0"/>
              </a:rPr>
              <a:t>⑨</a:t>
            </a:r>
            <a:r>
              <a:rPr lang="en-US" altLang="zh-CN" sz="1800" kern="10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kern="100">
                <a:latin typeface="微软雅黑" panose="020B0503020204020204" pitchFamily="34" charset="-122"/>
                <a:ea typeface="微软雅黑" panose="020B0503020204020204" pitchFamily="34" charset="-122"/>
                <a:cs typeface="Times New Roman" panose="02020603050405020304" pitchFamily="18" charset="0"/>
              </a:rPr>
              <a:t>马克思恩格斯全集</a:t>
            </a:r>
            <a:r>
              <a:rPr lang="en-US" altLang="zh-CN" sz="1800" kern="10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kern="100">
                <a:latin typeface="微软雅黑" panose="020B0503020204020204" pitchFamily="34" charset="-122"/>
                <a:ea typeface="微软雅黑" panose="020B0503020204020204" pitchFamily="34" charset="-122"/>
                <a:cs typeface="Times New Roman" panose="02020603050405020304" pitchFamily="18" charset="0"/>
              </a:rPr>
              <a:t>第</a:t>
            </a:r>
            <a:r>
              <a:rPr lang="en-US" altLang="zh-CN" sz="1800" kern="100">
                <a:latin typeface="微软雅黑" panose="020B0503020204020204" pitchFamily="34" charset="-122"/>
                <a:ea typeface="微软雅黑" panose="020B0503020204020204" pitchFamily="34" charset="-122"/>
                <a:cs typeface="Times New Roman" panose="02020603050405020304" pitchFamily="18" charset="0"/>
              </a:rPr>
              <a:t>37</a:t>
            </a:r>
            <a:r>
              <a:rPr lang="zh-CN" altLang="en-US" sz="1800" kern="100">
                <a:latin typeface="微软雅黑" panose="020B0503020204020204" pitchFamily="34" charset="-122"/>
                <a:ea typeface="微软雅黑" panose="020B0503020204020204" pitchFamily="34" charset="-122"/>
                <a:cs typeface="Times New Roman" panose="02020603050405020304" pitchFamily="18" charset="0"/>
              </a:rPr>
              <a:t>卷，北京：人民出版社，</a:t>
            </a:r>
            <a:r>
              <a:rPr lang="en-US" altLang="zh-CN" sz="1800" kern="100">
                <a:latin typeface="微软雅黑" panose="020B0503020204020204" pitchFamily="34" charset="-122"/>
                <a:ea typeface="微软雅黑" panose="020B0503020204020204" pitchFamily="34" charset="-122"/>
                <a:cs typeface="Times New Roman" panose="02020603050405020304" pitchFamily="18" charset="0"/>
              </a:rPr>
              <a:t>1971</a:t>
            </a:r>
            <a:r>
              <a:rPr lang="zh-CN" altLang="en-US" sz="1800" kern="100">
                <a:latin typeface="微软雅黑" panose="020B0503020204020204" pitchFamily="34" charset="-122"/>
                <a:ea typeface="微软雅黑" panose="020B0503020204020204" pitchFamily="34" charset="-122"/>
                <a:cs typeface="Times New Roman" panose="02020603050405020304" pitchFamily="18" charset="0"/>
              </a:rPr>
              <a:t>年，第</a:t>
            </a:r>
            <a:r>
              <a:rPr lang="en-US" altLang="zh-CN" sz="1800" kern="100">
                <a:latin typeface="微软雅黑" panose="020B0503020204020204" pitchFamily="34" charset="-122"/>
                <a:ea typeface="微软雅黑" panose="020B0503020204020204" pitchFamily="34" charset="-122"/>
                <a:cs typeface="Times New Roman" panose="02020603050405020304" pitchFamily="18" charset="0"/>
              </a:rPr>
              <a:t>487</a:t>
            </a:r>
            <a:r>
              <a:rPr lang="zh-CN" altLang="en-US" sz="1800" kern="100">
                <a:latin typeface="微软雅黑" panose="020B0503020204020204" pitchFamily="34" charset="-122"/>
                <a:ea typeface="微软雅黑" panose="020B0503020204020204" pitchFamily="34" charset="-122"/>
                <a:cs typeface="Times New Roman" panose="02020603050405020304" pitchFamily="18" charset="0"/>
              </a:rPr>
              <a:t>页</a:t>
            </a:r>
            <a:endParaRPr lang="en-US" altLang="zh-CN" sz="1800" kern="100">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r>
              <a:rPr lang="zh-CN" altLang="en-US" sz="1800" kern="100">
                <a:latin typeface="微软雅黑" panose="020B0503020204020204" pitchFamily="34" charset="-122"/>
                <a:ea typeface="微软雅黑" panose="020B0503020204020204" pitchFamily="34" charset="-122"/>
                <a:cs typeface="Times New Roman" panose="02020603050405020304" pitchFamily="18" charset="0"/>
              </a:rPr>
              <a:t>⑩ </a:t>
            </a:r>
            <a:r>
              <a:rPr lang="en-US" altLang="zh-CN" sz="1800" kern="10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kern="100">
                <a:latin typeface="微软雅黑" panose="020B0503020204020204" pitchFamily="34" charset="-122"/>
                <a:ea typeface="微软雅黑" panose="020B0503020204020204" pitchFamily="34" charset="-122"/>
                <a:cs typeface="Times New Roman" panose="02020603050405020304" pitchFamily="18" charset="0"/>
              </a:rPr>
              <a:t>毛泽东选集</a:t>
            </a:r>
            <a:r>
              <a:rPr lang="en-US" altLang="zh-CN" sz="1800" kern="10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kern="100">
                <a:latin typeface="微软雅黑" panose="020B0503020204020204" pitchFamily="34" charset="-122"/>
                <a:ea typeface="微软雅黑" panose="020B0503020204020204" pitchFamily="34" charset="-122"/>
                <a:cs typeface="Times New Roman" panose="02020603050405020304" pitchFamily="18" charset="0"/>
              </a:rPr>
              <a:t>第</a:t>
            </a:r>
            <a:r>
              <a:rPr lang="en-US" altLang="zh-CN" sz="1800" kern="10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800" kern="100">
                <a:latin typeface="微软雅黑" panose="020B0503020204020204" pitchFamily="34" charset="-122"/>
                <a:ea typeface="微软雅黑" panose="020B0503020204020204" pitchFamily="34" charset="-122"/>
                <a:cs typeface="Times New Roman" panose="02020603050405020304" pitchFamily="18" charset="0"/>
              </a:rPr>
              <a:t>卷，北京：人民出版社</a:t>
            </a:r>
            <a:endParaRPr lang="en-US" altLang="zh-CN" sz="1200" b="0" i="0">
              <a:solidFill>
                <a:srgbClr val="F9FAFB"/>
              </a:solidFill>
              <a:effectLst/>
              <a:latin typeface="微软雅黑" panose="020B0503020204020204" pitchFamily="34" charset="-122"/>
              <a:ea typeface="微软雅黑" panose="020B0503020204020204" pitchFamily="34" charset="-122"/>
            </a:endParaRPr>
          </a:p>
          <a:p>
            <a:pPr marL="0" indent="0">
              <a:buNone/>
            </a:pPr>
            <a:r>
              <a:rPr lang="zh-CN" altLang="en-US" sz="1800" kern="100">
                <a:latin typeface="微软雅黑" panose="020B0503020204020204" pitchFamily="34" charset="-122"/>
                <a:ea typeface="微软雅黑" panose="020B0503020204020204" pitchFamily="34" charset="-122"/>
                <a:cs typeface="Times New Roman" panose="02020603050405020304" pitchFamily="18" charset="0"/>
              </a:rPr>
              <a:t>⑪</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马克思：《资本论》第一卷，《马克思恩格斯全集》第</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23</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卷，第</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202</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页</a:t>
            </a:r>
            <a:endPar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endParaRPr>
          </a:p>
          <a:p>
            <a:pPr marL="0" indent="0">
              <a:buNone/>
            </a:pPr>
            <a:endParaRPr lang="zh-CN" altLang="zh-CN" sz="1800" kern="10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lang="zh-CN" altLang="en-US" sz="1800" kern="100">
                <a:latin typeface="微软雅黑" panose="020B0503020204020204" pitchFamily="34" charset="-122"/>
                <a:ea typeface="微软雅黑" panose="020B0503020204020204" pitchFamily="34" charset="-122"/>
                <a:cs typeface="Times New Roman" panose="02020603050405020304" pitchFamily="18" charset="0"/>
              </a:rPr>
              <a:t>⑫</a:t>
            </a:r>
            <a:r>
              <a:rPr lang="zh-CN" altLang="zh-CN" sz="1800">
                <a:effectLst/>
                <a:latin typeface="微软雅黑" panose="020B0503020204020204" pitchFamily="34" charset="-122"/>
                <a:ea typeface="微软雅黑" panose="020B0503020204020204" pitchFamily="34" charset="-122"/>
                <a:cs typeface="Times New Roman" panose="02020603050405020304" pitchFamily="18" charset="0"/>
              </a:rPr>
              <a:t>马克思、恩格斯：《神圣家族》，《马克思恩格斯全集》第</a:t>
            </a:r>
            <a:r>
              <a:rPr lang="en-US" altLang="zh-CN" sz="180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1800">
                <a:effectLst/>
                <a:latin typeface="微软雅黑" panose="020B0503020204020204" pitchFamily="34" charset="-122"/>
                <a:ea typeface="微软雅黑" panose="020B0503020204020204" pitchFamily="34" charset="-122"/>
                <a:cs typeface="Times New Roman" panose="02020603050405020304" pitchFamily="18" charset="0"/>
              </a:rPr>
              <a:t>卷，第</a:t>
            </a:r>
            <a:r>
              <a:rPr lang="en-US" altLang="zh-CN" sz="1800">
                <a:effectLst/>
                <a:latin typeface="微软雅黑" panose="020B0503020204020204" pitchFamily="34" charset="-122"/>
                <a:ea typeface="微软雅黑" panose="020B0503020204020204" pitchFamily="34" charset="-122"/>
                <a:cs typeface="Times New Roman" panose="02020603050405020304" pitchFamily="18" charset="0"/>
              </a:rPr>
              <a:t>118-119</a:t>
            </a:r>
            <a:r>
              <a:rPr lang="zh-CN" altLang="zh-CN" sz="1800">
                <a:effectLst/>
                <a:latin typeface="微软雅黑" panose="020B0503020204020204" pitchFamily="34" charset="-122"/>
                <a:ea typeface="微软雅黑" panose="020B0503020204020204" pitchFamily="34" charset="-122"/>
                <a:cs typeface="Times New Roman" panose="02020603050405020304" pitchFamily="18" charset="0"/>
              </a:rPr>
              <a:t>页</a:t>
            </a:r>
            <a:endParaRPr lang="en-US" altLang="zh-CN" sz="1800">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sz="1800" b="0" i="1" u="none" strike="noStrike" cap="none" normalizeH="0" baseline="0">
              <a:ln>
                <a:noFill/>
              </a:ln>
              <a:solidFill>
                <a:schemeClr val="tx1">
                  <a:lumMod val="65000"/>
                  <a:lumOff val="35000"/>
                </a:schemeClr>
              </a:solidFill>
              <a:effectLst/>
              <a:latin typeface="微软雅黑" panose="020B0503020204020204" pitchFamily="34" charset="-122"/>
              <a:ea typeface="微软雅黑" panose="020B0503020204020204" pitchFamily="34" charset="-122"/>
            </a:endParaRPr>
          </a:p>
          <a:p>
            <a:pPr marL="0" indent="0" eaLnBrk="0" fontAlgn="base" hangingPunct="0">
              <a:lnSpc>
                <a:spcPct val="100000"/>
              </a:lnSpc>
              <a:spcBef>
                <a:spcPct val="0"/>
              </a:spcBef>
              <a:spcAft>
                <a:spcPct val="0"/>
              </a:spcAft>
              <a:buSzTx/>
              <a:buNone/>
            </a:pPr>
            <a:r>
              <a:rPr lang="zh-CN" altLang="en-US" sz="1800" kern="100">
                <a:latin typeface="微软雅黑" panose="020B0503020204020204" pitchFamily="34" charset="-122"/>
                <a:ea typeface="微软雅黑" panose="020B0503020204020204" pitchFamily="34" charset="-122"/>
                <a:cs typeface="Times New Roman" panose="02020603050405020304" pitchFamily="18" charset="0"/>
              </a:rPr>
              <a:t>⑬</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马克思：《路易</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波拿巴的雾月十八日》（</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1852</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年），《马克思恩格斯选集》第</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卷，人民出版社</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1995</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年版，第</a:t>
            </a:r>
            <a:r>
              <a:rPr lang="en-US"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585</a:t>
            </a:r>
            <a:r>
              <a:rPr lang="zh-CN" altLang="zh-CN" sz="1800" kern="100">
                <a:effectLst/>
                <a:latin typeface="微软雅黑" panose="020B0503020204020204" pitchFamily="34" charset="-122"/>
                <a:ea typeface="微软雅黑" panose="020B0503020204020204" pitchFamily="34" charset="-122"/>
                <a:cs typeface="Times New Roman" panose="02020603050405020304" pitchFamily="18" charset="0"/>
              </a:rPr>
              <a:t>页</a:t>
            </a:r>
          </a:p>
          <a:p>
            <a:pPr marL="0" marR="0" lvl="0" indent="0" algn="l" defTabSz="914400" rtl="0" eaLnBrk="0" fontAlgn="base" latinLnBrk="0" hangingPunct="0">
              <a:lnSpc>
                <a:spcPct val="100000"/>
              </a:lnSpc>
              <a:spcBef>
                <a:spcPct val="0"/>
              </a:spcBef>
              <a:spcAft>
                <a:spcPct val="0"/>
              </a:spcAft>
              <a:buClrTx/>
              <a:buSzTx/>
              <a:buFontTx/>
              <a:buNone/>
            </a:pPr>
            <a:endParaRPr lang="en-US" altLang="zh-CN" sz="1800">
              <a:effectLst/>
              <a:latin typeface="微软雅黑" panose="020B0503020204020204" pitchFamily="34" charset="-122"/>
              <a:ea typeface="微软雅黑" panose="020B0503020204020204" pitchFamily="34" charset="-122"/>
              <a:cs typeface="Times New Roman" panose="02020603050405020304" pitchFamily="18" charset="0"/>
            </a:endParaRPr>
          </a:p>
          <a:p>
            <a:pPr algn="r" defTabSz="914400" eaLnBrk="0" fontAlgn="base">
              <a:lnSpc>
                <a:spcPct val="100000"/>
              </a:lnSpc>
              <a:spcAft>
                <a:spcPts val="0"/>
              </a:spcAft>
              <a:buNone/>
            </a:pPr>
            <a:endParaRPr lang="en-US" altLang="zh-CN" sz="1400" i="1">
              <a:solidFill>
                <a:schemeClr val="tx1">
                  <a:lumMod val="65000"/>
                  <a:lumOff val="35000"/>
                </a:schemeClr>
              </a:solidFill>
              <a:latin typeface="微软雅黑" panose="020B0503020204020204" pitchFamily="34" charset="-122"/>
              <a:ea typeface="微软雅黑" panose="020B0503020204020204" pitchFamily="34" charset="-122"/>
            </a:endParaRPr>
          </a:p>
          <a:p>
            <a:endParaRPr lang="zh-CN" altLang="en-US" sz="140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1613EF9D-3684-4E89-8ED0-F89C333EC6DD}"/>
              </a:ext>
            </a:extLst>
          </p:cNvPr>
          <p:cNvSpPr txBox="1"/>
          <p:nvPr/>
        </p:nvSpPr>
        <p:spPr>
          <a:xfrm>
            <a:off x="892628" y="399143"/>
            <a:ext cx="5203371" cy="52321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8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sym typeface="Calibri" panose="020F0502020204030204"/>
              </a:rPr>
              <a:t>参考文献</a:t>
            </a:r>
          </a:p>
        </p:txBody>
      </p:sp>
    </p:spTree>
    <p:extLst>
      <p:ext uri="{BB962C8B-B14F-4D97-AF65-F5344CB8AC3E}">
        <p14:creationId xmlns:p14="http://schemas.microsoft.com/office/powerpoint/2010/main" val="1588230006"/>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82.7,&quot;left&quot;:472.4604724409449,&quot;top&quot;:126.98779527559054,&quot;width&quot;:237.78645669291336}"/>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36.78944881889765,&quot;left&quot;:154.90062992125985,&quot;top&quot;:103.21047244094488,&quot;width&quot;:804.6577165354331}"/>
</p:tagLst>
</file>

<file path=ppt/theme/theme1.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Helvetica"/>
        <a:ea typeface="Helvetica"/>
        <a:cs typeface="Helvetica"/>
      </a:majorFont>
      <a:minorFont>
        <a:latin typeface="Calibri"/>
        <a:ea typeface="Calibri"/>
        <a:cs typeface="Calibri"/>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Helvetica"/>
        <a:ea typeface="Helvetica"/>
        <a:cs typeface="Helvetica"/>
      </a:majorFont>
      <a:minorFont>
        <a:latin typeface="Calibri"/>
        <a:ea typeface="Calibri"/>
        <a:cs typeface="Calibri"/>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2104</Words>
  <Application>Microsoft Office PowerPoint</Application>
  <PresentationFormat>宽屏</PresentationFormat>
  <Paragraphs>355</Paragraphs>
  <Slides>22</Slides>
  <Notes>0</Notes>
  <HiddenSlides>0</HiddenSlides>
  <MMClips>1</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22</vt:i4>
      </vt:variant>
    </vt:vector>
  </HeadingPairs>
  <TitlesOfParts>
    <vt:vector size="33" baseType="lpstr">
      <vt:lpstr>Arial Unicode MS</vt:lpstr>
      <vt:lpstr>等线</vt:lpstr>
      <vt:lpstr>黑体</vt:lpstr>
      <vt:lpstr>宋体</vt:lpstr>
      <vt:lpstr>微软雅黑</vt:lpstr>
      <vt:lpstr>Arial</vt:lpstr>
      <vt:lpstr>Calibri</vt:lpstr>
      <vt:lpstr>Calibri Light</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kunlun</dc:creator>
  <cp:lastModifiedBy>可函 幸</cp:lastModifiedBy>
  <cp:revision>26</cp:revision>
  <dcterms:created xsi:type="dcterms:W3CDTF">2026-04-17T06:17:00Z</dcterms:created>
  <dcterms:modified xsi:type="dcterms:W3CDTF">2026-04-17T12:17:07Z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050A8C322DE6499FB7A7A4367A0CADC6_12</vt:lpwstr>
  </property>
</Properties>
</file>